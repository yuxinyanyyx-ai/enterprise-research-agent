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4" r:id="rId5"/>
  </p:sldMasterIdLst>
  <p:notesMasterIdLst>
    <p:notesMasterId r:id="rId10"/>
  </p:notesMasterIdLst>
  <p:sldIdLst>
    <p:sldId id="9814" r:id="rId6"/>
    <p:sldId id="2147483644" r:id="rId7"/>
    <p:sldId id="2147483645" r:id="rId8"/>
    <p:sldId id="2147483646"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BBF2A2-4906-49F1-88A7-C526EACC670E}" v="5" dt="2025-12-15T03:00:10.705"/>
    <p1510:client id="{C0356A3F-FCF6-4B39-87F2-58319D2D1392}" v="3" dt="2025-12-14T12:51:44.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o,Leo (HP Medicine) BII-CN-S" userId="304d67f6-22b5-442d-b505-93f46686c546" providerId="ADAL" clId="{37A7E875-5594-46C3-AFCD-CED024D1C1B4}"/>
    <pc:docChg chg="addSld delSld modSld">
      <pc:chgData name="Bao,Leo (HP Medicine) BII-CN-S" userId="304d67f6-22b5-442d-b505-93f46686c546" providerId="ADAL" clId="{37A7E875-5594-46C3-AFCD-CED024D1C1B4}" dt="2025-12-15T03:00:10.705" v="7" actId="47"/>
      <pc:docMkLst>
        <pc:docMk/>
      </pc:docMkLst>
      <pc:sldChg chg="add del">
        <pc:chgData name="Bao,Leo (HP Medicine) BII-CN-S" userId="304d67f6-22b5-442d-b505-93f46686c546" providerId="ADAL" clId="{37A7E875-5594-46C3-AFCD-CED024D1C1B4}" dt="2025-12-15T03:00:10.705" v="7" actId="47"/>
        <pc:sldMkLst>
          <pc:docMk/>
          <pc:sldMk cId="1931442207" sldId="258"/>
        </pc:sldMkLst>
      </pc:sldChg>
      <pc:sldChg chg="add del">
        <pc:chgData name="Bao,Leo (HP Medicine) BII-CN-S" userId="304d67f6-22b5-442d-b505-93f46686c546" providerId="ADAL" clId="{37A7E875-5594-46C3-AFCD-CED024D1C1B4}" dt="2025-12-14T12:51:44.755" v="2"/>
        <pc:sldMkLst>
          <pc:docMk/>
          <pc:sldMk cId="2354436188" sldId="9814"/>
        </pc:sldMkLst>
      </pc:sldChg>
      <pc:sldChg chg="add del">
        <pc:chgData name="Bao,Leo (HP Medicine) BII-CN-S" userId="304d67f6-22b5-442d-b505-93f46686c546" providerId="ADAL" clId="{37A7E875-5594-46C3-AFCD-CED024D1C1B4}" dt="2025-12-15T03:00:10.705" v="7" actId="47"/>
        <pc:sldMkLst>
          <pc:docMk/>
          <pc:sldMk cId="1316504130" sldId="9859"/>
        </pc:sldMkLst>
      </pc:sldChg>
      <pc:sldChg chg="add del">
        <pc:chgData name="Bao,Leo (HP Medicine) BII-CN-S" userId="304d67f6-22b5-442d-b505-93f46686c546" providerId="ADAL" clId="{37A7E875-5594-46C3-AFCD-CED024D1C1B4}" dt="2025-12-15T03:00:10.705" v="7" actId="47"/>
        <pc:sldMkLst>
          <pc:docMk/>
          <pc:sldMk cId="1548304776" sldId="2147483642"/>
        </pc:sldMkLst>
      </pc:sldChg>
      <pc:sldChg chg="add del">
        <pc:chgData name="Bao,Leo (HP Medicine) BII-CN-S" userId="304d67f6-22b5-442d-b505-93f46686c546" providerId="ADAL" clId="{37A7E875-5594-46C3-AFCD-CED024D1C1B4}" dt="2025-12-15T02:59:50.050" v="4"/>
        <pc:sldMkLst>
          <pc:docMk/>
          <pc:sldMk cId="747677725" sldId="2147483643"/>
        </pc:sldMkLst>
      </pc:sldChg>
      <pc:sldChg chg="add del">
        <pc:chgData name="Bao,Leo (HP Medicine) BII-CN-S" userId="304d67f6-22b5-442d-b505-93f46686c546" providerId="ADAL" clId="{37A7E875-5594-46C3-AFCD-CED024D1C1B4}" dt="2025-12-15T02:59:54.155" v="6" actId="47"/>
        <pc:sldMkLst>
          <pc:docMk/>
          <pc:sldMk cId="1906902463" sldId="2147483643"/>
        </pc:sldMkLst>
      </pc:sldChg>
      <pc:sldChg chg="add del">
        <pc:chgData name="Bao,Leo (HP Medicine) BII-CN-S" userId="304d67f6-22b5-442d-b505-93f46686c546" providerId="ADAL" clId="{37A7E875-5594-46C3-AFCD-CED024D1C1B4}" dt="2025-12-15T02:59:50.050" v="4"/>
        <pc:sldMkLst>
          <pc:docMk/>
          <pc:sldMk cId="864071845" sldId="2147483644"/>
        </pc:sldMkLst>
      </pc:sldChg>
      <pc:sldChg chg="add">
        <pc:chgData name="Bao,Leo (HP Medicine) BII-CN-S" userId="304d67f6-22b5-442d-b505-93f46686c546" providerId="ADAL" clId="{37A7E875-5594-46C3-AFCD-CED024D1C1B4}" dt="2025-12-15T02:59:50.119" v="5"/>
        <pc:sldMkLst>
          <pc:docMk/>
          <pc:sldMk cId="3420950709" sldId="2147483644"/>
        </pc:sldMkLst>
      </pc:sldChg>
      <pc:sldChg chg="add del">
        <pc:chgData name="Bao,Leo (HP Medicine) BII-CN-S" userId="304d67f6-22b5-442d-b505-93f46686c546" providerId="ADAL" clId="{37A7E875-5594-46C3-AFCD-CED024D1C1B4}" dt="2025-12-15T02:59:50.050" v="4"/>
        <pc:sldMkLst>
          <pc:docMk/>
          <pc:sldMk cId="1830403768" sldId="2147483645"/>
        </pc:sldMkLst>
      </pc:sldChg>
      <pc:sldChg chg="add">
        <pc:chgData name="Bao,Leo (HP Medicine) BII-CN-S" userId="304d67f6-22b5-442d-b505-93f46686c546" providerId="ADAL" clId="{37A7E875-5594-46C3-AFCD-CED024D1C1B4}" dt="2025-12-15T02:59:50.119" v="5"/>
        <pc:sldMkLst>
          <pc:docMk/>
          <pc:sldMk cId="3322411458" sldId="2147483645"/>
        </pc:sldMkLst>
      </pc:sldChg>
      <pc:sldChg chg="add del">
        <pc:chgData name="Bao,Leo (HP Medicine) BII-CN-S" userId="304d67f6-22b5-442d-b505-93f46686c546" providerId="ADAL" clId="{37A7E875-5594-46C3-AFCD-CED024D1C1B4}" dt="2025-12-15T02:59:50.050" v="4"/>
        <pc:sldMkLst>
          <pc:docMk/>
          <pc:sldMk cId="1350147986" sldId="2147483646"/>
        </pc:sldMkLst>
      </pc:sldChg>
      <pc:sldChg chg="add">
        <pc:chgData name="Bao,Leo (HP Medicine) BII-CN-S" userId="304d67f6-22b5-442d-b505-93f46686c546" providerId="ADAL" clId="{37A7E875-5594-46C3-AFCD-CED024D1C1B4}" dt="2025-12-15T02:59:50.119" v="5"/>
        <pc:sldMkLst>
          <pc:docMk/>
          <pc:sldMk cId="2038922529" sldId="21474836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238D1-AB51-4FEA-A0E8-2FA23FA6FDA6}" type="datetimeFigureOut">
              <a:rPr lang="zh-CN" altLang="en-US" smtClean="0"/>
              <a:t>2025/12/15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225484-D406-403A-81E4-71F435E415E3}" type="slidenum">
              <a:rPr lang="zh-CN" altLang="en-US" smtClean="0"/>
              <a:t>‹#›</a:t>
            </a:fld>
            <a:endParaRPr lang="zh-CN" altLang="en-US"/>
          </a:p>
        </p:txBody>
      </p:sp>
    </p:spTree>
    <p:extLst>
      <p:ext uri="{BB962C8B-B14F-4D97-AF65-F5344CB8AC3E}">
        <p14:creationId xmlns:p14="http://schemas.microsoft.com/office/powerpoint/2010/main" val="1147819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807B83-C6EF-4820-B29B-23163268F2B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OPPOSans M" panose="00020600040101010101"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OPPOSans M" panose="00020600040101010101" pitchFamily="18" charset="-122"/>
              <a:cs typeface="+mn-cs"/>
            </a:endParaRPr>
          </a:p>
        </p:txBody>
      </p:sp>
    </p:spTree>
    <p:extLst>
      <p:ext uri="{BB962C8B-B14F-4D97-AF65-F5344CB8AC3E}">
        <p14:creationId xmlns:p14="http://schemas.microsoft.com/office/powerpoint/2010/main" val="394752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50950-2D60-47A9-B894-447F28D32855}"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288351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A50950-2D60-47A9-B894-447F28D32855}"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1676335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933205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900578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8008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60477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313275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58221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1975660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54358108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665733857"/>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1409339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479426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641630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21949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98314267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091316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58005928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90104161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49001238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02237834"/>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913930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8804007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993359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625038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43101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0338529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52203255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89914152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64884341"/>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0089046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1880348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037571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8747004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3335537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14259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4382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21854351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966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76AEA-AB91-18F3-E605-86D80906568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D1C88D9-DDFB-3C8C-9CC9-1AD77A993B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2E2DF09-1E97-391B-B828-5963363BFC87}"/>
              </a:ext>
            </a:extLst>
          </p:cNvPr>
          <p:cNvSpPr>
            <a:spLocks noGrp="1"/>
          </p:cNvSpPr>
          <p:nvPr>
            <p:ph type="dt" sz="half" idx="10"/>
          </p:nvPr>
        </p:nvSpPr>
        <p:spPr/>
        <p:txBody>
          <a:bodyPr/>
          <a:lstStyle/>
          <a:p>
            <a:fld id="{C15123B5-B13A-4820-AA22-CB0B0B6039A7}"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DFDA119B-B307-8299-3E3B-312C9ACF79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2C31F4-4974-5D12-A2A9-F2781A7EEB8B}"/>
              </a:ext>
            </a:extLst>
          </p:cNvPr>
          <p:cNvSpPr>
            <a:spLocks noGrp="1"/>
          </p:cNvSpPr>
          <p:nvPr>
            <p:ph type="sldNum" sz="quarter" idx="12"/>
          </p:nvPr>
        </p:nvSpPr>
        <p:spPr/>
        <p:txBody>
          <a:bodyPr/>
          <a:lstStyle/>
          <a:p>
            <a:fld id="{54793781-E9B6-4AAD-B52A-44895B7B9C57}" type="slidenum">
              <a:rPr lang="zh-CN" altLang="en-US" smtClean="0"/>
              <a:t>‹#›</a:t>
            </a:fld>
            <a:endParaRPr lang="zh-CN" altLang="en-US"/>
          </a:p>
        </p:txBody>
      </p:sp>
    </p:spTree>
    <p:extLst>
      <p:ext uri="{BB962C8B-B14F-4D97-AF65-F5344CB8AC3E}">
        <p14:creationId xmlns:p14="http://schemas.microsoft.com/office/powerpoint/2010/main" val="37348265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93200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2025/12/15</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0527632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9868397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1544929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46D881-05D8-C143-E5A6-787285FC8FCE}"/>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D0BD32-5B69-55E3-29FB-60AC5D5AE025}"/>
              </a:ext>
            </a:extLst>
          </p:cNvPr>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A49F45-38F5-F208-9A4B-21F7E9F19019}"/>
              </a:ext>
            </a:extLst>
          </p:cNvPr>
          <p:cNvSpPr>
            <a:spLocks noGrp="1"/>
          </p:cNvSpPr>
          <p:nvPr>
            <p:ph type="dt" sz="half" idx="10"/>
          </p:nvPr>
        </p:nvSpPr>
        <p:spPr>
          <a:xfrm>
            <a:off x="838200" y="6356350"/>
            <a:ext cx="2743200" cy="365125"/>
          </a:xfrm>
          <a:prstGeom prst="rect">
            <a:avLst/>
          </a:prstGeom>
        </p:spPr>
        <p:txBody>
          <a:bodyPr/>
          <a:lstStyle/>
          <a:p>
            <a:fld id="{07CF30D5-BBB6-4B91-BD5F-1810D4D1A6A1}" type="datetimeFigureOut">
              <a:rPr lang="zh-CN" altLang="en-US" smtClean="0"/>
              <a:t>2025/12/15</a:t>
            </a:fld>
            <a:endParaRPr lang="zh-CN" altLang="en-US"/>
          </a:p>
        </p:txBody>
      </p:sp>
      <p:sp>
        <p:nvSpPr>
          <p:cNvPr id="5" name="页脚占位符 4">
            <a:extLst>
              <a:ext uri="{FF2B5EF4-FFF2-40B4-BE49-F238E27FC236}">
                <a16:creationId xmlns:a16="http://schemas.microsoft.com/office/drawing/2014/main" id="{24AEE0DE-1BDF-BDB0-CC7B-236B78CFC40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2A91A8F-3AD4-76EA-5560-FFF005384ADF}"/>
              </a:ext>
            </a:extLst>
          </p:cNvPr>
          <p:cNvSpPr>
            <a:spLocks noGrp="1"/>
          </p:cNvSpPr>
          <p:nvPr>
            <p:ph type="sldNum" sz="quarter" idx="12"/>
          </p:nvPr>
        </p:nvSpPr>
        <p:spPr>
          <a:xfrm>
            <a:off x="8610600" y="6356350"/>
            <a:ext cx="2743200" cy="365125"/>
          </a:xfrm>
          <a:prstGeom prst="rect">
            <a:avLst/>
          </a:prstGeom>
        </p:spPr>
        <p:txBody>
          <a:bodyPr/>
          <a:lstStyle/>
          <a:p>
            <a:fld id="{ADAF2A00-E09E-446D-B253-723CBACFD0FC}" type="slidenum">
              <a:rPr lang="zh-CN" altLang="en-US" smtClean="0"/>
              <a:t>‹#›</a:t>
            </a:fld>
            <a:endParaRPr lang="zh-CN" altLang="en-US"/>
          </a:p>
        </p:txBody>
      </p:sp>
    </p:spTree>
    <p:extLst>
      <p:ext uri="{BB962C8B-B14F-4D97-AF65-F5344CB8AC3E}">
        <p14:creationId xmlns:p14="http://schemas.microsoft.com/office/powerpoint/2010/main" val="94928463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8.sv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image" Target="../media/image17.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heme" Target="../theme/theme2.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441962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extLst>
              <a:ext uri="{96DAC541-7B7A-43D3-8B79-37D633B846F1}">
                <asvg:svgBlip xmlns:asvg="http://schemas.microsoft.com/office/drawing/2016/SVG/main" r:embed="rId1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648284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16E953-8056-8FA1-FC05-5FE866E071B4}"/>
              </a:ext>
            </a:extLst>
          </p:cNvPr>
          <p:cNvSpPr>
            <a:spLocks noGrp="1"/>
          </p:cNvSpPr>
          <p:nvPr>
            <p:ph type="ctrTitle"/>
          </p:nvPr>
        </p:nvSpPr>
        <p:spPr>
          <a:xfrm>
            <a:off x="448397" y="1884280"/>
            <a:ext cx="11264178" cy="1368064"/>
          </a:xfrm>
        </p:spPr>
        <p:txBody>
          <a:bodyPr anchor="ctr"/>
          <a:lstStyle/>
          <a:p>
            <a:r>
              <a:rPr lang="en-US" altLang="zh-CN" sz="4400"/>
              <a:t>Metalyse Late Time Window HA Interaction Strategy</a:t>
            </a:r>
            <a:endParaRPr lang="zh-CN" altLang="en-US" sz="4400"/>
          </a:p>
        </p:txBody>
      </p:sp>
      <p:sp>
        <p:nvSpPr>
          <p:cNvPr id="4" name="页脚占位符 3">
            <a:extLst>
              <a:ext uri="{FF2B5EF4-FFF2-40B4-BE49-F238E27FC236}">
                <a16:creationId xmlns:a16="http://schemas.microsoft.com/office/drawing/2014/main" id="{EF49866E-143F-93C5-FAEA-65D122821F0C}"/>
              </a:ext>
            </a:extLst>
          </p:cNvPr>
          <p:cNvSpPr>
            <a:spLocks noGrp="1"/>
          </p:cNvSpPr>
          <p:nvPr>
            <p:ph type="ftr" sz="quarter" idx="19"/>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文本框 4">
            <a:extLst>
              <a:ext uri="{FF2B5EF4-FFF2-40B4-BE49-F238E27FC236}">
                <a16:creationId xmlns:a16="http://schemas.microsoft.com/office/drawing/2014/main" id="{2066E71E-0F89-AC69-B6FB-826AAB09DFE0}"/>
              </a:ext>
            </a:extLst>
          </p:cNvPr>
          <p:cNvSpPr txBox="1"/>
          <p:nvPr/>
        </p:nvSpPr>
        <p:spPr bwMode="gray">
          <a:xfrm>
            <a:off x="541529" y="3673096"/>
            <a:ext cx="2051844" cy="39491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prstClr val="white"/>
                </a:solidFill>
                <a:effectLst/>
                <a:uLnTx/>
                <a:uFillTx/>
                <a:latin typeface="Boehringer Forward Text"/>
                <a:ea typeface="+mn-ea"/>
                <a:cs typeface="+mn-cs"/>
              </a:rPr>
              <a:t>For endorsement</a:t>
            </a:r>
            <a:endParaRPr kumimoji="0" lang="zh-CN" altLang="en-US" sz="2000" b="0" i="0" u="none" strike="noStrike" kern="1200" cap="none" spc="0" normalizeH="0" baseline="0" noProof="0">
              <a:ln>
                <a:noFill/>
              </a:ln>
              <a:solidFill>
                <a:prstClr val="white"/>
              </a:solidFill>
              <a:effectLst/>
              <a:uLnTx/>
              <a:uFillTx/>
              <a:latin typeface="Boehringer Forward Text"/>
              <a:ea typeface="+mn-ea"/>
              <a:cs typeface="+mn-cs"/>
            </a:endParaRPr>
          </a:p>
        </p:txBody>
      </p:sp>
    </p:spTree>
    <p:extLst>
      <p:ext uri="{BB962C8B-B14F-4D97-AF65-F5344CB8AC3E}">
        <p14:creationId xmlns:p14="http://schemas.microsoft.com/office/powerpoint/2010/main" val="2354436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54D75C7F-CD17-A223-84D3-786B0C0C0D43}"/>
              </a:ext>
            </a:extLst>
          </p:cNvPr>
          <p:cNvSpPr/>
          <p:nvPr>
            <p:custDataLst>
              <p:tags r:id="rId1"/>
            </p:custDataLst>
          </p:nvPr>
        </p:nvSpPr>
        <p:spPr>
          <a:xfrm>
            <a:off x="421521" y="1191630"/>
            <a:ext cx="5550405" cy="4899826"/>
          </a:xfrm>
          <a:prstGeom prst="roundRect">
            <a:avLst>
              <a:gd name="adj"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71" name="任意多边形: 形状 70">
            <a:extLst>
              <a:ext uri="{FF2B5EF4-FFF2-40B4-BE49-F238E27FC236}">
                <a16:creationId xmlns:a16="http://schemas.microsoft.com/office/drawing/2014/main" id="{4F17F9DA-EDAB-F90B-3181-0AFEC6BB2424}"/>
              </a:ext>
            </a:extLst>
          </p:cNvPr>
          <p:cNvSpPr/>
          <p:nvPr>
            <p:custDataLst>
              <p:tags r:id="rId2"/>
            </p:custDataLst>
          </p:nvPr>
        </p:nvSpPr>
        <p:spPr>
          <a:xfrm>
            <a:off x="415093" y="817093"/>
            <a:ext cx="5564469" cy="732728"/>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370332" dist="111100"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8879" tIns="44440" rIns="88879" bIns="44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750" b="0" i="0" u="none" strike="noStrike" kern="1200" cap="none" spc="0" normalizeH="0" baseline="0" noProof="0">
              <a:ln>
                <a:noFill/>
              </a:ln>
              <a:solidFill>
                <a:prstClr val="white"/>
              </a:solidFill>
              <a:effectLst>
                <a:outerShdw blurRad="123444" dist="37033" dir="2699979" algn="tl">
                  <a:srgbClr val="000000">
                    <a:alpha val="40000"/>
                  </a:srgbClr>
                </a:outerShdw>
              </a:effectLst>
              <a:uLnTx/>
              <a:uFillTx/>
              <a:latin typeface="+mj-ea"/>
              <a:ea typeface="OPPOSans M"/>
              <a:cs typeface="+mn-cs"/>
            </a:endParaRPr>
          </a:p>
        </p:txBody>
      </p:sp>
      <p:sp>
        <p:nvSpPr>
          <p:cNvPr id="72" name="文本框 71">
            <a:extLst>
              <a:ext uri="{FF2B5EF4-FFF2-40B4-BE49-F238E27FC236}">
                <a16:creationId xmlns:a16="http://schemas.microsoft.com/office/drawing/2014/main" id="{31742A8B-BC79-371E-B4CA-EBB040CBE1EE}"/>
              </a:ext>
            </a:extLst>
          </p:cNvPr>
          <p:cNvSpPr txBox="1"/>
          <p:nvPr/>
        </p:nvSpPr>
        <p:spPr>
          <a:xfrm>
            <a:off x="680734" y="909861"/>
            <a:ext cx="4845255"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Background</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77" name="矩形: 圆角 76">
            <a:extLst>
              <a:ext uri="{FF2B5EF4-FFF2-40B4-BE49-F238E27FC236}">
                <a16:creationId xmlns:a16="http://schemas.microsoft.com/office/drawing/2014/main" id="{64A8B87B-92C1-F3A2-C6D8-205E26BCED07}"/>
              </a:ext>
            </a:extLst>
          </p:cNvPr>
          <p:cNvSpPr/>
          <p:nvPr>
            <p:custDataLst>
              <p:tags r:id="rId3"/>
            </p:custDataLst>
          </p:nvPr>
        </p:nvSpPr>
        <p:spPr>
          <a:xfrm>
            <a:off x="6212721" y="1191630"/>
            <a:ext cx="5550405" cy="4899826"/>
          </a:xfrm>
          <a:prstGeom prst="roundRect">
            <a:avLst>
              <a:gd name="adj"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81" name="任意多边形: 形状 80">
            <a:extLst>
              <a:ext uri="{FF2B5EF4-FFF2-40B4-BE49-F238E27FC236}">
                <a16:creationId xmlns:a16="http://schemas.microsoft.com/office/drawing/2014/main" id="{5630280C-7927-0B9E-CEFB-2E08CD26C19B}"/>
              </a:ext>
            </a:extLst>
          </p:cNvPr>
          <p:cNvSpPr/>
          <p:nvPr>
            <p:custDataLst>
              <p:tags r:id="rId4"/>
            </p:custDataLst>
          </p:nvPr>
        </p:nvSpPr>
        <p:spPr>
          <a:xfrm>
            <a:off x="6206293" y="817093"/>
            <a:ext cx="5564469" cy="732728"/>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OPPOSans M"/>
              <a:cs typeface="+mn-cs"/>
            </a:endParaRPr>
          </a:p>
        </p:txBody>
      </p:sp>
      <p:sp>
        <p:nvSpPr>
          <p:cNvPr id="62" name="文本占位符 1">
            <a:extLst>
              <a:ext uri="{FF2B5EF4-FFF2-40B4-BE49-F238E27FC236}">
                <a16:creationId xmlns:a16="http://schemas.microsoft.com/office/drawing/2014/main" id="{8BBEA513-3F42-1249-7A77-74867D20D3A8}"/>
              </a:ext>
            </a:extLst>
          </p:cNvPr>
          <p:cNvSpPr txBox="1">
            <a:spLocks/>
          </p:cNvSpPr>
          <p:nvPr/>
        </p:nvSpPr>
        <p:spPr>
          <a:xfrm>
            <a:off x="578417" y="-841540"/>
            <a:ext cx="4634366" cy="391967"/>
          </a:xfrm>
          <a:prstGeom prst="rect">
            <a:avLst/>
          </a:prstGeom>
        </p:spPr>
        <p:txBody>
          <a:bodyPr/>
          <a:lstStyle>
            <a:defPPr>
              <a:defRPr lang="zh-CN"/>
            </a:defPPr>
            <a:lvl1pPr indent="0">
              <a:lnSpc>
                <a:spcPct val="90000"/>
              </a:lnSpc>
              <a:spcBef>
                <a:spcPts val="1000"/>
              </a:spcBef>
              <a:buFont typeface="Arial" panose="020B0604020202020204" pitchFamily="34" charset="0"/>
              <a:buNone/>
              <a:defRPr sz="2800">
                <a:solidFill>
                  <a:schemeClr val="accent1"/>
                </a:solidFill>
                <a:latin typeface="思源宋体 CN Heavy" panose="02020900000000000000" pitchFamily="18" charset="-122"/>
                <a:ea typeface="思源宋体 CN Heavy" panose="02020900000000000000" pitchFamily="18" charset="-122"/>
                <a:cs typeface="阿里巴巴普惠体 M"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a:ln>
                <a:noFill/>
              </a:ln>
              <a:solidFill>
                <a:srgbClr val="1E4123"/>
              </a:solidFill>
              <a:effectLst/>
              <a:uLnTx/>
              <a:uFillTx/>
              <a:latin typeface="OPPOSans B" panose="00020600040101010101" pitchFamily="18" charset="-122"/>
              <a:ea typeface="OPPOSans B" panose="00020600040101010101" pitchFamily="18" charset="-122"/>
            </a:endParaRPr>
          </a:p>
        </p:txBody>
      </p:sp>
      <p:sp>
        <p:nvSpPr>
          <p:cNvPr id="87" name="文本框 86">
            <a:extLst>
              <a:ext uri="{FF2B5EF4-FFF2-40B4-BE49-F238E27FC236}">
                <a16:creationId xmlns:a16="http://schemas.microsoft.com/office/drawing/2014/main" id="{DF6302AA-82F6-4611-02FC-8C777B7FD34D}"/>
              </a:ext>
            </a:extLst>
          </p:cNvPr>
          <p:cNvSpPr txBox="1"/>
          <p:nvPr/>
        </p:nvSpPr>
        <p:spPr>
          <a:xfrm>
            <a:off x="6532539" y="909861"/>
            <a:ext cx="4850842"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PEC Discussion</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3" name="矩形 102">
            <a:extLst>
              <a:ext uri="{FF2B5EF4-FFF2-40B4-BE49-F238E27FC236}">
                <a16:creationId xmlns:a16="http://schemas.microsoft.com/office/drawing/2014/main" id="{C8931848-2275-D674-4FBC-C564DDA38916}"/>
              </a:ext>
            </a:extLst>
          </p:cNvPr>
          <p:cNvSpPr/>
          <p:nvPr/>
        </p:nvSpPr>
        <p:spPr>
          <a:xfrm>
            <a:off x="6532539" y="1838120"/>
            <a:ext cx="4963454" cy="1080000"/>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4" name="矩形: 圆角 103">
            <a:extLst>
              <a:ext uri="{FF2B5EF4-FFF2-40B4-BE49-F238E27FC236}">
                <a16:creationId xmlns:a16="http://schemas.microsoft.com/office/drawing/2014/main" id="{1CB8C90B-A1E4-4DA9-2B27-FAFA99BCD3FC}"/>
              </a:ext>
            </a:extLst>
          </p:cNvPr>
          <p:cNvSpPr/>
          <p:nvPr>
            <p:custDataLst>
              <p:tags r:id="rId5"/>
            </p:custDataLst>
          </p:nvPr>
        </p:nvSpPr>
        <p:spPr>
          <a:xfrm>
            <a:off x="6590182" y="1710236"/>
            <a:ext cx="3365795" cy="377055"/>
          </a:xfrm>
          <a:prstGeom prst="roundRect">
            <a:avLst>
              <a:gd name="adj" fmla="val 13302"/>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Discussion Purpose</a:t>
            </a:r>
            <a:endParaRPr kumimoji="0" lang="zh-CN" altLang="en-US"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5" name="矩形 104">
            <a:extLst>
              <a:ext uri="{FF2B5EF4-FFF2-40B4-BE49-F238E27FC236}">
                <a16:creationId xmlns:a16="http://schemas.microsoft.com/office/drawing/2014/main" id="{F6F9C9E3-5BEA-396C-CC84-7FC99FC96EB4}"/>
              </a:ext>
            </a:extLst>
          </p:cNvPr>
          <p:cNvSpPr/>
          <p:nvPr/>
        </p:nvSpPr>
        <p:spPr>
          <a:xfrm>
            <a:off x="6532539" y="3187596"/>
            <a:ext cx="4963454" cy="1080000"/>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6" name="矩形: 圆角 105">
            <a:extLst>
              <a:ext uri="{FF2B5EF4-FFF2-40B4-BE49-F238E27FC236}">
                <a16:creationId xmlns:a16="http://schemas.microsoft.com/office/drawing/2014/main" id="{504627DC-1B8D-D359-EEFB-F586635E91D4}"/>
              </a:ext>
            </a:extLst>
          </p:cNvPr>
          <p:cNvSpPr/>
          <p:nvPr>
            <p:custDataLst>
              <p:tags r:id="rId6"/>
            </p:custDataLst>
          </p:nvPr>
        </p:nvSpPr>
        <p:spPr>
          <a:xfrm>
            <a:off x="6590182" y="3039164"/>
            <a:ext cx="3365795" cy="377055"/>
          </a:xfrm>
          <a:prstGeom prst="roundRect">
            <a:avLst>
              <a:gd name="adj" fmla="val 13302"/>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Team Proposal</a:t>
            </a:r>
            <a:endParaRPr kumimoji="0" lang="zh-CN" altLang="en-US"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7" name="矩形 106">
            <a:extLst>
              <a:ext uri="{FF2B5EF4-FFF2-40B4-BE49-F238E27FC236}">
                <a16:creationId xmlns:a16="http://schemas.microsoft.com/office/drawing/2014/main" id="{26404657-AF42-E04C-0484-8E12BF4F88B5}"/>
              </a:ext>
            </a:extLst>
          </p:cNvPr>
          <p:cNvSpPr/>
          <p:nvPr/>
        </p:nvSpPr>
        <p:spPr>
          <a:xfrm>
            <a:off x="6532539" y="4547346"/>
            <a:ext cx="4963454" cy="1080000"/>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8" name="矩形: 圆角 107">
            <a:extLst>
              <a:ext uri="{FF2B5EF4-FFF2-40B4-BE49-F238E27FC236}">
                <a16:creationId xmlns:a16="http://schemas.microsoft.com/office/drawing/2014/main" id="{7EC3D8D4-E562-802E-C322-11C97D6B087E}"/>
              </a:ext>
            </a:extLst>
          </p:cNvPr>
          <p:cNvSpPr/>
          <p:nvPr>
            <p:custDataLst>
              <p:tags r:id="rId7"/>
            </p:custDataLst>
          </p:nvPr>
        </p:nvSpPr>
        <p:spPr>
          <a:xfrm>
            <a:off x="6590182" y="4398914"/>
            <a:ext cx="3365795" cy="377055"/>
          </a:xfrm>
          <a:prstGeom prst="roundRect">
            <a:avLst>
              <a:gd name="adj" fmla="val 13302"/>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Rationale for PEC Discussion</a:t>
            </a:r>
            <a:endParaRPr kumimoji="0" lang="zh-CN" altLang="en-US"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10" name="文本框 109">
            <a:extLst>
              <a:ext uri="{FF2B5EF4-FFF2-40B4-BE49-F238E27FC236}">
                <a16:creationId xmlns:a16="http://schemas.microsoft.com/office/drawing/2014/main" id="{D722E934-DAC3-D47D-42D8-3A49C6A19A7E}"/>
              </a:ext>
            </a:extLst>
          </p:cNvPr>
          <p:cNvSpPr txBox="1"/>
          <p:nvPr/>
        </p:nvSpPr>
        <p:spPr>
          <a:xfrm>
            <a:off x="6646458" y="2175276"/>
            <a:ext cx="4601658" cy="569215"/>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400" b="0" i="1" u="none" strike="noStrike" kern="1200" cap="none" spc="0" normalizeH="0" baseline="0" noProof="0">
                <a:ln>
                  <a:noFill/>
                </a:ln>
                <a:solidFill>
                  <a:prstClr val="black">
                    <a:lumMod val="75000"/>
                    <a:lumOff val="25000"/>
                  </a:prstClr>
                </a:solidFill>
                <a:effectLst/>
                <a:uLnTx/>
                <a:uFillTx/>
                <a:latin typeface="Arial"/>
                <a:cs typeface="+mn-cs"/>
              </a:rPr>
              <a:t>Confirm the HAI strategy for the sister trial</a:t>
            </a:r>
            <a:endParaRPr kumimoji="0" lang="zh-CN" altLang="en-US" sz="1400" b="0" i="1" u="none" strike="noStrike" kern="1200" cap="none" spc="0" normalizeH="0" baseline="0" noProof="0">
              <a:ln>
                <a:noFill/>
              </a:ln>
              <a:solidFill>
                <a:prstClr val="black">
                  <a:lumMod val="75000"/>
                  <a:lumOff val="25000"/>
                </a:prstClr>
              </a:solidFill>
              <a:effectLst/>
              <a:uLnTx/>
              <a:uFillTx/>
              <a:latin typeface="Arial"/>
              <a:cs typeface="+mn-cs"/>
            </a:endParaRPr>
          </a:p>
        </p:txBody>
      </p:sp>
      <p:sp>
        <p:nvSpPr>
          <p:cNvPr id="111" name="文本框 110">
            <a:extLst>
              <a:ext uri="{FF2B5EF4-FFF2-40B4-BE49-F238E27FC236}">
                <a16:creationId xmlns:a16="http://schemas.microsoft.com/office/drawing/2014/main" id="{D57E4B50-846D-F18E-0522-72F0DAEE8133}"/>
              </a:ext>
            </a:extLst>
          </p:cNvPr>
          <p:cNvSpPr txBox="1"/>
          <p:nvPr/>
        </p:nvSpPr>
        <p:spPr>
          <a:xfrm>
            <a:off x="6646458" y="3510601"/>
            <a:ext cx="4736923" cy="620075"/>
          </a:xfrm>
          <a:prstGeom prst="rect">
            <a:avLst/>
          </a:prstGeom>
          <a:noFill/>
        </p:spPr>
        <p:txBody>
          <a:bodyPr wrap="square">
            <a:noAutofit/>
          </a:bodyPr>
          <a:lstStyle>
            <a:defPPr>
              <a:defRPr lang="en-US"/>
            </a:defPPr>
            <a:lvl1pPr>
              <a:lnSpc>
                <a:spcPct val="125000"/>
              </a:lnSpc>
              <a:defRPr kern="100">
                <a:effectLst/>
                <a:latin typeface="+mn-ea"/>
                <a:cs typeface="仿宋" panose="02010609060101010101" pitchFamily="49" charset="-122"/>
              </a:defRPr>
            </a:lvl1p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400" b="0" i="1" u="none" strike="noStrike" kern="1200" cap="none" spc="0" normalizeH="0" baseline="0" noProof="0">
                <a:ln>
                  <a:noFill/>
                </a:ln>
                <a:solidFill>
                  <a:prstClr val="black">
                    <a:lumMod val="75000"/>
                    <a:lumOff val="25000"/>
                  </a:prstClr>
                </a:solidFill>
                <a:effectLst/>
                <a:uLnTx/>
                <a:uFillTx/>
                <a:latin typeface="Arial"/>
                <a:cs typeface="+mn-cs"/>
              </a:rPr>
              <a:t>Pre-IND is necessary, due to the complexity of the current development strategy.</a:t>
            </a:r>
            <a:endParaRPr kumimoji="0" lang="zh-CN" altLang="en-US" sz="1400" b="0" i="1" u="none" strike="noStrike" kern="1200" cap="none" spc="0" normalizeH="0" baseline="0" noProof="0">
              <a:ln>
                <a:noFill/>
              </a:ln>
              <a:solidFill>
                <a:prstClr val="black">
                  <a:lumMod val="75000"/>
                  <a:lumOff val="25000"/>
                </a:prstClr>
              </a:solidFill>
              <a:effectLst/>
              <a:uLnTx/>
              <a:uFillTx/>
              <a:latin typeface="Arial"/>
              <a:cs typeface="+mn-cs"/>
            </a:endParaRPr>
          </a:p>
        </p:txBody>
      </p:sp>
      <p:sp>
        <p:nvSpPr>
          <p:cNvPr id="112" name="文本框 111">
            <a:extLst>
              <a:ext uri="{FF2B5EF4-FFF2-40B4-BE49-F238E27FC236}">
                <a16:creationId xmlns:a16="http://schemas.microsoft.com/office/drawing/2014/main" id="{C8ABFF76-4F68-FECA-8E75-1E50F2ABC296}"/>
              </a:ext>
            </a:extLst>
          </p:cNvPr>
          <p:cNvSpPr txBox="1"/>
          <p:nvPr/>
        </p:nvSpPr>
        <p:spPr>
          <a:xfrm>
            <a:off x="6646458" y="4846943"/>
            <a:ext cx="4601658" cy="61757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400" b="0" i="1" u="none" strike="noStrike" kern="1200" cap="none" spc="0" normalizeH="0" baseline="0" noProof="0">
                <a:ln>
                  <a:noFill/>
                </a:ln>
                <a:solidFill>
                  <a:prstClr val="black">
                    <a:lumMod val="75000"/>
                    <a:lumOff val="25000"/>
                  </a:prstClr>
                </a:solidFill>
                <a:effectLst/>
                <a:uLnTx/>
                <a:uFillTx/>
                <a:latin typeface="Arial"/>
                <a:cs typeface="+mn-cs"/>
              </a:rPr>
              <a:t>1.Current proposal from the local team is not aligned with BUPC recommendations.</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400" b="0" i="1" u="none" strike="noStrike" kern="1200" cap="none" spc="0" normalizeH="0" baseline="0" noProof="0">
                <a:ln>
                  <a:noFill/>
                </a:ln>
                <a:solidFill>
                  <a:prstClr val="black">
                    <a:lumMod val="75000"/>
                    <a:lumOff val="25000"/>
                  </a:prstClr>
                </a:solidFill>
                <a:effectLst/>
                <a:uLnTx/>
                <a:uFillTx/>
                <a:latin typeface="Arial"/>
                <a:cs typeface="+mn-cs"/>
              </a:rPr>
              <a:t>2.Guidance from PEC members is requested.</a:t>
            </a:r>
            <a:endParaRPr kumimoji="0" lang="zh-CN" altLang="en-US" sz="1400" b="0" i="1" u="none" strike="noStrike" kern="1200" cap="none" spc="0" normalizeH="0" baseline="0" noProof="0">
              <a:ln>
                <a:noFill/>
              </a:ln>
              <a:solidFill>
                <a:prstClr val="black">
                  <a:lumMod val="75000"/>
                  <a:lumOff val="25000"/>
                </a:prstClr>
              </a:solidFill>
              <a:effectLst/>
              <a:uLnTx/>
              <a:uFillTx/>
              <a:latin typeface="Arial"/>
              <a:cs typeface="+mn-cs"/>
            </a:endParaRPr>
          </a:p>
        </p:txBody>
      </p:sp>
      <p:sp>
        <p:nvSpPr>
          <p:cNvPr id="114" name="文本框 113">
            <a:extLst>
              <a:ext uri="{FF2B5EF4-FFF2-40B4-BE49-F238E27FC236}">
                <a16:creationId xmlns:a16="http://schemas.microsoft.com/office/drawing/2014/main" id="{945DE71A-BABA-A10E-6CDC-E43B1D69FB3C}"/>
              </a:ext>
            </a:extLst>
          </p:cNvPr>
          <p:cNvSpPr txBox="1"/>
          <p:nvPr/>
        </p:nvSpPr>
        <p:spPr>
          <a:xfrm>
            <a:off x="6212722" y="5682323"/>
            <a:ext cx="5522420" cy="338554"/>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a:t>
            </a:r>
            <a:r>
              <a:rPr kumimoji="0" lang="en-US" altLang="zh-CN" sz="1600" b="1" i="1"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For Sharing    </a:t>
            </a:r>
            <a:r>
              <a:rPr kumimoji="0" lang="en-US" altLang="zh-CN" sz="1600" b="1" i="0"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a:t>
            </a:r>
            <a:r>
              <a:rPr kumimoji="0" lang="en-US" altLang="zh-CN" sz="1600" b="1" i="1"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For Advice    </a:t>
            </a:r>
            <a:r>
              <a:rPr kumimoji="0" lang="zh-CN" altLang="en-US" sz="1600" b="1" i="1"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a:t>
            </a:r>
            <a:r>
              <a:rPr kumimoji="0" lang="en-US" altLang="zh-CN" sz="1600" b="1" i="0"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a:t>
            </a:r>
            <a:r>
              <a:rPr kumimoji="0" lang="en-US" altLang="zh-CN" sz="1600" b="1" i="1"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For Endorsement</a:t>
            </a:r>
          </a:p>
        </p:txBody>
      </p:sp>
      <p:sp>
        <p:nvSpPr>
          <p:cNvPr id="13" name="文本框 12">
            <a:extLst>
              <a:ext uri="{FF2B5EF4-FFF2-40B4-BE49-F238E27FC236}">
                <a16:creationId xmlns:a16="http://schemas.microsoft.com/office/drawing/2014/main" id="{EE74D0FF-E456-2432-D436-0A5DE5BC10E4}"/>
              </a:ext>
            </a:extLst>
          </p:cNvPr>
          <p:cNvSpPr txBox="1"/>
          <p:nvPr/>
        </p:nvSpPr>
        <p:spPr>
          <a:xfrm>
            <a:off x="680734" y="2214399"/>
            <a:ext cx="5034336" cy="2445820"/>
          </a:xfrm>
          <a:prstGeom prst="rect">
            <a:avLst/>
          </a:prstGeom>
          <a:noFill/>
        </p:spPr>
        <p:txBody>
          <a:bodyPr wrap="square">
            <a:no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Boehringer Forward Text"/>
                <a:cs typeface="+mn-cs"/>
              </a:rPr>
              <a:t>The decision from BUPC (11 Dec 2025)</a:t>
            </a:r>
          </a:p>
          <a:p>
            <a:pPr marL="182563" marR="0" lvl="0" indent="0" algn="l" defTabSz="914400" rtl="0" eaLnBrk="1" fontAlgn="auto" latinLnBrk="0" hangingPunct="1">
              <a:lnSpc>
                <a:spcPts val="2200"/>
              </a:lnSpc>
              <a:spcBef>
                <a:spcPts val="0"/>
              </a:spcBef>
              <a:spcAft>
                <a:spcPts val="0"/>
              </a:spcAft>
              <a:buClrTx/>
              <a:buSzTx/>
              <a:buFontTx/>
              <a:buNone/>
              <a:tabLst/>
              <a:defRPr/>
            </a:pPr>
            <a:endParaRPr kumimoji="0" lang="en-US" altLang="zh-CN" sz="1400" b="1" i="0" u="sng" strike="noStrike" kern="1200" cap="none" spc="0" normalizeH="0" baseline="0" noProof="0">
              <a:ln>
                <a:noFill/>
              </a:ln>
              <a:solidFill>
                <a:prstClr val="black"/>
              </a:solidFill>
              <a:effectLst/>
              <a:uLnTx/>
              <a:uFillTx/>
              <a:latin typeface="Boehringer Forward Text"/>
              <a:cs typeface="+mn-cs"/>
            </a:endParaRPr>
          </a:p>
          <a:p>
            <a:pPr marL="357188" marR="0" lvl="0" indent="-174625" algn="l" defTabSz="914400" rtl="0" eaLnBrk="1" fontAlgn="auto" latinLnBrk="0" hangingPunct="1">
              <a:lnSpc>
                <a:spcPts val="22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Text"/>
                <a:cs typeface="+mn-cs"/>
              </a:rPr>
              <a:t>Global recommends submitting the CTA directly, without prior CDE consultation.</a:t>
            </a:r>
          </a:p>
          <a:p>
            <a:pPr marL="357188" marR="0" lvl="0" indent="-174625" algn="l" defTabSz="914400" rtl="0" eaLnBrk="1" fontAlgn="auto" latinLnBrk="0" hangingPunct="1">
              <a:lnSpc>
                <a:spcPts val="2200"/>
              </a:lnSpc>
              <a:spcBef>
                <a:spcPts val="0"/>
              </a:spcBef>
              <a:spcAft>
                <a:spcPts val="0"/>
              </a:spcAft>
              <a:buClrTx/>
              <a:buSzTx/>
              <a:buFont typeface="Arial" panose="020B0604020202020204" pitchFamily="34" charset="0"/>
              <a:buChar char="•"/>
              <a:tabLst/>
              <a:defRPr/>
            </a:pPr>
            <a:endParaRPr kumimoji="0" lang="en-US" altLang="zh-CN" sz="1400" b="0" i="0" u="none" strike="noStrike" kern="1200" cap="none" spc="0" normalizeH="0" baseline="0" noProof="0">
              <a:ln>
                <a:noFill/>
              </a:ln>
              <a:solidFill>
                <a:prstClr val="black"/>
              </a:solidFill>
              <a:effectLst/>
              <a:uLnTx/>
              <a:uFillTx/>
              <a:latin typeface="Boehringer Forward Text"/>
              <a:cs typeface="+mn-cs"/>
            </a:endParaRPr>
          </a:p>
          <a:p>
            <a:pPr marL="357188" marR="0" lvl="0" indent="-174625" algn="l" defTabSz="914400" rtl="0" eaLnBrk="1" fontAlgn="auto" latinLnBrk="0" hangingPunct="1">
              <a:lnSpc>
                <a:spcPts val="22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Text"/>
                <a:cs typeface="+mn-cs"/>
              </a:rPr>
              <a:t>The regulatory strategy for the China sister trial is pending CN RA agreement. </a:t>
            </a:r>
          </a:p>
        </p:txBody>
      </p:sp>
      <p:sp>
        <p:nvSpPr>
          <p:cNvPr id="3" name="Object13">
            <a:extLst>
              <a:ext uri="{FF2B5EF4-FFF2-40B4-BE49-F238E27FC236}">
                <a16:creationId xmlns:a16="http://schemas.microsoft.com/office/drawing/2014/main" id="{83ED1057-69A6-3F8F-8268-ED1DF559A4CE}"/>
              </a:ext>
            </a:extLst>
          </p:cNvPr>
          <p:cNvSpPr/>
          <p:nvPr/>
        </p:nvSpPr>
        <p:spPr>
          <a:xfrm>
            <a:off x="1165860" y="533400"/>
            <a:ext cx="2857500" cy="365760"/>
          </a:xfrm>
          <a:prstGeom prst="rect">
            <a:avLst/>
          </a:prstGeom>
          <a:noFill/>
          <a:ln/>
        </p:spPr>
        <p:txBody>
          <a:bodyPr wrap="square" lIns="0" tIns="0" rIns="0" bIns="0" rtlCol="0" anchor="ctr"/>
          <a:lstStyle/>
          <a:p>
            <a:pPr marL="0" marR="0" lvl="0" indent="0" algn="l" defTabSz="731520" rtl="0" eaLnBrk="1" fontAlgn="auto" latinLnBrk="0" hangingPunct="1">
              <a:lnSpc>
                <a:spcPct val="100000"/>
              </a:lnSpc>
              <a:spcBef>
                <a:spcPts val="0"/>
              </a:spcBef>
              <a:spcAft>
                <a:spcPts val="0"/>
              </a:spcAft>
              <a:buClrTx/>
              <a:buSzTx/>
              <a:buFontTx/>
              <a:buNone/>
              <a:tabLst/>
              <a:defRPr/>
            </a:pPr>
            <a:endParaRPr kumimoji="0" lang="en-US" sz="3182" b="0" i="0" u="none" strike="noStrike" kern="1200" cap="none" spc="0" normalizeH="0" baseline="0" noProof="0">
              <a:ln>
                <a:noFill/>
              </a:ln>
              <a:solidFill>
                <a:sysClr val="windowText" lastClr="000000"/>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sp>
        <p:nvSpPr>
          <p:cNvPr id="15" name="Title 1">
            <a:extLst>
              <a:ext uri="{FF2B5EF4-FFF2-40B4-BE49-F238E27FC236}">
                <a16:creationId xmlns:a16="http://schemas.microsoft.com/office/drawing/2014/main" id="{018A4351-50B2-A250-4CF2-62E918AE2C27}"/>
              </a:ext>
            </a:extLst>
          </p:cNvPr>
          <p:cNvSpPr txBox="1">
            <a:spLocks/>
          </p:cNvSpPr>
          <p:nvPr/>
        </p:nvSpPr>
        <p:spPr>
          <a:xfrm>
            <a:off x="422729" y="261244"/>
            <a:ext cx="11348033" cy="72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a:ln>
                <a:noFill/>
              </a:ln>
              <a:solidFill>
                <a:srgbClr val="306534"/>
              </a:solidFill>
              <a:effectLst/>
              <a:uLnTx/>
              <a:uFillTx/>
              <a:latin typeface="Arial Black"/>
              <a:ea typeface="OPPOSans M"/>
              <a:cs typeface="+mj-cs"/>
            </a:endParaRPr>
          </a:p>
        </p:txBody>
      </p:sp>
    </p:spTree>
    <p:extLst>
      <p:ext uri="{BB962C8B-B14F-4D97-AF65-F5344CB8AC3E}">
        <p14:creationId xmlns:p14="http://schemas.microsoft.com/office/powerpoint/2010/main" val="3420950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1850C-3374-02DB-3DAC-3CF721B51233}"/>
              </a:ext>
            </a:extLst>
          </p:cNvPr>
          <p:cNvSpPr>
            <a:spLocks noGrp="1"/>
          </p:cNvSpPr>
          <p:nvPr>
            <p:ph type="title"/>
          </p:nvPr>
        </p:nvSpPr>
        <p:spPr/>
        <p:txBody>
          <a:bodyPr/>
          <a:lstStyle/>
          <a:p>
            <a:r>
              <a:rPr lang="en-US" altLang="zh-CN"/>
              <a:t>Local assessment of HAI (PROS &amp; CONS)</a:t>
            </a:r>
            <a:endParaRPr lang="zh-CN" altLang="en-US"/>
          </a:p>
        </p:txBody>
      </p:sp>
      <p:sp>
        <p:nvSpPr>
          <p:cNvPr id="4" name="页脚占位符 3">
            <a:extLst>
              <a:ext uri="{FF2B5EF4-FFF2-40B4-BE49-F238E27FC236}">
                <a16:creationId xmlns:a16="http://schemas.microsoft.com/office/drawing/2014/main" id="{0C93E3ED-93DD-C197-5753-FA762F4CD13E}"/>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灯片编号占位符 4">
            <a:extLst>
              <a:ext uri="{FF2B5EF4-FFF2-40B4-BE49-F238E27FC236}">
                <a16:creationId xmlns:a16="http://schemas.microsoft.com/office/drawing/2014/main" id="{41C7010D-941E-F1E9-0067-9EBB08C82690}"/>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9" name="表格 8">
            <a:extLst>
              <a:ext uri="{FF2B5EF4-FFF2-40B4-BE49-F238E27FC236}">
                <a16:creationId xmlns:a16="http://schemas.microsoft.com/office/drawing/2014/main" id="{893B4E6B-19B7-B77A-409C-5447459F0074}"/>
              </a:ext>
            </a:extLst>
          </p:cNvPr>
          <p:cNvGraphicFramePr>
            <a:graphicFrameLocks noGrp="1"/>
          </p:cNvGraphicFramePr>
          <p:nvPr/>
        </p:nvGraphicFramePr>
        <p:xfrm>
          <a:off x="479423" y="1654948"/>
          <a:ext cx="11233151" cy="4312932"/>
        </p:xfrm>
        <a:graphic>
          <a:graphicData uri="http://schemas.openxmlformats.org/drawingml/2006/table">
            <a:tbl>
              <a:tblPr firstRow="1" bandRow="1">
                <a:tableStyleId>{5C22544A-7EE6-4342-B048-85BDC9FD1C3A}</a:tableStyleId>
              </a:tblPr>
              <a:tblGrid>
                <a:gridCol w="1845308">
                  <a:extLst>
                    <a:ext uri="{9D8B030D-6E8A-4147-A177-3AD203B41FA5}">
                      <a16:colId xmlns:a16="http://schemas.microsoft.com/office/drawing/2014/main" val="2996437156"/>
                    </a:ext>
                  </a:extLst>
                </a:gridCol>
                <a:gridCol w="4866078">
                  <a:extLst>
                    <a:ext uri="{9D8B030D-6E8A-4147-A177-3AD203B41FA5}">
                      <a16:colId xmlns:a16="http://schemas.microsoft.com/office/drawing/2014/main" val="3818479806"/>
                    </a:ext>
                  </a:extLst>
                </a:gridCol>
                <a:gridCol w="4521765">
                  <a:extLst>
                    <a:ext uri="{9D8B030D-6E8A-4147-A177-3AD203B41FA5}">
                      <a16:colId xmlns:a16="http://schemas.microsoft.com/office/drawing/2014/main" val="1351508508"/>
                    </a:ext>
                  </a:extLst>
                </a:gridCol>
              </a:tblGrid>
              <a:tr h="368018">
                <a:tc>
                  <a:txBody>
                    <a:bodyPr/>
                    <a:lstStyle/>
                    <a:p>
                      <a:endParaRPr lang="zh-CN" altLang="en-US"/>
                    </a:p>
                  </a:txBody>
                  <a:tcPr/>
                </a:tc>
                <a:tc>
                  <a:txBody>
                    <a:bodyPr/>
                    <a:lstStyle/>
                    <a:p>
                      <a:pPr algn="ctr"/>
                      <a:r>
                        <a:rPr lang="en-US" altLang="zh-CN"/>
                        <a:t>PROS</a:t>
                      </a:r>
                      <a:endParaRPr lang="zh-CN" altLang="en-US"/>
                    </a:p>
                  </a:txBody>
                  <a:tcPr anchor="ctr"/>
                </a:tc>
                <a:tc>
                  <a:txBody>
                    <a:bodyPr/>
                    <a:lstStyle/>
                    <a:p>
                      <a:pPr algn="ctr"/>
                      <a:r>
                        <a:rPr lang="en-US" altLang="zh-CN"/>
                        <a:t>CONS</a:t>
                      </a:r>
                      <a:endParaRPr lang="zh-CN" altLang="en-US"/>
                    </a:p>
                  </a:txBody>
                  <a:tcPr anchor="ctr"/>
                </a:tc>
                <a:extLst>
                  <a:ext uri="{0D108BD9-81ED-4DB2-BD59-A6C34878D82A}">
                    <a16:rowId xmlns:a16="http://schemas.microsoft.com/office/drawing/2014/main" val="3826783119"/>
                  </a:ext>
                </a:extLst>
              </a:tr>
              <a:tr h="871374">
                <a:tc rowSpan="3">
                  <a:txBody>
                    <a:bodyPr/>
                    <a:lstStyle/>
                    <a:p>
                      <a:r>
                        <a:rPr lang="en-US" altLang="zh-CN" sz="1400" b="1"/>
                        <a:t>With Pre-IND</a:t>
                      </a:r>
                      <a:endParaRPr lang="zh-CN" altLang="en-US" sz="1400" b="1"/>
                    </a:p>
                  </a:txBody>
                  <a:tcPr anchor="ctr"/>
                </a:tc>
                <a:tc>
                  <a:txBody>
                    <a:bodyPr/>
                    <a:lstStyle/>
                    <a:p>
                      <a:r>
                        <a:rPr kumimoji="0" lang="en-US" altLang="zh-CN" sz="1400" b="1" i="0" u="none" strike="noStrike" kern="1200" cap="none" spc="0" normalizeH="0" baseline="0" noProof="0">
                          <a:ln>
                            <a:noFill/>
                          </a:ln>
                          <a:solidFill>
                            <a:prstClr val="black"/>
                          </a:solidFill>
                          <a:effectLst/>
                          <a:uLnTx/>
                          <a:uFillTx/>
                          <a:latin typeface="+mn-lt"/>
                          <a:ea typeface="+mn-ea"/>
                          <a:cs typeface="+mn-cs"/>
                        </a:rPr>
                        <a:t>Value: </a:t>
                      </a:r>
                      <a:r>
                        <a:rPr kumimoji="0" lang="en-US" altLang="zh-CN" sz="1400" b="0" i="0" u="none" strike="noStrike" kern="1200" cap="none" spc="0" normalizeH="0" baseline="0" noProof="0">
                          <a:ln>
                            <a:noFill/>
                          </a:ln>
                          <a:solidFill>
                            <a:prstClr val="black"/>
                          </a:solidFill>
                          <a:effectLst/>
                          <a:uLnTx/>
                          <a:uFillTx/>
                          <a:latin typeface="+mn-lt"/>
                          <a:ea typeface="+mn-ea"/>
                          <a:cs typeface="+mn-cs"/>
                        </a:rPr>
                        <a:t>An opportunity for in-depth communication &amp; alignment with CDE on overall development strategy. Mitigate potential risk for NDA approval at early stage</a:t>
                      </a:r>
                      <a:endParaRPr kumimoji="0" lang="zh-CN" altLang="en-US" sz="1400" b="0" i="0" u="none" strike="noStrike" kern="1200" cap="none" spc="0" normalizeH="0" baseline="0">
                        <a:ln>
                          <a:noFill/>
                        </a:ln>
                        <a:solidFill>
                          <a:prstClr val="black"/>
                        </a:solidFill>
                        <a:effectLst/>
                        <a:uLnTx/>
                        <a:uFillTx/>
                        <a:latin typeface="+mn-lt"/>
                        <a:ea typeface="+mn-ea"/>
                        <a:cs typeface="+mn-cs"/>
                      </a:endParaRPr>
                    </a:p>
                  </a:txBody>
                  <a:tcPr anchor="ctr"/>
                </a:tc>
                <a:tc rowSpan="3">
                  <a:txBody>
                    <a:bodyPr/>
                    <a:lstStyle/>
                    <a:p>
                      <a:r>
                        <a:rPr lang="en-US" altLang="zh-CN" sz="1400" b="0" i="0" kern="1200">
                          <a:solidFill>
                            <a:schemeClr val="dk1"/>
                          </a:solidFill>
                          <a:effectLst/>
                          <a:latin typeface="+mn-lt"/>
                          <a:ea typeface="+mn-ea"/>
                          <a:cs typeface="+mn-cs"/>
                        </a:rPr>
                        <a:t>None</a:t>
                      </a:r>
                      <a:endParaRPr lang="zh-CN" altLang="en-US" sz="1400" b="0" i="0" kern="1200">
                        <a:solidFill>
                          <a:schemeClr val="dk1"/>
                        </a:solidFill>
                        <a:effectLst/>
                        <a:latin typeface="+mn-lt"/>
                        <a:ea typeface="+mn-ea"/>
                        <a:cs typeface="+mn-cs"/>
                      </a:endParaRPr>
                    </a:p>
                  </a:txBody>
                  <a:tcPr anchor="ctr"/>
                </a:tc>
                <a:extLst>
                  <a:ext uri="{0D108BD9-81ED-4DB2-BD59-A6C34878D82A}">
                    <a16:rowId xmlns:a16="http://schemas.microsoft.com/office/drawing/2014/main" val="3219619540"/>
                  </a:ext>
                </a:extLst>
              </a:tr>
              <a:tr h="1165388">
                <a:tc vMerge="1">
                  <a:txBody>
                    <a:bodyPr/>
                    <a:lstStyle/>
                    <a:p>
                      <a:endParaRPr lang="zh-CN" altLang="en-US"/>
                    </a:p>
                  </a:txBody>
                  <a:tcPr anchor="ctr"/>
                </a:tc>
                <a:tc>
                  <a:txBody>
                    <a:bodyPr/>
                    <a:lstStyle/>
                    <a:p>
                      <a:r>
                        <a:rPr lang="en-US" altLang="zh-CN" sz="1400" b="1" i="0" kern="1200">
                          <a:solidFill>
                            <a:schemeClr val="dk1"/>
                          </a:solidFill>
                          <a:effectLst/>
                          <a:latin typeface="+mn-lt"/>
                          <a:ea typeface="+mn-ea"/>
                          <a:cs typeface="+mn-cs"/>
                        </a:rPr>
                        <a:t>Timeline: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b="0" i="0" kern="1200">
                          <a:solidFill>
                            <a:schemeClr val="dk1"/>
                          </a:solidFill>
                          <a:effectLst/>
                          <a:latin typeface="+mn-lt"/>
                          <a:ea typeface="+mn-ea"/>
                          <a:cs typeface="+mn-cs"/>
                        </a:rPr>
                        <a:t>Proactively identify and resolve potential issues to minimize timeline impact on overall development plan.</a:t>
                      </a:r>
                      <a:r>
                        <a:rPr lang="zh-CN" altLang="en-US" sz="1400" b="0" i="0" kern="1200">
                          <a:solidFill>
                            <a:schemeClr val="dk1"/>
                          </a:solidFill>
                          <a:effectLst/>
                          <a:latin typeface="+mn-lt"/>
                          <a:ea typeface="+mn-ea"/>
                          <a:cs typeface="+mn-cs"/>
                        </a:rPr>
                        <a:t> </a:t>
                      </a:r>
                      <a:r>
                        <a:rPr lang="en-US" altLang="zh-CN" sz="1400" b="0" i="0" kern="1200">
                          <a:solidFill>
                            <a:schemeClr val="dk1"/>
                          </a:solidFill>
                          <a:effectLst/>
                          <a:latin typeface="+mn-lt"/>
                          <a:ea typeface="+mn-ea"/>
                          <a:cs typeface="+mn-cs"/>
                        </a:rPr>
                        <a:t>Meanwhile, no impact to following sister trial process. (placebo preparation is on critical path)</a:t>
                      </a:r>
                    </a:p>
                  </a:txBody>
                  <a:tcPr anchor="ctr"/>
                </a:tc>
                <a:tc vMerge="1">
                  <a:txBody>
                    <a:bodyPr/>
                    <a:lstStyle/>
                    <a:p>
                      <a:endParaRPr lang="zh-CN" altLang="en-US" sz="1600"/>
                    </a:p>
                  </a:txBody>
                  <a:tcPr/>
                </a:tc>
                <a:extLst>
                  <a:ext uri="{0D108BD9-81ED-4DB2-BD59-A6C34878D82A}">
                    <a16:rowId xmlns:a16="http://schemas.microsoft.com/office/drawing/2014/main" val="1996436919"/>
                  </a:ext>
                </a:extLst>
              </a:tr>
              <a:tr h="440598">
                <a:tc vMerge="1">
                  <a:txBody>
                    <a:bodyPr/>
                    <a:lstStyle/>
                    <a:p>
                      <a:endParaRPr lang="zh-CN" altLang="en-US"/>
                    </a:p>
                  </a:txBody>
                  <a:tcPr anchor="ctr"/>
                </a:tc>
                <a:tc>
                  <a:txBody>
                    <a:bodyPr/>
                    <a:lstStyle/>
                    <a:p>
                      <a:r>
                        <a:rPr kumimoji="0" lang="en-US" altLang="zh-CN" sz="1400" b="1" i="0" u="none" strike="noStrike" kern="1200" cap="none" spc="0" normalizeH="0" baseline="0" noProof="0">
                          <a:ln>
                            <a:noFill/>
                          </a:ln>
                          <a:solidFill>
                            <a:prstClr val="black"/>
                          </a:solidFill>
                          <a:effectLst/>
                          <a:uLnTx/>
                          <a:uFillTx/>
                          <a:latin typeface="+mn-lt"/>
                          <a:ea typeface="+mn-ea"/>
                          <a:cs typeface="+mn-cs"/>
                        </a:rPr>
                        <a:t>No Impact for </a:t>
                      </a:r>
                      <a:r>
                        <a:rPr kumimoji="0" lang="en-US" altLang="zh-CN" sz="1400" b="0" i="0" u="none" strike="noStrike" kern="1200" cap="none" spc="0" normalizeH="0" baseline="0" noProof="0">
                          <a:ln>
                            <a:noFill/>
                          </a:ln>
                          <a:solidFill>
                            <a:prstClr val="black"/>
                          </a:solidFill>
                          <a:effectLst/>
                          <a:uLnTx/>
                          <a:uFillTx/>
                          <a:latin typeface="+mn-lt"/>
                          <a:ea typeface="+mn-ea"/>
                          <a:cs typeface="+mn-cs"/>
                        </a:rPr>
                        <a:t>TENACITY’s execution</a:t>
                      </a:r>
                      <a:endParaRPr lang="zh-CN" altLang="en-US" sz="1400"/>
                    </a:p>
                  </a:txBody>
                  <a:tcPr anchor="ctr"/>
                </a:tc>
                <a:tc vMerge="1">
                  <a:txBody>
                    <a:bodyPr/>
                    <a:lstStyle/>
                    <a:p>
                      <a:endParaRPr lang="zh-CN" altLang="en-US" sz="1600"/>
                    </a:p>
                  </a:txBody>
                  <a:tcPr/>
                </a:tc>
                <a:extLst>
                  <a:ext uri="{0D108BD9-81ED-4DB2-BD59-A6C34878D82A}">
                    <a16:rowId xmlns:a16="http://schemas.microsoft.com/office/drawing/2014/main" val="2308553973"/>
                  </a:ext>
                </a:extLst>
              </a:tr>
              <a:tr h="71359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b="1"/>
                        <a:t>Without Pre-IND</a:t>
                      </a:r>
                      <a:endParaRPr lang="zh-CN" altLang="en-US" sz="1400" b="1"/>
                    </a:p>
                  </a:txBody>
                  <a:tcPr anchor="ctr"/>
                </a:tc>
                <a:tc rowSpan="2">
                  <a:txBody>
                    <a:bodyPr/>
                    <a:lstStyle/>
                    <a:p>
                      <a:r>
                        <a:rPr lang="en-US" altLang="zh-CN" sz="1400" b="0" i="0" kern="1200">
                          <a:solidFill>
                            <a:schemeClr val="dk1"/>
                          </a:solidFill>
                          <a:effectLst/>
                          <a:latin typeface="+mn-lt"/>
                          <a:ea typeface="+mn-ea"/>
                          <a:cs typeface="+mn-cs"/>
                        </a:rPr>
                        <a:t>Save limited resource for pre-IND preparation</a:t>
                      </a:r>
                      <a:endParaRPr lang="zh-CN" altLang="en-US" sz="1400" b="0" i="0" kern="1200">
                        <a:solidFill>
                          <a:schemeClr val="dk1"/>
                        </a:solidFill>
                        <a:effectLst/>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mn-lt"/>
                          <a:ea typeface="+mn-ea"/>
                          <a:cs typeface="+mn-cs"/>
                        </a:rPr>
                        <a:t>Lose opportunity for in-depth communication with CDE on overall development strategy to leave a significant uncertainty for NDA-approval.</a:t>
                      </a:r>
                    </a:p>
                  </a:txBody>
                  <a:tcPr anchor="ctr"/>
                </a:tc>
                <a:extLst>
                  <a:ext uri="{0D108BD9-81ED-4DB2-BD59-A6C34878D82A}">
                    <a16:rowId xmlns:a16="http://schemas.microsoft.com/office/drawing/2014/main" val="3729343606"/>
                  </a:ext>
                </a:extLst>
              </a:tr>
              <a:tr h="736034">
                <a:tc vMerge="1">
                  <a:txBody>
                    <a:bodyPr/>
                    <a:lstStyle/>
                    <a:p>
                      <a:endParaRPr/>
                    </a:p>
                  </a:txBody>
                  <a:tcPr anchor="ctr"/>
                </a:tc>
                <a:tc vMerge="1">
                  <a:txBody>
                    <a:bodyPr/>
                    <a:lstStyle/>
                    <a:p>
                      <a:endParaRPr lang="zh-CN" altLang="en-US"/>
                    </a:p>
                  </a:txBody>
                  <a:tcPr/>
                </a:tc>
                <a:tc>
                  <a:txBody>
                    <a:bodyPr/>
                    <a:lstStyle/>
                    <a:p>
                      <a:r>
                        <a:rPr kumimoji="0" lang="en-US" altLang="zh-CN" sz="1400" b="0" i="0" u="none" strike="noStrike" kern="1200" cap="none" spc="0" normalizeH="0" baseline="0">
                          <a:ln>
                            <a:noFill/>
                          </a:ln>
                          <a:solidFill>
                            <a:prstClr val="black"/>
                          </a:solidFill>
                          <a:effectLst/>
                          <a:uLnTx/>
                          <a:uFillTx/>
                          <a:latin typeface="+mn-lt"/>
                          <a:ea typeface="+mn-ea"/>
                          <a:cs typeface="+mn-cs"/>
                        </a:rPr>
                        <a:t>Queries during CTA stage might be challenging and may impact following timeline</a:t>
                      </a:r>
                    </a:p>
                  </a:txBody>
                  <a:tcPr anchor="ctr"/>
                </a:tc>
                <a:extLst>
                  <a:ext uri="{0D108BD9-81ED-4DB2-BD59-A6C34878D82A}">
                    <a16:rowId xmlns:a16="http://schemas.microsoft.com/office/drawing/2014/main" val="325488954"/>
                  </a:ext>
                </a:extLst>
              </a:tr>
            </a:tbl>
          </a:graphicData>
        </a:graphic>
      </p:graphicFrame>
      <p:sp>
        <p:nvSpPr>
          <p:cNvPr id="3" name="文本框 2">
            <a:extLst>
              <a:ext uri="{FF2B5EF4-FFF2-40B4-BE49-F238E27FC236}">
                <a16:creationId xmlns:a16="http://schemas.microsoft.com/office/drawing/2014/main" id="{5236A6C9-19D7-E0ED-B017-509DEB2C2573}"/>
              </a:ext>
            </a:extLst>
          </p:cNvPr>
          <p:cNvSpPr txBox="1"/>
          <p:nvPr/>
        </p:nvSpPr>
        <p:spPr bwMode="gray">
          <a:xfrm>
            <a:off x="479424" y="934948"/>
            <a:ext cx="9311848"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CDE pre-IND consultation is necessary based on local assessment. </a:t>
            </a:r>
            <a:endParaRPr kumimoji="0" lang="zh-CN" altLang="en-US" sz="16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3322411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C7EEBF-9E81-A5A5-8B0E-C8D491886591}"/>
              </a:ext>
            </a:extLst>
          </p:cNvPr>
          <p:cNvSpPr>
            <a:spLocks noGrp="1"/>
          </p:cNvSpPr>
          <p:nvPr>
            <p:ph type="title"/>
          </p:nvPr>
        </p:nvSpPr>
        <p:spPr/>
        <p:txBody>
          <a:bodyPr/>
          <a:lstStyle/>
          <a:p>
            <a:r>
              <a:rPr lang="en-US" altLang="zh-CN"/>
              <a:t>HA interaction (HAI) plan</a:t>
            </a:r>
            <a:endParaRPr lang="zh-CN" altLang="en-US"/>
          </a:p>
        </p:txBody>
      </p:sp>
      <p:sp>
        <p:nvSpPr>
          <p:cNvPr id="3" name="文本占位符 2">
            <a:extLst>
              <a:ext uri="{FF2B5EF4-FFF2-40B4-BE49-F238E27FC236}">
                <a16:creationId xmlns:a16="http://schemas.microsoft.com/office/drawing/2014/main" id="{19D7453F-B3CB-1316-9AB5-1CF141A6234C}"/>
              </a:ext>
            </a:extLst>
          </p:cNvPr>
          <p:cNvSpPr>
            <a:spLocks noGrp="1"/>
          </p:cNvSpPr>
          <p:nvPr>
            <p:ph type="body" sz="quarter" idx="15"/>
          </p:nvPr>
        </p:nvSpPr>
        <p:spPr>
          <a:xfrm>
            <a:off x="479423" y="1667106"/>
            <a:ext cx="11233151" cy="4282844"/>
          </a:xfrm>
        </p:spPr>
        <p:txBody>
          <a:bodyPr/>
          <a:lstStyle/>
          <a:p>
            <a:pPr marL="0" lvl="0" indent="0">
              <a:spcBef>
                <a:spcPts val="0"/>
              </a:spcBef>
              <a:spcAft>
                <a:spcPts val="0"/>
              </a:spcAft>
              <a:buNone/>
              <a:defRPr/>
            </a:pPr>
            <a:r>
              <a:rPr lang="en-US" altLang="zh-CN" i="1">
                <a:solidFill>
                  <a:prstClr val="black">
                    <a:lumMod val="75000"/>
                    <a:lumOff val="25000"/>
                  </a:prstClr>
                </a:solidFill>
                <a:latin typeface="Arial"/>
              </a:rPr>
              <a:t> </a:t>
            </a:r>
            <a:r>
              <a:rPr lang="en-US" altLang="zh-CN">
                <a:solidFill>
                  <a:prstClr val="black"/>
                </a:solidFill>
              </a:rPr>
              <a:t>Next step</a:t>
            </a:r>
          </a:p>
          <a:p>
            <a:pPr marL="342900" indent="-342900">
              <a:spcBef>
                <a:spcPts val="0"/>
              </a:spcBef>
              <a:spcAft>
                <a:spcPts val="0"/>
              </a:spcAft>
              <a:buFont typeface="Arial" panose="020B0604020202020204" pitchFamily="34" charset="0"/>
              <a:buChar char="•"/>
              <a:defRPr/>
            </a:pPr>
            <a:r>
              <a:rPr lang="en-US" altLang="zh-CN" sz="1800">
                <a:solidFill>
                  <a:prstClr val="black"/>
                </a:solidFill>
              </a:rPr>
              <a:t>Post PEC endorsement on HAI: Share HAI strategy with global team &amp; reach alignment</a:t>
            </a:r>
          </a:p>
          <a:p>
            <a:pPr marL="342900" indent="-342900">
              <a:spcBef>
                <a:spcPts val="0"/>
              </a:spcBef>
              <a:spcAft>
                <a:spcPts val="0"/>
              </a:spcAft>
              <a:buFont typeface="Arial" panose="020B0604020202020204" pitchFamily="34" charset="0"/>
              <a:buChar char="•"/>
              <a:defRPr/>
            </a:pPr>
            <a:r>
              <a:rPr lang="en-US" altLang="zh-CN" sz="1800">
                <a:solidFill>
                  <a:prstClr val="black"/>
                </a:solidFill>
              </a:rPr>
              <a:t>Kick off HAI preparation with global team, covering BB/TDO preparation.</a:t>
            </a:r>
          </a:p>
          <a:p>
            <a:pPr marL="0" lvl="0" indent="0">
              <a:spcBef>
                <a:spcPts val="0"/>
              </a:spcBef>
              <a:spcAft>
                <a:spcPts val="0"/>
              </a:spcAft>
              <a:buNone/>
              <a:defRPr/>
            </a:pPr>
            <a:endParaRPr lang="en-US" altLang="zh-CN">
              <a:solidFill>
                <a:prstClr val="black"/>
              </a:solidFill>
            </a:endParaRPr>
          </a:p>
        </p:txBody>
      </p:sp>
      <p:sp>
        <p:nvSpPr>
          <p:cNvPr id="4" name="页脚占位符 3">
            <a:extLst>
              <a:ext uri="{FF2B5EF4-FFF2-40B4-BE49-F238E27FC236}">
                <a16:creationId xmlns:a16="http://schemas.microsoft.com/office/drawing/2014/main" id="{52013ED6-C757-122E-599D-333463EB4BED}"/>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灯片编号占位符 4">
            <a:extLst>
              <a:ext uri="{FF2B5EF4-FFF2-40B4-BE49-F238E27FC236}">
                <a16:creationId xmlns:a16="http://schemas.microsoft.com/office/drawing/2014/main" id="{C9BB7907-862B-5CA2-3633-24EF0DD11A0A}"/>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矩形 5">
            <a:extLst>
              <a:ext uri="{FF2B5EF4-FFF2-40B4-BE49-F238E27FC236}">
                <a16:creationId xmlns:a16="http://schemas.microsoft.com/office/drawing/2014/main" id="{7E397231-A17D-E59A-1D8C-1F392E7DA6B6}"/>
              </a:ext>
            </a:extLst>
          </p:cNvPr>
          <p:cNvSpPr/>
          <p:nvPr/>
        </p:nvSpPr>
        <p:spPr bwMode="gray">
          <a:xfrm>
            <a:off x="479425" y="3811360"/>
            <a:ext cx="11233150" cy="1633763"/>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600" b="0" i="0" u="none" strike="noStrike" kern="1200" cap="none" spc="0" normalizeH="0" baseline="0" noProof="0">
                <a:ln>
                  <a:noFill/>
                </a:ln>
                <a:solidFill>
                  <a:prstClr val="black">
                    <a:lumMod val="75000"/>
                    <a:lumOff val="25000"/>
                  </a:prstClr>
                </a:solidFill>
                <a:effectLst/>
                <a:uLnTx/>
                <a:uFillTx/>
                <a:latin typeface="Arial"/>
                <a:ea typeface="+mn-ea"/>
                <a:cs typeface="+mn-cs"/>
              </a:rPr>
              <a:t>Timeline: Submit HAI Application (60WD) by the end of Jan 2026, CDE feedback expected around end of Apr 2026.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600" b="0" i="0" u="none" strike="noStrike" kern="1200" cap="none" spc="0" normalizeH="0" baseline="0" noProof="0">
                <a:ln>
                  <a:noFill/>
                </a:ln>
                <a:solidFill>
                  <a:prstClr val="black">
                    <a:lumMod val="75000"/>
                    <a:lumOff val="25000"/>
                  </a:prstClr>
                </a:solidFill>
                <a:effectLst/>
                <a:uLnTx/>
                <a:uFillTx/>
                <a:latin typeface="Arial"/>
                <a:ea typeface="+mn-ea"/>
                <a:cs typeface="+mn-cs"/>
              </a:rPr>
              <a:t>HAI questions:</a:t>
            </a:r>
            <a:br>
              <a:rPr kumimoji="0" lang="en-US" altLang="zh-CN" sz="1600" b="0" i="0" u="none" strike="noStrike" kern="1200" cap="none" spc="0" normalizeH="0" baseline="0" noProof="0">
                <a:ln>
                  <a:noFill/>
                </a:ln>
                <a:solidFill>
                  <a:prstClr val="black">
                    <a:lumMod val="75000"/>
                    <a:lumOff val="25000"/>
                  </a:prstClr>
                </a:solidFill>
                <a:effectLst/>
                <a:uLnTx/>
                <a:uFillTx/>
                <a:latin typeface="Arial"/>
                <a:ea typeface="+mn-ea"/>
                <a:cs typeface="+mn-cs"/>
              </a:rPr>
            </a:br>
            <a:r>
              <a:rPr kumimoji="0" lang="en-US" altLang="zh-CN" sz="1600" b="0" i="0" u="none" strike="noStrike" kern="1200" cap="none" spc="0" normalizeH="0" baseline="0" noProof="0">
                <a:ln>
                  <a:noFill/>
                </a:ln>
                <a:solidFill>
                  <a:prstClr val="black">
                    <a:lumMod val="75000"/>
                    <a:lumOff val="25000"/>
                  </a:prstClr>
                </a:solidFill>
                <a:effectLst/>
                <a:uLnTx/>
                <a:uFillTx/>
                <a:latin typeface="Arial"/>
                <a:ea typeface="+mn-ea"/>
                <a:cs typeface="+mn-cs"/>
              </a:rPr>
              <a:t>1.Overall development Strategy; 2.Sister Trial Design - Statistical Analysis &amp; Sample Size;3.Metalyse placebo: Leverage 50 mg Stability Data to support 60M shelf life for 25mg </a:t>
            </a:r>
            <a:r>
              <a:rPr kumimoji="0" lang="en-US" altLang="zh-CN" sz="1600" b="0" i="0" u="none" strike="noStrike" kern="1200" cap="none" spc="0" normalizeH="0" baseline="0" noProof="0" err="1">
                <a:ln>
                  <a:noFill/>
                </a:ln>
                <a:solidFill>
                  <a:prstClr val="black">
                    <a:lumMod val="75000"/>
                    <a:lumOff val="25000"/>
                  </a:prstClr>
                </a:solidFill>
                <a:effectLst/>
                <a:uLnTx/>
                <a:uFillTx/>
                <a:latin typeface="Arial"/>
                <a:ea typeface="+mn-ea"/>
                <a:cs typeface="+mn-cs"/>
              </a:rPr>
              <a:t>placebo.etc</a:t>
            </a:r>
            <a:r>
              <a:rPr kumimoji="0" lang="en-US" altLang="zh-CN" sz="1600" b="0" i="0" u="none" strike="noStrike" kern="1200" cap="none" spc="0" normalizeH="0" baseline="0" noProof="0">
                <a:ln>
                  <a:noFill/>
                </a:ln>
                <a:solidFill>
                  <a:prstClr val="black">
                    <a:lumMod val="75000"/>
                    <a:lumOff val="25000"/>
                  </a:prstClr>
                </a:solidFill>
                <a:effectLst/>
                <a:uLnTx/>
                <a:uFillTx/>
                <a:latin typeface="Arial"/>
                <a:ea typeface="+mn-ea"/>
                <a:cs typeface="+mn-cs"/>
              </a:rPr>
              <a:t>.</a:t>
            </a:r>
            <a:endParaRPr kumimoji="0" lang="zh-CN" altLang="en-US" sz="1600" b="0" i="0" u="none" strike="noStrike" kern="1200" cap="none" spc="0" normalizeH="0" baseline="0" noProof="0">
              <a:ln>
                <a:noFill/>
              </a:ln>
              <a:solidFill>
                <a:prstClr val="black">
                  <a:lumMod val="75000"/>
                  <a:lumOff val="25000"/>
                </a:prstClr>
              </a:solidFill>
              <a:effectLst/>
              <a:uLnTx/>
              <a:uFillTx/>
              <a:latin typeface="Arial"/>
              <a:ea typeface="+mn-ea"/>
              <a:cs typeface="+mn-cs"/>
            </a:endParaRPr>
          </a:p>
        </p:txBody>
      </p:sp>
      <p:cxnSp>
        <p:nvCxnSpPr>
          <p:cNvPr id="8" name="直接连接符 7">
            <a:extLst>
              <a:ext uri="{FF2B5EF4-FFF2-40B4-BE49-F238E27FC236}">
                <a16:creationId xmlns:a16="http://schemas.microsoft.com/office/drawing/2014/main" id="{71B1B668-3403-40C3-1D51-C0D13E57A0C4}"/>
              </a:ext>
            </a:extLst>
          </p:cNvPr>
          <p:cNvCxnSpPr>
            <a:cxnSpLocks/>
          </p:cNvCxnSpPr>
          <p:nvPr/>
        </p:nvCxnSpPr>
        <p:spPr bwMode="gray">
          <a:xfrm>
            <a:off x="285750" y="3429000"/>
            <a:ext cx="116205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89225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DJUSTMENTS" val="0"/>
</p:tagLst>
</file>

<file path=ppt/tags/tag2.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3.xml><?xml version="1.0" encoding="utf-8"?>
<p:tagLst xmlns:a="http://schemas.openxmlformats.org/drawingml/2006/main" xmlns:r="http://schemas.openxmlformats.org/officeDocument/2006/relationships" xmlns:p="http://schemas.openxmlformats.org/presentationml/2006/main">
  <p:tag name="ADJUSTMENTS" val="0"/>
</p:tagLst>
</file>

<file path=ppt/tags/tag4.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5.xml><?xml version="1.0" encoding="utf-8"?>
<p:tagLst xmlns:a="http://schemas.openxmlformats.org/drawingml/2006/main" xmlns:r="http://schemas.openxmlformats.org/officeDocument/2006/relationships" xmlns:p="http://schemas.openxmlformats.org/presentationml/2006/main">
  <p:tag name="ADJUSTMENTS" val="3.162912"/>
</p:tagLst>
</file>

<file path=ppt/tags/tag6.xml><?xml version="1.0" encoding="utf-8"?>
<p:tagLst xmlns:a="http://schemas.openxmlformats.org/drawingml/2006/main" xmlns:r="http://schemas.openxmlformats.org/officeDocument/2006/relationships" xmlns:p="http://schemas.openxmlformats.org/presentationml/2006/main">
  <p:tag name="ADJUSTMENTS" val="3.162912"/>
</p:tagLst>
</file>

<file path=ppt/tags/tag7.xml><?xml version="1.0" encoding="utf-8"?>
<p:tagLst xmlns:a="http://schemas.openxmlformats.org/drawingml/2006/main" xmlns:r="http://schemas.openxmlformats.org/officeDocument/2006/relationships" xmlns:p="http://schemas.openxmlformats.org/presentationml/2006/main">
  <p:tag name="ADJUSTMENTS" val="3.162912"/>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1_Office 主题​​">
  <a:themeElements>
    <a:clrScheme name="苍岭绿">
      <a:dk1>
        <a:sysClr val="windowText" lastClr="000000"/>
      </a:dk1>
      <a:lt1>
        <a:sysClr val="window" lastClr="FFFFFF"/>
      </a:lt1>
      <a:dk2>
        <a:srgbClr val="000000"/>
      </a:dk2>
      <a:lt2>
        <a:srgbClr val="FFFFFF"/>
      </a:lt2>
      <a:accent1>
        <a:srgbClr val="1E4123"/>
      </a:accent1>
      <a:accent2>
        <a:srgbClr val="306534"/>
      </a:accent2>
      <a:accent3>
        <a:srgbClr val="4C8B56"/>
      </a:accent3>
      <a:accent4>
        <a:srgbClr val="5BB318"/>
      </a:accent4>
      <a:accent5>
        <a:srgbClr val="7DCE13"/>
      </a:accent5>
      <a:accent6>
        <a:srgbClr val="62A39F"/>
      </a:accent6>
      <a:hlink>
        <a:srgbClr val="6EAC1C"/>
      </a:hlink>
      <a:folHlink>
        <a:srgbClr val="B26B02"/>
      </a:folHlink>
    </a:clrScheme>
    <a:fontScheme name="oppo">
      <a:majorFont>
        <a:latin typeface="Arial Black"/>
        <a:ea typeface="OPPOSans M"/>
        <a:cs typeface=""/>
      </a:majorFont>
      <a:minorFont>
        <a:latin typeface="Arial"/>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EDF4BD-CAE0-4A85-85E5-DD873F731601}">
  <ds:schemaRefs>
    <ds:schemaRef ds:uri="545a336c-45ba-4242-ba8b-2a24159e5b92"/>
    <ds:schemaRef ds:uri="6105e471-a007-4c69-b034-cfd36128fa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A1075C1-B675-4C54-8A03-44EB0465AA04}">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5671B36-7CB9-46B3-BC65-125E1FF66835}">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3</Notes>
  <HiddenSlides>0</HiddenSlides>
  <ScaleCrop>false</ScaleCrop>
  <HeadingPairs>
    <vt:vector size="4" baseType="variant">
      <vt:variant>
        <vt:lpstr>Theme</vt:lpstr>
      </vt:variant>
      <vt:variant>
        <vt:i4>2</vt:i4>
      </vt:variant>
      <vt:variant>
        <vt:lpstr>Slide Titles</vt:lpstr>
      </vt:variant>
      <vt:variant>
        <vt:i4>4</vt:i4>
      </vt:variant>
    </vt:vector>
  </HeadingPairs>
  <TitlesOfParts>
    <vt:vector size="6" baseType="lpstr">
      <vt:lpstr>Boehringer Ingelheim 16:9</vt:lpstr>
      <vt:lpstr>1_Office 主题​​</vt:lpstr>
      <vt:lpstr>Metalyse Late Time Window HA Interaction Strategy</vt:lpstr>
      <vt:lpstr>PowerPoint Presentation</vt:lpstr>
      <vt:lpstr>Local assessment of HAI (PROS &amp; CONS)</vt:lpstr>
      <vt:lpstr>HA interaction (HAI)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Bao,Leo (HP Medicine) BII-CN-S</dc:creator>
  <cp:revision>2</cp:revision>
  <dcterms:created xsi:type="dcterms:W3CDTF">2025-12-14T12:51:29Z</dcterms:created>
  <dcterms:modified xsi:type="dcterms:W3CDTF">2025-12-16T00:43:18Z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ies>
</file>