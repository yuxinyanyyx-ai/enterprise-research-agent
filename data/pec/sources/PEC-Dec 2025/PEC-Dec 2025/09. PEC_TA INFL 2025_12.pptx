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theme/theme4.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theme/theme5.xml" ContentType="application/vnd.openxmlformats-officedocument.theme+xml"/>
  <Override PartName="/ppt/tags/tag9.xml" ContentType="application/vnd.openxmlformats-officedocument.presentationml.tags+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theme/theme6.xml" ContentType="application/vnd.openxmlformats-officedocument.theme+xml"/>
  <Override PartName="/ppt/tags/tag10.xml" ContentType="application/vnd.openxmlformats-officedocument.presentationml.tags+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theme/theme7.xml" ContentType="application/vnd.openxmlformats-officedocument.theme+xml"/>
  <Override PartName="/ppt/tags/tag11.xml" ContentType="application/vnd.openxmlformats-officedocument.presentationml.tags+xml"/>
  <Override PartName="/ppt/theme/theme8.xml" ContentType="application/vnd.openxmlformats-officedocument.theme+xml"/>
  <Override PartName="/ppt/notesSlides/notesSlide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2.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5.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6.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7.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8.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13.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14.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1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144.xml" ContentType="application/vnd.openxmlformats-officedocument.presentationml.tags+xml"/>
  <Override PartName="/ppt/notesSlides/notesSlide16.xml" ContentType="application/vnd.openxmlformats-officedocument.presentationml.notesSlide+xml"/>
  <Override PartName="/ppt/tags/tag145.xml" ContentType="application/vnd.openxmlformats-officedocument.presentationml.tags+xml"/>
  <Override PartName="/ppt/notesSlides/notesSlide17.xml" ContentType="application/vnd.openxmlformats-officedocument.presentationml.notesSlide+xml"/>
  <Override PartName="/ppt/tags/tag146.xml" ContentType="application/vnd.openxmlformats-officedocument.presentationml.tags+xml"/>
  <Override PartName="/ppt/notesSlides/notesSlide18.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notesSlides/notesSlide21.xml" ContentType="application/vnd.openxmlformats-officedocument.presentationml.notesSlid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notesSlides/notesSlide22.xml" ContentType="application/vnd.openxmlformats-officedocument.presentationml.notesSlide+xml"/>
  <Override PartName="/ppt/comments/comment1.xml" ContentType="application/vnd.openxmlformats-officedocument.presentationml.comment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4"/>
    <p:sldMasterId id="2147483827" r:id="rId5"/>
    <p:sldMasterId id="2147483868" r:id="rId6"/>
    <p:sldMasterId id="2147483906" r:id="rId7"/>
    <p:sldMasterId id="2147484012" r:id="rId8"/>
    <p:sldMasterId id="2147484049" r:id="rId9"/>
    <p:sldMasterId id="2147484084" r:id="rId10"/>
  </p:sldMasterIdLst>
  <p:notesMasterIdLst>
    <p:notesMasterId r:id="rId76"/>
  </p:notesMasterIdLst>
  <p:sldIdLst>
    <p:sldId id="9849" r:id="rId11"/>
    <p:sldId id="9850" r:id="rId12"/>
    <p:sldId id="2147483646" r:id="rId13"/>
    <p:sldId id="9852" r:id="rId14"/>
    <p:sldId id="9854" r:id="rId15"/>
    <p:sldId id="2147483632" r:id="rId16"/>
    <p:sldId id="262" r:id="rId17"/>
    <p:sldId id="2147483647" r:id="rId18"/>
    <p:sldId id="272" r:id="rId19"/>
    <p:sldId id="2147482921" r:id="rId20"/>
    <p:sldId id="2147483430" r:id="rId21"/>
    <p:sldId id="317" r:id="rId22"/>
    <p:sldId id="303" r:id="rId23"/>
    <p:sldId id="256" r:id="rId24"/>
    <p:sldId id="267" r:id="rId25"/>
    <p:sldId id="268" r:id="rId26"/>
    <p:sldId id="281" r:id="rId27"/>
    <p:sldId id="2147483634" r:id="rId28"/>
    <p:sldId id="264" r:id="rId29"/>
    <p:sldId id="265" r:id="rId30"/>
    <p:sldId id="274" r:id="rId31"/>
    <p:sldId id="285" r:id="rId32"/>
    <p:sldId id="284" r:id="rId33"/>
    <p:sldId id="279" r:id="rId34"/>
    <p:sldId id="282" r:id="rId35"/>
    <p:sldId id="293" r:id="rId36"/>
    <p:sldId id="294" r:id="rId37"/>
    <p:sldId id="263" r:id="rId38"/>
    <p:sldId id="261" r:id="rId39"/>
    <p:sldId id="277" r:id="rId40"/>
    <p:sldId id="283" r:id="rId41"/>
    <p:sldId id="278" r:id="rId42"/>
    <p:sldId id="266" r:id="rId43"/>
    <p:sldId id="288" r:id="rId44"/>
    <p:sldId id="289" r:id="rId45"/>
    <p:sldId id="290" r:id="rId46"/>
    <p:sldId id="291" r:id="rId47"/>
    <p:sldId id="292" r:id="rId48"/>
    <p:sldId id="257" r:id="rId49"/>
    <p:sldId id="258" r:id="rId50"/>
    <p:sldId id="295" r:id="rId51"/>
    <p:sldId id="269" r:id="rId52"/>
    <p:sldId id="286" r:id="rId53"/>
    <p:sldId id="259" r:id="rId54"/>
    <p:sldId id="270" r:id="rId55"/>
    <p:sldId id="330" r:id="rId56"/>
    <p:sldId id="341" r:id="rId57"/>
    <p:sldId id="346" r:id="rId58"/>
    <p:sldId id="347" r:id="rId59"/>
    <p:sldId id="275" r:id="rId60"/>
    <p:sldId id="343" r:id="rId61"/>
    <p:sldId id="350" r:id="rId62"/>
    <p:sldId id="348" r:id="rId63"/>
    <p:sldId id="2147482414" r:id="rId64"/>
    <p:sldId id="260" r:id="rId65"/>
    <p:sldId id="273" r:id="rId66"/>
    <p:sldId id="276" r:id="rId67"/>
    <p:sldId id="271" r:id="rId68"/>
    <p:sldId id="2147483630" r:id="rId69"/>
    <p:sldId id="2147479721" r:id="rId70"/>
    <p:sldId id="2147483631" r:id="rId71"/>
    <p:sldId id="2147483633" r:id="rId72"/>
    <p:sldId id="280" r:id="rId73"/>
    <p:sldId id="9805" r:id="rId74"/>
    <p:sldId id="2147475013" r:id="rId7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3713824-3DC7-4D9E-9504-4468A296EAA2}">
          <p14:sldIdLst>
            <p14:sldId id="9849"/>
            <p14:sldId id="9850"/>
            <p14:sldId id="2147483646"/>
            <p14:sldId id="9852"/>
            <p14:sldId id="9854"/>
            <p14:sldId id="2147483632"/>
            <p14:sldId id="262"/>
            <p14:sldId id="2147483647"/>
            <p14:sldId id="272"/>
            <p14:sldId id="2147482921"/>
            <p14:sldId id="2147483430"/>
            <p14:sldId id="317"/>
            <p14:sldId id="303"/>
            <p14:sldId id="256"/>
            <p14:sldId id="267"/>
            <p14:sldId id="268"/>
            <p14:sldId id="281"/>
            <p14:sldId id="2147483634"/>
            <p14:sldId id="264"/>
            <p14:sldId id="265"/>
            <p14:sldId id="274"/>
            <p14:sldId id="285"/>
            <p14:sldId id="284"/>
            <p14:sldId id="279"/>
            <p14:sldId id="282"/>
            <p14:sldId id="293"/>
            <p14:sldId id="294"/>
            <p14:sldId id="263"/>
            <p14:sldId id="261"/>
            <p14:sldId id="277"/>
            <p14:sldId id="283"/>
            <p14:sldId id="278"/>
            <p14:sldId id="266"/>
            <p14:sldId id="288"/>
            <p14:sldId id="289"/>
            <p14:sldId id="290"/>
            <p14:sldId id="291"/>
            <p14:sldId id="292"/>
            <p14:sldId id="257"/>
            <p14:sldId id="258"/>
            <p14:sldId id="295"/>
            <p14:sldId id="269"/>
            <p14:sldId id="286"/>
            <p14:sldId id="259"/>
          </p14:sldIdLst>
        </p14:section>
        <p14:section name="PMS" id="{85AFFDF7-6F11-48A1-BD01-D62A01E74197}">
          <p14:sldIdLst/>
        </p14:section>
        <p14:section name="Speso license out guidance" id="{ABBAFFEE-1032-4DC7-9FBF-49153A8ECD60}">
          <p14:sldIdLst>
            <p14:sldId id="270"/>
            <p14:sldId id="330"/>
            <p14:sldId id="341"/>
            <p14:sldId id="346"/>
            <p14:sldId id="347"/>
            <p14:sldId id="275"/>
            <p14:sldId id="343"/>
            <p14:sldId id="350"/>
            <p14:sldId id="348"/>
          </p14:sldIdLst>
        </p14:section>
        <p14:section name="backup slides for verducatib" id="{3D3E1176-0A86-4869-AAFC-420B60118F4B}">
          <p14:sldIdLst>
            <p14:sldId id="2147482414"/>
            <p14:sldId id="260"/>
            <p14:sldId id="273"/>
            <p14:sldId id="276"/>
            <p14:sldId id="271"/>
            <p14:sldId id="2147483630"/>
            <p14:sldId id="2147479721"/>
            <p14:sldId id="2147483631"/>
            <p14:sldId id="2147483633"/>
            <p14:sldId id="280"/>
            <p14:sldId id="9805"/>
            <p14:sldId id="2147475013"/>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Zhu,Dr.,Yayun (HP Medicine) BII-CN-S" initials="ZB" lastIdx="4" clrIdx="6">
    <p:extLst>
      <p:ext uri="{19B8F6BF-5375-455C-9EA6-DF929625EA0E}">
        <p15:presenceInfo xmlns:p15="http://schemas.microsoft.com/office/powerpoint/2012/main" userId="S::yayun.zhu@boehringer-ingelheim.com::f923e91b-1433-4718-a9fb-37abca69f87f" providerId="AD"/>
      </p:ext>
    </p:extLst>
  </p:cmAuthor>
  <p:cmAuthor id="1" name="Chen,Dr.,Ying (HP Medicine) BII-CN-S" initials="YC" lastIdx="21" clrIdx="0">
    <p:extLst>
      <p:ext uri="{19B8F6BF-5375-455C-9EA6-DF929625EA0E}">
        <p15:presenceInfo xmlns:p15="http://schemas.microsoft.com/office/powerpoint/2012/main" userId="S::ying_4.chen@boehringer-ingelheim.com::7c019f49-0ee9-4787-9ac5-a11d3b82d6d2" providerId="AD"/>
      </p:ext>
    </p:extLst>
  </p:cmAuthor>
  <p:cmAuthor id="8" name="Wang,Dr.,Bo (HP Medicine) BII-CN-S" initials="BW" lastIdx="5" clrIdx="7">
    <p:extLst>
      <p:ext uri="{19B8F6BF-5375-455C-9EA6-DF929625EA0E}">
        <p15:presenceInfo xmlns:p15="http://schemas.microsoft.com/office/powerpoint/2012/main" userId="S::bo_7.wang@boehringer-ingelheim.com::950b8564-41e4-4a68-9f11-e3d2e116a359" providerId="AD"/>
      </p:ext>
    </p:extLst>
  </p:cmAuthor>
  <p:cmAuthor id="2" name="Qian,Qi (MED CD&amp;O) BII-CN-S" initials="QQ" lastIdx="8" clrIdx="1">
    <p:extLst>
      <p:ext uri="{19B8F6BF-5375-455C-9EA6-DF929625EA0E}">
        <p15:presenceInfo xmlns:p15="http://schemas.microsoft.com/office/powerpoint/2012/main" userId="S::qi.qian@boehringer-ingelheim.com::a012f63a-3071-45e6-b604-0f04cceb25ea" providerId="AD"/>
      </p:ext>
    </p:extLst>
  </p:cmAuthor>
  <p:cmAuthor id="9" name="Ma,Jiayi (MED CDO) BII-CN-S" initials="JM" lastIdx="3" clrIdx="8">
    <p:extLst>
      <p:ext uri="{19B8F6BF-5375-455C-9EA6-DF929625EA0E}">
        <p15:presenceInfo xmlns:p15="http://schemas.microsoft.com/office/powerpoint/2012/main" userId="S::jiayi.ma@boehringer-ingelheim.com::4bb250b1-eaf6-4ab9-91ce-2c35378e4e69" providerId="AD"/>
      </p:ext>
    </p:extLst>
  </p:cmAuthor>
  <p:cmAuthor id="3" name="Tao,Helen (HP Medicine) BII-CN-S" initials="TB" lastIdx="4" clrIdx="2">
    <p:extLst>
      <p:ext uri="{19B8F6BF-5375-455C-9EA6-DF929625EA0E}">
        <p15:presenceInfo xmlns:p15="http://schemas.microsoft.com/office/powerpoint/2012/main" userId="S::helen.tao@boehringer-ingelheim.com::35187e18-a979-452a-a00a-a6d2f11c820c" providerId="AD"/>
      </p:ext>
    </p:extLst>
  </p:cmAuthor>
  <p:cmAuthor id="10" name="Zhang,Ying (MED CDO) BII-CN-S" initials="YZ" lastIdx="4" clrIdx="9">
    <p:extLst>
      <p:ext uri="{19B8F6BF-5375-455C-9EA6-DF929625EA0E}">
        <p15:presenceInfo xmlns:p15="http://schemas.microsoft.com/office/powerpoint/2012/main" userId="S::ying_2.zhang@boehringer-ingelheim.com::456eb1e0-4978-443e-822e-be854341a778" providerId="AD"/>
      </p:ext>
    </p:extLst>
  </p:cmAuthor>
  <p:cmAuthor id="4" name="Xu,Lindsay (HP Medicine) BII-CN-S" initials="XB" lastIdx="3" clrIdx="3">
    <p:extLst>
      <p:ext uri="{19B8F6BF-5375-455C-9EA6-DF929625EA0E}">
        <p15:presenceInfo xmlns:p15="http://schemas.microsoft.com/office/powerpoint/2012/main" userId="S::lindsay.xu@boehringer-ingelheim.com::80a8f60d-1654-4b86-b932-46a0c01eb59c" providerId="AD"/>
      </p:ext>
    </p:extLst>
  </p:cmAuthor>
  <p:cmAuthor id="5" name="Kind,Saskia (HP Medicine) BII-CN-S" initials="SK" lastIdx="3" clrIdx="4">
    <p:extLst>
      <p:ext uri="{19B8F6BF-5375-455C-9EA6-DF929625EA0E}">
        <p15:presenceInfo xmlns:p15="http://schemas.microsoft.com/office/powerpoint/2012/main" userId="S::saskia.kind@boehringer-ingelheim.com::14424b57-ed60-4e43-9702-4cbb8465d621" providerId="AD"/>
      </p:ext>
    </p:extLst>
  </p:cmAuthor>
  <p:cmAuthor id="6" name="Ivanoff,Dr.,Nathalie (MED TA Infl) BII-DE-I" initials="NI" lastIdx="2" clrIdx="5">
    <p:extLst>
      <p:ext uri="{19B8F6BF-5375-455C-9EA6-DF929625EA0E}">
        <p15:presenceInfo xmlns:p15="http://schemas.microsoft.com/office/powerpoint/2012/main" userId="S::nathalie.ivanoff@boehringer-ingelheim.com::55733a91-2093-4bec-b3d1-e781a629847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75605"/>
    <a:srgbClr val="E1B900"/>
    <a:srgbClr val="052EFC"/>
    <a:srgbClr val="CF0000"/>
    <a:srgbClr val="00E47C"/>
    <a:srgbClr val="87C9AA"/>
    <a:srgbClr val="2636A2"/>
    <a:srgbClr val="EEC800"/>
    <a:srgbClr val="3E6BAD"/>
    <a:srgbClr val="D80B0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BBA93-34E1-44DA-9CC7-C2F4C80ACECC}" v="23" dt="2025-12-15T06:24:43.769"/>
    <p1510:client id="{66F01B1E-8995-1174-E23C-3078D5658EE1}" v="61" dt="2025-12-15T07:09:27.304"/>
    <p1510:client id="{DA7469DF-62B9-6798-0072-33BA4AD8C1E4}" v="71" dt="2025-12-15T05:24:32.5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16" Type="http://schemas.openxmlformats.org/officeDocument/2006/relationships/slide" Target="slides/slide6.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1.xml"/><Relationship Id="rId82" Type="http://schemas.microsoft.com/office/2016/11/relationships/changesInfo" Target="changesInfos/changesInfo1.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notesMaster" Target="notesMasters/notesMaster1.xml"/><Relationship Id="rId7" Type="http://schemas.openxmlformats.org/officeDocument/2006/relationships/slideMaster" Target="slideMasters/slideMaster4.xml"/><Relationship Id="rId71" Type="http://schemas.openxmlformats.org/officeDocument/2006/relationships/slide" Target="slides/slide61.xml"/><Relationship Id="rId2" Type="http://schemas.openxmlformats.org/officeDocument/2006/relationships/customXml" Target="../customXml/item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Dr.,Yayun (HP Medicine) BII-CN-S" userId="S::yayun.zhu@boehringer-ingelheim.com::f923e91b-1433-4718-a9fb-37abca69f87f" providerId="AD" clId="Web-{83E3097E-FE31-80A2-C4DC-1D78BA07739B}"/>
    <pc:docChg chg="modSld">
      <pc:chgData name="Zhu,Dr.,Yayun (HP Medicine) BII-CN-S" userId="S::yayun.zhu@boehringer-ingelheim.com::f923e91b-1433-4718-a9fb-37abca69f87f" providerId="AD" clId="Web-{83E3097E-FE31-80A2-C4DC-1D78BA07739B}" dt="2025-12-13T04:16:10.500" v="125" actId="20577"/>
      <pc:docMkLst>
        <pc:docMk/>
      </pc:docMkLst>
      <pc:sldChg chg="addSp modSp">
        <pc:chgData name="Zhu,Dr.,Yayun (HP Medicine) BII-CN-S" userId="S::yayun.zhu@boehringer-ingelheim.com::f923e91b-1433-4718-a9fb-37abca69f87f" providerId="AD" clId="Web-{83E3097E-FE31-80A2-C4DC-1D78BA07739B}" dt="2025-12-13T04:16:10.500" v="125" actId="20577"/>
        <pc:sldMkLst>
          <pc:docMk/>
          <pc:sldMk cId="1217884079" sldId="274"/>
        </pc:sldMkLst>
        <pc:spChg chg="add mod">
          <ac:chgData name="Zhu,Dr.,Yayun (HP Medicine) BII-CN-S" userId="S::yayun.zhu@boehringer-ingelheim.com::f923e91b-1433-4718-a9fb-37abca69f87f" providerId="AD" clId="Web-{83E3097E-FE31-80A2-C4DC-1D78BA07739B}" dt="2025-12-13T04:15:15.577" v="119" actId="1076"/>
          <ac:spMkLst>
            <pc:docMk/>
            <pc:sldMk cId="1217884079" sldId="274"/>
            <ac:spMk id="17" creationId="{706FA5EE-C14E-0800-6DB4-3F48471113DE}"/>
          </ac:spMkLst>
        </pc:spChg>
        <pc:spChg chg="add mod">
          <ac:chgData name="Zhu,Dr.,Yayun (HP Medicine) BII-CN-S" userId="S::yayun.zhu@boehringer-ingelheim.com::f923e91b-1433-4718-a9fb-37abca69f87f" providerId="AD" clId="Web-{83E3097E-FE31-80A2-C4DC-1D78BA07739B}" dt="2025-12-13T04:16:10.500" v="125" actId="20577"/>
          <ac:spMkLst>
            <pc:docMk/>
            <pc:sldMk cId="1217884079" sldId="274"/>
            <ac:spMk id="26" creationId="{2F27F014-3680-2834-C59F-D7A7E0937C22}"/>
          </ac:spMkLst>
        </pc:spChg>
        <pc:spChg chg="mod">
          <ac:chgData name="Zhu,Dr.,Yayun (HP Medicine) BII-CN-S" userId="S::yayun.zhu@boehringer-ingelheim.com::f923e91b-1433-4718-a9fb-37abca69f87f" providerId="AD" clId="Web-{83E3097E-FE31-80A2-C4DC-1D78BA07739B}" dt="2025-12-13T04:16:10.422" v="124" actId="20577"/>
          <ac:spMkLst>
            <pc:docMk/>
            <pc:sldMk cId="1217884079" sldId="274"/>
            <ac:spMk id="43" creationId="{E7ED5608-D8EB-2537-689D-047212AD20DA}"/>
          </ac:spMkLst>
        </pc:spChg>
        <pc:spChg chg="mod">
          <ac:chgData name="Zhu,Dr.,Yayun (HP Medicine) BII-CN-S" userId="S::yayun.zhu@boehringer-ingelheim.com::f923e91b-1433-4718-a9fb-37abca69f87f" providerId="AD" clId="Web-{83E3097E-FE31-80A2-C4DC-1D78BA07739B}" dt="2025-12-13T04:15:05.062" v="116" actId="1076"/>
          <ac:spMkLst>
            <pc:docMk/>
            <pc:sldMk cId="1217884079" sldId="274"/>
            <ac:spMk id="49" creationId="{B32479EB-6F90-3AFC-5C00-85BED9459D0E}"/>
          </ac:spMkLst>
        </pc:spChg>
        <pc:cxnChg chg="add mod">
          <ac:chgData name="Zhu,Dr.,Yayun (HP Medicine) BII-CN-S" userId="S::yayun.zhu@boehringer-ingelheim.com::f923e91b-1433-4718-a9fb-37abca69f87f" providerId="AD" clId="Web-{83E3097E-FE31-80A2-C4DC-1D78BA07739B}" dt="2025-12-13T04:14:17.608" v="89" actId="1076"/>
          <ac:cxnSpMkLst>
            <pc:docMk/>
            <pc:sldMk cId="1217884079" sldId="274"/>
            <ac:cxnSpMk id="29" creationId="{7CA118D6-C8FD-F08B-2B55-1875CD6BE8BB}"/>
          </ac:cxnSpMkLst>
        </pc:cxnChg>
      </pc:sldChg>
    </pc:docChg>
  </pc:docChgLst>
  <pc:docChgLst>
    <pc:chgData name="Zhang,Ying (MED CDO) BII-CN-S" userId="456eb1e0-4978-443e-822e-be854341a778" providerId="ADAL" clId="{E465B735-330E-4432-A4E3-6CF07F8C8B88}"/>
    <pc:docChg chg="modSld">
      <pc:chgData name="Zhang,Ying (MED CDO) BII-CN-S" userId="456eb1e0-4978-443e-822e-be854341a778" providerId="ADAL" clId="{E465B735-330E-4432-A4E3-6CF07F8C8B88}" dt="2025-12-14T12:32:38.597" v="0" actId="20577"/>
      <pc:docMkLst>
        <pc:docMk/>
      </pc:docMkLst>
      <pc:sldChg chg="modSp mod">
        <pc:chgData name="Zhang,Ying (MED CDO) BII-CN-S" userId="456eb1e0-4978-443e-822e-be854341a778" providerId="ADAL" clId="{E465B735-330E-4432-A4E3-6CF07F8C8B88}" dt="2025-12-14T12:32:38.597" v="0" actId="20577"/>
        <pc:sldMkLst>
          <pc:docMk/>
          <pc:sldMk cId="3676249893" sldId="263"/>
        </pc:sldMkLst>
        <pc:spChg chg="mod">
          <ac:chgData name="Zhang,Ying (MED CDO) BII-CN-S" userId="456eb1e0-4978-443e-822e-be854341a778" providerId="ADAL" clId="{E465B735-330E-4432-A4E3-6CF07F8C8B88}" dt="2025-12-14T12:32:38.597" v="0" actId="20577"/>
          <ac:spMkLst>
            <pc:docMk/>
            <pc:sldMk cId="3676249893" sldId="263"/>
            <ac:spMk id="4" creationId="{11FDFFB8-02E9-63A1-A75A-86006A6E4672}"/>
          </ac:spMkLst>
        </pc:spChg>
      </pc:sldChg>
    </pc:docChg>
  </pc:docChgLst>
  <pc:docChgLst>
    <pc:chgData name="Wang,Dr.,Bo (HP Medicine) BII-CN-S" userId="950b8564-41e4-4a68-9f11-e3d2e116a359" providerId="ADAL" clId="{A0D9DB44-A0AF-4A5F-8A8D-1CAF10B8DF49}"/>
    <pc:docChg chg="custSel modSld">
      <pc:chgData name="Wang,Dr.,Bo (HP Medicine) BII-CN-S" userId="950b8564-41e4-4a68-9f11-e3d2e116a359" providerId="ADAL" clId="{A0D9DB44-A0AF-4A5F-8A8D-1CAF10B8DF49}" dt="2025-12-15T06:24:43.769" v="113" actId="20577"/>
      <pc:docMkLst>
        <pc:docMk/>
      </pc:docMkLst>
      <pc:sldChg chg="addSp delSp modSp mod">
        <pc:chgData name="Wang,Dr.,Bo (HP Medicine) BII-CN-S" userId="950b8564-41e4-4a68-9f11-e3d2e116a359" providerId="ADAL" clId="{A0D9DB44-A0AF-4A5F-8A8D-1CAF10B8DF49}" dt="2025-12-14T14:35:34.546" v="96"/>
        <pc:sldMkLst>
          <pc:docMk/>
          <pc:sldMk cId="232329807" sldId="256"/>
        </pc:sldMkLst>
        <pc:spChg chg="del">
          <ac:chgData name="Wang,Dr.,Bo (HP Medicine) BII-CN-S" userId="950b8564-41e4-4a68-9f11-e3d2e116a359" providerId="ADAL" clId="{A0D9DB44-A0AF-4A5F-8A8D-1CAF10B8DF49}" dt="2025-12-14T14:35:34.101" v="95" actId="478"/>
          <ac:spMkLst>
            <pc:docMk/>
            <pc:sldMk cId="232329807" sldId="256"/>
            <ac:spMk id="3" creationId="{D297A052-B8EF-D68C-45E3-2FB62767BA11}"/>
          </ac:spMkLst>
        </pc:spChg>
        <pc:spChg chg="add mod">
          <ac:chgData name="Wang,Dr.,Bo (HP Medicine) BII-CN-S" userId="950b8564-41e4-4a68-9f11-e3d2e116a359" providerId="ADAL" clId="{A0D9DB44-A0AF-4A5F-8A8D-1CAF10B8DF49}" dt="2025-12-14T14:35:34.546" v="96"/>
          <ac:spMkLst>
            <pc:docMk/>
            <pc:sldMk cId="232329807" sldId="256"/>
            <ac:spMk id="4" creationId="{71908A53-3C10-F22A-2997-B2F98B11FFD9}"/>
          </ac:spMkLst>
        </pc:spChg>
        <pc:graphicFrameChg chg="del">
          <ac:chgData name="Wang,Dr.,Bo (HP Medicine) BII-CN-S" userId="950b8564-41e4-4a68-9f11-e3d2e116a359" providerId="ADAL" clId="{A0D9DB44-A0AF-4A5F-8A8D-1CAF10B8DF49}" dt="2025-12-14T14:34:14.749" v="88" actId="478"/>
          <ac:graphicFrameMkLst>
            <pc:docMk/>
            <pc:sldMk cId="232329807" sldId="256"/>
            <ac:graphicFrameMk id="11" creationId="{50604A83-20A2-CC79-A837-20A0C5E0100A}"/>
          </ac:graphicFrameMkLst>
        </pc:graphicFrameChg>
        <pc:picChg chg="add mod">
          <ac:chgData name="Wang,Dr.,Bo (HP Medicine) BII-CN-S" userId="950b8564-41e4-4a68-9f11-e3d2e116a359" providerId="ADAL" clId="{A0D9DB44-A0AF-4A5F-8A8D-1CAF10B8DF49}" dt="2025-12-14T14:34:26.572" v="91" actId="14100"/>
          <ac:picMkLst>
            <pc:docMk/>
            <pc:sldMk cId="232329807" sldId="256"/>
            <ac:picMk id="1026" creationId="{30746715-1884-B9EF-1157-9BEE25C73E53}"/>
          </ac:picMkLst>
        </pc:picChg>
      </pc:sldChg>
      <pc:sldChg chg="modSp mod">
        <pc:chgData name="Wang,Dr.,Bo (HP Medicine) BII-CN-S" userId="950b8564-41e4-4a68-9f11-e3d2e116a359" providerId="ADAL" clId="{A0D9DB44-A0AF-4A5F-8A8D-1CAF10B8DF49}" dt="2025-12-14T08:37:49.804" v="75" actId="20577"/>
        <pc:sldMkLst>
          <pc:docMk/>
          <pc:sldMk cId="2771358810" sldId="267"/>
        </pc:sldMkLst>
        <pc:spChg chg="mod">
          <ac:chgData name="Wang,Dr.,Bo (HP Medicine) BII-CN-S" userId="950b8564-41e4-4a68-9f11-e3d2e116a359" providerId="ADAL" clId="{A0D9DB44-A0AF-4A5F-8A8D-1CAF10B8DF49}" dt="2025-12-14T08:37:49.804" v="75" actId="20577"/>
          <ac:spMkLst>
            <pc:docMk/>
            <pc:sldMk cId="2771358810" sldId="267"/>
            <ac:spMk id="225" creationId="{8CC05067-B993-9C03-0071-8D3FA85450EF}"/>
          </ac:spMkLst>
        </pc:spChg>
      </pc:sldChg>
      <pc:sldChg chg="modSp mod">
        <pc:chgData name="Wang,Dr.,Bo (HP Medicine) BII-CN-S" userId="950b8564-41e4-4a68-9f11-e3d2e116a359" providerId="ADAL" clId="{A0D9DB44-A0AF-4A5F-8A8D-1CAF10B8DF49}" dt="2025-12-15T06:24:43.769" v="113" actId="20577"/>
        <pc:sldMkLst>
          <pc:docMk/>
          <pc:sldMk cId="3519402986" sldId="281"/>
        </pc:sldMkLst>
        <pc:spChg chg="mod">
          <ac:chgData name="Wang,Dr.,Bo (HP Medicine) BII-CN-S" userId="950b8564-41e4-4a68-9f11-e3d2e116a359" providerId="ADAL" clId="{A0D9DB44-A0AF-4A5F-8A8D-1CAF10B8DF49}" dt="2025-12-15T06:24:43.769" v="113" actId="20577"/>
          <ac:spMkLst>
            <pc:docMk/>
            <pc:sldMk cId="3519402986" sldId="281"/>
            <ac:spMk id="24" creationId="{FD930C03-7489-2769-92E5-A7416D63BD04}"/>
          </ac:spMkLst>
        </pc:spChg>
      </pc:sldChg>
      <pc:sldChg chg="addSp delSp modSp mod">
        <pc:chgData name="Wang,Dr.,Bo (HP Medicine) BII-CN-S" userId="950b8564-41e4-4a68-9f11-e3d2e116a359" providerId="ADAL" clId="{A0D9DB44-A0AF-4A5F-8A8D-1CAF10B8DF49}" dt="2025-12-14T14:35:13.116" v="94" actId="14100"/>
        <pc:sldMkLst>
          <pc:docMk/>
          <pc:sldMk cId="3218953394" sldId="303"/>
        </pc:sldMkLst>
        <pc:spChg chg="mod">
          <ac:chgData name="Wang,Dr.,Bo (HP Medicine) BII-CN-S" userId="950b8564-41e4-4a68-9f11-e3d2e116a359" providerId="ADAL" clId="{A0D9DB44-A0AF-4A5F-8A8D-1CAF10B8DF49}" dt="2025-12-14T14:33:56.589" v="86" actId="20577"/>
          <ac:spMkLst>
            <pc:docMk/>
            <pc:sldMk cId="3218953394" sldId="303"/>
            <ac:spMk id="8" creationId="{BA70E4D3-4180-6E3A-D16F-B61AF30BF95B}"/>
          </ac:spMkLst>
        </pc:spChg>
        <pc:picChg chg="add mod">
          <ac:chgData name="Wang,Dr.,Bo (HP Medicine) BII-CN-S" userId="950b8564-41e4-4a68-9f11-e3d2e116a359" providerId="ADAL" clId="{A0D9DB44-A0AF-4A5F-8A8D-1CAF10B8DF49}" dt="2025-12-14T14:35:13.116" v="94" actId="14100"/>
          <ac:picMkLst>
            <pc:docMk/>
            <pc:sldMk cId="3218953394" sldId="303"/>
            <ac:picMk id="7" creationId="{212808B7-0CB2-26C5-6388-11BE7718C0E7}"/>
          </ac:picMkLst>
        </pc:picChg>
        <pc:picChg chg="del">
          <ac:chgData name="Wang,Dr.,Bo (HP Medicine) BII-CN-S" userId="950b8564-41e4-4a68-9f11-e3d2e116a359" providerId="ADAL" clId="{A0D9DB44-A0AF-4A5F-8A8D-1CAF10B8DF49}" dt="2025-12-14T14:33:59.999" v="87" actId="478"/>
          <ac:picMkLst>
            <pc:docMk/>
            <pc:sldMk cId="3218953394" sldId="303"/>
            <ac:picMk id="15" creationId="{17E008F1-FB6C-7C32-7A06-D7B15B64AA5A}"/>
          </ac:picMkLst>
        </pc:picChg>
      </pc:sldChg>
      <pc:sldChg chg="mod modShow">
        <pc:chgData name="Wang,Dr.,Bo (HP Medicine) BII-CN-S" userId="950b8564-41e4-4a68-9f11-e3d2e116a359" providerId="ADAL" clId="{A0D9DB44-A0AF-4A5F-8A8D-1CAF10B8DF49}" dt="2025-12-15T06:04:36.143" v="97" actId="729"/>
        <pc:sldMkLst>
          <pc:docMk/>
          <pc:sldMk cId="1382724192" sldId="2147483647"/>
        </pc:sldMkLst>
      </pc:sldChg>
    </pc:docChg>
  </pc:docChgLst>
  <pc:docChgLst>
    <pc:chgData name="Zhu,Dr.,Yayun (HP Medicine) BII-CN-S" userId="S::yayun.zhu@boehringer-ingelheim.com::f923e91b-1433-4718-a9fb-37abca69f87f" providerId="AD" clId="Web-{E8CA36F6-91DB-E040-3F9D-DE8C90C58509}"/>
    <pc:docChg chg="modSld">
      <pc:chgData name="Zhu,Dr.,Yayun (HP Medicine) BII-CN-S" userId="S::yayun.zhu@boehringer-ingelheim.com::f923e91b-1433-4718-a9fb-37abca69f87f" providerId="AD" clId="Web-{E8CA36F6-91DB-E040-3F9D-DE8C90C58509}" dt="2025-12-14T01:44:13.425" v="163" actId="14100"/>
      <pc:docMkLst>
        <pc:docMk/>
      </pc:docMkLst>
      <pc:sldChg chg="mod modShow">
        <pc:chgData name="Zhu,Dr.,Yayun (HP Medicine) BII-CN-S" userId="S::yayun.zhu@boehringer-ingelheim.com::f923e91b-1433-4718-a9fb-37abca69f87f" providerId="AD" clId="Web-{E8CA36F6-91DB-E040-3F9D-DE8C90C58509}" dt="2025-12-14T01:33:02.007" v="1"/>
        <pc:sldMkLst>
          <pc:docMk/>
          <pc:sldMk cId="1590963127" sldId="261"/>
        </pc:sldMkLst>
      </pc:sldChg>
      <pc:sldChg chg="addSp delSp modSp">
        <pc:chgData name="Zhu,Dr.,Yayun (HP Medicine) BII-CN-S" userId="S::yayun.zhu@boehringer-ingelheim.com::f923e91b-1433-4718-a9fb-37abca69f87f" providerId="AD" clId="Web-{E8CA36F6-91DB-E040-3F9D-DE8C90C58509}" dt="2025-12-14T01:44:13.425" v="163" actId="14100"/>
        <pc:sldMkLst>
          <pc:docMk/>
          <pc:sldMk cId="1217884079" sldId="274"/>
        </pc:sldMkLst>
        <pc:spChg chg="mod">
          <ac:chgData name="Zhu,Dr.,Yayun (HP Medicine) BII-CN-S" userId="S::yayun.zhu@boehringer-ingelheim.com::f923e91b-1433-4718-a9fb-37abca69f87f" providerId="AD" clId="Web-{E8CA36F6-91DB-E040-3F9D-DE8C90C58509}" dt="2025-12-14T01:35:12.070" v="15" actId="1076"/>
          <ac:spMkLst>
            <pc:docMk/>
            <pc:sldMk cId="1217884079" sldId="274"/>
            <ac:spMk id="13" creationId="{990BC8EA-F4E8-E7B8-2983-C6562FC5C504}"/>
          </ac:spMkLst>
        </pc:spChg>
        <pc:spChg chg="mod">
          <ac:chgData name="Zhu,Dr.,Yayun (HP Medicine) BII-CN-S" userId="S::yayun.zhu@boehringer-ingelheim.com::f923e91b-1433-4718-a9fb-37abca69f87f" providerId="AD" clId="Web-{E8CA36F6-91DB-E040-3F9D-DE8C90C58509}" dt="2025-12-14T01:37:28.058" v="43"/>
          <ac:spMkLst>
            <pc:docMk/>
            <pc:sldMk cId="1217884079" sldId="274"/>
            <ac:spMk id="14" creationId="{02ADE21C-35BA-5319-A2F4-626F84638129}"/>
          </ac:spMkLst>
        </pc:spChg>
        <pc:spChg chg="mod">
          <ac:chgData name="Zhu,Dr.,Yayun (HP Medicine) BII-CN-S" userId="S::yayun.zhu@boehringer-ingelheim.com::f923e91b-1433-4718-a9fb-37abca69f87f" providerId="AD" clId="Web-{E8CA36F6-91DB-E040-3F9D-DE8C90C58509}" dt="2025-12-14T01:37:28.214" v="44"/>
          <ac:spMkLst>
            <pc:docMk/>
            <pc:sldMk cId="1217884079" sldId="274"/>
            <ac:spMk id="15" creationId="{92BE8E4B-BE5A-2719-4833-D1F5D614F20D}"/>
          </ac:spMkLst>
        </pc:spChg>
        <pc:spChg chg="mod">
          <ac:chgData name="Zhu,Dr.,Yayun (HP Medicine) BII-CN-S" userId="S::yayun.zhu@boehringer-ingelheim.com::f923e91b-1433-4718-a9fb-37abca69f87f" providerId="AD" clId="Web-{E8CA36F6-91DB-E040-3F9D-DE8C90C58509}" dt="2025-12-14T01:35:05.742" v="14" actId="1076"/>
          <ac:spMkLst>
            <pc:docMk/>
            <pc:sldMk cId="1217884079" sldId="274"/>
            <ac:spMk id="21" creationId="{64FAA735-966A-5B37-8AA3-B871775289C5}"/>
          </ac:spMkLst>
        </pc:spChg>
        <pc:spChg chg="add mod">
          <ac:chgData name="Zhu,Dr.,Yayun (HP Medicine) BII-CN-S" userId="S::yayun.zhu@boehringer-ingelheim.com::f923e91b-1433-4718-a9fb-37abca69f87f" providerId="AD" clId="Web-{E8CA36F6-91DB-E040-3F9D-DE8C90C58509}" dt="2025-12-14T01:35:26.945" v="20" actId="1076"/>
          <ac:spMkLst>
            <pc:docMk/>
            <pc:sldMk cId="1217884079" sldId="274"/>
            <ac:spMk id="32" creationId="{0514B4A9-7164-247D-20C5-36CF7AF207EE}"/>
          </ac:spMkLst>
        </pc:spChg>
        <pc:spChg chg="add mod">
          <ac:chgData name="Zhu,Dr.,Yayun (HP Medicine) BII-CN-S" userId="S::yayun.zhu@boehringer-ingelheim.com::f923e91b-1433-4718-a9fb-37abca69f87f" providerId="AD" clId="Web-{E8CA36F6-91DB-E040-3F9D-DE8C90C58509}" dt="2025-12-14T01:35:27.023" v="21" actId="1076"/>
          <ac:spMkLst>
            <pc:docMk/>
            <pc:sldMk cId="1217884079" sldId="274"/>
            <ac:spMk id="33" creationId="{29401BEB-56E3-8D93-49CD-F5007A876D76}"/>
          </ac:spMkLst>
        </pc:spChg>
        <pc:spChg chg="add mod">
          <ac:chgData name="Zhu,Dr.,Yayun (HP Medicine) BII-CN-S" userId="S::yayun.zhu@boehringer-ingelheim.com::f923e91b-1433-4718-a9fb-37abca69f87f" providerId="AD" clId="Web-{E8CA36F6-91DB-E040-3F9D-DE8C90C58509}" dt="2025-12-14T01:34:55.492" v="12" actId="1076"/>
          <ac:spMkLst>
            <pc:docMk/>
            <pc:sldMk cId="1217884079" sldId="274"/>
            <ac:spMk id="36" creationId="{2219D044-036F-B95E-C570-32281AFC1374}"/>
          </ac:spMkLst>
        </pc:spChg>
        <pc:spChg chg="add mod">
          <ac:chgData name="Zhu,Dr.,Yayun (HP Medicine) BII-CN-S" userId="S::yayun.zhu@boehringer-ingelheim.com::f923e91b-1433-4718-a9fb-37abca69f87f" providerId="AD" clId="Web-{E8CA36F6-91DB-E040-3F9D-DE8C90C58509}" dt="2025-12-14T01:35:18.445" v="17" actId="1076"/>
          <ac:spMkLst>
            <pc:docMk/>
            <pc:sldMk cId="1217884079" sldId="274"/>
            <ac:spMk id="42" creationId="{886288C5-9415-E479-5BFA-C942146E23B2}"/>
          </ac:spMkLst>
        </pc:spChg>
        <pc:spChg chg="add mod">
          <ac:chgData name="Zhu,Dr.,Yayun (HP Medicine) BII-CN-S" userId="S::yayun.zhu@boehringer-ingelheim.com::f923e91b-1433-4718-a9fb-37abca69f87f" providerId="AD" clId="Web-{E8CA36F6-91DB-E040-3F9D-DE8C90C58509}" dt="2025-12-14T01:44:13.425" v="163" actId="14100"/>
          <ac:spMkLst>
            <pc:docMk/>
            <pc:sldMk cId="1217884079" sldId="274"/>
            <ac:spMk id="80" creationId="{0B771654-3DAD-06BD-07F2-E96EF485D2D8}"/>
          </ac:spMkLst>
        </pc:spChg>
        <pc:spChg chg="add mod">
          <ac:chgData name="Zhu,Dr.,Yayun (HP Medicine) BII-CN-S" userId="S::yayun.zhu@boehringer-ingelheim.com::f923e91b-1433-4718-a9fb-37abca69f87f" providerId="AD" clId="Web-{E8CA36F6-91DB-E040-3F9D-DE8C90C58509}" dt="2025-12-14T01:42:11.986" v="130" actId="14100"/>
          <ac:spMkLst>
            <pc:docMk/>
            <pc:sldMk cId="1217884079" sldId="274"/>
            <ac:spMk id="86" creationId="{13FA461B-6262-1627-6C5E-A684536DA92B}"/>
          </ac:spMkLst>
        </pc:spChg>
        <pc:cxnChg chg="mod">
          <ac:chgData name="Zhu,Dr.,Yayun (HP Medicine) BII-CN-S" userId="S::yayun.zhu@boehringer-ingelheim.com::f923e91b-1433-4718-a9fb-37abca69f87f" providerId="AD" clId="Web-{E8CA36F6-91DB-E040-3F9D-DE8C90C58509}" dt="2025-12-14T01:42:38.768" v="133" actId="14100"/>
          <ac:cxnSpMkLst>
            <pc:docMk/>
            <pc:sldMk cId="1217884079" sldId="274"/>
            <ac:cxnSpMk id="2" creationId="{E1E35147-49F1-C0F0-A87C-DAF4F49F2A16}"/>
          </ac:cxnSpMkLst>
        </pc:cxnChg>
        <pc:cxnChg chg="mod">
          <ac:chgData name="Zhu,Dr.,Yayun (HP Medicine) BII-CN-S" userId="S::yayun.zhu@boehringer-ingelheim.com::f923e91b-1433-4718-a9fb-37abca69f87f" providerId="AD" clId="Web-{E8CA36F6-91DB-E040-3F9D-DE8C90C58509}" dt="2025-12-14T01:42:39.424" v="134"/>
          <ac:cxnSpMkLst>
            <pc:docMk/>
            <pc:sldMk cId="1217884079" sldId="274"/>
            <ac:cxnSpMk id="29" creationId="{7CA118D6-C8FD-F08B-2B55-1875CD6BE8BB}"/>
          </ac:cxnSpMkLst>
        </pc:cxnChg>
        <pc:cxnChg chg="add mod">
          <ac:chgData name="Zhu,Dr.,Yayun (HP Medicine) BII-CN-S" userId="S::yayun.zhu@boehringer-ingelheim.com::f923e91b-1433-4718-a9fb-37abca69f87f" providerId="AD" clId="Web-{E8CA36F6-91DB-E040-3F9D-DE8C90C58509}" dt="2025-12-14T01:36:49.869" v="36" actId="1076"/>
          <ac:cxnSpMkLst>
            <pc:docMk/>
            <pc:sldMk cId="1217884079" sldId="274"/>
            <ac:cxnSpMk id="46" creationId="{96778AB3-2387-E76E-31FB-8F0E6E4C3816}"/>
          </ac:cxnSpMkLst>
        </pc:cxnChg>
        <pc:cxnChg chg="add mod">
          <ac:chgData name="Zhu,Dr.,Yayun (HP Medicine) BII-CN-S" userId="S::yayun.zhu@boehringer-ingelheim.com::f923e91b-1433-4718-a9fb-37abca69f87f" providerId="AD" clId="Web-{E8CA36F6-91DB-E040-3F9D-DE8C90C58509}" dt="2025-12-14T01:36:59.260" v="40" actId="1076"/>
          <ac:cxnSpMkLst>
            <pc:docMk/>
            <pc:sldMk cId="1217884079" sldId="274"/>
            <ac:cxnSpMk id="61" creationId="{01321F15-CF92-F2D6-9178-C6B74F5A01F5}"/>
          </ac:cxnSpMkLst>
        </pc:cxnChg>
        <pc:cxnChg chg="add del mod">
          <ac:chgData name="Zhu,Dr.,Yayun (HP Medicine) BII-CN-S" userId="S::yayun.zhu@boehringer-ingelheim.com::f923e91b-1433-4718-a9fb-37abca69f87f" providerId="AD" clId="Web-{E8CA36F6-91DB-E040-3F9D-DE8C90C58509}" dt="2025-12-14T01:36:57.542" v="39"/>
          <ac:cxnSpMkLst>
            <pc:docMk/>
            <pc:sldMk cId="1217884079" sldId="274"/>
            <ac:cxnSpMk id="63" creationId="{84545F23-7E1B-EA88-F862-8297DE48468E}"/>
          </ac:cxnSpMkLst>
        </pc:cxnChg>
        <pc:cxnChg chg="add mod">
          <ac:chgData name="Zhu,Dr.,Yayun (HP Medicine) BII-CN-S" userId="S::yayun.zhu@boehringer-ingelheim.com::f923e91b-1433-4718-a9fb-37abca69f87f" providerId="AD" clId="Web-{E8CA36F6-91DB-E040-3F9D-DE8C90C58509}" dt="2025-12-14T01:41:39.861" v="122" actId="1076"/>
          <ac:cxnSpMkLst>
            <pc:docMk/>
            <pc:sldMk cId="1217884079" sldId="274"/>
            <ac:cxnSpMk id="84" creationId="{88B7E47E-E0EF-92BC-60D1-74719EE07117}"/>
          </ac:cxnSpMkLst>
        </pc:cxnChg>
      </pc:sldChg>
    </pc:docChg>
  </pc:docChgLst>
  <pc:docChgLst>
    <pc:chgData name="Zhu,Dr.,Yayun (HP Medicine) BII-CN-S" userId="S::yayun.zhu@boehringer-ingelheim.com::f923e91b-1433-4718-a9fb-37abca69f87f" providerId="AD" clId="Web-{B9E88076-464F-26E4-0601-56C3124C87BA}"/>
    <pc:docChg chg="modSld">
      <pc:chgData name="Zhu,Dr.,Yayun (HP Medicine) BII-CN-S" userId="S::yayun.zhu@boehringer-ingelheim.com::f923e91b-1433-4718-a9fb-37abca69f87f" providerId="AD" clId="Web-{B9E88076-464F-26E4-0601-56C3124C87BA}" dt="2025-12-12T03:40:46.654" v="10" actId="1076"/>
      <pc:docMkLst>
        <pc:docMk/>
      </pc:docMkLst>
      <pc:sldChg chg="modSp">
        <pc:chgData name="Zhu,Dr.,Yayun (HP Medicine) BII-CN-S" userId="S::yayun.zhu@boehringer-ingelheim.com::f923e91b-1433-4718-a9fb-37abca69f87f" providerId="AD" clId="Web-{B9E88076-464F-26E4-0601-56C3124C87BA}" dt="2025-12-12T03:40:46.654" v="10" actId="1076"/>
        <pc:sldMkLst>
          <pc:docMk/>
          <pc:sldMk cId="284758553" sldId="265"/>
        </pc:sldMkLst>
      </pc:sldChg>
    </pc:docChg>
  </pc:docChgLst>
  <pc:docChgLst>
    <pc:chgData name="Zhu,Dr.,Yayun (HP Medicine) BII-CN-S" userId="S::yayun.zhu@boehringer-ingelheim.com::f923e91b-1433-4718-a9fb-37abca69f87f" providerId="AD" clId="Web-{87FEFC01-F53E-FD2F-8836-37F63FCF5B2B}"/>
    <pc:docChg chg="addSld delSld modSld sldOrd modSection">
      <pc:chgData name="Zhu,Dr.,Yayun (HP Medicine) BII-CN-S" userId="S::yayun.zhu@boehringer-ingelheim.com::f923e91b-1433-4718-a9fb-37abca69f87f" providerId="AD" clId="Web-{87FEFC01-F53E-FD2F-8836-37F63FCF5B2B}" dt="2025-12-13T02:28:52.995" v="424"/>
      <pc:docMkLst>
        <pc:docMk/>
      </pc:docMkLst>
      <pc:sldChg chg="modSp add mod modShow">
        <pc:chgData name="Zhu,Dr.,Yayun (HP Medicine) BII-CN-S" userId="S::yayun.zhu@boehringer-ingelheim.com::f923e91b-1433-4718-a9fb-37abca69f87f" providerId="AD" clId="Web-{87FEFC01-F53E-FD2F-8836-37F63FCF5B2B}" dt="2025-12-13T01:49:41.401" v="215" actId="1076"/>
        <pc:sldMkLst>
          <pc:docMk/>
          <pc:sldMk cId="1590963127" sldId="261"/>
        </pc:sldMkLst>
      </pc:sldChg>
      <pc:sldChg chg="addSp delSp modSp add del ord">
        <pc:chgData name="Zhu,Dr.,Yayun (HP Medicine) BII-CN-S" userId="S::yayun.zhu@boehringer-ingelheim.com::f923e91b-1433-4718-a9fb-37abca69f87f" providerId="AD" clId="Web-{87FEFC01-F53E-FD2F-8836-37F63FCF5B2B}" dt="2025-12-13T01:46:16.678" v="208"/>
        <pc:sldMkLst>
          <pc:docMk/>
          <pc:sldMk cId="3676249893" sldId="263"/>
        </pc:sldMkLst>
        <pc:spChg chg="add mod">
          <ac:chgData name="Zhu,Dr.,Yayun (HP Medicine) BII-CN-S" userId="S::yayun.zhu@boehringer-ingelheim.com::f923e91b-1433-4718-a9fb-37abca69f87f" providerId="AD" clId="Web-{87FEFC01-F53E-FD2F-8836-37F63FCF5B2B}" dt="2025-12-13T01:43:07.655" v="134" actId="20577"/>
          <ac:spMkLst>
            <pc:docMk/>
            <pc:sldMk cId="3676249893" sldId="263"/>
            <ac:spMk id="4" creationId="{11FDFFB8-02E9-63A1-A75A-86006A6E4672}"/>
          </ac:spMkLst>
        </pc:spChg>
        <pc:spChg chg="add mod">
          <ac:chgData name="Zhu,Dr.,Yayun (HP Medicine) BII-CN-S" userId="S::yayun.zhu@boehringer-ingelheim.com::f923e91b-1433-4718-a9fb-37abca69f87f" providerId="AD" clId="Web-{87FEFC01-F53E-FD2F-8836-37F63FCF5B2B}" dt="2025-12-13T01:41:31.418" v="111" actId="1076"/>
          <ac:spMkLst>
            <pc:docMk/>
            <pc:sldMk cId="3676249893" sldId="263"/>
            <ac:spMk id="9" creationId="{A5B0DCF5-6D9A-9E67-D79C-372413014EDD}"/>
          </ac:spMkLst>
        </pc:spChg>
        <pc:graphicFrameChg chg="mod modGraphic">
          <ac:chgData name="Zhu,Dr.,Yayun (HP Medicine) BII-CN-S" userId="S::yayun.zhu@boehringer-ingelheim.com::f923e91b-1433-4718-a9fb-37abca69f87f" providerId="AD" clId="Web-{87FEFC01-F53E-FD2F-8836-37F63FCF5B2B}" dt="2025-12-13T01:44:36.346" v="201"/>
          <ac:graphicFrameMkLst>
            <pc:docMk/>
            <pc:sldMk cId="3676249893" sldId="263"/>
            <ac:graphicFrameMk id="19" creationId="{02D1E30C-1E5C-AFEE-8B01-667413FA2D84}"/>
          </ac:graphicFrameMkLst>
        </pc:graphicFrameChg>
        <pc:graphicFrameChg chg="mod modGraphic">
          <ac:chgData name="Zhu,Dr.,Yayun (HP Medicine) BII-CN-S" userId="S::yayun.zhu@boehringer-ingelheim.com::f923e91b-1433-4718-a9fb-37abca69f87f" providerId="AD" clId="Web-{87FEFC01-F53E-FD2F-8836-37F63FCF5B2B}" dt="2025-12-13T01:46:16.678" v="208"/>
          <ac:graphicFrameMkLst>
            <pc:docMk/>
            <pc:sldMk cId="3676249893" sldId="263"/>
            <ac:graphicFrameMk id="1849" creationId="{EB6236BF-BAF5-DAFC-B318-4DC6CCF63370}"/>
          </ac:graphicFrameMkLst>
        </pc:graphicFrameChg>
        <pc:picChg chg="add mod">
          <ac:chgData name="Zhu,Dr.,Yayun (HP Medicine) BII-CN-S" userId="S::yayun.zhu@boehringer-ingelheim.com::f923e91b-1433-4718-a9fb-37abca69f87f" providerId="AD" clId="Web-{87FEFC01-F53E-FD2F-8836-37F63FCF5B2B}" dt="2025-12-13T01:41:24.137" v="109" actId="1076"/>
          <ac:picMkLst>
            <pc:docMk/>
            <pc:sldMk cId="3676249893" sldId="263"/>
            <ac:picMk id="3" creationId="{7EF32C89-F8B3-DD7B-278E-82F393B7D92E}"/>
          </ac:picMkLst>
        </pc:picChg>
        <pc:picChg chg="add mod">
          <ac:chgData name="Zhu,Dr.,Yayun (HP Medicine) BII-CN-S" userId="S::yayun.zhu@boehringer-ingelheim.com::f923e91b-1433-4718-a9fb-37abca69f87f" providerId="AD" clId="Web-{87FEFC01-F53E-FD2F-8836-37F63FCF5B2B}" dt="2025-12-13T01:40:41.261" v="85" actId="1076"/>
          <ac:picMkLst>
            <pc:docMk/>
            <pc:sldMk cId="3676249893" sldId="263"/>
            <ac:picMk id="5" creationId="{D7EF9E58-6753-EF3E-4407-A65271C73451}"/>
          </ac:picMkLst>
        </pc:picChg>
      </pc:sldChg>
      <pc:sldChg chg="delSp modSp">
        <pc:chgData name="Zhu,Dr.,Yayun (HP Medicine) BII-CN-S" userId="S::yayun.zhu@boehringer-ingelheim.com::f923e91b-1433-4718-a9fb-37abca69f87f" providerId="AD" clId="Web-{87FEFC01-F53E-FD2F-8836-37F63FCF5B2B}" dt="2025-12-13T01:48:53.806" v="212" actId="14100"/>
        <pc:sldMkLst>
          <pc:docMk/>
          <pc:sldMk cId="284758553" sldId="265"/>
        </pc:sldMkLst>
        <pc:spChg chg="mod">
          <ac:chgData name="Zhu,Dr.,Yayun (HP Medicine) BII-CN-S" userId="S::yayun.zhu@boehringer-ingelheim.com::f923e91b-1433-4718-a9fb-37abca69f87f" providerId="AD" clId="Web-{87FEFC01-F53E-FD2F-8836-37F63FCF5B2B}" dt="2025-12-13T01:48:53.806" v="212" actId="14100"/>
          <ac:spMkLst>
            <pc:docMk/>
            <pc:sldMk cId="284758553" sldId="265"/>
            <ac:spMk id="4" creationId="{9A899776-1233-B314-6FA4-A6D4BFD16F2F}"/>
          </ac:spMkLst>
        </pc:spChg>
        <pc:spChg chg="mod">
          <ac:chgData name="Zhu,Dr.,Yayun (HP Medicine) BII-CN-S" userId="S::yayun.zhu@boehringer-ingelheim.com::f923e91b-1433-4718-a9fb-37abca69f87f" providerId="AD" clId="Web-{87FEFC01-F53E-FD2F-8836-37F63FCF5B2B}" dt="2025-12-13T01:22:46.252" v="4" actId="1076"/>
          <ac:spMkLst>
            <pc:docMk/>
            <pc:sldMk cId="284758553" sldId="265"/>
            <ac:spMk id="89" creationId="{12764D8D-3124-312D-135D-C7A521C85A41}"/>
          </ac:spMkLst>
        </pc:spChg>
        <pc:grpChg chg="mod">
          <ac:chgData name="Zhu,Dr.,Yayun (HP Medicine) BII-CN-S" userId="S::yayun.zhu@boehringer-ingelheim.com::f923e91b-1433-4718-a9fb-37abca69f87f" providerId="AD" clId="Web-{87FEFC01-F53E-FD2F-8836-37F63FCF5B2B}" dt="2025-12-13T01:22:33.220" v="3" actId="1076"/>
          <ac:grpSpMkLst>
            <pc:docMk/>
            <pc:sldMk cId="284758553" sldId="265"/>
            <ac:grpSpMk id="87" creationId="{1C6470EB-CA35-0577-9858-B6E1F6C9762E}"/>
          </ac:grpSpMkLst>
        </pc:grpChg>
      </pc:sldChg>
      <pc:sldChg chg="addSp delSp modSp add">
        <pc:chgData name="Zhu,Dr.,Yayun (HP Medicine) BII-CN-S" userId="S::yayun.zhu@boehringer-ingelheim.com::f923e91b-1433-4718-a9fb-37abca69f87f" providerId="AD" clId="Web-{87FEFC01-F53E-FD2F-8836-37F63FCF5B2B}" dt="2025-12-13T02:28:52.995" v="424"/>
        <pc:sldMkLst>
          <pc:docMk/>
          <pc:sldMk cId="1217884079" sldId="274"/>
        </pc:sldMkLst>
        <pc:spChg chg="add mod">
          <ac:chgData name="Zhu,Dr.,Yayun (HP Medicine) BII-CN-S" userId="S::yayun.zhu@boehringer-ingelheim.com::f923e91b-1433-4718-a9fb-37abca69f87f" providerId="AD" clId="Web-{87FEFC01-F53E-FD2F-8836-37F63FCF5B2B}" dt="2025-12-13T02:19:46.592" v="320" actId="1076"/>
          <ac:spMkLst>
            <pc:docMk/>
            <pc:sldMk cId="1217884079" sldId="274"/>
            <ac:spMk id="3" creationId="{A5A781D4-8248-9CFC-E78F-B81CA39404D1}"/>
          </ac:spMkLst>
        </pc:spChg>
        <pc:spChg chg="add mod">
          <ac:chgData name="Zhu,Dr.,Yayun (HP Medicine) BII-CN-S" userId="S::yayun.zhu@boehringer-ingelheim.com::f923e91b-1433-4718-a9fb-37abca69f87f" providerId="AD" clId="Web-{87FEFC01-F53E-FD2F-8836-37F63FCF5B2B}" dt="2025-12-13T02:19:46.654" v="321" actId="1076"/>
          <ac:spMkLst>
            <pc:docMk/>
            <pc:sldMk cId="1217884079" sldId="274"/>
            <ac:spMk id="4" creationId="{095C40C2-06DF-82EF-DC2F-3C23867BF48C}"/>
          </ac:spMkLst>
        </pc:spChg>
        <pc:spChg chg="mod">
          <ac:chgData name="Zhu,Dr.,Yayun (HP Medicine) BII-CN-S" userId="S::yayun.zhu@boehringer-ingelheim.com::f923e91b-1433-4718-a9fb-37abca69f87f" providerId="AD" clId="Web-{87FEFC01-F53E-FD2F-8836-37F63FCF5B2B}" dt="2025-12-13T02:24:41.596" v="379" actId="14100"/>
          <ac:spMkLst>
            <pc:docMk/>
            <pc:sldMk cId="1217884079" sldId="274"/>
            <ac:spMk id="10" creationId="{4399AABB-F84C-BAAB-D4C3-3A146B729A23}"/>
          </ac:spMkLst>
        </pc:spChg>
        <pc:spChg chg="mod">
          <ac:chgData name="Zhu,Dr.,Yayun (HP Medicine) BII-CN-S" userId="S::yayun.zhu@boehringer-ingelheim.com::f923e91b-1433-4718-a9fb-37abca69f87f" providerId="AD" clId="Web-{87FEFC01-F53E-FD2F-8836-37F63FCF5B2B}" dt="2025-12-13T01:54:50.077" v="265" actId="14100"/>
          <ac:spMkLst>
            <pc:docMk/>
            <pc:sldMk cId="1217884079" sldId="274"/>
            <ac:spMk id="11" creationId="{DA1736F1-AD10-4198-C3B9-A01697DE8EE4}"/>
          </ac:spMkLst>
        </pc:spChg>
        <pc:spChg chg="add mod">
          <ac:chgData name="Zhu,Dr.,Yayun (HP Medicine) BII-CN-S" userId="S::yayun.zhu@boehringer-ingelheim.com::f923e91b-1433-4718-a9fb-37abca69f87f" providerId="AD" clId="Web-{87FEFC01-F53E-FD2F-8836-37F63FCF5B2B}" dt="2025-12-13T02:27:12.102" v="397" actId="1076"/>
          <ac:spMkLst>
            <pc:docMk/>
            <pc:sldMk cId="1217884079" sldId="274"/>
            <ac:spMk id="13" creationId="{990BC8EA-F4E8-E7B8-2983-C6562FC5C504}"/>
          </ac:spMkLst>
        </pc:spChg>
        <pc:spChg chg="add mod">
          <ac:chgData name="Zhu,Dr.,Yayun (HP Medicine) BII-CN-S" userId="S::yayun.zhu@boehringer-ingelheim.com::f923e91b-1433-4718-a9fb-37abca69f87f" providerId="AD" clId="Web-{87FEFC01-F53E-FD2F-8836-37F63FCF5B2B}" dt="2025-12-13T02:19:25.701" v="316"/>
          <ac:spMkLst>
            <pc:docMk/>
            <pc:sldMk cId="1217884079" sldId="274"/>
            <ac:spMk id="14" creationId="{02ADE21C-35BA-5319-A2F4-626F84638129}"/>
          </ac:spMkLst>
        </pc:spChg>
        <pc:spChg chg="add mod">
          <ac:chgData name="Zhu,Dr.,Yayun (HP Medicine) BII-CN-S" userId="S::yayun.zhu@boehringer-ingelheim.com::f923e91b-1433-4718-a9fb-37abca69f87f" providerId="AD" clId="Web-{87FEFC01-F53E-FD2F-8836-37F63FCF5B2B}" dt="2025-12-13T02:19:25.842" v="317"/>
          <ac:spMkLst>
            <pc:docMk/>
            <pc:sldMk cId="1217884079" sldId="274"/>
            <ac:spMk id="15" creationId="{92BE8E4B-BE5A-2719-4833-D1F5D614F20D}"/>
          </ac:spMkLst>
        </pc:spChg>
        <pc:spChg chg="add mod">
          <ac:chgData name="Zhu,Dr.,Yayun (HP Medicine) BII-CN-S" userId="S::yayun.zhu@boehringer-ingelheim.com::f923e91b-1433-4718-a9fb-37abca69f87f" providerId="AD" clId="Web-{87FEFC01-F53E-FD2F-8836-37F63FCF5B2B}" dt="2025-12-13T02:27:27.556" v="399" actId="1076"/>
          <ac:spMkLst>
            <pc:docMk/>
            <pc:sldMk cId="1217884079" sldId="274"/>
            <ac:spMk id="16" creationId="{C6C77E91-5FAD-C70D-0DF1-3830F679C1F6}"/>
          </ac:spMkLst>
        </pc:spChg>
        <pc:spChg chg="add mod">
          <ac:chgData name="Zhu,Dr.,Yayun (HP Medicine) BII-CN-S" userId="S::yayun.zhu@boehringer-ingelheim.com::f923e91b-1433-4718-a9fb-37abca69f87f" providerId="AD" clId="Web-{87FEFC01-F53E-FD2F-8836-37F63FCF5B2B}" dt="2025-12-13T02:27:27.696" v="401" actId="1076"/>
          <ac:spMkLst>
            <pc:docMk/>
            <pc:sldMk cId="1217884079" sldId="274"/>
            <ac:spMk id="18" creationId="{CDDF23BD-1DD6-006E-6792-172A3CBD30DD}"/>
          </ac:spMkLst>
        </pc:spChg>
        <pc:spChg chg="add mod">
          <ac:chgData name="Zhu,Dr.,Yayun (HP Medicine) BII-CN-S" userId="S::yayun.zhu@boehringer-ingelheim.com::f923e91b-1433-4718-a9fb-37abca69f87f" providerId="AD" clId="Web-{87FEFC01-F53E-FD2F-8836-37F63FCF5B2B}" dt="2025-12-13T02:27:27.759" v="402" actId="1076"/>
          <ac:spMkLst>
            <pc:docMk/>
            <pc:sldMk cId="1217884079" sldId="274"/>
            <ac:spMk id="19" creationId="{96C1EC9F-80B8-3665-A462-D5D53DDEEC99}"/>
          </ac:spMkLst>
        </pc:spChg>
        <pc:spChg chg="add mod">
          <ac:chgData name="Zhu,Dr.,Yayun (HP Medicine) BII-CN-S" userId="S::yayun.zhu@boehringer-ingelheim.com::f923e91b-1433-4718-a9fb-37abca69f87f" providerId="AD" clId="Web-{87FEFC01-F53E-FD2F-8836-37F63FCF5B2B}" dt="2025-12-13T02:27:35.509" v="407" actId="1076"/>
          <ac:spMkLst>
            <pc:docMk/>
            <pc:sldMk cId="1217884079" sldId="274"/>
            <ac:spMk id="21" creationId="{64FAA735-966A-5B37-8AA3-B871775289C5}"/>
          </ac:spMkLst>
        </pc:spChg>
        <pc:spChg chg="add mod">
          <ac:chgData name="Zhu,Dr.,Yayun (HP Medicine) BII-CN-S" userId="S::yayun.zhu@boehringer-ingelheim.com::f923e91b-1433-4718-a9fb-37abca69f87f" providerId="AD" clId="Web-{87FEFC01-F53E-FD2F-8836-37F63FCF5B2B}" dt="2025-12-13T02:28:05.103" v="415" actId="20577"/>
          <ac:spMkLst>
            <pc:docMk/>
            <pc:sldMk cId="1217884079" sldId="274"/>
            <ac:spMk id="22" creationId="{990BC8EA-F4E8-E7B8-2983-C6562FC5C504}"/>
          </ac:spMkLst>
        </pc:spChg>
        <pc:spChg chg="add mod">
          <ac:chgData name="Zhu,Dr.,Yayun (HP Medicine) BII-CN-S" userId="S::yayun.zhu@boehringer-ingelheim.com::f923e91b-1433-4718-a9fb-37abca69f87f" providerId="AD" clId="Web-{87FEFC01-F53E-FD2F-8836-37F63FCF5B2B}" dt="2025-12-13T02:28:05.978" v="416" actId="20577"/>
          <ac:spMkLst>
            <pc:docMk/>
            <pc:sldMk cId="1217884079" sldId="274"/>
            <ac:spMk id="23" creationId="{EE584530-D5F4-29DE-0EEE-D0694C011AED}"/>
          </ac:spMkLst>
        </pc:spChg>
        <pc:spChg chg="mod">
          <ac:chgData name="Zhu,Dr.,Yayun (HP Medicine) BII-CN-S" userId="S::yayun.zhu@boehringer-ingelheim.com::f923e91b-1433-4718-a9fb-37abca69f87f" providerId="AD" clId="Web-{87FEFC01-F53E-FD2F-8836-37F63FCF5B2B}" dt="2025-12-13T01:55:55.613" v="268" actId="14100"/>
          <ac:spMkLst>
            <pc:docMk/>
            <pc:sldMk cId="1217884079" sldId="274"/>
            <ac:spMk id="45" creationId="{AC296670-2EEE-42F2-D725-0687C4F50E8B}"/>
          </ac:spMkLst>
        </pc:spChg>
        <pc:spChg chg="mod">
          <ac:chgData name="Zhu,Dr.,Yayun (HP Medicine) BII-CN-S" userId="S::yayun.zhu@boehringer-ingelheim.com::f923e91b-1433-4718-a9fb-37abca69f87f" providerId="AD" clId="Web-{87FEFC01-F53E-FD2F-8836-37F63FCF5B2B}" dt="2025-12-13T01:58:01.880" v="287" actId="1076"/>
          <ac:spMkLst>
            <pc:docMk/>
            <pc:sldMk cId="1217884079" sldId="274"/>
            <ac:spMk id="49" creationId="{B32479EB-6F90-3AFC-5C00-85BED9459D0E}"/>
          </ac:spMkLst>
        </pc:spChg>
        <pc:spChg chg="mod">
          <ac:chgData name="Zhu,Dr.,Yayun (HP Medicine) BII-CN-S" userId="S::yayun.zhu@boehringer-ingelheim.com::f923e91b-1433-4718-a9fb-37abca69f87f" providerId="AD" clId="Web-{87FEFC01-F53E-FD2F-8836-37F63FCF5B2B}" dt="2025-12-13T01:56:05.254" v="269" actId="14100"/>
          <ac:spMkLst>
            <pc:docMk/>
            <pc:sldMk cId="1217884079" sldId="274"/>
            <ac:spMk id="65" creationId="{E1CD7819-EA99-39C4-6CF2-B50488F28504}"/>
          </ac:spMkLst>
        </pc:spChg>
        <pc:spChg chg="mod">
          <ac:chgData name="Zhu,Dr.,Yayun (HP Medicine) BII-CN-S" userId="S::yayun.zhu@boehringer-ingelheim.com::f923e91b-1433-4718-a9fb-37abca69f87f" providerId="AD" clId="Web-{87FEFC01-F53E-FD2F-8836-37F63FCF5B2B}" dt="2025-12-13T01:53:05.982" v="217" actId="1076"/>
          <ac:spMkLst>
            <pc:docMk/>
            <pc:sldMk cId="1217884079" sldId="274"/>
            <ac:spMk id="83" creationId="{DA954F20-A30E-906C-9815-E8BB639D7126}"/>
          </ac:spMkLst>
        </pc:spChg>
        <pc:grpChg chg="mod">
          <ac:chgData name="Zhu,Dr.,Yayun (HP Medicine) BII-CN-S" userId="S::yayun.zhu@boehringer-ingelheim.com::f923e91b-1433-4718-a9fb-37abca69f87f" providerId="AD" clId="Web-{87FEFC01-F53E-FD2F-8836-37F63FCF5B2B}" dt="2025-12-13T01:58:41.630" v="294" actId="1076"/>
          <ac:grpSpMkLst>
            <pc:docMk/>
            <pc:sldMk cId="1217884079" sldId="274"/>
            <ac:grpSpMk id="44" creationId="{8F8CC1BE-E777-7124-604F-F3EA5232FBAE}"/>
          </ac:grpSpMkLst>
        </pc:grpChg>
        <pc:graphicFrameChg chg="mod modGraphic">
          <ac:chgData name="Zhu,Dr.,Yayun (HP Medicine) BII-CN-S" userId="S::yayun.zhu@boehringer-ingelheim.com::f923e91b-1433-4718-a9fb-37abca69f87f" providerId="AD" clId="Web-{87FEFC01-F53E-FD2F-8836-37F63FCF5B2B}" dt="2025-12-13T01:54:42.061" v="263"/>
          <ac:graphicFrameMkLst>
            <pc:docMk/>
            <pc:sldMk cId="1217884079" sldId="274"/>
            <ac:graphicFrameMk id="9" creationId="{25173B41-C4CE-25F9-1B01-AAD5A8993EBD}"/>
          </ac:graphicFrameMkLst>
        </pc:graphicFrameChg>
        <pc:picChg chg="mod">
          <ac:chgData name="Zhu,Dr.,Yayun (HP Medicine) BII-CN-S" userId="S::yayun.zhu@boehringer-ingelheim.com::f923e91b-1433-4718-a9fb-37abca69f87f" providerId="AD" clId="Web-{87FEFC01-F53E-FD2F-8836-37F63FCF5B2B}" dt="2025-12-13T01:53:06.044" v="218" actId="1076"/>
          <ac:picMkLst>
            <pc:docMk/>
            <pc:sldMk cId="1217884079" sldId="274"/>
            <ac:picMk id="102" creationId="{EBCB071F-643D-9C12-4AEF-AFC93DF83EBB}"/>
          </ac:picMkLst>
        </pc:picChg>
        <pc:cxnChg chg="add mod">
          <ac:chgData name="Zhu,Dr.,Yayun (HP Medicine) BII-CN-S" userId="S::yayun.zhu@boehringer-ingelheim.com::f923e91b-1433-4718-a9fb-37abca69f87f" providerId="AD" clId="Web-{87FEFC01-F53E-FD2F-8836-37F63FCF5B2B}" dt="2025-12-13T01:57:32.129" v="281" actId="14100"/>
          <ac:cxnSpMkLst>
            <pc:docMk/>
            <pc:sldMk cId="1217884079" sldId="274"/>
            <ac:cxnSpMk id="2" creationId="{E1E35147-49F1-C0F0-A87C-DAF4F49F2A16}"/>
          </ac:cxnSpMkLst>
        </pc:cxnChg>
      </pc:sldChg>
      <pc:sldChg chg="modSp add del">
        <pc:chgData name="Zhu,Dr.,Yayun (HP Medicine) BII-CN-S" userId="S::yayun.zhu@boehringer-ingelheim.com::f923e91b-1433-4718-a9fb-37abca69f87f" providerId="AD" clId="Web-{87FEFC01-F53E-FD2F-8836-37F63FCF5B2B}" dt="2025-12-13T01:48:35.556" v="211"/>
        <pc:sldMkLst>
          <pc:docMk/>
          <pc:sldMk cId="3504837866" sldId="279"/>
        </pc:sldMkLst>
        <pc:spChg chg="mod">
          <ac:chgData name="Zhu,Dr.,Yayun (HP Medicine) BII-CN-S" userId="S::yayun.zhu@boehringer-ingelheim.com::f923e91b-1433-4718-a9fb-37abca69f87f" providerId="AD" clId="Web-{87FEFC01-F53E-FD2F-8836-37F63FCF5B2B}" dt="2025-12-13T01:48:35.556" v="211"/>
          <ac:spMkLst>
            <pc:docMk/>
            <pc:sldMk cId="3504837866" sldId="279"/>
            <ac:spMk id="4" creationId="{9BD6F35B-A17C-2BE4-A429-1E8C500F3DF2}"/>
          </ac:spMkLst>
        </pc:spChg>
      </pc:sldChg>
      <pc:sldChg chg="modSp add del">
        <pc:chgData name="Zhu,Dr.,Yayun (HP Medicine) BII-CN-S" userId="S::yayun.zhu@boehringer-ingelheim.com::f923e91b-1433-4718-a9fb-37abca69f87f" providerId="AD" clId="Web-{87FEFC01-F53E-FD2F-8836-37F63FCF5B2B}" dt="2025-12-13T01:45:25.114" v="202" actId="14100"/>
        <pc:sldMkLst>
          <pc:docMk/>
          <pc:sldMk cId="3652696090" sldId="282"/>
        </pc:sldMkLst>
        <pc:picChg chg="mod">
          <ac:chgData name="Zhu,Dr.,Yayun (HP Medicine) BII-CN-S" userId="S::yayun.zhu@boehringer-ingelheim.com::f923e91b-1433-4718-a9fb-37abca69f87f" providerId="AD" clId="Web-{87FEFC01-F53E-FD2F-8836-37F63FCF5B2B}" dt="2025-12-13T01:45:25.114" v="202" actId="14100"/>
          <ac:picMkLst>
            <pc:docMk/>
            <pc:sldMk cId="3652696090" sldId="282"/>
            <ac:picMk id="6" creationId="{FC95D172-6D77-9B7C-5F91-E90D5785BCE6}"/>
          </ac:picMkLst>
        </pc:picChg>
      </pc:sldChg>
      <pc:sldChg chg="modSp add del">
        <pc:chgData name="Zhu,Dr.,Yayun (HP Medicine) BII-CN-S" userId="S::yayun.zhu@boehringer-ingelheim.com::f923e91b-1433-4718-a9fb-37abca69f87f" providerId="AD" clId="Web-{87FEFC01-F53E-FD2F-8836-37F63FCF5B2B}" dt="2025-12-13T01:48:25.712" v="210"/>
        <pc:sldMkLst>
          <pc:docMk/>
          <pc:sldMk cId="3340652957" sldId="293"/>
        </pc:sldMkLst>
        <pc:spChg chg="mod">
          <ac:chgData name="Zhu,Dr.,Yayun (HP Medicine) BII-CN-S" userId="S::yayun.zhu@boehringer-ingelheim.com::f923e91b-1433-4718-a9fb-37abca69f87f" providerId="AD" clId="Web-{87FEFC01-F53E-FD2F-8836-37F63FCF5B2B}" dt="2025-12-13T01:48:25.712" v="210"/>
          <ac:spMkLst>
            <pc:docMk/>
            <pc:sldMk cId="3340652957" sldId="293"/>
            <ac:spMk id="6" creationId="{48EA2897-7ABA-2293-4AC6-8BEF9F8BCD54}"/>
          </ac:spMkLst>
        </pc:spChg>
      </pc:sldChg>
      <pc:sldChg chg="add del">
        <pc:chgData name="Zhu,Dr.,Yayun (HP Medicine) BII-CN-S" userId="S::yayun.zhu@boehringer-ingelheim.com::f923e91b-1433-4718-a9fb-37abca69f87f" providerId="AD" clId="Web-{87FEFC01-F53E-FD2F-8836-37F63FCF5B2B}" dt="2025-12-13T01:34:39.211" v="16"/>
        <pc:sldMkLst>
          <pc:docMk/>
          <pc:sldMk cId="1057953848" sldId="294"/>
        </pc:sldMkLst>
      </pc:sldChg>
    </pc:docChg>
  </pc:docChgLst>
  <pc:docChgLst>
    <pc:chgData name="Zhu,Dr.,Yayun (HP Medicine) BII-CN-S" userId="S::yayun.zhu@boehringer-ingelheim.com::f923e91b-1433-4718-a9fb-37abca69f87f" providerId="AD" clId="Web-{66F01B1E-8995-1174-E23C-3078D5658EE1}"/>
    <pc:docChg chg="addSld delSld modSld modSection">
      <pc:chgData name="Zhu,Dr.,Yayun (HP Medicine) BII-CN-S" userId="S::yayun.zhu@boehringer-ingelheim.com::f923e91b-1433-4718-a9fb-37abca69f87f" providerId="AD" clId="Web-{66F01B1E-8995-1174-E23C-3078D5658EE1}" dt="2025-12-15T07:09:27.304" v="30"/>
      <pc:docMkLst>
        <pc:docMk/>
      </pc:docMkLst>
      <pc:sldChg chg="modSp">
        <pc:chgData name="Zhu,Dr.,Yayun (HP Medicine) BII-CN-S" userId="S::yayun.zhu@boehringer-ingelheim.com::f923e91b-1433-4718-a9fb-37abca69f87f" providerId="AD" clId="Web-{66F01B1E-8995-1174-E23C-3078D5658EE1}" dt="2025-12-15T06:27:08.137" v="11" actId="14100"/>
        <pc:sldMkLst>
          <pc:docMk/>
          <pc:sldMk cId="1590963127" sldId="261"/>
        </pc:sldMkLst>
        <pc:spChg chg="mod">
          <ac:chgData name="Zhu,Dr.,Yayun (HP Medicine) BII-CN-S" userId="S::yayun.zhu@boehringer-ingelheim.com::f923e91b-1433-4718-a9fb-37abca69f87f" providerId="AD" clId="Web-{66F01B1E-8995-1174-E23C-3078D5658EE1}" dt="2025-12-15T06:27:08.137" v="11" actId="14100"/>
          <ac:spMkLst>
            <pc:docMk/>
            <pc:sldMk cId="1590963127" sldId="261"/>
            <ac:spMk id="3" creationId="{57A6748C-45F6-7374-287E-5DE721C5B32A}"/>
          </ac:spMkLst>
        </pc:spChg>
      </pc:sldChg>
      <pc:sldChg chg="modSp">
        <pc:chgData name="Zhu,Dr.,Yayun (HP Medicine) BII-CN-S" userId="S::yayun.zhu@boehringer-ingelheim.com::f923e91b-1433-4718-a9fb-37abca69f87f" providerId="AD" clId="Web-{66F01B1E-8995-1174-E23C-3078D5658EE1}" dt="2025-12-15T06:24:20.323" v="10" actId="1076"/>
        <pc:sldMkLst>
          <pc:docMk/>
          <pc:sldMk cId="3676249893" sldId="263"/>
        </pc:sldMkLst>
        <pc:spChg chg="mod">
          <ac:chgData name="Zhu,Dr.,Yayun (HP Medicine) BII-CN-S" userId="S::yayun.zhu@boehringer-ingelheim.com::f923e91b-1433-4718-a9fb-37abca69f87f" providerId="AD" clId="Web-{66F01B1E-8995-1174-E23C-3078D5658EE1}" dt="2025-12-15T06:24:20.261" v="8" actId="1076"/>
          <ac:spMkLst>
            <pc:docMk/>
            <pc:sldMk cId="3676249893" sldId="263"/>
            <ac:spMk id="4" creationId="{11FDFFB8-02E9-63A1-A75A-86006A6E4672}"/>
          </ac:spMkLst>
        </pc:spChg>
        <pc:spChg chg="mod">
          <ac:chgData name="Zhu,Dr.,Yayun (HP Medicine) BII-CN-S" userId="S::yayun.zhu@boehringer-ingelheim.com::f923e91b-1433-4718-a9fb-37abca69f87f" providerId="AD" clId="Web-{66F01B1E-8995-1174-E23C-3078D5658EE1}" dt="2025-12-15T06:24:20.323" v="10" actId="1076"/>
          <ac:spMkLst>
            <pc:docMk/>
            <pc:sldMk cId="3676249893" sldId="263"/>
            <ac:spMk id="9" creationId="{A5B0DCF5-6D9A-9E67-D79C-372413014EDD}"/>
          </ac:spMkLst>
        </pc:spChg>
        <pc:graphicFrameChg chg="mod">
          <ac:chgData name="Zhu,Dr.,Yayun (HP Medicine) BII-CN-S" userId="S::yayun.zhu@boehringer-ingelheim.com::f923e91b-1433-4718-a9fb-37abca69f87f" providerId="AD" clId="Web-{66F01B1E-8995-1174-E23C-3078D5658EE1}" dt="2025-12-15T06:24:20.183" v="6" actId="1076"/>
          <ac:graphicFrameMkLst>
            <pc:docMk/>
            <pc:sldMk cId="3676249893" sldId="263"/>
            <ac:graphicFrameMk id="1849" creationId="{EB6236BF-BAF5-DAFC-B318-4DC6CCF63370}"/>
          </ac:graphicFrameMkLst>
        </pc:graphicFrameChg>
        <pc:picChg chg="mod">
          <ac:chgData name="Zhu,Dr.,Yayun (HP Medicine) BII-CN-S" userId="S::yayun.zhu@boehringer-ingelheim.com::f923e91b-1433-4718-a9fb-37abca69f87f" providerId="AD" clId="Web-{66F01B1E-8995-1174-E23C-3078D5658EE1}" dt="2025-12-15T06:24:20.214" v="7" actId="1076"/>
          <ac:picMkLst>
            <pc:docMk/>
            <pc:sldMk cId="3676249893" sldId="263"/>
            <ac:picMk id="3" creationId="{7EF32C89-F8B3-DD7B-278E-82F393B7D92E}"/>
          </ac:picMkLst>
        </pc:picChg>
        <pc:picChg chg="mod">
          <ac:chgData name="Zhu,Dr.,Yayun (HP Medicine) BII-CN-S" userId="S::yayun.zhu@boehringer-ingelheim.com::f923e91b-1433-4718-a9fb-37abca69f87f" providerId="AD" clId="Web-{66F01B1E-8995-1174-E23C-3078D5658EE1}" dt="2025-12-15T06:24:20.292" v="9" actId="1076"/>
          <ac:picMkLst>
            <pc:docMk/>
            <pc:sldMk cId="3676249893" sldId="263"/>
            <ac:picMk id="5" creationId="{D7EF9E58-6753-EF3E-4407-A65271C73451}"/>
          </ac:picMkLst>
        </pc:picChg>
      </pc:sldChg>
      <pc:sldChg chg="modSp mod modShow">
        <pc:chgData name="Zhu,Dr.,Yayun (HP Medicine) BII-CN-S" userId="S::yayun.zhu@boehringer-ingelheim.com::f923e91b-1433-4718-a9fb-37abca69f87f" providerId="AD" clId="Web-{66F01B1E-8995-1174-E23C-3078D5658EE1}" dt="2025-12-15T06:38:00.093" v="16" actId="1076"/>
        <pc:sldMkLst>
          <pc:docMk/>
          <pc:sldMk cId="1217884079" sldId="274"/>
        </pc:sldMkLst>
        <pc:spChg chg="mod">
          <ac:chgData name="Zhu,Dr.,Yayun (HP Medicine) BII-CN-S" userId="S::yayun.zhu@boehringer-ingelheim.com::f923e91b-1433-4718-a9fb-37abca69f87f" providerId="AD" clId="Web-{66F01B1E-8995-1174-E23C-3078D5658EE1}" dt="2025-12-15T06:38:00.093" v="16" actId="1076"/>
          <ac:spMkLst>
            <pc:docMk/>
            <pc:sldMk cId="1217884079" sldId="274"/>
            <ac:spMk id="80" creationId="{0B771654-3DAD-06BD-07F2-E96EF485D2D8}"/>
          </ac:spMkLst>
        </pc:spChg>
        <pc:cxnChg chg="mod">
          <ac:chgData name="Zhu,Dr.,Yayun (HP Medicine) BII-CN-S" userId="S::yayun.zhu@boehringer-ingelheim.com::f923e91b-1433-4718-a9fb-37abca69f87f" providerId="AD" clId="Web-{66F01B1E-8995-1174-E23C-3078D5658EE1}" dt="2025-12-15T06:37:58.061" v="15" actId="1076"/>
          <ac:cxnSpMkLst>
            <pc:docMk/>
            <pc:sldMk cId="1217884079" sldId="274"/>
            <ac:cxnSpMk id="84" creationId="{88B7E47E-E0EF-92BC-60D1-74719EE07117}"/>
          </ac:cxnSpMkLst>
        </pc:cxnChg>
      </pc:sldChg>
      <pc:sldChg chg="delSp modSp">
        <pc:chgData name="Zhu,Dr.,Yayun (HP Medicine) BII-CN-S" userId="S::yayun.zhu@boehringer-ingelheim.com::f923e91b-1433-4718-a9fb-37abca69f87f" providerId="AD" clId="Web-{66F01B1E-8995-1174-E23C-3078D5658EE1}" dt="2025-12-15T06:23:20.744" v="4" actId="14100"/>
        <pc:sldMkLst>
          <pc:docMk/>
          <pc:sldMk cId="3504837866" sldId="279"/>
        </pc:sldMkLst>
        <pc:spChg chg="mod">
          <ac:chgData name="Zhu,Dr.,Yayun (HP Medicine) BII-CN-S" userId="S::yayun.zhu@boehringer-ingelheim.com::f923e91b-1433-4718-a9fb-37abca69f87f" providerId="AD" clId="Web-{66F01B1E-8995-1174-E23C-3078D5658EE1}" dt="2025-12-15T06:23:20.744" v="4" actId="14100"/>
          <ac:spMkLst>
            <pc:docMk/>
            <pc:sldMk cId="3504837866" sldId="279"/>
            <ac:spMk id="3" creationId="{AE44FC51-9237-A486-7BCA-821836B02A8F}"/>
          </ac:spMkLst>
        </pc:spChg>
        <pc:spChg chg="del">
          <ac:chgData name="Zhu,Dr.,Yayun (HP Medicine) BII-CN-S" userId="S::yayun.zhu@boehringer-ingelheim.com::f923e91b-1433-4718-a9fb-37abca69f87f" providerId="AD" clId="Web-{66F01B1E-8995-1174-E23C-3078D5658EE1}" dt="2025-12-15T06:23:15.057" v="3"/>
          <ac:spMkLst>
            <pc:docMk/>
            <pc:sldMk cId="3504837866" sldId="279"/>
            <ac:spMk id="5" creationId="{EDA02721-4A80-5FAA-72DC-81DE07E77F55}"/>
          </ac:spMkLst>
        </pc:spChg>
      </pc:sldChg>
      <pc:sldChg chg="addSp delSp modSp">
        <pc:chgData name="Zhu,Dr.,Yayun (HP Medicine) BII-CN-S" userId="S::yayun.zhu@boehringer-ingelheim.com::f923e91b-1433-4718-a9fb-37abca69f87f" providerId="AD" clId="Web-{66F01B1E-8995-1174-E23C-3078D5658EE1}" dt="2025-12-15T07:09:27.304" v="30"/>
        <pc:sldMkLst>
          <pc:docMk/>
          <pc:sldMk cId="603056785" sldId="284"/>
        </pc:sldMkLst>
        <pc:grpChg chg="add">
          <ac:chgData name="Zhu,Dr.,Yayun (HP Medicine) BII-CN-S" userId="S::yayun.zhu@boehringer-ingelheim.com::f923e91b-1433-4718-a9fb-37abca69f87f" providerId="AD" clId="Web-{66F01B1E-8995-1174-E23C-3078D5658EE1}" dt="2025-12-15T07:09:22.117" v="29"/>
          <ac:grpSpMkLst>
            <pc:docMk/>
            <pc:sldMk cId="603056785" sldId="284"/>
            <ac:grpSpMk id="70" creationId="{9120C37E-112A-3883-2BBE-64F22DACC1E9}"/>
          </ac:grpSpMkLst>
        </pc:grpChg>
        <pc:grpChg chg="add">
          <ac:chgData name="Zhu,Dr.,Yayun (HP Medicine) BII-CN-S" userId="S::yayun.zhu@boehringer-ingelheim.com::f923e91b-1433-4718-a9fb-37abca69f87f" providerId="AD" clId="Web-{66F01B1E-8995-1174-E23C-3078D5658EE1}" dt="2025-12-15T07:09:27.304" v="30"/>
          <ac:grpSpMkLst>
            <pc:docMk/>
            <pc:sldMk cId="603056785" sldId="284"/>
            <ac:grpSpMk id="71" creationId="{CD3E1A06-A58A-FA71-6473-A718C3DA45DC}"/>
          </ac:grpSpMkLst>
        </pc:grpChg>
        <pc:picChg chg="mod">
          <ac:chgData name="Zhu,Dr.,Yayun (HP Medicine) BII-CN-S" userId="S::yayun.zhu@boehringer-ingelheim.com::f923e91b-1433-4718-a9fb-37abca69f87f" providerId="AD" clId="Web-{66F01B1E-8995-1174-E23C-3078D5658EE1}" dt="2025-12-15T07:09:03.444" v="26" actId="1076"/>
          <ac:picMkLst>
            <pc:docMk/>
            <pc:sldMk cId="603056785" sldId="284"/>
            <ac:picMk id="18" creationId="{EBEA8400-A316-4041-FD5E-4C4B4734430F}"/>
          </ac:picMkLst>
        </pc:picChg>
        <pc:picChg chg="add del mod">
          <ac:chgData name="Zhu,Dr.,Yayun (HP Medicine) BII-CN-S" userId="S::yayun.zhu@boehringer-ingelheim.com::f923e91b-1433-4718-a9fb-37abca69f87f" providerId="AD" clId="Web-{66F01B1E-8995-1174-E23C-3078D5658EE1}" dt="2025-12-15T07:01:55.229" v="22"/>
          <ac:picMkLst>
            <pc:docMk/>
            <pc:sldMk cId="603056785" sldId="284"/>
            <ac:picMk id="67" creationId="{A96A2D24-0F93-3B16-8980-8D6BEDCC1721}"/>
          </ac:picMkLst>
        </pc:picChg>
        <pc:picChg chg="add mod">
          <ac:chgData name="Zhu,Dr.,Yayun (HP Medicine) BII-CN-S" userId="S::yayun.zhu@boehringer-ingelheim.com::f923e91b-1433-4718-a9fb-37abca69f87f" providerId="AD" clId="Web-{66F01B1E-8995-1174-E23C-3078D5658EE1}" dt="2025-12-15T07:09:00.663" v="25" actId="1076"/>
          <ac:picMkLst>
            <pc:docMk/>
            <pc:sldMk cId="603056785" sldId="284"/>
            <ac:picMk id="68" creationId="{5E991057-7AEF-A07E-7628-9E70C8BE35F2}"/>
          </ac:picMkLst>
        </pc:picChg>
        <pc:picChg chg="add mod">
          <ac:chgData name="Zhu,Dr.,Yayun (HP Medicine) BII-CN-S" userId="S::yayun.zhu@boehringer-ingelheim.com::f923e91b-1433-4718-a9fb-37abca69f87f" providerId="AD" clId="Web-{66F01B1E-8995-1174-E23C-3078D5658EE1}" dt="2025-12-15T07:09:13.491" v="28" actId="1076"/>
          <ac:picMkLst>
            <pc:docMk/>
            <pc:sldMk cId="603056785" sldId="284"/>
            <ac:picMk id="69" creationId="{4F4BBAC2-7CA5-EEEB-A146-D3BDAC8E35C7}"/>
          </ac:picMkLst>
        </pc:picChg>
      </pc:sldChg>
      <pc:sldChg chg="add del">
        <pc:chgData name="Zhu,Dr.,Yayun (HP Medicine) BII-CN-S" userId="S::yayun.zhu@boehringer-ingelheim.com::f923e91b-1433-4718-a9fb-37abca69f87f" providerId="AD" clId="Web-{66F01B1E-8995-1174-E23C-3078D5658EE1}" dt="2025-12-15T06:27:42.810" v="13"/>
        <pc:sldMkLst>
          <pc:docMk/>
          <pc:sldMk cId="3229126807" sldId="285"/>
        </pc:sldMkLst>
      </pc:sldChg>
      <pc:sldChg chg="modSp">
        <pc:chgData name="Zhu,Dr.,Yayun (HP Medicine) BII-CN-S" userId="S::yayun.zhu@boehringer-ingelheim.com::f923e91b-1433-4718-a9fb-37abca69f87f" providerId="AD" clId="Web-{66F01B1E-8995-1174-E23C-3078D5658EE1}" dt="2025-12-15T06:24:03.901" v="5" actId="1076"/>
        <pc:sldMkLst>
          <pc:docMk/>
          <pc:sldMk cId="3340652957" sldId="293"/>
        </pc:sldMkLst>
        <pc:spChg chg="mod">
          <ac:chgData name="Zhu,Dr.,Yayun (HP Medicine) BII-CN-S" userId="S::yayun.zhu@boehringer-ingelheim.com::f923e91b-1433-4718-a9fb-37abca69f87f" providerId="AD" clId="Web-{66F01B1E-8995-1174-E23C-3078D5658EE1}" dt="2025-12-15T06:24:03.901" v="5" actId="1076"/>
          <ac:spMkLst>
            <pc:docMk/>
            <pc:sldMk cId="3340652957" sldId="293"/>
            <ac:spMk id="4" creationId="{F077E851-F9A5-2998-07D6-FF2A22E29356}"/>
          </ac:spMkLst>
        </pc:spChg>
      </pc:sldChg>
    </pc:docChg>
  </pc:docChgLst>
  <pc:docChgLst>
    <pc:chgData name="Chen,Dr.,Ying (HP Medicine) BII-CN-S" userId="7c019f49-0ee9-4787-9ac5-a11d3b82d6d2" providerId="ADAL" clId="{9ECFC110-7CAE-4A2A-9CF0-ACD4D451BAAF}"/>
    <pc:docChg chg="custSel delSld modSld sldOrd modSection">
      <pc:chgData name="Chen,Dr.,Ying (HP Medicine) BII-CN-S" userId="7c019f49-0ee9-4787-9ac5-a11d3b82d6d2" providerId="ADAL" clId="{9ECFC110-7CAE-4A2A-9CF0-ACD4D451BAAF}" dt="2025-12-15T02:13:07.786" v="247" actId="1038"/>
      <pc:docMkLst>
        <pc:docMk/>
      </pc:docMkLst>
      <pc:sldChg chg="modCm">
        <pc:chgData name="Chen,Dr.,Ying (HP Medicine) BII-CN-S" userId="7c019f49-0ee9-4787-9ac5-a11d3b82d6d2" providerId="ADAL" clId="{9ECFC110-7CAE-4A2A-9CF0-ACD4D451BAAF}" dt="2025-12-12T03:39:23.510" v="0"/>
        <pc:sldMkLst>
          <pc:docMk/>
          <pc:sldMk cId="3676249893" sldId="263"/>
        </pc:sldMkLst>
      </pc:sldChg>
      <pc:sldChg chg="modSp mod">
        <pc:chgData name="Chen,Dr.,Ying (HP Medicine) BII-CN-S" userId="7c019f49-0ee9-4787-9ac5-a11d3b82d6d2" providerId="ADAL" clId="{9ECFC110-7CAE-4A2A-9CF0-ACD4D451BAAF}" dt="2025-12-15T02:13:07.786" v="247" actId="1038"/>
        <pc:sldMkLst>
          <pc:docMk/>
          <pc:sldMk cId="363779758" sldId="290"/>
        </pc:sldMkLst>
        <pc:grpChg chg="mod">
          <ac:chgData name="Chen,Dr.,Ying (HP Medicine) BII-CN-S" userId="7c019f49-0ee9-4787-9ac5-a11d3b82d6d2" providerId="ADAL" clId="{9ECFC110-7CAE-4A2A-9CF0-ACD4D451BAAF}" dt="2025-12-15T02:13:07.786" v="247" actId="1038"/>
          <ac:grpSpMkLst>
            <pc:docMk/>
            <pc:sldMk cId="363779758" sldId="290"/>
            <ac:grpSpMk id="155" creationId="{BE7D4479-2691-EBF6-2704-008996FADD8D}"/>
          </ac:grpSpMkLst>
        </pc:grpChg>
      </pc:sldChg>
      <pc:sldChg chg="modSp mod">
        <pc:chgData name="Chen,Dr.,Ying (HP Medicine) BII-CN-S" userId="7c019f49-0ee9-4787-9ac5-a11d3b82d6d2" providerId="ADAL" clId="{9ECFC110-7CAE-4A2A-9CF0-ACD4D451BAAF}" dt="2025-12-15T02:12:56.224" v="214" actId="1038"/>
        <pc:sldMkLst>
          <pc:docMk/>
          <pc:sldMk cId="4200092559" sldId="291"/>
        </pc:sldMkLst>
        <pc:grpChg chg="mod">
          <ac:chgData name="Chen,Dr.,Ying (HP Medicine) BII-CN-S" userId="7c019f49-0ee9-4787-9ac5-a11d3b82d6d2" providerId="ADAL" clId="{9ECFC110-7CAE-4A2A-9CF0-ACD4D451BAAF}" dt="2025-12-15T02:12:56.224" v="214" actId="1038"/>
          <ac:grpSpMkLst>
            <pc:docMk/>
            <pc:sldMk cId="4200092559" sldId="291"/>
            <ac:grpSpMk id="29" creationId="{EF824981-866E-2C35-C1A5-DED04972C99F}"/>
          </ac:grpSpMkLst>
        </pc:grpChg>
      </pc:sldChg>
      <pc:sldChg chg="ord">
        <pc:chgData name="Chen,Dr.,Ying (HP Medicine) BII-CN-S" userId="7c019f49-0ee9-4787-9ac5-a11d3b82d6d2" providerId="ADAL" clId="{9ECFC110-7CAE-4A2A-9CF0-ACD4D451BAAF}" dt="2025-12-12T03:45:32.913" v="185"/>
        <pc:sldMkLst>
          <pc:docMk/>
          <pc:sldMk cId="4044034369" sldId="2147475013"/>
        </pc:sldMkLst>
      </pc:sldChg>
      <pc:sldChg chg="modSp mod">
        <pc:chgData name="Chen,Dr.,Ying (HP Medicine) BII-CN-S" userId="7c019f49-0ee9-4787-9ac5-a11d3b82d6d2" providerId="ADAL" clId="{9ECFC110-7CAE-4A2A-9CF0-ACD4D451BAAF}" dt="2025-12-12T03:41:30.931" v="60" actId="1038"/>
        <pc:sldMkLst>
          <pc:docMk/>
          <pc:sldMk cId="2883832348" sldId="2147483630"/>
        </pc:sldMkLst>
        <pc:grpChg chg="mod">
          <ac:chgData name="Chen,Dr.,Ying (HP Medicine) BII-CN-S" userId="7c019f49-0ee9-4787-9ac5-a11d3b82d6d2" providerId="ADAL" clId="{9ECFC110-7CAE-4A2A-9CF0-ACD4D451BAAF}" dt="2025-12-12T03:41:30.931" v="60" actId="1038"/>
          <ac:grpSpMkLst>
            <pc:docMk/>
            <pc:sldMk cId="2883832348" sldId="2147483630"/>
            <ac:grpSpMk id="7" creationId="{81D3D4A1-DB3F-B9DD-49F1-7C971D8DE7AF}"/>
          </ac:grpSpMkLst>
        </pc:grpChg>
      </pc:sldChg>
      <pc:sldChg chg="modSp mod">
        <pc:chgData name="Chen,Dr.,Ying (HP Medicine) BII-CN-S" userId="7c019f49-0ee9-4787-9ac5-a11d3b82d6d2" providerId="ADAL" clId="{9ECFC110-7CAE-4A2A-9CF0-ACD4D451BAAF}" dt="2025-12-12T03:41:51.234" v="94" actId="20577"/>
        <pc:sldMkLst>
          <pc:docMk/>
          <pc:sldMk cId="424017855" sldId="2147483631"/>
        </pc:sldMkLst>
        <pc:spChg chg="mod">
          <ac:chgData name="Chen,Dr.,Ying (HP Medicine) BII-CN-S" userId="7c019f49-0ee9-4787-9ac5-a11d3b82d6d2" providerId="ADAL" clId="{9ECFC110-7CAE-4A2A-9CF0-ACD4D451BAAF}" dt="2025-12-12T03:41:51.234" v="94" actId="20577"/>
          <ac:spMkLst>
            <pc:docMk/>
            <pc:sldMk cId="424017855" sldId="2147483631"/>
            <ac:spMk id="3" creationId="{00000000-0000-0000-0000-000000000000}"/>
          </ac:spMkLst>
        </pc:spChg>
        <pc:cxnChg chg="mod">
          <ac:chgData name="Chen,Dr.,Ying (HP Medicine) BII-CN-S" userId="7c019f49-0ee9-4787-9ac5-a11d3b82d6d2" providerId="ADAL" clId="{9ECFC110-7CAE-4A2A-9CF0-ACD4D451BAAF}" dt="2025-12-12T03:41:43.679" v="84" actId="1038"/>
          <ac:cxnSpMkLst>
            <pc:docMk/>
            <pc:sldMk cId="424017855" sldId="2147483631"/>
            <ac:cxnSpMk id="20" creationId="{AA32F3B2-8CC4-4858-46F3-72CB3AB63665}"/>
          </ac:cxnSpMkLst>
        </pc:cxnChg>
      </pc:sldChg>
      <pc:sldChg chg="delSp modSp mod">
        <pc:chgData name="Chen,Dr.,Ying (HP Medicine) BII-CN-S" userId="7c019f49-0ee9-4787-9ac5-a11d3b82d6d2" providerId="ADAL" clId="{9ECFC110-7CAE-4A2A-9CF0-ACD4D451BAAF}" dt="2025-12-12T03:48:04.914" v="186" actId="14100"/>
        <pc:sldMkLst>
          <pc:docMk/>
          <pc:sldMk cId="3534352363" sldId="2147483633"/>
        </pc:sldMkLst>
        <pc:spChg chg="mod">
          <ac:chgData name="Chen,Dr.,Ying (HP Medicine) BII-CN-S" userId="7c019f49-0ee9-4787-9ac5-a11d3b82d6d2" providerId="ADAL" clId="{9ECFC110-7CAE-4A2A-9CF0-ACD4D451BAAF}" dt="2025-12-12T03:44:16.109" v="180" actId="13926"/>
          <ac:spMkLst>
            <pc:docMk/>
            <pc:sldMk cId="3534352363" sldId="2147483633"/>
            <ac:spMk id="6" creationId="{F70A7CB1-FD75-2DCF-7A9C-EC2BCEEDBB24}"/>
          </ac:spMkLst>
        </pc:spChg>
        <pc:spChg chg="mod">
          <ac:chgData name="Chen,Dr.,Ying (HP Medicine) BII-CN-S" userId="7c019f49-0ee9-4787-9ac5-a11d3b82d6d2" providerId="ADAL" clId="{9ECFC110-7CAE-4A2A-9CF0-ACD4D451BAAF}" dt="2025-12-12T03:44:23.313" v="181" actId="207"/>
          <ac:spMkLst>
            <pc:docMk/>
            <pc:sldMk cId="3534352363" sldId="2147483633"/>
            <ac:spMk id="15" creationId="{3627FCA7-FFB1-F5CC-D087-A2A264940093}"/>
          </ac:spMkLst>
        </pc:spChg>
        <pc:spChg chg="mod">
          <ac:chgData name="Chen,Dr.,Ying (HP Medicine) BII-CN-S" userId="7c019f49-0ee9-4787-9ac5-a11d3b82d6d2" providerId="ADAL" clId="{9ECFC110-7CAE-4A2A-9CF0-ACD4D451BAAF}" dt="2025-12-12T03:43:36.092" v="165" actId="14100"/>
          <ac:spMkLst>
            <pc:docMk/>
            <pc:sldMk cId="3534352363" sldId="2147483633"/>
            <ac:spMk id="19" creationId="{8E5F07A3-427C-B8EC-6111-4706D271A558}"/>
          </ac:spMkLst>
        </pc:spChg>
        <pc:spChg chg="mod">
          <ac:chgData name="Chen,Dr.,Ying (HP Medicine) BII-CN-S" userId="7c019f49-0ee9-4787-9ac5-a11d3b82d6d2" providerId="ADAL" clId="{9ECFC110-7CAE-4A2A-9CF0-ACD4D451BAAF}" dt="2025-12-12T03:43:47.524" v="177" actId="1038"/>
          <ac:spMkLst>
            <pc:docMk/>
            <pc:sldMk cId="3534352363" sldId="2147483633"/>
            <ac:spMk id="22" creationId="{22F5E4EB-3F20-7947-300C-36F54DA43572}"/>
          </ac:spMkLst>
        </pc:spChg>
        <pc:spChg chg="mod">
          <ac:chgData name="Chen,Dr.,Ying (HP Medicine) BII-CN-S" userId="7c019f49-0ee9-4787-9ac5-a11d3b82d6d2" providerId="ADAL" clId="{9ECFC110-7CAE-4A2A-9CF0-ACD4D451BAAF}" dt="2025-12-12T03:43:47.524" v="177" actId="1038"/>
          <ac:spMkLst>
            <pc:docMk/>
            <pc:sldMk cId="3534352363" sldId="2147483633"/>
            <ac:spMk id="23" creationId="{CB29C92A-47C1-DE2B-CDA9-79D1BC299E79}"/>
          </ac:spMkLst>
        </pc:spChg>
        <pc:spChg chg="mod">
          <ac:chgData name="Chen,Dr.,Ying (HP Medicine) BII-CN-S" userId="7c019f49-0ee9-4787-9ac5-a11d3b82d6d2" providerId="ADAL" clId="{9ECFC110-7CAE-4A2A-9CF0-ACD4D451BAAF}" dt="2025-12-12T03:43:47.524" v="177" actId="1038"/>
          <ac:spMkLst>
            <pc:docMk/>
            <pc:sldMk cId="3534352363" sldId="2147483633"/>
            <ac:spMk id="67" creationId="{F1FDD055-A0FA-41DD-93F4-7E80DD5BE0C5}"/>
          </ac:spMkLst>
        </pc:spChg>
        <pc:spChg chg="mod">
          <ac:chgData name="Chen,Dr.,Ying (HP Medicine) BII-CN-S" userId="7c019f49-0ee9-4787-9ac5-a11d3b82d6d2" providerId="ADAL" clId="{9ECFC110-7CAE-4A2A-9CF0-ACD4D451BAAF}" dt="2025-12-12T03:48:04.914" v="186" actId="14100"/>
          <ac:spMkLst>
            <pc:docMk/>
            <pc:sldMk cId="3534352363" sldId="2147483633"/>
            <ac:spMk id="103" creationId="{88ADF3F5-8D4E-46D6-B602-6ED584E51F57}"/>
          </ac:spMkLst>
        </pc:spChg>
        <pc:spChg chg="mod">
          <ac:chgData name="Chen,Dr.,Ying (HP Medicine) BII-CN-S" userId="7c019f49-0ee9-4787-9ac5-a11d3b82d6d2" providerId="ADAL" clId="{9ECFC110-7CAE-4A2A-9CF0-ACD4D451BAAF}" dt="2025-12-12T03:44:06.577" v="179" actId="1076"/>
          <ac:spMkLst>
            <pc:docMk/>
            <pc:sldMk cId="3534352363" sldId="2147483633"/>
            <ac:spMk id="105" creationId="{339D6B94-4843-42D3-9D53-254BBFBFF495}"/>
          </ac:spMkLst>
        </pc:spChg>
        <pc:grpChg chg="mod">
          <ac:chgData name="Chen,Dr.,Ying (HP Medicine) BII-CN-S" userId="7c019f49-0ee9-4787-9ac5-a11d3b82d6d2" providerId="ADAL" clId="{9ECFC110-7CAE-4A2A-9CF0-ACD4D451BAAF}" dt="2025-12-12T03:42:29.822" v="155" actId="1037"/>
          <ac:grpSpMkLst>
            <pc:docMk/>
            <pc:sldMk cId="3534352363" sldId="2147483633"/>
            <ac:grpSpMk id="94" creationId="{8CA2D186-99EC-466F-9E24-BEA99F2ECDCD}"/>
          </ac:grpSpMkLst>
        </pc:grpChg>
      </pc:sldChg>
    </pc:docChg>
  </pc:docChgLst>
  <pc:docChgLst>
    <pc:chgData name="Zhu,Dr.,Yayun (HP Medicine) BII-CN-S" userId="S::yayun.zhu@boehringer-ingelheim.com::f923e91b-1433-4718-a9fb-37abca69f87f" providerId="AD" clId="Web-{DA7469DF-62B9-6798-0072-33BA4AD8C1E4}"/>
    <pc:docChg chg="addSld delSld modSld modSection">
      <pc:chgData name="Zhu,Dr.,Yayun (HP Medicine) BII-CN-S" userId="S::yayun.zhu@boehringer-ingelheim.com::f923e91b-1433-4718-a9fb-37abca69f87f" providerId="AD" clId="Web-{DA7469DF-62B9-6798-0072-33BA4AD8C1E4}" dt="2025-12-15T05:24:32.543" v="57" actId="14100"/>
      <pc:docMkLst>
        <pc:docMk/>
      </pc:docMkLst>
      <pc:sldChg chg="add del">
        <pc:chgData name="Zhu,Dr.,Yayun (HP Medicine) BII-CN-S" userId="S::yayun.zhu@boehringer-ingelheim.com::f923e91b-1433-4718-a9fb-37abca69f87f" providerId="AD" clId="Web-{DA7469DF-62B9-6798-0072-33BA4AD8C1E4}" dt="2025-12-15T04:34:50.851" v="2"/>
        <pc:sldMkLst>
          <pc:docMk/>
          <pc:sldMk cId="3275166644" sldId="260"/>
        </pc:sldMkLst>
      </pc:sldChg>
      <pc:sldChg chg="modSp mod modShow">
        <pc:chgData name="Zhu,Dr.,Yayun (HP Medicine) BII-CN-S" userId="S::yayun.zhu@boehringer-ingelheim.com::f923e91b-1433-4718-a9fb-37abca69f87f" providerId="AD" clId="Web-{DA7469DF-62B9-6798-0072-33BA4AD8C1E4}" dt="2025-12-15T05:20:57.387" v="49" actId="1076"/>
        <pc:sldMkLst>
          <pc:docMk/>
          <pc:sldMk cId="1590963127" sldId="261"/>
        </pc:sldMkLst>
        <pc:spChg chg="mod">
          <ac:chgData name="Zhu,Dr.,Yayun (HP Medicine) BII-CN-S" userId="S::yayun.zhu@boehringer-ingelheim.com::f923e91b-1433-4718-a9fb-37abca69f87f" providerId="AD" clId="Web-{DA7469DF-62B9-6798-0072-33BA4AD8C1E4}" dt="2025-12-15T05:20:57.387" v="49" actId="1076"/>
          <ac:spMkLst>
            <pc:docMk/>
            <pc:sldMk cId="1590963127" sldId="261"/>
            <ac:spMk id="3" creationId="{57A6748C-45F6-7374-287E-5DE721C5B32A}"/>
          </ac:spMkLst>
        </pc:spChg>
      </pc:sldChg>
      <pc:sldChg chg="modSp">
        <pc:chgData name="Zhu,Dr.,Yayun (HP Medicine) BII-CN-S" userId="S::yayun.zhu@boehringer-ingelheim.com::f923e91b-1433-4718-a9fb-37abca69f87f" providerId="AD" clId="Web-{DA7469DF-62B9-6798-0072-33BA4AD8C1E4}" dt="2025-12-15T05:15:37.011" v="48" actId="20577"/>
        <pc:sldMkLst>
          <pc:docMk/>
          <pc:sldMk cId="3676249893" sldId="263"/>
        </pc:sldMkLst>
        <pc:spChg chg="mod">
          <ac:chgData name="Zhu,Dr.,Yayun (HP Medicine) BII-CN-S" userId="S::yayun.zhu@boehringer-ingelheim.com::f923e91b-1433-4718-a9fb-37abca69f87f" providerId="AD" clId="Web-{DA7469DF-62B9-6798-0072-33BA4AD8C1E4}" dt="2025-12-15T05:15:37.011" v="48" actId="20577"/>
          <ac:spMkLst>
            <pc:docMk/>
            <pc:sldMk cId="3676249893" sldId="263"/>
            <ac:spMk id="4" creationId="{11FDFFB8-02E9-63A1-A75A-86006A6E4672}"/>
          </ac:spMkLst>
        </pc:spChg>
      </pc:sldChg>
      <pc:sldChg chg="add del">
        <pc:chgData name="Zhu,Dr.,Yayun (HP Medicine) BII-CN-S" userId="S::yayun.zhu@boehringer-ingelheim.com::f923e91b-1433-4718-a9fb-37abca69f87f" providerId="AD" clId="Web-{DA7469DF-62B9-6798-0072-33BA4AD8C1E4}" dt="2025-12-15T04:34:51.117" v="3"/>
        <pc:sldMkLst>
          <pc:docMk/>
          <pc:sldMk cId="1329982256" sldId="273"/>
        </pc:sldMkLst>
      </pc:sldChg>
      <pc:sldChg chg="modSp mod modShow">
        <pc:chgData name="Zhu,Dr.,Yayun (HP Medicine) BII-CN-S" userId="S::yayun.zhu@boehringer-ingelheim.com::f923e91b-1433-4718-a9fb-37abca69f87f" providerId="AD" clId="Web-{DA7469DF-62B9-6798-0072-33BA4AD8C1E4}" dt="2025-12-15T05:24:32.543" v="57" actId="14100"/>
        <pc:sldMkLst>
          <pc:docMk/>
          <pc:sldMk cId="1217884079" sldId="274"/>
        </pc:sldMkLst>
        <pc:spChg chg="mod">
          <ac:chgData name="Zhu,Dr.,Yayun (HP Medicine) BII-CN-S" userId="S::yayun.zhu@boehringer-ingelheim.com::f923e91b-1433-4718-a9fb-37abca69f87f" providerId="AD" clId="Web-{DA7469DF-62B9-6798-0072-33BA4AD8C1E4}" dt="2025-12-15T05:24:32.543" v="57" actId="14100"/>
          <ac:spMkLst>
            <pc:docMk/>
            <pc:sldMk cId="1217884079" sldId="274"/>
            <ac:spMk id="80" creationId="{0B771654-3DAD-06BD-07F2-E96EF485D2D8}"/>
          </ac:spMkLst>
        </pc:spChg>
      </pc:sldChg>
      <pc:sldChg chg="modSp">
        <pc:chgData name="Zhu,Dr.,Yayun (HP Medicine) BII-CN-S" userId="S::yayun.zhu@boehringer-ingelheim.com::f923e91b-1433-4718-a9fb-37abca69f87f" providerId="AD" clId="Web-{DA7469DF-62B9-6798-0072-33BA4AD8C1E4}" dt="2025-12-15T05:21:18.356" v="50" actId="1076"/>
        <pc:sldMkLst>
          <pc:docMk/>
          <pc:sldMk cId="605368764" sldId="277"/>
        </pc:sldMkLst>
        <pc:picChg chg="mod">
          <ac:chgData name="Zhu,Dr.,Yayun (HP Medicine) BII-CN-S" userId="S::yayun.zhu@boehringer-ingelheim.com::f923e91b-1433-4718-a9fb-37abca69f87f" providerId="AD" clId="Web-{DA7469DF-62B9-6798-0072-33BA4AD8C1E4}" dt="2025-12-15T05:21:18.356" v="50" actId="1076"/>
          <ac:picMkLst>
            <pc:docMk/>
            <pc:sldMk cId="605368764" sldId="277"/>
            <ac:picMk id="7" creationId="{90189EF8-326F-0479-382C-678A6AEE8CF3}"/>
          </ac:picMkLst>
        </pc:picChg>
      </pc:sldChg>
      <pc:sldChg chg="addSp delSp modSp">
        <pc:chgData name="Zhu,Dr.,Yayun (HP Medicine) BII-CN-S" userId="S::yayun.zhu@boehringer-ingelheim.com::f923e91b-1433-4718-a9fb-37abca69f87f" providerId="AD" clId="Web-{DA7469DF-62B9-6798-0072-33BA4AD8C1E4}" dt="2025-12-15T05:14:12.074" v="41" actId="1076"/>
        <pc:sldMkLst>
          <pc:docMk/>
          <pc:sldMk cId="3504837866" sldId="279"/>
        </pc:sldMkLst>
        <pc:spChg chg="add del">
          <ac:chgData name="Zhu,Dr.,Yayun (HP Medicine) BII-CN-S" userId="S::yayun.zhu@boehringer-ingelheim.com::f923e91b-1433-4718-a9fb-37abca69f87f" providerId="AD" clId="Web-{DA7469DF-62B9-6798-0072-33BA4AD8C1E4}" dt="2025-12-15T05:08:05.630" v="20"/>
          <ac:spMkLst>
            <pc:docMk/>
            <pc:sldMk cId="3504837866" sldId="279"/>
            <ac:spMk id="2" creationId="{B539A0C4-E90D-9934-512B-C48CB4B1B49F}"/>
          </ac:spMkLst>
        </pc:spChg>
        <pc:spChg chg="add mod">
          <ac:chgData name="Zhu,Dr.,Yayun (HP Medicine) BII-CN-S" userId="S::yayun.zhu@boehringer-ingelheim.com::f923e91b-1433-4718-a9fb-37abca69f87f" providerId="AD" clId="Web-{DA7469DF-62B9-6798-0072-33BA4AD8C1E4}" dt="2025-12-15T05:13:29.590" v="38" actId="14100"/>
          <ac:spMkLst>
            <pc:docMk/>
            <pc:sldMk cId="3504837866" sldId="279"/>
            <ac:spMk id="3" creationId="{AE44FC51-9237-A486-7BCA-821836B02A8F}"/>
          </ac:spMkLst>
        </pc:spChg>
        <pc:spChg chg="add mod">
          <ac:chgData name="Zhu,Dr.,Yayun (HP Medicine) BII-CN-S" userId="S::yayun.zhu@boehringer-ingelheim.com::f923e91b-1433-4718-a9fb-37abca69f87f" providerId="AD" clId="Web-{DA7469DF-62B9-6798-0072-33BA4AD8C1E4}" dt="2025-12-15T05:14:12.074" v="41" actId="1076"/>
          <ac:spMkLst>
            <pc:docMk/>
            <pc:sldMk cId="3504837866" sldId="279"/>
            <ac:spMk id="5" creationId="{EDA02721-4A80-5FAA-72DC-81DE07E77F55}"/>
          </ac:spMkLst>
        </pc:spChg>
        <pc:graphicFrameChg chg="mod">
          <ac:chgData name="Zhu,Dr.,Yayun (HP Medicine) BII-CN-S" userId="S::yayun.zhu@boehringer-ingelheim.com::f923e91b-1433-4718-a9fb-37abca69f87f" providerId="AD" clId="Web-{DA7469DF-62B9-6798-0072-33BA4AD8C1E4}" dt="2025-12-15T05:13:06.512" v="35" actId="1076"/>
          <ac:graphicFrameMkLst>
            <pc:docMk/>
            <pc:sldMk cId="3504837866" sldId="279"/>
            <ac:graphicFrameMk id="7" creationId="{17422407-A496-C3A1-A831-00C194B95F96}"/>
          </ac:graphicFrameMkLst>
        </pc:graphicFrameChg>
      </pc:sldChg>
      <pc:sldChg chg="addSp modSp">
        <pc:chgData name="Zhu,Dr.,Yayun (HP Medicine) BII-CN-S" userId="S::yayun.zhu@boehringer-ingelheim.com::f923e91b-1433-4718-a9fb-37abca69f87f" providerId="AD" clId="Web-{DA7469DF-62B9-6798-0072-33BA4AD8C1E4}" dt="2025-12-15T05:15:25.902" v="47" actId="1076"/>
        <pc:sldMkLst>
          <pc:docMk/>
          <pc:sldMk cId="3340652957" sldId="293"/>
        </pc:sldMkLst>
        <pc:spChg chg="add mod">
          <ac:chgData name="Zhu,Dr.,Yayun (HP Medicine) BII-CN-S" userId="S::yayun.zhu@boehringer-ingelheim.com::f923e91b-1433-4718-a9fb-37abca69f87f" providerId="AD" clId="Web-{DA7469DF-62B9-6798-0072-33BA4AD8C1E4}" dt="2025-12-15T05:15:25.902" v="47" actId="1076"/>
          <ac:spMkLst>
            <pc:docMk/>
            <pc:sldMk cId="3340652957" sldId="293"/>
            <ac:spMk id="4" creationId="{F077E851-F9A5-2998-07D6-FF2A22E29356}"/>
          </ac:spMkLst>
        </pc:spChg>
      </pc:sldChg>
      <pc:sldChg chg="addSp modSp">
        <pc:chgData name="Zhu,Dr.,Yayun (HP Medicine) BII-CN-S" userId="S::yayun.zhu@boehringer-ingelheim.com::f923e91b-1433-4718-a9fb-37abca69f87f" providerId="AD" clId="Web-{DA7469DF-62B9-6798-0072-33BA4AD8C1E4}" dt="2025-12-15T05:15:14.605" v="46" actId="14100"/>
        <pc:sldMkLst>
          <pc:docMk/>
          <pc:sldMk cId="1057953848" sldId="294"/>
        </pc:sldMkLst>
        <pc:spChg chg="add mod">
          <ac:chgData name="Zhu,Dr.,Yayun (HP Medicine) BII-CN-S" userId="S::yayun.zhu@boehringer-ingelheim.com::f923e91b-1433-4718-a9fb-37abca69f87f" providerId="AD" clId="Web-{DA7469DF-62B9-6798-0072-33BA4AD8C1E4}" dt="2025-12-15T05:15:14.605" v="46" actId="14100"/>
          <ac:spMkLst>
            <pc:docMk/>
            <pc:sldMk cId="1057953848" sldId="294"/>
            <ac:spMk id="4" creationId="{59617C9D-6A05-EE0F-FB86-B8B8B5AAC683}"/>
          </ac:spMkLst>
        </pc:spChg>
      </pc:sldChg>
      <pc:sldMasterChg chg="addSldLayout">
        <pc:chgData name="Zhu,Dr.,Yayun (HP Medicine) BII-CN-S" userId="S::yayun.zhu@boehringer-ingelheim.com::f923e91b-1433-4718-a9fb-37abca69f87f" providerId="AD" clId="Web-{DA7469DF-62B9-6798-0072-33BA4AD8C1E4}" dt="2025-12-15T04:34:50.851" v="2"/>
        <pc:sldMasterMkLst>
          <pc:docMk/>
          <pc:sldMasterMk cId="2688107887" sldId="2147483906"/>
        </pc:sldMasterMkLst>
        <pc:sldLayoutChg chg="add replId">
          <pc:chgData name="Zhu,Dr.,Yayun (HP Medicine) BII-CN-S" userId="S::yayun.zhu@boehringer-ingelheim.com::f923e91b-1433-4718-a9fb-37abca69f87f" providerId="AD" clId="Web-{DA7469DF-62B9-6798-0072-33BA4AD8C1E4}" dt="2025-12-15T04:34:50.851" v="2"/>
          <pc:sldLayoutMkLst>
            <pc:docMk/>
            <pc:sldMasterMk cId="2688107887" sldId="2147483906"/>
            <pc:sldLayoutMk cId="2760164781" sldId="2147484134"/>
          </pc:sldLayoutMkLst>
        </pc:sldLayoutChg>
      </pc:sldMasterChg>
    </pc:docChg>
  </pc:docChgLst>
  <pc:docChgLst>
    <pc:chgData name="Zhu,Dr.,Yayun (HP Medicine) BII-CN-S" userId="S::yayun.zhu@boehringer-ingelheim.com::f923e91b-1433-4718-a9fb-37abca69f87f" providerId="AD" clId="Web-{3F1D908B-3875-84E7-5682-C532B5A262F3}"/>
    <pc:docChg chg="addSld delSld modSld sldOrd modSection">
      <pc:chgData name="Zhu,Dr.,Yayun (HP Medicine) BII-CN-S" userId="S::yayun.zhu@boehringer-ingelheim.com::f923e91b-1433-4718-a9fb-37abca69f87f" providerId="AD" clId="Web-{3F1D908B-3875-84E7-5682-C532B5A262F3}" dt="2025-12-13T04:09:17.450" v="531" actId="1076"/>
      <pc:docMkLst>
        <pc:docMk/>
      </pc:docMkLst>
      <pc:sldChg chg="delSp modSp">
        <pc:chgData name="Zhu,Dr.,Yayun (HP Medicine) BII-CN-S" userId="S::yayun.zhu@boehringer-ingelheim.com::f923e91b-1433-4718-a9fb-37abca69f87f" providerId="AD" clId="Web-{3F1D908B-3875-84E7-5682-C532B5A262F3}" dt="2025-12-13T04:05:29.411" v="523" actId="1076"/>
        <pc:sldMkLst>
          <pc:docMk/>
          <pc:sldMk cId="1590963127" sldId="261"/>
        </pc:sldMkLst>
        <pc:spChg chg="mod">
          <ac:chgData name="Zhu,Dr.,Yayun (HP Medicine) BII-CN-S" userId="S::yayun.zhu@boehringer-ingelheim.com::f923e91b-1433-4718-a9fb-37abca69f87f" providerId="AD" clId="Web-{3F1D908B-3875-84E7-5682-C532B5A262F3}" dt="2025-12-13T04:04:53.612" v="516" actId="20577"/>
          <ac:spMkLst>
            <pc:docMk/>
            <pc:sldMk cId="1590963127" sldId="261"/>
            <ac:spMk id="2" creationId="{A1CF5406-4EE7-020F-FCB4-0C2B6C37581E}"/>
          </ac:spMkLst>
        </pc:spChg>
        <pc:spChg chg="mod">
          <ac:chgData name="Zhu,Dr.,Yayun (HP Medicine) BII-CN-S" userId="S::yayun.zhu@boehringer-ingelheim.com::f923e91b-1433-4718-a9fb-37abca69f87f" providerId="AD" clId="Web-{3F1D908B-3875-84E7-5682-C532B5A262F3}" dt="2025-12-13T04:05:29.411" v="523" actId="1076"/>
          <ac:spMkLst>
            <pc:docMk/>
            <pc:sldMk cId="1590963127" sldId="261"/>
            <ac:spMk id="3" creationId="{57A6748C-45F6-7374-287E-5DE721C5B32A}"/>
          </ac:spMkLst>
        </pc:spChg>
      </pc:sldChg>
      <pc:sldChg chg="addSp delSp modSp mod modShow">
        <pc:chgData name="Zhu,Dr.,Yayun (HP Medicine) BII-CN-S" userId="S::yayun.zhu@boehringer-ingelheim.com::f923e91b-1433-4718-a9fb-37abca69f87f" providerId="AD" clId="Web-{3F1D908B-3875-84E7-5682-C532B5A262F3}" dt="2025-12-13T04:09:17.450" v="531" actId="1076"/>
        <pc:sldMkLst>
          <pc:docMk/>
          <pc:sldMk cId="1217884079" sldId="274"/>
        </pc:sldMkLst>
        <pc:spChg chg="mod">
          <ac:chgData name="Zhu,Dr.,Yayun (HP Medicine) BII-CN-S" userId="S::yayun.zhu@boehringer-ingelheim.com::f923e91b-1433-4718-a9fb-37abca69f87f" providerId="AD" clId="Web-{3F1D908B-3875-84E7-5682-C532B5A262F3}" dt="2025-12-13T03:32:46.752" v="31" actId="20577"/>
          <ac:spMkLst>
            <pc:docMk/>
            <pc:sldMk cId="1217884079" sldId="274"/>
            <ac:spMk id="7" creationId="{7EBF7B03-1BFA-5613-5ABD-604ACD7C94B9}"/>
          </ac:spMkLst>
        </pc:spChg>
        <pc:spChg chg="mod">
          <ac:chgData name="Zhu,Dr.,Yayun (HP Medicine) BII-CN-S" userId="S::yayun.zhu@boehringer-ingelheim.com::f923e91b-1433-4718-a9fb-37abca69f87f" providerId="AD" clId="Web-{3F1D908B-3875-84E7-5682-C532B5A262F3}" dt="2025-12-13T03:36:40.008" v="49" actId="1076"/>
          <ac:spMkLst>
            <pc:docMk/>
            <pc:sldMk cId="1217884079" sldId="274"/>
            <ac:spMk id="19" creationId="{96C1EC9F-80B8-3665-A462-D5D53DDEEC99}"/>
          </ac:spMkLst>
        </pc:spChg>
        <pc:spChg chg="add mod">
          <ac:chgData name="Zhu,Dr.,Yayun (HP Medicine) BII-CN-S" userId="S::yayun.zhu@boehringer-ingelheim.com::f923e91b-1433-4718-a9fb-37abca69f87f" providerId="AD" clId="Web-{3F1D908B-3875-84E7-5682-C532B5A262F3}" dt="2025-12-13T03:31:53.999" v="14" actId="1076"/>
          <ac:spMkLst>
            <pc:docMk/>
            <pc:sldMk cId="1217884079" sldId="274"/>
            <ac:spMk id="20" creationId="{D17BCF43-D36A-9F1A-6F92-48E90F96FBCD}"/>
          </ac:spMkLst>
        </pc:spChg>
        <pc:spChg chg="add mod">
          <ac:chgData name="Zhu,Dr.,Yayun (HP Medicine) BII-CN-S" userId="S::yayun.zhu@boehringer-ingelheim.com::f923e91b-1433-4718-a9fb-37abca69f87f" providerId="AD" clId="Web-{3F1D908B-3875-84E7-5682-C532B5A262F3}" dt="2025-12-13T03:33:32.831" v="35" actId="1076"/>
          <ac:spMkLst>
            <pc:docMk/>
            <pc:sldMk cId="1217884079" sldId="274"/>
            <ac:spMk id="24" creationId="{0FBE746E-E988-1EE8-49E1-E0FB0517D217}"/>
          </ac:spMkLst>
        </pc:spChg>
        <pc:spChg chg="add mod">
          <ac:chgData name="Zhu,Dr.,Yayun (HP Medicine) BII-CN-S" userId="S::yayun.zhu@boehringer-ingelheim.com::f923e91b-1433-4718-a9fb-37abca69f87f" providerId="AD" clId="Web-{3F1D908B-3875-84E7-5682-C532B5A262F3}" dt="2025-12-13T03:37:28.900" v="58" actId="1076"/>
          <ac:spMkLst>
            <pc:docMk/>
            <pc:sldMk cId="1217884079" sldId="274"/>
            <ac:spMk id="27" creationId="{1E8D4F01-E72C-8F76-4DCD-FF870BB466BE}"/>
          </ac:spMkLst>
        </pc:spChg>
        <pc:spChg chg="add mod">
          <ac:chgData name="Zhu,Dr.,Yayun (HP Medicine) BII-CN-S" userId="S::yayun.zhu@boehringer-ingelheim.com::f923e91b-1433-4718-a9fb-37abca69f87f" providerId="AD" clId="Web-{3F1D908B-3875-84E7-5682-C532B5A262F3}" dt="2025-12-13T03:37:45.853" v="62" actId="1076"/>
          <ac:spMkLst>
            <pc:docMk/>
            <pc:sldMk cId="1217884079" sldId="274"/>
            <ac:spMk id="28" creationId="{A9292BDD-3FEB-A2F0-9CF2-0CE553A9985D}"/>
          </ac:spMkLst>
        </pc:spChg>
        <pc:spChg chg="add mod">
          <ac:chgData name="Zhu,Dr.,Yayun (HP Medicine) BII-CN-S" userId="S::yayun.zhu@boehringer-ingelheim.com::f923e91b-1433-4718-a9fb-37abca69f87f" providerId="AD" clId="Web-{3F1D908B-3875-84E7-5682-C532B5A262F3}" dt="2025-12-13T03:55:11.421" v="280" actId="1076"/>
          <ac:spMkLst>
            <pc:docMk/>
            <pc:sldMk cId="1217884079" sldId="274"/>
            <ac:spMk id="30" creationId="{17320E82-0D47-9DBF-AE8B-3195DDA9BECB}"/>
          </ac:spMkLst>
        </pc:spChg>
        <pc:spChg chg="add mod">
          <ac:chgData name="Zhu,Dr.,Yayun (HP Medicine) BII-CN-S" userId="S::yayun.zhu@boehringer-ingelheim.com::f923e91b-1433-4718-a9fb-37abca69f87f" providerId="AD" clId="Web-{3F1D908B-3875-84E7-5682-C532B5A262F3}" dt="2025-12-13T03:55:11.500" v="281" actId="1076"/>
          <ac:spMkLst>
            <pc:docMk/>
            <pc:sldMk cId="1217884079" sldId="274"/>
            <ac:spMk id="31" creationId="{0E234BB2-77D7-C8CE-2367-54DB21E7A051}"/>
          </ac:spMkLst>
        </pc:spChg>
        <pc:spChg chg="add mod">
          <ac:chgData name="Zhu,Dr.,Yayun (HP Medicine) BII-CN-S" userId="S::yayun.zhu@boehringer-ingelheim.com::f923e91b-1433-4718-a9fb-37abca69f87f" providerId="AD" clId="Web-{3F1D908B-3875-84E7-5682-C532B5A262F3}" dt="2025-12-13T03:55:11.578" v="282" actId="1076"/>
          <ac:spMkLst>
            <pc:docMk/>
            <pc:sldMk cId="1217884079" sldId="274"/>
            <ac:spMk id="34" creationId="{34751C8F-E2F0-C8F6-2739-731AD285DF38}"/>
          </ac:spMkLst>
        </pc:spChg>
        <pc:spChg chg="add mod">
          <ac:chgData name="Zhu,Dr.,Yayun (HP Medicine) BII-CN-S" userId="S::yayun.zhu@boehringer-ingelheim.com::f923e91b-1433-4718-a9fb-37abca69f87f" providerId="AD" clId="Web-{3F1D908B-3875-84E7-5682-C532B5A262F3}" dt="2025-12-13T03:55:11.671" v="283" actId="1076"/>
          <ac:spMkLst>
            <pc:docMk/>
            <pc:sldMk cId="1217884079" sldId="274"/>
            <ac:spMk id="35" creationId="{A13D7B63-8C07-03E7-565E-D8F5F07A62B2}"/>
          </ac:spMkLst>
        </pc:spChg>
        <pc:spChg chg="add mod">
          <ac:chgData name="Zhu,Dr.,Yayun (HP Medicine) BII-CN-S" userId="S::yayun.zhu@boehringer-ingelheim.com::f923e91b-1433-4718-a9fb-37abca69f87f" providerId="AD" clId="Web-{3F1D908B-3875-84E7-5682-C532B5A262F3}" dt="2025-12-13T03:50:36.978" v="232" actId="1076"/>
          <ac:spMkLst>
            <pc:docMk/>
            <pc:sldMk cId="1217884079" sldId="274"/>
            <ac:spMk id="37" creationId="{42E54068-7454-8090-6BBB-9727AAB5C186}"/>
          </ac:spMkLst>
        </pc:spChg>
        <pc:spChg chg="add mod">
          <ac:chgData name="Zhu,Dr.,Yayun (HP Medicine) BII-CN-S" userId="S::yayun.zhu@boehringer-ingelheim.com::f923e91b-1433-4718-a9fb-37abca69f87f" providerId="AD" clId="Web-{3F1D908B-3875-84E7-5682-C532B5A262F3}" dt="2025-12-13T03:50:30.509" v="228" actId="1076"/>
          <ac:spMkLst>
            <pc:docMk/>
            <pc:sldMk cId="1217884079" sldId="274"/>
            <ac:spMk id="38" creationId="{CA79F9CF-151B-7A20-090C-DF2F1B90D455}"/>
          </ac:spMkLst>
        </pc:spChg>
        <pc:spChg chg="add mod">
          <ac:chgData name="Zhu,Dr.,Yayun (HP Medicine) BII-CN-S" userId="S::yayun.zhu@boehringer-ingelheim.com::f923e91b-1433-4718-a9fb-37abca69f87f" providerId="AD" clId="Web-{3F1D908B-3875-84E7-5682-C532B5A262F3}" dt="2025-12-13T04:09:17.450" v="531" actId="1076"/>
          <ac:spMkLst>
            <pc:docMk/>
            <pc:sldMk cId="1217884079" sldId="274"/>
            <ac:spMk id="43" creationId="{E7ED5608-D8EB-2537-689D-047212AD20DA}"/>
          </ac:spMkLst>
        </pc:spChg>
        <pc:spChg chg="mod topLvl">
          <ac:chgData name="Zhu,Dr.,Yayun (HP Medicine) BII-CN-S" userId="S::yayun.zhu@boehringer-ingelheim.com::f923e91b-1433-4718-a9fb-37abca69f87f" providerId="AD" clId="Web-{3F1D908B-3875-84E7-5682-C532B5A262F3}" dt="2025-12-13T03:55:59.735" v="289"/>
          <ac:spMkLst>
            <pc:docMk/>
            <pc:sldMk cId="1217884079" sldId="274"/>
            <ac:spMk id="45" creationId="{AC296670-2EEE-42F2-D725-0687C4F50E8B}"/>
          </ac:spMkLst>
        </pc:spChg>
        <pc:spChg chg="mod topLvl">
          <ac:chgData name="Zhu,Dr.,Yayun (HP Medicine) BII-CN-S" userId="S::yayun.zhu@boehringer-ingelheim.com::f923e91b-1433-4718-a9fb-37abca69f87f" providerId="AD" clId="Web-{3F1D908B-3875-84E7-5682-C532B5A262F3}" dt="2025-12-13T03:55:59.735" v="289"/>
          <ac:spMkLst>
            <pc:docMk/>
            <pc:sldMk cId="1217884079" sldId="274"/>
            <ac:spMk id="48" creationId="{E38BA29C-AAC1-E366-2B72-F638267608A2}"/>
          </ac:spMkLst>
        </pc:spChg>
        <pc:spChg chg="mod topLvl">
          <ac:chgData name="Zhu,Dr.,Yayun (HP Medicine) BII-CN-S" userId="S::yayun.zhu@boehringer-ingelheim.com::f923e91b-1433-4718-a9fb-37abca69f87f" providerId="AD" clId="Web-{3F1D908B-3875-84E7-5682-C532B5A262F3}" dt="2025-12-13T04:07:48.104" v="527" actId="20577"/>
          <ac:spMkLst>
            <pc:docMk/>
            <pc:sldMk cId="1217884079" sldId="274"/>
            <ac:spMk id="49" creationId="{B32479EB-6F90-3AFC-5C00-85BED9459D0E}"/>
          </ac:spMkLst>
        </pc:spChg>
        <pc:spChg chg="mod">
          <ac:chgData name="Zhu,Dr.,Yayun (HP Medicine) BII-CN-S" userId="S::yayun.zhu@boehringer-ingelheim.com::f923e91b-1433-4718-a9fb-37abca69f87f" providerId="AD" clId="Web-{3F1D908B-3875-84E7-5682-C532B5A262F3}" dt="2025-12-13T03:57:36.798" v="291"/>
          <ac:spMkLst>
            <pc:docMk/>
            <pc:sldMk cId="1217884079" sldId="274"/>
            <ac:spMk id="85" creationId="{799F98E5-005C-64FD-3842-85E02EAC5E3E}"/>
          </ac:spMkLst>
        </pc:spChg>
        <pc:grpChg chg="add del">
          <ac:chgData name="Zhu,Dr.,Yayun (HP Medicine) BII-CN-S" userId="S::yayun.zhu@boehringer-ingelheim.com::f923e91b-1433-4718-a9fb-37abca69f87f" providerId="AD" clId="Web-{3F1D908B-3875-84E7-5682-C532B5A262F3}" dt="2025-12-13T03:55:59.735" v="289"/>
          <ac:grpSpMkLst>
            <pc:docMk/>
            <pc:sldMk cId="1217884079" sldId="274"/>
            <ac:grpSpMk id="44" creationId="{8F8CC1BE-E777-7124-604F-F3EA5232FBAE}"/>
          </ac:grpSpMkLst>
        </pc:grpChg>
        <pc:grpChg chg="mod topLvl">
          <ac:chgData name="Zhu,Dr.,Yayun (HP Medicine) BII-CN-S" userId="S::yayun.zhu@boehringer-ingelheim.com::f923e91b-1433-4718-a9fb-37abca69f87f" providerId="AD" clId="Web-{3F1D908B-3875-84E7-5682-C532B5A262F3}" dt="2025-12-13T03:55:59.735" v="289"/>
          <ac:grpSpMkLst>
            <pc:docMk/>
            <pc:sldMk cId="1217884079" sldId="274"/>
            <ac:grpSpMk id="47" creationId="{C4A531CF-3012-7A9F-D1CC-59FC95589C02}"/>
          </ac:grpSpMkLst>
        </pc:grpChg>
        <pc:grpChg chg="mod topLvl">
          <ac:chgData name="Zhu,Dr.,Yayun (HP Medicine) BII-CN-S" userId="S::yayun.zhu@boehringer-ingelheim.com::f923e91b-1433-4718-a9fb-37abca69f87f" providerId="AD" clId="Web-{3F1D908B-3875-84E7-5682-C532B5A262F3}" dt="2025-12-13T03:55:59.735" v="289"/>
          <ac:grpSpMkLst>
            <pc:docMk/>
            <pc:sldMk cId="1217884079" sldId="274"/>
            <ac:grpSpMk id="50" creationId="{5B0CEAC3-6749-5EE5-4F06-AA231605E351}"/>
          </ac:grpSpMkLst>
        </pc:grpChg>
        <pc:grpChg chg="mod topLvl">
          <ac:chgData name="Zhu,Dr.,Yayun (HP Medicine) BII-CN-S" userId="S::yayun.zhu@boehringer-ingelheim.com::f923e91b-1433-4718-a9fb-37abca69f87f" providerId="AD" clId="Web-{3F1D908B-3875-84E7-5682-C532B5A262F3}" dt="2025-12-13T03:55:59.735" v="289"/>
          <ac:grpSpMkLst>
            <pc:docMk/>
            <pc:sldMk cId="1217884079" sldId="274"/>
            <ac:grpSpMk id="51" creationId="{8B8A2A99-A03D-4713-B18A-67606925EBFD}"/>
          </ac:grpSpMkLst>
        </pc:grpChg>
        <pc:picChg chg="mod">
          <ac:chgData name="Zhu,Dr.,Yayun (HP Medicine) BII-CN-S" userId="S::yayun.zhu@boehringer-ingelheim.com::f923e91b-1433-4718-a9fb-37abca69f87f" providerId="AD" clId="Web-{3F1D908B-3875-84E7-5682-C532B5A262F3}" dt="2025-12-13T03:57:36.798" v="290"/>
          <ac:picMkLst>
            <pc:docMk/>
            <pc:sldMk cId="1217884079" sldId="274"/>
            <ac:picMk id="8" creationId="{B264EBB6-B28A-CEFA-6C3F-3FD0C57A1E80}"/>
          </ac:picMkLst>
        </pc:picChg>
        <pc:picChg chg="mod">
          <ac:chgData name="Zhu,Dr.,Yayun (HP Medicine) BII-CN-S" userId="S::yayun.zhu@boehringer-ingelheim.com::f923e91b-1433-4718-a9fb-37abca69f87f" providerId="AD" clId="Web-{3F1D908B-3875-84E7-5682-C532B5A262F3}" dt="2025-12-13T03:57:37.033" v="292"/>
          <ac:picMkLst>
            <pc:docMk/>
            <pc:sldMk cId="1217884079" sldId="274"/>
            <ac:picMk id="112" creationId="{923FC242-EC78-B656-A93D-39EEBED6F827}"/>
          </ac:picMkLst>
        </pc:picChg>
        <pc:cxnChg chg="mod">
          <ac:chgData name="Zhu,Dr.,Yayun (HP Medicine) BII-CN-S" userId="S::yayun.zhu@boehringer-ingelheim.com::f923e91b-1433-4718-a9fb-37abca69f87f" providerId="AD" clId="Web-{3F1D908B-3875-84E7-5682-C532B5A262F3}" dt="2025-12-13T03:33:05.252" v="33" actId="1076"/>
          <ac:cxnSpMkLst>
            <pc:docMk/>
            <pc:sldMk cId="1217884079" sldId="274"/>
            <ac:cxnSpMk id="2" creationId="{E1E35147-49F1-C0F0-A87C-DAF4F49F2A16}"/>
          </ac:cxnSpMkLst>
        </pc:cxnChg>
        <pc:cxnChg chg="add mod">
          <ac:chgData name="Zhu,Dr.,Yayun (HP Medicine) BII-CN-S" userId="S::yayun.zhu@boehringer-ingelheim.com::f923e91b-1433-4718-a9fb-37abca69f87f" providerId="AD" clId="Web-{3F1D908B-3875-84E7-5682-C532B5A262F3}" dt="2025-12-13T03:53:11.857" v="258"/>
          <ac:cxnSpMkLst>
            <pc:docMk/>
            <pc:sldMk cId="1217884079" sldId="274"/>
            <ac:cxnSpMk id="25" creationId="{94BA113F-6308-E0E6-EBCA-249F15F03F2E}"/>
          </ac:cxnSpMkLst>
        </pc:cxnChg>
        <pc:cxnChg chg="add mod">
          <ac:chgData name="Zhu,Dr.,Yayun (HP Medicine) BII-CN-S" userId="S::yayun.zhu@boehringer-ingelheim.com::f923e91b-1433-4718-a9fb-37abca69f87f" providerId="AD" clId="Web-{3F1D908B-3875-84E7-5682-C532B5A262F3}" dt="2025-12-13T03:55:11.734" v="284" actId="1076"/>
          <ac:cxnSpMkLst>
            <pc:docMk/>
            <pc:sldMk cId="1217884079" sldId="274"/>
            <ac:cxnSpMk id="39" creationId="{165B45E4-C6E1-4FC0-BAE2-83402EF7A4D7}"/>
          </ac:cxnSpMkLst>
        </pc:cxnChg>
        <pc:cxnChg chg="add mod">
          <ac:chgData name="Zhu,Dr.,Yayun (HP Medicine) BII-CN-S" userId="S::yayun.zhu@boehringer-ingelheim.com::f923e91b-1433-4718-a9fb-37abca69f87f" providerId="AD" clId="Web-{3F1D908B-3875-84E7-5682-C532B5A262F3}" dt="2025-12-13T03:55:11.812" v="285" actId="1076"/>
          <ac:cxnSpMkLst>
            <pc:docMk/>
            <pc:sldMk cId="1217884079" sldId="274"/>
            <ac:cxnSpMk id="40" creationId="{BAC255F6-ABCA-61AF-DA94-E2BBCC02860B}"/>
          </ac:cxnSpMkLst>
        </pc:cxnChg>
        <pc:cxnChg chg="add mod">
          <ac:chgData name="Zhu,Dr.,Yayun (HP Medicine) BII-CN-S" userId="S::yayun.zhu@boehringer-ingelheim.com::f923e91b-1433-4718-a9fb-37abca69f87f" providerId="AD" clId="Web-{3F1D908B-3875-84E7-5682-C532B5A262F3}" dt="2025-12-13T03:53:16.982" v="259"/>
          <ac:cxnSpMkLst>
            <pc:docMk/>
            <pc:sldMk cId="1217884079" sldId="274"/>
            <ac:cxnSpMk id="41" creationId="{CF76B03D-506A-08E2-FE4C-F34AE0C6C6E1}"/>
          </ac:cxnSpMkLst>
        </pc:cxnChg>
      </pc:sldChg>
      <pc:sldChg chg="modSp add replId">
        <pc:chgData name="Zhu,Dr.,Yayun (HP Medicine) BII-CN-S" userId="S::yayun.zhu@boehringer-ingelheim.com::f923e91b-1433-4718-a9fb-37abca69f87f" providerId="AD" clId="Web-{3F1D908B-3875-84E7-5682-C532B5A262F3}" dt="2025-12-13T04:04:14.938" v="506" actId="1076"/>
        <pc:sldMkLst>
          <pc:docMk/>
          <pc:sldMk cId="605368764" sldId="277"/>
        </pc:sldMkLst>
        <pc:picChg chg="mod">
          <ac:chgData name="Zhu,Dr.,Yayun (HP Medicine) BII-CN-S" userId="S::yayun.zhu@boehringer-ingelheim.com::f923e91b-1433-4718-a9fb-37abca69f87f" providerId="AD" clId="Web-{3F1D908B-3875-84E7-5682-C532B5A262F3}" dt="2025-12-13T04:04:14.938" v="506" actId="1076"/>
          <ac:picMkLst>
            <pc:docMk/>
            <pc:sldMk cId="605368764" sldId="277"/>
            <ac:picMk id="7" creationId="{90189EF8-326F-0479-382C-678A6AEE8CF3}"/>
          </ac:picMkLst>
        </pc:picChg>
      </pc:sldChg>
      <pc:sldChg chg="ord">
        <pc:chgData name="Zhu,Dr.,Yayun (HP Medicine) BII-CN-S" userId="S::yayun.zhu@boehringer-ingelheim.com::f923e91b-1433-4718-a9fb-37abca69f87f" providerId="AD" clId="Web-{3F1D908B-3875-84E7-5682-C532B5A262F3}" dt="2025-12-13T04:05:34.896" v="524"/>
        <pc:sldMkLst>
          <pc:docMk/>
          <pc:sldMk cId="1852872478" sldId="278"/>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boehringer.sharepoint.com/sites/z365airtivitytcm/Shared%20Documents/General/Study%20Management/12%20Recruitment/1397-0014%20-%20Graphs%20Country%20Status%20Overview%20-%20glob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_125_C71E519D.xlsx"/></Relationships>
</file>

<file path=ppt/charts/_rels/chart3.xml.rels><?xml version="1.0" encoding="UTF-8" standalone="yes"?>
<Relationships xmlns="http://schemas.openxmlformats.org/package/2006/relationships"><Relationship Id="rId3" Type="http://schemas.openxmlformats.org/officeDocument/2006/relationships/oleObject" Target="https://boehringer.sharepoint.com/sites/z365airtivitytcm/Shared%20Documents/General/Study%20Management/12%20Recruitment/1397-0014_recuritment-caliborate.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_113_3D3ADCE.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chemeClr val="tx1">
                    <a:lumMod val="65000"/>
                    <a:lumOff val="35000"/>
                  </a:schemeClr>
                </a:solidFill>
                <a:latin typeface="+mn-lt"/>
                <a:ea typeface="+mn-ea"/>
                <a:cs typeface="+mn-cs"/>
              </a:defRPr>
            </a:pPr>
            <a:r>
              <a:rPr lang="en-US" altLang="zh-CN"/>
              <a:t>Global Recruitment</a:t>
            </a:r>
            <a:endParaRPr lang="en-US"/>
          </a:p>
        </c:rich>
      </c:tx>
      <c:overlay val="0"/>
      <c:spPr>
        <a:noFill/>
        <a:ln>
          <a:noFill/>
        </a:ln>
        <a:effectLst/>
      </c:spPr>
      <c:txPr>
        <a:bodyPr rot="0" spcFirstLastPara="1" vertOverflow="ellipsis" vert="horz" wrap="square" anchor="ctr" anchorCtr="1"/>
        <a:lstStyle/>
        <a:p>
          <a:pPr>
            <a:defRPr sz="84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'OUT Subject Status'!$B$1</c:f>
              <c:strCache>
                <c:ptCount val="1"/>
                <c:pt idx="0">
                  <c:v>Planned Screened</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'OUT Subject Status'!$A$2:$A$32</c:f>
              <c:numCache>
                <c:formatCode>[$-409]mmm\-yy;@</c:formatCode>
                <c:ptCount val="31"/>
                <c:pt idx="0">
                  <c:v>45824</c:v>
                </c:pt>
                <c:pt idx="1">
                  <c:v>45854</c:v>
                </c:pt>
                <c:pt idx="2">
                  <c:v>45885</c:v>
                </c:pt>
                <c:pt idx="3">
                  <c:v>45916</c:v>
                </c:pt>
                <c:pt idx="4">
                  <c:v>45946</c:v>
                </c:pt>
                <c:pt idx="5">
                  <c:v>45977</c:v>
                </c:pt>
                <c:pt idx="6">
                  <c:v>46007</c:v>
                </c:pt>
                <c:pt idx="7">
                  <c:v>46038</c:v>
                </c:pt>
                <c:pt idx="8">
                  <c:v>46069</c:v>
                </c:pt>
                <c:pt idx="9">
                  <c:v>46097</c:v>
                </c:pt>
                <c:pt idx="10">
                  <c:v>46128</c:v>
                </c:pt>
                <c:pt idx="11">
                  <c:v>46158</c:v>
                </c:pt>
                <c:pt idx="12">
                  <c:v>46189</c:v>
                </c:pt>
                <c:pt idx="13">
                  <c:v>46219</c:v>
                </c:pt>
                <c:pt idx="14">
                  <c:v>46250</c:v>
                </c:pt>
                <c:pt idx="15">
                  <c:v>46281</c:v>
                </c:pt>
                <c:pt idx="16">
                  <c:v>46311</c:v>
                </c:pt>
                <c:pt idx="17">
                  <c:v>46342</c:v>
                </c:pt>
                <c:pt idx="18">
                  <c:v>46372</c:v>
                </c:pt>
                <c:pt idx="19">
                  <c:v>46403</c:v>
                </c:pt>
                <c:pt idx="20">
                  <c:v>46434</c:v>
                </c:pt>
                <c:pt idx="21">
                  <c:v>46462</c:v>
                </c:pt>
                <c:pt idx="22">
                  <c:v>46493</c:v>
                </c:pt>
                <c:pt idx="23">
                  <c:v>46523</c:v>
                </c:pt>
                <c:pt idx="24">
                  <c:v>46554</c:v>
                </c:pt>
                <c:pt idx="25">
                  <c:v>46584</c:v>
                </c:pt>
                <c:pt idx="26">
                  <c:v>46615</c:v>
                </c:pt>
                <c:pt idx="27">
                  <c:v>46646</c:v>
                </c:pt>
                <c:pt idx="28">
                  <c:v>46676</c:v>
                </c:pt>
                <c:pt idx="29">
                  <c:v>46707</c:v>
                </c:pt>
                <c:pt idx="30">
                  <c:v>46737</c:v>
                </c:pt>
              </c:numCache>
              <c:extLst/>
            </c:numRef>
          </c:cat>
          <c:val>
            <c:numRef>
              <c:f>'OUT Subject Status'!$B$2:$B$32</c:f>
              <c:numCache>
                <c:formatCode>General</c:formatCode>
                <c:ptCount val="31"/>
                <c:pt idx="0">
                  <c:v>1</c:v>
                </c:pt>
                <c:pt idx="1">
                  <c:v>3</c:v>
                </c:pt>
                <c:pt idx="2">
                  <c:v>10</c:v>
                </c:pt>
                <c:pt idx="3">
                  <c:v>29</c:v>
                </c:pt>
                <c:pt idx="4">
                  <c:v>57</c:v>
                </c:pt>
                <c:pt idx="5">
                  <c:v>103</c:v>
                </c:pt>
                <c:pt idx="6">
                  <c:v>161</c:v>
                </c:pt>
                <c:pt idx="7">
                  <c:v>237</c:v>
                </c:pt>
                <c:pt idx="8">
                  <c:v>327</c:v>
                </c:pt>
                <c:pt idx="9">
                  <c:v>427</c:v>
                </c:pt>
                <c:pt idx="10">
                  <c:v>536</c:v>
                </c:pt>
                <c:pt idx="11">
                  <c:v>653</c:v>
                </c:pt>
                <c:pt idx="12">
                  <c:v>777</c:v>
                </c:pt>
                <c:pt idx="13">
                  <c:v>904</c:v>
                </c:pt>
                <c:pt idx="14">
                  <c:v>1045</c:v>
                </c:pt>
                <c:pt idx="15">
                  <c:v>1214</c:v>
                </c:pt>
                <c:pt idx="16">
                  <c:v>1397</c:v>
                </c:pt>
                <c:pt idx="17">
                  <c:v>1557</c:v>
                </c:pt>
                <c:pt idx="18">
                  <c:v>1685</c:v>
                </c:pt>
                <c:pt idx="19">
                  <c:v>1814</c:v>
                </c:pt>
                <c:pt idx="20">
                  <c:v>1931</c:v>
                </c:pt>
                <c:pt idx="21">
                  <c:v>2035</c:v>
                </c:pt>
                <c:pt idx="22">
                  <c:v>2139</c:v>
                </c:pt>
                <c:pt idx="23">
                  <c:v>2243</c:v>
                </c:pt>
                <c:pt idx="24">
                  <c:v>2345</c:v>
                </c:pt>
                <c:pt idx="25">
                  <c:v>2396</c:v>
                </c:pt>
                <c:pt idx="26">
                  <c:v>2400</c:v>
                </c:pt>
                <c:pt idx="27">
                  <c:v>2400</c:v>
                </c:pt>
                <c:pt idx="28">
                  <c:v>2400</c:v>
                </c:pt>
                <c:pt idx="29">
                  <c:v>2400</c:v>
                </c:pt>
                <c:pt idx="30">
                  <c:v>2400</c:v>
                </c:pt>
              </c:numCache>
              <c:extLst/>
            </c:numRef>
          </c:val>
          <c:smooth val="0"/>
          <c:extLst>
            <c:ext xmlns:c16="http://schemas.microsoft.com/office/drawing/2014/chart" uri="{C3380CC4-5D6E-409C-BE32-E72D297353CC}">
              <c16:uniqueId val="{00000000-D424-4B9E-BA83-A1D578F78FB1}"/>
            </c:ext>
          </c:extLst>
        </c:ser>
        <c:ser>
          <c:idx val="1"/>
          <c:order val="1"/>
          <c:tx>
            <c:strRef>
              <c:f>'OUT Subject Status'!$C$1</c:f>
              <c:strCache>
                <c:ptCount val="1"/>
                <c:pt idx="0">
                  <c:v>Actual Screened </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'OUT Subject Status'!$A$2:$A$32</c:f>
              <c:numCache>
                <c:formatCode>[$-409]mmm\-yy;@</c:formatCode>
                <c:ptCount val="31"/>
                <c:pt idx="0">
                  <c:v>45824</c:v>
                </c:pt>
                <c:pt idx="1">
                  <c:v>45854</c:v>
                </c:pt>
                <c:pt idx="2">
                  <c:v>45885</c:v>
                </c:pt>
                <c:pt idx="3">
                  <c:v>45916</c:v>
                </c:pt>
                <c:pt idx="4">
                  <c:v>45946</c:v>
                </c:pt>
                <c:pt idx="5">
                  <c:v>45977</c:v>
                </c:pt>
                <c:pt idx="6">
                  <c:v>46007</c:v>
                </c:pt>
                <c:pt idx="7">
                  <c:v>46038</c:v>
                </c:pt>
                <c:pt idx="8">
                  <c:v>46069</c:v>
                </c:pt>
                <c:pt idx="9">
                  <c:v>46097</c:v>
                </c:pt>
                <c:pt idx="10">
                  <c:v>46128</c:v>
                </c:pt>
                <c:pt idx="11">
                  <c:v>46158</c:v>
                </c:pt>
                <c:pt idx="12">
                  <c:v>46189</c:v>
                </c:pt>
                <c:pt idx="13">
                  <c:v>46219</c:v>
                </c:pt>
                <c:pt idx="14">
                  <c:v>46250</c:v>
                </c:pt>
                <c:pt idx="15">
                  <c:v>46281</c:v>
                </c:pt>
                <c:pt idx="16">
                  <c:v>46311</c:v>
                </c:pt>
                <c:pt idx="17">
                  <c:v>46342</c:v>
                </c:pt>
                <c:pt idx="18">
                  <c:v>46372</c:v>
                </c:pt>
                <c:pt idx="19">
                  <c:v>46403</c:v>
                </c:pt>
                <c:pt idx="20">
                  <c:v>46434</c:v>
                </c:pt>
                <c:pt idx="21">
                  <c:v>46462</c:v>
                </c:pt>
                <c:pt idx="22">
                  <c:v>46493</c:v>
                </c:pt>
                <c:pt idx="23">
                  <c:v>46523</c:v>
                </c:pt>
                <c:pt idx="24">
                  <c:v>46554</c:v>
                </c:pt>
                <c:pt idx="25">
                  <c:v>46584</c:v>
                </c:pt>
                <c:pt idx="26">
                  <c:v>46615</c:v>
                </c:pt>
                <c:pt idx="27">
                  <c:v>46646</c:v>
                </c:pt>
                <c:pt idx="28">
                  <c:v>46676</c:v>
                </c:pt>
                <c:pt idx="29">
                  <c:v>46707</c:v>
                </c:pt>
                <c:pt idx="30">
                  <c:v>46737</c:v>
                </c:pt>
              </c:numCache>
              <c:extLst/>
            </c:numRef>
          </c:cat>
          <c:val>
            <c:numRef>
              <c:f>'OUT Subject Status'!$C$2:$C$32</c:f>
              <c:numCache>
                <c:formatCode>General</c:formatCode>
                <c:ptCount val="31"/>
                <c:pt idx="0">
                  <c:v>9</c:v>
                </c:pt>
                <c:pt idx="1">
                  <c:v>22</c:v>
                </c:pt>
                <c:pt idx="2">
                  <c:v>46</c:v>
                </c:pt>
                <c:pt idx="3">
                  <c:v>136</c:v>
                </c:pt>
                <c:pt idx="4">
                  <c:v>274</c:v>
                </c:pt>
                <c:pt idx="5">
                  <c:v>519</c:v>
                </c:pt>
                <c:pt idx="6">
                  <c:v>716</c:v>
                </c:pt>
              </c:numCache>
              <c:extLst/>
            </c:numRef>
          </c:val>
          <c:smooth val="0"/>
          <c:extLst>
            <c:ext xmlns:c16="http://schemas.microsoft.com/office/drawing/2014/chart" uri="{C3380CC4-5D6E-409C-BE32-E72D297353CC}">
              <c16:uniqueId val="{00000001-D424-4B9E-BA83-A1D578F78FB1}"/>
            </c:ext>
          </c:extLst>
        </c:ser>
        <c:ser>
          <c:idx val="2"/>
          <c:order val="2"/>
          <c:tx>
            <c:strRef>
              <c:f>'OUT Subject Status'!$D$1</c:f>
              <c:strCache>
                <c:ptCount val="1"/>
                <c:pt idx="0">
                  <c:v>Planned Randomized</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'OUT Subject Status'!$A$2:$A$32</c:f>
              <c:numCache>
                <c:formatCode>[$-409]mmm\-yy;@</c:formatCode>
                <c:ptCount val="31"/>
                <c:pt idx="0">
                  <c:v>45824</c:v>
                </c:pt>
                <c:pt idx="1">
                  <c:v>45854</c:v>
                </c:pt>
                <c:pt idx="2">
                  <c:v>45885</c:v>
                </c:pt>
                <c:pt idx="3">
                  <c:v>45916</c:v>
                </c:pt>
                <c:pt idx="4">
                  <c:v>45946</c:v>
                </c:pt>
                <c:pt idx="5">
                  <c:v>45977</c:v>
                </c:pt>
                <c:pt idx="6">
                  <c:v>46007</c:v>
                </c:pt>
                <c:pt idx="7">
                  <c:v>46038</c:v>
                </c:pt>
                <c:pt idx="8">
                  <c:v>46069</c:v>
                </c:pt>
                <c:pt idx="9">
                  <c:v>46097</c:v>
                </c:pt>
                <c:pt idx="10">
                  <c:v>46128</c:v>
                </c:pt>
                <c:pt idx="11">
                  <c:v>46158</c:v>
                </c:pt>
                <c:pt idx="12">
                  <c:v>46189</c:v>
                </c:pt>
                <c:pt idx="13">
                  <c:v>46219</c:v>
                </c:pt>
                <c:pt idx="14">
                  <c:v>46250</c:v>
                </c:pt>
                <c:pt idx="15">
                  <c:v>46281</c:v>
                </c:pt>
                <c:pt idx="16">
                  <c:v>46311</c:v>
                </c:pt>
                <c:pt idx="17">
                  <c:v>46342</c:v>
                </c:pt>
                <c:pt idx="18">
                  <c:v>46372</c:v>
                </c:pt>
                <c:pt idx="19">
                  <c:v>46403</c:v>
                </c:pt>
                <c:pt idx="20">
                  <c:v>46434</c:v>
                </c:pt>
                <c:pt idx="21">
                  <c:v>46462</c:v>
                </c:pt>
                <c:pt idx="22">
                  <c:v>46493</c:v>
                </c:pt>
                <c:pt idx="23">
                  <c:v>46523</c:v>
                </c:pt>
                <c:pt idx="24">
                  <c:v>46554</c:v>
                </c:pt>
                <c:pt idx="25">
                  <c:v>46584</c:v>
                </c:pt>
                <c:pt idx="26">
                  <c:v>46615</c:v>
                </c:pt>
                <c:pt idx="27">
                  <c:v>46646</c:v>
                </c:pt>
                <c:pt idx="28">
                  <c:v>46676</c:v>
                </c:pt>
                <c:pt idx="29">
                  <c:v>46707</c:v>
                </c:pt>
                <c:pt idx="30">
                  <c:v>46737</c:v>
                </c:pt>
              </c:numCache>
              <c:extLst/>
            </c:numRef>
          </c:cat>
          <c:val>
            <c:numRef>
              <c:f>'OUT Subject Status'!$D$2:$D$32</c:f>
              <c:numCache>
                <c:formatCode>General</c:formatCode>
                <c:ptCount val="31"/>
                <c:pt idx="0">
                  <c:v>0</c:v>
                </c:pt>
                <c:pt idx="1">
                  <c:v>1</c:v>
                </c:pt>
                <c:pt idx="2">
                  <c:v>2</c:v>
                </c:pt>
                <c:pt idx="3">
                  <c:v>7</c:v>
                </c:pt>
                <c:pt idx="4">
                  <c:v>20</c:v>
                </c:pt>
                <c:pt idx="5">
                  <c:v>40</c:v>
                </c:pt>
                <c:pt idx="6">
                  <c:v>72</c:v>
                </c:pt>
                <c:pt idx="7">
                  <c:v>113</c:v>
                </c:pt>
                <c:pt idx="8">
                  <c:v>166</c:v>
                </c:pt>
                <c:pt idx="9">
                  <c:v>229</c:v>
                </c:pt>
                <c:pt idx="10">
                  <c:v>299</c:v>
                </c:pt>
                <c:pt idx="11">
                  <c:v>375</c:v>
                </c:pt>
                <c:pt idx="12">
                  <c:v>457</c:v>
                </c:pt>
                <c:pt idx="13">
                  <c:v>544</c:v>
                </c:pt>
                <c:pt idx="14">
                  <c:v>633</c:v>
                </c:pt>
                <c:pt idx="15">
                  <c:v>732</c:v>
                </c:pt>
                <c:pt idx="16">
                  <c:v>850</c:v>
                </c:pt>
                <c:pt idx="17">
                  <c:v>978</c:v>
                </c:pt>
                <c:pt idx="18">
                  <c:v>1090</c:v>
                </c:pt>
                <c:pt idx="19">
                  <c:v>1180</c:v>
                </c:pt>
                <c:pt idx="20">
                  <c:v>1270</c:v>
                </c:pt>
                <c:pt idx="21">
                  <c:v>1352</c:v>
                </c:pt>
                <c:pt idx="22">
                  <c:v>1425</c:v>
                </c:pt>
                <c:pt idx="23">
                  <c:v>1498</c:v>
                </c:pt>
                <c:pt idx="24">
                  <c:v>1571</c:v>
                </c:pt>
                <c:pt idx="25">
                  <c:v>1642</c:v>
                </c:pt>
                <c:pt idx="26">
                  <c:v>1678</c:v>
                </c:pt>
                <c:pt idx="27">
                  <c:v>1680</c:v>
                </c:pt>
                <c:pt idx="28">
                  <c:v>1680</c:v>
                </c:pt>
                <c:pt idx="29">
                  <c:v>1680</c:v>
                </c:pt>
                <c:pt idx="30">
                  <c:v>1680</c:v>
                </c:pt>
              </c:numCache>
              <c:extLst/>
            </c:numRef>
          </c:val>
          <c:smooth val="0"/>
          <c:extLst>
            <c:ext xmlns:c16="http://schemas.microsoft.com/office/drawing/2014/chart" uri="{C3380CC4-5D6E-409C-BE32-E72D297353CC}">
              <c16:uniqueId val="{00000002-D424-4B9E-BA83-A1D578F78FB1}"/>
            </c:ext>
          </c:extLst>
        </c:ser>
        <c:ser>
          <c:idx val="3"/>
          <c:order val="3"/>
          <c:tx>
            <c:strRef>
              <c:f>'OUT Subject Status'!$E$1</c:f>
              <c:strCache>
                <c:ptCount val="1"/>
                <c:pt idx="0">
                  <c:v>Actual Randomized</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anchor="ctr" anchorCtr="1"/>
              <a:lstStyle/>
              <a:p>
                <a:pPr>
                  <a:defRPr sz="700" b="0" i="0" u="none" strike="noStrike" kern="1200" baseline="0">
                    <a:solidFill>
                      <a:schemeClr val="tx1">
                        <a:lumMod val="75000"/>
                        <a:lumOff val="25000"/>
                      </a:schemeClr>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'OUT Subject Status'!$A$2:$A$32</c:f>
              <c:numCache>
                <c:formatCode>[$-409]mmm\-yy;@</c:formatCode>
                <c:ptCount val="31"/>
                <c:pt idx="0">
                  <c:v>45824</c:v>
                </c:pt>
                <c:pt idx="1">
                  <c:v>45854</c:v>
                </c:pt>
                <c:pt idx="2">
                  <c:v>45885</c:v>
                </c:pt>
                <c:pt idx="3">
                  <c:v>45916</c:v>
                </c:pt>
                <c:pt idx="4">
                  <c:v>45946</c:v>
                </c:pt>
                <c:pt idx="5">
                  <c:v>45977</c:v>
                </c:pt>
                <c:pt idx="6">
                  <c:v>46007</c:v>
                </c:pt>
                <c:pt idx="7">
                  <c:v>46038</c:v>
                </c:pt>
                <c:pt idx="8">
                  <c:v>46069</c:v>
                </c:pt>
                <c:pt idx="9">
                  <c:v>46097</c:v>
                </c:pt>
                <c:pt idx="10">
                  <c:v>46128</c:v>
                </c:pt>
                <c:pt idx="11">
                  <c:v>46158</c:v>
                </c:pt>
                <c:pt idx="12">
                  <c:v>46189</c:v>
                </c:pt>
                <c:pt idx="13">
                  <c:v>46219</c:v>
                </c:pt>
                <c:pt idx="14">
                  <c:v>46250</c:v>
                </c:pt>
                <c:pt idx="15">
                  <c:v>46281</c:v>
                </c:pt>
                <c:pt idx="16">
                  <c:v>46311</c:v>
                </c:pt>
                <c:pt idx="17">
                  <c:v>46342</c:v>
                </c:pt>
                <c:pt idx="18">
                  <c:v>46372</c:v>
                </c:pt>
                <c:pt idx="19">
                  <c:v>46403</c:v>
                </c:pt>
                <c:pt idx="20">
                  <c:v>46434</c:v>
                </c:pt>
                <c:pt idx="21">
                  <c:v>46462</c:v>
                </c:pt>
                <c:pt idx="22">
                  <c:v>46493</c:v>
                </c:pt>
                <c:pt idx="23">
                  <c:v>46523</c:v>
                </c:pt>
                <c:pt idx="24">
                  <c:v>46554</c:v>
                </c:pt>
                <c:pt idx="25">
                  <c:v>46584</c:v>
                </c:pt>
                <c:pt idx="26">
                  <c:v>46615</c:v>
                </c:pt>
                <c:pt idx="27">
                  <c:v>46646</c:v>
                </c:pt>
                <c:pt idx="28">
                  <c:v>46676</c:v>
                </c:pt>
                <c:pt idx="29">
                  <c:v>46707</c:v>
                </c:pt>
                <c:pt idx="30">
                  <c:v>46737</c:v>
                </c:pt>
              </c:numCache>
              <c:extLst/>
            </c:numRef>
          </c:cat>
          <c:val>
            <c:numRef>
              <c:f>'OUT Subject Status'!$E$2:$E$32</c:f>
              <c:numCache>
                <c:formatCode>General</c:formatCode>
                <c:ptCount val="31"/>
                <c:pt idx="0">
                  <c:v>0</c:v>
                </c:pt>
                <c:pt idx="1">
                  <c:v>8</c:v>
                </c:pt>
                <c:pt idx="2">
                  <c:v>18</c:v>
                </c:pt>
                <c:pt idx="3">
                  <c:v>43</c:v>
                </c:pt>
                <c:pt idx="4">
                  <c:v>114</c:v>
                </c:pt>
                <c:pt idx="5">
                  <c:v>251</c:v>
                </c:pt>
                <c:pt idx="6">
                  <c:v>368</c:v>
                </c:pt>
              </c:numCache>
              <c:extLst/>
            </c:numRef>
          </c:val>
          <c:smooth val="0"/>
          <c:extLst>
            <c:ext xmlns:c16="http://schemas.microsoft.com/office/drawing/2014/chart" uri="{C3380CC4-5D6E-409C-BE32-E72D297353CC}">
              <c16:uniqueId val="{00000003-D424-4B9E-BA83-A1D578F78FB1}"/>
            </c:ext>
          </c:extLst>
        </c:ser>
        <c:dLbls>
          <c:dLblPos val="l"/>
          <c:showLegendKey val="0"/>
          <c:showVal val="1"/>
          <c:showCatName val="0"/>
          <c:showSerName val="0"/>
          <c:showPercent val="0"/>
          <c:showBubbleSize val="0"/>
        </c:dLbls>
        <c:smooth val="0"/>
        <c:axId val="1069321400"/>
        <c:axId val="1069322120"/>
      </c:lineChart>
      <c:dateAx>
        <c:axId val="1069321400"/>
        <c:scaling>
          <c:orientation val="minMax"/>
        </c:scaling>
        <c:delete val="0"/>
        <c:axPos val="b"/>
        <c:numFmt formatCode="[$-409]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1069322120"/>
        <c:crosses val="autoZero"/>
        <c:auto val="1"/>
        <c:lblOffset val="100"/>
        <c:baseTimeUnit val="months"/>
      </c:dateAx>
      <c:valAx>
        <c:axId val="10693221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1069321400"/>
        <c:crosses val="autoZero"/>
        <c:crossBetween val="between"/>
      </c:valAx>
      <c:dTable>
        <c:showHorzBorder val="1"/>
        <c:showVertBorder val="1"/>
        <c:showOutline val="1"/>
        <c:showKeys val="0"/>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7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7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Mainland!$E$243</c:f>
              <c:strCache>
                <c:ptCount val="1"/>
                <c:pt idx="0">
                  <c:v>Screening Total-p</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Mainland!$F$242:$AE$242</c:f>
              <c:strCache>
                <c:ptCount val="26"/>
                <c:pt idx="0">
                  <c:v>Jul 2025</c:v>
                </c:pt>
                <c:pt idx="1">
                  <c:v>Aug 2025</c:v>
                </c:pt>
                <c:pt idx="2">
                  <c:v>Sep-25</c:v>
                </c:pt>
                <c:pt idx="3">
                  <c:v>Oct-25</c:v>
                </c:pt>
                <c:pt idx="4">
                  <c:v>Nov-25</c:v>
                </c:pt>
                <c:pt idx="5">
                  <c:v>Dec-25</c:v>
                </c:pt>
                <c:pt idx="6">
                  <c:v>Jan-26</c:v>
                </c:pt>
                <c:pt idx="7">
                  <c:v>Feb-26</c:v>
                </c:pt>
                <c:pt idx="8">
                  <c:v>Mar-26</c:v>
                </c:pt>
                <c:pt idx="9">
                  <c:v>Apr-26</c:v>
                </c:pt>
                <c:pt idx="10">
                  <c:v>May-26</c:v>
                </c:pt>
                <c:pt idx="11">
                  <c:v>Jun-26</c:v>
                </c:pt>
                <c:pt idx="12">
                  <c:v>Jul-26</c:v>
                </c:pt>
                <c:pt idx="13">
                  <c:v>Aug-26</c:v>
                </c:pt>
                <c:pt idx="14">
                  <c:v>Sep-26</c:v>
                </c:pt>
                <c:pt idx="15">
                  <c:v>Oct-26</c:v>
                </c:pt>
                <c:pt idx="16">
                  <c:v>Nov-26</c:v>
                </c:pt>
                <c:pt idx="17">
                  <c:v>Dec-26</c:v>
                </c:pt>
                <c:pt idx="18">
                  <c:v>Jan-27</c:v>
                </c:pt>
                <c:pt idx="19">
                  <c:v>Feb-27</c:v>
                </c:pt>
                <c:pt idx="20">
                  <c:v>Mar-27</c:v>
                </c:pt>
                <c:pt idx="21">
                  <c:v>Apr-27</c:v>
                </c:pt>
                <c:pt idx="22">
                  <c:v>May-27</c:v>
                </c:pt>
                <c:pt idx="23">
                  <c:v>Jun-27</c:v>
                </c:pt>
                <c:pt idx="24">
                  <c:v>Jul-27</c:v>
                </c:pt>
                <c:pt idx="25">
                  <c:v>Aug-27</c:v>
                </c:pt>
              </c:strCache>
            </c:strRef>
          </c:cat>
          <c:val>
            <c:numRef>
              <c:f>Mainland!$F$243:$AE$243</c:f>
              <c:numCache>
                <c:formatCode>0</c:formatCode>
                <c:ptCount val="26"/>
                <c:pt idx="0">
                  <c:v>0</c:v>
                </c:pt>
                <c:pt idx="1">
                  <c:v>4</c:v>
                </c:pt>
                <c:pt idx="2">
                  <c:v>16</c:v>
                </c:pt>
                <c:pt idx="3">
                  <c:v>32</c:v>
                </c:pt>
                <c:pt idx="4">
                  <c:v>49.333333333333336</c:v>
                </c:pt>
                <c:pt idx="5">
                  <c:v>69.230769230769226</c:v>
                </c:pt>
                <c:pt idx="6">
                  <c:v>83.07692307692308</c:v>
                </c:pt>
                <c:pt idx="7">
                  <c:v>89.230769230769226</c:v>
                </c:pt>
                <c:pt idx="8">
                  <c:v>109.23076923076923</c:v>
                </c:pt>
                <c:pt idx="9">
                  <c:v>121.53846153846153</c:v>
                </c:pt>
                <c:pt idx="10">
                  <c:v>136.92307692307691</c:v>
                </c:pt>
                <c:pt idx="11">
                  <c:v>144.61538461538461</c:v>
                </c:pt>
                <c:pt idx="12">
                  <c:v>158.46153846153845</c:v>
                </c:pt>
                <c:pt idx="13">
                  <c:v>161.53846153846152</c:v>
                </c:pt>
                <c:pt idx="14">
                  <c:v>184.61538461538461</c:v>
                </c:pt>
                <c:pt idx="15">
                  <c:v>203.07692307692307</c:v>
                </c:pt>
                <c:pt idx="16">
                  <c:v>220</c:v>
                </c:pt>
                <c:pt idx="17">
                  <c:v>232.30769230769229</c:v>
                </c:pt>
                <c:pt idx="18">
                  <c:v>240</c:v>
                </c:pt>
                <c:pt idx="19">
                  <c:v>247.69230769230768</c:v>
                </c:pt>
                <c:pt idx="20">
                  <c:v>263.07692307692309</c:v>
                </c:pt>
                <c:pt idx="21">
                  <c:v>273.84615384615381</c:v>
                </c:pt>
                <c:pt idx="22">
                  <c:v>284.61538461538458</c:v>
                </c:pt>
                <c:pt idx="23">
                  <c:v>298.46153846153845</c:v>
                </c:pt>
                <c:pt idx="24">
                  <c:v>303.07692307692309</c:v>
                </c:pt>
                <c:pt idx="25">
                  <c:v>309.23076923076923</c:v>
                </c:pt>
              </c:numCache>
            </c:numRef>
          </c:val>
          <c:smooth val="0"/>
          <c:extLst>
            <c:ext xmlns:c16="http://schemas.microsoft.com/office/drawing/2014/chart" uri="{C3380CC4-5D6E-409C-BE32-E72D297353CC}">
              <c16:uniqueId val="{00000000-6DF8-403A-9358-F19DFDF753F2}"/>
            </c:ext>
          </c:extLst>
        </c:ser>
        <c:ser>
          <c:idx val="1"/>
          <c:order val="1"/>
          <c:tx>
            <c:strRef>
              <c:f>Mainland!$E$244</c:f>
              <c:strCache>
                <c:ptCount val="1"/>
                <c:pt idx="0">
                  <c:v>Screening Total-a</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elete val="1"/>
          </c:dLbls>
          <c:cat>
            <c:strRef>
              <c:f>Mainland!$F$242:$AE$242</c:f>
              <c:strCache>
                <c:ptCount val="26"/>
                <c:pt idx="0">
                  <c:v>Jul 2025</c:v>
                </c:pt>
                <c:pt idx="1">
                  <c:v>Aug 2025</c:v>
                </c:pt>
                <c:pt idx="2">
                  <c:v>Sep-25</c:v>
                </c:pt>
                <c:pt idx="3">
                  <c:v>Oct-25</c:v>
                </c:pt>
                <c:pt idx="4">
                  <c:v>Nov-25</c:v>
                </c:pt>
                <c:pt idx="5">
                  <c:v>Dec-25</c:v>
                </c:pt>
                <c:pt idx="6">
                  <c:v>Jan-26</c:v>
                </c:pt>
                <c:pt idx="7">
                  <c:v>Feb-26</c:v>
                </c:pt>
                <c:pt idx="8">
                  <c:v>Mar-26</c:v>
                </c:pt>
                <c:pt idx="9">
                  <c:v>Apr-26</c:v>
                </c:pt>
                <c:pt idx="10">
                  <c:v>May-26</c:v>
                </c:pt>
                <c:pt idx="11">
                  <c:v>Jun-26</c:v>
                </c:pt>
                <c:pt idx="12">
                  <c:v>Jul-26</c:v>
                </c:pt>
                <c:pt idx="13">
                  <c:v>Aug-26</c:v>
                </c:pt>
                <c:pt idx="14">
                  <c:v>Sep-26</c:v>
                </c:pt>
                <c:pt idx="15">
                  <c:v>Oct-26</c:v>
                </c:pt>
                <c:pt idx="16">
                  <c:v>Nov-26</c:v>
                </c:pt>
                <c:pt idx="17">
                  <c:v>Dec-26</c:v>
                </c:pt>
                <c:pt idx="18">
                  <c:v>Jan-27</c:v>
                </c:pt>
                <c:pt idx="19">
                  <c:v>Feb-27</c:v>
                </c:pt>
                <c:pt idx="20">
                  <c:v>Mar-27</c:v>
                </c:pt>
                <c:pt idx="21">
                  <c:v>Apr-27</c:v>
                </c:pt>
                <c:pt idx="22">
                  <c:v>May-27</c:v>
                </c:pt>
                <c:pt idx="23">
                  <c:v>Jun-27</c:v>
                </c:pt>
                <c:pt idx="24">
                  <c:v>Jul-27</c:v>
                </c:pt>
                <c:pt idx="25">
                  <c:v>Aug-27</c:v>
                </c:pt>
              </c:strCache>
            </c:strRef>
          </c:cat>
          <c:val>
            <c:numRef>
              <c:f>Mainland!$F$244:$AE$244</c:f>
              <c:numCache>
                <c:formatCode>General</c:formatCode>
                <c:ptCount val="26"/>
                <c:pt idx="0">
                  <c:v>1</c:v>
                </c:pt>
                <c:pt idx="1">
                  <c:v>8</c:v>
                </c:pt>
                <c:pt idx="2">
                  <c:v>32</c:v>
                </c:pt>
                <c:pt idx="3" formatCode="0">
                  <c:v>46</c:v>
                </c:pt>
                <c:pt idx="4" formatCode="0">
                  <c:v>110</c:v>
                </c:pt>
                <c:pt idx="5" formatCode="0">
                  <c:v>134</c:v>
                </c:pt>
              </c:numCache>
            </c:numRef>
          </c:val>
          <c:smooth val="0"/>
          <c:extLst>
            <c:ext xmlns:c16="http://schemas.microsoft.com/office/drawing/2014/chart" uri="{C3380CC4-5D6E-409C-BE32-E72D297353CC}">
              <c16:uniqueId val="{00000001-6DF8-403A-9358-F19DFDF753F2}"/>
            </c:ext>
          </c:extLst>
        </c:ser>
        <c:ser>
          <c:idx val="2"/>
          <c:order val="2"/>
          <c:tx>
            <c:strRef>
              <c:f>Mainland!$E$245</c:f>
              <c:strCache>
                <c:ptCount val="1"/>
                <c:pt idx="0">
                  <c:v>Enrollment Total-p</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Mainland!$F$242:$AE$242</c:f>
              <c:strCache>
                <c:ptCount val="26"/>
                <c:pt idx="0">
                  <c:v>Jul 2025</c:v>
                </c:pt>
                <c:pt idx="1">
                  <c:v>Aug 2025</c:v>
                </c:pt>
                <c:pt idx="2">
                  <c:v>Sep-25</c:v>
                </c:pt>
                <c:pt idx="3">
                  <c:v>Oct-25</c:v>
                </c:pt>
                <c:pt idx="4">
                  <c:v>Nov-25</c:v>
                </c:pt>
                <c:pt idx="5">
                  <c:v>Dec-25</c:v>
                </c:pt>
                <c:pt idx="6">
                  <c:v>Jan-26</c:v>
                </c:pt>
                <c:pt idx="7">
                  <c:v>Feb-26</c:v>
                </c:pt>
                <c:pt idx="8">
                  <c:v>Mar-26</c:v>
                </c:pt>
                <c:pt idx="9">
                  <c:v>Apr-26</c:v>
                </c:pt>
                <c:pt idx="10">
                  <c:v>May-26</c:v>
                </c:pt>
                <c:pt idx="11">
                  <c:v>Jun-26</c:v>
                </c:pt>
                <c:pt idx="12">
                  <c:v>Jul-26</c:v>
                </c:pt>
                <c:pt idx="13">
                  <c:v>Aug-26</c:v>
                </c:pt>
                <c:pt idx="14">
                  <c:v>Sep-26</c:v>
                </c:pt>
                <c:pt idx="15">
                  <c:v>Oct-26</c:v>
                </c:pt>
                <c:pt idx="16">
                  <c:v>Nov-26</c:v>
                </c:pt>
                <c:pt idx="17">
                  <c:v>Dec-26</c:v>
                </c:pt>
                <c:pt idx="18">
                  <c:v>Jan-27</c:v>
                </c:pt>
                <c:pt idx="19">
                  <c:v>Feb-27</c:v>
                </c:pt>
                <c:pt idx="20">
                  <c:v>Mar-27</c:v>
                </c:pt>
                <c:pt idx="21">
                  <c:v>Apr-27</c:v>
                </c:pt>
                <c:pt idx="22">
                  <c:v>May-27</c:v>
                </c:pt>
                <c:pt idx="23">
                  <c:v>Jun-27</c:v>
                </c:pt>
                <c:pt idx="24">
                  <c:v>Jul-27</c:v>
                </c:pt>
                <c:pt idx="25">
                  <c:v>Aug-27</c:v>
                </c:pt>
              </c:strCache>
            </c:strRef>
          </c:cat>
          <c:val>
            <c:numRef>
              <c:f>Mainland!$F$245:$AE$245</c:f>
              <c:numCache>
                <c:formatCode>0</c:formatCode>
                <c:ptCount val="26"/>
                <c:pt idx="0">
                  <c:v>0</c:v>
                </c:pt>
                <c:pt idx="1">
                  <c:v>0</c:v>
                </c:pt>
                <c:pt idx="2">
                  <c:v>4</c:v>
                </c:pt>
                <c:pt idx="3">
                  <c:v>12</c:v>
                </c:pt>
                <c:pt idx="4">
                  <c:v>37</c:v>
                </c:pt>
                <c:pt idx="5">
                  <c:v>45</c:v>
                </c:pt>
                <c:pt idx="6">
                  <c:v>54</c:v>
                </c:pt>
                <c:pt idx="7">
                  <c:v>58</c:v>
                </c:pt>
                <c:pt idx="8">
                  <c:v>71</c:v>
                </c:pt>
                <c:pt idx="9">
                  <c:v>79</c:v>
                </c:pt>
                <c:pt idx="10">
                  <c:v>89</c:v>
                </c:pt>
                <c:pt idx="11">
                  <c:v>94</c:v>
                </c:pt>
                <c:pt idx="12">
                  <c:v>103</c:v>
                </c:pt>
                <c:pt idx="13">
                  <c:v>105</c:v>
                </c:pt>
                <c:pt idx="14">
                  <c:v>120</c:v>
                </c:pt>
                <c:pt idx="15">
                  <c:v>132</c:v>
                </c:pt>
                <c:pt idx="16">
                  <c:v>143</c:v>
                </c:pt>
                <c:pt idx="17">
                  <c:v>151</c:v>
                </c:pt>
                <c:pt idx="18">
                  <c:v>156</c:v>
                </c:pt>
                <c:pt idx="19">
                  <c:v>161</c:v>
                </c:pt>
                <c:pt idx="20">
                  <c:v>171</c:v>
                </c:pt>
                <c:pt idx="21">
                  <c:v>178</c:v>
                </c:pt>
                <c:pt idx="22">
                  <c:v>185</c:v>
                </c:pt>
                <c:pt idx="23">
                  <c:v>194</c:v>
                </c:pt>
                <c:pt idx="24">
                  <c:v>197</c:v>
                </c:pt>
                <c:pt idx="25">
                  <c:v>201</c:v>
                </c:pt>
              </c:numCache>
            </c:numRef>
          </c:val>
          <c:smooth val="0"/>
          <c:extLst>
            <c:ext xmlns:c16="http://schemas.microsoft.com/office/drawing/2014/chart" uri="{C3380CC4-5D6E-409C-BE32-E72D297353CC}">
              <c16:uniqueId val="{00000002-6DF8-403A-9358-F19DFDF753F2}"/>
            </c:ext>
          </c:extLst>
        </c:ser>
        <c:ser>
          <c:idx val="3"/>
          <c:order val="3"/>
          <c:tx>
            <c:strRef>
              <c:f>Mainland!$E$246</c:f>
              <c:strCache>
                <c:ptCount val="1"/>
                <c:pt idx="0">
                  <c:v>Enrollment Total-a</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dLbls>
            <c:delete val="1"/>
          </c:dLbls>
          <c:cat>
            <c:strRef>
              <c:f>Mainland!$F$242:$AE$242</c:f>
              <c:strCache>
                <c:ptCount val="26"/>
                <c:pt idx="0">
                  <c:v>Jul 2025</c:v>
                </c:pt>
                <c:pt idx="1">
                  <c:v>Aug 2025</c:v>
                </c:pt>
                <c:pt idx="2">
                  <c:v>Sep-25</c:v>
                </c:pt>
                <c:pt idx="3">
                  <c:v>Oct-25</c:v>
                </c:pt>
                <c:pt idx="4">
                  <c:v>Nov-25</c:v>
                </c:pt>
                <c:pt idx="5">
                  <c:v>Dec-25</c:v>
                </c:pt>
                <c:pt idx="6">
                  <c:v>Jan-26</c:v>
                </c:pt>
                <c:pt idx="7">
                  <c:v>Feb-26</c:v>
                </c:pt>
                <c:pt idx="8">
                  <c:v>Mar-26</c:v>
                </c:pt>
                <c:pt idx="9">
                  <c:v>Apr-26</c:v>
                </c:pt>
                <c:pt idx="10">
                  <c:v>May-26</c:v>
                </c:pt>
                <c:pt idx="11">
                  <c:v>Jun-26</c:v>
                </c:pt>
                <c:pt idx="12">
                  <c:v>Jul-26</c:v>
                </c:pt>
                <c:pt idx="13">
                  <c:v>Aug-26</c:v>
                </c:pt>
                <c:pt idx="14">
                  <c:v>Sep-26</c:v>
                </c:pt>
                <c:pt idx="15">
                  <c:v>Oct-26</c:v>
                </c:pt>
                <c:pt idx="16">
                  <c:v>Nov-26</c:v>
                </c:pt>
                <c:pt idx="17">
                  <c:v>Dec-26</c:v>
                </c:pt>
                <c:pt idx="18">
                  <c:v>Jan-27</c:v>
                </c:pt>
                <c:pt idx="19">
                  <c:v>Feb-27</c:v>
                </c:pt>
                <c:pt idx="20">
                  <c:v>Mar-27</c:v>
                </c:pt>
                <c:pt idx="21">
                  <c:v>Apr-27</c:v>
                </c:pt>
                <c:pt idx="22">
                  <c:v>May-27</c:v>
                </c:pt>
                <c:pt idx="23">
                  <c:v>Jun-27</c:v>
                </c:pt>
                <c:pt idx="24">
                  <c:v>Jul-27</c:v>
                </c:pt>
                <c:pt idx="25">
                  <c:v>Aug-27</c:v>
                </c:pt>
              </c:strCache>
            </c:strRef>
          </c:cat>
          <c:val>
            <c:numRef>
              <c:f>Mainland!$F$246:$AE$246</c:f>
              <c:numCache>
                <c:formatCode>General</c:formatCode>
                <c:ptCount val="26"/>
                <c:pt idx="0">
                  <c:v>0</c:v>
                </c:pt>
                <c:pt idx="1">
                  <c:v>2</c:v>
                </c:pt>
                <c:pt idx="2">
                  <c:v>10</c:v>
                </c:pt>
                <c:pt idx="3">
                  <c:v>19</c:v>
                </c:pt>
                <c:pt idx="4">
                  <c:v>69</c:v>
                </c:pt>
                <c:pt idx="5" formatCode="0">
                  <c:v>80</c:v>
                </c:pt>
              </c:numCache>
            </c:numRef>
          </c:val>
          <c:smooth val="0"/>
          <c:extLst>
            <c:ext xmlns:c16="http://schemas.microsoft.com/office/drawing/2014/chart" uri="{C3380CC4-5D6E-409C-BE32-E72D297353CC}">
              <c16:uniqueId val="{00000003-6DF8-403A-9358-F19DFDF753F2}"/>
            </c:ext>
          </c:extLst>
        </c:ser>
        <c:dLbls>
          <c:dLblPos val="r"/>
          <c:showLegendKey val="0"/>
          <c:showVal val="1"/>
          <c:showCatName val="0"/>
          <c:showSerName val="0"/>
          <c:showPercent val="0"/>
          <c:showBubbleSize val="0"/>
        </c:dLbls>
        <c:marker val="1"/>
        <c:smooth val="0"/>
        <c:axId val="1004786968"/>
        <c:axId val="1004789128"/>
      </c:lineChart>
      <c:catAx>
        <c:axId val="1004786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004789128"/>
        <c:crossesAt val="0"/>
        <c:auto val="1"/>
        <c:lblAlgn val="ctr"/>
        <c:lblOffset val="100"/>
        <c:noMultiLvlLbl val="0"/>
      </c:catAx>
      <c:valAx>
        <c:axId val="100478912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00478696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zh-CN"/>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sz="1400" b="0" i="0" u="none" strike="noStrike" kern="1200" spc="0" baseline="0">
                <a:solidFill>
                  <a:sysClr val="windowText" lastClr="000000">
                    <a:lumMod val="65000"/>
                    <a:lumOff val="35000"/>
                  </a:sysClr>
                </a:solidFill>
              </a:rPr>
              <a:t>Recrutiment - Mainland- accelerated</a:t>
            </a:r>
            <a:endParaRPr lang="en-US" sz="1400" b="0" i="0" u="none" strike="noStrike" kern="1200" spc="0" baseline="0">
              <a:solidFill>
                <a:sysClr val="windowText" lastClr="000000">
                  <a:lumMod val="65000"/>
                  <a:lumOff val="35000"/>
                </a:sys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Mainland!$E$306</c:f>
              <c:strCache>
                <c:ptCount val="1"/>
                <c:pt idx="0">
                  <c:v>Screening Total-p</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Mainland!$F$305:$R$305</c:f>
              <c:strCache>
                <c:ptCount val="13"/>
                <c:pt idx="0">
                  <c:v>Jul 2025</c:v>
                </c:pt>
                <c:pt idx="1">
                  <c:v>Aug 2025</c:v>
                </c:pt>
                <c:pt idx="2">
                  <c:v>Sep-25</c:v>
                </c:pt>
                <c:pt idx="3">
                  <c:v>Oct-25</c:v>
                </c:pt>
                <c:pt idx="4">
                  <c:v>Nov-25</c:v>
                </c:pt>
                <c:pt idx="5">
                  <c:v>Dec-25</c:v>
                </c:pt>
                <c:pt idx="6">
                  <c:v>Jan-26</c:v>
                </c:pt>
                <c:pt idx="7">
                  <c:v>Feb-26</c:v>
                </c:pt>
                <c:pt idx="8">
                  <c:v>Mar-26</c:v>
                </c:pt>
                <c:pt idx="9">
                  <c:v>Apr-26</c:v>
                </c:pt>
                <c:pt idx="10">
                  <c:v>May-26</c:v>
                </c:pt>
                <c:pt idx="11">
                  <c:v>Jun-26</c:v>
                </c:pt>
                <c:pt idx="12">
                  <c:v>Jul-26</c:v>
                </c:pt>
              </c:strCache>
            </c:strRef>
          </c:cat>
          <c:val>
            <c:numRef>
              <c:f>Mainland!$F$306:$R$306</c:f>
              <c:numCache>
                <c:formatCode>0</c:formatCode>
                <c:ptCount val="13"/>
                <c:pt idx="0">
                  <c:v>0</c:v>
                </c:pt>
                <c:pt idx="1">
                  <c:v>4</c:v>
                </c:pt>
                <c:pt idx="2">
                  <c:v>16</c:v>
                </c:pt>
                <c:pt idx="3">
                  <c:v>32</c:v>
                </c:pt>
                <c:pt idx="4">
                  <c:v>105</c:v>
                </c:pt>
                <c:pt idx="5">
                  <c:v>135</c:v>
                </c:pt>
                <c:pt idx="6">
                  <c:v>180</c:v>
                </c:pt>
                <c:pt idx="7">
                  <c:v>200</c:v>
                </c:pt>
                <c:pt idx="8">
                  <c:v>230</c:v>
                </c:pt>
                <c:pt idx="9">
                  <c:v>260</c:v>
                </c:pt>
                <c:pt idx="10">
                  <c:v>283</c:v>
                </c:pt>
                <c:pt idx="11">
                  <c:v>283</c:v>
                </c:pt>
                <c:pt idx="12">
                  <c:v>283</c:v>
                </c:pt>
              </c:numCache>
            </c:numRef>
          </c:val>
          <c:smooth val="0"/>
          <c:extLst>
            <c:ext xmlns:c16="http://schemas.microsoft.com/office/drawing/2014/chart" uri="{C3380CC4-5D6E-409C-BE32-E72D297353CC}">
              <c16:uniqueId val="{00000000-2B35-499D-B2A1-ABB500F10C60}"/>
            </c:ext>
          </c:extLst>
        </c:ser>
        <c:ser>
          <c:idx val="1"/>
          <c:order val="1"/>
          <c:tx>
            <c:strRef>
              <c:f>Mainland!$E$307</c:f>
              <c:strCache>
                <c:ptCount val="1"/>
                <c:pt idx="0">
                  <c:v>Screening Total-a</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Mainland!$F$305:$R$305</c:f>
              <c:strCache>
                <c:ptCount val="13"/>
                <c:pt idx="0">
                  <c:v>Jul 2025</c:v>
                </c:pt>
                <c:pt idx="1">
                  <c:v>Aug 2025</c:v>
                </c:pt>
                <c:pt idx="2">
                  <c:v>Sep-25</c:v>
                </c:pt>
                <c:pt idx="3">
                  <c:v>Oct-25</c:v>
                </c:pt>
                <c:pt idx="4">
                  <c:v>Nov-25</c:v>
                </c:pt>
                <c:pt idx="5">
                  <c:v>Dec-25</c:v>
                </c:pt>
                <c:pt idx="6">
                  <c:v>Jan-26</c:v>
                </c:pt>
                <c:pt idx="7">
                  <c:v>Feb-26</c:v>
                </c:pt>
                <c:pt idx="8">
                  <c:v>Mar-26</c:v>
                </c:pt>
                <c:pt idx="9">
                  <c:v>Apr-26</c:v>
                </c:pt>
                <c:pt idx="10">
                  <c:v>May-26</c:v>
                </c:pt>
                <c:pt idx="11">
                  <c:v>Jun-26</c:v>
                </c:pt>
                <c:pt idx="12">
                  <c:v>Jul-26</c:v>
                </c:pt>
              </c:strCache>
            </c:strRef>
          </c:cat>
          <c:val>
            <c:numRef>
              <c:f>Mainland!$F$307:$R$307</c:f>
              <c:numCache>
                <c:formatCode>General</c:formatCode>
                <c:ptCount val="13"/>
                <c:pt idx="0">
                  <c:v>1</c:v>
                </c:pt>
                <c:pt idx="1">
                  <c:v>8</c:v>
                </c:pt>
                <c:pt idx="2">
                  <c:v>32</c:v>
                </c:pt>
                <c:pt idx="3" formatCode="0">
                  <c:v>46</c:v>
                </c:pt>
                <c:pt idx="4" formatCode="0">
                  <c:v>110</c:v>
                </c:pt>
                <c:pt idx="5" formatCode="0">
                  <c:v>134</c:v>
                </c:pt>
              </c:numCache>
            </c:numRef>
          </c:val>
          <c:smooth val="0"/>
          <c:extLst>
            <c:ext xmlns:c16="http://schemas.microsoft.com/office/drawing/2014/chart" uri="{C3380CC4-5D6E-409C-BE32-E72D297353CC}">
              <c16:uniqueId val="{00000001-2B35-499D-B2A1-ABB500F10C60}"/>
            </c:ext>
          </c:extLst>
        </c:ser>
        <c:ser>
          <c:idx val="2"/>
          <c:order val="2"/>
          <c:tx>
            <c:strRef>
              <c:f>Mainland!$E$308</c:f>
              <c:strCache>
                <c:ptCount val="1"/>
                <c:pt idx="0">
                  <c:v>Enrollment Total-p</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Mainland!$F$305:$R$305</c:f>
              <c:strCache>
                <c:ptCount val="13"/>
                <c:pt idx="0">
                  <c:v>Jul 2025</c:v>
                </c:pt>
                <c:pt idx="1">
                  <c:v>Aug 2025</c:v>
                </c:pt>
                <c:pt idx="2">
                  <c:v>Sep-25</c:v>
                </c:pt>
                <c:pt idx="3">
                  <c:v>Oct-25</c:v>
                </c:pt>
                <c:pt idx="4">
                  <c:v>Nov-25</c:v>
                </c:pt>
                <c:pt idx="5">
                  <c:v>Dec-25</c:v>
                </c:pt>
                <c:pt idx="6">
                  <c:v>Jan-26</c:v>
                </c:pt>
                <c:pt idx="7">
                  <c:v>Feb-26</c:v>
                </c:pt>
                <c:pt idx="8">
                  <c:v>Mar-26</c:v>
                </c:pt>
                <c:pt idx="9">
                  <c:v>Apr-26</c:v>
                </c:pt>
                <c:pt idx="10">
                  <c:v>May-26</c:v>
                </c:pt>
                <c:pt idx="11">
                  <c:v>Jun-26</c:v>
                </c:pt>
                <c:pt idx="12">
                  <c:v>Jul-26</c:v>
                </c:pt>
              </c:strCache>
            </c:strRef>
          </c:cat>
          <c:val>
            <c:numRef>
              <c:f>Mainland!$F$308:$R$308</c:f>
              <c:numCache>
                <c:formatCode>0</c:formatCode>
                <c:ptCount val="13"/>
                <c:pt idx="0">
                  <c:v>0</c:v>
                </c:pt>
                <c:pt idx="1">
                  <c:v>0</c:v>
                </c:pt>
                <c:pt idx="2">
                  <c:v>4</c:v>
                </c:pt>
                <c:pt idx="3">
                  <c:v>12</c:v>
                </c:pt>
                <c:pt idx="4">
                  <c:v>37</c:v>
                </c:pt>
                <c:pt idx="5">
                  <c:v>60</c:v>
                </c:pt>
                <c:pt idx="6">
                  <c:v>87</c:v>
                </c:pt>
                <c:pt idx="7">
                  <c:v>112</c:v>
                </c:pt>
                <c:pt idx="8">
                  <c:v>137</c:v>
                </c:pt>
                <c:pt idx="9">
                  <c:v>162</c:v>
                </c:pt>
                <c:pt idx="10">
                  <c:v>187</c:v>
                </c:pt>
                <c:pt idx="11">
                  <c:v>200</c:v>
                </c:pt>
                <c:pt idx="12">
                  <c:v>201</c:v>
                </c:pt>
              </c:numCache>
            </c:numRef>
          </c:val>
          <c:smooth val="0"/>
          <c:extLst>
            <c:ext xmlns:c16="http://schemas.microsoft.com/office/drawing/2014/chart" uri="{C3380CC4-5D6E-409C-BE32-E72D297353CC}">
              <c16:uniqueId val="{00000002-2B35-499D-B2A1-ABB500F10C60}"/>
            </c:ext>
          </c:extLst>
        </c:ser>
        <c:ser>
          <c:idx val="3"/>
          <c:order val="3"/>
          <c:tx>
            <c:strRef>
              <c:f>Mainland!$E$309</c:f>
              <c:strCache>
                <c:ptCount val="1"/>
                <c:pt idx="0">
                  <c:v>Enrollment Total-a</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Mainland!$F$305:$R$305</c:f>
              <c:strCache>
                <c:ptCount val="13"/>
                <c:pt idx="0">
                  <c:v>Jul 2025</c:v>
                </c:pt>
                <c:pt idx="1">
                  <c:v>Aug 2025</c:v>
                </c:pt>
                <c:pt idx="2">
                  <c:v>Sep-25</c:v>
                </c:pt>
                <c:pt idx="3">
                  <c:v>Oct-25</c:v>
                </c:pt>
                <c:pt idx="4">
                  <c:v>Nov-25</c:v>
                </c:pt>
                <c:pt idx="5">
                  <c:v>Dec-25</c:v>
                </c:pt>
                <c:pt idx="6">
                  <c:v>Jan-26</c:v>
                </c:pt>
                <c:pt idx="7">
                  <c:v>Feb-26</c:v>
                </c:pt>
                <c:pt idx="8">
                  <c:v>Mar-26</c:v>
                </c:pt>
                <c:pt idx="9">
                  <c:v>Apr-26</c:v>
                </c:pt>
                <c:pt idx="10">
                  <c:v>May-26</c:v>
                </c:pt>
                <c:pt idx="11">
                  <c:v>Jun-26</c:v>
                </c:pt>
                <c:pt idx="12">
                  <c:v>Jul-26</c:v>
                </c:pt>
              </c:strCache>
            </c:strRef>
          </c:cat>
          <c:val>
            <c:numRef>
              <c:f>Mainland!$F$309:$R$309</c:f>
              <c:numCache>
                <c:formatCode>General</c:formatCode>
                <c:ptCount val="13"/>
                <c:pt idx="0">
                  <c:v>0</c:v>
                </c:pt>
                <c:pt idx="1">
                  <c:v>2</c:v>
                </c:pt>
                <c:pt idx="2">
                  <c:v>10</c:v>
                </c:pt>
                <c:pt idx="3">
                  <c:v>19</c:v>
                </c:pt>
                <c:pt idx="4">
                  <c:v>69</c:v>
                </c:pt>
                <c:pt idx="5">
                  <c:v>80</c:v>
                </c:pt>
              </c:numCache>
            </c:numRef>
          </c:val>
          <c:smooth val="0"/>
          <c:extLst>
            <c:ext xmlns:c16="http://schemas.microsoft.com/office/drawing/2014/chart" uri="{C3380CC4-5D6E-409C-BE32-E72D297353CC}">
              <c16:uniqueId val="{00000003-2B35-499D-B2A1-ABB500F10C60}"/>
            </c:ext>
          </c:extLst>
        </c:ser>
        <c:dLbls>
          <c:dLblPos val="l"/>
          <c:showLegendKey val="0"/>
          <c:showVal val="1"/>
          <c:showCatName val="0"/>
          <c:showSerName val="0"/>
          <c:showPercent val="0"/>
          <c:showBubbleSize val="0"/>
        </c:dLbls>
        <c:smooth val="0"/>
        <c:axId val="534177832"/>
        <c:axId val="534179632"/>
      </c:lineChart>
      <c:catAx>
        <c:axId val="534177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4179632"/>
        <c:crosses val="autoZero"/>
        <c:auto val="1"/>
        <c:lblAlgn val="ctr"/>
        <c:lblOffset val="100"/>
        <c:noMultiLvlLbl val="0"/>
      </c:catAx>
      <c:valAx>
        <c:axId val="5341796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4177832"/>
        <c:crosses val="autoZero"/>
        <c:crossBetween val="between"/>
      </c:valAx>
      <c:dTable>
        <c:showHorzBorder val="1"/>
        <c:showVertBorder val="1"/>
        <c:showOutline val="1"/>
        <c:showKeys val="0"/>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a:t>1368-0140</a:t>
            </a:r>
            <a:r>
              <a:rPr lang="en-US" altLang="zh-CN" baseline="0"/>
              <a:t> Country Recruitment</a:t>
            </a:r>
            <a:endParaRPr lang="zh-CN" alt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ltLang="en-US"/>
        </a:p>
      </c:txPr>
    </c:title>
    <c:autoTitleDeleted val="0"/>
    <c:plotArea>
      <c:layout>
        <c:manualLayout>
          <c:layoutTarget val="inner"/>
          <c:xMode val="edge"/>
          <c:yMode val="edge"/>
          <c:x val="2.8182305719191322E-2"/>
          <c:y val="9.3363925061374503E-2"/>
          <c:w val="0.9512137325404999"/>
          <c:h val="0.68424305849292844"/>
        </c:manualLayout>
      </c:layout>
      <c:barChart>
        <c:barDir val="col"/>
        <c:grouping val="stacked"/>
        <c:varyColors val="0"/>
        <c:ser>
          <c:idx val="0"/>
          <c:order val="0"/>
          <c:tx>
            <c:strRef>
              <c:f>Sheet5!$C$3</c:f>
              <c:strCache>
                <c:ptCount val="1"/>
                <c:pt idx="0">
                  <c:v>End of Treatment</c:v>
                </c:pt>
              </c:strCache>
            </c:strRef>
          </c:tx>
          <c:spPr>
            <a:solidFill>
              <a:schemeClr val="accent1"/>
            </a:solidFill>
            <a:ln>
              <a:noFill/>
            </a:ln>
            <a:effectLst/>
          </c:spPr>
          <c:invertIfNegative val="0"/>
          <c:cat>
            <c:strRef>
              <c:f>Sheet5!$B$4:$B$24</c:f>
              <c:strCache>
                <c:ptCount val="21"/>
                <c:pt idx="0">
                  <c:v>Argentina</c:v>
                </c:pt>
                <c:pt idx="1">
                  <c:v>Australia</c:v>
                </c:pt>
                <c:pt idx="2">
                  <c:v>Austria</c:v>
                </c:pt>
                <c:pt idx="3">
                  <c:v>Bdlgium</c:v>
                </c:pt>
                <c:pt idx="4">
                  <c:v>Brazil</c:v>
                </c:pt>
                <c:pt idx="5">
                  <c:v>Canada</c:v>
                </c:pt>
                <c:pt idx="6">
                  <c:v>China</c:v>
                </c:pt>
                <c:pt idx="7">
                  <c:v>Finland</c:v>
                </c:pt>
                <c:pt idx="8">
                  <c:v>France</c:v>
                </c:pt>
                <c:pt idx="9">
                  <c:v>Germany</c:v>
                </c:pt>
                <c:pt idx="10">
                  <c:v>Italy</c:v>
                </c:pt>
                <c:pt idx="11">
                  <c:v>Japan</c:v>
                </c:pt>
                <c:pt idx="12">
                  <c:v>Malaysia</c:v>
                </c:pt>
                <c:pt idx="13">
                  <c:v>Norway</c:v>
                </c:pt>
                <c:pt idx="14">
                  <c:v>Poland</c:v>
                </c:pt>
                <c:pt idx="15">
                  <c:v>Portugal</c:v>
                </c:pt>
                <c:pt idx="16">
                  <c:v>Spain</c:v>
                </c:pt>
                <c:pt idx="17">
                  <c:v>Sweden</c:v>
                </c:pt>
                <c:pt idx="18">
                  <c:v>Switzerland</c:v>
                </c:pt>
                <c:pt idx="19">
                  <c:v>Taiwan</c:v>
                </c:pt>
                <c:pt idx="20">
                  <c:v>United States</c:v>
                </c:pt>
              </c:strCache>
            </c:strRef>
          </c:cat>
          <c:val>
            <c:numRef>
              <c:f>Sheet5!$C$4:$C$24</c:f>
              <c:numCache>
                <c:formatCode>General</c:formatCode>
                <c:ptCount val="21"/>
                <c:pt idx="13">
                  <c:v>1</c:v>
                </c:pt>
                <c:pt idx="20">
                  <c:v>1</c:v>
                </c:pt>
              </c:numCache>
            </c:numRef>
          </c:val>
          <c:extLst>
            <c:ext xmlns:c16="http://schemas.microsoft.com/office/drawing/2014/chart" uri="{C3380CC4-5D6E-409C-BE32-E72D297353CC}">
              <c16:uniqueId val="{00000000-382E-41B5-BB45-E2CF1D51B295}"/>
            </c:ext>
          </c:extLst>
        </c:ser>
        <c:ser>
          <c:idx val="1"/>
          <c:order val="1"/>
          <c:tx>
            <c:strRef>
              <c:f>Sheet5!$D$3</c:f>
              <c:strCache>
                <c:ptCount val="1"/>
                <c:pt idx="0">
                  <c:v>In Treatment</c:v>
                </c:pt>
              </c:strCache>
            </c:strRef>
          </c:tx>
          <c:spPr>
            <a:solidFill>
              <a:schemeClr val="accent2"/>
            </a:solidFill>
            <a:ln>
              <a:noFill/>
            </a:ln>
            <a:effectLst/>
          </c:spPr>
          <c:invertIfNegative val="0"/>
          <c:cat>
            <c:strRef>
              <c:f>Sheet5!$B$4:$B$24</c:f>
              <c:strCache>
                <c:ptCount val="21"/>
                <c:pt idx="0">
                  <c:v>Argentina</c:v>
                </c:pt>
                <c:pt idx="1">
                  <c:v>Australia</c:v>
                </c:pt>
                <c:pt idx="2">
                  <c:v>Austria</c:v>
                </c:pt>
                <c:pt idx="3">
                  <c:v>Bdlgium</c:v>
                </c:pt>
                <c:pt idx="4">
                  <c:v>Brazil</c:v>
                </c:pt>
                <c:pt idx="5">
                  <c:v>Canada</c:v>
                </c:pt>
                <c:pt idx="6">
                  <c:v>China</c:v>
                </c:pt>
                <c:pt idx="7">
                  <c:v>Finland</c:v>
                </c:pt>
                <c:pt idx="8">
                  <c:v>France</c:v>
                </c:pt>
                <c:pt idx="9">
                  <c:v>Germany</c:v>
                </c:pt>
                <c:pt idx="10">
                  <c:v>Italy</c:v>
                </c:pt>
                <c:pt idx="11">
                  <c:v>Japan</c:v>
                </c:pt>
                <c:pt idx="12">
                  <c:v>Malaysia</c:v>
                </c:pt>
                <c:pt idx="13">
                  <c:v>Norway</c:v>
                </c:pt>
                <c:pt idx="14">
                  <c:v>Poland</c:v>
                </c:pt>
                <c:pt idx="15">
                  <c:v>Portugal</c:v>
                </c:pt>
                <c:pt idx="16">
                  <c:v>Spain</c:v>
                </c:pt>
                <c:pt idx="17">
                  <c:v>Sweden</c:v>
                </c:pt>
                <c:pt idx="18">
                  <c:v>Switzerland</c:v>
                </c:pt>
                <c:pt idx="19">
                  <c:v>Taiwan</c:v>
                </c:pt>
                <c:pt idx="20">
                  <c:v>United States</c:v>
                </c:pt>
              </c:strCache>
            </c:strRef>
          </c:cat>
          <c:val>
            <c:numRef>
              <c:f>Sheet5!$D$4:$D$24</c:f>
              <c:numCache>
                <c:formatCode>General</c:formatCode>
                <c:ptCount val="21"/>
                <c:pt idx="1">
                  <c:v>4</c:v>
                </c:pt>
                <c:pt idx="2">
                  <c:v>1</c:v>
                </c:pt>
                <c:pt idx="4">
                  <c:v>1</c:v>
                </c:pt>
                <c:pt idx="6">
                  <c:v>4</c:v>
                </c:pt>
                <c:pt idx="8">
                  <c:v>1</c:v>
                </c:pt>
                <c:pt idx="11">
                  <c:v>2</c:v>
                </c:pt>
                <c:pt idx="14">
                  <c:v>2</c:v>
                </c:pt>
                <c:pt idx="19">
                  <c:v>1</c:v>
                </c:pt>
                <c:pt idx="20">
                  <c:v>2</c:v>
                </c:pt>
              </c:numCache>
            </c:numRef>
          </c:val>
          <c:extLst>
            <c:ext xmlns:c16="http://schemas.microsoft.com/office/drawing/2014/chart" uri="{C3380CC4-5D6E-409C-BE32-E72D297353CC}">
              <c16:uniqueId val="{00000001-382E-41B5-BB45-E2CF1D51B295}"/>
            </c:ext>
          </c:extLst>
        </c:ser>
        <c:ser>
          <c:idx val="2"/>
          <c:order val="2"/>
          <c:tx>
            <c:strRef>
              <c:f>Sheet5!$E$3</c:f>
              <c:strCache>
                <c:ptCount val="1"/>
                <c:pt idx="0">
                  <c:v>Screen Failed</c:v>
                </c:pt>
              </c:strCache>
            </c:strRef>
          </c:tx>
          <c:spPr>
            <a:solidFill>
              <a:schemeClr val="accent3"/>
            </a:solidFill>
            <a:ln>
              <a:noFill/>
            </a:ln>
            <a:effectLst/>
          </c:spPr>
          <c:invertIfNegative val="0"/>
          <c:cat>
            <c:strRef>
              <c:f>Sheet5!$B$4:$B$24</c:f>
              <c:strCache>
                <c:ptCount val="21"/>
                <c:pt idx="0">
                  <c:v>Argentina</c:v>
                </c:pt>
                <c:pt idx="1">
                  <c:v>Australia</c:v>
                </c:pt>
                <c:pt idx="2">
                  <c:v>Austria</c:v>
                </c:pt>
                <c:pt idx="3">
                  <c:v>Bdlgium</c:v>
                </c:pt>
                <c:pt idx="4">
                  <c:v>Brazil</c:v>
                </c:pt>
                <c:pt idx="5">
                  <c:v>Canada</c:v>
                </c:pt>
                <c:pt idx="6">
                  <c:v>China</c:v>
                </c:pt>
                <c:pt idx="7">
                  <c:v>Finland</c:v>
                </c:pt>
                <c:pt idx="8">
                  <c:v>France</c:v>
                </c:pt>
                <c:pt idx="9">
                  <c:v>Germany</c:v>
                </c:pt>
                <c:pt idx="10">
                  <c:v>Italy</c:v>
                </c:pt>
                <c:pt idx="11">
                  <c:v>Japan</c:v>
                </c:pt>
                <c:pt idx="12">
                  <c:v>Malaysia</c:v>
                </c:pt>
                <c:pt idx="13">
                  <c:v>Norway</c:v>
                </c:pt>
                <c:pt idx="14">
                  <c:v>Poland</c:v>
                </c:pt>
                <c:pt idx="15">
                  <c:v>Portugal</c:v>
                </c:pt>
                <c:pt idx="16">
                  <c:v>Spain</c:v>
                </c:pt>
                <c:pt idx="17">
                  <c:v>Sweden</c:v>
                </c:pt>
                <c:pt idx="18">
                  <c:v>Switzerland</c:v>
                </c:pt>
                <c:pt idx="19">
                  <c:v>Taiwan</c:v>
                </c:pt>
                <c:pt idx="20">
                  <c:v>United States</c:v>
                </c:pt>
              </c:strCache>
            </c:strRef>
          </c:cat>
          <c:val>
            <c:numRef>
              <c:f>Sheet5!$E$4:$E$24</c:f>
              <c:numCache>
                <c:formatCode>General</c:formatCode>
                <c:ptCount val="21"/>
                <c:pt idx="0">
                  <c:v>2</c:v>
                </c:pt>
                <c:pt idx="1">
                  <c:v>1</c:v>
                </c:pt>
                <c:pt idx="4">
                  <c:v>3</c:v>
                </c:pt>
                <c:pt idx="5">
                  <c:v>1</c:v>
                </c:pt>
                <c:pt idx="6">
                  <c:v>9</c:v>
                </c:pt>
                <c:pt idx="10">
                  <c:v>2</c:v>
                </c:pt>
                <c:pt idx="11">
                  <c:v>3</c:v>
                </c:pt>
                <c:pt idx="12">
                  <c:v>2</c:v>
                </c:pt>
                <c:pt idx="13">
                  <c:v>1</c:v>
                </c:pt>
                <c:pt idx="14">
                  <c:v>2</c:v>
                </c:pt>
                <c:pt idx="15">
                  <c:v>1</c:v>
                </c:pt>
                <c:pt idx="16">
                  <c:v>1</c:v>
                </c:pt>
                <c:pt idx="17">
                  <c:v>1</c:v>
                </c:pt>
                <c:pt idx="19">
                  <c:v>1</c:v>
                </c:pt>
                <c:pt idx="20">
                  <c:v>9</c:v>
                </c:pt>
              </c:numCache>
            </c:numRef>
          </c:val>
          <c:extLst>
            <c:ext xmlns:c16="http://schemas.microsoft.com/office/drawing/2014/chart" uri="{C3380CC4-5D6E-409C-BE32-E72D297353CC}">
              <c16:uniqueId val="{00000002-382E-41B5-BB45-E2CF1D51B295}"/>
            </c:ext>
          </c:extLst>
        </c:ser>
        <c:ser>
          <c:idx val="3"/>
          <c:order val="3"/>
          <c:tx>
            <c:strRef>
              <c:f>Sheet5!$F$3</c:f>
              <c:strCache>
                <c:ptCount val="1"/>
                <c:pt idx="0">
                  <c:v>Screened</c:v>
                </c:pt>
              </c:strCache>
            </c:strRef>
          </c:tx>
          <c:spPr>
            <a:solidFill>
              <a:schemeClr val="accent4"/>
            </a:solidFill>
            <a:ln>
              <a:noFill/>
            </a:ln>
            <a:effectLst/>
          </c:spPr>
          <c:invertIfNegative val="0"/>
          <c:cat>
            <c:strRef>
              <c:f>Sheet5!$B$4:$B$24</c:f>
              <c:strCache>
                <c:ptCount val="21"/>
                <c:pt idx="0">
                  <c:v>Argentina</c:v>
                </c:pt>
                <c:pt idx="1">
                  <c:v>Australia</c:v>
                </c:pt>
                <c:pt idx="2">
                  <c:v>Austria</c:v>
                </c:pt>
                <c:pt idx="3">
                  <c:v>Bdlgium</c:v>
                </c:pt>
                <c:pt idx="4">
                  <c:v>Brazil</c:v>
                </c:pt>
                <c:pt idx="5">
                  <c:v>Canada</c:v>
                </c:pt>
                <c:pt idx="6">
                  <c:v>China</c:v>
                </c:pt>
                <c:pt idx="7">
                  <c:v>Finland</c:v>
                </c:pt>
                <c:pt idx="8">
                  <c:v>France</c:v>
                </c:pt>
                <c:pt idx="9">
                  <c:v>Germany</c:v>
                </c:pt>
                <c:pt idx="10">
                  <c:v>Italy</c:v>
                </c:pt>
                <c:pt idx="11">
                  <c:v>Japan</c:v>
                </c:pt>
                <c:pt idx="12">
                  <c:v>Malaysia</c:v>
                </c:pt>
                <c:pt idx="13">
                  <c:v>Norway</c:v>
                </c:pt>
                <c:pt idx="14">
                  <c:v>Poland</c:v>
                </c:pt>
                <c:pt idx="15">
                  <c:v>Portugal</c:v>
                </c:pt>
                <c:pt idx="16">
                  <c:v>Spain</c:v>
                </c:pt>
                <c:pt idx="17">
                  <c:v>Sweden</c:v>
                </c:pt>
                <c:pt idx="18">
                  <c:v>Switzerland</c:v>
                </c:pt>
                <c:pt idx="19">
                  <c:v>Taiwan</c:v>
                </c:pt>
                <c:pt idx="20">
                  <c:v>United States</c:v>
                </c:pt>
              </c:strCache>
            </c:strRef>
          </c:cat>
          <c:val>
            <c:numRef>
              <c:f>Sheet5!$F$4:$F$24</c:f>
              <c:numCache>
                <c:formatCode>General</c:formatCode>
                <c:ptCount val="21"/>
                <c:pt idx="5">
                  <c:v>1</c:v>
                </c:pt>
                <c:pt idx="6">
                  <c:v>6</c:v>
                </c:pt>
                <c:pt idx="9">
                  <c:v>1</c:v>
                </c:pt>
                <c:pt idx="11">
                  <c:v>1</c:v>
                </c:pt>
                <c:pt idx="14">
                  <c:v>1</c:v>
                </c:pt>
                <c:pt idx="20">
                  <c:v>3</c:v>
                </c:pt>
              </c:numCache>
            </c:numRef>
          </c:val>
          <c:extLst>
            <c:ext xmlns:c16="http://schemas.microsoft.com/office/drawing/2014/chart" uri="{C3380CC4-5D6E-409C-BE32-E72D297353CC}">
              <c16:uniqueId val="{00000003-382E-41B5-BB45-E2CF1D51B295}"/>
            </c:ext>
          </c:extLst>
        </c:ser>
        <c:dLbls>
          <c:showLegendKey val="0"/>
          <c:showVal val="0"/>
          <c:showCatName val="0"/>
          <c:showSerName val="0"/>
          <c:showPercent val="0"/>
          <c:showBubbleSize val="0"/>
        </c:dLbls>
        <c:gapWidth val="150"/>
        <c:overlap val="100"/>
        <c:axId val="816578136"/>
        <c:axId val="816579216"/>
      </c:barChart>
      <c:catAx>
        <c:axId val="8165781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6579216"/>
        <c:crosses val="autoZero"/>
        <c:auto val="1"/>
        <c:lblAlgn val="ctr"/>
        <c:lblOffset val="100"/>
        <c:noMultiLvlLbl val="0"/>
      </c:catAx>
      <c:valAx>
        <c:axId val="8165792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65781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0" dt="2025-12-11T21:03:41.439" idx="2">
    <p:pos x="5568" y="727"/>
    <p:text>[@Chen,Dr.,Ying (HP Medicine) BII-CN-S] I suuggest just keep base case as the original timeline, and remove the best case.</p:text>
    <p:extLst>
      <p:ext uri="{C676402C-5697-4E1C-873F-D02D1690AC5C}">
        <p15:threadingInfo xmlns:p15="http://schemas.microsoft.com/office/powerpoint/2012/main" timeZoneBias="-480"/>
      </p:ext>
    </p:extLst>
  </p:cm>
  <p:cm authorId="1" dt="2025-12-12T09:55:17.026" idx="20">
    <p:pos x="5568" y="863"/>
    <p:text>Removed.</p:text>
    <p:extLst>
      <p:ext uri="{C676402C-5697-4E1C-873F-D02D1690AC5C}">
        <p15:threadingInfo xmlns:p15="http://schemas.microsoft.com/office/powerpoint/2012/main" timeZoneBias="-480">
          <p15:parentCm authorId="10" idx="2"/>
        </p15:threadingInfo>
      </p:ext>
    </p:extLst>
  </p:cm>
  <p:cm authorId="10" dt="2025-12-12T10:05:52.769" idx="4">
    <p:pos x="5568" y="999"/>
    <p:text>I revised the 'base case' to 'original planned date'.</p:text>
    <p:extLst>
      <p:ext uri="{C676402C-5697-4E1C-873F-D02D1690AC5C}">
        <p15:threadingInfo xmlns:p15="http://schemas.microsoft.com/office/powerpoint/2012/main" timeZoneBias="-480">
          <p15:parentCm authorId="10" idx="2"/>
        </p15:threadingInfo>
      </p:ext>
    </p:extLst>
  </p:cm>
  <p:cm authorId="1" dt="2025-12-11T18:08:18.894" idx="21">
    <p:pos x="5568" y="823"/>
    <p:text>Thanks!
</p:text>
    <p:extLst>
      <p:ext uri="{C676402C-5697-4E1C-873F-D02D1690AC5C}">
        <p15:threadingInfo xmlns:p15="http://schemas.microsoft.com/office/powerpoint/2012/main" timeZoneBias="480">
          <p15:parentCm authorId="10" idx="2"/>
        </p15:threadingInfo>
      </p:ext>
    </p:extLst>
  </p:cm>
</p:cmLst>
</file>

<file path=ppt/drawings/drawing1.xml><?xml version="1.0" encoding="utf-8"?>
<c:userShapes xmlns:c="http://schemas.openxmlformats.org/drawingml/2006/chart">
  <cdr:relSizeAnchor xmlns:cdr="http://schemas.openxmlformats.org/drawingml/2006/chartDrawing">
    <cdr:from>
      <cdr:x>0.11908</cdr:x>
      <cdr:y>0.09373</cdr:y>
    </cdr:from>
    <cdr:to>
      <cdr:x>0.31165</cdr:x>
      <cdr:y>0.30773</cdr:y>
    </cdr:to>
    <cdr:sp macro="" textlink="">
      <cdr:nvSpPr>
        <cdr:cNvPr id="2" name="Rectangle 1">
          <a:extLst xmlns:a="http://schemas.openxmlformats.org/drawingml/2006/main">
            <a:ext uri="{FF2B5EF4-FFF2-40B4-BE49-F238E27FC236}">
              <a16:creationId xmlns:a16="http://schemas.microsoft.com/office/drawing/2014/main" id="{48EA2897-7ABA-2293-4AC6-8BEF9F8BCD54}"/>
            </a:ext>
          </a:extLst>
        </cdr:cNvPr>
        <cdr:cNvSpPr/>
      </cdr:nvSpPr>
      <cdr:spPr>
        <a:xfrm xmlns:a="http://schemas.openxmlformats.org/drawingml/2006/main">
          <a:off x="1383866" y="546147"/>
          <a:ext cx="2238052" cy="1246957"/>
        </a:xfrm>
        <a:prstGeom xmlns:a="http://schemas.openxmlformats.org/drawingml/2006/main" prst="rect">
          <a:avLst/>
        </a:prstGeom>
        <a:solidFill xmlns:a="http://schemas.openxmlformats.org/drawingml/2006/main">
          <a:srgbClr val="076D7E"/>
        </a:solidFill>
        <a:ln xmlns:a="http://schemas.openxmlformats.org/drawingml/2006/main" w="1270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lIns="38619" tIns="38619" rIns="38619" bIns="38619" rtlCol="0" anchor="ctr"/>
        <a:lstStyle xmlns:a="http://schemas.openxmlformats.org/drawingml/2006/main">
          <a:defPPr>
            <a:defRPr lang="zh-CN"/>
          </a:defPPr>
          <a:lvl1pPr marL="0" indent="0" algn="l" defTabSz="914400" rtl="0" eaLnBrk="1" latinLnBrk="0" hangingPunct="1">
            <a:defRPr sz="1100" kern="1200">
              <a:solidFill>
                <a:schemeClr val="lt1"/>
              </a:solidFill>
              <a:latin typeface="+mn-lt"/>
              <a:ea typeface="+mn-ea"/>
              <a:cs typeface="+mn-cs"/>
            </a:defRPr>
          </a:lvl1pPr>
          <a:lvl2pPr marL="457200" indent="0" algn="l" defTabSz="914400" rtl="0" eaLnBrk="1" latinLnBrk="0" hangingPunct="1">
            <a:defRPr sz="1100" kern="1200">
              <a:solidFill>
                <a:schemeClr val="lt1"/>
              </a:solidFill>
              <a:latin typeface="+mn-lt"/>
              <a:ea typeface="+mn-ea"/>
              <a:cs typeface="+mn-cs"/>
            </a:defRPr>
          </a:lvl2pPr>
          <a:lvl3pPr marL="914400" indent="0" algn="l" defTabSz="914400" rtl="0" eaLnBrk="1" latinLnBrk="0" hangingPunct="1">
            <a:defRPr sz="1100" kern="1200">
              <a:solidFill>
                <a:schemeClr val="lt1"/>
              </a:solidFill>
              <a:latin typeface="+mn-lt"/>
              <a:ea typeface="+mn-ea"/>
              <a:cs typeface="+mn-cs"/>
            </a:defRPr>
          </a:lvl3pPr>
          <a:lvl4pPr marL="1371600" indent="0" algn="l" defTabSz="914400" rtl="0" eaLnBrk="1" latinLnBrk="0" hangingPunct="1">
            <a:defRPr sz="1100" kern="1200">
              <a:solidFill>
                <a:schemeClr val="lt1"/>
              </a:solidFill>
              <a:latin typeface="+mn-lt"/>
              <a:ea typeface="+mn-ea"/>
              <a:cs typeface="+mn-cs"/>
            </a:defRPr>
          </a:lvl4pPr>
          <a:lvl5pPr marL="1828800" indent="0" algn="l" defTabSz="914400" rtl="0" eaLnBrk="1" latinLnBrk="0" hangingPunct="1">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xmlns:a="http://schemas.openxmlformats.org/drawingml/2006/main">
          <a:pPr marL="171450" indent="-171450" fontAlgn="t">
            <a:lnSpc>
              <a:spcPts val="1500"/>
            </a:lnSpc>
            <a:buFont typeface="Arial" panose="020B0604020202020204" pitchFamily="34" charset="0"/>
            <a:buChar char="•"/>
          </a:pPr>
          <a:r>
            <a:rPr lang="zh-CN" altLang="en-US" sz="1050" dirty="0">
              <a:latin typeface="Microsoft YaHei"/>
              <a:ea typeface="Microsoft YaHei"/>
            </a:rPr>
            <a:t>Total screening：</a:t>
          </a:r>
          <a:r>
            <a:rPr lang="en-US" altLang="zh-CN" sz="1050" dirty="0">
              <a:latin typeface="Microsoft YaHei"/>
              <a:ea typeface="Microsoft YaHei"/>
            </a:rPr>
            <a:t>134</a:t>
          </a:r>
        </a:p>
        <a:p xmlns:a="http://schemas.openxmlformats.org/drawingml/2006/main">
          <a:pPr marL="171450" indent="-171450" fontAlgn="t">
            <a:lnSpc>
              <a:spcPts val="1500"/>
            </a:lnSpc>
            <a:buFont typeface="Arial" panose="020B0604020202020204" pitchFamily="34" charset="0"/>
            <a:buChar char="•"/>
          </a:pPr>
          <a:r>
            <a:rPr lang="zh-CN" altLang="en-US" sz="1050" dirty="0">
              <a:latin typeface="Microsoft YaHei"/>
              <a:ea typeface="Microsoft YaHei"/>
            </a:rPr>
            <a:t>Total randomization：</a:t>
          </a:r>
          <a:r>
            <a:rPr lang="en-US" altLang="zh-CN" sz="1050" dirty="0">
              <a:latin typeface="Microsoft YaHei"/>
              <a:ea typeface="Microsoft YaHei"/>
            </a:rPr>
            <a:t>80</a:t>
          </a:r>
        </a:p>
        <a:p xmlns:a="http://schemas.openxmlformats.org/drawingml/2006/main">
          <a:pPr marL="171450" indent="-171450" fontAlgn="t">
            <a:lnSpc>
              <a:spcPts val="1500"/>
            </a:lnSpc>
            <a:buFont typeface="Arial" panose="020B0604020202020204" pitchFamily="34" charset="0"/>
            <a:buChar char="•"/>
          </a:pPr>
          <a:r>
            <a:rPr lang="zh-CN" altLang="en-US" sz="1050" dirty="0">
              <a:latin typeface="Microsoft YaHei"/>
              <a:ea typeface="Microsoft YaHei"/>
            </a:rPr>
            <a:t>SF：</a:t>
          </a:r>
          <a:r>
            <a:rPr lang="en-US" altLang="zh-CN" sz="1050" dirty="0">
              <a:latin typeface="Microsoft YaHei"/>
              <a:ea typeface="Microsoft YaHei"/>
            </a:rPr>
            <a:t>21</a:t>
          </a:r>
        </a:p>
        <a:p xmlns:a="http://schemas.openxmlformats.org/drawingml/2006/main">
          <a:pPr marL="171450" indent="-171450" fontAlgn="t">
            <a:lnSpc>
              <a:spcPts val="1500"/>
            </a:lnSpc>
            <a:buFont typeface="Arial" panose="020B0604020202020204" pitchFamily="34" charset="0"/>
            <a:buChar char="•"/>
          </a:pPr>
          <a:r>
            <a:rPr lang="zh-CN" altLang="en-US" sz="1050" dirty="0">
              <a:latin typeface="Microsoft YaHei"/>
              <a:ea typeface="Microsoft YaHei"/>
            </a:rPr>
            <a:t>In screening：</a:t>
          </a:r>
          <a:r>
            <a:rPr lang="en-US" altLang="zh-CN" sz="1050" dirty="0">
              <a:latin typeface="Microsoft YaHei"/>
              <a:ea typeface="Microsoft YaHei"/>
            </a:rPr>
            <a:t>33</a:t>
          </a:r>
        </a:p>
        <a:p xmlns:a="http://schemas.openxmlformats.org/drawingml/2006/main">
          <a:pPr marL="171450" indent="-171450" fontAlgn="t">
            <a:lnSpc>
              <a:spcPts val="1500"/>
            </a:lnSpc>
            <a:buFont typeface="Arial" panose="020B0604020202020204" pitchFamily="34" charset="0"/>
            <a:buChar char="•"/>
          </a:pPr>
          <a:r>
            <a:rPr lang="zh-CN" altLang="en-US" sz="1050" dirty="0">
              <a:latin typeface="Microsoft YaHei"/>
              <a:ea typeface="Microsoft YaHei"/>
            </a:rPr>
            <a:t>withdrawal：</a:t>
          </a:r>
          <a:r>
            <a:rPr lang="en-US" altLang="zh-CN" sz="1050" dirty="0">
              <a:latin typeface="Microsoft YaHei"/>
              <a:ea typeface="Microsoft YaHei"/>
            </a:rPr>
            <a:t>1 </a:t>
          </a:r>
        </a:p>
        <a:p xmlns:a="http://schemas.openxmlformats.org/drawingml/2006/main">
          <a:pPr marL="171450" indent="-171450" fontAlgn="t">
            <a:lnSpc>
              <a:spcPts val="1500"/>
            </a:lnSpc>
            <a:buFont typeface="Arial" panose="020B0604020202020204" pitchFamily="34" charset="0"/>
            <a:buChar char="•"/>
          </a:pPr>
          <a:r>
            <a:rPr lang="zh-CN" altLang="en-US" sz="1050" dirty="0">
              <a:latin typeface="Microsoft YaHei"/>
              <a:ea typeface="Microsoft YaHei"/>
            </a:rPr>
            <a:t>SF%：</a:t>
          </a:r>
          <a:r>
            <a:rPr lang="en-US" altLang="zh-CN" sz="1050" dirty="0">
              <a:latin typeface="Microsoft YaHei"/>
              <a:ea typeface="Microsoft YaHei"/>
            </a:rPr>
            <a:t>15.6%</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2025/12/16</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E7E6E6"/>
                </a:solidFill>
                <a:effectLst/>
                <a:uLnTx/>
                <a:uFillTx/>
                <a:latin typeface="等线" panose="020F0502020204030204"/>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E7E6E6"/>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E7E6E6"/>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42309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1200" b="0" i="0" u="none" strike="noStrike" kern="1200" cap="none" spc="0" normalizeH="0" baseline="0" noProof="0">
              <a:ln>
                <a:noFill/>
              </a:ln>
              <a:solidFill>
                <a:srgbClr val="000000"/>
              </a:solidFill>
              <a:effectLst/>
              <a:uLnTx/>
              <a:uFillTx/>
              <a:latin typeface="BISansCond"/>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2968624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969524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14</a:t>
            </a:fld>
            <a:endParaRPr lang="zh-CN" altLang="en-US"/>
          </a:p>
        </p:txBody>
      </p:sp>
    </p:spTree>
    <p:extLst>
      <p:ext uri="{BB962C8B-B14F-4D97-AF65-F5344CB8AC3E}">
        <p14:creationId xmlns:p14="http://schemas.microsoft.com/office/powerpoint/2010/main" val="2291578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EEC86-3521-71B4-5EF1-99EFEFB28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50DDE-F549-EDDC-D595-43E956380C7B}"/>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D729FF98-397D-487D-BA0A-8CB690490790}"/>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71064BFE-1D0C-3FB0-303D-4EC0749C85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615664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F6FA5-ADDB-2608-7ABD-2A6339C86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8FB826-5FEA-0F40-06DB-0539E0EC2D15}"/>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3F8244D5-1CC7-21F8-CCB1-E5409A8E7B74}"/>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2E7877A8-4CDD-B864-0344-80FD7C4BE8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740219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1200" b="0" i="0" u="none" strike="noStrike" kern="1200" cap="none" spc="0" normalizeH="0" baseline="0" noProof="0">
              <a:ln>
                <a:noFill/>
              </a:ln>
              <a:solidFill>
                <a:srgbClr val="000000"/>
              </a:solidFill>
              <a:effectLst/>
              <a:uLnTx/>
              <a:uFillTx/>
              <a:latin typeface="BISansCond"/>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1322196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ED413-8C79-7535-C650-2EFDC7366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8A66A-042E-C73B-18E7-8121CF1350D5}"/>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4461C80F-A6CB-ADC2-3D93-6BC86063454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1200" b="0" i="0" u="none" strike="noStrike" kern="1200" cap="none" spc="0" normalizeH="0" baseline="0" noProof="0">
              <a:ln>
                <a:noFill/>
              </a:ln>
              <a:solidFill>
                <a:srgbClr val="000000"/>
              </a:solidFill>
              <a:effectLst/>
              <a:uLnTx/>
              <a:uFillTx/>
              <a:latin typeface="BISansCond"/>
              <a:ea typeface="+mn-ea"/>
              <a:cs typeface="+mn-cs"/>
            </a:endParaRPr>
          </a:p>
        </p:txBody>
      </p:sp>
      <p:sp>
        <p:nvSpPr>
          <p:cNvPr id="4" name="Slide Number Placeholder 3">
            <a:extLst>
              <a:ext uri="{FF2B5EF4-FFF2-40B4-BE49-F238E27FC236}">
                <a16:creationId xmlns:a16="http://schemas.microsoft.com/office/drawing/2014/main" id="{253D034B-58D3-DB43-8928-BBAAB10F8D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3216014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All </a:t>
            </a:r>
            <a:r>
              <a:rPr lang="en-US" sz="1200" b="1" i="0" kern="1200">
                <a:solidFill>
                  <a:schemeClr val="tx1"/>
                </a:solidFill>
                <a:effectLst/>
                <a:latin typeface="+mn-lt"/>
                <a:ea typeface="+mn-ea"/>
                <a:cs typeface="+mn-cs"/>
              </a:rPr>
              <a:t>adult subjects</a:t>
            </a:r>
            <a:r>
              <a:rPr lang="en-US" sz="1200" b="0" i="0" kern="1200">
                <a:solidFill>
                  <a:schemeClr val="tx1"/>
                </a:solidFill>
                <a:effectLst/>
                <a:latin typeface="+mn-lt"/>
                <a:ea typeface="+mn-ea"/>
                <a:cs typeface="+mn-cs"/>
              </a:rPr>
              <a:t> are expected to complete the trial by </a:t>
            </a:r>
            <a:r>
              <a:rPr lang="en-US" sz="1200" b="1" i="0" kern="1200">
                <a:solidFill>
                  <a:schemeClr val="tx1"/>
                </a:solidFill>
                <a:effectLst/>
                <a:latin typeface="+mn-lt"/>
                <a:ea typeface="+mn-ea"/>
                <a:cs typeface="+mn-cs"/>
              </a:rPr>
              <a:t>2 August 2027</a:t>
            </a:r>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All </a:t>
            </a:r>
            <a:r>
              <a:rPr lang="en-US" sz="1200" b="1" i="0" kern="1200">
                <a:solidFill>
                  <a:schemeClr val="tx1"/>
                </a:solidFill>
                <a:effectLst/>
                <a:latin typeface="+mn-lt"/>
                <a:ea typeface="+mn-ea"/>
                <a:cs typeface="+mn-cs"/>
              </a:rPr>
              <a:t>adolescent subjects</a:t>
            </a:r>
            <a:r>
              <a:rPr lang="en-US" sz="1200" b="0" i="0" kern="1200">
                <a:solidFill>
                  <a:schemeClr val="tx1"/>
                </a:solidFill>
                <a:effectLst/>
                <a:latin typeface="+mn-lt"/>
                <a:ea typeface="+mn-ea"/>
                <a:cs typeface="+mn-cs"/>
              </a:rPr>
              <a:t> are expected to complete the trial by </a:t>
            </a:r>
            <a:r>
              <a:rPr lang="en-US" sz="1200" b="1" i="0" kern="1200">
                <a:solidFill>
                  <a:schemeClr val="tx1"/>
                </a:solidFill>
                <a:effectLst/>
                <a:latin typeface="+mn-lt"/>
                <a:ea typeface="+mn-ea"/>
                <a:cs typeface="+mn-cs"/>
              </a:rPr>
              <a:t>April 2028</a:t>
            </a:r>
            <a:r>
              <a:rPr lang="en-US" sz="1200" b="0" i="0" kern="1200">
                <a:solidFill>
                  <a:schemeClr val="tx1"/>
                </a:solidFill>
                <a:effectLst/>
                <a:latin typeface="+mn-lt"/>
                <a:ea typeface="+mn-ea"/>
                <a:cs typeface="+mn-cs"/>
              </a:rPr>
              <a:t>.</a:t>
            </a:r>
          </a:p>
          <a:p>
            <a:endParaRPr 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22</a:t>
            </a:fld>
            <a:endParaRPr lang="zh-CN" altLang="en-US"/>
          </a:p>
        </p:txBody>
      </p:sp>
    </p:spTree>
    <p:extLst>
      <p:ext uri="{BB962C8B-B14F-4D97-AF65-F5344CB8AC3E}">
        <p14:creationId xmlns:p14="http://schemas.microsoft.com/office/powerpoint/2010/main" val="3048770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buFont typeface="Wingdings,Sans-Serif"/>
              <a:buChar char="Ø"/>
            </a:pPr>
            <a:r>
              <a:rPr lang="en-US" altLang="zh-CN"/>
              <a:t>To date, almost 75% of the planned sites have been initiated across 38 countries, resulting in strong recruitment performance since July.</a:t>
            </a:r>
          </a:p>
          <a:p>
            <a:pPr marL="285750" indent="-285750">
              <a:buFont typeface="Wingdings,Sans-Serif"/>
              <a:buChar char="Ø"/>
            </a:pPr>
            <a:r>
              <a:rPr lang="en-US" altLang="zh-CN"/>
              <a:t>Currently, 10% of the planned adult population has been randomized. See further details attached.</a:t>
            </a:r>
          </a:p>
          <a:p>
            <a:pPr marL="285750" indent="-285750">
              <a:buFont typeface="Wingdings,Sans-Serif"/>
              <a:buChar char="Ø"/>
            </a:pPr>
            <a:r>
              <a:rPr lang="en-US" altLang="zh-CN"/>
              <a:t>At the current recruitment pace - and with a lower screen failure rate of 24%</a:t>
            </a:r>
            <a:r>
              <a:rPr lang="zh-CN"/>
              <a:t>：</a:t>
            </a:r>
            <a:endParaRPr lang="en-US" altLang="zh-CN"/>
          </a:p>
          <a:p>
            <a:pPr marL="742950" lvl="1" indent="-285750">
              <a:buFont typeface="Wingdings,Sans-Serif"/>
              <a:buChar char="•"/>
            </a:pPr>
            <a:r>
              <a:rPr lang="en-US" altLang="zh-CN">
                <a:ea typeface="等线"/>
              </a:rPr>
              <a:t>the Last Randomized adult Subject is projected by 6 July 2026, which is more than a year ahead of the original schedule!</a:t>
            </a:r>
          </a:p>
          <a:p>
            <a:pPr marL="742950" lvl="1" indent="-285750">
              <a:buFont typeface="Wingdings,Sans-Serif"/>
              <a:buChar char="•"/>
            </a:pPr>
            <a:r>
              <a:rPr lang="en-US" altLang="zh-CN"/>
              <a:t>Recruitment of adolescent subjects is expected to continue beyond this date, with </a:t>
            </a:r>
            <a:r>
              <a:rPr lang="en-US" altLang="zh-CN">
                <a:highlight>
                  <a:srgbClr val="00FF00"/>
                </a:highlight>
              </a:rPr>
              <a:t>the Last Randomized adolescent Subject currently projected for March 2027.</a:t>
            </a:r>
            <a:endParaRPr lang="en-US" altLang="zh-CN"/>
          </a:p>
          <a:p>
            <a:pPr marL="285750" indent="-285750">
              <a:buFont typeface="Wingdings,Sans-Serif"/>
              <a:buChar char="Ø"/>
            </a:pPr>
            <a:r>
              <a:rPr lang="en-US" altLang="zh-CN" b="1"/>
              <a:t>We will continue to monitor recruitment, including below populations:</a:t>
            </a:r>
            <a:endParaRPr lang="en-US" altLang="zh-CN"/>
          </a:p>
          <a:p>
            <a:pPr marL="742950" lvl="1" indent="-285750">
              <a:buFont typeface="Arial,Sans-Serif"/>
              <a:buChar char="•"/>
            </a:pPr>
            <a:r>
              <a:rPr lang="en-US" altLang="zh-CN"/>
              <a:t>30% of patients with a history of one PEX</a:t>
            </a:r>
          </a:p>
          <a:p>
            <a:pPr marL="742950" lvl="1" indent="-285750">
              <a:buFont typeface="Arial,Sans-Serif"/>
              <a:buChar char="•"/>
            </a:pPr>
            <a:r>
              <a:rPr lang="en-US" altLang="zh-CN"/>
              <a:t>240 adult CF patients</a:t>
            </a:r>
          </a:p>
          <a:p>
            <a:pPr marL="742950" lvl="1" indent="-285750">
              <a:buFont typeface="Arial,Sans-Serif"/>
              <a:buChar char="•"/>
            </a:pPr>
            <a:r>
              <a:rPr lang="en-US" altLang="zh-CN"/>
              <a:t>10% from Eastern Europe</a:t>
            </a:r>
          </a:p>
          <a:p>
            <a:pPr marL="742950" lvl="1" indent="-285750">
              <a:buFont typeface="Arial,Sans-Serif"/>
              <a:buChar char="•"/>
            </a:pPr>
            <a:r>
              <a:rPr lang="en-US" altLang="zh-CN"/>
              <a:t>20% COPD/asthma patients</a:t>
            </a:r>
            <a:endParaRPr lang="zh-CN"/>
          </a:p>
        </p:txBody>
      </p:sp>
      <p:sp>
        <p:nvSpPr>
          <p:cNvPr id="4" name="灯片编号占位符 3"/>
          <p:cNvSpPr>
            <a:spLocks noGrp="1"/>
          </p:cNvSpPr>
          <p:nvPr>
            <p:ph type="sldNum" sz="quarter" idx="5"/>
          </p:nvPr>
        </p:nvSpPr>
        <p:spPr/>
        <p:txBody>
          <a:bodyPr/>
          <a:lstStyle/>
          <a:p>
            <a:fld id="{F6CB4BB5-E309-45E5-BB7A-A4E8DEB85991}" type="slidenum">
              <a:rPr lang="zh-CN" altLang="en-US" smtClean="0"/>
              <a:t>31</a:t>
            </a:fld>
            <a:endParaRPr lang="zh-CN" altLang="en-US"/>
          </a:p>
        </p:txBody>
      </p:sp>
    </p:spTree>
    <p:extLst>
      <p:ext uri="{BB962C8B-B14F-4D97-AF65-F5344CB8AC3E}">
        <p14:creationId xmlns:p14="http://schemas.microsoft.com/office/powerpoint/2010/main" val="410121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RWE (time &amp; cost):</a:t>
            </a:r>
          </a:p>
          <a:p>
            <a:pPr marL="171450" indent="-171450">
              <a:buFont typeface="Arial" panose="020B0604020202020204" pitchFamily="34" charset="0"/>
              <a:buChar char="•"/>
            </a:pPr>
            <a:r>
              <a:rPr lang="en-US"/>
              <a:t>2026 internal process</a:t>
            </a:r>
          </a:p>
          <a:p>
            <a:pPr marL="171450" indent="-171450">
              <a:buFont typeface="Arial" panose="020B0604020202020204" pitchFamily="34" charset="0"/>
              <a:buChar char="•"/>
            </a:pPr>
            <a:r>
              <a:rPr lang="en-US"/>
              <a:t>2027 start – analysis available in 2027   </a:t>
            </a:r>
            <a:r>
              <a:rPr lang="zh-CN" altLang="en-US"/>
              <a:t>医保数据库</a:t>
            </a:r>
            <a:endParaRPr lang="en-US"/>
          </a:p>
          <a:p>
            <a:pPr marL="171450" indent="-171450">
              <a:buFont typeface="Arial" panose="020B0604020202020204" pitchFamily="34" charset="0"/>
              <a:buChar char="•"/>
            </a:pPr>
            <a:r>
              <a:rPr lang="en-US"/>
              <a:t>2028 Data publication</a:t>
            </a:r>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32</a:t>
            </a:fld>
            <a:endParaRPr lang="zh-CN" altLang="en-US"/>
          </a:p>
        </p:txBody>
      </p:sp>
    </p:spTree>
    <p:extLst>
      <p:ext uri="{BB962C8B-B14F-4D97-AF65-F5344CB8AC3E}">
        <p14:creationId xmlns:p14="http://schemas.microsoft.com/office/powerpoint/2010/main" val="634726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solidFill>
                  <a:srgbClr val="1F1F1F"/>
                </a:solidFill>
              </a:rPr>
              <a:t>Extensions of indication</a:t>
            </a:r>
            <a:endParaRPr lang="zh-CN"/>
          </a:p>
        </p:txBody>
      </p:sp>
      <p:sp>
        <p:nvSpPr>
          <p:cNvPr id="4" name="灯片编号占位符 3"/>
          <p:cNvSpPr>
            <a:spLocks noGrp="1"/>
          </p:cNvSpPr>
          <p:nvPr>
            <p:ph type="sldNum" sz="quarter" idx="5"/>
          </p:nvPr>
        </p:nvSpPr>
        <p:spPr/>
        <p:txBody>
          <a:bodyPr/>
          <a:lstStyle/>
          <a:p>
            <a:fld id="{F6CB4BB5-E309-45E5-BB7A-A4E8DEB85991}" type="slidenum">
              <a:rPr lang="zh-CN" altLang="en-US" smtClean="0"/>
              <a:t>33</a:t>
            </a:fld>
            <a:endParaRPr lang="zh-CN" altLang="en-US"/>
          </a:p>
        </p:txBody>
      </p:sp>
    </p:spTree>
    <p:extLst>
      <p:ext uri="{BB962C8B-B14F-4D97-AF65-F5344CB8AC3E}">
        <p14:creationId xmlns:p14="http://schemas.microsoft.com/office/powerpoint/2010/main" val="1301470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68380-B264-5C6D-C3BA-1999E954A0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3FDF0A-C8F6-B690-202A-C8E2935658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96D12-D4F8-6C9A-7143-5E6C991C0A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800">
              <a:solidFill>
                <a:srgbClr val="000000"/>
              </a:solidFill>
              <a:latin typeface="BISans"/>
              <a:ea typeface="等线" panose="02010600030101010101" pitchFamily="2" charset="-122"/>
            </a:endParaRPr>
          </a:p>
        </p:txBody>
      </p:sp>
      <p:sp>
        <p:nvSpPr>
          <p:cNvPr id="4" name="Slide Number Placeholder 3">
            <a:extLst>
              <a:ext uri="{FF2B5EF4-FFF2-40B4-BE49-F238E27FC236}">
                <a16:creationId xmlns:a16="http://schemas.microsoft.com/office/drawing/2014/main" id="{33B24857-D675-9A53-FAE3-851E1EC8267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430540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4D473-3695-FAF5-C6C3-5FCC904E05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C35A9-6ED2-6488-503C-422A9D284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CF1CA2-CDE5-49B0-D2FD-D2DA7E620827}"/>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1DD9EDA9-475C-8475-DFCC-106E404A21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CB4BB5-E309-45E5-BB7A-A4E8DEB8599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62043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599A8-A50C-E0C9-97B0-07CAFF550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45482-B3DD-FD24-5221-66FA51247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2B100B-C534-0197-EACB-1DC0B879101F}"/>
              </a:ext>
            </a:extLst>
          </p:cNvPr>
          <p:cNvSpPr>
            <a:spLocks noGrp="1"/>
          </p:cNvSpPr>
          <p:nvPr>
            <p:ph type="body" idx="1"/>
          </p:nvPr>
        </p:nvSpPr>
        <p:spPr/>
        <p:txBody>
          <a:bodyPr/>
          <a:lstStyle/>
          <a:p>
            <a:r>
              <a:rPr lang="zh-CN" altLang="zh-CN" sz="1200" kern="1200">
                <a:solidFill>
                  <a:schemeClr val="tx1"/>
                </a:solidFill>
                <a:effectLst/>
                <a:latin typeface="+mn-lt"/>
                <a:ea typeface="+mn-ea"/>
                <a:cs typeface="+mn-cs"/>
              </a:rPr>
              <a:t>Pyoderma Gangrenosum (PG): submission </a:t>
            </a:r>
            <a:r>
              <a:rPr lang="en-US" altLang="zh-CN" sz="1200" kern="1200">
                <a:solidFill>
                  <a:schemeClr val="tx1"/>
                </a:solidFill>
                <a:effectLst/>
                <a:latin typeface="+mn-lt"/>
                <a:ea typeface="+mn-ea"/>
                <a:cs typeface="+mn-cs"/>
              </a:rPr>
              <a:t>28May</a:t>
            </a:r>
            <a:r>
              <a:rPr lang="zh-CN" altLang="zh-CN" sz="1200" kern="1200">
                <a:solidFill>
                  <a:schemeClr val="tx1"/>
                </a:solidFill>
                <a:effectLst/>
                <a:latin typeface="+mn-lt"/>
                <a:ea typeface="+mn-ea"/>
                <a:cs typeface="+mn-cs"/>
              </a:rPr>
              <a:t>. 2027, approval </a:t>
            </a:r>
            <a:r>
              <a:rPr lang="en-US" altLang="zh-CN" sz="1200" kern="1200">
                <a:solidFill>
                  <a:schemeClr val="tx1"/>
                </a:solidFill>
                <a:effectLst/>
                <a:latin typeface="+mn-lt"/>
                <a:ea typeface="+mn-ea"/>
                <a:cs typeface="+mn-cs"/>
              </a:rPr>
              <a:t>May</a:t>
            </a:r>
            <a:r>
              <a:rPr lang="zh-CN" altLang="zh-CN" sz="1200" kern="1200">
                <a:solidFill>
                  <a:schemeClr val="tx1"/>
                </a:solidFill>
                <a:effectLst/>
                <a:latin typeface="+mn-lt"/>
                <a:ea typeface="+mn-ea"/>
                <a:cs typeface="+mn-cs"/>
              </a:rPr>
              <a:t>.2028</a:t>
            </a:r>
            <a:endParaRPr lang="zh-CN" altLang="en-US"/>
          </a:p>
        </p:txBody>
      </p:sp>
      <p:sp>
        <p:nvSpPr>
          <p:cNvPr id="4" name="Slide Number Placeholder 3">
            <a:extLst>
              <a:ext uri="{FF2B5EF4-FFF2-40B4-BE49-F238E27FC236}">
                <a16:creationId xmlns:a16="http://schemas.microsoft.com/office/drawing/2014/main" id="{4D8AA2CA-0A39-D56A-1EB0-96A4E56631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CB4BB5-E309-45E5-BB7A-A4E8DEB8599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06362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sz="1800">
                <a:effectLst/>
                <a:latin typeface="Segoe UI" panose="020B0502040204020203" pitchFamily="34" charset="0"/>
              </a:rPr>
              <a:t>EU Feb</a:t>
            </a:r>
            <a:endParaRPr lang="en-US" sz="1800">
              <a:effectLst/>
              <a:latin typeface="Arial" panose="020B0604020202020204" pitchFamily="34" charset="0"/>
            </a:endParaRPr>
          </a:p>
          <a:p>
            <a:r>
              <a:rPr lang="en-US" sz="1800">
                <a:effectLst/>
                <a:latin typeface="Segoe UI" panose="020B0502040204020203" pitchFamily="34" charset="0"/>
              </a:rPr>
              <a:t>JP Apr</a:t>
            </a:r>
            <a:endParaRPr lang="en-US" sz="1800">
              <a:effectLst/>
              <a:latin typeface="Arial" panose="020B0604020202020204" pitchFamily="34" charset="0"/>
            </a:endParaRPr>
          </a:p>
          <a:p>
            <a:r>
              <a:rPr lang="en-US" sz="1800">
                <a:effectLst/>
                <a:latin typeface="Segoe UI" panose="020B0502040204020203" pitchFamily="34" charset="0"/>
              </a:rPr>
              <a:t>CN (end of) Jun</a:t>
            </a:r>
            <a:endParaRPr lang="en-US" sz="1800">
              <a:effectLst/>
              <a:latin typeface="Arial" panose="020B0604020202020204" pitchFamily="34" charset="0"/>
            </a:endParaRPr>
          </a:p>
          <a:p>
            <a:endParaRPr lang="en-US"/>
          </a:p>
        </p:txBody>
      </p:sp>
      <p:sp>
        <p:nvSpPr>
          <p:cNvPr id="4" name="Footer Placeholder 3"/>
          <p:cNvSpPr>
            <a:spLocks noGrp="1"/>
          </p:cNvSpPr>
          <p:nvPr>
            <p:ph type="ftr" sz="quarter" idx="4"/>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eaLnBrk="1" fontAlgn="auto" latinLnBrk="0" hangingPunct="1">
                <a:lnSpc>
                  <a:spcPct val="100000"/>
                </a:lnSpc>
                <a:spcBef>
                  <a:spcPts val="0"/>
                </a:spcBef>
                <a:spcAft>
                  <a:spcPts val="0"/>
                </a:spcAft>
                <a:buClrTx/>
                <a:buSzTx/>
                <a:buFontTx/>
                <a:buNone/>
                <a:tabLst/>
                <a:defRPr/>
              </a:pPr>
              <a:t>54</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35660301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sz="1800">
                <a:effectLst/>
                <a:latin typeface="Segoe UI" panose="020B0502040204020203" pitchFamily="34" charset="0"/>
              </a:rPr>
              <a:t>EU Feb</a:t>
            </a:r>
            <a:endParaRPr lang="en-US" sz="1800">
              <a:effectLst/>
              <a:latin typeface="Arial" panose="020B0604020202020204" pitchFamily="34" charset="0"/>
            </a:endParaRPr>
          </a:p>
          <a:p>
            <a:r>
              <a:rPr lang="en-US" sz="1800">
                <a:effectLst/>
                <a:latin typeface="Segoe UI" panose="020B0502040204020203" pitchFamily="34" charset="0"/>
              </a:rPr>
              <a:t>JP Apr</a:t>
            </a:r>
            <a:endParaRPr lang="en-US" sz="1800">
              <a:effectLst/>
              <a:latin typeface="Arial" panose="020B0604020202020204" pitchFamily="34" charset="0"/>
            </a:endParaRPr>
          </a:p>
          <a:p>
            <a:r>
              <a:rPr lang="en-US" sz="1800">
                <a:effectLst/>
                <a:latin typeface="Segoe UI" panose="020B0502040204020203" pitchFamily="34" charset="0"/>
              </a:rPr>
              <a:t>CN (end of) Jun</a:t>
            </a:r>
          </a:p>
        </p:txBody>
      </p:sp>
      <p:sp>
        <p:nvSpPr>
          <p:cNvPr id="4" name="Footer Placeholder 3"/>
          <p:cNvSpPr>
            <a:spLocks noGrp="1"/>
          </p:cNvSpPr>
          <p:nvPr>
            <p:ph type="ftr" sz="quarter" idx="4"/>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eaLnBrk="1" fontAlgn="auto" latinLnBrk="0" hangingPunct="1">
                <a:lnSpc>
                  <a:spcPct val="100000"/>
                </a:lnSpc>
                <a:spcBef>
                  <a:spcPts val="0"/>
                </a:spcBef>
                <a:spcAft>
                  <a:spcPts val="0"/>
                </a:spcAft>
                <a:buClrTx/>
                <a:buSzTx/>
                <a:buFontTx/>
                <a:buNone/>
                <a:tabLst/>
                <a:defRPr/>
              </a:pPr>
              <a:t>55</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35483600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B8F8B-C89A-6378-2F47-0287424E8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6C40B-B082-4845-A31E-89F4DBE832C4}"/>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C1953A8C-1F5B-B1B2-B986-762445E70E75}"/>
              </a:ext>
            </a:extLst>
          </p:cNvPr>
          <p:cNvSpPr>
            <a:spLocks noGrp="1"/>
          </p:cNvSpPr>
          <p:nvPr>
            <p:ph type="body" idx="1"/>
          </p:nvPr>
        </p:nvSpPr>
        <p:spPr/>
        <p:txBody>
          <a:bodyPr/>
          <a:lstStyle/>
          <a:p>
            <a:r>
              <a:rPr lang="en-US" sz="1800">
                <a:effectLst/>
                <a:latin typeface="Segoe UI" panose="020B0502040204020203" pitchFamily="34" charset="0"/>
              </a:rPr>
              <a:t>EU Feb</a:t>
            </a:r>
            <a:endParaRPr lang="en-US" sz="1800">
              <a:effectLst/>
              <a:latin typeface="Arial" panose="020B0604020202020204" pitchFamily="34" charset="0"/>
            </a:endParaRPr>
          </a:p>
          <a:p>
            <a:r>
              <a:rPr lang="en-US" sz="1800">
                <a:effectLst/>
                <a:latin typeface="Segoe UI" panose="020B0502040204020203" pitchFamily="34" charset="0"/>
              </a:rPr>
              <a:t>JP Apr</a:t>
            </a:r>
            <a:endParaRPr lang="en-US" sz="1800">
              <a:effectLst/>
              <a:latin typeface="Arial" panose="020B0604020202020204" pitchFamily="34" charset="0"/>
            </a:endParaRPr>
          </a:p>
          <a:p>
            <a:r>
              <a:rPr lang="en-US" sz="1800">
                <a:effectLst/>
                <a:latin typeface="Segoe UI" panose="020B0502040204020203" pitchFamily="34" charset="0"/>
              </a:rPr>
              <a:t>CN (end of) Jun</a:t>
            </a:r>
          </a:p>
        </p:txBody>
      </p:sp>
      <p:sp>
        <p:nvSpPr>
          <p:cNvPr id="4" name="Footer Placeholder 3">
            <a:extLst>
              <a:ext uri="{FF2B5EF4-FFF2-40B4-BE49-F238E27FC236}">
                <a16:creationId xmlns:a16="http://schemas.microsoft.com/office/drawing/2014/main" id="{DC740870-F2A6-6838-FADC-ACB70E122417}"/>
              </a:ext>
            </a:extLst>
          </p:cNvPr>
          <p:cNvSpPr>
            <a:spLocks noGrp="1"/>
          </p:cNvSpPr>
          <p:nvPr>
            <p:ph type="ftr" sz="quarter" idx="4"/>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Slide Number Placeholder 4">
            <a:extLst>
              <a:ext uri="{FF2B5EF4-FFF2-40B4-BE49-F238E27FC236}">
                <a16:creationId xmlns:a16="http://schemas.microsoft.com/office/drawing/2014/main" id="{47284808-3F49-3169-8956-DD95C6F843EC}"/>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eaLnBrk="1" fontAlgn="auto" latinLnBrk="0" hangingPunct="1">
                <a:lnSpc>
                  <a:spcPct val="100000"/>
                </a:lnSpc>
                <a:spcBef>
                  <a:spcPts val="0"/>
                </a:spcBef>
                <a:spcAft>
                  <a:spcPts val="0"/>
                </a:spcAft>
                <a:buClrTx/>
                <a:buSzTx/>
                <a:buFontTx/>
                <a:buNone/>
                <a:tabLst/>
                <a:defRPr/>
              </a:pPr>
              <a:t>56</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3361781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3675" y="663575"/>
            <a:ext cx="6408738" cy="3605213"/>
          </a:xfrm>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33105719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lack of information around IMP availability for EU has the potential to affect study completion timelines</a:t>
            </a:r>
          </a:p>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60</a:t>
            </a:fld>
            <a:endParaRPr lang="en-US" sz="800">
              <a:solidFill>
                <a:schemeClr val="bg2"/>
              </a:solidFill>
            </a:endParaRPr>
          </a:p>
        </p:txBody>
      </p:sp>
    </p:spTree>
    <p:extLst>
      <p:ext uri="{BB962C8B-B14F-4D97-AF65-F5344CB8AC3E}">
        <p14:creationId xmlns:p14="http://schemas.microsoft.com/office/powerpoint/2010/main" val="34577063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17614002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CN NDA approval 5m earlier than original plan</a:t>
            </a:r>
            <a:endParaRPr lang="zh-CN"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9688437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5" Type="http://schemas.openxmlformats.org/officeDocument/2006/relationships/image" Target="../media/image20.png"/><Relationship Id="rId4" Type="http://schemas.openxmlformats.org/officeDocument/2006/relationships/image" Target="../media/image22.emf"/></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22.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23.emf"/></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3.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3.xml"/><Relationship Id="rId4" Type="http://schemas.openxmlformats.org/officeDocument/2006/relationships/image" Target="../media/image26.jpe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4.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3.png"/><Relationship Id="rId1" Type="http://schemas.openxmlformats.org/officeDocument/2006/relationships/slideMaster" Target="../slideMasters/slideMaster4.xml"/><Relationship Id="rId5" Type="http://schemas.openxmlformats.org/officeDocument/2006/relationships/image" Target="../media/image28.svg"/><Relationship Id="rId4" Type="http://schemas.openxmlformats.org/officeDocument/2006/relationships/image" Target="../media/image5.png"/></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28.svg"/><Relationship Id="rId4" Type="http://schemas.openxmlformats.org/officeDocument/2006/relationships/image" Target="../media/image5.png"/></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image" Target="../media/image30.png"/><Relationship Id="rId1" Type="http://schemas.openxmlformats.org/officeDocument/2006/relationships/slideMaster" Target="../slideMasters/slideMaster4.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4.xml"/><Relationship Id="rId1" Type="http://schemas.openxmlformats.org/officeDocument/2006/relationships/tags" Target="../tags/tag7.xml"/><Relationship Id="rId4" Type="http://schemas.openxmlformats.org/officeDocument/2006/relationships/image" Target="../media/image23.emf"/></Relationships>
</file>

<file path=ppt/slideLayouts/_rels/slideLayout18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4.xml"/><Relationship Id="rId1" Type="http://schemas.openxmlformats.org/officeDocument/2006/relationships/tags" Target="../tags/tag8.xml"/><Relationship Id="rId4" Type="http://schemas.openxmlformats.org/officeDocument/2006/relationships/image" Target="../media/image23.emf"/></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5.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3.png"/><Relationship Id="rId1" Type="http://schemas.openxmlformats.org/officeDocument/2006/relationships/slideMaster" Target="../slideMasters/slideMaster6.xml"/><Relationship Id="rId5" Type="http://schemas.openxmlformats.org/officeDocument/2006/relationships/image" Target="../media/image28.svg"/><Relationship Id="rId4" Type="http://schemas.openxmlformats.org/officeDocument/2006/relationships/image" Target="../media/image5.png"/></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6.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15.png"/><Relationship Id="rId5" Type="http://schemas.openxmlformats.org/officeDocument/2006/relationships/image" Target="../media/image28.svg"/><Relationship Id="rId4" Type="http://schemas.openxmlformats.org/officeDocument/2006/relationships/image" Target="../media/image5.png"/></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2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4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4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4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5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5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3.png"/><Relationship Id="rId1" Type="http://schemas.openxmlformats.org/officeDocument/2006/relationships/slideMaster" Target="../slideMasters/slideMaster7.xml"/><Relationship Id="rId5" Type="http://schemas.openxmlformats.org/officeDocument/2006/relationships/image" Target="../media/image28.svg"/><Relationship Id="rId4" Type="http://schemas.openxmlformats.org/officeDocument/2006/relationships/image" Target="../media/image5.png"/></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7.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5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2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7.xml"/><Relationship Id="rId5" Type="http://schemas.openxmlformats.org/officeDocument/2006/relationships/image" Target="../media/image28.svg"/><Relationship Id="rId4" Type="http://schemas.openxmlformats.org/officeDocument/2006/relationships/image" Target="../media/image5.png"/></Relationships>
</file>

<file path=ppt/slideLayouts/_rels/slideLayout26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7.xml"/><Relationship Id="rId5" Type="http://schemas.openxmlformats.org/officeDocument/2006/relationships/image" Target="../media/image19.svg"/><Relationship Id="rId4" Type="http://schemas.openxmlformats.org/officeDocument/2006/relationships/image" Target="../media/image18.pn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26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26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27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28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2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28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28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Tree>
    <p:extLst>
      <p:ext uri="{BB962C8B-B14F-4D97-AF65-F5344CB8AC3E}">
        <p14:creationId xmlns:p14="http://schemas.microsoft.com/office/powerpoint/2010/main" val="4071346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225671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6635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5906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5751294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5995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61820382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Tree>
    <p:extLst>
      <p:ext uri="{BB962C8B-B14F-4D97-AF65-F5344CB8AC3E}">
        <p14:creationId xmlns:p14="http://schemas.microsoft.com/office/powerpoint/2010/main" val="28300000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3964284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6919383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388264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693764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83576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01269282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924613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a:prstGeom prst="rect">
            <a:avLst/>
          </a:prstGeo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8770396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406195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32735386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078513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9524603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350209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49339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3281604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984867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5861098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44811232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2056046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532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82552585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764304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62756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8731732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6318449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16/12/2025</a:t>
            </a:fld>
            <a:endParaRPr lang="en-GB" noProof="0"/>
          </a:p>
        </p:txBody>
      </p:sp>
      <p:sp>
        <p:nvSpPr>
          <p:cNvPr id="3" name="Fußzeilenplatzhalter 2"/>
          <p:cNvSpPr>
            <a:spLocks noGrp="1"/>
          </p:cNvSpPr>
          <p:nvPr>
            <p:ph type="ftr" sz="quarter" idx="11"/>
          </p:nvPr>
        </p:nvSpPr>
        <p:spPr>
          <a:xfrm>
            <a:off x="6312024" y="6246836"/>
            <a:ext cx="5040560" cy="288000"/>
          </a:xfrm>
          <a:prstGeom prst="rect">
            <a:avLst/>
          </a:prstGeom>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3505588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5241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6_Title Slide">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6583081" y="239892"/>
            <a:ext cx="5300117" cy="6335891"/>
          </a:xfrm>
          <a:custGeom>
            <a:avLst/>
            <a:gdLst/>
            <a:ahLst/>
            <a:cxnLst/>
            <a:rect l="l" t="t" r="r" b="b"/>
            <a:pathLst>
              <a:path w="4335753" h="5183067">
                <a:moveTo>
                  <a:pt x="2624125" y="1178296"/>
                </a:moveTo>
                <a:cubicBezTo>
                  <a:pt x="2698245" y="1173058"/>
                  <a:pt x="2774671" y="1189136"/>
                  <a:pt x="2843864" y="1229085"/>
                </a:cubicBezTo>
                <a:cubicBezTo>
                  <a:pt x="3028381" y="1335615"/>
                  <a:pt x="3091600" y="1571555"/>
                  <a:pt x="2985070" y="1756071"/>
                </a:cubicBezTo>
                <a:lnTo>
                  <a:pt x="1117895" y="4990113"/>
                </a:lnTo>
                <a:cubicBezTo>
                  <a:pt x="1011365" y="5174629"/>
                  <a:pt x="775425" y="5237849"/>
                  <a:pt x="590909" y="5131318"/>
                </a:cubicBezTo>
                <a:cubicBezTo>
                  <a:pt x="406393" y="5024788"/>
                  <a:pt x="343173" y="4788848"/>
                  <a:pt x="449703" y="4604332"/>
                </a:cubicBezTo>
                <a:lnTo>
                  <a:pt x="2316878" y="1370290"/>
                </a:lnTo>
                <a:cubicBezTo>
                  <a:pt x="2383459" y="1254968"/>
                  <a:pt x="2500592" y="1187027"/>
                  <a:pt x="2624125" y="1178296"/>
                </a:cubicBezTo>
                <a:close/>
                <a:moveTo>
                  <a:pt x="3923060" y="861165"/>
                </a:moveTo>
                <a:cubicBezTo>
                  <a:pt x="3997180" y="855927"/>
                  <a:pt x="4073605" y="872005"/>
                  <a:pt x="4142799" y="911954"/>
                </a:cubicBezTo>
                <a:cubicBezTo>
                  <a:pt x="4327315" y="1018484"/>
                  <a:pt x="4390534" y="1254424"/>
                  <a:pt x="4284004" y="1438940"/>
                </a:cubicBezTo>
                <a:lnTo>
                  <a:pt x="2416832" y="4672979"/>
                </a:lnTo>
                <a:cubicBezTo>
                  <a:pt x="2310301" y="4857495"/>
                  <a:pt x="2074361" y="4920715"/>
                  <a:pt x="1889845" y="4814185"/>
                </a:cubicBezTo>
                <a:cubicBezTo>
                  <a:pt x="1705329" y="4707654"/>
                  <a:pt x="1642109" y="4471714"/>
                  <a:pt x="1748639" y="4287198"/>
                </a:cubicBezTo>
                <a:lnTo>
                  <a:pt x="3615812" y="1053159"/>
                </a:lnTo>
                <a:cubicBezTo>
                  <a:pt x="3682394" y="937837"/>
                  <a:pt x="3799525" y="869895"/>
                  <a:pt x="3923060" y="861165"/>
                </a:cubicBezTo>
                <a:close/>
                <a:moveTo>
                  <a:pt x="2226169" y="961"/>
                </a:moveTo>
                <a:cubicBezTo>
                  <a:pt x="2300289" y="-4277"/>
                  <a:pt x="2376714" y="11800"/>
                  <a:pt x="2445908" y="51750"/>
                </a:cubicBezTo>
                <a:cubicBezTo>
                  <a:pt x="2630424" y="158280"/>
                  <a:pt x="2693644" y="394220"/>
                  <a:pt x="2587114" y="578736"/>
                </a:cubicBezTo>
                <a:lnTo>
                  <a:pt x="719942" y="3812773"/>
                </a:lnTo>
                <a:cubicBezTo>
                  <a:pt x="613411" y="3997289"/>
                  <a:pt x="377471" y="4060509"/>
                  <a:pt x="192955" y="3953979"/>
                </a:cubicBezTo>
                <a:cubicBezTo>
                  <a:pt x="8439" y="3847448"/>
                  <a:pt x="-54781" y="3611508"/>
                  <a:pt x="51749" y="3426992"/>
                </a:cubicBezTo>
                <a:lnTo>
                  <a:pt x="1918921" y="192955"/>
                </a:lnTo>
                <a:cubicBezTo>
                  <a:pt x="1985503" y="77633"/>
                  <a:pt x="2102635" y="9691"/>
                  <a:pt x="2226169" y="961"/>
                </a:cubicBezTo>
                <a:close/>
              </a:path>
            </a:pathLst>
          </a:custGeom>
          <a:noFill/>
        </p:spPr>
        <p:txBody>
          <a:bodyPr lIns="68580" tIns="34290" rIns="68580" bIns="34290" anchor="ctr">
            <a:normAutofit/>
          </a:bodyPr>
          <a:lstStyle>
            <a:lvl1pPr marL="0" indent="0" algn="ctr">
              <a:buNone/>
              <a:defRPr sz="1660" baseline="0">
                <a:latin typeface="OPPOSans M" panose="00020600040101010101" pitchFamily="18" charset="-122"/>
                <a:cs typeface="Lato Regular"/>
              </a:defRPr>
            </a:lvl1pPr>
          </a:lstStyle>
          <a:p>
            <a:endParaRPr lang="en-US"/>
          </a:p>
        </p:txBody>
      </p:sp>
    </p:spTree>
    <p:extLst>
      <p:ext uri="{BB962C8B-B14F-4D97-AF65-F5344CB8AC3E}">
        <p14:creationId xmlns:p14="http://schemas.microsoft.com/office/powerpoint/2010/main" val="12712272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91F1F4-B9F8-8CFC-C6FD-77C2D4ACAB82}"/>
              </a:ext>
            </a:extLst>
          </p:cNvPr>
          <p:cNvSpPr>
            <a:spLocks noGrp="1"/>
          </p:cNvSpPr>
          <p:nvPr>
            <p:ph type="dt" sz="half" idx="10"/>
          </p:nvPr>
        </p:nvSpPr>
        <p:spPr/>
        <p:txBody>
          <a:bodyPr/>
          <a:lstStyle/>
          <a:p>
            <a:fld id="{5DE66590-3E96-4764-9BF7-697F166BBDD2}" type="datetimeFigureOut">
              <a:rPr lang="zh-CN" altLang="en-US" smtClean="0"/>
              <a:t>2025/12/16</a:t>
            </a:fld>
            <a:endParaRPr lang="zh-CN" altLang="en-US"/>
          </a:p>
        </p:txBody>
      </p:sp>
      <p:sp>
        <p:nvSpPr>
          <p:cNvPr id="3" name="页脚占位符 2">
            <a:extLst>
              <a:ext uri="{FF2B5EF4-FFF2-40B4-BE49-F238E27FC236}">
                <a16:creationId xmlns:a16="http://schemas.microsoft.com/office/drawing/2014/main" id="{AC5AB01F-981A-1245-32FD-CA7ED3F1EF6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D059A1-3ADB-385A-0ACA-C3332CFAA1B5}"/>
              </a:ext>
            </a:extLst>
          </p:cNvPr>
          <p:cNvSpPr>
            <a:spLocks noGrp="1"/>
          </p:cNvSpPr>
          <p:nvPr>
            <p:ph type="sldNum" sz="quarter" idx="12"/>
          </p:nvPr>
        </p:nvSpPr>
        <p:spPr/>
        <p:txBody>
          <a:bodyPr/>
          <a:lstStyle/>
          <a:p>
            <a:fld id="{01C16240-A846-4458-80FC-BD33C1EA2FF0}" type="slidenum">
              <a:rPr lang="zh-CN" altLang="en-US" smtClean="0"/>
              <a:t>‹#›</a:t>
            </a:fld>
            <a:endParaRPr lang="zh-CN" altLang="en-US"/>
          </a:p>
        </p:txBody>
      </p:sp>
      <p:sp>
        <p:nvSpPr>
          <p:cNvPr id="6" name="文本占位符 5">
            <a:extLst>
              <a:ext uri="{FF2B5EF4-FFF2-40B4-BE49-F238E27FC236}">
                <a16:creationId xmlns:a16="http://schemas.microsoft.com/office/drawing/2014/main" id="{A7B5850D-D735-46B9-D260-373560190F41}"/>
              </a:ext>
            </a:extLst>
          </p:cNvPr>
          <p:cNvSpPr>
            <a:spLocks noGrp="1"/>
          </p:cNvSpPr>
          <p:nvPr>
            <p:ph type="body" sz="quarter" idx="13"/>
          </p:nvPr>
        </p:nvSpPr>
        <p:spPr>
          <a:xfrm>
            <a:off x="442913" y="454025"/>
            <a:ext cx="9600579" cy="398571"/>
          </a:xfrm>
        </p:spPr>
        <p:txBody>
          <a:bodyPr lIns="0" tIns="0" rIns="0" bIns="0" anchor="b" anchorCtr="0">
            <a:spAutoFit/>
          </a:bodyPr>
          <a:lstStyle>
            <a:lvl1pPr marL="0" indent="0">
              <a:buNone/>
              <a:defRPr lang="zh-CN" altLang="en-US" dirty="0">
                <a:gradFill>
                  <a:gsLst>
                    <a:gs pos="0">
                      <a:schemeClr val="accent1"/>
                    </a:gs>
                    <a:gs pos="100000">
                      <a:schemeClr val="accent1">
                        <a:lumMod val="75000"/>
                      </a:schemeClr>
                    </a:gs>
                  </a:gsLst>
                  <a:lin ang="2700000" scaled="1"/>
                </a:gradFill>
                <a:latin typeface="+mj-ea"/>
                <a:ea typeface="+mj-ea"/>
              </a:defRPr>
            </a:lvl1pPr>
          </a:lstStyle>
          <a:p>
            <a:pPr lvl="0"/>
            <a:r>
              <a:rPr lang="zh-CN" altLang="en-US"/>
              <a:t>单击此处编辑母版文本样式</a:t>
            </a:r>
          </a:p>
        </p:txBody>
      </p:sp>
    </p:spTree>
    <p:extLst>
      <p:ext uri="{BB962C8B-B14F-4D97-AF65-F5344CB8AC3E}">
        <p14:creationId xmlns:p14="http://schemas.microsoft.com/office/powerpoint/2010/main" val="37837935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7" name="内容占位符 2"/>
          <p:cNvSpPr>
            <a:spLocks noGrp="1"/>
          </p:cNvSpPr>
          <p:nvPr>
            <p:ph idx="1"/>
          </p:nvPr>
        </p:nvSpPr>
        <p:spPr>
          <a:xfrm>
            <a:off x="609601" y="988219"/>
            <a:ext cx="10972800" cy="5184000"/>
          </a:xfrm>
          <a:prstGeom prst="rect">
            <a:avLst/>
          </a:prstGeom>
        </p:spPr>
        <p:txBody>
          <a:bodyPr lIns="91429" tIns="45715" rIns="91429" bIns="45715"/>
          <a:lstStyle>
            <a:lvl1pPr>
              <a:defRPr sz="1920">
                <a:latin typeface="+mj-ea"/>
                <a:ea typeface="+mj-ea"/>
              </a:defRPr>
            </a:lvl1pPr>
            <a:lvl2pPr>
              <a:defRPr sz="1920">
                <a:latin typeface="+mj-ea"/>
                <a:ea typeface="+mj-ea"/>
              </a:defRPr>
            </a:lvl2pPr>
            <a:lvl3pPr>
              <a:defRPr sz="1680">
                <a:latin typeface="+mj-ea"/>
                <a:ea typeface="+mj-ea"/>
              </a:defRPr>
            </a:lvl3pPr>
            <a:lvl4pPr>
              <a:defRPr sz="1680">
                <a:latin typeface="+mj-ea"/>
                <a:ea typeface="+mj-ea"/>
              </a:defRPr>
            </a:lvl4pPr>
            <a:lvl5pPr>
              <a:defRPr sz="1680">
                <a:latin typeface="+mj-ea"/>
                <a:ea typeface="+mj-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24350766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4"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8"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37348853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ltLang="zh-CN"/>
              <a:t>TA CEC Portfolio Update|    ONLY FOR INTERNAL USE</a:t>
            </a:r>
          </a:p>
        </p:txBody>
      </p:sp>
    </p:spTree>
    <p:extLst>
      <p:ext uri="{BB962C8B-B14F-4D97-AF65-F5344CB8AC3E}">
        <p14:creationId xmlns:p14="http://schemas.microsoft.com/office/powerpoint/2010/main" val="40735423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ltLang="zh-CN">
                <a:solidFill>
                  <a:schemeClr val="bg1"/>
                </a:solidFill>
              </a:rPr>
              <a:t>TA CEC Portfolio Update|    ONLY FOR INTERNAL USE</a:t>
            </a:r>
          </a:p>
        </p:txBody>
      </p:sp>
    </p:spTree>
    <p:extLst>
      <p:ext uri="{BB962C8B-B14F-4D97-AF65-F5344CB8AC3E}">
        <p14:creationId xmlns:p14="http://schemas.microsoft.com/office/powerpoint/2010/main" val="41487232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ltLang="zh-CN"/>
              <a:t>TA CEC Portfolio Update|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051877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ltLang="zh-CN"/>
              <a:t>TA CEC Portfolio Update|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26467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ltLang="zh-CN"/>
              <a:t>TA CEC Portfolio Update|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0406561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TA CEC Portfolio Update|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6672403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93879980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3893108127"/>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ltLang="zh-CN"/>
              <a:t>TA CEC Portfolio Update|    ONLY FOR INTERNAL USE</a:t>
            </a:r>
          </a:p>
        </p:txBody>
      </p:sp>
    </p:spTree>
    <p:extLst>
      <p:ext uri="{BB962C8B-B14F-4D97-AF65-F5344CB8AC3E}">
        <p14:creationId xmlns:p14="http://schemas.microsoft.com/office/powerpoint/2010/main" val="2449303422"/>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0263791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ltLang="zh-CN"/>
              <a:t>TA CEC Portfolio Update|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8999116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1096484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85398474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ltLang="zh-CN"/>
              <a:t>TA CEC Portfolio Update|    </a:t>
            </a:r>
          </a:p>
          <a:p>
            <a:r>
              <a:rPr lang="en-US" altLang="zh-CN"/>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22237203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ltLang="zh-CN"/>
              <a:t>TA CEC Portfolio Update|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4294549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ltLang="zh-CN"/>
              <a:t>TA CEC Portfolio Update|   </a:t>
            </a:r>
          </a:p>
          <a:p>
            <a:r>
              <a:rPr lang="en-US" altLang="zh-CN"/>
              <a:t>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035051311"/>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401090545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329037713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ltLang="zh-CN"/>
              <a:t>TA CEC Portfolio Update|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8391815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8809529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5623111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ltLang="zh-CN"/>
              <a:t>TA CEC Portfolio Update|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9704561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98264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1836304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2097293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ltLang="zh-CN"/>
              <a:t>TA CEC Portfolio Update|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55759986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ltLang="zh-CN"/>
              <a:t>TA CEC Portfolio Update|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7904660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ltLang="zh-CN"/>
              <a:t>TA CEC Portfolio Update|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9608374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ltLang="zh-CN"/>
              <a:t>TA CEC Portfolio Update|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286299823"/>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_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0197226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1442096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2135067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7243292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12/16/2025</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63800359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9566B-A7FB-B403-F103-36CDE8397C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128845-5266-E8BF-7758-F4847DF245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C58F46-150C-FFCE-6880-A7DD29926744}"/>
              </a:ext>
            </a:extLst>
          </p:cNvPr>
          <p:cNvSpPr>
            <a:spLocks noGrp="1"/>
          </p:cNvSpPr>
          <p:nvPr>
            <p:ph type="dt" sz="half" idx="10"/>
          </p:nvPr>
        </p:nvSpPr>
        <p:spPr/>
        <p:txBody>
          <a:bodyPr/>
          <a:lstStyle/>
          <a:p>
            <a:fld id="{DE9C8083-D903-4E67-A926-3F5E80FF5380}" type="datetimeFigureOut">
              <a:rPr lang="en-US" smtClean="0"/>
              <a:t>12/16/2025</a:t>
            </a:fld>
            <a:endParaRPr lang="en-US"/>
          </a:p>
        </p:txBody>
      </p:sp>
      <p:sp>
        <p:nvSpPr>
          <p:cNvPr id="5" name="Footer Placeholder 4">
            <a:extLst>
              <a:ext uri="{FF2B5EF4-FFF2-40B4-BE49-F238E27FC236}">
                <a16:creationId xmlns:a16="http://schemas.microsoft.com/office/drawing/2014/main" id="{D753362D-1346-3156-CE54-0CDE22DBE7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F40330-5680-E516-3B78-EA43E0618846}"/>
              </a:ext>
            </a:extLst>
          </p:cNvPr>
          <p:cNvSpPr>
            <a:spLocks noGrp="1"/>
          </p:cNvSpPr>
          <p:nvPr>
            <p:ph type="sldNum" sz="quarter" idx="12"/>
          </p:nvPr>
        </p:nvSpPr>
        <p:spPr/>
        <p:txBody>
          <a:bodyPr/>
          <a:lstStyle/>
          <a:p>
            <a:fld id="{AF225C8E-132A-4293-BF1D-E348182D543A}" type="slidenum">
              <a:rPr lang="en-US" smtClean="0"/>
              <a:t>‹#›</a:t>
            </a:fld>
            <a:endParaRPr lang="en-US"/>
          </a:p>
        </p:txBody>
      </p:sp>
    </p:spTree>
    <p:extLst>
      <p:ext uri="{BB962C8B-B14F-4D97-AF65-F5344CB8AC3E}">
        <p14:creationId xmlns:p14="http://schemas.microsoft.com/office/powerpoint/2010/main" val="391660805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76203F-990A-A4D1-A9C8-4ED611EF2352}"/>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19604285-7E47-4BDA-B910-BCE08721467F}"/>
              </a:ext>
            </a:extLst>
          </p:cNvPr>
          <p:cNvSpPr>
            <a:spLocks noGrp="1"/>
          </p:cNvSpPr>
          <p:nvPr>
            <p:ph type="dt" sz="half" idx="10"/>
          </p:nvPr>
        </p:nvSpPr>
        <p:spPr/>
        <p:txBody>
          <a:bodyPr/>
          <a:lstStyle/>
          <a:p>
            <a:fld id="{835D62DE-B08C-49B0-BAE6-D3BB1D1ED573}" type="datetimeFigureOut">
              <a:rPr lang="de-DE" smtClean="0"/>
              <a:t>16.12.2025</a:t>
            </a:fld>
            <a:endParaRPr lang="de-DE"/>
          </a:p>
        </p:txBody>
      </p:sp>
      <p:sp>
        <p:nvSpPr>
          <p:cNvPr id="4" name="Fußzeilenplatzhalter 3">
            <a:extLst>
              <a:ext uri="{FF2B5EF4-FFF2-40B4-BE49-F238E27FC236}">
                <a16:creationId xmlns:a16="http://schemas.microsoft.com/office/drawing/2014/main" id="{CBF78B40-3231-3645-2443-0035B4D14995}"/>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B998BFFE-99E4-6C54-C93E-55121BC70400}"/>
              </a:ext>
            </a:extLst>
          </p:cNvPr>
          <p:cNvSpPr>
            <a:spLocks noGrp="1"/>
          </p:cNvSpPr>
          <p:nvPr>
            <p:ph type="sldNum" sz="quarter" idx="12"/>
          </p:nvPr>
        </p:nvSpPr>
        <p:spPr/>
        <p:txBody>
          <a:bodyPr/>
          <a:lstStyle/>
          <a:p>
            <a:fld id="{64300149-7890-4055-8003-5B4D0D60FBA5}" type="slidenum">
              <a:rPr lang="de-DE" smtClean="0"/>
              <a:t>‹#›</a:t>
            </a:fld>
            <a:endParaRPr lang="de-DE"/>
          </a:p>
        </p:txBody>
      </p:sp>
    </p:spTree>
    <p:extLst>
      <p:ext uri="{BB962C8B-B14F-4D97-AF65-F5344CB8AC3E}">
        <p14:creationId xmlns:p14="http://schemas.microsoft.com/office/powerpoint/2010/main" val="369378199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9" y="1601"/>
          <a:ext cx="2116" cy="1587"/>
        </p:xfrm>
        <a:graphic>
          <a:graphicData uri="http://schemas.openxmlformats.org/presentationml/2006/ole">
            <mc:AlternateContent xmlns:mc="http://schemas.openxmlformats.org/markup-compatibility/2006">
              <mc:Choice xmlns:v="urn:schemas-microsoft-com:vml" Requires="v">
                <p:oleObj name="think-cell 幻灯片" r:id="rId3" imgW="360" imgH="360" progId="TCLayout.ActiveDocument.1">
                  <p:embed/>
                </p:oleObj>
              </mc:Choice>
              <mc:Fallback>
                <p:oleObj name="think-cell 幻灯片" r:id="rId3" imgW="360" imgH="360" progId="TCLayout.ActiveDocument.1">
                  <p:embed/>
                  <p:pic>
                    <p:nvPicPr>
                      <p:cNvPr id="2" name="Object 1" hidden="1"/>
                      <p:cNvPicPr/>
                      <p:nvPr/>
                    </p:nvPicPr>
                    <p:blipFill>
                      <a:blip r:embed="rId4"/>
                      <a:stretch>
                        <a:fillRect/>
                      </a:stretch>
                    </p:blipFill>
                    <p:spPr>
                      <a:xfrm>
                        <a:off x="2119" y="1601"/>
                        <a:ext cx="2116" cy="1587"/>
                      </a:xfrm>
                      <a:prstGeom prst="rect">
                        <a:avLst/>
                      </a:prstGeom>
                    </p:spPr>
                  </p:pic>
                </p:oleObj>
              </mc:Fallback>
            </mc:AlternateContent>
          </a:graphicData>
        </a:graphic>
      </p:graphicFrame>
      <p:sp>
        <p:nvSpPr>
          <p:cNvPr id="9" name="Rechteck 8"/>
          <p:cNvSpPr/>
          <p:nvPr userDrawn="1"/>
        </p:nvSpPr>
        <p:spPr>
          <a:xfrm>
            <a:off x="0" y="292850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Titel 2"/>
          <p:cNvSpPr>
            <a:spLocks noGrp="1"/>
          </p:cNvSpPr>
          <p:nvPr>
            <p:ph type="title"/>
          </p:nvPr>
        </p:nvSpPr>
        <p:spPr>
          <a:xfrm>
            <a:off x="490100" y="396556"/>
            <a:ext cx="11211800" cy="332399"/>
          </a:xfrm>
        </p:spPr>
        <p:txBody>
          <a:bodyPr anchor="ctr"/>
          <a:lstStyle>
            <a:lvl1pPr>
              <a:lnSpc>
                <a:spcPct val="90000"/>
              </a:lnSpc>
              <a:defRPr/>
            </a:lvl1pPr>
          </a:lstStyle>
          <a:p>
            <a:r>
              <a:rPr lang="en-US"/>
              <a:t>Click to edit Master title style</a:t>
            </a:r>
            <a:endParaRPr lang="de-DE"/>
          </a:p>
        </p:txBody>
      </p:sp>
      <p:sp>
        <p:nvSpPr>
          <p:cNvPr id="4" name="Datumsplatzhalter 3"/>
          <p:cNvSpPr>
            <a:spLocks noGrp="1"/>
          </p:cNvSpPr>
          <p:nvPr>
            <p:ph type="dt" sz="half" idx="10"/>
          </p:nvPr>
        </p:nvSpPr>
        <p:spPr>
          <a:xfrm>
            <a:off x="10313656" y="6597269"/>
            <a:ext cx="625171" cy="153888"/>
          </a:xfrm>
        </p:spPr>
        <p:txBody>
          <a:bodyPr/>
          <a:lstStyle/>
          <a:p>
            <a:fld id="{3A69D335-A02D-4E34-9A8B-12245FC3DA4D}" type="datetime1">
              <a:rPr lang="en-GB" smtClean="0"/>
              <a:t>16/12/2025</a:t>
            </a:fld>
            <a:endParaRPr lang="en-GB"/>
          </a:p>
        </p:txBody>
      </p:sp>
      <p:sp>
        <p:nvSpPr>
          <p:cNvPr id="10" name="Fußzeilenplatzhalter 9"/>
          <p:cNvSpPr>
            <a:spLocks noGrp="1"/>
          </p:cNvSpPr>
          <p:nvPr>
            <p:ph type="ftr" sz="quarter" idx="11"/>
          </p:nvPr>
        </p:nvSpPr>
        <p:spPr/>
        <p:txBody>
          <a:bodyPr/>
          <a:lstStyle>
            <a:lvl1pPr>
              <a:defRPr>
                <a:solidFill>
                  <a:schemeClr val="bg1">
                    <a:lumMod val="50000"/>
                  </a:schemeClr>
                </a:solidFill>
              </a:defRPr>
            </a:lvl1pPr>
          </a:lstStyle>
          <a:p>
            <a:endParaRPr lang="en-GB"/>
          </a:p>
        </p:txBody>
      </p:sp>
      <p:sp>
        <p:nvSpPr>
          <p:cNvPr id="11" name="Foliennummernplatzhalter 10"/>
          <p:cNvSpPr>
            <a:spLocks noGrp="1"/>
          </p:cNvSpPr>
          <p:nvPr>
            <p:ph type="sldNum" sz="quarter" idx="12"/>
          </p:nvPr>
        </p:nvSpPr>
        <p:spPr/>
        <p:txBody>
          <a:bodyPr/>
          <a:lstStyle/>
          <a:p>
            <a:fld id="{143B55C4-4F5A-416B-997D-6CE47EB0A945}" type="slidenum">
              <a:rPr lang="en-GB" smtClean="0"/>
              <a:pPr/>
              <a:t>‹#›</a:t>
            </a:fld>
            <a:endParaRPr lang="en-GB"/>
          </a:p>
        </p:txBody>
      </p:sp>
      <p:pic>
        <p:nvPicPr>
          <p:cNvPr id="12" name="Grafik 6">
            <a:extLst>
              <a:ext uri="{FF2B5EF4-FFF2-40B4-BE49-F238E27FC236}">
                <a16:creationId xmlns:a16="http://schemas.microsoft.com/office/drawing/2014/main" id="{C2CC0828-CC90-46ED-B430-F3647FC802E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64443" y="6566804"/>
            <a:ext cx="630270" cy="190510"/>
          </a:xfrm>
          <a:prstGeom prst="rect">
            <a:avLst/>
          </a:prstGeom>
        </p:spPr>
      </p:pic>
    </p:spTree>
    <p:extLst>
      <p:ext uri="{BB962C8B-B14F-4D97-AF65-F5344CB8AC3E}">
        <p14:creationId xmlns:p14="http://schemas.microsoft.com/office/powerpoint/2010/main" val="9856449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2_Standard page_01">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54959557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幻灯片" r:id="rId3" imgW="360" imgH="360" progId="TCLayout.ActiveDocument.1">
                  <p:embed/>
                </p:oleObj>
              </mc:Choice>
              <mc:Fallback>
                <p:oleObj name="think-cell 幻灯片" r:id="rId3" imgW="360" imgH="360" progId="TCLayout.ActiveDocument.1">
                  <p:embed/>
                  <p:pic>
                    <p:nvPicPr>
                      <p:cNvPr id="2" name="Object 1"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9" name="Rechteck 8"/>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panose="02000503040000020004" pitchFamily="2" charset="0"/>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Titel 2"/>
          <p:cNvSpPr>
            <a:spLocks noGrp="1"/>
          </p:cNvSpPr>
          <p:nvPr>
            <p:ph type="title"/>
          </p:nvPr>
        </p:nvSpPr>
        <p:spPr>
          <a:xfrm>
            <a:off x="627796" y="396544"/>
            <a:ext cx="11074103" cy="332399"/>
          </a:xfrm>
        </p:spPr>
        <p:txBody>
          <a:bodyPr anchor="ctr"/>
          <a:lstStyle>
            <a:lvl1pPr>
              <a:lnSpc>
                <a:spcPct val="90000"/>
              </a:lnSpc>
              <a:defRPr/>
            </a:lvl1pPr>
          </a:lstStyle>
          <a:p>
            <a:r>
              <a:rPr lang="en-US"/>
              <a:t>Click to edit Master title style</a:t>
            </a:r>
            <a:endParaRPr lang="de-DE"/>
          </a:p>
        </p:txBody>
      </p:sp>
      <p:sp>
        <p:nvSpPr>
          <p:cNvPr id="4" name="Datumsplatzhalter 3"/>
          <p:cNvSpPr>
            <a:spLocks noGrp="1"/>
          </p:cNvSpPr>
          <p:nvPr>
            <p:ph type="dt" sz="half" idx="10"/>
          </p:nvPr>
        </p:nvSpPr>
        <p:spPr/>
        <p:txBody>
          <a:bodyPr/>
          <a:lstStyle/>
          <a:p>
            <a:fld id="{DF6355B7-D06A-4243-89C2-3C8B92664F55}" type="datetime1">
              <a:rPr lang="en-GB" smtClean="0"/>
              <a:t>16/12/2025</a:t>
            </a:fld>
            <a:endParaRPr lang="en-GB"/>
          </a:p>
        </p:txBody>
      </p:sp>
      <p:sp>
        <p:nvSpPr>
          <p:cNvPr id="10" name="Fußzeilenplatzhalter 9"/>
          <p:cNvSpPr>
            <a:spLocks noGrp="1"/>
          </p:cNvSpPr>
          <p:nvPr>
            <p:ph type="ftr" sz="quarter" idx="11"/>
          </p:nvPr>
        </p:nvSpPr>
        <p:spPr/>
        <p:txBody>
          <a:bodyPr/>
          <a:lstStyle>
            <a:lvl1pPr>
              <a:defRPr>
                <a:solidFill>
                  <a:schemeClr val="bg1">
                    <a:lumMod val="50000"/>
                  </a:schemeClr>
                </a:solidFill>
              </a:defRPr>
            </a:lvl1pPr>
          </a:lstStyle>
          <a:p>
            <a:endParaRPr lang="en-GB"/>
          </a:p>
        </p:txBody>
      </p:sp>
      <p:sp>
        <p:nvSpPr>
          <p:cNvPr id="11" name="Foliennummernplatzhalter 10"/>
          <p:cNvSpPr>
            <a:spLocks noGrp="1"/>
          </p:cNvSpPr>
          <p:nvPr>
            <p:ph type="sldNum" sz="quarter" idx="12"/>
          </p:nvPr>
        </p:nvSpPr>
        <p:spPr/>
        <p:txBody>
          <a:bodyPr/>
          <a:lstStyle/>
          <a:p>
            <a:fld id="{143B55C4-4F5A-416B-997D-6CE47EB0A945}" type="slidenum">
              <a:rPr lang="en-GB" smtClean="0"/>
              <a:pPr/>
              <a:t>‹#›</a:t>
            </a:fld>
            <a:endParaRPr lang="en-GB"/>
          </a:p>
        </p:txBody>
      </p:sp>
      <p:sp>
        <p:nvSpPr>
          <p:cNvPr id="7" name="Content Placeholder 6"/>
          <p:cNvSpPr>
            <a:spLocks noGrp="1"/>
          </p:cNvSpPr>
          <p:nvPr>
            <p:ph sz="quarter" idx="13"/>
          </p:nvPr>
        </p:nvSpPr>
        <p:spPr>
          <a:xfrm>
            <a:off x="2770188" y="6578600"/>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14"/>
          </p:nvPr>
        </p:nvSpPr>
        <p:spPr>
          <a:xfrm>
            <a:off x="1582738" y="396875"/>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56129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Only 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4FC80F-636D-FECD-9B40-1825BF346930}"/>
              </a:ext>
            </a:extLst>
          </p:cNvPr>
          <p:cNvSpPr/>
          <p:nvPr userDrawn="1"/>
        </p:nvSpPr>
        <p:spPr bwMode="gray">
          <a:xfrm>
            <a:off x="0" y="0"/>
            <a:ext cx="12192000" cy="3496296"/>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2" name="Titel 1"/>
          <p:cNvSpPr>
            <a:spLocks noGrp="1"/>
          </p:cNvSpPr>
          <p:nvPr>
            <p:ph type="title" hasCustomPrompt="1"/>
          </p:nvPr>
        </p:nvSpPr>
        <p:spPr bwMode="gray">
          <a:xfrm>
            <a:off x="479425" y="477000"/>
            <a:ext cx="3101975" cy="486613"/>
          </a:xfrm>
        </p:spPr>
        <p:txBody>
          <a:bodyPr/>
          <a:lstStyle>
            <a:lvl1pPr>
              <a:defRPr>
                <a:solidFill>
                  <a:schemeClr val="tx2"/>
                </a:solidFill>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1866900" y="6427114"/>
            <a:ext cx="7726680" cy="107722"/>
          </a:xfrm>
        </p:spPr>
        <p:txBody>
          <a:bodyPr anchor="b">
            <a:spAutoFit/>
          </a:bodyPr>
          <a:lstStyle>
            <a:lvl1pPr marL="0" indent="0">
              <a:lnSpc>
                <a:spcPct val="10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8" name="Text Placeholder 7">
            <a:extLst>
              <a:ext uri="{FF2B5EF4-FFF2-40B4-BE49-F238E27FC236}">
                <a16:creationId xmlns:a16="http://schemas.microsoft.com/office/drawing/2014/main" id="{9F7574F0-2257-6DCF-6AE3-0C01A0C6D6E4}"/>
              </a:ext>
            </a:extLst>
          </p:cNvPr>
          <p:cNvSpPr>
            <a:spLocks noGrp="1"/>
          </p:cNvSpPr>
          <p:nvPr>
            <p:ph type="body" sz="quarter" idx="14"/>
          </p:nvPr>
        </p:nvSpPr>
        <p:spPr>
          <a:xfrm>
            <a:off x="479426" y="963613"/>
            <a:ext cx="3101974" cy="2015807"/>
          </a:xfrm>
        </p:spPr>
        <p:txBody>
          <a:bodyPr/>
          <a:lstStyle>
            <a:lvl1pPr marL="0" indent="0">
              <a:lnSpc>
                <a:spcPct val="100000"/>
              </a:lnSpc>
              <a:buNone/>
              <a:defRPr sz="1400">
                <a:solidFill>
                  <a:schemeClr val="tx2"/>
                </a:solidFill>
              </a:defRPr>
            </a:lvl1pPr>
            <a:lvl2pPr marL="216000" indent="0">
              <a:buNone/>
              <a:defRPr>
                <a:solidFill>
                  <a:schemeClr val="tx2"/>
                </a:solidFill>
              </a:defRPr>
            </a:lvl2pPr>
            <a:lvl3pPr marL="360000" indent="0">
              <a:buNone/>
              <a:defRPr>
                <a:solidFill>
                  <a:schemeClr val="tx2"/>
                </a:solidFill>
              </a:defRPr>
            </a:lvl3pPr>
            <a:lvl4pPr marL="576000" indent="0">
              <a:buNone/>
              <a:defRPr>
                <a:solidFill>
                  <a:schemeClr val="tx2"/>
                </a:solidFill>
              </a:defRPr>
            </a:lvl4pPr>
            <a:lvl5pPr marL="0" indent="0">
              <a:buNone/>
              <a:defRPr>
                <a:solidFill>
                  <a:schemeClr val="tx2"/>
                </a:solidFill>
              </a:defRPr>
            </a:lvl5pPr>
          </a:lstStyle>
          <a:p>
            <a:pPr lvl="0"/>
            <a:r>
              <a:rPr lang="en-US"/>
              <a:t>Click to edit Master text styles</a:t>
            </a:r>
          </a:p>
        </p:txBody>
      </p:sp>
      <p:cxnSp>
        <p:nvCxnSpPr>
          <p:cNvPr id="9" name="Straight Connector 8">
            <a:extLst>
              <a:ext uri="{FF2B5EF4-FFF2-40B4-BE49-F238E27FC236}">
                <a16:creationId xmlns:a16="http://schemas.microsoft.com/office/drawing/2014/main" id="{E1359EA1-1759-1A25-699C-BBCA6CB01794}"/>
              </a:ext>
            </a:extLst>
          </p:cNvPr>
          <p:cNvCxnSpPr>
            <a:cxnSpLocks/>
          </p:cNvCxnSpPr>
          <p:nvPr userDrawn="1"/>
        </p:nvCxnSpPr>
        <p:spPr bwMode="gray">
          <a:xfrm>
            <a:off x="0" y="3100668"/>
            <a:ext cx="3751585"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797676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14089A2-CF07-A351-D304-22F64F7E9C2A}"/>
              </a:ext>
            </a:extLst>
          </p:cNvPr>
          <p:cNvSpPr>
            <a:spLocks noGrp="1"/>
          </p:cNvSpPr>
          <p:nvPr>
            <p:ph type="ftr" sz="quarter" idx="10"/>
          </p:nvPr>
        </p:nvSpPr>
        <p:spPr/>
        <p:txBody>
          <a:bodyPr/>
          <a:lstStyle/>
          <a:p>
            <a:r>
              <a:rPr lang="en-US"/>
              <a:t>ONLY FOR INTERNAL USE</a:t>
            </a:r>
          </a:p>
        </p:txBody>
      </p:sp>
      <p:sp>
        <p:nvSpPr>
          <p:cNvPr id="3" name="Slide Number Placeholder 2">
            <a:extLst>
              <a:ext uri="{FF2B5EF4-FFF2-40B4-BE49-F238E27FC236}">
                <a16:creationId xmlns:a16="http://schemas.microsoft.com/office/drawing/2014/main" id="{E5B1142D-0C86-5403-B7EA-5DDD5FDC90EE}"/>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89983517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4_One content">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393BBB-A191-670D-C488-B72AC59D5BFD}"/>
              </a:ext>
            </a:extLst>
          </p:cNvPr>
          <p:cNvGraphicFramePr>
            <a:graphicFrameLocks noChangeAspect="1"/>
          </p:cNvGraphicFramePr>
          <p:nvPr userDrawn="1">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Folie" r:id="rId3" imgW="426" imgH="426" progId="TCLayout.ActiveDocument.1">
                  <p:embed/>
                </p:oleObj>
              </mc:Choice>
              <mc:Fallback>
                <p:oleObj name="think-cell Folie" r:id="rId3" imgW="426" imgH="426" progId="TCLayout.ActiveDocument.1">
                  <p:embed/>
                  <p:pic>
                    <p:nvPicPr>
                      <p:cNvPr id="3" name="think-cell data - do not delete" hidden="1">
                        <a:extLst>
                          <a:ext uri="{FF2B5EF4-FFF2-40B4-BE49-F238E27FC236}">
                            <a16:creationId xmlns:a16="http://schemas.microsoft.com/office/drawing/2014/main" id="{58393BBB-A191-670D-C488-B72AC59D5BFD}"/>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12" name="Titel 11"/>
          <p:cNvSpPr>
            <a:spLocks noGrp="1"/>
          </p:cNvSpPr>
          <p:nvPr>
            <p:ph type="title" hasCustomPrompt="1"/>
          </p:nvPr>
        </p:nvSpPr>
        <p:spPr bwMode="gray"/>
        <p:txBody>
          <a:bodyPr vert="horz"/>
          <a:lstStyle>
            <a:lvl1pPr rtl="0">
              <a:defRPr/>
            </a:lvl1pPr>
          </a:lstStyle>
          <a:p>
            <a:r>
              <a:rPr lang="en-US"/>
              <a:t>Add  title of the slide</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rtl="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lvl1pPr rtl="0">
              <a:defRPr/>
            </a:lvl1pPr>
          </a:lstStyle>
          <a:p>
            <a:r>
              <a:rPr lang="en-US"/>
              <a:t>BI 1291583 Evidence Network 1st July 2025   |    CONFIDENTIAL</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lvl1pPr rtl="0">
              <a:defRPr/>
            </a:lvl1pPr>
          </a:lstStyle>
          <a:p>
            <a:fld id="{DF4E8F9F-5B1F-4F5B-BE49-3245D8C18D9F}" type="slidenum">
              <a:rPr lang="en-US" smtClean="0"/>
              <a:pPr/>
              <a:t>‹#›</a:t>
            </a:fld>
            <a:endParaRPr lang="en-US"/>
          </a:p>
        </p:txBody>
      </p:sp>
    </p:spTree>
    <p:extLst>
      <p:ext uri="{BB962C8B-B14F-4D97-AF65-F5344CB8AC3E}">
        <p14:creationId xmlns:p14="http://schemas.microsoft.com/office/powerpoint/2010/main" val="103435901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ltLang="zh-CN"/>
              <a:t>TA CEC Portfolio Update|    ONLY FOR INTERNAL USE</a:t>
            </a:r>
          </a:p>
        </p:txBody>
      </p:sp>
    </p:spTree>
    <p:extLst>
      <p:ext uri="{BB962C8B-B14F-4D97-AF65-F5344CB8AC3E}">
        <p14:creationId xmlns:p14="http://schemas.microsoft.com/office/powerpoint/2010/main" val="313665092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ltLang="zh-CN">
                <a:solidFill>
                  <a:schemeClr val="bg1"/>
                </a:solidFill>
              </a:rPr>
              <a:t>TA CEC Portfolio Update|    ONLY FOR INTERNAL USE</a:t>
            </a:r>
          </a:p>
        </p:txBody>
      </p:sp>
    </p:spTree>
    <p:extLst>
      <p:ext uri="{BB962C8B-B14F-4D97-AF65-F5344CB8AC3E}">
        <p14:creationId xmlns:p14="http://schemas.microsoft.com/office/powerpoint/2010/main" val="164124660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ltLang="zh-CN"/>
              <a:t>TA CEC Portfolio Update|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599010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ltLang="zh-CN"/>
              <a:t>TA CEC Portfolio Update|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7873256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ltLang="zh-CN"/>
              <a:t>TA CEC Portfolio Update|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826841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TA CEC Portfolio Update|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44021338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97190153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29454708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ltLang="zh-CN"/>
              <a:t>TA CEC Portfolio Update|    ONLY FOR INTERNAL USE</a:t>
            </a:r>
          </a:p>
        </p:txBody>
      </p:sp>
    </p:spTree>
    <p:extLst>
      <p:ext uri="{BB962C8B-B14F-4D97-AF65-F5344CB8AC3E}">
        <p14:creationId xmlns:p14="http://schemas.microsoft.com/office/powerpoint/2010/main" val="827647004"/>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5553647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ltLang="zh-CN"/>
              <a:t>TA CEC Portfolio Update|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32749688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54365147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426850745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ltLang="zh-CN"/>
              <a:t>TA CEC Portfolio Update|    </a:t>
            </a:r>
          </a:p>
          <a:p>
            <a:r>
              <a:rPr lang="en-US" altLang="zh-CN"/>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47440050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ltLang="zh-CN"/>
              <a:t>TA CEC Portfolio Update|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47648064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ltLang="zh-CN"/>
              <a:t>TA CEC Portfolio Update|   </a:t>
            </a:r>
          </a:p>
          <a:p>
            <a:r>
              <a:rPr lang="en-US" altLang="zh-CN"/>
              <a:t>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312911716"/>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4183268930"/>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129814938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ltLang="zh-CN"/>
              <a:t>TA CEC Portfolio Update|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3587929"/>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2769027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9389571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ltLang="zh-CN"/>
              <a:t>TA CEC Portfolio Update|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3953108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3724741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5072785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8972873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ltLang="zh-CN"/>
              <a:t>TA CEC Portfolio Update|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8107996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ltLang="zh-CN"/>
              <a:t>TA CEC Portfolio Update|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3134427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ltLang="zh-CN"/>
              <a:t>TA CEC Portfolio Update|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457650174"/>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ltLang="zh-CN"/>
              <a:t>TA CEC Portfolio Update|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4166122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98037054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53827000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1721483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42675957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noProof="0" smtClean="0"/>
              <a:t>16/12/2025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4383807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12/16/2025</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72181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3_Content 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0771BE-F040-3E4D-B2E6-692C29B438A7}"/>
              </a:ext>
            </a:extLst>
          </p:cNvPr>
          <p:cNvGrpSpPr/>
          <p:nvPr userDrawn="1"/>
        </p:nvGrpSpPr>
        <p:grpSpPr>
          <a:xfrm>
            <a:off x="9699288" y="279177"/>
            <a:ext cx="2201201" cy="1201539"/>
            <a:chOff x="9699288" y="279177"/>
            <a:chExt cx="2201201" cy="1201539"/>
          </a:xfrm>
        </p:grpSpPr>
        <p:sp>
          <p:nvSpPr>
            <p:cNvPr id="10" name="Triangle 9">
              <a:extLst>
                <a:ext uri="{FF2B5EF4-FFF2-40B4-BE49-F238E27FC236}">
                  <a16:creationId xmlns:a16="http://schemas.microsoft.com/office/drawing/2014/main" id="{E3DEE014-C35C-1849-82A1-D65939825F0F}"/>
                </a:ext>
              </a:extLst>
            </p:cNvPr>
            <p:cNvSpPr/>
            <p:nvPr userDrawn="1"/>
          </p:nvSpPr>
          <p:spPr>
            <a:xfrm rot="5400000">
              <a:off x="9857641" y="340993"/>
              <a:ext cx="896303" cy="772672"/>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grpSp>
          <p:nvGrpSpPr>
            <p:cNvPr id="14" name="Group 13">
              <a:extLst>
                <a:ext uri="{FF2B5EF4-FFF2-40B4-BE49-F238E27FC236}">
                  <a16:creationId xmlns:a16="http://schemas.microsoft.com/office/drawing/2014/main" id="{F653CB2D-33A9-1C47-B153-B8C64AFD536A}"/>
                </a:ext>
              </a:extLst>
            </p:cNvPr>
            <p:cNvGrpSpPr/>
            <p:nvPr userDrawn="1"/>
          </p:nvGrpSpPr>
          <p:grpSpPr>
            <a:xfrm>
              <a:off x="9699288" y="280077"/>
              <a:ext cx="2201201" cy="1200639"/>
              <a:chOff x="8471772" y="4989646"/>
              <a:chExt cx="2892248" cy="1577568"/>
            </a:xfrm>
          </p:grpSpPr>
          <p:sp>
            <p:nvSpPr>
              <p:cNvPr id="15" name="Triangle 14">
                <a:extLst>
                  <a:ext uri="{FF2B5EF4-FFF2-40B4-BE49-F238E27FC236}">
                    <a16:creationId xmlns:a16="http://schemas.microsoft.com/office/drawing/2014/main" id="{4E1AEDC8-7499-9242-B44B-8B54EBAE8242}"/>
                  </a:ext>
                </a:extLst>
              </p:cNvPr>
              <p:cNvSpPr/>
              <p:nvPr/>
            </p:nvSpPr>
            <p:spPr>
              <a:xfrm rot="5400000">
                <a:off x="10450186" y="5044004"/>
                <a:ext cx="788189" cy="679474"/>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6" name="Triangle 15">
                <a:extLst>
                  <a:ext uri="{FF2B5EF4-FFF2-40B4-BE49-F238E27FC236}">
                    <a16:creationId xmlns:a16="http://schemas.microsoft.com/office/drawing/2014/main" id="{0CC3DD7A-4205-4249-AE38-2FD4F039F48D}"/>
                  </a:ext>
                </a:extLst>
              </p:cNvPr>
              <p:cNvSpPr/>
              <p:nvPr/>
            </p:nvSpPr>
            <p:spPr>
              <a:xfrm rot="16200000">
                <a:off x="9275128" y="5470745"/>
                <a:ext cx="1177689" cy="1015249"/>
              </a:xfrm>
              <a:prstGeom prst="triangle">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7" name="Triangle 16">
                <a:extLst>
                  <a:ext uri="{FF2B5EF4-FFF2-40B4-BE49-F238E27FC236}">
                    <a16:creationId xmlns:a16="http://schemas.microsoft.com/office/drawing/2014/main" id="{F7AE6C8C-8646-9F47-93E6-49DD51224E53}"/>
                  </a:ext>
                </a:extLst>
              </p:cNvPr>
              <p:cNvSpPr/>
              <p:nvPr/>
            </p:nvSpPr>
            <p:spPr>
              <a:xfrm rot="5400000">
                <a:off x="10630188" y="5438098"/>
                <a:ext cx="788189" cy="679474"/>
              </a:xfrm>
              <a:prstGeom prst="triangle">
                <a:avLst/>
              </a:prstGeom>
              <a:noFill/>
              <a:ln w="19050">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19" name="Triangle 18">
                <a:extLst>
                  <a:ext uri="{FF2B5EF4-FFF2-40B4-BE49-F238E27FC236}">
                    <a16:creationId xmlns:a16="http://schemas.microsoft.com/office/drawing/2014/main" id="{6FB8F46A-2D29-7043-9B66-6D0F2E7D919A}"/>
                  </a:ext>
                </a:extLst>
              </p:cNvPr>
              <p:cNvSpPr/>
              <p:nvPr/>
            </p:nvSpPr>
            <p:spPr>
              <a:xfrm rot="5400000">
                <a:off x="8434151" y="5234098"/>
                <a:ext cx="545500" cy="470258"/>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grpSp>
      </p:grpSp>
      <p:sp>
        <p:nvSpPr>
          <p:cNvPr id="21" name="Text Placeholder 18">
            <a:extLst>
              <a:ext uri="{FF2B5EF4-FFF2-40B4-BE49-F238E27FC236}">
                <a16:creationId xmlns:a16="http://schemas.microsoft.com/office/drawing/2014/main" id="{FE88D4F9-A2DB-E14C-A6F7-4201DE0BA0CC}"/>
              </a:ext>
            </a:extLst>
          </p:cNvPr>
          <p:cNvSpPr>
            <a:spLocks noGrp="1"/>
          </p:cNvSpPr>
          <p:nvPr>
            <p:ph type="body" sz="quarter" idx="11" hasCustomPrompt="1"/>
          </p:nvPr>
        </p:nvSpPr>
        <p:spPr>
          <a:xfrm>
            <a:off x="1046812" y="600585"/>
            <a:ext cx="8327201" cy="579291"/>
          </a:xfrm>
        </p:spPr>
        <p:txBody>
          <a:bodyPr anchor="t">
            <a:noAutofit/>
          </a:bodyPr>
          <a:lstStyle>
            <a:lvl1pPr>
              <a:lnSpc>
                <a:spcPct val="100000"/>
              </a:lnSpc>
              <a:spcBef>
                <a:spcPts val="0"/>
              </a:spcBef>
              <a:defRPr sz="3000" b="1" spc="0">
                <a:solidFill>
                  <a:schemeClr val="tx1"/>
                </a:solidFill>
              </a:defRPr>
            </a:lvl1pPr>
            <a:lvl2pPr marL="457200" indent="0">
              <a:buNone/>
              <a:defRPr/>
            </a:lvl2pPr>
          </a:lstStyle>
          <a:p>
            <a:pPr lvl="0"/>
            <a:r>
              <a:rPr lang="en-US"/>
              <a:t>CLICK TO ADD TITLE</a:t>
            </a:r>
          </a:p>
        </p:txBody>
      </p:sp>
      <p:sp>
        <p:nvSpPr>
          <p:cNvPr id="11" name="Text Placeholder 18">
            <a:extLst>
              <a:ext uri="{FF2B5EF4-FFF2-40B4-BE49-F238E27FC236}">
                <a16:creationId xmlns:a16="http://schemas.microsoft.com/office/drawing/2014/main" id="{62C67842-F00F-214A-8285-D2EA42989B80}"/>
              </a:ext>
            </a:extLst>
          </p:cNvPr>
          <p:cNvSpPr>
            <a:spLocks noGrp="1"/>
          </p:cNvSpPr>
          <p:nvPr>
            <p:ph type="body" sz="quarter" idx="14" hasCustomPrompt="1"/>
          </p:nvPr>
        </p:nvSpPr>
        <p:spPr>
          <a:xfrm>
            <a:off x="1046811" y="6070674"/>
            <a:ext cx="10628720" cy="486673"/>
          </a:xfrm>
        </p:spPr>
        <p:txBody>
          <a:bodyPr anchor="t">
            <a:noAutofit/>
          </a:bodyPr>
          <a:lstStyle>
            <a:lvl1pPr>
              <a:lnSpc>
                <a:spcPct val="100000"/>
              </a:lnSpc>
              <a:spcBef>
                <a:spcPts val="0"/>
              </a:spcBef>
              <a:defRPr sz="900" b="0" spc="0">
                <a:solidFill>
                  <a:schemeClr val="accent6"/>
                </a:solidFill>
              </a:defRPr>
            </a:lvl1pPr>
            <a:lvl2pPr marL="457200" indent="0">
              <a:buNone/>
              <a:defRPr/>
            </a:lvl2pPr>
          </a:lstStyle>
          <a:p>
            <a:pPr lvl="0"/>
            <a:r>
              <a:rPr lang="en-US"/>
              <a:t>Click to add footnote</a:t>
            </a:r>
          </a:p>
        </p:txBody>
      </p:sp>
      <p:sp>
        <p:nvSpPr>
          <p:cNvPr id="12" name="Content Placeholder 2">
            <a:extLst>
              <a:ext uri="{FF2B5EF4-FFF2-40B4-BE49-F238E27FC236}">
                <a16:creationId xmlns:a16="http://schemas.microsoft.com/office/drawing/2014/main" id="{812B7E6F-7CFD-8A43-B912-46745081D4B3}"/>
              </a:ext>
            </a:extLst>
          </p:cNvPr>
          <p:cNvSpPr>
            <a:spLocks noGrp="1"/>
          </p:cNvSpPr>
          <p:nvPr>
            <p:ph sz="quarter" idx="13"/>
          </p:nvPr>
        </p:nvSpPr>
        <p:spPr>
          <a:xfrm>
            <a:off x="1046814" y="1479810"/>
            <a:ext cx="10628720" cy="4429923"/>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957085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CFB0-9D22-8964-DB36-325CD9C974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E0FC49-B578-877B-9481-0992DEFCA0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1879CD-5129-65B5-E8CB-46020666DE0F}"/>
              </a:ext>
            </a:extLst>
          </p:cNvPr>
          <p:cNvSpPr>
            <a:spLocks noGrp="1"/>
          </p:cNvSpPr>
          <p:nvPr>
            <p:ph type="dt" sz="half" idx="10"/>
          </p:nvPr>
        </p:nvSpPr>
        <p:spPr/>
        <p:txBody>
          <a:bodyPr/>
          <a:lstStyle/>
          <a:p>
            <a:fld id="{70B3A3A5-16AB-4B9E-BB52-D4758A5028AB}" type="datetimeFigureOut">
              <a:rPr lang="en-US" smtClean="0"/>
              <a:t>12/16/2025</a:t>
            </a:fld>
            <a:endParaRPr lang="en-US"/>
          </a:p>
        </p:txBody>
      </p:sp>
      <p:sp>
        <p:nvSpPr>
          <p:cNvPr id="5" name="Footer Placeholder 4">
            <a:extLst>
              <a:ext uri="{FF2B5EF4-FFF2-40B4-BE49-F238E27FC236}">
                <a16:creationId xmlns:a16="http://schemas.microsoft.com/office/drawing/2014/main" id="{5A3DAA19-DA32-5697-93A4-100E0CB2AE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57EF3C-609F-276D-4F20-6BFD60B73D67}"/>
              </a:ext>
            </a:extLst>
          </p:cNvPr>
          <p:cNvSpPr>
            <a:spLocks noGrp="1"/>
          </p:cNvSpPr>
          <p:nvPr>
            <p:ph type="sldNum" sz="quarter" idx="12"/>
          </p:nvPr>
        </p:nvSpPr>
        <p:spPr/>
        <p:txBody>
          <a:bodyPr/>
          <a:lstStyle/>
          <a:p>
            <a:fld id="{3917F2BA-153C-43FD-A0F8-6539C68A522A}" type="slidenum">
              <a:rPr lang="en-US" smtClean="0"/>
              <a:t>‹#›</a:t>
            </a:fld>
            <a:endParaRPr lang="en-US"/>
          </a:p>
        </p:txBody>
      </p:sp>
    </p:spTree>
    <p:extLst>
      <p:ext uri="{BB962C8B-B14F-4D97-AF65-F5344CB8AC3E}">
        <p14:creationId xmlns:p14="http://schemas.microsoft.com/office/powerpoint/2010/main" val="380413834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316067416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42763017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4655135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2049213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086038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PG L-36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267893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PG L-36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796694109"/>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PG L-36    |    ONLY FOR INTERNAL USE</a:t>
            </a:r>
          </a:p>
        </p:txBody>
      </p:sp>
    </p:spTree>
    <p:extLst>
      <p:ext uri="{BB962C8B-B14F-4D97-AF65-F5344CB8AC3E}">
        <p14:creationId xmlns:p14="http://schemas.microsoft.com/office/powerpoint/2010/main" val="42379718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PG L-36    |    ONLY FOR INTERNAL USE</a:t>
            </a:r>
          </a:p>
        </p:txBody>
      </p:sp>
    </p:spTree>
    <p:extLst>
      <p:ext uri="{BB962C8B-B14F-4D97-AF65-F5344CB8AC3E}">
        <p14:creationId xmlns:p14="http://schemas.microsoft.com/office/powerpoint/2010/main" val="44767298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PG L-36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83074638"/>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PG L-36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80974459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PG L-36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70184785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PG L-36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0947044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PG L-36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06621827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PG L-36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9097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PG L-36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340741418"/>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PG L-36    |    ONLY FOR INTERNAL USE</a:t>
            </a:r>
          </a:p>
        </p:txBody>
      </p:sp>
    </p:spTree>
    <p:extLst>
      <p:ext uri="{BB962C8B-B14F-4D97-AF65-F5344CB8AC3E}">
        <p14:creationId xmlns:p14="http://schemas.microsoft.com/office/powerpoint/2010/main" val="2564109113"/>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PG L-36    |    ONLY FOR INTERNAL USE</a:t>
            </a:r>
          </a:p>
        </p:txBody>
      </p:sp>
    </p:spTree>
    <p:extLst>
      <p:ext uri="{BB962C8B-B14F-4D97-AF65-F5344CB8AC3E}">
        <p14:creationId xmlns:p14="http://schemas.microsoft.com/office/powerpoint/2010/main" val="3260822474"/>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PG L-36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5121153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PG L-36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3672131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PG L-36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1827568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PG L-36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1294193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PG L-36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0272675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PG L-36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1823996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PG L-36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2249604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PG L-36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04855721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PG L-36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20452343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PG L-36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51914682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PG L-36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0029397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PG L-36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2205222"/>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PG L-36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57212985"/>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PG L-36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5818692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PG L-36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130029887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5_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5230381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5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77101755"/>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6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84825265"/>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5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16524664"/>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6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226323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4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92191144"/>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4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34677220"/>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userDrawn="1">
  <p:cSld name="Chapter 6_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30C46-08A3-7E21-9297-92FC23E3AB8B}"/>
              </a:ext>
            </a:extLst>
          </p:cNvPr>
          <p:cNvSpPr>
            <a:spLocks noGrp="1"/>
          </p:cNvSpPr>
          <p:nvPr>
            <p:ph type="title"/>
          </p:nvPr>
        </p:nvSpPr>
        <p:spPr>
          <a:xfrm>
            <a:off x="479424" y="1114651"/>
            <a:ext cx="11233151" cy="720000"/>
          </a:xfrm>
        </p:spPr>
        <p:txBody>
          <a:bodyPr/>
          <a:lstStyle>
            <a:lvl1pPr>
              <a:defRPr>
                <a:solidFill>
                  <a:schemeClr val="bg2"/>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733C2D44-6BAA-4EDF-02C8-C6896DB6A461}"/>
              </a:ext>
            </a:extLst>
          </p:cNvPr>
          <p:cNvSpPr>
            <a:spLocks noGrp="1"/>
          </p:cNvSpPr>
          <p:nvPr>
            <p:ph type="ftr" sz="quarter" idx="10"/>
          </p:nvPr>
        </p:nvSpPr>
        <p:spPr/>
        <p:txBody>
          <a:bodyPr/>
          <a:lstStyle>
            <a:lvl1pPr>
              <a:defRPr>
                <a:solidFill>
                  <a:schemeClr val="bg2"/>
                </a:solidFill>
              </a:defRPr>
            </a:lvl1pPr>
          </a:lstStyle>
          <a:p>
            <a:r>
              <a:rPr lang="en-US"/>
              <a:t>Launch Readiness Playbook     |     ONLY FOR INTERNAL USE</a:t>
            </a:r>
          </a:p>
        </p:txBody>
      </p:sp>
      <p:sp>
        <p:nvSpPr>
          <p:cNvPr id="4" name="Slide Number Placeholder 3">
            <a:extLst>
              <a:ext uri="{FF2B5EF4-FFF2-40B4-BE49-F238E27FC236}">
                <a16:creationId xmlns:a16="http://schemas.microsoft.com/office/drawing/2014/main" id="{EA45876D-91DB-DF5A-3483-10D5EBB756A4}"/>
              </a:ext>
            </a:extLst>
          </p:cNvPr>
          <p:cNvSpPr>
            <a:spLocks noGrp="1"/>
          </p:cNvSpPr>
          <p:nvPr>
            <p:ph type="sldNum" sz="quarter" idx="11"/>
          </p:nvPr>
        </p:nvSpPr>
        <p:spPr/>
        <p:txBody>
          <a:bodyPr/>
          <a:lstStyle>
            <a:lvl1pPr>
              <a:defRPr>
                <a:solidFill>
                  <a:schemeClr val="bg2"/>
                </a:solidFill>
              </a:defRPr>
            </a:lvl1pPr>
          </a:lstStyle>
          <a:p>
            <a:fld id="{DF4E8F9F-5B1F-4F5B-BE49-3245D8C18D9F}" type="slidenum">
              <a:rPr lang="en-US" smtClean="0"/>
              <a:pPr/>
              <a:t>‹#›</a:t>
            </a:fld>
            <a:endParaRPr lang="en-US"/>
          </a:p>
        </p:txBody>
      </p:sp>
      <p:sp>
        <p:nvSpPr>
          <p:cNvPr id="7" name="Textplatzhalter 7">
            <a:extLst>
              <a:ext uri="{FF2B5EF4-FFF2-40B4-BE49-F238E27FC236}">
                <a16:creationId xmlns:a16="http://schemas.microsoft.com/office/drawing/2014/main" id="{59435E96-6B61-E396-ABE5-F7D49F199A18}"/>
              </a:ext>
            </a:extLst>
          </p:cNvPr>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4" name="Rectangle 13">
            <a:extLst>
              <a:ext uri="{FF2B5EF4-FFF2-40B4-BE49-F238E27FC236}">
                <a16:creationId xmlns:a16="http://schemas.microsoft.com/office/drawing/2014/main" id="{2174349A-9548-EA6E-902E-5E7D51DE1C6A}"/>
              </a:ext>
            </a:extLst>
          </p:cNvPr>
          <p:cNvSpPr/>
          <p:nvPr userDrawn="1"/>
        </p:nvSpPr>
        <p:spPr bwMode="gray">
          <a:xfrm>
            <a:off x="7208409" y="262892"/>
            <a:ext cx="1153299" cy="74384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normAutofit/>
          </a:bodyPr>
          <a:lstStyle/>
          <a:p>
            <a:pPr algn="l">
              <a:lnSpc>
                <a:spcPct val="140000"/>
              </a:lnSpc>
            </a:pPr>
            <a:endParaRPr lang="en-US" sz="700">
              <a:solidFill>
                <a:schemeClr val="tx1"/>
              </a:solidFill>
            </a:endParaRPr>
          </a:p>
        </p:txBody>
      </p:sp>
      <p:sp>
        <p:nvSpPr>
          <p:cNvPr id="19" name="Rectangle 18">
            <a:extLst>
              <a:ext uri="{FF2B5EF4-FFF2-40B4-BE49-F238E27FC236}">
                <a16:creationId xmlns:a16="http://schemas.microsoft.com/office/drawing/2014/main" id="{B72FC428-DF9F-C227-E9BB-64F084C5AF02}"/>
              </a:ext>
            </a:extLst>
          </p:cNvPr>
          <p:cNvSpPr/>
          <p:nvPr userDrawn="1"/>
        </p:nvSpPr>
        <p:spPr bwMode="gray">
          <a:xfrm>
            <a:off x="0" y="0"/>
            <a:ext cx="12192000" cy="49917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20" name="object 34">
            <a:hlinkClick r:id="" action="ppaction://noaction"/>
            <a:extLst>
              <a:ext uri="{FF2B5EF4-FFF2-40B4-BE49-F238E27FC236}">
                <a16:creationId xmlns:a16="http://schemas.microsoft.com/office/drawing/2014/main" id="{62C9AE80-44F2-B73C-28E4-9F856FE3E458}"/>
              </a:ext>
            </a:extLst>
          </p:cNvPr>
          <p:cNvSpPr/>
          <p:nvPr userDrawn="1"/>
        </p:nvSpPr>
        <p:spPr>
          <a:xfrm>
            <a:off x="1605466" y="0"/>
            <a:ext cx="1098782" cy="476250"/>
          </a:xfrm>
          <a:prstGeom prst="rect">
            <a:avLst/>
          </a:prstGeom>
          <a:solidFill>
            <a:srgbClr val="EFEEEB"/>
          </a:solidFill>
          <a:ln w="6350">
            <a:noFill/>
          </a:ln>
        </p:spPr>
        <p:txBody>
          <a:bodyPr wrap="square" lIns="288000" tIns="0" rIns="3600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Overview</a:t>
            </a:r>
          </a:p>
        </p:txBody>
      </p:sp>
      <p:pic>
        <p:nvPicPr>
          <p:cNvPr id="21" name="Grafik 18">
            <a:extLst>
              <a:ext uri="{FF2B5EF4-FFF2-40B4-BE49-F238E27FC236}">
                <a16:creationId xmlns:a16="http://schemas.microsoft.com/office/drawing/2014/main" id="{9B65ABB9-51D2-0732-864E-8E264854A7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rot="16200000">
            <a:off x="11878255" y="66408"/>
            <a:ext cx="343434" cy="343434"/>
          </a:xfrm>
          <a:prstGeom prst="rect">
            <a:avLst/>
          </a:prstGeom>
        </p:spPr>
      </p:pic>
      <p:pic>
        <p:nvPicPr>
          <p:cNvPr id="22" name="Grafik 18">
            <a:extLst>
              <a:ext uri="{FF2B5EF4-FFF2-40B4-BE49-F238E27FC236}">
                <a16:creationId xmlns:a16="http://schemas.microsoft.com/office/drawing/2014/main" id="{F79BF1CA-232D-64DB-AFD4-BF06812ECC5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rot="5400000" flipH="1">
            <a:off x="11678855" y="66408"/>
            <a:ext cx="343434" cy="343434"/>
          </a:xfrm>
          <a:prstGeom prst="rect">
            <a:avLst/>
          </a:prstGeom>
        </p:spPr>
      </p:pic>
      <p:sp>
        <p:nvSpPr>
          <p:cNvPr id="23" name="Action Button: Blank 22">
            <a:hlinkClick r:id="" action="ppaction://hlinkshowjump?jump=previousslide" highlightClick="1"/>
            <a:extLst>
              <a:ext uri="{FF2B5EF4-FFF2-40B4-BE49-F238E27FC236}">
                <a16:creationId xmlns:a16="http://schemas.microsoft.com/office/drawing/2014/main" id="{71410380-5574-9ADE-9A83-F3F2945A9559}"/>
              </a:ext>
            </a:extLst>
          </p:cNvPr>
          <p:cNvSpPr/>
          <p:nvPr userDrawn="1"/>
        </p:nvSpPr>
        <p:spPr>
          <a:xfrm>
            <a:off x="11712575" y="-819"/>
            <a:ext cx="239597" cy="477887"/>
          </a:xfrm>
          <a:prstGeom prst="actionButtonBlank">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800" spc="200" baseline="0"/>
          </a:p>
        </p:txBody>
      </p:sp>
      <p:sp>
        <p:nvSpPr>
          <p:cNvPr id="24" name="Action Button: Blank 23">
            <a:hlinkClick r:id="" action="ppaction://hlinkshowjump?jump=nextslide" highlightClick="1"/>
            <a:extLst>
              <a:ext uri="{FF2B5EF4-FFF2-40B4-BE49-F238E27FC236}">
                <a16:creationId xmlns:a16="http://schemas.microsoft.com/office/drawing/2014/main" id="{D8A25991-7D97-2D7E-E7E5-7FCAF48960C2}"/>
              </a:ext>
            </a:extLst>
          </p:cNvPr>
          <p:cNvSpPr/>
          <p:nvPr userDrawn="1"/>
        </p:nvSpPr>
        <p:spPr>
          <a:xfrm>
            <a:off x="11952172" y="-819"/>
            <a:ext cx="239828" cy="477887"/>
          </a:xfrm>
          <a:prstGeom prst="actionButtonBlank">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pc="200" baseline="0"/>
          </a:p>
        </p:txBody>
      </p:sp>
      <p:pic>
        <p:nvPicPr>
          <p:cNvPr id="29" name="Grafik 30">
            <a:extLst>
              <a:ext uri="{FF2B5EF4-FFF2-40B4-BE49-F238E27FC236}">
                <a16:creationId xmlns:a16="http://schemas.microsoft.com/office/drawing/2014/main" id="{EF639587-D2FA-4C70-52C9-9E319196427B}"/>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bwMode="gray">
          <a:xfrm>
            <a:off x="66730" y="65143"/>
            <a:ext cx="345964" cy="345964"/>
          </a:xfrm>
          <a:prstGeom prst="rect">
            <a:avLst/>
          </a:prstGeom>
        </p:spPr>
      </p:pic>
      <p:sp>
        <p:nvSpPr>
          <p:cNvPr id="30" name="object 34">
            <a:hlinkClick r:id="" action="ppaction://noaction"/>
            <a:extLst>
              <a:ext uri="{FF2B5EF4-FFF2-40B4-BE49-F238E27FC236}">
                <a16:creationId xmlns:a16="http://schemas.microsoft.com/office/drawing/2014/main" id="{747B53B0-886B-985E-FFD6-5976428E53A9}"/>
              </a:ext>
            </a:extLst>
          </p:cNvPr>
          <p:cNvSpPr/>
          <p:nvPr userDrawn="1"/>
        </p:nvSpPr>
        <p:spPr>
          <a:xfrm>
            <a:off x="479425" y="0"/>
            <a:ext cx="1098782" cy="476250"/>
          </a:xfrm>
          <a:prstGeom prst="rect">
            <a:avLst/>
          </a:prstGeom>
          <a:solidFill>
            <a:srgbClr val="EFEEEB"/>
          </a:solidFill>
          <a:ln w="6350">
            <a:noFill/>
          </a:ln>
        </p:spPr>
        <p:txBody>
          <a:bodyPr wrap="square" lIns="288000" tIns="0" rIns="3600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Vision</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&amp; objectives​</a:t>
            </a:r>
          </a:p>
        </p:txBody>
      </p:sp>
      <p:sp>
        <p:nvSpPr>
          <p:cNvPr id="31" name="object 34">
            <a:hlinkClick r:id="" action="ppaction://noaction"/>
            <a:extLst>
              <a:ext uri="{FF2B5EF4-FFF2-40B4-BE49-F238E27FC236}">
                <a16:creationId xmlns:a16="http://schemas.microsoft.com/office/drawing/2014/main" id="{B9A80D8E-2B2E-8D95-027D-E4F2F1176DC7}"/>
              </a:ext>
            </a:extLst>
          </p:cNvPr>
          <p:cNvSpPr/>
          <p:nvPr userDrawn="1"/>
        </p:nvSpPr>
        <p:spPr>
          <a:xfrm>
            <a:off x="2731507"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&amp; ​other</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Boehringer Ingelheim processes​</a:t>
            </a:r>
          </a:p>
        </p:txBody>
      </p:sp>
      <p:sp>
        <p:nvSpPr>
          <p:cNvPr id="36" name="object 34">
            <a:hlinkClick r:id="" action="ppaction://noaction"/>
            <a:extLst>
              <a:ext uri="{FF2B5EF4-FFF2-40B4-BE49-F238E27FC236}">
                <a16:creationId xmlns:a16="http://schemas.microsoft.com/office/drawing/2014/main" id="{E5E422C5-DA5B-8D47-D120-260568CB2019}"/>
              </a:ext>
            </a:extLst>
          </p:cNvPr>
          <p:cNvSpPr/>
          <p:nvPr userDrawn="1"/>
        </p:nvSpPr>
        <p:spPr>
          <a:xfrm>
            <a:off x="3857548"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process ​roles</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&amp; responsibilities​</a:t>
            </a:r>
          </a:p>
        </p:txBody>
      </p:sp>
      <p:sp>
        <p:nvSpPr>
          <p:cNvPr id="37" name="object 34">
            <a:hlinkClick r:id="" action="ppaction://noaction"/>
            <a:extLst>
              <a:ext uri="{FF2B5EF4-FFF2-40B4-BE49-F238E27FC236}">
                <a16:creationId xmlns:a16="http://schemas.microsoft.com/office/drawing/2014/main" id="{6C7BEB55-8023-216C-74AE-C5498C81C379}"/>
              </a:ext>
            </a:extLst>
          </p:cNvPr>
          <p:cNvSpPr/>
          <p:nvPr userDrawn="1"/>
        </p:nvSpPr>
        <p:spPr>
          <a:xfrm>
            <a:off x="4983589"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Setup launch teams in</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corporate</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TA &amp; OPUS​</a:t>
            </a:r>
          </a:p>
        </p:txBody>
      </p:sp>
      <p:sp>
        <p:nvSpPr>
          <p:cNvPr id="38" name="object 34">
            <a:hlinkClick r:id="" action="ppaction://noaction"/>
            <a:extLst>
              <a:ext uri="{FF2B5EF4-FFF2-40B4-BE49-F238E27FC236}">
                <a16:creationId xmlns:a16="http://schemas.microsoft.com/office/drawing/2014/main" id="{F7274F30-647A-B331-097E-1780D4B01FD3}"/>
              </a:ext>
            </a:extLst>
          </p:cNvPr>
          <p:cNvSpPr/>
          <p:nvPr userDrawn="1"/>
        </p:nvSpPr>
        <p:spPr>
          <a:xfrm>
            <a:off x="6109630" y="0"/>
            <a:ext cx="1098782" cy="476250"/>
          </a:xfrm>
          <a:prstGeom prst="rect">
            <a:avLst/>
          </a:prstGeom>
          <a:solidFill>
            <a:schemeClr val="tx2"/>
          </a:solidFill>
          <a:ln w="6350">
            <a:noFill/>
          </a:ln>
        </p:spPr>
        <p:txBody>
          <a:bodyPr wrap="square" lIns="288000" tIns="0" rIns="36000" bIns="0" rtlCol="0" anchor="ctr"/>
          <a:lstStyle/>
          <a:p>
            <a:pPr marL="12700" lvl="0">
              <a:lnSpc>
                <a:spcPct val="100000"/>
              </a:lnSpc>
              <a:spcBef>
                <a:spcPts val="100"/>
              </a:spcBef>
            </a:pPr>
            <a:r>
              <a:rPr lang="en-GB" sz="700" b="1" spc="0" baseline="0">
                <a:solidFill>
                  <a:schemeClr val="accent1"/>
                </a:solidFill>
                <a:latin typeface="Boehringer Forward Text" panose="02000500000000020000" pitchFamily="2" charset="0"/>
                <a:cs typeface="BISans"/>
              </a:rPr>
              <a:t>LR roadmap​</a:t>
            </a:r>
          </a:p>
        </p:txBody>
      </p:sp>
      <p:sp>
        <p:nvSpPr>
          <p:cNvPr id="39" name="object 34">
            <a:hlinkClick r:id="" action="ppaction://noaction"/>
            <a:extLst>
              <a:ext uri="{FF2B5EF4-FFF2-40B4-BE49-F238E27FC236}">
                <a16:creationId xmlns:a16="http://schemas.microsoft.com/office/drawing/2014/main" id="{0C62440B-102A-2AAE-45FB-D41DC3AC8287}"/>
              </a:ext>
            </a:extLst>
          </p:cNvPr>
          <p:cNvSpPr/>
          <p:nvPr userDrawn="1"/>
        </p:nvSpPr>
        <p:spPr>
          <a:xfrm>
            <a:off x="9487753"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Metrics of success​</a:t>
            </a:r>
          </a:p>
        </p:txBody>
      </p:sp>
      <p:grpSp>
        <p:nvGrpSpPr>
          <p:cNvPr id="57" name="Group 56">
            <a:extLst>
              <a:ext uri="{FF2B5EF4-FFF2-40B4-BE49-F238E27FC236}">
                <a16:creationId xmlns:a16="http://schemas.microsoft.com/office/drawing/2014/main" id="{68CEB4CB-45F1-67F7-B332-FEB1290F628B}"/>
              </a:ext>
            </a:extLst>
          </p:cNvPr>
          <p:cNvGrpSpPr/>
          <p:nvPr userDrawn="1"/>
        </p:nvGrpSpPr>
        <p:grpSpPr>
          <a:xfrm>
            <a:off x="544282" y="158858"/>
            <a:ext cx="158615" cy="158535"/>
            <a:chOff x="515356" y="35932"/>
            <a:chExt cx="158615" cy="158535"/>
          </a:xfrm>
          <a:solidFill>
            <a:schemeClr val="accent1"/>
          </a:solidFill>
        </p:grpSpPr>
        <p:sp>
          <p:nvSpPr>
            <p:cNvPr id="71" name="Freeform: Shape 70">
              <a:extLst>
                <a:ext uri="{FF2B5EF4-FFF2-40B4-BE49-F238E27FC236}">
                  <a16:creationId xmlns:a16="http://schemas.microsoft.com/office/drawing/2014/main" id="{A8BFFF01-614B-9BDC-3F1C-1FDDAAFD2DB1}"/>
                </a:ext>
              </a:extLst>
            </p:cNvPr>
            <p:cNvSpPr/>
            <p:nvPr/>
          </p:nvSpPr>
          <p:spPr>
            <a:xfrm>
              <a:off x="566880" y="79529"/>
              <a:ext cx="43597" cy="63414"/>
            </a:xfrm>
            <a:custGeom>
              <a:avLst/>
              <a:gdLst>
                <a:gd name="connsiteX0" fmla="*/ 43597 w 43597"/>
                <a:gd name="connsiteY0" fmla="*/ 46372 h 63414"/>
                <a:gd name="connsiteX1" fmla="*/ 33847 w 43597"/>
                <a:gd name="connsiteY1" fmla="*/ 31707 h 63414"/>
                <a:gd name="connsiteX2" fmla="*/ 13555 w 43597"/>
                <a:gd name="connsiteY2" fmla="*/ 31707 h 63414"/>
                <a:gd name="connsiteX3" fmla="*/ 7927 w 43597"/>
                <a:gd name="connsiteY3" fmla="*/ 26079 h 63414"/>
                <a:gd name="connsiteX4" fmla="*/ 7927 w 43597"/>
                <a:gd name="connsiteY4" fmla="*/ 15854 h 63414"/>
                <a:gd name="connsiteX5" fmla="*/ 0 w 43597"/>
                <a:gd name="connsiteY5" fmla="*/ 15854 h 63414"/>
                <a:gd name="connsiteX6" fmla="*/ 0 w 43597"/>
                <a:gd name="connsiteY6" fmla="*/ 29408 h 63414"/>
                <a:gd name="connsiteX7" fmla="*/ 10226 w 43597"/>
                <a:gd name="connsiteY7" fmla="*/ 39634 h 63414"/>
                <a:gd name="connsiteX8" fmla="*/ 29567 w 43597"/>
                <a:gd name="connsiteY8" fmla="*/ 39634 h 63414"/>
                <a:gd name="connsiteX9" fmla="*/ 35671 w 43597"/>
                <a:gd name="connsiteY9" fmla="*/ 48750 h 63414"/>
                <a:gd name="connsiteX10" fmla="*/ 35671 w 43597"/>
                <a:gd name="connsiteY10" fmla="*/ 63414 h 63414"/>
                <a:gd name="connsiteX11" fmla="*/ 43597 w 43597"/>
                <a:gd name="connsiteY11" fmla="*/ 63414 h 63414"/>
                <a:gd name="connsiteX12" fmla="*/ 43597 w 43597"/>
                <a:gd name="connsiteY12" fmla="*/ 46372 h 63414"/>
                <a:gd name="connsiteX13" fmla="*/ 7927 w 43597"/>
                <a:gd name="connsiteY13" fmla="*/ 15854 h 63414"/>
                <a:gd name="connsiteX14" fmla="*/ 27744 w 43597"/>
                <a:gd name="connsiteY14" fmla="*/ 7927 h 63414"/>
                <a:gd name="connsiteX15" fmla="*/ 27744 w 43597"/>
                <a:gd name="connsiteY15" fmla="*/ 0 h 63414"/>
                <a:gd name="connsiteX16" fmla="*/ 7927 w 43597"/>
                <a:gd name="connsiteY16" fmla="*/ 7927 h 63414"/>
                <a:gd name="connsiteX17" fmla="*/ 7927 w 43597"/>
                <a:gd name="connsiteY17" fmla="*/ 15854 h 63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597" h="63414">
                  <a:moveTo>
                    <a:pt x="43597" y="46372"/>
                  </a:moveTo>
                  <a:lnTo>
                    <a:pt x="33847" y="31707"/>
                  </a:lnTo>
                  <a:lnTo>
                    <a:pt x="13555" y="31707"/>
                  </a:lnTo>
                  <a:lnTo>
                    <a:pt x="7927" y="26079"/>
                  </a:lnTo>
                  <a:lnTo>
                    <a:pt x="7927" y="15854"/>
                  </a:lnTo>
                  <a:lnTo>
                    <a:pt x="0" y="15854"/>
                  </a:lnTo>
                  <a:lnTo>
                    <a:pt x="0" y="29408"/>
                  </a:lnTo>
                  <a:lnTo>
                    <a:pt x="10226" y="39634"/>
                  </a:lnTo>
                  <a:lnTo>
                    <a:pt x="29567" y="39634"/>
                  </a:lnTo>
                  <a:lnTo>
                    <a:pt x="35671" y="48750"/>
                  </a:lnTo>
                  <a:lnTo>
                    <a:pt x="35671" y="63414"/>
                  </a:lnTo>
                  <a:lnTo>
                    <a:pt x="43597" y="63414"/>
                  </a:lnTo>
                  <a:lnTo>
                    <a:pt x="43597" y="46372"/>
                  </a:lnTo>
                  <a:close/>
                  <a:moveTo>
                    <a:pt x="7927" y="15854"/>
                  </a:moveTo>
                  <a:lnTo>
                    <a:pt x="27744" y="7927"/>
                  </a:lnTo>
                  <a:lnTo>
                    <a:pt x="27744" y="0"/>
                  </a:lnTo>
                  <a:lnTo>
                    <a:pt x="7927" y="7927"/>
                  </a:lnTo>
                  <a:lnTo>
                    <a:pt x="7927" y="15854"/>
                  </a:lnTo>
                  <a:close/>
                </a:path>
              </a:pathLst>
            </a:custGeom>
            <a:grpFill/>
            <a:ln w="7541"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876478-D943-210D-6278-8531066421C8}"/>
                </a:ext>
              </a:extLst>
            </p:cNvPr>
            <p:cNvSpPr/>
            <p:nvPr/>
          </p:nvSpPr>
          <p:spPr>
            <a:xfrm>
              <a:off x="594624" y="91420"/>
              <a:ext cx="39633" cy="39633"/>
            </a:xfrm>
            <a:custGeom>
              <a:avLst/>
              <a:gdLst>
                <a:gd name="connsiteX0" fmla="*/ 39634 w 39633"/>
                <a:gd name="connsiteY0" fmla="*/ 23780 h 39633"/>
                <a:gd name="connsiteX1" fmla="*/ 31707 w 39633"/>
                <a:gd name="connsiteY1" fmla="*/ 23780 h 39633"/>
                <a:gd name="connsiteX2" fmla="*/ 31707 w 39633"/>
                <a:gd name="connsiteY2" fmla="*/ 39634 h 39633"/>
                <a:gd name="connsiteX3" fmla="*/ 39634 w 39633"/>
                <a:gd name="connsiteY3" fmla="*/ 39634 h 39633"/>
                <a:gd name="connsiteX4" fmla="*/ 39634 w 39633"/>
                <a:gd name="connsiteY4" fmla="*/ 23780 h 39633"/>
                <a:gd name="connsiteX5" fmla="*/ 7927 w 39633"/>
                <a:gd name="connsiteY5" fmla="*/ 0 h 39633"/>
                <a:gd name="connsiteX6" fmla="*/ 0 w 39633"/>
                <a:gd name="connsiteY6" fmla="*/ 0 h 39633"/>
                <a:gd name="connsiteX7" fmla="*/ 0 w 39633"/>
                <a:gd name="connsiteY7" fmla="*/ 7927 h 39633"/>
                <a:gd name="connsiteX8" fmla="*/ 7927 w 39633"/>
                <a:gd name="connsiteY8" fmla="*/ 7927 h 39633"/>
                <a:gd name="connsiteX9" fmla="*/ 7927 w 39633"/>
                <a:gd name="connsiteY9" fmla="*/ 0 h 39633"/>
                <a:gd name="connsiteX10" fmla="*/ 15854 w 39633"/>
                <a:gd name="connsiteY10" fmla="*/ 7927 h 39633"/>
                <a:gd name="connsiteX11" fmla="*/ 7927 w 39633"/>
                <a:gd name="connsiteY11" fmla="*/ 7927 h 39633"/>
                <a:gd name="connsiteX12" fmla="*/ 7927 w 39633"/>
                <a:gd name="connsiteY12" fmla="*/ 15854 h 39633"/>
                <a:gd name="connsiteX13" fmla="*/ 15854 w 39633"/>
                <a:gd name="connsiteY13" fmla="*/ 15854 h 39633"/>
                <a:gd name="connsiteX14" fmla="*/ 15854 w 39633"/>
                <a:gd name="connsiteY14" fmla="*/ 7927 h 3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633" h="39633">
                  <a:moveTo>
                    <a:pt x="39634" y="23780"/>
                  </a:moveTo>
                  <a:lnTo>
                    <a:pt x="31707" y="23780"/>
                  </a:lnTo>
                  <a:lnTo>
                    <a:pt x="31707" y="39634"/>
                  </a:lnTo>
                  <a:lnTo>
                    <a:pt x="39634" y="39634"/>
                  </a:lnTo>
                  <a:lnTo>
                    <a:pt x="39634" y="23780"/>
                  </a:lnTo>
                  <a:close/>
                  <a:moveTo>
                    <a:pt x="7927" y="0"/>
                  </a:moveTo>
                  <a:lnTo>
                    <a:pt x="0" y="0"/>
                  </a:lnTo>
                  <a:lnTo>
                    <a:pt x="0" y="7927"/>
                  </a:lnTo>
                  <a:lnTo>
                    <a:pt x="7927" y="7927"/>
                  </a:lnTo>
                  <a:lnTo>
                    <a:pt x="7927" y="0"/>
                  </a:lnTo>
                  <a:close/>
                  <a:moveTo>
                    <a:pt x="15854" y="7927"/>
                  </a:moveTo>
                  <a:lnTo>
                    <a:pt x="7927" y="7927"/>
                  </a:lnTo>
                  <a:lnTo>
                    <a:pt x="7927" y="15854"/>
                  </a:lnTo>
                  <a:lnTo>
                    <a:pt x="15854" y="15854"/>
                  </a:lnTo>
                  <a:lnTo>
                    <a:pt x="15854" y="7927"/>
                  </a:lnTo>
                  <a:close/>
                </a:path>
              </a:pathLst>
            </a:custGeom>
            <a:grpFill/>
            <a:ln w="7541"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BDFC8D67-B5C1-7BB9-9297-E5D0D4BFEEA1}"/>
                </a:ext>
              </a:extLst>
            </p:cNvPr>
            <p:cNvSpPr/>
            <p:nvPr/>
          </p:nvSpPr>
          <p:spPr>
            <a:xfrm>
              <a:off x="515356" y="35932"/>
              <a:ext cx="158615" cy="158535"/>
            </a:xfrm>
            <a:custGeom>
              <a:avLst/>
              <a:gdLst>
                <a:gd name="connsiteX0" fmla="*/ 79268 w 158615"/>
                <a:gd name="connsiteY0" fmla="*/ 0 h 158535"/>
                <a:gd name="connsiteX1" fmla="*/ 0 w 158615"/>
                <a:gd name="connsiteY1" fmla="*/ 79268 h 158535"/>
                <a:gd name="connsiteX2" fmla="*/ 79268 w 158615"/>
                <a:gd name="connsiteY2" fmla="*/ 158536 h 158535"/>
                <a:gd name="connsiteX3" fmla="*/ 142603 w 158615"/>
                <a:gd name="connsiteY3" fmla="*/ 126829 h 158535"/>
                <a:gd name="connsiteX4" fmla="*/ 142682 w 158615"/>
                <a:gd name="connsiteY4" fmla="*/ 126829 h 158535"/>
                <a:gd name="connsiteX5" fmla="*/ 142682 w 158615"/>
                <a:gd name="connsiteY5" fmla="*/ 126749 h 158535"/>
                <a:gd name="connsiteX6" fmla="*/ 158615 w 158615"/>
                <a:gd name="connsiteY6" fmla="*/ 79268 h 158535"/>
                <a:gd name="connsiteX7" fmla="*/ 79268 w 158615"/>
                <a:gd name="connsiteY7" fmla="*/ 0 h 158535"/>
                <a:gd name="connsiteX8" fmla="*/ 138640 w 158615"/>
                <a:gd name="connsiteY8" fmla="*/ 118743 h 158535"/>
                <a:gd name="connsiteX9" fmla="*/ 126829 w 158615"/>
                <a:gd name="connsiteY9" fmla="*/ 95122 h 158535"/>
                <a:gd name="connsiteX10" fmla="*/ 118902 w 158615"/>
                <a:gd name="connsiteY10" fmla="*/ 95122 h 158535"/>
                <a:gd name="connsiteX11" fmla="*/ 126829 w 158615"/>
                <a:gd name="connsiteY11" fmla="*/ 110975 h 158535"/>
                <a:gd name="connsiteX12" fmla="*/ 133884 w 158615"/>
                <a:gd name="connsiteY12" fmla="*/ 125085 h 158535"/>
                <a:gd name="connsiteX13" fmla="*/ 79268 w 158615"/>
                <a:gd name="connsiteY13" fmla="*/ 150609 h 158535"/>
                <a:gd name="connsiteX14" fmla="*/ 79268 w 158615"/>
                <a:gd name="connsiteY14" fmla="*/ 126829 h 158535"/>
                <a:gd name="connsiteX15" fmla="*/ 87195 w 158615"/>
                <a:gd name="connsiteY15" fmla="*/ 107012 h 158535"/>
                <a:gd name="connsiteX16" fmla="*/ 79189 w 158615"/>
                <a:gd name="connsiteY16" fmla="*/ 107012 h 158535"/>
                <a:gd name="connsiteX17" fmla="*/ 71341 w 158615"/>
                <a:gd name="connsiteY17" fmla="*/ 126829 h 158535"/>
                <a:gd name="connsiteX18" fmla="*/ 71341 w 158615"/>
                <a:gd name="connsiteY18" fmla="*/ 150133 h 158535"/>
                <a:gd name="connsiteX19" fmla="*/ 63018 w 158615"/>
                <a:gd name="connsiteY19" fmla="*/ 148627 h 158535"/>
                <a:gd name="connsiteX20" fmla="*/ 43914 w 158615"/>
                <a:gd name="connsiteY20" fmla="*/ 99006 h 158535"/>
                <a:gd name="connsiteX21" fmla="*/ 35433 w 158615"/>
                <a:gd name="connsiteY21" fmla="*/ 99006 h 158535"/>
                <a:gd name="connsiteX22" fmla="*/ 53347 w 158615"/>
                <a:gd name="connsiteY22" fmla="*/ 145615 h 158535"/>
                <a:gd name="connsiteX23" fmla="*/ 7927 w 158615"/>
                <a:gd name="connsiteY23" fmla="*/ 79189 h 158535"/>
                <a:gd name="connsiteX24" fmla="*/ 18628 w 158615"/>
                <a:gd name="connsiteY24" fmla="*/ 41695 h 158535"/>
                <a:gd name="connsiteX25" fmla="*/ 31628 w 158615"/>
                <a:gd name="connsiteY25" fmla="*/ 53268 h 158535"/>
                <a:gd name="connsiteX26" fmla="*/ 31628 w 158615"/>
                <a:gd name="connsiteY26" fmla="*/ 67298 h 158535"/>
                <a:gd name="connsiteX27" fmla="*/ 22908 w 158615"/>
                <a:gd name="connsiteY27" fmla="*/ 67298 h 158535"/>
                <a:gd name="connsiteX28" fmla="*/ 29250 w 158615"/>
                <a:gd name="connsiteY28" fmla="*/ 83152 h 158535"/>
                <a:gd name="connsiteX29" fmla="*/ 20530 w 158615"/>
                <a:gd name="connsiteY29" fmla="*/ 83152 h 158535"/>
                <a:gd name="connsiteX30" fmla="*/ 26793 w 158615"/>
                <a:gd name="connsiteY30" fmla="*/ 99006 h 158535"/>
                <a:gd name="connsiteX31" fmla="*/ 35353 w 158615"/>
                <a:gd name="connsiteY31" fmla="*/ 99006 h 158535"/>
                <a:gd name="connsiteX32" fmla="*/ 29329 w 158615"/>
                <a:gd name="connsiteY32" fmla="*/ 83152 h 158535"/>
                <a:gd name="connsiteX33" fmla="*/ 37732 w 158615"/>
                <a:gd name="connsiteY33" fmla="*/ 83152 h 158535"/>
                <a:gd name="connsiteX34" fmla="*/ 31628 w 158615"/>
                <a:gd name="connsiteY34" fmla="*/ 67298 h 158535"/>
                <a:gd name="connsiteX35" fmla="*/ 39555 w 158615"/>
                <a:gd name="connsiteY35" fmla="*/ 67298 h 158535"/>
                <a:gd name="connsiteX36" fmla="*/ 39555 w 158615"/>
                <a:gd name="connsiteY36" fmla="*/ 49622 h 158535"/>
                <a:gd name="connsiteX37" fmla="*/ 23225 w 158615"/>
                <a:gd name="connsiteY37" fmla="*/ 35116 h 158535"/>
                <a:gd name="connsiteX38" fmla="*/ 63414 w 158615"/>
                <a:gd name="connsiteY38" fmla="*/ 9671 h 158535"/>
                <a:gd name="connsiteX39" fmla="*/ 63414 w 158615"/>
                <a:gd name="connsiteY39" fmla="*/ 17439 h 158535"/>
                <a:gd name="connsiteX40" fmla="*/ 79268 w 158615"/>
                <a:gd name="connsiteY40" fmla="*/ 33293 h 158535"/>
                <a:gd name="connsiteX41" fmla="*/ 79268 w 158615"/>
                <a:gd name="connsiteY41" fmla="*/ 43518 h 158535"/>
                <a:gd name="connsiteX42" fmla="*/ 87195 w 158615"/>
                <a:gd name="connsiteY42" fmla="*/ 43518 h 158535"/>
                <a:gd name="connsiteX43" fmla="*/ 87195 w 158615"/>
                <a:gd name="connsiteY43" fmla="*/ 29963 h 158535"/>
                <a:gd name="connsiteX44" fmla="*/ 71341 w 158615"/>
                <a:gd name="connsiteY44" fmla="*/ 14110 h 158535"/>
                <a:gd name="connsiteX45" fmla="*/ 71341 w 158615"/>
                <a:gd name="connsiteY45" fmla="*/ 8323 h 158535"/>
                <a:gd name="connsiteX46" fmla="*/ 79268 w 158615"/>
                <a:gd name="connsiteY46" fmla="*/ 7848 h 158535"/>
                <a:gd name="connsiteX47" fmla="*/ 146170 w 158615"/>
                <a:gd name="connsiteY47" fmla="*/ 54536 h 158535"/>
                <a:gd name="connsiteX48" fmla="*/ 118902 w 158615"/>
                <a:gd name="connsiteY48" fmla="*/ 70311 h 158535"/>
                <a:gd name="connsiteX49" fmla="*/ 118902 w 158615"/>
                <a:gd name="connsiteY49" fmla="*/ 79189 h 158535"/>
                <a:gd name="connsiteX50" fmla="*/ 148310 w 158615"/>
                <a:gd name="connsiteY50" fmla="*/ 61512 h 158535"/>
                <a:gd name="connsiteX51" fmla="*/ 150609 w 158615"/>
                <a:gd name="connsiteY51" fmla="*/ 79189 h 158535"/>
                <a:gd name="connsiteX52" fmla="*/ 138640 w 158615"/>
                <a:gd name="connsiteY52" fmla="*/ 118664 h 158535"/>
                <a:gd name="connsiteX53" fmla="*/ 138640 w 158615"/>
                <a:gd name="connsiteY53" fmla="*/ 118743 h 15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8615" h="158535">
                  <a:moveTo>
                    <a:pt x="79268" y="0"/>
                  </a:moveTo>
                  <a:cubicBezTo>
                    <a:pt x="35512" y="0"/>
                    <a:pt x="0" y="35512"/>
                    <a:pt x="0" y="79268"/>
                  </a:cubicBezTo>
                  <a:cubicBezTo>
                    <a:pt x="0" y="123024"/>
                    <a:pt x="35512" y="158536"/>
                    <a:pt x="79268" y="158536"/>
                  </a:cubicBezTo>
                  <a:cubicBezTo>
                    <a:pt x="105189" y="158536"/>
                    <a:pt x="128097" y="146012"/>
                    <a:pt x="142603" y="126829"/>
                  </a:cubicBezTo>
                  <a:lnTo>
                    <a:pt x="142682" y="126829"/>
                  </a:lnTo>
                  <a:lnTo>
                    <a:pt x="142682" y="126749"/>
                  </a:lnTo>
                  <a:cubicBezTo>
                    <a:pt x="153001" y="113068"/>
                    <a:pt x="158592" y="96404"/>
                    <a:pt x="158615" y="79268"/>
                  </a:cubicBezTo>
                  <a:cubicBezTo>
                    <a:pt x="158536" y="35512"/>
                    <a:pt x="123024" y="0"/>
                    <a:pt x="79268" y="0"/>
                  </a:cubicBezTo>
                  <a:close/>
                  <a:moveTo>
                    <a:pt x="138640" y="118743"/>
                  </a:moveTo>
                  <a:lnTo>
                    <a:pt x="126829" y="95122"/>
                  </a:lnTo>
                  <a:lnTo>
                    <a:pt x="118902" y="95122"/>
                  </a:lnTo>
                  <a:cubicBezTo>
                    <a:pt x="120566" y="98371"/>
                    <a:pt x="123658" y="104713"/>
                    <a:pt x="126829" y="110975"/>
                  </a:cubicBezTo>
                  <a:lnTo>
                    <a:pt x="133884" y="125085"/>
                  </a:lnTo>
                  <a:cubicBezTo>
                    <a:pt x="120352" y="141255"/>
                    <a:pt x="100353" y="150601"/>
                    <a:pt x="79268" y="150609"/>
                  </a:cubicBezTo>
                  <a:lnTo>
                    <a:pt x="79268" y="126829"/>
                  </a:lnTo>
                  <a:lnTo>
                    <a:pt x="87195" y="107012"/>
                  </a:lnTo>
                  <a:lnTo>
                    <a:pt x="79189" y="107012"/>
                  </a:lnTo>
                  <a:lnTo>
                    <a:pt x="71341" y="126829"/>
                  </a:lnTo>
                  <a:lnTo>
                    <a:pt x="71341" y="150133"/>
                  </a:lnTo>
                  <a:cubicBezTo>
                    <a:pt x="68539" y="149799"/>
                    <a:pt x="65760" y="149296"/>
                    <a:pt x="63018" y="148627"/>
                  </a:cubicBezTo>
                  <a:lnTo>
                    <a:pt x="43914" y="99006"/>
                  </a:lnTo>
                  <a:lnTo>
                    <a:pt x="35433" y="99006"/>
                  </a:lnTo>
                  <a:lnTo>
                    <a:pt x="53347" y="145615"/>
                  </a:lnTo>
                  <a:cubicBezTo>
                    <a:pt x="26793" y="135231"/>
                    <a:pt x="7927" y="109469"/>
                    <a:pt x="7927" y="79189"/>
                  </a:cubicBezTo>
                  <a:cubicBezTo>
                    <a:pt x="7927" y="65396"/>
                    <a:pt x="11890" y="52634"/>
                    <a:pt x="18628" y="41695"/>
                  </a:cubicBezTo>
                  <a:cubicBezTo>
                    <a:pt x="20134" y="43042"/>
                    <a:pt x="28695" y="50731"/>
                    <a:pt x="31628" y="53268"/>
                  </a:cubicBezTo>
                  <a:lnTo>
                    <a:pt x="31628" y="67298"/>
                  </a:lnTo>
                  <a:lnTo>
                    <a:pt x="22908" y="67298"/>
                  </a:lnTo>
                  <a:lnTo>
                    <a:pt x="29250" y="83152"/>
                  </a:lnTo>
                  <a:lnTo>
                    <a:pt x="20530" y="83152"/>
                  </a:lnTo>
                  <a:lnTo>
                    <a:pt x="26793" y="99006"/>
                  </a:lnTo>
                  <a:lnTo>
                    <a:pt x="35353" y="99006"/>
                  </a:lnTo>
                  <a:lnTo>
                    <a:pt x="29329" y="83152"/>
                  </a:lnTo>
                  <a:lnTo>
                    <a:pt x="37732" y="83152"/>
                  </a:lnTo>
                  <a:lnTo>
                    <a:pt x="31628" y="67298"/>
                  </a:lnTo>
                  <a:lnTo>
                    <a:pt x="39555" y="67298"/>
                  </a:lnTo>
                  <a:lnTo>
                    <a:pt x="39555" y="49622"/>
                  </a:lnTo>
                  <a:cubicBezTo>
                    <a:pt x="39555" y="49622"/>
                    <a:pt x="24890" y="36622"/>
                    <a:pt x="23225" y="35116"/>
                  </a:cubicBezTo>
                  <a:cubicBezTo>
                    <a:pt x="33304" y="22273"/>
                    <a:pt x="47495" y="13288"/>
                    <a:pt x="63414" y="9671"/>
                  </a:cubicBezTo>
                  <a:lnTo>
                    <a:pt x="63414" y="17439"/>
                  </a:lnTo>
                  <a:lnTo>
                    <a:pt x="79268" y="33293"/>
                  </a:lnTo>
                  <a:lnTo>
                    <a:pt x="79268" y="43518"/>
                  </a:lnTo>
                  <a:lnTo>
                    <a:pt x="87195" y="43518"/>
                  </a:lnTo>
                  <a:lnTo>
                    <a:pt x="87195" y="29963"/>
                  </a:lnTo>
                  <a:lnTo>
                    <a:pt x="71341" y="14110"/>
                  </a:lnTo>
                  <a:lnTo>
                    <a:pt x="71341" y="8323"/>
                  </a:lnTo>
                  <a:cubicBezTo>
                    <a:pt x="73957" y="8006"/>
                    <a:pt x="76573" y="7848"/>
                    <a:pt x="79268" y="7848"/>
                  </a:cubicBezTo>
                  <a:cubicBezTo>
                    <a:pt x="110024" y="7848"/>
                    <a:pt x="136103" y="27347"/>
                    <a:pt x="146170" y="54536"/>
                  </a:cubicBezTo>
                  <a:lnTo>
                    <a:pt x="118902" y="70311"/>
                  </a:lnTo>
                  <a:lnTo>
                    <a:pt x="118902" y="79189"/>
                  </a:lnTo>
                  <a:lnTo>
                    <a:pt x="148310" y="61512"/>
                  </a:lnTo>
                  <a:cubicBezTo>
                    <a:pt x="149737" y="67219"/>
                    <a:pt x="150609" y="73085"/>
                    <a:pt x="150609" y="79189"/>
                  </a:cubicBezTo>
                  <a:cubicBezTo>
                    <a:pt x="150609" y="93774"/>
                    <a:pt x="146170" y="107408"/>
                    <a:pt x="138640" y="118664"/>
                  </a:cubicBezTo>
                  <a:lnTo>
                    <a:pt x="138640" y="118743"/>
                  </a:lnTo>
                  <a:close/>
                </a:path>
              </a:pathLst>
            </a:custGeom>
            <a:grpFill/>
            <a:ln w="7541" cap="flat">
              <a:noFill/>
              <a:prstDash val="solid"/>
              <a:miter/>
            </a:ln>
          </p:spPr>
          <p:txBody>
            <a:bodyPr rtlCol="0" anchor="ctr"/>
            <a:lstStyle/>
            <a:p>
              <a:endParaRPr lang="en-US"/>
            </a:p>
          </p:txBody>
        </p:sp>
      </p:grpSp>
      <p:pic>
        <p:nvPicPr>
          <p:cNvPr id="58" name="Graphic 57">
            <a:hlinkClick r:id="" action="ppaction://noaction"/>
            <a:extLst>
              <a:ext uri="{FF2B5EF4-FFF2-40B4-BE49-F238E27FC236}">
                <a16:creationId xmlns:a16="http://schemas.microsoft.com/office/drawing/2014/main" id="{66B8993D-43CB-E13B-63EA-F35F1170E3CC}"/>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671143" y="162182"/>
            <a:ext cx="151886" cy="151886"/>
          </a:xfrm>
          <a:prstGeom prst="rect">
            <a:avLst/>
          </a:prstGeom>
        </p:spPr>
      </p:pic>
      <p:sp>
        <p:nvSpPr>
          <p:cNvPr id="59" name="Graphic 30">
            <a:extLst>
              <a:ext uri="{FF2B5EF4-FFF2-40B4-BE49-F238E27FC236}">
                <a16:creationId xmlns:a16="http://schemas.microsoft.com/office/drawing/2014/main" id="{CDA087CC-6694-28E5-AEC4-82B75CDBC45D}"/>
              </a:ext>
            </a:extLst>
          </p:cNvPr>
          <p:cNvSpPr/>
          <p:nvPr userDrawn="1"/>
        </p:nvSpPr>
        <p:spPr>
          <a:xfrm>
            <a:off x="2801186" y="159969"/>
            <a:ext cx="156312" cy="156312"/>
          </a:xfrm>
          <a:custGeom>
            <a:avLst/>
            <a:gdLst>
              <a:gd name="connsiteX0" fmla="*/ 103232 w 171450"/>
              <a:gd name="connsiteY0" fmla="*/ 0 h 171450"/>
              <a:gd name="connsiteX1" fmla="*/ 68218 w 171450"/>
              <a:gd name="connsiteY1" fmla="*/ 0 h 171450"/>
              <a:gd name="connsiteX2" fmla="*/ 59312 w 171450"/>
              <a:gd name="connsiteY2" fmla="*/ 22241 h 171450"/>
              <a:gd name="connsiteX3" fmla="*/ 37509 w 171450"/>
              <a:gd name="connsiteY3" fmla="*/ 12716 h 171450"/>
              <a:gd name="connsiteX4" fmla="*/ 12706 w 171450"/>
              <a:gd name="connsiteY4" fmla="*/ 37509 h 171450"/>
              <a:gd name="connsiteX5" fmla="*/ 22241 w 171450"/>
              <a:gd name="connsiteY5" fmla="*/ 59322 h 171450"/>
              <a:gd name="connsiteX6" fmla="*/ 0 w 171450"/>
              <a:gd name="connsiteY6" fmla="*/ 68199 h 171450"/>
              <a:gd name="connsiteX7" fmla="*/ 0 w 171450"/>
              <a:gd name="connsiteY7" fmla="*/ 103222 h 171450"/>
              <a:gd name="connsiteX8" fmla="*/ 22241 w 171450"/>
              <a:gd name="connsiteY8" fmla="*/ 112128 h 171450"/>
              <a:gd name="connsiteX9" fmla="*/ 12716 w 171450"/>
              <a:gd name="connsiteY9" fmla="*/ 133941 h 171450"/>
              <a:gd name="connsiteX10" fmla="*/ 37509 w 171450"/>
              <a:gd name="connsiteY10" fmla="*/ 158734 h 171450"/>
              <a:gd name="connsiteX11" fmla="*/ 59322 w 171450"/>
              <a:gd name="connsiteY11" fmla="*/ 149200 h 171450"/>
              <a:gd name="connsiteX12" fmla="*/ 68199 w 171450"/>
              <a:gd name="connsiteY12" fmla="*/ 171450 h 171450"/>
              <a:gd name="connsiteX13" fmla="*/ 103251 w 171450"/>
              <a:gd name="connsiteY13" fmla="*/ 171450 h 171450"/>
              <a:gd name="connsiteX14" fmla="*/ 111928 w 171450"/>
              <a:gd name="connsiteY14" fmla="*/ 149285 h 171450"/>
              <a:gd name="connsiteX15" fmla="*/ 133950 w 171450"/>
              <a:gd name="connsiteY15" fmla="*/ 158725 h 171450"/>
              <a:gd name="connsiteX16" fmla="*/ 158734 w 171450"/>
              <a:gd name="connsiteY16" fmla="*/ 133941 h 171450"/>
              <a:gd name="connsiteX17" fmla="*/ 149200 w 171450"/>
              <a:gd name="connsiteY17" fmla="*/ 112128 h 171450"/>
              <a:gd name="connsiteX18" fmla="*/ 171450 w 171450"/>
              <a:gd name="connsiteY18" fmla="*/ 103241 h 171450"/>
              <a:gd name="connsiteX19" fmla="*/ 171450 w 171450"/>
              <a:gd name="connsiteY19" fmla="*/ 68218 h 171450"/>
              <a:gd name="connsiteX20" fmla="*/ 149209 w 171450"/>
              <a:gd name="connsiteY20" fmla="*/ 59322 h 171450"/>
              <a:gd name="connsiteX21" fmla="*/ 158734 w 171450"/>
              <a:gd name="connsiteY21" fmla="*/ 37519 h 171450"/>
              <a:gd name="connsiteX22" fmla="*/ 133941 w 171450"/>
              <a:gd name="connsiteY22" fmla="*/ 12716 h 171450"/>
              <a:gd name="connsiteX23" fmla="*/ 112128 w 171450"/>
              <a:gd name="connsiteY23" fmla="*/ 22250 h 171450"/>
              <a:gd name="connsiteX24" fmla="*/ 103251 w 171450"/>
              <a:gd name="connsiteY24" fmla="*/ 0 h 171450"/>
              <a:gd name="connsiteX25" fmla="*/ 69513 w 171450"/>
              <a:gd name="connsiteY25" fmla="*/ 22384 h 171450"/>
              <a:gd name="connsiteX26" fmla="*/ 74657 w 171450"/>
              <a:gd name="connsiteY26" fmla="*/ 9525 h 171450"/>
              <a:gd name="connsiteX27" fmla="*/ 96793 w 171450"/>
              <a:gd name="connsiteY27" fmla="*/ 9525 h 171450"/>
              <a:gd name="connsiteX28" fmla="*/ 101937 w 171450"/>
              <a:gd name="connsiteY28" fmla="*/ 22384 h 171450"/>
              <a:gd name="connsiteX29" fmla="*/ 117624 w 171450"/>
              <a:gd name="connsiteY29" fmla="*/ 30242 h 171450"/>
              <a:gd name="connsiteX30" fmla="*/ 131797 w 171450"/>
              <a:gd name="connsiteY30" fmla="*/ 24041 h 171450"/>
              <a:gd name="connsiteX31" fmla="*/ 147418 w 171450"/>
              <a:gd name="connsiteY31" fmla="*/ 39653 h 171450"/>
              <a:gd name="connsiteX32" fmla="*/ 141218 w 171450"/>
              <a:gd name="connsiteY32" fmla="*/ 53826 h 171450"/>
              <a:gd name="connsiteX33" fmla="*/ 149057 w 171450"/>
              <a:gd name="connsiteY33" fmla="*/ 69513 h 171450"/>
              <a:gd name="connsiteX34" fmla="*/ 161925 w 171450"/>
              <a:gd name="connsiteY34" fmla="*/ 74657 h 171450"/>
              <a:gd name="connsiteX35" fmla="*/ 161925 w 171450"/>
              <a:gd name="connsiteY35" fmla="*/ 96793 h 171450"/>
              <a:gd name="connsiteX36" fmla="*/ 149066 w 171450"/>
              <a:gd name="connsiteY36" fmla="*/ 101937 h 171450"/>
              <a:gd name="connsiteX37" fmla="*/ 141218 w 171450"/>
              <a:gd name="connsiteY37" fmla="*/ 117624 h 171450"/>
              <a:gd name="connsiteX38" fmla="*/ 147409 w 171450"/>
              <a:gd name="connsiteY38" fmla="*/ 131797 h 171450"/>
              <a:gd name="connsiteX39" fmla="*/ 131788 w 171450"/>
              <a:gd name="connsiteY39" fmla="*/ 147428 h 171450"/>
              <a:gd name="connsiteX40" fmla="*/ 117462 w 171450"/>
              <a:gd name="connsiteY40" fmla="*/ 141294 h 171450"/>
              <a:gd name="connsiteX41" fmla="*/ 101765 w 171450"/>
              <a:gd name="connsiteY41" fmla="*/ 149142 h 171450"/>
              <a:gd name="connsiteX42" fmla="*/ 96774 w 171450"/>
              <a:gd name="connsiteY42" fmla="*/ 161925 h 171450"/>
              <a:gd name="connsiteX43" fmla="*/ 74676 w 171450"/>
              <a:gd name="connsiteY43" fmla="*/ 161925 h 171450"/>
              <a:gd name="connsiteX44" fmla="*/ 69533 w 171450"/>
              <a:gd name="connsiteY44" fmla="*/ 149066 h 171450"/>
              <a:gd name="connsiteX45" fmla="*/ 53835 w 171450"/>
              <a:gd name="connsiteY45" fmla="*/ 141218 h 171450"/>
              <a:gd name="connsiteX46" fmla="*/ 39662 w 171450"/>
              <a:gd name="connsiteY46" fmla="*/ 147409 h 171450"/>
              <a:gd name="connsiteX47" fmla="*/ 24041 w 171450"/>
              <a:gd name="connsiteY47" fmla="*/ 131797 h 171450"/>
              <a:gd name="connsiteX48" fmla="*/ 30251 w 171450"/>
              <a:gd name="connsiteY48" fmla="*/ 117624 h 171450"/>
              <a:gd name="connsiteX49" fmla="*/ 22403 w 171450"/>
              <a:gd name="connsiteY49" fmla="*/ 101937 h 171450"/>
              <a:gd name="connsiteX50" fmla="*/ 9525 w 171450"/>
              <a:gd name="connsiteY50" fmla="*/ 96793 h 171450"/>
              <a:gd name="connsiteX51" fmla="*/ 9525 w 171450"/>
              <a:gd name="connsiteY51" fmla="*/ 74657 h 171450"/>
              <a:gd name="connsiteX52" fmla="*/ 22384 w 171450"/>
              <a:gd name="connsiteY52" fmla="*/ 69513 h 171450"/>
              <a:gd name="connsiteX53" fmla="*/ 30242 w 171450"/>
              <a:gd name="connsiteY53" fmla="*/ 53826 h 171450"/>
              <a:gd name="connsiteX54" fmla="*/ 24041 w 171450"/>
              <a:gd name="connsiteY54" fmla="*/ 39653 h 171450"/>
              <a:gd name="connsiteX55" fmla="*/ 39653 w 171450"/>
              <a:gd name="connsiteY55" fmla="*/ 24032 h 171450"/>
              <a:gd name="connsiteX56" fmla="*/ 53826 w 171450"/>
              <a:gd name="connsiteY56" fmla="*/ 30232 h 171450"/>
              <a:gd name="connsiteX57" fmla="*/ 69513 w 171450"/>
              <a:gd name="connsiteY57" fmla="*/ 22393 h 171450"/>
              <a:gd name="connsiteX58" fmla="*/ 114300 w 171450"/>
              <a:gd name="connsiteY58" fmla="*/ 85725 h 171450"/>
              <a:gd name="connsiteX59" fmla="*/ 85725 w 171450"/>
              <a:gd name="connsiteY59" fmla="*/ 114300 h 171450"/>
              <a:gd name="connsiteX60" fmla="*/ 57150 w 171450"/>
              <a:gd name="connsiteY60" fmla="*/ 85725 h 171450"/>
              <a:gd name="connsiteX61" fmla="*/ 85725 w 171450"/>
              <a:gd name="connsiteY61" fmla="*/ 57150 h 171450"/>
              <a:gd name="connsiteX62" fmla="*/ 114300 w 171450"/>
              <a:gd name="connsiteY62" fmla="*/ 85725 h 171450"/>
              <a:gd name="connsiteX63" fmla="*/ 123825 w 171450"/>
              <a:gd name="connsiteY63" fmla="*/ 85725 h 171450"/>
              <a:gd name="connsiteX64" fmla="*/ 85725 w 171450"/>
              <a:gd name="connsiteY64" fmla="*/ 123825 h 171450"/>
              <a:gd name="connsiteX65" fmla="*/ 47625 w 171450"/>
              <a:gd name="connsiteY65" fmla="*/ 85725 h 171450"/>
              <a:gd name="connsiteX66" fmla="*/ 85725 w 171450"/>
              <a:gd name="connsiteY66" fmla="*/ 47625 h 171450"/>
              <a:gd name="connsiteX67" fmla="*/ 123825 w 171450"/>
              <a:gd name="connsiteY67"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71450" h="171450">
                <a:moveTo>
                  <a:pt x="103232" y="0"/>
                </a:moveTo>
                <a:lnTo>
                  <a:pt x="68218" y="0"/>
                </a:lnTo>
                <a:lnTo>
                  <a:pt x="59312" y="22241"/>
                </a:lnTo>
                <a:lnTo>
                  <a:pt x="37509" y="12716"/>
                </a:lnTo>
                <a:lnTo>
                  <a:pt x="12706" y="37509"/>
                </a:lnTo>
                <a:lnTo>
                  <a:pt x="22241" y="59322"/>
                </a:lnTo>
                <a:lnTo>
                  <a:pt x="0" y="68199"/>
                </a:lnTo>
                <a:lnTo>
                  <a:pt x="0" y="103222"/>
                </a:lnTo>
                <a:lnTo>
                  <a:pt x="22241" y="112128"/>
                </a:lnTo>
                <a:lnTo>
                  <a:pt x="12716" y="133941"/>
                </a:lnTo>
                <a:lnTo>
                  <a:pt x="37509" y="158734"/>
                </a:lnTo>
                <a:lnTo>
                  <a:pt x="59322" y="149200"/>
                </a:lnTo>
                <a:lnTo>
                  <a:pt x="68199" y="171450"/>
                </a:lnTo>
                <a:lnTo>
                  <a:pt x="103251" y="171450"/>
                </a:lnTo>
                <a:lnTo>
                  <a:pt x="111928" y="149285"/>
                </a:lnTo>
                <a:lnTo>
                  <a:pt x="133950" y="158725"/>
                </a:lnTo>
                <a:lnTo>
                  <a:pt x="158734" y="133941"/>
                </a:lnTo>
                <a:lnTo>
                  <a:pt x="149200" y="112128"/>
                </a:lnTo>
                <a:lnTo>
                  <a:pt x="171450" y="103241"/>
                </a:lnTo>
                <a:lnTo>
                  <a:pt x="171450" y="68218"/>
                </a:lnTo>
                <a:lnTo>
                  <a:pt x="149209" y="59322"/>
                </a:lnTo>
                <a:lnTo>
                  <a:pt x="158734" y="37519"/>
                </a:lnTo>
                <a:lnTo>
                  <a:pt x="133941" y="12716"/>
                </a:lnTo>
                <a:lnTo>
                  <a:pt x="112128" y="22250"/>
                </a:lnTo>
                <a:lnTo>
                  <a:pt x="103251" y="0"/>
                </a:lnTo>
                <a:close/>
                <a:moveTo>
                  <a:pt x="69513" y="22384"/>
                </a:moveTo>
                <a:lnTo>
                  <a:pt x="74657" y="9525"/>
                </a:lnTo>
                <a:lnTo>
                  <a:pt x="96793" y="9525"/>
                </a:lnTo>
                <a:lnTo>
                  <a:pt x="101937" y="22384"/>
                </a:lnTo>
                <a:lnTo>
                  <a:pt x="117624" y="30242"/>
                </a:lnTo>
                <a:lnTo>
                  <a:pt x="131797" y="24041"/>
                </a:lnTo>
                <a:lnTo>
                  <a:pt x="147418" y="39653"/>
                </a:lnTo>
                <a:lnTo>
                  <a:pt x="141218" y="53826"/>
                </a:lnTo>
                <a:lnTo>
                  <a:pt x="149057" y="69513"/>
                </a:lnTo>
                <a:lnTo>
                  <a:pt x="161925" y="74657"/>
                </a:lnTo>
                <a:lnTo>
                  <a:pt x="161925" y="96793"/>
                </a:lnTo>
                <a:lnTo>
                  <a:pt x="149066" y="101937"/>
                </a:lnTo>
                <a:lnTo>
                  <a:pt x="141218" y="117624"/>
                </a:lnTo>
                <a:lnTo>
                  <a:pt x="147409" y="131797"/>
                </a:lnTo>
                <a:lnTo>
                  <a:pt x="131788" y="147428"/>
                </a:lnTo>
                <a:lnTo>
                  <a:pt x="117462" y="141294"/>
                </a:lnTo>
                <a:lnTo>
                  <a:pt x="101765" y="149142"/>
                </a:lnTo>
                <a:lnTo>
                  <a:pt x="96774" y="161925"/>
                </a:lnTo>
                <a:lnTo>
                  <a:pt x="74676" y="161925"/>
                </a:lnTo>
                <a:lnTo>
                  <a:pt x="69533" y="149066"/>
                </a:lnTo>
                <a:lnTo>
                  <a:pt x="53835" y="141218"/>
                </a:lnTo>
                <a:lnTo>
                  <a:pt x="39662" y="147409"/>
                </a:lnTo>
                <a:lnTo>
                  <a:pt x="24041" y="131797"/>
                </a:lnTo>
                <a:lnTo>
                  <a:pt x="30251" y="117624"/>
                </a:lnTo>
                <a:lnTo>
                  <a:pt x="22403" y="101937"/>
                </a:lnTo>
                <a:lnTo>
                  <a:pt x="9525" y="96793"/>
                </a:lnTo>
                <a:lnTo>
                  <a:pt x="9525" y="74657"/>
                </a:lnTo>
                <a:lnTo>
                  <a:pt x="22384" y="69513"/>
                </a:lnTo>
                <a:lnTo>
                  <a:pt x="30242" y="53826"/>
                </a:lnTo>
                <a:lnTo>
                  <a:pt x="24041" y="39653"/>
                </a:lnTo>
                <a:lnTo>
                  <a:pt x="39653" y="24032"/>
                </a:lnTo>
                <a:lnTo>
                  <a:pt x="53826" y="30232"/>
                </a:lnTo>
                <a:lnTo>
                  <a:pt x="69513" y="22393"/>
                </a:lnTo>
                <a:close/>
                <a:moveTo>
                  <a:pt x="114300" y="85725"/>
                </a:moveTo>
                <a:cubicBezTo>
                  <a:pt x="114300" y="101507"/>
                  <a:pt x="101507" y="114300"/>
                  <a:pt x="85725" y="114300"/>
                </a:cubicBezTo>
                <a:cubicBezTo>
                  <a:pt x="69943" y="114300"/>
                  <a:pt x="57150" y="101507"/>
                  <a:pt x="57150" y="85725"/>
                </a:cubicBezTo>
                <a:cubicBezTo>
                  <a:pt x="57150" y="69943"/>
                  <a:pt x="69943" y="57150"/>
                  <a:pt x="85725" y="57150"/>
                </a:cubicBezTo>
                <a:cubicBezTo>
                  <a:pt x="101507" y="57150"/>
                  <a:pt x="114300" y="69943"/>
                  <a:pt x="114300" y="85725"/>
                </a:cubicBezTo>
                <a:close/>
                <a:moveTo>
                  <a:pt x="123825" y="85725"/>
                </a:moveTo>
                <a:cubicBezTo>
                  <a:pt x="123825" y="106767"/>
                  <a:pt x="106767" y="123825"/>
                  <a:pt x="85725" y="123825"/>
                </a:cubicBezTo>
                <a:cubicBezTo>
                  <a:pt x="64683" y="123825"/>
                  <a:pt x="47625" y="106767"/>
                  <a:pt x="47625" y="85725"/>
                </a:cubicBezTo>
                <a:cubicBezTo>
                  <a:pt x="47625" y="64683"/>
                  <a:pt x="64683" y="47625"/>
                  <a:pt x="85725" y="47625"/>
                </a:cubicBezTo>
                <a:cubicBezTo>
                  <a:pt x="106767" y="47625"/>
                  <a:pt x="123825" y="64683"/>
                  <a:pt x="123825" y="85725"/>
                </a:cubicBezTo>
                <a:close/>
              </a:path>
            </a:pathLst>
          </a:custGeom>
          <a:solidFill>
            <a:srgbClr val="08312A"/>
          </a:solidFill>
          <a:ln w="9525" cap="flat">
            <a:noFill/>
            <a:prstDash val="solid"/>
            <a:miter/>
          </a:ln>
        </p:spPr>
        <p:txBody>
          <a:bodyPr rtlCol="0" anchor="ctr"/>
          <a:lstStyle/>
          <a:p>
            <a:endParaRPr lang="en-US"/>
          </a:p>
        </p:txBody>
      </p:sp>
      <p:sp>
        <p:nvSpPr>
          <p:cNvPr id="60" name="Graphic 37">
            <a:extLst>
              <a:ext uri="{FF2B5EF4-FFF2-40B4-BE49-F238E27FC236}">
                <a16:creationId xmlns:a16="http://schemas.microsoft.com/office/drawing/2014/main" id="{2C5B3D12-0CD0-4DC1-F522-DFE0F30F1986}"/>
              </a:ext>
            </a:extLst>
          </p:cNvPr>
          <p:cNvSpPr/>
          <p:nvPr userDrawn="1"/>
        </p:nvSpPr>
        <p:spPr>
          <a:xfrm>
            <a:off x="3896025" y="152400"/>
            <a:ext cx="190500" cy="171450"/>
          </a:xfrm>
          <a:custGeom>
            <a:avLst/>
            <a:gdLst>
              <a:gd name="connsiteX0" fmla="*/ 47625 w 190500"/>
              <a:gd name="connsiteY0" fmla="*/ 47625 h 171450"/>
              <a:gd name="connsiteX1" fmla="*/ 66675 w 190500"/>
              <a:gd name="connsiteY1" fmla="*/ 28575 h 171450"/>
              <a:gd name="connsiteX2" fmla="*/ 47625 w 190500"/>
              <a:gd name="connsiteY2" fmla="*/ 9525 h 171450"/>
              <a:gd name="connsiteX3" fmla="*/ 28575 w 190500"/>
              <a:gd name="connsiteY3" fmla="*/ 28575 h 171450"/>
              <a:gd name="connsiteX4" fmla="*/ 47625 w 190500"/>
              <a:gd name="connsiteY4" fmla="*/ 47625 h 171450"/>
              <a:gd name="connsiteX5" fmla="*/ 47625 w 190500"/>
              <a:gd name="connsiteY5" fmla="*/ 57150 h 171450"/>
              <a:gd name="connsiteX6" fmla="*/ 76200 w 190500"/>
              <a:gd name="connsiteY6" fmla="*/ 28575 h 171450"/>
              <a:gd name="connsiteX7" fmla="*/ 47625 w 190500"/>
              <a:gd name="connsiteY7" fmla="*/ 0 h 171450"/>
              <a:gd name="connsiteX8" fmla="*/ 19050 w 190500"/>
              <a:gd name="connsiteY8" fmla="*/ 28575 h 171450"/>
              <a:gd name="connsiteX9" fmla="*/ 47625 w 190500"/>
              <a:gd name="connsiteY9" fmla="*/ 57150 h 171450"/>
              <a:gd name="connsiteX10" fmla="*/ 142875 w 190500"/>
              <a:gd name="connsiteY10" fmla="*/ 47625 h 171450"/>
              <a:gd name="connsiteX11" fmla="*/ 161925 w 190500"/>
              <a:gd name="connsiteY11" fmla="*/ 28575 h 171450"/>
              <a:gd name="connsiteX12" fmla="*/ 142875 w 190500"/>
              <a:gd name="connsiteY12" fmla="*/ 9525 h 171450"/>
              <a:gd name="connsiteX13" fmla="*/ 123825 w 190500"/>
              <a:gd name="connsiteY13" fmla="*/ 28575 h 171450"/>
              <a:gd name="connsiteX14" fmla="*/ 142875 w 190500"/>
              <a:gd name="connsiteY14" fmla="*/ 47625 h 171450"/>
              <a:gd name="connsiteX15" fmla="*/ 142875 w 190500"/>
              <a:gd name="connsiteY15" fmla="*/ 57150 h 171450"/>
              <a:gd name="connsiteX16" fmla="*/ 171450 w 190500"/>
              <a:gd name="connsiteY16" fmla="*/ 28575 h 171450"/>
              <a:gd name="connsiteX17" fmla="*/ 142875 w 190500"/>
              <a:gd name="connsiteY17" fmla="*/ 0 h 171450"/>
              <a:gd name="connsiteX18" fmla="*/ 114300 w 190500"/>
              <a:gd name="connsiteY18" fmla="*/ 28575 h 171450"/>
              <a:gd name="connsiteX19" fmla="*/ 142875 w 190500"/>
              <a:gd name="connsiteY19" fmla="*/ 57150 h 171450"/>
              <a:gd name="connsiteX20" fmla="*/ 9525 w 190500"/>
              <a:gd name="connsiteY20" fmla="*/ 100441 h 171450"/>
              <a:gd name="connsiteX21" fmla="*/ 15392 w 190500"/>
              <a:gd name="connsiteY21" fmla="*/ 85430 h 171450"/>
              <a:gd name="connsiteX22" fmla="*/ 28575 w 190500"/>
              <a:gd name="connsiteY22" fmla="*/ 80963 h 171450"/>
              <a:gd name="connsiteX23" fmla="*/ 57150 w 190500"/>
              <a:gd name="connsiteY23" fmla="*/ 80963 h 171450"/>
              <a:gd name="connsiteX24" fmla="*/ 57150 w 190500"/>
              <a:gd name="connsiteY24" fmla="*/ 71438 h 171450"/>
              <a:gd name="connsiteX25" fmla="*/ 28575 w 190500"/>
              <a:gd name="connsiteY25" fmla="*/ 71438 h 171450"/>
              <a:gd name="connsiteX26" fmla="*/ 9144 w 190500"/>
              <a:gd name="connsiteY26" fmla="*/ 78229 h 171450"/>
              <a:gd name="connsiteX27" fmla="*/ 0 w 190500"/>
              <a:gd name="connsiteY27" fmla="*/ 100441 h 171450"/>
              <a:gd name="connsiteX28" fmla="*/ 0 w 190500"/>
              <a:gd name="connsiteY28" fmla="*/ 114300 h 171450"/>
              <a:gd name="connsiteX29" fmla="*/ 9525 w 190500"/>
              <a:gd name="connsiteY29" fmla="*/ 114300 h 171450"/>
              <a:gd name="connsiteX30" fmla="*/ 9525 w 190500"/>
              <a:gd name="connsiteY30" fmla="*/ 123825 h 171450"/>
              <a:gd name="connsiteX31" fmla="*/ 47625 w 190500"/>
              <a:gd name="connsiteY31" fmla="*/ 123825 h 171450"/>
              <a:gd name="connsiteX32" fmla="*/ 47625 w 190500"/>
              <a:gd name="connsiteY32" fmla="*/ 114300 h 171450"/>
              <a:gd name="connsiteX33" fmla="*/ 9525 w 190500"/>
              <a:gd name="connsiteY33" fmla="*/ 114300 h 171450"/>
              <a:gd name="connsiteX34" fmla="*/ 9525 w 190500"/>
              <a:gd name="connsiteY34" fmla="*/ 100441 h 171450"/>
              <a:gd name="connsiteX35" fmla="*/ 190500 w 190500"/>
              <a:gd name="connsiteY35" fmla="*/ 114300 h 171450"/>
              <a:gd name="connsiteX36" fmla="*/ 180975 w 190500"/>
              <a:gd name="connsiteY36" fmla="*/ 114300 h 171450"/>
              <a:gd name="connsiteX37" fmla="*/ 180975 w 190500"/>
              <a:gd name="connsiteY37" fmla="*/ 100441 h 171450"/>
              <a:gd name="connsiteX38" fmla="*/ 175108 w 190500"/>
              <a:gd name="connsiteY38" fmla="*/ 85430 h 171450"/>
              <a:gd name="connsiteX39" fmla="*/ 161925 w 190500"/>
              <a:gd name="connsiteY39" fmla="*/ 80963 h 171450"/>
              <a:gd name="connsiteX40" fmla="*/ 133350 w 190500"/>
              <a:gd name="connsiteY40" fmla="*/ 80963 h 171450"/>
              <a:gd name="connsiteX41" fmla="*/ 133350 w 190500"/>
              <a:gd name="connsiteY41" fmla="*/ 71438 h 171450"/>
              <a:gd name="connsiteX42" fmla="*/ 161925 w 190500"/>
              <a:gd name="connsiteY42" fmla="*/ 71438 h 171450"/>
              <a:gd name="connsiteX43" fmla="*/ 181356 w 190500"/>
              <a:gd name="connsiteY43" fmla="*/ 78229 h 171450"/>
              <a:gd name="connsiteX44" fmla="*/ 190500 w 190500"/>
              <a:gd name="connsiteY44" fmla="*/ 100441 h 171450"/>
              <a:gd name="connsiteX45" fmla="*/ 190500 w 190500"/>
              <a:gd name="connsiteY45" fmla="*/ 114300 h 171450"/>
              <a:gd name="connsiteX46" fmla="*/ 180975 w 190500"/>
              <a:gd name="connsiteY46" fmla="*/ 114300 h 171450"/>
              <a:gd name="connsiteX47" fmla="*/ 180975 w 190500"/>
              <a:gd name="connsiteY47" fmla="*/ 123825 h 171450"/>
              <a:gd name="connsiteX48" fmla="*/ 142875 w 190500"/>
              <a:gd name="connsiteY48" fmla="*/ 123825 h 171450"/>
              <a:gd name="connsiteX49" fmla="*/ 142875 w 190500"/>
              <a:gd name="connsiteY49" fmla="*/ 114300 h 171450"/>
              <a:gd name="connsiteX50" fmla="*/ 180975 w 190500"/>
              <a:gd name="connsiteY50" fmla="*/ 114300 h 171450"/>
              <a:gd name="connsiteX51" fmla="*/ 114300 w 190500"/>
              <a:gd name="connsiteY51" fmla="*/ 76200 h 171450"/>
              <a:gd name="connsiteX52" fmla="*/ 95250 w 190500"/>
              <a:gd name="connsiteY52" fmla="*/ 95250 h 171450"/>
              <a:gd name="connsiteX53" fmla="*/ 76200 w 190500"/>
              <a:gd name="connsiteY53" fmla="*/ 76200 h 171450"/>
              <a:gd name="connsiteX54" fmla="*/ 95250 w 190500"/>
              <a:gd name="connsiteY54" fmla="*/ 57150 h 171450"/>
              <a:gd name="connsiteX55" fmla="*/ 114300 w 190500"/>
              <a:gd name="connsiteY55" fmla="*/ 76200 h 171450"/>
              <a:gd name="connsiteX56" fmla="*/ 123825 w 190500"/>
              <a:gd name="connsiteY56" fmla="*/ 76200 h 171450"/>
              <a:gd name="connsiteX57" fmla="*/ 95250 w 190500"/>
              <a:gd name="connsiteY57" fmla="*/ 104775 h 171450"/>
              <a:gd name="connsiteX58" fmla="*/ 66675 w 190500"/>
              <a:gd name="connsiteY58" fmla="*/ 76200 h 171450"/>
              <a:gd name="connsiteX59" fmla="*/ 95250 w 190500"/>
              <a:gd name="connsiteY59" fmla="*/ 47625 h 171450"/>
              <a:gd name="connsiteX60" fmla="*/ 123825 w 190500"/>
              <a:gd name="connsiteY60" fmla="*/ 76200 h 171450"/>
              <a:gd name="connsiteX61" fmla="*/ 57150 w 190500"/>
              <a:gd name="connsiteY61" fmla="*/ 171450 h 171450"/>
              <a:gd name="connsiteX62" fmla="*/ 57150 w 190500"/>
              <a:gd name="connsiteY62" fmla="*/ 161925 h 171450"/>
              <a:gd name="connsiteX63" fmla="*/ 133350 w 190500"/>
              <a:gd name="connsiteY63" fmla="*/ 161925 h 171450"/>
              <a:gd name="connsiteX64" fmla="*/ 133350 w 190500"/>
              <a:gd name="connsiteY64" fmla="*/ 171450 h 171450"/>
              <a:gd name="connsiteX65" fmla="*/ 57150 w 190500"/>
              <a:gd name="connsiteY65" fmla="*/ 171450 h 171450"/>
              <a:gd name="connsiteX66" fmla="*/ 133350 w 190500"/>
              <a:gd name="connsiteY66" fmla="*/ 161925 h 171450"/>
              <a:gd name="connsiteX67" fmla="*/ 133350 w 190500"/>
              <a:gd name="connsiteY67" fmla="*/ 148066 h 171450"/>
              <a:gd name="connsiteX68" fmla="*/ 127483 w 190500"/>
              <a:gd name="connsiteY68" fmla="*/ 133055 h 171450"/>
              <a:gd name="connsiteX69" fmla="*/ 114300 w 190500"/>
              <a:gd name="connsiteY69" fmla="*/ 128588 h 171450"/>
              <a:gd name="connsiteX70" fmla="*/ 76200 w 190500"/>
              <a:gd name="connsiteY70" fmla="*/ 128588 h 171450"/>
              <a:gd name="connsiteX71" fmla="*/ 63017 w 190500"/>
              <a:gd name="connsiteY71" fmla="*/ 133055 h 171450"/>
              <a:gd name="connsiteX72" fmla="*/ 57150 w 190500"/>
              <a:gd name="connsiteY72" fmla="*/ 148066 h 171450"/>
              <a:gd name="connsiteX73" fmla="*/ 57150 w 190500"/>
              <a:gd name="connsiteY73" fmla="*/ 161925 h 171450"/>
              <a:gd name="connsiteX74" fmla="*/ 47625 w 190500"/>
              <a:gd name="connsiteY74" fmla="*/ 161925 h 171450"/>
              <a:gd name="connsiteX75" fmla="*/ 47625 w 190500"/>
              <a:gd name="connsiteY75" fmla="*/ 148066 h 171450"/>
              <a:gd name="connsiteX76" fmla="*/ 56769 w 190500"/>
              <a:gd name="connsiteY76" fmla="*/ 125854 h 171450"/>
              <a:gd name="connsiteX77" fmla="*/ 76200 w 190500"/>
              <a:gd name="connsiteY77" fmla="*/ 119063 h 171450"/>
              <a:gd name="connsiteX78" fmla="*/ 114300 w 190500"/>
              <a:gd name="connsiteY78" fmla="*/ 119063 h 171450"/>
              <a:gd name="connsiteX79" fmla="*/ 133731 w 190500"/>
              <a:gd name="connsiteY79" fmla="*/ 125854 h 171450"/>
              <a:gd name="connsiteX80" fmla="*/ 142875 w 190500"/>
              <a:gd name="connsiteY80" fmla="*/ 148066 h 171450"/>
              <a:gd name="connsiteX81" fmla="*/ 142875 w 190500"/>
              <a:gd name="connsiteY81" fmla="*/ 161925 h 171450"/>
              <a:gd name="connsiteX82" fmla="*/ 133350 w 190500"/>
              <a:gd name="connsiteY82" fmla="*/ 1619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90500" h="171450">
                <a:moveTo>
                  <a:pt x="47625" y="47625"/>
                </a:moveTo>
                <a:cubicBezTo>
                  <a:pt x="58146" y="47625"/>
                  <a:pt x="66675" y="39096"/>
                  <a:pt x="66675" y="28575"/>
                </a:cubicBezTo>
                <a:cubicBezTo>
                  <a:pt x="66675" y="18054"/>
                  <a:pt x="58146" y="9525"/>
                  <a:pt x="47625" y="9525"/>
                </a:cubicBezTo>
                <a:cubicBezTo>
                  <a:pt x="37104" y="9525"/>
                  <a:pt x="28575" y="18054"/>
                  <a:pt x="28575" y="28575"/>
                </a:cubicBezTo>
                <a:cubicBezTo>
                  <a:pt x="28575" y="39096"/>
                  <a:pt x="37104" y="47625"/>
                  <a:pt x="47625" y="47625"/>
                </a:cubicBezTo>
                <a:close/>
                <a:moveTo>
                  <a:pt x="47625" y="57150"/>
                </a:moveTo>
                <a:cubicBezTo>
                  <a:pt x="63407" y="57150"/>
                  <a:pt x="76200" y="44357"/>
                  <a:pt x="76200" y="28575"/>
                </a:cubicBezTo>
                <a:cubicBezTo>
                  <a:pt x="76200" y="12793"/>
                  <a:pt x="63407" y="0"/>
                  <a:pt x="47625" y="0"/>
                </a:cubicBezTo>
                <a:cubicBezTo>
                  <a:pt x="31843" y="0"/>
                  <a:pt x="19050" y="12793"/>
                  <a:pt x="19050" y="28575"/>
                </a:cubicBezTo>
                <a:cubicBezTo>
                  <a:pt x="19050" y="44357"/>
                  <a:pt x="31843" y="57150"/>
                  <a:pt x="47625" y="57150"/>
                </a:cubicBezTo>
                <a:close/>
                <a:moveTo>
                  <a:pt x="142875" y="47625"/>
                </a:moveTo>
                <a:cubicBezTo>
                  <a:pt x="153396" y="47625"/>
                  <a:pt x="161925" y="39096"/>
                  <a:pt x="161925" y="28575"/>
                </a:cubicBezTo>
                <a:cubicBezTo>
                  <a:pt x="161925" y="18054"/>
                  <a:pt x="153396" y="9525"/>
                  <a:pt x="142875" y="9525"/>
                </a:cubicBezTo>
                <a:cubicBezTo>
                  <a:pt x="132354" y="9525"/>
                  <a:pt x="123825" y="18054"/>
                  <a:pt x="123825" y="28575"/>
                </a:cubicBezTo>
                <a:cubicBezTo>
                  <a:pt x="123825" y="39096"/>
                  <a:pt x="132354" y="47625"/>
                  <a:pt x="142875" y="47625"/>
                </a:cubicBezTo>
                <a:close/>
                <a:moveTo>
                  <a:pt x="142875" y="57150"/>
                </a:moveTo>
                <a:cubicBezTo>
                  <a:pt x="158657" y="57150"/>
                  <a:pt x="171450" y="44357"/>
                  <a:pt x="171450" y="28575"/>
                </a:cubicBezTo>
                <a:cubicBezTo>
                  <a:pt x="171450" y="12793"/>
                  <a:pt x="158657" y="0"/>
                  <a:pt x="142875" y="0"/>
                </a:cubicBezTo>
                <a:cubicBezTo>
                  <a:pt x="127093" y="0"/>
                  <a:pt x="114300" y="12793"/>
                  <a:pt x="114300" y="28575"/>
                </a:cubicBezTo>
                <a:cubicBezTo>
                  <a:pt x="114300" y="44357"/>
                  <a:pt x="127093" y="57150"/>
                  <a:pt x="142875" y="57150"/>
                </a:cubicBezTo>
                <a:close/>
                <a:moveTo>
                  <a:pt x="9525" y="100441"/>
                </a:moveTo>
                <a:cubicBezTo>
                  <a:pt x="9525" y="92993"/>
                  <a:pt x="12078" y="88306"/>
                  <a:pt x="15392" y="85430"/>
                </a:cubicBezTo>
                <a:cubicBezTo>
                  <a:pt x="18831" y="82439"/>
                  <a:pt x="23584" y="80963"/>
                  <a:pt x="28575" y="80963"/>
                </a:cubicBezTo>
                <a:lnTo>
                  <a:pt x="57150" y="80963"/>
                </a:lnTo>
                <a:lnTo>
                  <a:pt x="57150" y="71438"/>
                </a:lnTo>
                <a:lnTo>
                  <a:pt x="28575" y="71438"/>
                </a:lnTo>
                <a:cubicBezTo>
                  <a:pt x="21841" y="71438"/>
                  <a:pt x="14688" y="73419"/>
                  <a:pt x="9144" y="78229"/>
                </a:cubicBezTo>
                <a:cubicBezTo>
                  <a:pt x="3496" y="83144"/>
                  <a:pt x="0" y="90583"/>
                  <a:pt x="0" y="100441"/>
                </a:cubicBezTo>
                <a:lnTo>
                  <a:pt x="0" y="114300"/>
                </a:lnTo>
                <a:lnTo>
                  <a:pt x="9525" y="114300"/>
                </a:lnTo>
                <a:lnTo>
                  <a:pt x="9525" y="123825"/>
                </a:lnTo>
                <a:lnTo>
                  <a:pt x="47625" y="123825"/>
                </a:lnTo>
                <a:lnTo>
                  <a:pt x="47625" y="114300"/>
                </a:lnTo>
                <a:lnTo>
                  <a:pt x="9525" y="114300"/>
                </a:lnTo>
                <a:lnTo>
                  <a:pt x="9525" y="100441"/>
                </a:lnTo>
                <a:close/>
                <a:moveTo>
                  <a:pt x="190500" y="114300"/>
                </a:moveTo>
                <a:lnTo>
                  <a:pt x="180975" y="114300"/>
                </a:lnTo>
                <a:lnTo>
                  <a:pt x="180975" y="100441"/>
                </a:lnTo>
                <a:cubicBezTo>
                  <a:pt x="180975" y="92993"/>
                  <a:pt x="178422" y="88306"/>
                  <a:pt x="175108" y="85430"/>
                </a:cubicBezTo>
                <a:cubicBezTo>
                  <a:pt x="171669" y="82439"/>
                  <a:pt x="166916" y="80963"/>
                  <a:pt x="161925" y="80963"/>
                </a:cubicBezTo>
                <a:lnTo>
                  <a:pt x="133350" y="80963"/>
                </a:lnTo>
                <a:lnTo>
                  <a:pt x="133350" y="71438"/>
                </a:lnTo>
                <a:lnTo>
                  <a:pt x="161925" y="71438"/>
                </a:lnTo>
                <a:cubicBezTo>
                  <a:pt x="168659" y="71438"/>
                  <a:pt x="175812" y="73419"/>
                  <a:pt x="181356" y="78229"/>
                </a:cubicBezTo>
                <a:cubicBezTo>
                  <a:pt x="187004" y="83144"/>
                  <a:pt x="190500" y="90583"/>
                  <a:pt x="190500" y="100441"/>
                </a:cubicBezTo>
                <a:lnTo>
                  <a:pt x="190500" y="114300"/>
                </a:lnTo>
                <a:close/>
                <a:moveTo>
                  <a:pt x="180975" y="114300"/>
                </a:moveTo>
                <a:lnTo>
                  <a:pt x="180975" y="123825"/>
                </a:lnTo>
                <a:lnTo>
                  <a:pt x="142875" y="123825"/>
                </a:lnTo>
                <a:lnTo>
                  <a:pt x="142875" y="114300"/>
                </a:lnTo>
                <a:lnTo>
                  <a:pt x="180975" y="114300"/>
                </a:lnTo>
                <a:close/>
                <a:moveTo>
                  <a:pt x="114300" y="76200"/>
                </a:moveTo>
                <a:cubicBezTo>
                  <a:pt x="114300" y="86721"/>
                  <a:pt x="105771" y="95250"/>
                  <a:pt x="95250" y="95250"/>
                </a:cubicBezTo>
                <a:cubicBezTo>
                  <a:pt x="84729" y="95250"/>
                  <a:pt x="76200" y="86721"/>
                  <a:pt x="76200" y="76200"/>
                </a:cubicBezTo>
                <a:cubicBezTo>
                  <a:pt x="76200" y="65679"/>
                  <a:pt x="84729" y="57150"/>
                  <a:pt x="95250" y="57150"/>
                </a:cubicBezTo>
                <a:cubicBezTo>
                  <a:pt x="105771" y="57150"/>
                  <a:pt x="114300" y="65679"/>
                  <a:pt x="114300" y="76200"/>
                </a:cubicBezTo>
                <a:close/>
                <a:moveTo>
                  <a:pt x="123825" y="76200"/>
                </a:moveTo>
                <a:cubicBezTo>
                  <a:pt x="123825" y="91982"/>
                  <a:pt x="111032" y="104775"/>
                  <a:pt x="95250" y="104775"/>
                </a:cubicBezTo>
                <a:cubicBezTo>
                  <a:pt x="79468" y="104775"/>
                  <a:pt x="66675" y="91982"/>
                  <a:pt x="66675" y="76200"/>
                </a:cubicBezTo>
                <a:cubicBezTo>
                  <a:pt x="66675" y="60418"/>
                  <a:pt x="79468" y="47625"/>
                  <a:pt x="95250" y="47625"/>
                </a:cubicBezTo>
                <a:cubicBezTo>
                  <a:pt x="111032" y="47625"/>
                  <a:pt x="123825" y="60418"/>
                  <a:pt x="123825" y="76200"/>
                </a:cubicBezTo>
                <a:close/>
                <a:moveTo>
                  <a:pt x="57150" y="171450"/>
                </a:moveTo>
                <a:lnTo>
                  <a:pt x="57150" y="161925"/>
                </a:lnTo>
                <a:lnTo>
                  <a:pt x="133350" y="161925"/>
                </a:lnTo>
                <a:lnTo>
                  <a:pt x="133350" y="171450"/>
                </a:lnTo>
                <a:lnTo>
                  <a:pt x="57150" y="171450"/>
                </a:lnTo>
                <a:close/>
                <a:moveTo>
                  <a:pt x="133350" y="161925"/>
                </a:moveTo>
                <a:lnTo>
                  <a:pt x="133350" y="148066"/>
                </a:lnTo>
                <a:cubicBezTo>
                  <a:pt x="133350" y="140618"/>
                  <a:pt x="130797" y="135931"/>
                  <a:pt x="127483" y="133055"/>
                </a:cubicBezTo>
                <a:cubicBezTo>
                  <a:pt x="124044" y="130064"/>
                  <a:pt x="119291" y="128588"/>
                  <a:pt x="114300" y="128588"/>
                </a:cubicBezTo>
                <a:lnTo>
                  <a:pt x="76200" y="128588"/>
                </a:lnTo>
                <a:cubicBezTo>
                  <a:pt x="71218" y="128588"/>
                  <a:pt x="66456" y="130064"/>
                  <a:pt x="63017" y="133055"/>
                </a:cubicBezTo>
                <a:cubicBezTo>
                  <a:pt x="59703" y="135931"/>
                  <a:pt x="57150" y="140618"/>
                  <a:pt x="57150" y="148066"/>
                </a:cubicBezTo>
                <a:lnTo>
                  <a:pt x="57150" y="161925"/>
                </a:lnTo>
                <a:lnTo>
                  <a:pt x="47625" y="161925"/>
                </a:lnTo>
                <a:lnTo>
                  <a:pt x="47625" y="148066"/>
                </a:lnTo>
                <a:cubicBezTo>
                  <a:pt x="47625" y="138208"/>
                  <a:pt x="51121" y="130769"/>
                  <a:pt x="56769" y="125854"/>
                </a:cubicBezTo>
                <a:cubicBezTo>
                  <a:pt x="62313" y="121044"/>
                  <a:pt x="69466" y="119063"/>
                  <a:pt x="76200" y="119063"/>
                </a:cubicBezTo>
                <a:lnTo>
                  <a:pt x="114300" y="119063"/>
                </a:lnTo>
                <a:cubicBezTo>
                  <a:pt x="121034" y="119063"/>
                  <a:pt x="128187" y="121044"/>
                  <a:pt x="133731" y="125854"/>
                </a:cubicBezTo>
                <a:cubicBezTo>
                  <a:pt x="139379" y="130769"/>
                  <a:pt x="142875" y="138208"/>
                  <a:pt x="142875" y="148066"/>
                </a:cubicBezTo>
                <a:lnTo>
                  <a:pt x="142875" y="161925"/>
                </a:lnTo>
                <a:lnTo>
                  <a:pt x="133350" y="161925"/>
                </a:lnTo>
                <a:close/>
              </a:path>
            </a:pathLst>
          </a:custGeom>
          <a:solidFill>
            <a:srgbClr val="08312A"/>
          </a:solidFill>
          <a:ln w="9525" cap="flat">
            <a:noFill/>
            <a:prstDash val="solid"/>
            <a:miter/>
          </a:ln>
        </p:spPr>
        <p:txBody>
          <a:bodyPr rtlCol="0" anchor="ctr"/>
          <a:lstStyle/>
          <a:p>
            <a:endParaRPr lang="en-US"/>
          </a:p>
        </p:txBody>
      </p:sp>
      <p:sp>
        <p:nvSpPr>
          <p:cNvPr id="61" name="Graphic 40">
            <a:extLst>
              <a:ext uri="{FF2B5EF4-FFF2-40B4-BE49-F238E27FC236}">
                <a16:creationId xmlns:a16="http://schemas.microsoft.com/office/drawing/2014/main" id="{42BC4AAC-69D3-85E7-6156-458D1E700138}"/>
              </a:ext>
            </a:extLst>
          </p:cNvPr>
          <p:cNvSpPr/>
          <p:nvPr userDrawn="1"/>
        </p:nvSpPr>
        <p:spPr>
          <a:xfrm>
            <a:off x="5049759" y="161925"/>
            <a:ext cx="171450" cy="152400"/>
          </a:xfrm>
          <a:custGeom>
            <a:avLst/>
            <a:gdLst>
              <a:gd name="connsiteX0" fmla="*/ 161887 w 171450"/>
              <a:gd name="connsiteY0" fmla="*/ 0 h 152400"/>
              <a:gd name="connsiteX1" fmla="*/ 85687 w 171450"/>
              <a:gd name="connsiteY1" fmla="*/ 0 h 152400"/>
              <a:gd name="connsiteX2" fmla="*/ 85687 w 171450"/>
              <a:gd name="connsiteY2" fmla="*/ 76200 h 152400"/>
              <a:gd name="connsiteX3" fmla="*/ 95212 w 171450"/>
              <a:gd name="connsiteY3" fmla="*/ 76200 h 152400"/>
              <a:gd name="connsiteX4" fmla="*/ 95212 w 171450"/>
              <a:gd name="connsiteY4" fmla="*/ 85725 h 152400"/>
              <a:gd name="connsiteX5" fmla="*/ 171412 w 171450"/>
              <a:gd name="connsiteY5" fmla="*/ 85725 h 152400"/>
              <a:gd name="connsiteX6" fmla="*/ 171412 w 171450"/>
              <a:gd name="connsiteY6" fmla="*/ 9525 h 152400"/>
              <a:gd name="connsiteX7" fmla="*/ 161887 w 171450"/>
              <a:gd name="connsiteY7" fmla="*/ 9525 h 152400"/>
              <a:gd name="connsiteX8" fmla="*/ 161887 w 171450"/>
              <a:gd name="connsiteY8" fmla="*/ 0 h 152400"/>
              <a:gd name="connsiteX9" fmla="*/ 161887 w 171450"/>
              <a:gd name="connsiteY9" fmla="*/ 9525 h 152400"/>
              <a:gd name="connsiteX10" fmla="*/ 161887 w 171450"/>
              <a:gd name="connsiteY10" fmla="*/ 76200 h 152400"/>
              <a:gd name="connsiteX11" fmla="*/ 95212 w 171450"/>
              <a:gd name="connsiteY11" fmla="*/ 76200 h 152400"/>
              <a:gd name="connsiteX12" fmla="*/ 95212 w 171450"/>
              <a:gd name="connsiteY12" fmla="*/ 9525 h 152400"/>
              <a:gd name="connsiteX13" fmla="*/ 161887 w 171450"/>
              <a:gd name="connsiteY13" fmla="*/ 9525 h 152400"/>
              <a:gd name="connsiteX14" fmla="*/ 66675 w 171450"/>
              <a:gd name="connsiteY14" fmla="*/ 28575 h 152400"/>
              <a:gd name="connsiteX15" fmla="*/ 44482 w 171450"/>
              <a:gd name="connsiteY15" fmla="*/ 9296 h 152400"/>
              <a:gd name="connsiteX16" fmla="*/ 38233 w 171450"/>
              <a:gd name="connsiteY16" fmla="*/ 16488 h 152400"/>
              <a:gd name="connsiteX17" fmla="*/ 63122 w 171450"/>
              <a:gd name="connsiteY17" fmla="*/ 38110 h 152400"/>
              <a:gd name="connsiteX18" fmla="*/ 0 w 171450"/>
              <a:gd name="connsiteY18" fmla="*/ 38100 h 152400"/>
              <a:gd name="connsiteX19" fmla="*/ 0 w 171450"/>
              <a:gd name="connsiteY19" fmla="*/ 47625 h 152400"/>
              <a:gd name="connsiteX20" fmla="*/ 63113 w 171450"/>
              <a:gd name="connsiteY20" fmla="*/ 47625 h 152400"/>
              <a:gd name="connsiteX21" fmla="*/ 38233 w 171450"/>
              <a:gd name="connsiteY21" fmla="*/ 69228 h 152400"/>
              <a:gd name="connsiteX22" fmla="*/ 44482 w 171450"/>
              <a:gd name="connsiteY22" fmla="*/ 76419 h 152400"/>
              <a:gd name="connsiteX23" fmla="*/ 66675 w 171450"/>
              <a:gd name="connsiteY23" fmla="*/ 57150 h 152400"/>
              <a:gd name="connsiteX24" fmla="*/ 66675 w 171450"/>
              <a:gd name="connsiteY24" fmla="*/ 28575 h 152400"/>
              <a:gd name="connsiteX25" fmla="*/ 9525 w 171450"/>
              <a:gd name="connsiteY25" fmla="*/ 114300 h 152400"/>
              <a:gd name="connsiteX26" fmla="*/ 152400 w 171450"/>
              <a:gd name="connsiteY26" fmla="*/ 114300 h 152400"/>
              <a:gd name="connsiteX27" fmla="*/ 161925 w 171450"/>
              <a:gd name="connsiteY27" fmla="*/ 123825 h 152400"/>
              <a:gd name="connsiteX28" fmla="*/ 161925 w 171450"/>
              <a:gd name="connsiteY28" fmla="*/ 133350 h 152400"/>
              <a:gd name="connsiteX29" fmla="*/ 152400 w 171450"/>
              <a:gd name="connsiteY29" fmla="*/ 142875 h 152400"/>
              <a:gd name="connsiteX30" fmla="*/ 0 w 171450"/>
              <a:gd name="connsiteY30" fmla="*/ 142875 h 152400"/>
              <a:gd name="connsiteX31" fmla="*/ 0 w 171450"/>
              <a:gd name="connsiteY31" fmla="*/ 152400 h 152400"/>
              <a:gd name="connsiteX32" fmla="*/ 152400 w 171450"/>
              <a:gd name="connsiteY32" fmla="*/ 152400 h 152400"/>
              <a:gd name="connsiteX33" fmla="*/ 171450 w 171450"/>
              <a:gd name="connsiteY33" fmla="*/ 133350 h 152400"/>
              <a:gd name="connsiteX34" fmla="*/ 171450 w 171450"/>
              <a:gd name="connsiteY34" fmla="*/ 123825 h 152400"/>
              <a:gd name="connsiteX35" fmla="*/ 152400 w 171450"/>
              <a:gd name="connsiteY35" fmla="*/ 104775 h 152400"/>
              <a:gd name="connsiteX36" fmla="*/ 0 w 171450"/>
              <a:gd name="connsiteY36" fmla="*/ 104775 h 152400"/>
              <a:gd name="connsiteX37" fmla="*/ 0 w 171450"/>
              <a:gd name="connsiteY37" fmla="*/ 114300 h 152400"/>
              <a:gd name="connsiteX38" fmla="*/ 9525 w 171450"/>
              <a:gd name="connsiteY38" fmla="*/ 1143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1450" h="152400">
                <a:moveTo>
                  <a:pt x="161887" y="0"/>
                </a:moveTo>
                <a:lnTo>
                  <a:pt x="85687" y="0"/>
                </a:lnTo>
                <a:lnTo>
                  <a:pt x="85687" y="76200"/>
                </a:lnTo>
                <a:lnTo>
                  <a:pt x="95212" y="76200"/>
                </a:lnTo>
                <a:lnTo>
                  <a:pt x="95212" y="85725"/>
                </a:lnTo>
                <a:lnTo>
                  <a:pt x="171412" y="85725"/>
                </a:lnTo>
                <a:lnTo>
                  <a:pt x="171412" y="9525"/>
                </a:lnTo>
                <a:lnTo>
                  <a:pt x="161887" y="9525"/>
                </a:lnTo>
                <a:lnTo>
                  <a:pt x="161887" y="0"/>
                </a:lnTo>
                <a:close/>
                <a:moveTo>
                  <a:pt x="161887" y="9525"/>
                </a:moveTo>
                <a:lnTo>
                  <a:pt x="161887" y="76200"/>
                </a:lnTo>
                <a:lnTo>
                  <a:pt x="95212" y="76200"/>
                </a:lnTo>
                <a:lnTo>
                  <a:pt x="95212" y="9525"/>
                </a:lnTo>
                <a:lnTo>
                  <a:pt x="161887" y="9525"/>
                </a:lnTo>
                <a:close/>
                <a:moveTo>
                  <a:pt x="66675" y="28575"/>
                </a:moveTo>
                <a:lnTo>
                  <a:pt x="44482" y="9296"/>
                </a:lnTo>
                <a:lnTo>
                  <a:pt x="38233" y="16488"/>
                </a:lnTo>
                <a:lnTo>
                  <a:pt x="63122" y="38110"/>
                </a:lnTo>
                <a:lnTo>
                  <a:pt x="0" y="38100"/>
                </a:lnTo>
                <a:lnTo>
                  <a:pt x="0" y="47625"/>
                </a:lnTo>
                <a:lnTo>
                  <a:pt x="63113" y="47625"/>
                </a:lnTo>
                <a:lnTo>
                  <a:pt x="38233" y="69228"/>
                </a:lnTo>
                <a:lnTo>
                  <a:pt x="44482" y="76419"/>
                </a:lnTo>
                <a:lnTo>
                  <a:pt x="66675" y="57150"/>
                </a:lnTo>
                <a:lnTo>
                  <a:pt x="66675" y="28575"/>
                </a:lnTo>
                <a:close/>
                <a:moveTo>
                  <a:pt x="9525" y="114300"/>
                </a:moveTo>
                <a:lnTo>
                  <a:pt x="152400" y="114300"/>
                </a:lnTo>
                <a:cubicBezTo>
                  <a:pt x="157661" y="114300"/>
                  <a:pt x="161925" y="118564"/>
                  <a:pt x="161925" y="123825"/>
                </a:cubicBezTo>
                <a:lnTo>
                  <a:pt x="161925" y="133350"/>
                </a:lnTo>
                <a:cubicBezTo>
                  <a:pt x="161925" y="138611"/>
                  <a:pt x="157661" y="142875"/>
                  <a:pt x="152400" y="142875"/>
                </a:cubicBezTo>
                <a:lnTo>
                  <a:pt x="0" y="142875"/>
                </a:lnTo>
                <a:lnTo>
                  <a:pt x="0" y="152400"/>
                </a:lnTo>
                <a:lnTo>
                  <a:pt x="152400" y="152400"/>
                </a:lnTo>
                <a:cubicBezTo>
                  <a:pt x="162921" y="152400"/>
                  <a:pt x="171450" y="143871"/>
                  <a:pt x="171450" y="133350"/>
                </a:cubicBezTo>
                <a:lnTo>
                  <a:pt x="171450" y="123825"/>
                </a:lnTo>
                <a:cubicBezTo>
                  <a:pt x="171450" y="113304"/>
                  <a:pt x="162921" y="104775"/>
                  <a:pt x="152400" y="104775"/>
                </a:cubicBezTo>
                <a:lnTo>
                  <a:pt x="0" y="104775"/>
                </a:lnTo>
                <a:lnTo>
                  <a:pt x="0" y="114300"/>
                </a:lnTo>
                <a:lnTo>
                  <a:pt x="9525" y="114300"/>
                </a:lnTo>
                <a:close/>
              </a:path>
            </a:pathLst>
          </a:custGeom>
          <a:solidFill>
            <a:srgbClr val="08312A"/>
          </a:solidFill>
          <a:ln w="9525" cap="flat">
            <a:noFill/>
            <a:prstDash val="solid"/>
            <a:miter/>
          </a:ln>
        </p:spPr>
        <p:txBody>
          <a:bodyPr rtlCol="0" anchor="ctr"/>
          <a:lstStyle/>
          <a:p>
            <a:endParaRPr lang="en-US"/>
          </a:p>
        </p:txBody>
      </p:sp>
      <p:sp>
        <p:nvSpPr>
          <p:cNvPr id="62" name="Graphic 44">
            <a:extLst>
              <a:ext uri="{FF2B5EF4-FFF2-40B4-BE49-F238E27FC236}">
                <a16:creationId xmlns:a16="http://schemas.microsoft.com/office/drawing/2014/main" id="{82C15C46-3DA4-8042-AE0B-4F05319C0B84}"/>
              </a:ext>
            </a:extLst>
          </p:cNvPr>
          <p:cNvSpPr/>
          <p:nvPr userDrawn="1"/>
        </p:nvSpPr>
        <p:spPr>
          <a:xfrm>
            <a:off x="6171094" y="166429"/>
            <a:ext cx="143391" cy="143391"/>
          </a:xfrm>
          <a:custGeom>
            <a:avLst/>
            <a:gdLst>
              <a:gd name="connsiteX0" fmla="*/ 57150 w 171450"/>
              <a:gd name="connsiteY0" fmla="*/ 0 h 171450"/>
              <a:gd name="connsiteX1" fmla="*/ 57150 w 171450"/>
              <a:gd name="connsiteY1" fmla="*/ 9525 h 171450"/>
              <a:gd name="connsiteX2" fmla="*/ 114300 w 171450"/>
              <a:gd name="connsiteY2" fmla="*/ 9525 h 171450"/>
              <a:gd name="connsiteX3" fmla="*/ 114300 w 171450"/>
              <a:gd name="connsiteY3" fmla="*/ 0 h 171450"/>
              <a:gd name="connsiteX4" fmla="*/ 123825 w 171450"/>
              <a:gd name="connsiteY4" fmla="*/ 0 h 171450"/>
              <a:gd name="connsiteX5" fmla="*/ 123825 w 171450"/>
              <a:gd name="connsiteY5" fmla="*/ 9525 h 171450"/>
              <a:gd name="connsiteX6" fmla="*/ 171450 w 171450"/>
              <a:gd name="connsiteY6" fmla="*/ 9525 h 171450"/>
              <a:gd name="connsiteX7" fmla="*/ 171450 w 171450"/>
              <a:gd name="connsiteY7" fmla="*/ 150019 h 171450"/>
              <a:gd name="connsiteX8" fmla="*/ 150019 w 171450"/>
              <a:gd name="connsiteY8" fmla="*/ 171450 h 171450"/>
              <a:gd name="connsiteX9" fmla="*/ 21431 w 171450"/>
              <a:gd name="connsiteY9" fmla="*/ 171450 h 171450"/>
              <a:gd name="connsiteX10" fmla="*/ 0 w 171450"/>
              <a:gd name="connsiteY10" fmla="*/ 150019 h 171450"/>
              <a:gd name="connsiteX11" fmla="*/ 0 w 171450"/>
              <a:gd name="connsiteY11" fmla="*/ 9525 h 171450"/>
              <a:gd name="connsiteX12" fmla="*/ 47625 w 171450"/>
              <a:gd name="connsiteY12" fmla="*/ 9525 h 171450"/>
              <a:gd name="connsiteX13" fmla="*/ 47625 w 171450"/>
              <a:gd name="connsiteY13" fmla="*/ 0 h 171450"/>
              <a:gd name="connsiteX14" fmla="*/ 57150 w 171450"/>
              <a:gd name="connsiteY14" fmla="*/ 0 h 171450"/>
              <a:gd name="connsiteX15" fmla="*/ 114300 w 171450"/>
              <a:gd name="connsiteY15" fmla="*/ 19050 h 171450"/>
              <a:gd name="connsiteX16" fmla="*/ 114300 w 171450"/>
              <a:gd name="connsiteY16" fmla="*/ 28575 h 171450"/>
              <a:gd name="connsiteX17" fmla="*/ 123825 w 171450"/>
              <a:gd name="connsiteY17" fmla="*/ 28575 h 171450"/>
              <a:gd name="connsiteX18" fmla="*/ 123825 w 171450"/>
              <a:gd name="connsiteY18" fmla="*/ 19050 h 171450"/>
              <a:gd name="connsiteX19" fmla="*/ 161925 w 171450"/>
              <a:gd name="connsiteY19" fmla="*/ 19050 h 171450"/>
              <a:gd name="connsiteX20" fmla="*/ 161925 w 171450"/>
              <a:gd name="connsiteY20" fmla="*/ 47625 h 171450"/>
              <a:gd name="connsiteX21" fmla="*/ 9525 w 171450"/>
              <a:gd name="connsiteY21" fmla="*/ 47625 h 171450"/>
              <a:gd name="connsiteX22" fmla="*/ 9525 w 171450"/>
              <a:gd name="connsiteY22" fmla="*/ 19050 h 171450"/>
              <a:gd name="connsiteX23" fmla="*/ 47625 w 171450"/>
              <a:gd name="connsiteY23" fmla="*/ 19050 h 171450"/>
              <a:gd name="connsiteX24" fmla="*/ 47625 w 171450"/>
              <a:gd name="connsiteY24" fmla="*/ 28575 h 171450"/>
              <a:gd name="connsiteX25" fmla="*/ 57150 w 171450"/>
              <a:gd name="connsiteY25" fmla="*/ 28575 h 171450"/>
              <a:gd name="connsiteX26" fmla="*/ 57150 w 171450"/>
              <a:gd name="connsiteY26" fmla="*/ 19050 h 171450"/>
              <a:gd name="connsiteX27" fmla="*/ 114300 w 171450"/>
              <a:gd name="connsiteY27" fmla="*/ 19050 h 171450"/>
              <a:gd name="connsiteX28" fmla="*/ 161925 w 171450"/>
              <a:gd name="connsiteY28" fmla="*/ 57150 h 171450"/>
              <a:gd name="connsiteX29" fmla="*/ 161925 w 171450"/>
              <a:gd name="connsiteY29" fmla="*/ 150019 h 171450"/>
              <a:gd name="connsiteX30" fmla="*/ 150019 w 171450"/>
              <a:gd name="connsiteY30" fmla="*/ 161925 h 171450"/>
              <a:gd name="connsiteX31" fmla="*/ 21431 w 171450"/>
              <a:gd name="connsiteY31" fmla="*/ 161925 h 171450"/>
              <a:gd name="connsiteX32" fmla="*/ 9525 w 171450"/>
              <a:gd name="connsiteY32" fmla="*/ 150019 h 171450"/>
              <a:gd name="connsiteX33" fmla="*/ 9525 w 171450"/>
              <a:gd name="connsiteY33" fmla="*/ 57150 h 171450"/>
              <a:gd name="connsiteX34" fmla="*/ 161925 w 171450"/>
              <a:gd name="connsiteY34" fmla="*/ 57150 h 171450"/>
              <a:gd name="connsiteX35" fmla="*/ 76200 w 171450"/>
              <a:gd name="connsiteY35" fmla="*/ 95250 h 171450"/>
              <a:gd name="connsiteX36" fmla="*/ 28575 w 171450"/>
              <a:gd name="connsiteY36" fmla="*/ 95250 h 171450"/>
              <a:gd name="connsiteX37" fmla="*/ 28575 w 171450"/>
              <a:gd name="connsiteY37" fmla="*/ 85725 h 171450"/>
              <a:gd name="connsiteX38" fmla="*/ 76200 w 171450"/>
              <a:gd name="connsiteY38" fmla="*/ 85725 h 171450"/>
              <a:gd name="connsiteX39" fmla="*/ 76200 w 171450"/>
              <a:gd name="connsiteY39" fmla="*/ 95250 h 171450"/>
              <a:gd name="connsiteX40" fmla="*/ 28575 w 171450"/>
              <a:gd name="connsiteY40" fmla="*/ 133350 h 171450"/>
              <a:gd name="connsiteX41" fmla="*/ 76200 w 171450"/>
              <a:gd name="connsiteY41" fmla="*/ 133350 h 171450"/>
              <a:gd name="connsiteX42" fmla="*/ 76200 w 171450"/>
              <a:gd name="connsiteY42" fmla="*/ 123825 h 171450"/>
              <a:gd name="connsiteX43" fmla="*/ 28575 w 171450"/>
              <a:gd name="connsiteY43" fmla="*/ 123825 h 171450"/>
              <a:gd name="connsiteX44" fmla="*/ 28575 w 171450"/>
              <a:gd name="connsiteY44" fmla="*/ 133350 h 171450"/>
              <a:gd name="connsiteX45" fmla="*/ 142875 w 171450"/>
              <a:gd name="connsiteY45" fmla="*/ 95250 h 171450"/>
              <a:gd name="connsiteX46" fmla="*/ 95250 w 171450"/>
              <a:gd name="connsiteY46" fmla="*/ 95250 h 171450"/>
              <a:gd name="connsiteX47" fmla="*/ 95250 w 171450"/>
              <a:gd name="connsiteY47" fmla="*/ 85725 h 171450"/>
              <a:gd name="connsiteX48" fmla="*/ 142875 w 171450"/>
              <a:gd name="connsiteY48" fmla="*/ 85725 h 171450"/>
              <a:gd name="connsiteX49" fmla="*/ 142875 w 171450"/>
              <a:gd name="connsiteY49" fmla="*/ 95250 h 171450"/>
              <a:gd name="connsiteX50" fmla="*/ 95250 w 171450"/>
              <a:gd name="connsiteY50" fmla="*/ 133350 h 171450"/>
              <a:gd name="connsiteX51" fmla="*/ 142875 w 171450"/>
              <a:gd name="connsiteY51" fmla="*/ 133350 h 171450"/>
              <a:gd name="connsiteX52" fmla="*/ 142875 w 171450"/>
              <a:gd name="connsiteY52" fmla="*/ 123825 h 171450"/>
              <a:gd name="connsiteX53" fmla="*/ 95250 w 171450"/>
              <a:gd name="connsiteY53" fmla="*/ 123825 h 171450"/>
              <a:gd name="connsiteX54" fmla="*/ 95250 w 171450"/>
              <a:gd name="connsiteY54"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71450" h="171450">
                <a:moveTo>
                  <a:pt x="57150" y="0"/>
                </a:moveTo>
                <a:lnTo>
                  <a:pt x="57150" y="9525"/>
                </a:lnTo>
                <a:lnTo>
                  <a:pt x="114300" y="9525"/>
                </a:lnTo>
                <a:lnTo>
                  <a:pt x="114300" y="0"/>
                </a:lnTo>
                <a:lnTo>
                  <a:pt x="123825" y="0"/>
                </a:lnTo>
                <a:lnTo>
                  <a:pt x="123825" y="9525"/>
                </a:lnTo>
                <a:lnTo>
                  <a:pt x="171450" y="9525"/>
                </a:lnTo>
                <a:lnTo>
                  <a:pt x="171450" y="150019"/>
                </a:lnTo>
                <a:cubicBezTo>
                  <a:pt x="171450" y="161855"/>
                  <a:pt x="161855" y="171450"/>
                  <a:pt x="150019" y="171450"/>
                </a:cubicBezTo>
                <a:lnTo>
                  <a:pt x="21431" y="171450"/>
                </a:lnTo>
                <a:cubicBezTo>
                  <a:pt x="9595" y="171450"/>
                  <a:pt x="0" y="161855"/>
                  <a:pt x="0" y="150019"/>
                </a:cubicBezTo>
                <a:lnTo>
                  <a:pt x="0" y="9525"/>
                </a:lnTo>
                <a:lnTo>
                  <a:pt x="47625" y="9525"/>
                </a:lnTo>
                <a:lnTo>
                  <a:pt x="47625" y="0"/>
                </a:lnTo>
                <a:lnTo>
                  <a:pt x="57150" y="0"/>
                </a:lnTo>
                <a:close/>
                <a:moveTo>
                  <a:pt x="114300" y="19050"/>
                </a:moveTo>
                <a:lnTo>
                  <a:pt x="114300" y="28575"/>
                </a:lnTo>
                <a:lnTo>
                  <a:pt x="123825" y="28575"/>
                </a:lnTo>
                <a:lnTo>
                  <a:pt x="123825" y="19050"/>
                </a:lnTo>
                <a:lnTo>
                  <a:pt x="161925" y="19050"/>
                </a:lnTo>
                <a:lnTo>
                  <a:pt x="161925" y="47625"/>
                </a:lnTo>
                <a:lnTo>
                  <a:pt x="9525" y="47625"/>
                </a:lnTo>
                <a:lnTo>
                  <a:pt x="9525" y="19050"/>
                </a:lnTo>
                <a:lnTo>
                  <a:pt x="47625" y="19050"/>
                </a:lnTo>
                <a:lnTo>
                  <a:pt x="47625" y="28575"/>
                </a:lnTo>
                <a:lnTo>
                  <a:pt x="57150" y="28575"/>
                </a:lnTo>
                <a:lnTo>
                  <a:pt x="57150" y="19050"/>
                </a:lnTo>
                <a:lnTo>
                  <a:pt x="114300" y="19050"/>
                </a:lnTo>
                <a:close/>
                <a:moveTo>
                  <a:pt x="161925" y="57150"/>
                </a:moveTo>
                <a:lnTo>
                  <a:pt x="161925" y="150019"/>
                </a:lnTo>
                <a:cubicBezTo>
                  <a:pt x="161925" y="156591"/>
                  <a:pt x="156591" y="161925"/>
                  <a:pt x="150019" y="161925"/>
                </a:cubicBezTo>
                <a:lnTo>
                  <a:pt x="21431" y="161925"/>
                </a:lnTo>
                <a:cubicBezTo>
                  <a:pt x="14859" y="161925"/>
                  <a:pt x="9525" y="156591"/>
                  <a:pt x="9525" y="150019"/>
                </a:cubicBezTo>
                <a:lnTo>
                  <a:pt x="9525" y="57150"/>
                </a:lnTo>
                <a:lnTo>
                  <a:pt x="161925" y="57150"/>
                </a:lnTo>
                <a:close/>
                <a:moveTo>
                  <a:pt x="76200" y="95250"/>
                </a:moveTo>
                <a:lnTo>
                  <a:pt x="28575" y="95250"/>
                </a:lnTo>
                <a:lnTo>
                  <a:pt x="28575" y="85725"/>
                </a:lnTo>
                <a:lnTo>
                  <a:pt x="76200" y="85725"/>
                </a:lnTo>
                <a:lnTo>
                  <a:pt x="76200" y="95250"/>
                </a:lnTo>
                <a:close/>
                <a:moveTo>
                  <a:pt x="28575" y="133350"/>
                </a:moveTo>
                <a:lnTo>
                  <a:pt x="76200" y="133350"/>
                </a:lnTo>
                <a:lnTo>
                  <a:pt x="76200" y="123825"/>
                </a:lnTo>
                <a:lnTo>
                  <a:pt x="28575" y="123825"/>
                </a:lnTo>
                <a:lnTo>
                  <a:pt x="28575" y="133350"/>
                </a:lnTo>
                <a:close/>
                <a:moveTo>
                  <a:pt x="142875" y="95250"/>
                </a:moveTo>
                <a:lnTo>
                  <a:pt x="95250" y="95250"/>
                </a:lnTo>
                <a:lnTo>
                  <a:pt x="95250" y="85725"/>
                </a:lnTo>
                <a:lnTo>
                  <a:pt x="142875" y="85725"/>
                </a:lnTo>
                <a:lnTo>
                  <a:pt x="142875" y="95250"/>
                </a:lnTo>
                <a:close/>
                <a:moveTo>
                  <a:pt x="95250" y="133350"/>
                </a:moveTo>
                <a:lnTo>
                  <a:pt x="142875" y="133350"/>
                </a:lnTo>
                <a:lnTo>
                  <a:pt x="142875" y="123825"/>
                </a:lnTo>
                <a:lnTo>
                  <a:pt x="95250" y="123825"/>
                </a:lnTo>
                <a:lnTo>
                  <a:pt x="95250" y="133350"/>
                </a:lnTo>
                <a:close/>
              </a:path>
            </a:pathLst>
          </a:custGeom>
          <a:solidFill>
            <a:srgbClr val="08312A"/>
          </a:solidFill>
          <a:ln w="9525" cap="flat">
            <a:noFill/>
            <a:prstDash val="solid"/>
            <a:miter/>
          </a:ln>
        </p:spPr>
        <p:txBody>
          <a:bodyPr rtlCol="0" anchor="ctr"/>
          <a:lstStyle/>
          <a:p>
            <a:endParaRPr lang="en-US"/>
          </a:p>
        </p:txBody>
      </p:sp>
      <p:sp>
        <p:nvSpPr>
          <p:cNvPr id="63" name="Graphic 55">
            <a:extLst>
              <a:ext uri="{FF2B5EF4-FFF2-40B4-BE49-F238E27FC236}">
                <a16:creationId xmlns:a16="http://schemas.microsoft.com/office/drawing/2014/main" id="{73CBB9BC-9EB4-FB45-78DD-0FCEC92192D8}"/>
              </a:ext>
            </a:extLst>
          </p:cNvPr>
          <p:cNvSpPr/>
          <p:nvPr userDrawn="1"/>
        </p:nvSpPr>
        <p:spPr>
          <a:xfrm>
            <a:off x="9556025" y="169096"/>
            <a:ext cx="138058" cy="138058"/>
          </a:xfrm>
          <a:custGeom>
            <a:avLst/>
            <a:gdLst>
              <a:gd name="connsiteX0" fmla="*/ 0 w 171450"/>
              <a:gd name="connsiteY0" fmla="*/ 171450 h 171450"/>
              <a:gd name="connsiteX1" fmla="*/ 47625 w 171450"/>
              <a:gd name="connsiteY1" fmla="*/ 171450 h 171450"/>
              <a:gd name="connsiteX2" fmla="*/ 47625 w 171450"/>
              <a:gd name="connsiteY2" fmla="*/ 104775 h 171450"/>
              <a:gd name="connsiteX3" fmla="*/ 0 w 171450"/>
              <a:gd name="connsiteY3" fmla="*/ 104775 h 171450"/>
              <a:gd name="connsiteX4" fmla="*/ 0 w 171450"/>
              <a:gd name="connsiteY4" fmla="*/ 171450 h 171450"/>
              <a:gd name="connsiteX5" fmla="*/ 9525 w 171450"/>
              <a:gd name="connsiteY5" fmla="*/ 114300 h 171450"/>
              <a:gd name="connsiteX6" fmla="*/ 38100 w 171450"/>
              <a:gd name="connsiteY6" fmla="*/ 114300 h 171450"/>
              <a:gd name="connsiteX7" fmla="*/ 38100 w 171450"/>
              <a:gd name="connsiteY7" fmla="*/ 161925 h 171450"/>
              <a:gd name="connsiteX8" fmla="*/ 9525 w 171450"/>
              <a:gd name="connsiteY8" fmla="*/ 161925 h 171450"/>
              <a:gd name="connsiteX9" fmla="*/ 9525 w 171450"/>
              <a:gd name="connsiteY9" fmla="*/ 114300 h 171450"/>
              <a:gd name="connsiteX10" fmla="*/ 61913 w 171450"/>
              <a:gd name="connsiteY10" fmla="*/ 171450 h 171450"/>
              <a:gd name="connsiteX11" fmla="*/ 109538 w 171450"/>
              <a:gd name="connsiteY11" fmla="*/ 171450 h 171450"/>
              <a:gd name="connsiteX12" fmla="*/ 109538 w 171450"/>
              <a:gd name="connsiteY12" fmla="*/ 123825 h 171450"/>
              <a:gd name="connsiteX13" fmla="*/ 61913 w 171450"/>
              <a:gd name="connsiteY13" fmla="*/ 123825 h 171450"/>
              <a:gd name="connsiteX14" fmla="*/ 61913 w 171450"/>
              <a:gd name="connsiteY14" fmla="*/ 171450 h 171450"/>
              <a:gd name="connsiteX15" fmla="*/ 71438 w 171450"/>
              <a:gd name="connsiteY15" fmla="*/ 133350 h 171450"/>
              <a:gd name="connsiteX16" fmla="*/ 100013 w 171450"/>
              <a:gd name="connsiteY16" fmla="*/ 133350 h 171450"/>
              <a:gd name="connsiteX17" fmla="*/ 100013 w 171450"/>
              <a:gd name="connsiteY17" fmla="*/ 161925 h 171450"/>
              <a:gd name="connsiteX18" fmla="*/ 71438 w 171450"/>
              <a:gd name="connsiteY18" fmla="*/ 161925 h 171450"/>
              <a:gd name="connsiteX19" fmla="*/ 71438 w 171450"/>
              <a:gd name="connsiteY19" fmla="*/ 133350 h 171450"/>
              <a:gd name="connsiteX20" fmla="*/ 123825 w 171450"/>
              <a:gd name="connsiteY20" fmla="*/ 85725 h 171450"/>
              <a:gd name="connsiteX21" fmla="*/ 123825 w 171450"/>
              <a:gd name="connsiteY21" fmla="*/ 171450 h 171450"/>
              <a:gd name="connsiteX22" fmla="*/ 171450 w 171450"/>
              <a:gd name="connsiteY22" fmla="*/ 171450 h 171450"/>
              <a:gd name="connsiteX23" fmla="*/ 171450 w 171450"/>
              <a:gd name="connsiteY23" fmla="*/ 85725 h 171450"/>
              <a:gd name="connsiteX24" fmla="*/ 123825 w 171450"/>
              <a:gd name="connsiteY24" fmla="*/ 85725 h 171450"/>
              <a:gd name="connsiteX25" fmla="*/ 161925 w 171450"/>
              <a:gd name="connsiteY25" fmla="*/ 161925 h 171450"/>
              <a:gd name="connsiteX26" fmla="*/ 133350 w 171450"/>
              <a:gd name="connsiteY26" fmla="*/ 161925 h 171450"/>
              <a:gd name="connsiteX27" fmla="*/ 133350 w 171450"/>
              <a:gd name="connsiteY27" fmla="*/ 95250 h 171450"/>
              <a:gd name="connsiteX28" fmla="*/ 161925 w 171450"/>
              <a:gd name="connsiteY28" fmla="*/ 95250 h 171450"/>
              <a:gd name="connsiteX29" fmla="*/ 161925 w 171450"/>
              <a:gd name="connsiteY29" fmla="*/ 161925 h 171450"/>
              <a:gd name="connsiteX30" fmla="*/ 85725 w 171450"/>
              <a:gd name="connsiteY30" fmla="*/ 92393 h 171450"/>
              <a:gd name="connsiteX31" fmla="*/ 161925 w 171450"/>
              <a:gd name="connsiteY31" fmla="*/ 16192 h 171450"/>
              <a:gd name="connsiteX32" fmla="*/ 161925 w 171450"/>
              <a:gd name="connsiteY32" fmla="*/ 66675 h 171450"/>
              <a:gd name="connsiteX33" fmla="*/ 171450 w 171450"/>
              <a:gd name="connsiteY33" fmla="*/ 66675 h 171450"/>
              <a:gd name="connsiteX34" fmla="*/ 171450 w 171450"/>
              <a:gd name="connsiteY34" fmla="*/ 19050 h 171450"/>
              <a:gd name="connsiteX35" fmla="*/ 152400 w 171450"/>
              <a:gd name="connsiteY35" fmla="*/ 0 h 171450"/>
              <a:gd name="connsiteX36" fmla="*/ 104775 w 171450"/>
              <a:gd name="connsiteY36" fmla="*/ 0 h 171450"/>
              <a:gd name="connsiteX37" fmla="*/ 104775 w 171450"/>
              <a:gd name="connsiteY37" fmla="*/ 9525 h 171450"/>
              <a:gd name="connsiteX38" fmla="*/ 155258 w 171450"/>
              <a:gd name="connsiteY38" fmla="*/ 9525 h 171450"/>
              <a:gd name="connsiteX39" fmla="*/ 85725 w 171450"/>
              <a:gd name="connsiteY39" fmla="*/ 79058 h 171450"/>
              <a:gd name="connsiteX40" fmla="*/ 38100 w 171450"/>
              <a:gd name="connsiteY40" fmla="*/ 36195 h 171450"/>
              <a:gd name="connsiteX41" fmla="*/ 0 w 171450"/>
              <a:gd name="connsiteY41" fmla="*/ 74295 h 171450"/>
              <a:gd name="connsiteX42" fmla="*/ 0 w 171450"/>
              <a:gd name="connsiteY42" fmla="*/ 87630 h 171450"/>
              <a:gd name="connsiteX43" fmla="*/ 38100 w 171450"/>
              <a:gd name="connsiteY43" fmla="*/ 49530 h 171450"/>
              <a:gd name="connsiteX44" fmla="*/ 85725 w 171450"/>
              <a:gd name="connsiteY44" fmla="*/ 9239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71450">
                <a:moveTo>
                  <a:pt x="0" y="171450"/>
                </a:moveTo>
                <a:lnTo>
                  <a:pt x="47625" y="171450"/>
                </a:lnTo>
                <a:lnTo>
                  <a:pt x="47625" y="104775"/>
                </a:lnTo>
                <a:lnTo>
                  <a:pt x="0" y="104775"/>
                </a:lnTo>
                <a:lnTo>
                  <a:pt x="0" y="171450"/>
                </a:lnTo>
                <a:close/>
                <a:moveTo>
                  <a:pt x="9525" y="114300"/>
                </a:moveTo>
                <a:lnTo>
                  <a:pt x="38100" y="114300"/>
                </a:lnTo>
                <a:lnTo>
                  <a:pt x="38100" y="161925"/>
                </a:lnTo>
                <a:lnTo>
                  <a:pt x="9525" y="161925"/>
                </a:lnTo>
                <a:lnTo>
                  <a:pt x="9525" y="114300"/>
                </a:lnTo>
                <a:close/>
                <a:moveTo>
                  <a:pt x="61913" y="171450"/>
                </a:moveTo>
                <a:lnTo>
                  <a:pt x="109538" y="171450"/>
                </a:lnTo>
                <a:lnTo>
                  <a:pt x="109538" y="123825"/>
                </a:lnTo>
                <a:lnTo>
                  <a:pt x="61913" y="123825"/>
                </a:lnTo>
                <a:lnTo>
                  <a:pt x="61913" y="171450"/>
                </a:lnTo>
                <a:close/>
                <a:moveTo>
                  <a:pt x="71438" y="133350"/>
                </a:moveTo>
                <a:lnTo>
                  <a:pt x="100013" y="133350"/>
                </a:lnTo>
                <a:lnTo>
                  <a:pt x="100013" y="161925"/>
                </a:lnTo>
                <a:lnTo>
                  <a:pt x="71438" y="161925"/>
                </a:lnTo>
                <a:lnTo>
                  <a:pt x="71438" y="133350"/>
                </a:lnTo>
                <a:close/>
                <a:moveTo>
                  <a:pt x="123825" y="85725"/>
                </a:moveTo>
                <a:lnTo>
                  <a:pt x="123825" y="171450"/>
                </a:lnTo>
                <a:lnTo>
                  <a:pt x="171450" y="171450"/>
                </a:lnTo>
                <a:lnTo>
                  <a:pt x="171450" y="85725"/>
                </a:lnTo>
                <a:lnTo>
                  <a:pt x="123825" y="85725"/>
                </a:lnTo>
                <a:close/>
                <a:moveTo>
                  <a:pt x="161925" y="161925"/>
                </a:moveTo>
                <a:lnTo>
                  <a:pt x="133350" y="161925"/>
                </a:lnTo>
                <a:lnTo>
                  <a:pt x="133350" y="95250"/>
                </a:lnTo>
                <a:lnTo>
                  <a:pt x="161925" y="95250"/>
                </a:lnTo>
                <a:lnTo>
                  <a:pt x="161925" y="161925"/>
                </a:lnTo>
                <a:close/>
                <a:moveTo>
                  <a:pt x="85725" y="92393"/>
                </a:moveTo>
                <a:lnTo>
                  <a:pt x="161925" y="16192"/>
                </a:lnTo>
                <a:lnTo>
                  <a:pt x="161925" y="66675"/>
                </a:lnTo>
                <a:lnTo>
                  <a:pt x="171450" y="66675"/>
                </a:lnTo>
                <a:lnTo>
                  <a:pt x="171450" y="19050"/>
                </a:lnTo>
                <a:lnTo>
                  <a:pt x="152400" y="0"/>
                </a:lnTo>
                <a:lnTo>
                  <a:pt x="104775" y="0"/>
                </a:lnTo>
                <a:lnTo>
                  <a:pt x="104775" y="9525"/>
                </a:lnTo>
                <a:lnTo>
                  <a:pt x="155258" y="9525"/>
                </a:lnTo>
                <a:lnTo>
                  <a:pt x="85725" y="79058"/>
                </a:lnTo>
                <a:lnTo>
                  <a:pt x="38100" y="36195"/>
                </a:lnTo>
                <a:lnTo>
                  <a:pt x="0" y="74295"/>
                </a:lnTo>
                <a:lnTo>
                  <a:pt x="0" y="87630"/>
                </a:lnTo>
                <a:lnTo>
                  <a:pt x="38100" y="49530"/>
                </a:lnTo>
                <a:lnTo>
                  <a:pt x="85725" y="92393"/>
                </a:lnTo>
                <a:close/>
              </a:path>
            </a:pathLst>
          </a:custGeom>
          <a:solidFill>
            <a:srgbClr val="08312A"/>
          </a:solidFill>
          <a:ln w="9525" cap="flat">
            <a:noFill/>
            <a:prstDash val="solid"/>
            <a:miter/>
          </a:ln>
        </p:spPr>
        <p:txBody>
          <a:bodyPr rtlCol="0" anchor="ctr"/>
          <a:lstStyle/>
          <a:p>
            <a:endParaRPr lang="en-US"/>
          </a:p>
        </p:txBody>
      </p:sp>
      <p:sp>
        <p:nvSpPr>
          <p:cNvPr id="65" name="object 34">
            <a:hlinkClick r:id="" action="ppaction://noaction"/>
            <a:extLst>
              <a:ext uri="{FF2B5EF4-FFF2-40B4-BE49-F238E27FC236}">
                <a16:creationId xmlns:a16="http://schemas.microsoft.com/office/drawing/2014/main" id="{EB9E7F5E-9988-180B-D608-DC35490AD207}"/>
              </a:ext>
            </a:extLst>
          </p:cNvPr>
          <p:cNvSpPr/>
          <p:nvPr userDrawn="1"/>
        </p:nvSpPr>
        <p:spPr>
          <a:xfrm>
            <a:off x="7235671"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expectations</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at key timepoints​</a:t>
            </a:r>
          </a:p>
        </p:txBody>
      </p:sp>
      <p:sp>
        <p:nvSpPr>
          <p:cNvPr id="66" name="object 34">
            <a:hlinkClick r:id="" action="ppaction://noaction"/>
            <a:extLst>
              <a:ext uri="{FF2B5EF4-FFF2-40B4-BE49-F238E27FC236}">
                <a16:creationId xmlns:a16="http://schemas.microsoft.com/office/drawing/2014/main" id="{17578091-907A-E481-014F-104820989C1E}"/>
              </a:ext>
            </a:extLst>
          </p:cNvPr>
          <p:cNvSpPr/>
          <p:nvPr userDrawn="1"/>
        </p:nvSpPr>
        <p:spPr>
          <a:xfrm>
            <a:off x="8361712"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Preparing &amp; conducting</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LR reviews</a:t>
            </a:r>
          </a:p>
        </p:txBody>
      </p:sp>
      <p:sp>
        <p:nvSpPr>
          <p:cNvPr id="67" name="object 34">
            <a:hlinkClick r:id="" action="ppaction://noaction"/>
            <a:extLst>
              <a:ext uri="{FF2B5EF4-FFF2-40B4-BE49-F238E27FC236}">
                <a16:creationId xmlns:a16="http://schemas.microsoft.com/office/drawing/2014/main" id="{3286F00A-0848-1B52-F0C7-AC5091403AC0}"/>
              </a:ext>
            </a:extLst>
          </p:cNvPr>
          <p:cNvSpPr/>
          <p:nvPr userDrawn="1"/>
        </p:nvSpPr>
        <p:spPr>
          <a:xfrm>
            <a:off x="7235668" y="499172"/>
            <a:ext cx="1098000" cy="230400"/>
          </a:xfrm>
          <a:prstGeom prst="rect">
            <a:avLst/>
          </a:prstGeom>
          <a:solidFill>
            <a:srgbClr val="EFEEEB"/>
          </a:solidFill>
          <a:ln w="6350">
            <a:noFill/>
          </a:ln>
        </p:spPr>
        <p:txBody>
          <a:bodyPr wrap="square" lIns="36000" tIns="0" rIns="36000" bIns="0" rtlCol="0" anchor="ctr">
            <a:normAutofit/>
          </a:bodyPr>
          <a:lstStyle/>
          <a:p>
            <a:pPr marL="12700" lvl="0" algn="l" defTabSz="914400">
              <a:lnSpc>
                <a:spcPct val="100000"/>
              </a:lnSpc>
              <a:spcBef>
                <a:spcPts val="100"/>
              </a:spcBef>
            </a:pPr>
            <a:r>
              <a:rPr lang="en-GB" sz="700" b="0" spc="0" baseline="0">
                <a:solidFill>
                  <a:schemeClr val="bg2"/>
                </a:solidFill>
                <a:latin typeface="Boehringer Forward Text" panose="02000500000000020000" pitchFamily="2" charset="0"/>
                <a:cs typeface="BISans"/>
              </a:rPr>
              <a:t>Part 1: Corporate</a:t>
            </a:r>
          </a:p>
        </p:txBody>
      </p:sp>
      <p:sp>
        <p:nvSpPr>
          <p:cNvPr id="68" name="object 34">
            <a:hlinkClick r:id="" action="ppaction://noaction"/>
            <a:extLst>
              <a:ext uri="{FF2B5EF4-FFF2-40B4-BE49-F238E27FC236}">
                <a16:creationId xmlns:a16="http://schemas.microsoft.com/office/drawing/2014/main" id="{DFAFFFB2-C578-7A78-5EFD-7F709EED8499}"/>
              </a:ext>
            </a:extLst>
          </p:cNvPr>
          <p:cNvSpPr/>
          <p:nvPr userDrawn="1"/>
        </p:nvSpPr>
        <p:spPr>
          <a:xfrm>
            <a:off x="7235668" y="752493"/>
            <a:ext cx="1098000" cy="230400"/>
          </a:xfrm>
          <a:prstGeom prst="rect">
            <a:avLst/>
          </a:prstGeom>
          <a:solidFill>
            <a:srgbClr val="EFEEEB"/>
          </a:solidFill>
          <a:ln w="6350">
            <a:noFill/>
          </a:ln>
        </p:spPr>
        <p:txBody>
          <a:bodyPr wrap="square" lIns="36000" tIns="0" rIns="36000" bIns="0" rtlCol="0" anchor="ctr">
            <a:normAutofit/>
          </a:bodyPr>
          <a:lstStyle/>
          <a:p>
            <a:pPr marL="12700" lvl="0" algn="l" defTabSz="914400">
              <a:lnSpc>
                <a:spcPct val="100000"/>
              </a:lnSpc>
              <a:spcBef>
                <a:spcPts val="100"/>
              </a:spcBef>
            </a:pPr>
            <a:r>
              <a:rPr lang="en-GB" sz="700" b="0" spc="0" baseline="0">
                <a:solidFill>
                  <a:schemeClr val="bg2"/>
                </a:solidFill>
                <a:latin typeface="Boehringer Forward Text" panose="02000500000000020000" pitchFamily="2" charset="0"/>
                <a:cs typeface="BISans"/>
              </a:rPr>
              <a:t>Part 2: </a:t>
            </a:r>
            <a:r>
              <a:rPr lang="en-GB" sz="700" b="0" spc="0" baseline="0" err="1">
                <a:solidFill>
                  <a:schemeClr val="bg2"/>
                </a:solidFill>
                <a:latin typeface="Boehringer Forward Text" panose="02000500000000020000" pitchFamily="2" charset="0"/>
                <a:cs typeface="BISans"/>
              </a:rPr>
              <a:t>OPU</a:t>
            </a:r>
            <a:endParaRPr lang="en-GB" sz="700" b="0" spc="0" baseline="0">
              <a:solidFill>
                <a:schemeClr val="bg2"/>
              </a:solidFill>
              <a:latin typeface="Boehringer Forward Text" panose="02000500000000020000" pitchFamily="2" charset="0"/>
              <a:cs typeface="BISans"/>
            </a:endParaRPr>
          </a:p>
        </p:txBody>
      </p:sp>
      <p:sp>
        <p:nvSpPr>
          <p:cNvPr id="69" name="Graphic 47">
            <a:extLst>
              <a:ext uri="{FF2B5EF4-FFF2-40B4-BE49-F238E27FC236}">
                <a16:creationId xmlns:a16="http://schemas.microsoft.com/office/drawing/2014/main" id="{143F4B65-6F84-C403-55C7-E9DE058D77C1}"/>
              </a:ext>
            </a:extLst>
          </p:cNvPr>
          <p:cNvSpPr/>
          <p:nvPr userDrawn="1"/>
        </p:nvSpPr>
        <p:spPr>
          <a:xfrm>
            <a:off x="7301025" y="159544"/>
            <a:ext cx="157163" cy="157163"/>
          </a:xfrm>
          <a:custGeom>
            <a:avLst/>
            <a:gdLst>
              <a:gd name="connsiteX0" fmla="*/ 100013 w 190500"/>
              <a:gd name="connsiteY0" fmla="*/ 9525 h 190500"/>
              <a:gd name="connsiteX1" fmla="*/ 100013 w 190500"/>
              <a:gd name="connsiteY1" fmla="*/ 0 h 190500"/>
              <a:gd name="connsiteX2" fmla="*/ 190500 w 190500"/>
              <a:gd name="connsiteY2" fmla="*/ 95250 h 190500"/>
              <a:gd name="connsiteX3" fmla="*/ 95250 w 190500"/>
              <a:gd name="connsiteY3" fmla="*/ 190500 h 190500"/>
              <a:gd name="connsiteX4" fmla="*/ 0 w 190500"/>
              <a:gd name="connsiteY4" fmla="*/ 95250 h 190500"/>
              <a:gd name="connsiteX5" fmla="*/ 90488 w 190500"/>
              <a:gd name="connsiteY5" fmla="*/ 0 h 190500"/>
              <a:gd name="connsiteX6" fmla="*/ 90488 w 190500"/>
              <a:gd name="connsiteY6" fmla="*/ 9525 h 190500"/>
              <a:gd name="connsiteX7" fmla="*/ 9525 w 190500"/>
              <a:gd name="connsiteY7" fmla="*/ 95250 h 190500"/>
              <a:gd name="connsiteX8" fmla="*/ 95250 w 190500"/>
              <a:gd name="connsiteY8" fmla="*/ 180975 h 190500"/>
              <a:gd name="connsiteX9" fmla="*/ 180975 w 190500"/>
              <a:gd name="connsiteY9" fmla="*/ 95250 h 190500"/>
              <a:gd name="connsiteX10" fmla="*/ 100013 w 190500"/>
              <a:gd name="connsiteY10" fmla="*/ 9525 h 190500"/>
              <a:gd name="connsiteX11" fmla="*/ 100013 w 190500"/>
              <a:gd name="connsiteY11" fmla="*/ 9525 h 190500"/>
              <a:gd name="connsiteX12" fmla="*/ 90488 w 190500"/>
              <a:gd name="connsiteY12" fmla="*/ 9525 h 190500"/>
              <a:gd name="connsiteX13" fmla="*/ 90488 w 190500"/>
              <a:gd name="connsiteY13" fmla="*/ 97155 h 190500"/>
              <a:gd name="connsiteX14" fmla="*/ 129540 w 190500"/>
              <a:gd name="connsiteY14" fmla="*/ 137160 h 190500"/>
              <a:gd name="connsiteX15" fmla="*/ 137160 w 190500"/>
              <a:gd name="connsiteY15" fmla="*/ 129540 h 190500"/>
              <a:gd name="connsiteX16" fmla="*/ 100013 w 190500"/>
              <a:gd name="connsiteY16" fmla="*/ 93345 h 190500"/>
              <a:gd name="connsiteX17" fmla="*/ 100013 w 190500"/>
              <a:gd name="connsiteY17" fmla="*/ 95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190500">
                <a:moveTo>
                  <a:pt x="100013" y="9525"/>
                </a:moveTo>
                <a:lnTo>
                  <a:pt x="100013" y="0"/>
                </a:lnTo>
                <a:cubicBezTo>
                  <a:pt x="150495" y="2857"/>
                  <a:pt x="190500" y="43815"/>
                  <a:pt x="190500" y="95250"/>
                </a:cubicBezTo>
                <a:cubicBezTo>
                  <a:pt x="190500" y="147638"/>
                  <a:pt x="147638" y="190500"/>
                  <a:pt x="95250" y="190500"/>
                </a:cubicBezTo>
                <a:cubicBezTo>
                  <a:pt x="42863" y="190500"/>
                  <a:pt x="0" y="147638"/>
                  <a:pt x="0" y="95250"/>
                </a:cubicBezTo>
                <a:cubicBezTo>
                  <a:pt x="0" y="43815"/>
                  <a:pt x="40005" y="2857"/>
                  <a:pt x="90488" y="0"/>
                </a:cubicBezTo>
                <a:lnTo>
                  <a:pt x="90488" y="9525"/>
                </a:lnTo>
                <a:cubicBezTo>
                  <a:pt x="45720" y="12383"/>
                  <a:pt x="9525" y="49530"/>
                  <a:pt x="9525" y="95250"/>
                </a:cubicBezTo>
                <a:cubicBezTo>
                  <a:pt x="9525" y="142875"/>
                  <a:pt x="47625" y="180975"/>
                  <a:pt x="95250" y="180975"/>
                </a:cubicBezTo>
                <a:cubicBezTo>
                  <a:pt x="142875" y="180975"/>
                  <a:pt x="180975" y="142875"/>
                  <a:pt x="180975" y="95250"/>
                </a:cubicBezTo>
                <a:cubicBezTo>
                  <a:pt x="180975" y="49530"/>
                  <a:pt x="144780" y="12383"/>
                  <a:pt x="100013" y="9525"/>
                </a:cubicBezTo>
                <a:close/>
                <a:moveTo>
                  <a:pt x="100013" y="9525"/>
                </a:moveTo>
                <a:lnTo>
                  <a:pt x="90488" y="9525"/>
                </a:lnTo>
                <a:lnTo>
                  <a:pt x="90488" y="97155"/>
                </a:lnTo>
                <a:lnTo>
                  <a:pt x="129540" y="137160"/>
                </a:lnTo>
                <a:lnTo>
                  <a:pt x="137160" y="129540"/>
                </a:lnTo>
                <a:lnTo>
                  <a:pt x="100013" y="93345"/>
                </a:lnTo>
                <a:lnTo>
                  <a:pt x="100013" y="9525"/>
                </a:lnTo>
                <a:close/>
              </a:path>
            </a:pathLst>
          </a:custGeom>
          <a:solidFill>
            <a:srgbClr val="08312A"/>
          </a:solidFill>
          <a:ln w="9525" cap="flat">
            <a:noFill/>
            <a:prstDash val="solid"/>
            <a:miter/>
          </a:ln>
        </p:spPr>
        <p:txBody>
          <a:bodyPr rtlCol="0" anchor="ctr"/>
          <a:lstStyle/>
          <a:p>
            <a:endParaRPr lang="en-US"/>
          </a:p>
        </p:txBody>
      </p:sp>
      <p:sp>
        <p:nvSpPr>
          <p:cNvPr id="70" name="Graphic 52">
            <a:extLst>
              <a:ext uri="{FF2B5EF4-FFF2-40B4-BE49-F238E27FC236}">
                <a16:creationId xmlns:a16="http://schemas.microsoft.com/office/drawing/2014/main" id="{87CE1A50-728B-A2F0-B35B-D82F43260BA4}"/>
              </a:ext>
            </a:extLst>
          </p:cNvPr>
          <p:cNvSpPr/>
          <p:nvPr userDrawn="1"/>
        </p:nvSpPr>
        <p:spPr>
          <a:xfrm>
            <a:off x="8427065" y="149066"/>
            <a:ext cx="138537" cy="178119"/>
          </a:xfrm>
          <a:custGeom>
            <a:avLst/>
            <a:gdLst>
              <a:gd name="connsiteX0" fmla="*/ 0 w 133350"/>
              <a:gd name="connsiteY0" fmla="*/ 171450 h 171450"/>
              <a:gd name="connsiteX1" fmla="*/ 0 w 133350"/>
              <a:gd name="connsiteY1" fmla="*/ 0 h 171450"/>
              <a:gd name="connsiteX2" fmla="*/ 87697 w 133350"/>
              <a:gd name="connsiteY2" fmla="*/ 0 h 171450"/>
              <a:gd name="connsiteX3" fmla="*/ 133350 w 133350"/>
              <a:gd name="connsiteY3" fmla="*/ 45653 h 171450"/>
              <a:gd name="connsiteX4" fmla="*/ 133350 w 133350"/>
              <a:gd name="connsiteY4" fmla="*/ 171450 h 171450"/>
              <a:gd name="connsiteX5" fmla="*/ 0 w 133350"/>
              <a:gd name="connsiteY5" fmla="*/ 171450 h 171450"/>
              <a:gd name="connsiteX6" fmla="*/ 9525 w 133350"/>
              <a:gd name="connsiteY6" fmla="*/ 161925 h 171450"/>
              <a:gd name="connsiteX7" fmla="*/ 123825 w 133350"/>
              <a:gd name="connsiteY7" fmla="*/ 161925 h 171450"/>
              <a:gd name="connsiteX8" fmla="*/ 123825 w 133350"/>
              <a:gd name="connsiteY8" fmla="*/ 57150 h 171450"/>
              <a:gd name="connsiteX9" fmla="*/ 85725 w 133350"/>
              <a:gd name="connsiteY9" fmla="*/ 57150 h 171450"/>
              <a:gd name="connsiteX10" fmla="*/ 85725 w 133350"/>
              <a:gd name="connsiteY10" fmla="*/ 47625 h 171450"/>
              <a:gd name="connsiteX11" fmla="*/ 121853 w 133350"/>
              <a:gd name="connsiteY11" fmla="*/ 47625 h 171450"/>
              <a:gd name="connsiteX12" fmla="*/ 85725 w 133350"/>
              <a:gd name="connsiteY12" fmla="*/ 11497 h 171450"/>
              <a:gd name="connsiteX13" fmla="*/ 85725 w 133350"/>
              <a:gd name="connsiteY13" fmla="*/ 47625 h 171450"/>
              <a:gd name="connsiteX14" fmla="*/ 76200 w 133350"/>
              <a:gd name="connsiteY14" fmla="*/ 47625 h 171450"/>
              <a:gd name="connsiteX15" fmla="*/ 76200 w 133350"/>
              <a:gd name="connsiteY15" fmla="*/ 9525 h 171450"/>
              <a:gd name="connsiteX16" fmla="*/ 9525 w 133350"/>
              <a:gd name="connsiteY16" fmla="*/ 9525 h 171450"/>
              <a:gd name="connsiteX17" fmla="*/ 9525 w 133350"/>
              <a:gd name="connsiteY17" fmla="*/ 161925 h 171450"/>
              <a:gd name="connsiteX18" fmla="*/ 28575 w 133350"/>
              <a:gd name="connsiteY18" fmla="*/ 104775 h 171450"/>
              <a:gd name="connsiteX19" fmla="*/ 76200 w 133350"/>
              <a:gd name="connsiteY19" fmla="*/ 104775 h 171450"/>
              <a:gd name="connsiteX20" fmla="*/ 76200 w 133350"/>
              <a:gd name="connsiteY20" fmla="*/ 95250 h 171450"/>
              <a:gd name="connsiteX21" fmla="*/ 28575 w 133350"/>
              <a:gd name="connsiteY21" fmla="*/ 95250 h 171450"/>
              <a:gd name="connsiteX22" fmla="*/ 28575 w 133350"/>
              <a:gd name="connsiteY22" fmla="*/ 104775 h 171450"/>
              <a:gd name="connsiteX23" fmla="*/ 104775 w 133350"/>
              <a:gd name="connsiteY23" fmla="*/ 133350 h 171450"/>
              <a:gd name="connsiteX24" fmla="*/ 28575 w 133350"/>
              <a:gd name="connsiteY24" fmla="*/ 133350 h 171450"/>
              <a:gd name="connsiteX25" fmla="*/ 28575 w 133350"/>
              <a:gd name="connsiteY25" fmla="*/ 123825 h 171450"/>
              <a:gd name="connsiteX26" fmla="*/ 104775 w 133350"/>
              <a:gd name="connsiteY26" fmla="*/ 123825 h 171450"/>
              <a:gd name="connsiteX27" fmla="*/ 104775 w 133350"/>
              <a:gd name="connsiteY27"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3350" h="171450">
                <a:moveTo>
                  <a:pt x="0" y="171450"/>
                </a:moveTo>
                <a:lnTo>
                  <a:pt x="0" y="0"/>
                </a:lnTo>
                <a:lnTo>
                  <a:pt x="87697" y="0"/>
                </a:lnTo>
                <a:lnTo>
                  <a:pt x="133350" y="45653"/>
                </a:lnTo>
                <a:lnTo>
                  <a:pt x="133350" y="171450"/>
                </a:lnTo>
                <a:lnTo>
                  <a:pt x="0" y="171450"/>
                </a:lnTo>
                <a:close/>
                <a:moveTo>
                  <a:pt x="9525" y="161925"/>
                </a:moveTo>
                <a:lnTo>
                  <a:pt x="123825" y="161925"/>
                </a:lnTo>
                <a:lnTo>
                  <a:pt x="123825" y="57150"/>
                </a:lnTo>
                <a:lnTo>
                  <a:pt x="85725" y="57150"/>
                </a:lnTo>
                <a:lnTo>
                  <a:pt x="85725" y="47625"/>
                </a:lnTo>
                <a:lnTo>
                  <a:pt x="121853" y="47625"/>
                </a:lnTo>
                <a:lnTo>
                  <a:pt x="85725" y="11497"/>
                </a:lnTo>
                <a:lnTo>
                  <a:pt x="85725" y="47625"/>
                </a:lnTo>
                <a:lnTo>
                  <a:pt x="76200" y="47625"/>
                </a:lnTo>
                <a:lnTo>
                  <a:pt x="76200" y="9525"/>
                </a:lnTo>
                <a:lnTo>
                  <a:pt x="9525" y="9525"/>
                </a:lnTo>
                <a:lnTo>
                  <a:pt x="9525" y="161925"/>
                </a:lnTo>
                <a:close/>
                <a:moveTo>
                  <a:pt x="28575" y="104775"/>
                </a:moveTo>
                <a:lnTo>
                  <a:pt x="76200" y="104775"/>
                </a:lnTo>
                <a:lnTo>
                  <a:pt x="76200" y="95250"/>
                </a:lnTo>
                <a:lnTo>
                  <a:pt x="28575" y="95250"/>
                </a:lnTo>
                <a:lnTo>
                  <a:pt x="28575" y="104775"/>
                </a:lnTo>
                <a:close/>
                <a:moveTo>
                  <a:pt x="104775" y="133350"/>
                </a:moveTo>
                <a:lnTo>
                  <a:pt x="28575" y="133350"/>
                </a:lnTo>
                <a:lnTo>
                  <a:pt x="28575" y="123825"/>
                </a:lnTo>
                <a:lnTo>
                  <a:pt x="104775" y="123825"/>
                </a:lnTo>
                <a:lnTo>
                  <a:pt x="104775" y="133350"/>
                </a:lnTo>
                <a:close/>
              </a:path>
            </a:pathLst>
          </a:custGeom>
          <a:solidFill>
            <a:srgbClr val="08312A"/>
          </a:solidFill>
          <a:ln w="9525" cap="flat">
            <a:noFill/>
            <a:prstDash val="solid"/>
            <a:miter/>
          </a:ln>
        </p:spPr>
        <p:txBody>
          <a:bodyPr rtlCol="0" anchor="ctr"/>
          <a:lstStyle/>
          <a:p>
            <a:endParaRPr lang="en-US"/>
          </a:p>
        </p:txBody>
      </p:sp>
      <p:sp>
        <p:nvSpPr>
          <p:cNvPr id="5" name="Rectangle 4">
            <a:hlinkClick r:id="" action="ppaction://noaction"/>
            <a:extLst>
              <a:ext uri="{FF2B5EF4-FFF2-40B4-BE49-F238E27FC236}">
                <a16:creationId xmlns:a16="http://schemas.microsoft.com/office/drawing/2014/main" id="{1A3557B1-05E8-8664-1F11-B7969C31E869}"/>
              </a:ext>
            </a:extLst>
          </p:cNvPr>
          <p:cNvSpPr/>
          <p:nvPr userDrawn="1"/>
        </p:nvSpPr>
        <p:spPr>
          <a:xfrm>
            <a:off x="0" y="-11461"/>
            <a:ext cx="479424" cy="499172"/>
          </a:xfrm>
          <a:prstGeom prst="rect">
            <a:avLst/>
          </a:prstGeom>
          <a:solidFill>
            <a:schemeClr val="accent3">
              <a:alpha val="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GB" sz="1400" spc="200" baseline="0">
              <a:solidFill>
                <a:schemeClr val="accent1"/>
              </a:solidFill>
            </a:endParaRPr>
          </a:p>
        </p:txBody>
      </p:sp>
    </p:spTree>
    <p:extLst>
      <p:ext uri="{BB962C8B-B14F-4D97-AF65-F5344CB8AC3E}">
        <p14:creationId xmlns:p14="http://schemas.microsoft.com/office/powerpoint/2010/main" val="159156598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4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88742536"/>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5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PG L-36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7230365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5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PG L-36    |    ONLY FOR INTERNAL USE</a:t>
            </a:r>
          </a:p>
        </p:txBody>
      </p:sp>
    </p:spTree>
    <p:extLst>
      <p:ext uri="{BB962C8B-B14F-4D97-AF65-F5344CB8AC3E}">
        <p14:creationId xmlns:p14="http://schemas.microsoft.com/office/powerpoint/2010/main" val="212603669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5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PG L-36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77524523"/>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5_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PG L-36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586480738"/>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5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24780840"/>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5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PG L-36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243128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5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PG L-36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616697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5_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PG L-36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49970704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5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PG L-36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0408231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5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PG L-36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0197606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PG L-36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88297437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PG L-36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08825686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PG L-36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77629462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4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PG L-36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9927424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4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PG L-36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8169492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4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PG L-36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15132284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PG L-36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10337486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PG L-36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26307718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PG L-36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45878083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5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PG L-36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6163678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5_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PG L-36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321654925"/>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08177306"/>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5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PG L-36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42898518"/>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userDrawn="1">
  <p:cSld name="5_One content_Strategic">
    <p:bg>
      <p:bgPr>
        <a:solidFill>
          <a:srgbClr val="EFEEEB"/>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PG L-36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92172637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9566B-A7FB-B403-F103-36CDE8397C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128845-5266-E8BF-7758-F4847DF245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C58F46-150C-FFCE-6880-A7DD29926744}"/>
              </a:ext>
            </a:extLst>
          </p:cNvPr>
          <p:cNvSpPr>
            <a:spLocks noGrp="1"/>
          </p:cNvSpPr>
          <p:nvPr>
            <p:ph type="dt" sz="half" idx="10"/>
          </p:nvPr>
        </p:nvSpPr>
        <p:spPr/>
        <p:txBody>
          <a:bodyPr/>
          <a:lstStyle/>
          <a:p>
            <a:fld id="{DE9C8083-D903-4E67-A926-3F5E80FF5380}" type="datetimeFigureOut">
              <a:rPr lang="en-US" smtClean="0"/>
              <a:t>12/16/2025</a:t>
            </a:fld>
            <a:endParaRPr lang="en-US"/>
          </a:p>
        </p:txBody>
      </p:sp>
      <p:sp>
        <p:nvSpPr>
          <p:cNvPr id="5" name="Footer Placeholder 4">
            <a:extLst>
              <a:ext uri="{FF2B5EF4-FFF2-40B4-BE49-F238E27FC236}">
                <a16:creationId xmlns:a16="http://schemas.microsoft.com/office/drawing/2014/main" id="{D753362D-1346-3156-CE54-0CDE22DBE7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F40330-5680-E516-3B78-EA43E0618846}"/>
              </a:ext>
            </a:extLst>
          </p:cNvPr>
          <p:cNvSpPr>
            <a:spLocks noGrp="1"/>
          </p:cNvSpPr>
          <p:nvPr>
            <p:ph type="sldNum" sz="quarter" idx="12"/>
          </p:nvPr>
        </p:nvSpPr>
        <p:spPr/>
        <p:txBody>
          <a:bodyPr/>
          <a:lstStyle/>
          <a:p>
            <a:fld id="{AF225C8E-132A-4293-BF1D-E348182D543A}" type="slidenum">
              <a:rPr lang="en-US" smtClean="0"/>
              <a:t>‹#›</a:t>
            </a:fld>
            <a:endParaRPr lang="en-US"/>
          </a:p>
        </p:txBody>
      </p:sp>
    </p:spTree>
    <p:extLst>
      <p:ext uri="{BB962C8B-B14F-4D97-AF65-F5344CB8AC3E}">
        <p14:creationId xmlns:p14="http://schemas.microsoft.com/office/powerpoint/2010/main" val="1786090141"/>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393BBB-A191-670D-C488-B72AC59D5BFD}"/>
              </a:ext>
            </a:extLst>
          </p:cNvPr>
          <p:cNvGraphicFramePr>
            <a:graphicFrameLocks noChangeAspect="1"/>
          </p:cNvGraphicFramePr>
          <p:nvPr userDrawn="1">
            <p:custDataLst>
              <p:tags r:id="rId1"/>
            </p:custDataLst>
            <p:extLst>
              <p:ext uri="{D42A27DB-BD31-4B8C-83A1-F6EECF244321}">
                <p14:modId xmlns:p14="http://schemas.microsoft.com/office/powerpoint/2010/main" val="4147157823"/>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Folie" r:id="rId3" imgW="426" imgH="426" progId="TCLayout.ActiveDocument.1">
                  <p:embed/>
                </p:oleObj>
              </mc:Choice>
              <mc:Fallback>
                <p:oleObj name="think-cell Folie" r:id="rId3" imgW="426" imgH="426" progId="TCLayout.ActiveDocument.1">
                  <p:embed/>
                  <p:pic>
                    <p:nvPicPr>
                      <p:cNvPr id="3" name="think-cell data - do not delete" hidden="1">
                        <a:extLst>
                          <a:ext uri="{FF2B5EF4-FFF2-40B4-BE49-F238E27FC236}">
                            <a16:creationId xmlns:a16="http://schemas.microsoft.com/office/drawing/2014/main" id="{58393BBB-A191-670D-C488-B72AC59D5BFD}"/>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12" name="Titel 11"/>
          <p:cNvSpPr>
            <a:spLocks noGrp="1"/>
          </p:cNvSpPr>
          <p:nvPr>
            <p:ph type="title" hasCustomPrompt="1"/>
          </p:nvPr>
        </p:nvSpPr>
        <p:spPr bwMode="gray"/>
        <p:txBody>
          <a:bodyPr vert="horz"/>
          <a:lstStyle>
            <a:lvl1pPr rtl="0">
              <a:defRPr/>
            </a:lvl1pPr>
          </a:lstStyle>
          <a:p>
            <a:r>
              <a:rPr lang="en-US"/>
              <a:t>Add  title of the slide</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rtl="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lvl1pPr rtl="0">
              <a:defRPr/>
            </a:lvl1pPr>
          </a:lstStyle>
          <a:p>
            <a:r>
              <a:rPr lang="en-US"/>
              <a:t>BI 1291583 Evidence Network 1st July 2025   |    CONFIDENTIAL</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lvl1pPr rtl="0">
              <a:defRPr/>
            </a:lvl1pPr>
          </a:lstStyle>
          <a:p>
            <a:fld id="{DF4E8F9F-5B1F-4F5B-BE49-3245D8C18D9F}" type="slidenum">
              <a:rPr lang="en-US" smtClean="0"/>
              <a:pPr/>
              <a:t>‹#›</a:t>
            </a:fld>
            <a:endParaRPr lang="en-US"/>
          </a:p>
        </p:txBody>
      </p:sp>
    </p:spTree>
    <p:extLst>
      <p:ext uri="{BB962C8B-B14F-4D97-AF65-F5344CB8AC3E}">
        <p14:creationId xmlns:p14="http://schemas.microsoft.com/office/powerpoint/2010/main" val="983001734"/>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4_One content">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393BBB-A191-670D-C488-B72AC59D5BFD}"/>
              </a:ext>
            </a:extLst>
          </p:cNvPr>
          <p:cNvGraphicFramePr>
            <a:graphicFrameLocks noChangeAspect="1"/>
          </p:cNvGraphicFramePr>
          <p:nvPr userDrawn="1">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Folie" r:id="rId3" imgW="426" imgH="426" progId="TCLayout.ActiveDocument.1">
                  <p:embed/>
                </p:oleObj>
              </mc:Choice>
              <mc:Fallback>
                <p:oleObj name="think-cell Folie" r:id="rId3" imgW="426" imgH="426" progId="TCLayout.ActiveDocument.1">
                  <p:embed/>
                  <p:pic>
                    <p:nvPicPr>
                      <p:cNvPr id="3" name="think-cell data - do not delete" hidden="1">
                        <a:extLst>
                          <a:ext uri="{FF2B5EF4-FFF2-40B4-BE49-F238E27FC236}">
                            <a16:creationId xmlns:a16="http://schemas.microsoft.com/office/drawing/2014/main" id="{58393BBB-A191-670D-C488-B72AC59D5BFD}"/>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12" name="Titel 11"/>
          <p:cNvSpPr>
            <a:spLocks noGrp="1"/>
          </p:cNvSpPr>
          <p:nvPr>
            <p:ph type="title" hasCustomPrompt="1"/>
          </p:nvPr>
        </p:nvSpPr>
        <p:spPr bwMode="gray"/>
        <p:txBody>
          <a:bodyPr vert="horz"/>
          <a:lstStyle>
            <a:lvl1pPr rtl="0">
              <a:defRPr/>
            </a:lvl1pPr>
          </a:lstStyle>
          <a:p>
            <a:r>
              <a:rPr lang="en-US"/>
              <a:t>Add  title of the slide</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rtl="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lvl1pPr rtl="0">
              <a:defRPr/>
            </a:lvl1pPr>
          </a:lstStyle>
          <a:p>
            <a:r>
              <a:rPr lang="en-US"/>
              <a:t>BI 1291583 Evidence Network 1st July 2025   |    CONFIDENTIAL</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lvl1pPr rtl="0">
              <a:defRPr/>
            </a:lvl1pPr>
          </a:lstStyle>
          <a:p>
            <a:fld id="{DF4E8F9F-5B1F-4F5B-BE49-3245D8C18D9F}" type="slidenum">
              <a:rPr lang="en-US" smtClean="0"/>
              <a:pPr/>
              <a:t>‹#›</a:t>
            </a:fld>
            <a:endParaRPr lang="en-US"/>
          </a:p>
        </p:txBody>
      </p:sp>
    </p:spTree>
    <p:extLst>
      <p:ext uri="{BB962C8B-B14F-4D97-AF65-F5344CB8AC3E}">
        <p14:creationId xmlns:p14="http://schemas.microsoft.com/office/powerpoint/2010/main" val="2760164781"/>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976540225"/>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267870765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02922581"/>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22668007"/>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59766333"/>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82285524"/>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32129255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088633390"/>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34310353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60041727"/>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368335600"/>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744416592"/>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290068532"/>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35527097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139787293"/>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673811504"/>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97898579"/>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663629166"/>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67692388"/>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5041343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8616973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6052222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4876690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5006357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9122846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11538139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28162674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47477472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048947333"/>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313683314"/>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68043289"/>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82943091"/>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2265700048"/>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1_On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75520" y="6237000"/>
            <a:ext cx="7632848" cy="216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OUR FOCUS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6" name="Titel 1">
            <a:extLst>
              <a:ext uri="{FF2B5EF4-FFF2-40B4-BE49-F238E27FC236}">
                <a16:creationId xmlns:a16="http://schemas.microsoft.com/office/drawing/2014/main" id="{07D04C70-C130-5D99-6FF7-9E701F6E13B0}"/>
              </a:ext>
            </a:extLst>
          </p:cNvPr>
          <p:cNvSpPr>
            <a:spLocks noGrp="1"/>
          </p:cNvSpPr>
          <p:nvPr>
            <p:ph type="title" hasCustomPrompt="1"/>
          </p:nvPr>
        </p:nvSpPr>
        <p:spPr bwMode="gray">
          <a:xfrm>
            <a:off x="479424" y="116632"/>
            <a:ext cx="11233151" cy="359617"/>
          </a:xfrm>
        </p:spPr>
        <p:txBody>
          <a:bodyPr/>
          <a:lstStyle>
            <a:lvl1pPr>
              <a:defRPr/>
            </a:lvl1pPr>
          </a:lstStyle>
          <a:p>
            <a:r>
              <a:rPr lang="en-US"/>
              <a:t>Add agenda title</a:t>
            </a:r>
          </a:p>
        </p:txBody>
      </p:sp>
      <p:cxnSp>
        <p:nvCxnSpPr>
          <p:cNvPr id="10" name="Straight Connector 9">
            <a:extLst>
              <a:ext uri="{FF2B5EF4-FFF2-40B4-BE49-F238E27FC236}">
                <a16:creationId xmlns:a16="http://schemas.microsoft.com/office/drawing/2014/main" id="{C0DD3949-B3EC-12D1-B177-399C832B2BD2}"/>
              </a:ext>
            </a:extLst>
          </p:cNvPr>
          <p:cNvCxnSpPr/>
          <p:nvPr userDrawn="1"/>
        </p:nvCxnSpPr>
        <p:spPr bwMode="gray">
          <a:xfrm>
            <a:off x="0" y="836712"/>
            <a:ext cx="121920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3019835"/>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524D3-7976-DC25-1760-142BC8A235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622DAD-7906-34BF-46A9-AD2FE2CCDC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036189-7446-AF8E-5E8F-F710E70D80D9}"/>
              </a:ext>
            </a:extLst>
          </p:cNvPr>
          <p:cNvSpPr>
            <a:spLocks noGrp="1"/>
          </p:cNvSpPr>
          <p:nvPr>
            <p:ph type="dt" sz="half" idx="10"/>
          </p:nvPr>
        </p:nvSpPr>
        <p:spPr/>
        <p:txBody>
          <a:bodyPr/>
          <a:lstStyle/>
          <a:p>
            <a:fld id="{7C2F861F-806D-468A-A69B-8F54F16F8FE7}" type="datetimeFigureOut">
              <a:rPr lang="en-US" smtClean="0"/>
              <a:t>12/16/2025</a:t>
            </a:fld>
            <a:endParaRPr lang="en-US"/>
          </a:p>
        </p:txBody>
      </p:sp>
      <p:sp>
        <p:nvSpPr>
          <p:cNvPr id="5" name="Footer Placeholder 4">
            <a:extLst>
              <a:ext uri="{FF2B5EF4-FFF2-40B4-BE49-F238E27FC236}">
                <a16:creationId xmlns:a16="http://schemas.microsoft.com/office/drawing/2014/main" id="{2BDB86CA-ADC6-BC22-8FE5-24641ED913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2BAF81-508C-79A5-DEDB-7562E1E7237C}"/>
              </a:ext>
            </a:extLst>
          </p:cNvPr>
          <p:cNvSpPr>
            <a:spLocks noGrp="1"/>
          </p:cNvSpPr>
          <p:nvPr>
            <p:ph type="sldNum" sz="quarter" idx="12"/>
          </p:nvPr>
        </p:nvSpPr>
        <p:spPr/>
        <p:txBody>
          <a:bodyPr/>
          <a:lstStyle/>
          <a:p>
            <a:fld id="{6AF99E76-02BE-4D9E-AD8E-EF1C8B9A0035}" type="slidenum">
              <a:rPr lang="en-US" smtClean="0"/>
              <a:t>‹#›</a:t>
            </a:fld>
            <a:endParaRPr lang="en-US"/>
          </a:p>
        </p:txBody>
      </p:sp>
    </p:spTree>
    <p:extLst>
      <p:ext uri="{BB962C8B-B14F-4D97-AF65-F5344CB8AC3E}">
        <p14:creationId xmlns:p14="http://schemas.microsoft.com/office/powerpoint/2010/main" val="4278755503"/>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7907584"/>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Tree>
    <p:extLst>
      <p:ext uri="{BB962C8B-B14F-4D97-AF65-F5344CB8AC3E}">
        <p14:creationId xmlns:p14="http://schemas.microsoft.com/office/powerpoint/2010/main" val="387439034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691182174"/>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7659590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2179892"/>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36358516"/>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556230590"/>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49110189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247976012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353799930"/>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8094452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4157206607"/>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11719059"/>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289776338"/>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85447135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484142846"/>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549519608"/>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244552294"/>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99737270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68048035"/>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7066328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8690906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382154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321206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0186981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2718702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11831502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51874207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9098572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44916981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645474712"/>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8470636"/>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96664010"/>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175193118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823980-1FC8-91A6-3F81-B40E8DA9963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E1F025A-009C-D497-1EC4-CC543C20BE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0E8221A-83B4-764B-F559-62381438E705}"/>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F7393C72-D5D6-6B61-9F56-27AB9CC3EF17}"/>
              </a:ext>
            </a:extLst>
          </p:cNvPr>
          <p:cNvSpPr>
            <a:spLocks noGrp="1"/>
          </p:cNvSpPr>
          <p:nvPr>
            <p:ph type="ftr" sz="quarter" idx="11"/>
          </p:nvPr>
        </p:nvSpPr>
        <p:spPr/>
        <p:txBody>
          <a:bodyPr/>
          <a:lstStyle/>
          <a:p>
            <a:r>
              <a:rPr lang="en-US" altLang="zh-CN"/>
              <a:t>Presentation title    |    ONLY FOR INTERNAL USE</a:t>
            </a:r>
            <a:endParaRPr lang="zh-CN" altLang="en-US"/>
          </a:p>
        </p:txBody>
      </p:sp>
      <p:sp>
        <p:nvSpPr>
          <p:cNvPr id="6" name="灯片编号占位符 5">
            <a:extLst>
              <a:ext uri="{FF2B5EF4-FFF2-40B4-BE49-F238E27FC236}">
                <a16:creationId xmlns:a16="http://schemas.microsoft.com/office/drawing/2014/main" id="{92C3CB37-52A8-A12F-5FA8-4B967B075965}"/>
              </a:ext>
            </a:extLst>
          </p:cNvPr>
          <p:cNvSpPr>
            <a:spLocks noGrp="1"/>
          </p:cNvSpPr>
          <p:nvPr>
            <p:ph type="sldNum" sz="quarter" idx="12"/>
          </p:nvPr>
        </p:nvSpPr>
        <p:spPr/>
        <p:txBody>
          <a:bodyPr/>
          <a:lstStyle/>
          <a:p>
            <a:fld id="{0885A819-4BE1-4EB5-95CB-EF5D8545643D}" type="slidenum">
              <a:rPr lang="zh-CN" altLang="en-US" smtClean="0"/>
              <a:t>‹#›</a:t>
            </a:fld>
            <a:endParaRPr lang="zh-CN" altLang="en-US"/>
          </a:p>
        </p:txBody>
      </p:sp>
    </p:spTree>
    <p:extLst>
      <p:ext uri="{BB962C8B-B14F-4D97-AF65-F5344CB8AC3E}">
        <p14:creationId xmlns:p14="http://schemas.microsoft.com/office/powerpoint/2010/main" val="4199816465"/>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19766455"/>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2107931993"/>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3023626461"/>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3438230222"/>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3666190559"/>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693152421"/>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76612060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ONLY FOR INTERNAL USE</a:t>
            </a:r>
          </a:p>
        </p:txBody>
      </p:sp>
    </p:spTree>
    <p:extLst>
      <p:ext uri="{BB962C8B-B14F-4D97-AF65-F5344CB8AC3E}">
        <p14:creationId xmlns:p14="http://schemas.microsoft.com/office/powerpoint/2010/main" val="3831240110"/>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ONLY FOR INTERNAL USE</a:t>
            </a:r>
          </a:p>
        </p:txBody>
      </p:sp>
    </p:spTree>
    <p:extLst>
      <p:ext uri="{BB962C8B-B14F-4D97-AF65-F5344CB8AC3E}">
        <p14:creationId xmlns:p14="http://schemas.microsoft.com/office/powerpoint/2010/main" val="1084972830"/>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ONLY FOR INTERNAL USE</a:t>
            </a:r>
          </a:p>
        </p:txBody>
      </p:sp>
    </p:spTree>
    <p:extLst>
      <p:ext uri="{BB962C8B-B14F-4D97-AF65-F5344CB8AC3E}">
        <p14:creationId xmlns:p14="http://schemas.microsoft.com/office/powerpoint/2010/main" val="814970693"/>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57143395"/>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041622565"/>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898158135"/>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ONLY FOR INTERNAL USE</a:t>
            </a:r>
          </a:p>
        </p:txBody>
      </p:sp>
    </p:spTree>
    <p:extLst>
      <p:ext uri="{BB962C8B-B14F-4D97-AF65-F5344CB8AC3E}">
        <p14:creationId xmlns:p14="http://schemas.microsoft.com/office/powerpoint/2010/main" val="135751399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910028616"/>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ONLY FOR INTERNAL USE</a:t>
            </a:r>
          </a:p>
        </p:txBody>
      </p:sp>
    </p:spTree>
    <p:extLst>
      <p:ext uri="{BB962C8B-B14F-4D97-AF65-F5344CB8AC3E}">
        <p14:creationId xmlns:p14="http://schemas.microsoft.com/office/powerpoint/2010/main" val="992951963"/>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ONLY FOR INTERNAL USE</a:t>
            </a:r>
          </a:p>
        </p:txBody>
      </p:sp>
    </p:spTree>
    <p:extLst>
      <p:ext uri="{BB962C8B-B14F-4D97-AF65-F5344CB8AC3E}">
        <p14:creationId xmlns:p14="http://schemas.microsoft.com/office/powerpoint/2010/main" val="679078817"/>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ONLY FOR INTERNAL USE</a:t>
            </a:r>
          </a:p>
        </p:txBody>
      </p:sp>
    </p:spTree>
    <p:extLst>
      <p:ext uri="{BB962C8B-B14F-4D97-AF65-F5344CB8AC3E}">
        <p14:creationId xmlns:p14="http://schemas.microsoft.com/office/powerpoint/2010/main" val="3766721386"/>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ONLY FOR INTERNAL USE</a:t>
            </a:r>
          </a:p>
        </p:txBody>
      </p:sp>
    </p:spTree>
    <p:extLst>
      <p:ext uri="{BB962C8B-B14F-4D97-AF65-F5344CB8AC3E}">
        <p14:creationId xmlns:p14="http://schemas.microsoft.com/office/powerpoint/2010/main" val="1202833410"/>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ONLY FOR INTERNAL USE</a:t>
            </a:r>
          </a:p>
        </p:txBody>
      </p:sp>
    </p:spTree>
    <p:extLst>
      <p:ext uri="{BB962C8B-B14F-4D97-AF65-F5344CB8AC3E}">
        <p14:creationId xmlns:p14="http://schemas.microsoft.com/office/powerpoint/2010/main" val="99993186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ONLY FOR INTERNAL USE</a:t>
            </a:r>
          </a:p>
        </p:txBody>
      </p:sp>
    </p:spTree>
    <p:extLst>
      <p:ext uri="{BB962C8B-B14F-4D97-AF65-F5344CB8AC3E}">
        <p14:creationId xmlns:p14="http://schemas.microsoft.com/office/powerpoint/2010/main" val="95807216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369328569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9542202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ONLY FOR INTERNAL USE</a:t>
            </a:r>
          </a:p>
        </p:txBody>
      </p:sp>
    </p:spTree>
    <p:extLst>
      <p:ext uri="{BB962C8B-B14F-4D97-AF65-F5344CB8AC3E}">
        <p14:creationId xmlns:p14="http://schemas.microsoft.com/office/powerpoint/2010/main" val="239359560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217621604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112967601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335681631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124904900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endParaRPr lang="en-US"/>
          </a:p>
        </p:txBody>
      </p:sp>
    </p:spTree>
    <p:extLst>
      <p:ext uri="{BB962C8B-B14F-4D97-AF65-F5344CB8AC3E}">
        <p14:creationId xmlns:p14="http://schemas.microsoft.com/office/powerpoint/2010/main" val="1232617644"/>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48270651"/>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59353562"/>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2_One content_Strategic">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Strategic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Key Insights </a:t>
            </a:r>
          </a:p>
        </p:txBody>
      </p:sp>
      <p:sp>
        <p:nvSpPr>
          <p:cNvPr id="7" name="Rectangle 6">
            <a:extLst>
              <a:ext uri="{FF2B5EF4-FFF2-40B4-BE49-F238E27FC236}">
                <a16:creationId xmlns:a16="http://schemas.microsoft.com/office/drawing/2014/main" id="{F227A975-D772-8DB6-5899-C6E0E576D78F}"/>
              </a:ext>
            </a:extLst>
          </p:cNvPr>
          <p:cNvSpPr/>
          <p:nvPr userDrawn="1"/>
        </p:nvSpPr>
        <p:spPr bwMode="gray">
          <a:xfrm>
            <a:off x="4590275"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Strategy Localization</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714535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Activation</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9700424"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Ambition</a:t>
            </a:r>
            <a:endParaRPr lang="en-US" sz="1000">
              <a:solidFill>
                <a:schemeClr val="bg2"/>
              </a:solidFill>
            </a:endParaRP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64152749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3_One content_Strategic">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Strategic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2484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Key Insights </a:t>
            </a:r>
          </a:p>
        </p:txBody>
      </p:sp>
      <p:sp>
        <p:nvSpPr>
          <p:cNvPr id="7" name="Rectangle 6">
            <a:extLst>
              <a:ext uri="{FF2B5EF4-FFF2-40B4-BE49-F238E27FC236}">
                <a16:creationId xmlns:a16="http://schemas.microsoft.com/office/drawing/2014/main" id="{F227A975-D772-8DB6-5899-C6E0E576D78F}"/>
              </a:ext>
            </a:extLst>
          </p:cNvPr>
          <p:cNvSpPr/>
          <p:nvPr userDrawn="1"/>
        </p:nvSpPr>
        <p:spPr bwMode="gray">
          <a:xfrm>
            <a:off x="4590275"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Strategy Localization</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714535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Activation</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9700424"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Ambition</a:t>
            </a:r>
            <a:endParaRPr lang="en-US" sz="1000">
              <a:solidFill>
                <a:schemeClr val="bg2"/>
              </a:solidFill>
            </a:endParaRP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618151198"/>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4_One content_Strategic">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Strategic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Key Insights </a:t>
            </a:r>
          </a:p>
        </p:txBody>
      </p:sp>
      <p:sp>
        <p:nvSpPr>
          <p:cNvPr id="7" name="Rectangle 6">
            <a:extLst>
              <a:ext uri="{FF2B5EF4-FFF2-40B4-BE49-F238E27FC236}">
                <a16:creationId xmlns:a16="http://schemas.microsoft.com/office/drawing/2014/main" id="{F227A975-D772-8DB6-5899-C6E0E576D78F}"/>
              </a:ext>
            </a:extLst>
          </p:cNvPr>
          <p:cNvSpPr/>
          <p:nvPr userDrawn="1"/>
        </p:nvSpPr>
        <p:spPr bwMode="gray">
          <a:xfrm>
            <a:off x="4590275" y="0"/>
            <a:ext cx="2484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Strategy Localization</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714535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Activation</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9700424"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Ambition</a:t>
            </a:r>
            <a:endParaRPr lang="en-US" sz="1000">
              <a:solidFill>
                <a:schemeClr val="bg2"/>
              </a:solidFill>
            </a:endParaRP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571193101"/>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5_One content_Strategic">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Strategic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Key Insights </a:t>
            </a:r>
          </a:p>
        </p:txBody>
      </p:sp>
      <p:sp>
        <p:nvSpPr>
          <p:cNvPr id="7" name="Rectangle 6">
            <a:extLst>
              <a:ext uri="{FF2B5EF4-FFF2-40B4-BE49-F238E27FC236}">
                <a16:creationId xmlns:a16="http://schemas.microsoft.com/office/drawing/2014/main" id="{F227A975-D772-8DB6-5899-C6E0E576D78F}"/>
              </a:ext>
            </a:extLst>
          </p:cNvPr>
          <p:cNvSpPr/>
          <p:nvPr userDrawn="1"/>
        </p:nvSpPr>
        <p:spPr bwMode="gray">
          <a:xfrm>
            <a:off x="4590275"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Strategy Localization</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7145350" y="0"/>
            <a:ext cx="2484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Activation</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9700424"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Ambition</a:t>
            </a:r>
            <a:endParaRPr lang="en-US" sz="1000">
              <a:solidFill>
                <a:schemeClr val="bg2"/>
              </a:solidFill>
            </a:endParaRP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330936993"/>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6_One content_Strategic">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Strategic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Key Insights </a:t>
            </a:r>
          </a:p>
        </p:txBody>
      </p:sp>
      <p:sp>
        <p:nvSpPr>
          <p:cNvPr id="7" name="Rectangle 6">
            <a:extLst>
              <a:ext uri="{FF2B5EF4-FFF2-40B4-BE49-F238E27FC236}">
                <a16:creationId xmlns:a16="http://schemas.microsoft.com/office/drawing/2014/main" id="{F227A975-D772-8DB6-5899-C6E0E576D78F}"/>
              </a:ext>
            </a:extLst>
          </p:cNvPr>
          <p:cNvSpPr/>
          <p:nvPr userDrawn="1"/>
        </p:nvSpPr>
        <p:spPr bwMode="gray">
          <a:xfrm>
            <a:off x="4590275"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Strategy Localization</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7145350" y="0"/>
            <a:ext cx="2484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Activation</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9700424" y="0"/>
            <a:ext cx="2484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Ambition</a:t>
            </a:r>
            <a:endParaRPr lang="en-US" sz="1000">
              <a:solidFill>
                <a:schemeClr val="bg2"/>
              </a:solidFill>
            </a:endParaRP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356517378"/>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7_One content_Strategic">
    <p:bg>
      <p:bgPr>
        <a:solidFill>
          <a:srgbClr val="EFEEEB"/>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594041177"/>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3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Patients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1319293727"/>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4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Patients &amp; POs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2294010971"/>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5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a:solidFill>
                  <a:schemeClr val="bg2"/>
                </a:solidFill>
              </a:rPr>
              <a:t>Patients &amp; POs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3822742596"/>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6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a:solidFill>
                  <a:schemeClr val="bg2"/>
                </a:solidFill>
              </a:rPr>
              <a:t>Patients &amp; POs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3520426719"/>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7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a:solidFill>
                  <a:schemeClr val="bg2"/>
                </a:solidFill>
              </a:rPr>
              <a:t>Patients &amp; POs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208714884"/>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8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Patients &amp; POs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3965690319"/>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9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a:solidFill>
                  <a:schemeClr val="bg2"/>
                </a:solidFill>
              </a:rPr>
              <a:t>Patients &amp; POs</a:t>
            </a:r>
            <a:endParaRPr lang="en-US" sz="1000">
              <a:solidFill>
                <a:schemeClr val="bg2"/>
              </a:solidFill>
            </a:endParaRPr>
          </a:p>
        </p:txBody>
      </p:sp>
      <p:sp>
        <p:nvSpPr>
          <p:cNvPr id="9" name="Rectangle 8">
            <a:extLst>
              <a:ext uri="{FF2B5EF4-FFF2-40B4-BE49-F238E27FC236}">
                <a16:creationId xmlns:a16="http://schemas.microsoft.com/office/drawing/2014/main" id="{2565F460-382B-FDB5-6FC1-F1C4CEAA2318}"/>
              </a:ext>
            </a:extLst>
          </p:cNvPr>
          <p:cNvSpPr/>
          <p:nvPr userDrawn="1"/>
        </p:nvSpPr>
        <p:spPr bwMode="gray">
          <a:xfrm>
            <a:off x="373536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Physicians / HCPs</a:t>
            </a:r>
            <a:endParaRPr lang="en-US" sz="1000">
              <a:solidFill>
                <a:schemeClr val="bg2"/>
              </a:solidFill>
            </a:endParaRPr>
          </a:p>
        </p:txBody>
      </p:sp>
      <p:sp>
        <p:nvSpPr>
          <p:cNvPr id="10" name="Rectangle 9">
            <a:extLst>
              <a:ext uri="{FF2B5EF4-FFF2-40B4-BE49-F238E27FC236}">
                <a16:creationId xmlns:a16="http://schemas.microsoft.com/office/drawing/2014/main" id="{0699B399-D703-9E78-BC35-4D5AFC336C64}"/>
              </a:ext>
            </a:extLst>
          </p:cNvPr>
          <p:cNvSpPr/>
          <p:nvPr userDrawn="1"/>
        </p:nvSpPr>
        <p:spPr bwMode="gray">
          <a:xfrm>
            <a:off x="543552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External Experts</a:t>
            </a:r>
            <a:endParaRPr lang="en-US" sz="1000">
              <a:solidFill>
                <a:schemeClr val="bg2"/>
              </a:solidFill>
            </a:endParaRPr>
          </a:p>
        </p:txBody>
      </p:sp>
      <p:sp>
        <p:nvSpPr>
          <p:cNvPr id="11" name="Rectangle 10">
            <a:extLst>
              <a:ext uri="{FF2B5EF4-FFF2-40B4-BE49-F238E27FC236}">
                <a16:creationId xmlns:a16="http://schemas.microsoft.com/office/drawing/2014/main" id="{B4FD292C-74DB-23CD-03AA-46FA4AD5188F}"/>
              </a:ext>
            </a:extLst>
          </p:cNvPr>
          <p:cNvSpPr/>
          <p:nvPr userDrawn="1"/>
        </p:nvSpPr>
        <p:spPr bwMode="gray">
          <a:xfrm>
            <a:off x="10536000" y="0"/>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solidFill>
                  <a:schemeClr val="bg2"/>
                </a:solidFill>
              </a:rPr>
              <a:t>Healthcare Systems</a:t>
            </a: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13" name="Rectangle 12">
            <a:extLst>
              <a:ext uri="{FF2B5EF4-FFF2-40B4-BE49-F238E27FC236}">
                <a16:creationId xmlns:a16="http://schemas.microsoft.com/office/drawing/2014/main" id="{CCEE8FA5-9186-0949-25D7-C9CEFF7C8157}"/>
              </a:ext>
            </a:extLst>
          </p:cNvPr>
          <p:cNvSpPr/>
          <p:nvPr userDrawn="1"/>
        </p:nvSpPr>
        <p:spPr bwMode="gray">
          <a:xfrm>
            <a:off x="7135680" y="-836"/>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Payers &amp; Policy Makers</a:t>
            </a:r>
            <a:endParaRPr lang="en-US" sz="1000">
              <a:solidFill>
                <a:schemeClr val="bg2"/>
              </a:solidFill>
            </a:endParaRPr>
          </a:p>
        </p:txBody>
      </p:sp>
      <p:sp>
        <p:nvSpPr>
          <p:cNvPr id="14" name="Rectangle 13">
            <a:extLst>
              <a:ext uri="{FF2B5EF4-FFF2-40B4-BE49-F238E27FC236}">
                <a16:creationId xmlns:a16="http://schemas.microsoft.com/office/drawing/2014/main" id="{017708B2-8157-6607-F3BB-136B3D80C6F4}"/>
              </a:ext>
            </a:extLst>
          </p:cNvPr>
          <p:cNvSpPr/>
          <p:nvPr userDrawn="1"/>
        </p:nvSpPr>
        <p:spPr bwMode="gray">
          <a:xfrm>
            <a:off x="8835840" y="0"/>
            <a:ext cx="1656000" cy="32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Distribution/POS</a:t>
            </a:r>
            <a:endParaRPr lang="en-US" sz="1000">
              <a:solidFill>
                <a:schemeClr val="bg2"/>
              </a:solidFill>
            </a:endParaRPr>
          </a:p>
        </p:txBody>
      </p:sp>
    </p:spTree>
    <p:extLst>
      <p:ext uri="{BB962C8B-B14F-4D97-AF65-F5344CB8AC3E}">
        <p14:creationId xmlns:p14="http://schemas.microsoft.com/office/powerpoint/2010/main" val="3126933413"/>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10_One content_Tactical">
    <p:bg>
      <p:bgPr>
        <a:solidFill>
          <a:srgbClr val="EFEEE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24FCB-4526-CAFD-2376-38DB469CE264}"/>
              </a:ext>
            </a:extLst>
          </p:cNvPr>
          <p:cNvSpPr/>
          <p:nvPr userDrawn="1"/>
        </p:nvSpPr>
        <p:spPr bwMode="gray">
          <a:xfrm>
            <a:off x="0" y="0"/>
            <a:ext cx="2016000" cy="324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a:solidFill>
                  <a:schemeClr val="bg1"/>
                </a:solidFill>
              </a:rPr>
              <a:t>Tactical </a:t>
            </a:r>
          </a:p>
        </p:txBody>
      </p:sp>
      <p:sp>
        <p:nvSpPr>
          <p:cNvPr id="6" name="Rectangle 5">
            <a:extLst>
              <a:ext uri="{FF2B5EF4-FFF2-40B4-BE49-F238E27FC236}">
                <a16:creationId xmlns:a16="http://schemas.microsoft.com/office/drawing/2014/main" id="{8D83FD2A-F898-394A-660A-4C58EC14991E}"/>
              </a:ext>
            </a:extLst>
          </p:cNvPr>
          <p:cNvSpPr/>
          <p:nvPr userDrawn="1"/>
        </p:nvSpPr>
        <p:spPr bwMode="gray">
          <a:xfrm>
            <a:off x="2035200" y="0"/>
            <a:ext cx="1656000" cy="32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a:solidFill>
                  <a:schemeClr val="bg2"/>
                </a:solidFill>
              </a:rPr>
              <a:t>Activation learnings</a:t>
            </a:r>
            <a:endParaRPr lang="en-US" sz="1000">
              <a:solidFill>
                <a:schemeClr val="bg2"/>
              </a:solidFill>
            </a:endParaRPr>
          </a:p>
        </p:txBody>
      </p:sp>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643488204"/>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753470065"/>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2906859726"/>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2_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195403224"/>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8302A"/>
                </a:solidFill>
                <a:latin typeface="Boehringer Forward Head"/>
                <a:cs typeface="Boehringer Forward Head"/>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Boehringer Forward Text"/>
                <a:cs typeface="Boehringer Forward Tex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869576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9" Type="http://schemas.openxmlformats.org/officeDocument/2006/relationships/slideLayout" Target="../slideLayouts/slideLayout78.xml"/><Relationship Id="rId21" Type="http://schemas.openxmlformats.org/officeDocument/2006/relationships/slideLayout" Target="../slideLayouts/slideLayout60.xml"/><Relationship Id="rId34" Type="http://schemas.openxmlformats.org/officeDocument/2006/relationships/slideLayout" Target="../slideLayouts/slideLayout73.xml"/><Relationship Id="rId42" Type="http://schemas.openxmlformats.org/officeDocument/2006/relationships/theme" Target="../theme/theme2.xml"/><Relationship Id="rId47" Type="http://schemas.openxmlformats.org/officeDocument/2006/relationships/image" Target="../media/image2.svg"/><Relationship Id="rId7" Type="http://schemas.openxmlformats.org/officeDocument/2006/relationships/slideLayout" Target="../slideLayouts/slideLayout4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9" Type="http://schemas.openxmlformats.org/officeDocument/2006/relationships/slideLayout" Target="../slideLayouts/slideLayout68.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37" Type="http://schemas.openxmlformats.org/officeDocument/2006/relationships/slideLayout" Target="../slideLayouts/slideLayout76.xml"/><Relationship Id="rId40" Type="http://schemas.openxmlformats.org/officeDocument/2006/relationships/slideLayout" Target="../slideLayouts/slideLayout79.xml"/><Relationship Id="rId45" Type="http://schemas.openxmlformats.org/officeDocument/2006/relationships/image" Target="../media/image21.emf"/><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slideLayout" Target="../slideLayouts/slideLayout75.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4" Type="http://schemas.openxmlformats.org/officeDocument/2006/relationships/oleObject" Target="../embeddings/oleObject1.bin"/><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slideLayout" Target="../slideLayouts/slideLayout74.xml"/><Relationship Id="rId43" Type="http://schemas.openxmlformats.org/officeDocument/2006/relationships/tags" Target="../tags/tag1.xml"/><Relationship Id="rId8" Type="http://schemas.openxmlformats.org/officeDocument/2006/relationships/slideLayout" Target="../slideLayouts/slideLayout47.xml"/><Relationship Id="rId3" Type="http://schemas.openxmlformats.org/officeDocument/2006/relationships/slideLayout" Target="../slideLayouts/slideLayout42.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38" Type="http://schemas.openxmlformats.org/officeDocument/2006/relationships/slideLayout" Target="../slideLayouts/slideLayout77.xml"/><Relationship Id="rId46" Type="http://schemas.openxmlformats.org/officeDocument/2006/relationships/image" Target="../media/image1.png"/><Relationship Id="rId20" Type="http://schemas.openxmlformats.org/officeDocument/2006/relationships/slideLayout" Target="../slideLayouts/slideLayout59.xml"/><Relationship Id="rId41" Type="http://schemas.openxmlformats.org/officeDocument/2006/relationships/slideLayout" Target="../slideLayouts/slideLayout8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3.xml"/><Relationship Id="rId18" Type="http://schemas.openxmlformats.org/officeDocument/2006/relationships/slideLayout" Target="../slideLayouts/slideLayout98.xml"/><Relationship Id="rId26" Type="http://schemas.openxmlformats.org/officeDocument/2006/relationships/slideLayout" Target="../slideLayouts/slideLayout106.xml"/><Relationship Id="rId39" Type="http://schemas.openxmlformats.org/officeDocument/2006/relationships/tags" Target="../tags/tag5.xml"/><Relationship Id="rId21" Type="http://schemas.openxmlformats.org/officeDocument/2006/relationships/slideLayout" Target="../slideLayouts/slideLayout101.xml"/><Relationship Id="rId34" Type="http://schemas.openxmlformats.org/officeDocument/2006/relationships/slideLayout" Target="../slideLayouts/slideLayout114.xml"/><Relationship Id="rId42" Type="http://schemas.openxmlformats.org/officeDocument/2006/relationships/image" Target="../media/image1.png"/><Relationship Id="rId7" Type="http://schemas.openxmlformats.org/officeDocument/2006/relationships/slideLayout" Target="../slideLayouts/slideLayout87.xml"/><Relationship Id="rId2" Type="http://schemas.openxmlformats.org/officeDocument/2006/relationships/slideLayout" Target="../slideLayouts/slideLayout82.xml"/><Relationship Id="rId16" Type="http://schemas.openxmlformats.org/officeDocument/2006/relationships/slideLayout" Target="../slideLayouts/slideLayout96.xml"/><Relationship Id="rId20" Type="http://schemas.openxmlformats.org/officeDocument/2006/relationships/slideLayout" Target="../slideLayouts/slideLayout100.xml"/><Relationship Id="rId29" Type="http://schemas.openxmlformats.org/officeDocument/2006/relationships/slideLayout" Target="../slideLayouts/slideLayout109.xml"/><Relationship Id="rId41" Type="http://schemas.openxmlformats.org/officeDocument/2006/relationships/image" Target="../media/image21.emf"/><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24" Type="http://schemas.openxmlformats.org/officeDocument/2006/relationships/slideLayout" Target="../slideLayouts/slideLayout104.xml"/><Relationship Id="rId32" Type="http://schemas.openxmlformats.org/officeDocument/2006/relationships/slideLayout" Target="../slideLayouts/slideLayout112.xml"/><Relationship Id="rId37" Type="http://schemas.openxmlformats.org/officeDocument/2006/relationships/slideLayout" Target="../slideLayouts/slideLayout117.xml"/><Relationship Id="rId40" Type="http://schemas.openxmlformats.org/officeDocument/2006/relationships/oleObject" Target="../embeddings/oleObject5.bin"/><Relationship Id="rId5" Type="http://schemas.openxmlformats.org/officeDocument/2006/relationships/slideLayout" Target="../slideLayouts/slideLayout85.xml"/><Relationship Id="rId15" Type="http://schemas.openxmlformats.org/officeDocument/2006/relationships/slideLayout" Target="../slideLayouts/slideLayout95.xml"/><Relationship Id="rId23" Type="http://schemas.openxmlformats.org/officeDocument/2006/relationships/slideLayout" Target="../slideLayouts/slideLayout103.xml"/><Relationship Id="rId28" Type="http://schemas.openxmlformats.org/officeDocument/2006/relationships/slideLayout" Target="../slideLayouts/slideLayout108.xml"/><Relationship Id="rId36" Type="http://schemas.openxmlformats.org/officeDocument/2006/relationships/slideLayout" Target="../slideLayouts/slideLayout116.xml"/><Relationship Id="rId10" Type="http://schemas.openxmlformats.org/officeDocument/2006/relationships/slideLayout" Target="../slideLayouts/slideLayout90.xml"/><Relationship Id="rId19" Type="http://schemas.openxmlformats.org/officeDocument/2006/relationships/slideLayout" Target="../slideLayouts/slideLayout99.xml"/><Relationship Id="rId31" Type="http://schemas.openxmlformats.org/officeDocument/2006/relationships/slideLayout" Target="../slideLayouts/slideLayout111.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 Id="rId22" Type="http://schemas.openxmlformats.org/officeDocument/2006/relationships/slideLayout" Target="../slideLayouts/slideLayout102.xml"/><Relationship Id="rId27" Type="http://schemas.openxmlformats.org/officeDocument/2006/relationships/slideLayout" Target="../slideLayouts/slideLayout107.xml"/><Relationship Id="rId30" Type="http://schemas.openxmlformats.org/officeDocument/2006/relationships/slideLayout" Target="../slideLayouts/slideLayout110.xml"/><Relationship Id="rId35" Type="http://schemas.openxmlformats.org/officeDocument/2006/relationships/slideLayout" Target="../slideLayouts/slideLayout115.xml"/><Relationship Id="rId43" Type="http://schemas.openxmlformats.org/officeDocument/2006/relationships/image" Target="../media/image2.svg"/><Relationship Id="rId8" Type="http://schemas.openxmlformats.org/officeDocument/2006/relationships/slideLayout" Target="../slideLayouts/slideLayout88.xml"/><Relationship Id="rId3" Type="http://schemas.openxmlformats.org/officeDocument/2006/relationships/slideLayout" Target="../slideLayouts/slideLayout83.xml"/><Relationship Id="rId12" Type="http://schemas.openxmlformats.org/officeDocument/2006/relationships/slideLayout" Target="../slideLayouts/slideLayout92.xml"/><Relationship Id="rId17" Type="http://schemas.openxmlformats.org/officeDocument/2006/relationships/slideLayout" Target="../slideLayouts/slideLayout97.xml"/><Relationship Id="rId25" Type="http://schemas.openxmlformats.org/officeDocument/2006/relationships/slideLayout" Target="../slideLayouts/slideLayout105.xml"/><Relationship Id="rId33" Type="http://schemas.openxmlformats.org/officeDocument/2006/relationships/slideLayout" Target="../slideLayouts/slideLayout113.xml"/><Relationship Id="rId38"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143.xml"/><Relationship Id="rId21" Type="http://schemas.openxmlformats.org/officeDocument/2006/relationships/slideLayout" Target="../slideLayouts/slideLayout138.xml"/><Relationship Id="rId42" Type="http://schemas.openxmlformats.org/officeDocument/2006/relationships/slideLayout" Target="../slideLayouts/slideLayout159.xml"/><Relationship Id="rId47" Type="http://schemas.openxmlformats.org/officeDocument/2006/relationships/slideLayout" Target="../slideLayouts/slideLayout164.xml"/><Relationship Id="rId63" Type="http://schemas.openxmlformats.org/officeDocument/2006/relationships/slideLayout" Target="../slideLayouts/slideLayout180.xml"/><Relationship Id="rId68" Type="http://schemas.openxmlformats.org/officeDocument/2006/relationships/slideLayout" Target="../slideLayouts/slideLayout185.xml"/><Relationship Id="rId2" Type="http://schemas.openxmlformats.org/officeDocument/2006/relationships/slideLayout" Target="../slideLayouts/slideLayout119.xml"/><Relationship Id="rId16" Type="http://schemas.openxmlformats.org/officeDocument/2006/relationships/slideLayout" Target="../slideLayouts/slideLayout133.xml"/><Relationship Id="rId29" Type="http://schemas.openxmlformats.org/officeDocument/2006/relationships/slideLayout" Target="../slideLayouts/slideLayout146.xml"/><Relationship Id="rId11" Type="http://schemas.openxmlformats.org/officeDocument/2006/relationships/slideLayout" Target="../slideLayouts/slideLayout128.xml"/><Relationship Id="rId24" Type="http://schemas.openxmlformats.org/officeDocument/2006/relationships/slideLayout" Target="../slideLayouts/slideLayout141.xml"/><Relationship Id="rId32" Type="http://schemas.openxmlformats.org/officeDocument/2006/relationships/slideLayout" Target="../slideLayouts/slideLayout149.xml"/><Relationship Id="rId37" Type="http://schemas.openxmlformats.org/officeDocument/2006/relationships/slideLayout" Target="../slideLayouts/slideLayout154.xml"/><Relationship Id="rId40" Type="http://schemas.openxmlformats.org/officeDocument/2006/relationships/slideLayout" Target="../slideLayouts/slideLayout157.xml"/><Relationship Id="rId45" Type="http://schemas.openxmlformats.org/officeDocument/2006/relationships/slideLayout" Target="../slideLayouts/slideLayout162.xml"/><Relationship Id="rId53" Type="http://schemas.openxmlformats.org/officeDocument/2006/relationships/slideLayout" Target="../slideLayouts/slideLayout170.xml"/><Relationship Id="rId58" Type="http://schemas.openxmlformats.org/officeDocument/2006/relationships/slideLayout" Target="../slideLayouts/slideLayout175.xml"/><Relationship Id="rId66" Type="http://schemas.openxmlformats.org/officeDocument/2006/relationships/slideLayout" Target="../slideLayouts/slideLayout183.xml"/><Relationship Id="rId74" Type="http://schemas.openxmlformats.org/officeDocument/2006/relationships/image" Target="../media/image1.png"/><Relationship Id="rId5" Type="http://schemas.openxmlformats.org/officeDocument/2006/relationships/slideLayout" Target="../slideLayouts/slideLayout122.xml"/><Relationship Id="rId61" Type="http://schemas.openxmlformats.org/officeDocument/2006/relationships/slideLayout" Target="../slideLayouts/slideLayout178.xml"/><Relationship Id="rId19" Type="http://schemas.openxmlformats.org/officeDocument/2006/relationships/slideLayout" Target="../slideLayouts/slideLayout136.xml"/><Relationship Id="rId14" Type="http://schemas.openxmlformats.org/officeDocument/2006/relationships/slideLayout" Target="../slideLayouts/slideLayout131.xml"/><Relationship Id="rId22" Type="http://schemas.openxmlformats.org/officeDocument/2006/relationships/slideLayout" Target="../slideLayouts/slideLayout139.xml"/><Relationship Id="rId27" Type="http://schemas.openxmlformats.org/officeDocument/2006/relationships/slideLayout" Target="../slideLayouts/slideLayout144.xml"/><Relationship Id="rId30" Type="http://schemas.openxmlformats.org/officeDocument/2006/relationships/slideLayout" Target="../slideLayouts/slideLayout147.xml"/><Relationship Id="rId35" Type="http://schemas.openxmlformats.org/officeDocument/2006/relationships/slideLayout" Target="../slideLayouts/slideLayout152.xml"/><Relationship Id="rId43" Type="http://schemas.openxmlformats.org/officeDocument/2006/relationships/slideLayout" Target="../slideLayouts/slideLayout160.xml"/><Relationship Id="rId48" Type="http://schemas.openxmlformats.org/officeDocument/2006/relationships/slideLayout" Target="../slideLayouts/slideLayout165.xml"/><Relationship Id="rId56" Type="http://schemas.openxmlformats.org/officeDocument/2006/relationships/slideLayout" Target="../slideLayouts/slideLayout173.xml"/><Relationship Id="rId64" Type="http://schemas.openxmlformats.org/officeDocument/2006/relationships/slideLayout" Target="../slideLayouts/slideLayout181.xml"/><Relationship Id="rId69" Type="http://schemas.openxmlformats.org/officeDocument/2006/relationships/slideLayout" Target="../slideLayouts/slideLayout186.xml"/><Relationship Id="rId8" Type="http://schemas.openxmlformats.org/officeDocument/2006/relationships/slideLayout" Target="../slideLayouts/slideLayout125.xml"/><Relationship Id="rId51" Type="http://schemas.openxmlformats.org/officeDocument/2006/relationships/slideLayout" Target="../slideLayouts/slideLayout168.xml"/><Relationship Id="rId72" Type="http://schemas.openxmlformats.org/officeDocument/2006/relationships/oleObject" Target="../embeddings/oleObject6.bin"/><Relationship Id="rId3" Type="http://schemas.openxmlformats.org/officeDocument/2006/relationships/slideLayout" Target="../slideLayouts/slideLayout120.xml"/><Relationship Id="rId12" Type="http://schemas.openxmlformats.org/officeDocument/2006/relationships/slideLayout" Target="../slideLayouts/slideLayout129.xml"/><Relationship Id="rId17" Type="http://schemas.openxmlformats.org/officeDocument/2006/relationships/slideLayout" Target="../slideLayouts/slideLayout134.xml"/><Relationship Id="rId25" Type="http://schemas.openxmlformats.org/officeDocument/2006/relationships/slideLayout" Target="../slideLayouts/slideLayout142.xml"/><Relationship Id="rId33" Type="http://schemas.openxmlformats.org/officeDocument/2006/relationships/slideLayout" Target="../slideLayouts/slideLayout150.xml"/><Relationship Id="rId38" Type="http://schemas.openxmlformats.org/officeDocument/2006/relationships/slideLayout" Target="../slideLayouts/slideLayout155.xml"/><Relationship Id="rId46" Type="http://schemas.openxmlformats.org/officeDocument/2006/relationships/slideLayout" Target="../slideLayouts/slideLayout163.xml"/><Relationship Id="rId59" Type="http://schemas.openxmlformats.org/officeDocument/2006/relationships/slideLayout" Target="../slideLayouts/slideLayout176.xml"/><Relationship Id="rId67" Type="http://schemas.openxmlformats.org/officeDocument/2006/relationships/slideLayout" Target="../slideLayouts/slideLayout184.xml"/><Relationship Id="rId20" Type="http://schemas.openxmlformats.org/officeDocument/2006/relationships/slideLayout" Target="../slideLayouts/slideLayout137.xml"/><Relationship Id="rId41" Type="http://schemas.openxmlformats.org/officeDocument/2006/relationships/slideLayout" Target="../slideLayouts/slideLayout158.xml"/><Relationship Id="rId54" Type="http://schemas.openxmlformats.org/officeDocument/2006/relationships/slideLayout" Target="../slideLayouts/slideLayout171.xml"/><Relationship Id="rId62" Type="http://schemas.openxmlformats.org/officeDocument/2006/relationships/slideLayout" Target="../slideLayouts/slideLayout179.xml"/><Relationship Id="rId70" Type="http://schemas.openxmlformats.org/officeDocument/2006/relationships/theme" Target="../theme/theme4.xml"/><Relationship Id="rId75" Type="http://schemas.openxmlformats.org/officeDocument/2006/relationships/image" Target="../media/image2.svg"/><Relationship Id="rId1" Type="http://schemas.openxmlformats.org/officeDocument/2006/relationships/slideLayout" Target="../slideLayouts/slideLayout118.xml"/><Relationship Id="rId6" Type="http://schemas.openxmlformats.org/officeDocument/2006/relationships/slideLayout" Target="../slideLayouts/slideLayout123.xml"/><Relationship Id="rId15" Type="http://schemas.openxmlformats.org/officeDocument/2006/relationships/slideLayout" Target="../slideLayouts/slideLayout132.xml"/><Relationship Id="rId23" Type="http://schemas.openxmlformats.org/officeDocument/2006/relationships/slideLayout" Target="../slideLayouts/slideLayout140.xml"/><Relationship Id="rId28" Type="http://schemas.openxmlformats.org/officeDocument/2006/relationships/slideLayout" Target="../slideLayouts/slideLayout145.xml"/><Relationship Id="rId36" Type="http://schemas.openxmlformats.org/officeDocument/2006/relationships/slideLayout" Target="../slideLayouts/slideLayout153.xml"/><Relationship Id="rId49" Type="http://schemas.openxmlformats.org/officeDocument/2006/relationships/slideLayout" Target="../slideLayouts/slideLayout166.xml"/><Relationship Id="rId57" Type="http://schemas.openxmlformats.org/officeDocument/2006/relationships/slideLayout" Target="../slideLayouts/slideLayout174.xml"/><Relationship Id="rId10" Type="http://schemas.openxmlformats.org/officeDocument/2006/relationships/slideLayout" Target="../slideLayouts/slideLayout127.xml"/><Relationship Id="rId31" Type="http://schemas.openxmlformats.org/officeDocument/2006/relationships/slideLayout" Target="../slideLayouts/slideLayout148.xml"/><Relationship Id="rId44" Type="http://schemas.openxmlformats.org/officeDocument/2006/relationships/slideLayout" Target="../slideLayouts/slideLayout161.xml"/><Relationship Id="rId52" Type="http://schemas.openxmlformats.org/officeDocument/2006/relationships/slideLayout" Target="../slideLayouts/slideLayout169.xml"/><Relationship Id="rId60" Type="http://schemas.openxmlformats.org/officeDocument/2006/relationships/slideLayout" Target="../slideLayouts/slideLayout177.xml"/><Relationship Id="rId65" Type="http://schemas.openxmlformats.org/officeDocument/2006/relationships/slideLayout" Target="../slideLayouts/slideLayout182.xml"/><Relationship Id="rId73" Type="http://schemas.openxmlformats.org/officeDocument/2006/relationships/image" Target="../media/image21.emf"/><Relationship Id="rId4" Type="http://schemas.openxmlformats.org/officeDocument/2006/relationships/slideLayout" Target="../slideLayouts/slideLayout121.xml"/><Relationship Id="rId9" Type="http://schemas.openxmlformats.org/officeDocument/2006/relationships/slideLayout" Target="../slideLayouts/slideLayout126.xml"/><Relationship Id="rId13" Type="http://schemas.openxmlformats.org/officeDocument/2006/relationships/slideLayout" Target="../slideLayouts/slideLayout130.xml"/><Relationship Id="rId18" Type="http://schemas.openxmlformats.org/officeDocument/2006/relationships/slideLayout" Target="../slideLayouts/slideLayout135.xml"/><Relationship Id="rId39" Type="http://schemas.openxmlformats.org/officeDocument/2006/relationships/slideLayout" Target="../slideLayouts/slideLayout156.xml"/><Relationship Id="rId34" Type="http://schemas.openxmlformats.org/officeDocument/2006/relationships/slideLayout" Target="../slideLayouts/slideLayout151.xml"/><Relationship Id="rId50" Type="http://schemas.openxmlformats.org/officeDocument/2006/relationships/slideLayout" Target="../slideLayouts/slideLayout167.xml"/><Relationship Id="rId55" Type="http://schemas.openxmlformats.org/officeDocument/2006/relationships/slideLayout" Target="../slideLayouts/slideLayout172.xml"/><Relationship Id="rId7" Type="http://schemas.openxmlformats.org/officeDocument/2006/relationships/slideLayout" Target="../slideLayouts/slideLayout124.xml"/><Relationship Id="rId71" Type="http://schemas.openxmlformats.org/officeDocument/2006/relationships/tags" Target="../tags/tag6.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99.xml"/><Relationship Id="rId18" Type="http://schemas.openxmlformats.org/officeDocument/2006/relationships/slideLayout" Target="../slideLayouts/slideLayout204.xml"/><Relationship Id="rId26" Type="http://schemas.openxmlformats.org/officeDocument/2006/relationships/slideLayout" Target="../slideLayouts/slideLayout212.xml"/><Relationship Id="rId39" Type="http://schemas.openxmlformats.org/officeDocument/2006/relationships/oleObject" Target="../embeddings/oleObject7.bin"/><Relationship Id="rId21" Type="http://schemas.openxmlformats.org/officeDocument/2006/relationships/slideLayout" Target="../slideLayouts/slideLayout207.xml"/><Relationship Id="rId34" Type="http://schemas.openxmlformats.org/officeDocument/2006/relationships/slideLayout" Target="../slideLayouts/slideLayout220.xml"/><Relationship Id="rId42" Type="http://schemas.openxmlformats.org/officeDocument/2006/relationships/image" Target="../media/image2.svg"/><Relationship Id="rId7" Type="http://schemas.openxmlformats.org/officeDocument/2006/relationships/slideLayout" Target="../slideLayouts/slideLayout193.xml"/><Relationship Id="rId2" Type="http://schemas.openxmlformats.org/officeDocument/2006/relationships/slideLayout" Target="../slideLayouts/slideLayout188.xml"/><Relationship Id="rId16" Type="http://schemas.openxmlformats.org/officeDocument/2006/relationships/slideLayout" Target="../slideLayouts/slideLayout202.xml"/><Relationship Id="rId20" Type="http://schemas.openxmlformats.org/officeDocument/2006/relationships/slideLayout" Target="../slideLayouts/slideLayout206.xml"/><Relationship Id="rId29" Type="http://schemas.openxmlformats.org/officeDocument/2006/relationships/slideLayout" Target="../slideLayouts/slideLayout215.xml"/><Relationship Id="rId41" Type="http://schemas.openxmlformats.org/officeDocument/2006/relationships/image" Target="../media/image1.png"/><Relationship Id="rId1" Type="http://schemas.openxmlformats.org/officeDocument/2006/relationships/slideLayout" Target="../slideLayouts/slideLayout187.xml"/><Relationship Id="rId6" Type="http://schemas.openxmlformats.org/officeDocument/2006/relationships/slideLayout" Target="../slideLayouts/slideLayout192.xml"/><Relationship Id="rId11" Type="http://schemas.openxmlformats.org/officeDocument/2006/relationships/slideLayout" Target="../slideLayouts/slideLayout197.xml"/><Relationship Id="rId24" Type="http://schemas.openxmlformats.org/officeDocument/2006/relationships/slideLayout" Target="../slideLayouts/slideLayout210.xml"/><Relationship Id="rId32" Type="http://schemas.openxmlformats.org/officeDocument/2006/relationships/slideLayout" Target="../slideLayouts/slideLayout218.xml"/><Relationship Id="rId37" Type="http://schemas.openxmlformats.org/officeDocument/2006/relationships/theme" Target="../theme/theme5.xml"/><Relationship Id="rId40" Type="http://schemas.openxmlformats.org/officeDocument/2006/relationships/image" Target="../media/image36.emf"/><Relationship Id="rId5" Type="http://schemas.openxmlformats.org/officeDocument/2006/relationships/slideLayout" Target="../slideLayouts/slideLayout191.xml"/><Relationship Id="rId15" Type="http://schemas.openxmlformats.org/officeDocument/2006/relationships/slideLayout" Target="../slideLayouts/slideLayout201.xml"/><Relationship Id="rId23" Type="http://schemas.openxmlformats.org/officeDocument/2006/relationships/slideLayout" Target="../slideLayouts/slideLayout209.xml"/><Relationship Id="rId28" Type="http://schemas.openxmlformats.org/officeDocument/2006/relationships/slideLayout" Target="../slideLayouts/slideLayout214.xml"/><Relationship Id="rId36" Type="http://schemas.openxmlformats.org/officeDocument/2006/relationships/slideLayout" Target="../slideLayouts/slideLayout222.xml"/><Relationship Id="rId10" Type="http://schemas.openxmlformats.org/officeDocument/2006/relationships/slideLayout" Target="../slideLayouts/slideLayout196.xml"/><Relationship Id="rId19" Type="http://schemas.openxmlformats.org/officeDocument/2006/relationships/slideLayout" Target="../slideLayouts/slideLayout205.xml"/><Relationship Id="rId31" Type="http://schemas.openxmlformats.org/officeDocument/2006/relationships/slideLayout" Target="../slideLayouts/slideLayout217.xml"/><Relationship Id="rId4" Type="http://schemas.openxmlformats.org/officeDocument/2006/relationships/slideLayout" Target="../slideLayouts/slideLayout190.xml"/><Relationship Id="rId9" Type="http://schemas.openxmlformats.org/officeDocument/2006/relationships/slideLayout" Target="../slideLayouts/slideLayout195.xml"/><Relationship Id="rId14" Type="http://schemas.openxmlformats.org/officeDocument/2006/relationships/slideLayout" Target="../slideLayouts/slideLayout200.xml"/><Relationship Id="rId22" Type="http://schemas.openxmlformats.org/officeDocument/2006/relationships/slideLayout" Target="../slideLayouts/slideLayout208.xml"/><Relationship Id="rId27" Type="http://schemas.openxmlformats.org/officeDocument/2006/relationships/slideLayout" Target="../slideLayouts/slideLayout213.xml"/><Relationship Id="rId30" Type="http://schemas.openxmlformats.org/officeDocument/2006/relationships/slideLayout" Target="../slideLayouts/slideLayout216.xml"/><Relationship Id="rId35" Type="http://schemas.openxmlformats.org/officeDocument/2006/relationships/slideLayout" Target="../slideLayouts/slideLayout221.xml"/><Relationship Id="rId8" Type="http://schemas.openxmlformats.org/officeDocument/2006/relationships/slideLayout" Target="../slideLayouts/slideLayout194.xml"/><Relationship Id="rId3" Type="http://schemas.openxmlformats.org/officeDocument/2006/relationships/slideLayout" Target="../slideLayouts/slideLayout189.xml"/><Relationship Id="rId12" Type="http://schemas.openxmlformats.org/officeDocument/2006/relationships/slideLayout" Target="../slideLayouts/slideLayout198.xml"/><Relationship Id="rId17" Type="http://schemas.openxmlformats.org/officeDocument/2006/relationships/slideLayout" Target="../slideLayouts/slideLayout203.xml"/><Relationship Id="rId25" Type="http://schemas.openxmlformats.org/officeDocument/2006/relationships/slideLayout" Target="../slideLayouts/slideLayout211.xml"/><Relationship Id="rId33" Type="http://schemas.openxmlformats.org/officeDocument/2006/relationships/slideLayout" Target="../slideLayouts/slideLayout219.xml"/><Relationship Id="rId38" Type="http://schemas.openxmlformats.org/officeDocument/2006/relationships/tags" Target="../tags/tag9.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235.xml"/><Relationship Id="rId18" Type="http://schemas.openxmlformats.org/officeDocument/2006/relationships/slideLayout" Target="../slideLayouts/slideLayout240.xml"/><Relationship Id="rId26" Type="http://schemas.openxmlformats.org/officeDocument/2006/relationships/slideLayout" Target="../slideLayouts/slideLayout248.xml"/><Relationship Id="rId39" Type="http://schemas.openxmlformats.org/officeDocument/2006/relationships/image" Target="../media/image1.png"/><Relationship Id="rId21" Type="http://schemas.openxmlformats.org/officeDocument/2006/relationships/slideLayout" Target="../slideLayouts/slideLayout243.xml"/><Relationship Id="rId34" Type="http://schemas.openxmlformats.org/officeDocument/2006/relationships/slideLayout" Target="../slideLayouts/slideLayout256.xml"/><Relationship Id="rId7" Type="http://schemas.openxmlformats.org/officeDocument/2006/relationships/slideLayout" Target="../slideLayouts/slideLayout229.xml"/><Relationship Id="rId12" Type="http://schemas.openxmlformats.org/officeDocument/2006/relationships/slideLayout" Target="../slideLayouts/slideLayout234.xml"/><Relationship Id="rId17" Type="http://schemas.openxmlformats.org/officeDocument/2006/relationships/slideLayout" Target="../slideLayouts/slideLayout239.xml"/><Relationship Id="rId25" Type="http://schemas.openxmlformats.org/officeDocument/2006/relationships/slideLayout" Target="../slideLayouts/slideLayout247.xml"/><Relationship Id="rId33" Type="http://schemas.openxmlformats.org/officeDocument/2006/relationships/slideLayout" Target="../slideLayouts/slideLayout255.xml"/><Relationship Id="rId38" Type="http://schemas.openxmlformats.org/officeDocument/2006/relationships/image" Target="../media/image36.emf"/><Relationship Id="rId2" Type="http://schemas.openxmlformats.org/officeDocument/2006/relationships/slideLayout" Target="../slideLayouts/slideLayout224.xml"/><Relationship Id="rId16" Type="http://schemas.openxmlformats.org/officeDocument/2006/relationships/slideLayout" Target="../slideLayouts/slideLayout238.xml"/><Relationship Id="rId20" Type="http://schemas.openxmlformats.org/officeDocument/2006/relationships/slideLayout" Target="../slideLayouts/slideLayout242.xml"/><Relationship Id="rId29" Type="http://schemas.openxmlformats.org/officeDocument/2006/relationships/slideLayout" Target="../slideLayouts/slideLayout251.xml"/><Relationship Id="rId1" Type="http://schemas.openxmlformats.org/officeDocument/2006/relationships/slideLayout" Target="../slideLayouts/slideLayout223.xml"/><Relationship Id="rId6" Type="http://schemas.openxmlformats.org/officeDocument/2006/relationships/slideLayout" Target="../slideLayouts/slideLayout228.xml"/><Relationship Id="rId11" Type="http://schemas.openxmlformats.org/officeDocument/2006/relationships/slideLayout" Target="../slideLayouts/slideLayout233.xml"/><Relationship Id="rId24" Type="http://schemas.openxmlformats.org/officeDocument/2006/relationships/slideLayout" Target="../slideLayouts/slideLayout246.xml"/><Relationship Id="rId32" Type="http://schemas.openxmlformats.org/officeDocument/2006/relationships/slideLayout" Target="../slideLayouts/slideLayout254.xml"/><Relationship Id="rId37" Type="http://schemas.openxmlformats.org/officeDocument/2006/relationships/oleObject" Target="../embeddings/oleObject8.bin"/><Relationship Id="rId40" Type="http://schemas.openxmlformats.org/officeDocument/2006/relationships/image" Target="../media/image2.svg"/><Relationship Id="rId5" Type="http://schemas.openxmlformats.org/officeDocument/2006/relationships/slideLayout" Target="../slideLayouts/slideLayout227.xml"/><Relationship Id="rId15" Type="http://schemas.openxmlformats.org/officeDocument/2006/relationships/slideLayout" Target="../slideLayouts/slideLayout237.xml"/><Relationship Id="rId23" Type="http://schemas.openxmlformats.org/officeDocument/2006/relationships/slideLayout" Target="../slideLayouts/slideLayout245.xml"/><Relationship Id="rId28" Type="http://schemas.openxmlformats.org/officeDocument/2006/relationships/slideLayout" Target="../slideLayouts/slideLayout250.xml"/><Relationship Id="rId36" Type="http://schemas.openxmlformats.org/officeDocument/2006/relationships/tags" Target="../tags/tag10.xml"/><Relationship Id="rId10" Type="http://schemas.openxmlformats.org/officeDocument/2006/relationships/slideLayout" Target="../slideLayouts/slideLayout232.xml"/><Relationship Id="rId19" Type="http://schemas.openxmlformats.org/officeDocument/2006/relationships/slideLayout" Target="../slideLayouts/slideLayout241.xml"/><Relationship Id="rId31" Type="http://schemas.openxmlformats.org/officeDocument/2006/relationships/slideLayout" Target="../slideLayouts/slideLayout253.xml"/><Relationship Id="rId4" Type="http://schemas.openxmlformats.org/officeDocument/2006/relationships/slideLayout" Target="../slideLayouts/slideLayout226.xml"/><Relationship Id="rId9" Type="http://schemas.openxmlformats.org/officeDocument/2006/relationships/slideLayout" Target="../slideLayouts/slideLayout231.xml"/><Relationship Id="rId14" Type="http://schemas.openxmlformats.org/officeDocument/2006/relationships/slideLayout" Target="../slideLayouts/slideLayout236.xml"/><Relationship Id="rId22" Type="http://schemas.openxmlformats.org/officeDocument/2006/relationships/slideLayout" Target="../slideLayouts/slideLayout244.xml"/><Relationship Id="rId27" Type="http://schemas.openxmlformats.org/officeDocument/2006/relationships/slideLayout" Target="../slideLayouts/slideLayout249.xml"/><Relationship Id="rId30" Type="http://schemas.openxmlformats.org/officeDocument/2006/relationships/slideLayout" Target="../slideLayouts/slideLayout252.xml"/><Relationship Id="rId35" Type="http://schemas.openxmlformats.org/officeDocument/2006/relationships/theme" Target="../theme/theme6.xml"/><Relationship Id="rId8" Type="http://schemas.openxmlformats.org/officeDocument/2006/relationships/slideLayout" Target="../slideLayouts/slideLayout230.xml"/><Relationship Id="rId3" Type="http://schemas.openxmlformats.org/officeDocument/2006/relationships/slideLayout" Target="../slideLayouts/slideLayout225.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269.xml"/><Relationship Id="rId18" Type="http://schemas.openxmlformats.org/officeDocument/2006/relationships/slideLayout" Target="../slideLayouts/slideLayout274.xml"/><Relationship Id="rId26" Type="http://schemas.openxmlformats.org/officeDocument/2006/relationships/slideLayout" Target="../slideLayouts/slideLayout282.xml"/><Relationship Id="rId39" Type="http://schemas.openxmlformats.org/officeDocument/2006/relationships/slideLayout" Target="../slideLayouts/slideLayout295.xml"/><Relationship Id="rId21" Type="http://schemas.openxmlformats.org/officeDocument/2006/relationships/slideLayout" Target="../slideLayouts/slideLayout277.xml"/><Relationship Id="rId34" Type="http://schemas.openxmlformats.org/officeDocument/2006/relationships/slideLayout" Target="../slideLayouts/slideLayout290.xml"/><Relationship Id="rId42" Type="http://schemas.openxmlformats.org/officeDocument/2006/relationships/slideLayout" Target="../slideLayouts/slideLayout298.xml"/><Relationship Id="rId47" Type="http://schemas.openxmlformats.org/officeDocument/2006/relationships/slideLayout" Target="../slideLayouts/slideLayout303.xml"/><Relationship Id="rId50" Type="http://schemas.openxmlformats.org/officeDocument/2006/relationships/theme" Target="../theme/theme7.xml"/><Relationship Id="rId55" Type="http://schemas.openxmlformats.org/officeDocument/2006/relationships/image" Target="../media/image2.svg"/><Relationship Id="rId7" Type="http://schemas.openxmlformats.org/officeDocument/2006/relationships/slideLayout" Target="../slideLayouts/slideLayout263.xml"/><Relationship Id="rId2" Type="http://schemas.openxmlformats.org/officeDocument/2006/relationships/slideLayout" Target="../slideLayouts/slideLayout258.xml"/><Relationship Id="rId16" Type="http://schemas.openxmlformats.org/officeDocument/2006/relationships/slideLayout" Target="../slideLayouts/slideLayout272.xml"/><Relationship Id="rId29" Type="http://schemas.openxmlformats.org/officeDocument/2006/relationships/slideLayout" Target="../slideLayouts/slideLayout285.xml"/><Relationship Id="rId11" Type="http://schemas.openxmlformats.org/officeDocument/2006/relationships/slideLayout" Target="../slideLayouts/slideLayout267.xml"/><Relationship Id="rId24" Type="http://schemas.openxmlformats.org/officeDocument/2006/relationships/slideLayout" Target="../slideLayouts/slideLayout280.xml"/><Relationship Id="rId32" Type="http://schemas.openxmlformats.org/officeDocument/2006/relationships/slideLayout" Target="../slideLayouts/slideLayout288.xml"/><Relationship Id="rId37" Type="http://schemas.openxmlformats.org/officeDocument/2006/relationships/slideLayout" Target="../slideLayouts/slideLayout293.xml"/><Relationship Id="rId40" Type="http://schemas.openxmlformats.org/officeDocument/2006/relationships/slideLayout" Target="../slideLayouts/slideLayout296.xml"/><Relationship Id="rId45" Type="http://schemas.openxmlformats.org/officeDocument/2006/relationships/slideLayout" Target="../slideLayouts/slideLayout301.xml"/><Relationship Id="rId53" Type="http://schemas.openxmlformats.org/officeDocument/2006/relationships/image" Target="../media/image37.emf"/><Relationship Id="rId5" Type="http://schemas.openxmlformats.org/officeDocument/2006/relationships/slideLayout" Target="../slideLayouts/slideLayout261.xml"/><Relationship Id="rId10" Type="http://schemas.openxmlformats.org/officeDocument/2006/relationships/slideLayout" Target="../slideLayouts/slideLayout266.xml"/><Relationship Id="rId19" Type="http://schemas.openxmlformats.org/officeDocument/2006/relationships/slideLayout" Target="../slideLayouts/slideLayout275.xml"/><Relationship Id="rId31" Type="http://schemas.openxmlformats.org/officeDocument/2006/relationships/slideLayout" Target="../slideLayouts/slideLayout287.xml"/><Relationship Id="rId44" Type="http://schemas.openxmlformats.org/officeDocument/2006/relationships/slideLayout" Target="../slideLayouts/slideLayout300.xml"/><Relationship Id="rId52" Type="http://schemas.openxmlformats.org/officeDocument/2006/relationships/oleObject" Target="../embeddings/oleObject9.bin"/><Relationship Id="rId4" Type="http://schemas.openxmlformats.org/officeDocument/2006/relationships/slideLayout" Target="../slideLayouts/slideLayout260.xml"/><Relationship Id="rId9" Type="http://schemas.openxmlformats.org/officeDocument/2006/relationships/slideLayout" Target="../slideLayouts/slideLayout265.xml"/><Relationship Id="rId14" Type="http://schemas.openxmlformats.org/officeDocument/2006/relationships/slideLayout" Target="../slideLayouts/slideLayout270.xml"/><Relationship Id="rId22" Type="http://schemas.openxmlformats.org/officeDocument/2006/relationships/slideLayout" Target="../slideLayouts/slideLayout278.xml"/><Relationship Id="rId27" Type="http://schemas.openxmlformats.org/officeDocument/2006/relationships/slideLayout" Target="../slideLayouts/slideLayout283.xml"/><Relationship Id="rId30" Type="http://schemas.openxmlformats.org/officeDocument/2006/relationships/slideLayout" Target="../slideLayouts/slideLayout286.xml"/><Relationship Id="rId35" Type="http://schemas.openxmlformats.org/officeDocument/2006/relationships/slideLayout" Target="../slideLayouts/slideLayout291.xml"/><Relationship Id="rId43" Type="http://schemas.openxmlformats.org/officeDocument/2006/relationships/slideLayout" Target="../slideLayouts/slideLayout299.xml"/><Relationship Id="rId48" Type="http://schemas.openxmlformats.org/officeDocument/2006/relationships/slideLayout" Target="../slideLayouts/slideLayout304.xml"/><Relationship Id="rId8" Type="http://schemas.openxmlformats.org/officeDocument/2006/relationships/slideLayout" Target="../slideLayouts/slideLayout264.xml"/><Relationship Id="rId51" Type="http://schemas.openxmlformats.org/officeDocument/2006/relationships/tags" Target="../tags/tag11.xml"/><Relationship Id="rId3" Type="http://schemas.openxmlformats.org/officeDocument/2006/relationships/slideLayout" Target="../slideLayouts/slideLayout259.xml"/><Relationship Id="rId12" Type="http://schemas.openxmlformats.org/officeDocument/2006/relationships/slideLayout" Target="../slideLayouts/slideLayout268.xml"/><Relationship Id="rId17" Type="http://schemas.openxmlformats.org/officeDocument/2006/relationships/slideLayout" Target="../slideLayouts/slideLayout273.xml"/><Relationship Id="rId25" Type="http://schemas.openxmlformats.org/officeDocument/2006/relationships/slideLayout" Target="../slideLayouts/slideLayout281.xml"/><Relationship Id="rId33" Type="http://schemas.openxmlformats.org/officeDocument/2006/relationships/slideLayout" Target="../slideLayouts/slideLayout289.xml"/><Relationship Id="rId38" Type="http://schemas.openxmlformats.org/officeDocument/2006/relationships/slideLayout" Target="../slideLayouts/slideLayout294.xml"/><Relationship Id="rId46" Type="http://schemas.openxmlformats.org/officeDocument/2006/relationships/slideLayout" Target="../slideLayouts/slideLayout302.xml"/><Relationship Id="rId20" Type="http://schemas.openxmlformats.org/officeDocument/2006/relationships/slideLayout" Target="../slideLayouts/slideLayout276.xml"/><Relationship Id="rId41" Type="http://schemas.openxmlformats.org/officeDocument/2006/relationships/slideLayout" Target="../slideLayouts/slideLayout297.xml"/><Relationship Id="rId54" Type="http://schemas.openxmlformats.org/officeDocument/2006/relationships/image" Target="../media/image1.png"/><Relationship Id="rId1" Type="http://schemas.openxmlformats.org/officeDocument/2006/relationships/slideLayout" Target="../slideLayouts/slideLayout257.xml"/><Relationship Id="rId6" Type="http://schemas.openxmlformats.org/officeDocument/2006/relationships/slideLayout" Target="../slideLayouts/slideLayout262.xml"/><Relationship Id="rId15" Type="http://schemas.openxmlformats.org/officeDocument/2006/relationships/slideLayout" Target="../slideLayouts/slideLayout271.xml"/><Relationship Id="rId23" Type="http://schemas.openxmlformats.org/officeDocument/2006/relationships/slideLayout" Target="../slideLayouts/slideLayout279.xml"/><Relationship Id="rId28" Type="http://schemas.openxmlformats.org/officeDocument/2006/relationships/slideLayout" Target="../slideLayouts/slideLayout284.xml"/><Relationship Id="rId36" Type="http://schemas.openxmlformats.org/officeDocument/2006/relationships/slideLayout" Target="../slideLayouts/slideLayout292.xml"/><Relationship Id="rId49" Type="http://schemas.openxmlformats.org/officeDocument/2006/relationships/slideLayout" Target="../slideLayouts/slideLayout30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12581710"/>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66" r:id="rId35"/>
    <p:sldLayoutId id="2147483768" r:id="rId36"/>
    <p:sldLayoutId id="2147483772" r:id="rId37"/>
    <p:sldLayoutId id="2147483773" r:id="rId38"/>
    <p:sldLayoutId id="2147483774" r:id="rId39"/>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4FAFC97-EA6D-8630-B5A0-6F5C51BE45E0}"/>
              </a:ext>
            </a:extLst>
          </p:cNvPr>
          <p:cNvGraphicFramePr>
            <a:graphicFrameLocks noChangeAspect="1"/>
          </p:cNvGraphicFramePr>
          <p:nvPr userDrawn="1">
            <p:custDataLst>
              <p:tags r:id="rId43"/>
            </p:custDataLst>
            <p:extLst>
              <p:ext uri="{D42A27DB-BD31-4B8C-83A1-F6EECF244321}">
                <p14:modId xmlns:p14="http://schemas.microsoft.com/office/powerpoint/2010/main" val="3878317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4" imgW="404" imgH="405" progId="TCLayout.ActiveDocument.1">
                  <p:embed/>
                </p:oleObj>
              </mc:Choice>
              <mc:Fallback>
                <p:oleObj name="think-cell 幻灯片" r:id="rId44" imgW="404" imgH="405" progId="TCLayout.ActiveDocument.1">
                  <p:embed/>
                  <p:pic>
                    <p:nvPicPr>
                      <p:cNvPr id="7" name="think-cell data - do not delete" hidden="1">
                        <a:extLst>
                          <a:ext uri="{FF2B5EF4-FFF2-40B4-BE49-F238E27FC236}">
                            <a16:creationId xmlns:a16="http://schemas.microsoft.com/office/drawing/2014/main" id="{14FAFC97-EA6D-8630-B5A0-6F5C51BE45E0}"/>
                          </a:ext>
                        </a:extLst>
                      </p:cNvPr>
                      <p:cNvPicPr/>
                      <p:nvPr/>
                    </p:nvPicPr>
                    <p:blipFill>
                      <a:blip r:embed="rId45"/>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TA CEC Portfolio Update|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996480815"/>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 id="2147483842" r:id="rId15"/>
    <p:sldLayoutId id="2147483843" r:id="rId16"/>
    <p:sldLayoutId id="2147483844" r:id="rId17"/>
    <p:sldLayoutId id="2147483845" r:id="rId18"/>
    <p:sldLayoutId id="2147483846" r:id="rId19"/>
    <p:sldLayoutId id="2147483847" r:id="rId20"/>
    <p:sldLayoutId id="2147483848" r:id="rId21"/>
    <p:sldLayoutId id="2147483849" r:id="rId22"/>
    <p:sldLayoutId id="2147483850" r:id="rId23"/>
    <p:sldLayoutId id="2147483851" r:id="rId24"/>
    <p:sldLayoutId id="2147483852" r:id="rId25"/>
    <p:sldLayoutId id="2147483853" r:id="rId26"/>
    <p:sldLayoutId id="2147483854" r:id="rId27"/>
    <p:sldLayoutId id="2147483855" r:id="rId28"/>
    <p:sldLayoutId id="2147483856" r:id="rId29"/>
    <p:sldLayoutId id="2147483857" r:id="rId30"/>
    <p:sldLayoutId id="2147483858" r:id="rId31"/>
    <p:sldLayoutId id="2147483859" r:id="rId32"/>
    <p:sldLayoutId id="2147483860" r:id="rId33"/>
    <p:sldLayoutId id="2147483861" r:id="rId34"/>
    <p:sldLayoutId id="2147483862" r:id="rId35"/>
    <p:sldLayoutId id="2147483863" r:id="rId36"/>
    <p:sldLayoutId id="2147483864" r:id="rId37"/>
    <p:sldLayoutId id="2147483865" r:id="rId38"/>
    <p:sldLayoutId id="2147483866" r:id="rId39"/>
    <p:sldLayoutId id="2147483867" r:id="rId40"/>
    <p:sldLayoutId id="2147484011" r:id="rId41"/>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3502858-B62C-A7A9-6C1D-6C5D50187FA7}"/>
              </a:ext>
            </a:extLst>
          </p:cNvPr>
          <p:cNvGraphicFramePr>
            <a:graphicFrameLocks noChangeAspect="1"/>
          </p:cNvGraphicFramePr>
          <p:nvPr userDrawn="1">
            <p:custDataLst>
              <p:tags r:id="rId39"/>
            </p:custDataLst>
            <p:extLst>
              <p:ext uri="{D42A27DB-BD31-4B8C-83A1-F6EECF244321}">
                <p14:modId xmlns:p14="http://schemas.microsoft.com/office/powerpoint/2010/main" val="12094055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0" imgW="404" imgH="405" progId="TCLayout.ActiveDocument.1">
                  <p:embed/>
                </p:oleObj>
              </mc:Choice>
              <mc:Fallback>
                <p:oleObj name="think-cell 幻灯片" r:id="rId40" imgW="404" imgH="405" progId="TCLayout.ActiveDocument.1">
                  <p:embed/>
                  <p:pic>
                    <p:nvPicPr>
                      <p:cNvPr id="7" name="think-cell data - do not delete" hidden="1">
                        <a:extLst>
                          <a:ext uri="{FF2B5EF4-FFF2-40B4-BE49-F238E27FC236}">
                            <a16:creationId xmlns:a16="http://schemas.microsoft.com/office/drawing/2014/main" id="{93502858-B62C-A7A9-6C1D-6C5D50187FA7}"/>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TA CEC Portfolio Update|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134795406"/>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 id="2147483881" r:id="rId13"/>
    <p:sldLayoutId id="2147483882" r:id="rId14"/>
    <p:sldLayoutId id="2147483883" r:id="rId15"/>
    <p:sldLayoutId id="2147483884" r:id="rId16"/>
    <p:sldLayoutId id="2147483885" r:id="rId17"/>
    <p:sldLayoutId id="2147483886" r:id="rId18"/>
    <p:sldLayoutId id="2147483887" r:id="rId19"/>
    <p:sldLayoutId id="2147483888" r:id="rId20"/>
    <p:sldLayoutId id="2147483889" r:id="rId21"/>
    <p:sldLayoutId id="2147483890" r:id="rId22"/>
    <p:sldLayoutId id="2147483891" r:id="rId23"/>
    <p:sldLayoutId id="2147483892" r:id="rId24"/>
    <p:sldLayoutId id="2147483893" r:id="rId25"/>
    <p:sldLayoutId id="2147483894" r:id="rId26"/>
    <p:sldLayoutId id="2147483895" r:id="rId27"/>
    <p:sldLayoutId id="2147483896" r:id="rId28"/>
    <p:sldLayoutId id="2147483897" r:id="rId29"/>
    <p:sldLayoutId id="2147483898" r:id="rId30"/>
    <p:sldLayoutId id="2147483899" r:id="rId31"/>
    <p:sldLayoutId id="2147483900" r:id="rId32"/>
    <p:sldLayoutId id="2147483901" r:id="rId33"/>
    <p:sldLayoutId id="2147483902" r:id="rId34"/>
    <p:sldLayoutId id="2147483903" r:id="rId35"/>
    <p:sldLayoutId id="2147483904" r:id="rId36"/>
    <p:sldLayoutId id="2147483905" r:id="rId37"/>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9946BBC-947B-E9FD-10D6-A9E21B0CE53F}"/>
              </a:ext>
            </a:extLst>
          </p:cNvPr>
          <p:cNvGraphicFramePr>
            <a:graphicFrameLocks noChangeAspect="1"/>
          </p:cNvGraphicFramePr>
          <p:nvPr userDrawn="1">
            <p:custDataLst>
              <p:tags r:id="rId71"/>
            </p:custDataLst>
            <p:extLst>
              <p:ext uri="{D42A27DB-BD31-4B8C-83A1-F6EECF244321}">
                <p14:modId xmlns:p14="http://schemas.microsoft.com/office/powerpoint/2010/main" val="1974699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72" imgW="404" imgH="405" progId="TCLayout.ActiveDocument.1">
                  <p:embed/>
                </p:oleObj>
              </mc:Choice>
              <mc:Fallback>
                <p:oleObj name="think-cell 幻灯片" r:id="rId72" imgW="404" imgH="405" progId="TCLayout.ActiveDocument.1">
                  <p:embed/>
                  <p:pic>
                    <p:nvPicPr>
                      <p:cNvPr id="7" name="think-cell data - do not delete" hidden="1">
                        <a:extLst>
                          <a:ext uri="{FF2B5EF4-FFF2-40B4-BE49-F238E27FC236}">
                            <a16:creationId xmlns:a16="http://schemas.microsoft.com/office/drawing/2014/main" id="{69946BBC-947B-E9FD-10D6-A9E21B0CE53F}"/>
                          </a:ext>
                        </a:extLst>
                      </p:cNvPr>
                      <p:cNvPicPr/>
                      <p:nvPr/>
                    </p:nvPicPr>
                    <p:blipFill>
                      <a:blip r:embed="rId73"/>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PG L-36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74">
            <a:extLst>
              <a:ext uri="{96DAC541-7B7A-43D3-8B79-37D633B846F1}">
                <asvg:svgBlip xmlns:asvg="http://schemas.microsoft.com/office/drawing/2016/SVG/main" r:embed="rId75"/>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688107887"/>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 id="2147483923" r:id="rId17"/>
    <p:sldLayoutId id="2147483924" r:id="rId18"/>
    <p:sldLayoutId id="2147483925" r:id="rId19"/>
    <p:sldLayoutId id="2147483926" r:id="rId20"/>
    <p:sldLayoutId id="2147483927" r:id="rId21"/>
    <p:sldLayoutId id="2147483928" r:id="rId22"/>
    <p:sldLayoutId id="2147483929" r:id="rId23"/>
    <p:sldLayoutId id="2147483930" r:id="rId24"/>
    <p:sldLayoutId id="2147483931" r:id="rId25"/>
    <p:sldLayoutId id="2147483932" r:id="rId26"/>
    <p:sldLayoutId id="2147483933" r:id="rId27"/>
    <p:sldLayoutId id="2147483934" r:id="rId28"/>
    <p:sldLayoutId id="2147483935" r:id="rId29"/>
    <p:sldLayoutId id="2147483936" r:id="rId30"/>
    <p:sldLayoutId id="2147483937" r:id="rId31"/>
    <p:sldLayoutId id="2147483938" r:id="rId32"/>
    <p:sldLayoutId id="2147483939" r:id="rId33"/>
    <p:sldLayoutId id="2147483940" r:id="rId34"/>
    <p:sldLayoutId id="2147483941" r:id="rId35"/>
    <p:sldLayoutId id="2147483942" r:id="rId36"/>
    <p:sldLayoutId id="2147483943" r:id="rId37"/>
    <p:sldLayoutId id="2147483944" r:id="rId38"/>
    <p:sldLayoutId id="2147483945" r:id="rId39"/>
    <p:sldLayoutId id="2147483946" r:id="rId40"/>
    <p:sldLayoutId id="2147483947" r:id="rId41"/>
    <p:sldLayoutId id="2147483948" r:id="rId42"/>
    <p:sldLayoutId id="2147483949" r:id="rId43"/>
    <p:sldLayoutId id="2147483950" r:id="rId44"/>
    <p:sldLayoutId id="2147483951" r:id="rId45"/>
    <p:sldLayoutId id="2147483952" r:id="rId46"/>
    <p:sldLayoutId id="2147483953" r:id="rId47"/>
    <p:sldLayoutId id="2147483954" r:id="rId48"/>
    <p:sldLayoutId id="2147483955" r:id="rId49"/>
    <p:sldLayoutId id="2147483956" r:id="rId50"/>
    <p:sldLayoutId id="2147483957" r:id="rId51"/>
    <p:sldLayoutId id="2147483958" r:id="rId52"/>
    <p:sldLayoutId id="2147483959" r:id="rId53"/>
    <p:sldLayoutId id="2147483960" r:id="rId54"/>
    <p:sldLayoutId id="2147483961" r:id="rId55"/>
    <p:sldLayoutId id="2147483962" r:id="rId56"/>
    <p:sldLayoutId id="2147483963" r:id="rId57"/>
    <p:sldLayoutId id="2147483964" r:id="rId58"/>
    <p:sldLayoutId id="2147483965" r:id="rId59"/>
    <p:sldLayoutId id="2147483966" r:id="rId60"/>
    <p:sldLayoutId id="2147483967" r:id="rId61"/>
    <p:sldLayoutId id="2147483968" r:id="rId62"/>
    <p:sldLayoutId id="2147483969" r:id="rId63"/>
    <p:sldLayoutId id="2147483970" r:id="rId64"/>
    <p:sldLayoutId id="2147483971" r:id="rId65"/>
    <p:sldLayoutId id="2147483972" r:id="rId66"/>
    <p:sldLayoutId id="2147483973" r:id="rId67"/>
    <p:sldLayoutId id="2147484010" r:id="rId68"/>
    <p:sldLayoutId id="2147484134" r:id="rId69"/>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C87AA62-7331-3DA0-E6DD-C8A5A6077537}"/>
              </a:ext>
            </a:extLst>
          </p:cNvPr>
          <p:cNvGraphicFramePr>
            <a:graphicFrameLocks noChangeAspect="1"/>
          </p:cNvGraphicFramePr>
          <p:nvPr userDrawn="1">
            <p:custDataLst>
              <p:tags r:id="rId38"/>
            </p:custDataLst>
            <p:extLst>
              <p:ext uri="{D42A27DB-BD31-4B8C-83A1-F6EECF244321}">
                <p14:modId xmlns:p14="http://schemas.microsoft.com/office/powerpoint/2010/main" val="3339388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404" imgH="405" progId="TCLayout.ActiveDocument.1">
                  <p:embed/>
                </p:oleObj>
              </mc:Choice>
              <mc:Fallback>
                <p:oleObj name="think-cell Slide" r:id="rId39" imgW="404" imgH="405" progId="TCLayout.ActiveDocument.1">
                  <p:embed/>
                  <p:pic>
                    <p:nvPicPr>
                      <p:cNvPr id="7" name="think-cell data - do not delete" hidden="1">
                        <a:extLst>
                          <a:ext uri="{FF2B5EF4-FFF2-40B4-BE49-F238E27FC236}">
                            <a16:creationId xmlns:a16="http://schemas.microsoft.com/office/drawing/2014/main" id="{5C87AA62-7331-3DA0-E6DD-C8A5A6077537}"/>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54380218"/>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 id="2147484024" r:id="rId12"/>
    <p:sldLayoutId id="2147484025" r:id="rId13"/>
    <p:sldLayoutId id="2147484026" r:id="rId14"/>
    <p:sldLayoutId id="2147484027" r:id="rId15"/>
    <p:sldLayoutId id="2147484028" r:id="rId16"/>
    <p:sldLayoutId id="2147484029" r:id="rId17"/>
    <p:sldLayoutId id="2147484030" r:id="rId18"/>
    <p:sldLayoutId id="2147484031" r:id="rId19"/>
    <p:sldLayoutId id="2147484032" r:id="rId20"/>
    <p:sldLayoutId id="2147484033" r:id="rId21"/>
    <p:sldLayoutId id="2147484034" r:id="rId22"/>
    <p:sldLayoutId id="2147484035" r:id="rId23"/>
    <p:sldLayoutId id="2147484036" r:id="rId24"/>
    <p:sldLayoutId id="2147484037" r:id="rId25"/>
    <p:sldLayoutId id="2147484038" r:id="rId26"/>
    <p:sldLayoutId id="2147484039" r:id="rId27"/>
    <p:sldLayoutId id="2147484040" r:id="rId28"/>
    <p:sldLayoutId id="2147484041" r:id="rId29"/>
    <p:sldLayoutId id="2147484042" r:id="rId30"/>
    <p:sldLayoutId id="2147484043" r:id="rId31"/>
    <p:sldLayoutId id="2147484044" r:id="rId32"/>
    <p:sldLayoutId id="2147484045" r:id="rId33"/>
    <p:sldLayoutId id="2147484046" r:id="rId34"/>
    <p:sldLayoutId id="2147484047" r:id="rId35"/>
    <p:sldLayoutId id="2147484048" r:id="rId36"/>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830615E-A15D-5C58-F4B0-B1B8922689B0}"/>
              </a:ext>
            </a:extLst>
          </p:cNvPr>
          <p:cNvGraphicFramePr>
            <a:graphicFrameLocks noChangeAspect="1"/>
          </p:cNvGraphicFramePr>
          <p:nvPr userDrawn="1">
            <p:custDataLst>
              <p:tags r:id="rId36"/>
            </p:custDataLst>
            <p:extLst>
              <p:ext uri="{D42A27DB-BD31-4B8C-83A1-F6EECF244321}">
                <p14:modId xmlns:p14="http://schemas.microsoft.com/office/powerpoint/2010/main" val="852641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404" imgH="405" progId="TCLayout.ActiveDocument.1">
                  <p:embed/>
                </p:oleObj>
              </mc:Choice>
              <mc:Fallback>
                <p:oleObj name="think-cell Slide" r:id="rId37" imgW="404" imgH="405" progId="TCLayout.ActiveDocument.1">
                  <p:embed/>
                  <p:pic>
                    <p:nvPicPr>
                      <p:cNvPr id="7" name="think-cell data - do not delete" hidden="1">
                        <a:extLst>
                          <a:ext uri="{FF2B5EF4-FFF2-40B4-BE49-F238E27FC236}">
                            <a16:creationId xmlns:a16="http://schemas.microsoft.com/office/drawing/2014/main" id="{0830615E-A15D-5C58-F4B0-B1B8922689B0}"/>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9">
            <a:extLst>
              <a:ext uri="{96DAC541-7B7A-43D3-8B79-37D633B846F1}">
                <asvg:svgBlip xmlns:asvg="http://schemas.microsoft.com/office/drawing/2016/SVG/main" r:embed="rId40"/>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280330596"/>
      </p:ext>
    </p:extLst>
  </p:cSld>
  <p:clrMap bg1="lt1" tx1="dk1" bg2="lt2" tx2="dk2" accent1="accent1" accent2="accent2" accent3="accent3" accent4="accent4" accent5="accent5" accent6="accent6" hlink="hlink" folHlink="folHlink"/>
  <p:sldLayoutIdLst>
    <p:sldLayoutId id="2147484050" r:id="rId1"/>
    <p:sldLayoutId id="2147484051" r:id="rId2"/>
    <p:sldLayoutId id="2147484052" r:id="rId3"/>
    <p:sldLayoutId id="2147484053" r:id="rId4"/>
    <p:sldLayoutId id="2147484054" r:id="rId5"/>
    <p:sldLayoutId id="2147484055" r:id="rId6"/>
    <p:sldLayoutId id="2147484056" r:id="rId7"/>
    <p:sldLayoutId id="2147484057" r:id="rId8"/>
    <p:sldLayoutId id="2147484058" r:id="rId9"/>
    <p:sldLayoutId id="2147484059" r:id="rId10"/>
    <p:sldLayoutId id="2147484060" r:id="rId11"/>
    <p:sldLayoutId id="2147484061" r:id="rId12"/>
    <p:sldLayoutId id="2147484062" r:id="rId13"/>
    <p:sldLayoutId id="2147484063" r:id="rId14"/>
    <p:sldLayoutId id="2147484064" r:id="rId15"/>
    <p:sldLayoutId id="2147484065" r:id="rId16"/>
    <p:sldLayoutId id="2147484066" r:id="rId17"/>
    <p:sldLayoutId id="2147484067" r:id="rId18"/>
    <p:sldLayoutId id="2147484068" r:id="rId19"/>
    <p:sldLayoutId id="2147484069" r:id="rId20"/>
    <p:sldLayoutId id="2147484070" r:id="rId21"/>
    <p:sldLayoutId id="2147484071" r:id="rId22"/>
    <p:sldLayoutId id="2147484072" r:id="rId23"/>
    <p:sldLayoutId id="2147484073" r:id="rId24"/>
    <p:sldLayoutId id="2147484074" r:id="rId25"/>
    <p:sldLayoutId id="2147484075" r:id="rId26"/>
    <p:sldLayoutId id="2147484076" r:id="rId27"/>
    <p:sldLayoutId id="2147484077" r:id="rId28"/>
    <p:sldLayoutId id="2147484078" r:id="rId29"/>
    <p:sldLayoutId id="2147484079" r:id="rId30"/>
    <p:sldLayoutId id="2147484080" r:id="rId31"/>
    <p:sldLayoutId id="2147484081" r:id="rId32"/>
    <p:sldLayoutId id="2147484082" r:id="rId33"/>
    <p:sldLayoutId id="2147484083" r:id="rId34"/>
  </p:sldLayoutIdLst>
  <p:hf hdr="0" ft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275ECBFB-366F-AB59-A64B-19C76DAA8EEF}"/>
              </a:ext>
            </a:extLst>
          </p:cNvPr>
          <p:cNvGraphicFramePr>
            <a:graphicFrameLocks noChangeAspect="1"/>
          </p:cNvGraphicFramePr>
          <p:nvPr userDrawn="1">
            <p:custDataLst>
              <p:tags r:id="rId5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2" imgW="416" imgH="416" progId="TCLayout.ActiveDocument.1">
                  <p:embed/>
                </p:oleObj>
              </mc:Choice>
              <mc:Fallback>
                <p:oleObj name="think-cell Slide" r:id="rId52" imgW="416" imgH="416" progId="TCLayout.ActiveDocument.1">
                  <p:embed/>
                  <p:pic>
                    <p:nvPicPr>
                      <p:cNvPr id="9" name="think-cell data - do not delete" hidden="1">
                        <a:extLst>
                          <a:ext uri="{FF2B5EF4-FFF2-40B4-BE49-F238E27FC236}">
                            <a16:creationId xmlns:a16="http://schemas.microsoft.com/office/drawing/2014/main" id="{275ECBFB-366F-AB59-A64B-19C76DAA8EEF}"/>
                          </a:ext>
                        </a:extLst>
                      </p:cNvPr>
                      <p:cNvPicPr/>
                      <p:nvPr/>
                    </p:nvPicPr>
                    <p:blipFill>
                      <a:blip r:embed="rId53"/>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54" cstate="print">
            <a:extLst>
              <a:ext uri="{28A0092B-C50C-407E-A947-70E740481C1C}">
                <a14:useLocalDpi xmlns:a14="http://schemas.microsoft.com/office/drawing/2010/main"/>
              </a:ext>
              <a:ext uri="{96DAC541-7B7A-43D3-8B79-37D633B846F1}">
                <asvg:svgBlip xmlns:asvg="http://schemas.microsoft.com/office/drawing/2016/SVG/main" r:embed="rId55"/>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875778191"/>
      </p:ext>
    </p:extLst>
  </p:cSld>
  <p:clrMap bg1="lt1" tx1="dk1" bg2="lt2" tx2="dk2" accent1="accent1" accent2="accent2" accent3="accent3" accent4="accent4" accent5="accent5" accent6="accent6" hlink="hlink" folHlink="folHlink"/>
  <p:sldLayoutIdLst>
    <p:sldLayoutId id="2147484085" r:id="rId1"/>
    <p:sldLayoutId id="2147484086" r:id="rId2"/>
    <p:sldLayoutId id="2147484087" r:id="rId3"/>
    <p:sldLayoutId id="2147484088" r:id="rId4"/>
    <p:sldLayoutId id="2147484089" r:id="rId5"/>
    <p:sldLayoutId id="2147484090" r:id="rId6"/>
    <p:sldLayoutId id="2147484091" r:id="rId7"/>
    <p:sldLayoutId id="2147484092" r:id="rId8"/>
    <p:sldLayoutId id="2147484093" r:id="rId9"/>
    <p:sldLayoutId id="2147484094" r:id="rId10"/>
    <p:sldLayoutId id="2147484095" r:id="rId11"/>
    <p:sldLayoutId id="2147484096" r:id="rId12"/>
    <p:sldLayoutId id="2147484097" r:id="rId13"/>
    <p:sldLayoutId id="2147484098" r:id="rId14"/>
    <p:sldLayoutId id="2147484099" r:id="rId15"/>
    <p:sldLayoutId id="2147484100" r:id="rId16"/>
    <p:sldLayoutId id="2147484101" r:id="rId17"/>
    <p:sldLayoutId id="2147484102" r:id="rId18"/>
    <p:sldLayoutId id="2147484103" r:id="rId19"/>
    <p:sldLayoutId id="2147484104" r:id="rId20"/>
    <p:sldLayoutId id="2147484105" r:id="rId21"/>
    <p:sldLayoutId id="2147484106" r:id="rId22"/>
    <p:sldLayoutId id="2147484107" r:id="rId23"/>
    <p:sldLayoutId id="2147484108" r:id="rId24"/>
    <p:sldLayoutId id="2147484109" r:id="rId25"/>
    <p:sldLayoutId id="2147484110" r:id="rId26"/>
    <p:sldLayoutId id="2147484111" r:id="rId27"/>
    <p:sldLayoutId id="2147484112" r:id="rId28"/>
    <p:sldLayoutId id="2147484113" r:id="rId29"/>
    <p:sldLayoutId id="2147484114" r:id="rId30"/>
    <p:sldLayoutId id="2147484115" r:id="rId31"/>
    <p:sldLayoutId id="2147484116" r:id="rId32"/>
    <p:sldLayoutId id="2147484117" r:id="rId33"/>
    <p:sldLayoutId id="2147484118" r:id="rId34"/>
    <p:sldLayoutId id="2147484119" r:id="rId35"/>
    <p:sldLayoutId id="2147484120" r:id="rId36"/>
    <p:sldLayoutId id="2147484121" r:id="rId37"/>
    <p:sldLayoutId id="2147484122" r:id="rId38"/>
    <p:sldLayoutId id="2147484123" r:id="rId39"/>
    <p:sldLayoutId id="2147484124" r:id="rId40"/>
    <p:sldLayoutId id="2147484125" r:id="rId41"/>
    <p:sldLayoutId id="2147484126" r:id="rId42"/>
    <p:sldLayoutId id="2147484127" r:id="rId43"/>
    <p:sldLayoutId id="2147484128" r:id="rId44"/>
    <p:sldLayoutId id="2147484129" r:id="rId45"/>
    <p:sldLayoutId id="2147484130" r:id="rId46"/>
    <p:sldLayoutId id="2147484131" r:id="rId47"/>
    <p:sldLayoutId id="2147484132" r:id="rId48"/>
    <p:sldLayoutId id="2147484133" r:id="rId49"/>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boehringer.sharepoint.com/:x:/r/sites/z365portfolioexecutivecommittee2/Shared%20Documents/New%20PEC/PEC%20actions%20log.xlsx?d=w51695c890a234c08810d2e563b8a8e55&amp;csf=1&amp;web=1&amp;e=WFmrWg"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1.xml"/><Relationship Id="rId4" Type="http://schemas.openxmlformats.org/officeDocument/2006/relationships/image" Target="../media/image45.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13" Type="http://schemas.openxmlformats.org/officeDocument/2006/relationships/tags" Target="../tags/tag24.xml"/><Relationship Id="rId18" Type="http://schemas.openxmlformats.org/officeDocument/2006/relationships/tags" Target="../tags/tag29.xml"/><Relationship Id="rId26" Type="http://schemas.openxmlformats.org/officeDocument/2006/relationships/tags" Target="../tags/tag37.xml"/><Relationship Id="rId39" Type="http://schemas.openxmlformats.org/officeDocument/2006/relationships/tags" Target="../tags/tag50.xml"/><Relationship Id="rId21" Type="http://schemas.openxmlformats.org/officeDocument/2006/relationships/tags" Target="../tags/tag32.xml"/><Relationship Id="rId34" Type="http://schemas.openxmlformats.org/officeDocument/2006/relationships/tags" Target="../tags/tag45.xml"/><Relationship Id="rId42" Type="http://schemas.openxmlformats.org/officeDocument/2006/relationships/image" Target="../media/image46.png"/><Relationship Id="rId7" Type="http://schemas.openxmlformats.org/officeDocument/2006/relationships/tags" Target="../tags/tag18.xml"/><Relationship Id="rId2" Type="http://schemas.openxmlformats.org/officeDocument/2006/relationships/tags" Target="../tags/tag13.xml"/><Relationship Id="rId16" Type="http://schemas.openxmlformats.org/officeDocument/2006/relationships/tags" Target="../tags/tag27.xml"/><Relationship Id="rId29" Type="http://schemas.openxmlformats.org/officeDocument/2006/relationships/tags" Target="../tags/tag40.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24" Type="http://schemas.openxmlformats.org/officeDocument/2006/relationships/tags" Target="../tags/tag35.xml"/><Relationship Id="rId32" Type="http://schemas.openxmlformats.org/officeDocument/2006/relationships/tags" Target="../tags/tag43.xml"/><Relationship Id="rId37" Type="http://schemas.openxmlformats.org/officeDocument/2006/relationships/tags" Target="../tags/tag48.xml"/><Relationship Id="rId40" Type="http://schemas.openxmlformats.org/officeDocument/2006/relationships/slideLayout" Target="../slideLayouts/slideLayout11.xml"/><Relationship Id="rId45" Type="http://schemas.openxmlformats.org/officeDocument/2006/relationships/image" Target="../media/image49.svg"/><Relationship Id="rId5" Type="http://schemas.openxmlformats.org/officeDocument/2006/relationships/tags" Target="../tags/tag16.xml"/><Relationship Id="rId15" Type="http://schemas.openxmlformats.org/officeDocument/2006/relationships/tags" Target="../tags/tag26.xml"/><Relationship Id="rId23" Type="http://schemas.openxmlformats.org/officeDocument/2006/relationships/tags" Target="../tags/tag34.xml"/><Relationship Id="rId28" Type="http://schemas.openxmlformats.org/officeDocument/2006/relationships/tags" Target="../tags/tag39.xml"/><Relationship Id="rId36" Type="http://schemas.openxmlformats.org/officeDocument/2006/relationships/tags" Target="../tags/tag47.xml"/><Relationship Id="rId10" Type="http://schemas.openxmlformats.org/officeDocument/2006/relationships/tags" Target="../tags/tag21.xml"/><Relationship Id="rId19" Type="http://schemas.openxmlformats.org/officeDocument/2006/relationships/tags" Target="../tags/tag30.xml"/><Relationship Id="rId31" Type="http://schemas.openxmlformats.org/officeDocument/2006/relationships/tags" Target="../tags/tag42.xml"/><Relationship Id="rId44" Type="http://schemas.openxmlformats.org/officeDocument/2006/relationships/image" Target="../media/image48.png"/><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tags" Target="../tags/tag25.xml"/><Relationship Id="rId22" Type="http://schemas.openxmlformats.org/officeDocument/2006/relationships/tags" Target="../tags/tag33.xml"/><Relationship Id="rId27" Type="http://schemas.openxmlformats.org/officeDocument/2006/relationships/tags" Target="../tags/tag38.xml"/><Relationship Id="rId30" Type="http://schemas.openxmlformats.org/officeDocument/2006/relationships/tags" Target="../tags/tag41.xml"/><Relationship Id="rId35" Type="http://schemas.openxmlformats.org/officeDocument/2006/relationships/tags" Target="../tags/tag46.xml"/><Relationship Id="rId43" Type="http://schemas.openxmlformats.org/officeDocument/2006/relationships/image" Target="../media/image47.png"/><Relationship Id="rId8" Type="http://schemas.openxmlformats.org/officeDocument/2006/relationships/tags" Target="../tags/tag19.xml"/><Relationship Id="rId3" Type="http://schemas.openxmlformats.org/officeDocument/2006/relationships/tags" Target="../tags/tag14.xml"/><Relationship Id="rId12" Type="http://schemas.openxmlformats.org/officeDocument/2006/relationships/tags" Target="../tags/tag23.xml"/><Relationship Id="rId17" Type="http://schemas.openxmlformats.org/officeDocument/2006/relationships/tags" Target="../tags/tag28.xml"/><Relationship Id="rId25" Type="http://schemas.openxmlformats.org/officeDocument/2006/relationships/tags" Target="../tags/tag36.xml"/><Relationship Id="rId33" Type="http://schemas.openxmlformats.org/officeDocument/2006/relationships/tags" Target="../tags/tag44.xml"/><Relationship Id="rId38" Type="http://schemas.openxmlformats.org/officeDocument/2006/relationships/tags" Target="../tags/tag49.xml"/><Relationship Id="rId20" Type="http://schemas.openxmlformats.org/officeDocument/2006/relationships/tags" Target="../tags/tag31.xml"/><Relationship Id="rId41"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252.xml"/><Relationship Id="rId1" Type="http://schemas.openxmlformats.org/officeDocument/2006/relationships/tags" Target="../tags/tag51.xml"/><Relationship Id="rId4" Type="http://schemas.openxmlformats.org/officeDocument/2006/relationships/image" Target="../media/image51.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6.xml"/></Relationships>
</file>

<file path=ppt/slides/_rels/slide12.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slideLayout" Target="../slideLayouts/slideLayout69.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2" Type="http://schemas.openxmlformats.org/officeDocument/2006/relationships/tags" Target="../tags/tag53.xml"/><Relationship Id="rId16" Type="http://schemas.openxmlformats.org/officeDocument/2006/relationships/image" Target="../media/image52.png"/><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image" Target="../media/image47.png"/><Relationship Id="rId10" Type="http://schemas.openxmlformats.org/officeDocument/2006/relationships/tags" Target="../tags/tag61.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97.xml"/></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197.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216.xml"/><Relationship Id="rId3" Type="http://schemas.openxmlformats.org/officeDocument/2006/relationships/tags" Target="../tags/tag66.xml"/><Relationship Id="rId7" Type="http://schemas.openxmlformats.org/officeDocument/2006/relationships/tags" Target="../tags/tag70.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52.png"/><Relationship Id="rId5" Type="http://schemas.openxmlformats.org/officeDocument/2006/relationships/tags" Target="../tags/tag68.xml"/><Relationship Id="rId10" Type="http://schemas.openxmlformats.org/officeDocument/2006/relationships/image" Target="../media/image47.png"/><Relationship Id="rId4" Type="http://schemas.openxmlformats.org/officeDocument/2006/relationships/tags" Target="../tags/tag67.xml"/><Relationship Id="rId9"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tags" Target="../tags/tag83.xml"/><Relationship Id="rId18" Type="http://schemas.openxmlformats.org/officeDocument/2006/relationships/notesSlide" Target="../notesSlides/notesSlide6.xml"/><Relationship Id="rId3" Type="http://schemas.openxmlformats.org/officeDocument/2006/relationships/tags" Target="../tags/tag73.xml"/><Relationship Id="rId21" Type="http://schemas.openxmlformats.org/officeDocument/2006/relationships/image" Target="../media/image48.png"/><Relationship Id="rId7" Type="http://schemas.openxmlformats.org/officeDocument/2006/relationships/tags" Target="../tags/tag77.xml"/><Relationship Id="rId12" Type="http://schemas.openxmlformats.org/officeDocument/2006/relationships/tags" Target="../tags/tag82.xml"/><Relationship Id="rId17" Type="http://schemas.openxmlformats.org/officeDocument/2006/relationships/slideLayout" Target="../slideLayouts/slideLayout69.xml"/><Relationship Id="rId2" Type="http://schemas.openxmlformats.org/officeDocument/2006/relationships/tags" Target="../tags/tag72.xml"/><Relationship Id="rId16" Type="http://schemas.openxmlformats.org/officeDocument/2006/relationships/tags" Target="../tags/tag86.xml"/><Relationship Id="rId20" Type="http://schemas.openxmlformats.org/officeDocument/2006/relationships/image" Target="../media/image52.png"/><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tags" Target="../tags/tag81.xml"/><Relationship Id="rId5" Type="http://schemas.openxmlformats.org/officeDocument/2006/relationships/tags" Target="../tags/tag75.xml"/><Relationship Id="rId15" Type="http://schemas.openxmlformats.org/officeDocument/2006/relationships/tags" Target="../tags/tag85.xml"/><Relationship Id="rId10" Type="http://schemas.openxmlformats.org/officeDocument/2006/relationships/tags" Target="../tags/tag80.xml"/><Relationship Id="rId19" Type="http://schemas.openxmlformats.org/officeDocument/2006/relationships/image" Target="../media/image47.png"/><Relationship Id="rId4" Type="http://schemas.openxmlformats.org/officeDocument/2006/relationships/tags" Target="../tags/tag74.xml"/><Relationship Id="rId9" Type="http://schemas.openxmlformats.org/officeDocument/2006/relationships/tags" Target="../tags/tag79.xml"/><Relationship Id="rId14" Type="http://schemas.openxmlformats.org/officeDocument/2006/relationships/tags" Target="../tags/tag84.xml"/><Relationship Id="rId22" Type="http://schemas.openxmlformats.org/officeDocument/2006/relationships/image" Target="../media/image49.svg"/></Relationships>
</file>

<file path=ppt/slides/_rels/slide17.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tags" Target="../tags/tag99.xml"/><Relationship Id="rId18" Type="http://schemas.openxmlformats.org/officeDocument/2006/relationships/tags" Target="../tags/tag104.xml"/><Relationship Id="rId26" Type="http://schemas.openxmlformats.org/officeDocument/2006/relationships/image" Target="../media/image47.png"/><Relationship Id="rId3" Type="http://schemas.openxmlformats.org/officeDocument/2006/relationships/tags" Target="../tags/tag89.xml"/><Relationship Id="rId21" Type="http://schemas.openxmlformats.org/officeDocument/2006/relationships/tags" Target="../tags/tag107.xml"/><Relationship Id="rId7" Type="http://schemas.openxmlformats.org/officeDocument/2006/relationships/tags" Target="../tags/tag93.xml"/><Relationship Id="rId12" Type="http://schemas.openxmlformats.org/officeDocument/2006/relationships/tags" Target="../tags/tag98.xml"/><Relationship Id="rId17" Type="http://schemas.openxmlformats.org/officeDocument/2006/relationships/tags" Target="../tags/tag103.xml"/><Relationship Id="rId25" Type="http://schemas.openxmlformats.org/officeDocument/2006/relationships/image" Target="../media/image46.png"/><Relationship Id="rId2" Type="http://schemas.openxmlformats.org/officeDocument/2006/relationships/tags" Target="../tags/tag88.xml"/><Relationship Id="rId16" Type="http://schemas.openxmlformats.org/officeDocument/2006/relationships/tags" Target="../tags/tag102.xml"/><Relationship Id="rId20" Type="http://schemas.openxmlformats.org/officeDocument/2006/relationships/tags" Target="../tags/tag106.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24" Type="http://schemas.openxmlformats.org/officeDocument/2006/relationships/notesSlide" Target="../notesSlides/notesSlide7.xml"/><Relationship Id="rId5" Type="http://schemas.openxmlformats.org/officeDocument/2006/relationships/tags" Target="../tags/tag91.xml"/><Relationship Id="rId15" Type="http://schemas.openxmlformats.org/officeDocument/2006/relationships/tags" Target="../tags/tag101.xml"/><Relationship Id="rId23" Type="http://schemas.openxmlformats.org/officeDocument/2006/relationships/slideLayout" Target="../slideLayouts/slideLayout50.xml"/><Relationship Id="rId28" Type="http://schemas.openxmlformats.org/officeDocument/2006/relationships/image" Target="../media/image49.svg"/><Relationship Id="rId10" Type="http://schemas.openxmlformats.org/officeDocument/2006/relationships/tags" Target="../tags/tag96.xml"/><Relationship Id="rId19" Type="http://schemas.openxmlformats.org/officeDocument/2006/relationships/tags" Target="../tags/tag105.xml"/><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tags" Target="../tags/tag100.xml"/><Relationship Id="rId22" Type="http://schemas.openxmlformats.org/officeDocument/2006/relationships/tags" Target="../tags/tag108.xml"/><Relationship Id="rId27" Type="http://schemas.openxmlformats.org/officeDocument/2006/relationships/image" Target="../media/image48.png"/></Relationships>
</file>

<file path=ppt/slides/_rels/slide1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tags" Target="../tags/tag111.xml"/><Relationship Id="rId7" Type="http://schemas.openxmlformats.org/officeDocument/2006/relationships/image" Target="../media/image47.png"/><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image" Target="../media/image46.png"/><Relationship Id="rId5" Type="http://schemas.openxmlformats.org/officeDocument/2006/relationships/notesSlide" Target="../notesSlides/notesSlide8.xml"/><Relationship Id="rId4" Type="http://schemas.openxmlformats.org/officeDocument/2006/relationships/slideLayout" Target="../slideLayouts/slideLayout50.xml"/><Relationship Id="rId9" Type="http://schemas.openxmlformats.org/officeDocument/2006/relationships/image" Target="../media/image49.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slideLayout" Target="../slideLayouts/slideLayout50.xml"/><Relationship Id="rId7" Type="http://schemas.openxmlformats.org/officeDocument/2006/relationships/image" Target="../media/image59.svg"/><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60.png"/></Relationships>
</file>

<file path=ppt/slides/_rels/slide21.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6.png"/><Relationship Id="rId7" Type="http://schemas.openxmlformats.org/officeDocument/2006/relationships/image" Target="../media/image52.png"/><Relationship Id="rId2" Type="http://schemas.openxmlformats.org/officeDocument/2006/relationships/slideLayout" Target="../slideLayouts/slideLayout50.xml"/><Relationship Id="rId1" Type="http://schemas.openxmlformats.org/officeDocument/2006/relationships/tags" Target="../tags/tag114.xml"/><Relationship Id="rId6" Type="http://schemas.openxmlformats.org/officeDocument/2006/relationships/image" Target="../media/image59.svg"/><Relationship Id="rId5" Type="http://schemas.openxmlformats.org/officeDocument/2006/relationships/image" Target="../media/image58.png"/><Relationship Id="rId10" Type="http://schemas.openxmlformats.org/officeDocument/2006/relationships/image" Target="../media/image62.svg"/><Relationship Id="rId4" Type="http://schemas.openxmlformats.org/officeDocument/2006/relationships/image" Target="../media/image57.png"/><Relationship Id="rId9" Type="http://schemas.openxmlformats.org/officeDocument/2006/relationships/image" Target="../media/image61.png"/></Relationships>
</file>

<file path=ppt/slides/_rels/slide2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notesSlide" Target="../notesSlides/notesSlide9.xml"/><Relationship Id="rId7" Type="http://schemas.openxmlformats.org/officeDocument/2006/relationships/image" Target="../media/image52.png"/><Relationship Id="rId2" Type="http://schemas.openxmlformats.org/officeDocument/2006/relationships/slideLayout" Target="../slideLayouts/slideLayout50.xml"/><Relationship Id="rId1" Type="http://schemas.openxmlformats.org/officeDocument/2006/relationships/tags" Target="../tags/tag115.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6.png"/><Relationship Id="rId9" Type="http://schemas.openxmlformats.org/officeDocument/2006/relationships/image" Target="../media/image57.png"/></Relationships>
</file>

<file path=ppt/slides/_rels/slide23.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svg"/><Relationship Id="rId18" Type="http://schemas.openxmlformats.org/officeDocument/2006/relationships/image" Target="../media/image79.png"/><Relationship Id="rId3" Type="http://schemas.openxmlformats.org/officeDocument/2006/relationships/image" Target="../media/image64.png"/><Relationship Id="rId7" Type="http://schemas.openxmlformats.org/officeDocument/2006/relationships/image" Target="../media/image68.svg"/><Relationship Id="rId12" Type="http://schemas.openxmlformats.org/officeDocument/2006/relationships/image" Target="../media/image73.png"/><Relationship Id="rId17" Type="http://schemas.openxmlformats.org/officeDocument/2006/relationships/image" Target="../media/image78.svg"/><Relationship Id="rId2" Type="http://schemas.openxmlformats.org/officeDocument/2006/relationships/image" Target="../media/image63.png"/><Relationship Id="rId16" Type="http://schemas.openxmlformats.org/officeDocument/2006/relationships/image" Target="../media/image77.png"/><Relationship Id="rId20" Type="http://schemas.openxmlformats.org/officeDocument/2006/relationships/image" Target="../media/image81.png"/><Relationship Id="rId1" Type="http://schemas.openxmlformats.org/officeDocument/2006/relationships/slideLayout" Target="../slideLayouts/slideLayout50.xml"/><Relationship Id="rId6" Type="http://schemas.openxmlformats.org/officeDocument/2006/relationships/image" Target="../media/image67.png"/><Relationship Id="rId11" Type="http://schemas.openxmlformats.org/officeDocument/2006/relationships/image" Target="../media/image72.svg"/><Relationship Id="rId5" Type="http://schemas.openxmlformats.org/officeDocument/2006/relationships/image" Target="../media/image66.png"/><Relationship Id="rId15" Type="http://schemas.openxmlformats.org/officeDocument/2006/relationships/image" Target="../media/image76.svg"/><Relationship Id="rId10" Type="http://schemas.openxmlformats.org/officeDocument/2006/relationships/image" Target="../media/image71.png"/><Relationship Id="rId19" Type="http://schemas.openxmlformats.org/officeDocument/2006/relationships/image" Target="../media/image80.svg"/><Relationship Id="rId4" Type="http://schemas.openxmlformats.org/officeDocument/2006/relationships/image" Target="../media/image65.png"/><Relationship Id="rId9" Type="http://schemas.openxmlformats.org/officeDocument/2006/relationships/image" Target="../media/image70.svg"/><Relationship Id="rId14" Type="http://schemas.openxmlformats.org/officeDocument/2006/relationships/image" Target="../media/image75.png"/></Relationships>
</file>

<file path=ppt/slides/_rels/slide2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4.xml"/></Relationships>
</file>

<file path=ppt/slides/_rels/slide2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4.xml"/></Relationships>
</file>

<file path=ppt/slides/_rels/slide2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4.xml"/></Relationships>
</file>

<file path=ppt/slides/_rels/slide2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4.xml"/></Relationships>
</file>

<file path=ppt/slides/_rels/slide2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jpeg"/><Relationship Id="rId1" Type="http://schemas.openxmlformats.org/officeDocument/2006/relationships/slideLayout" Target="../slideLayouts/slideLayout57.xml"/><Relationship Id="rId4" Type="http://schemas.openxmlformats.org/officeDocument/2006/relationships/image" Target="../media/image85.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3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6.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tags" Target="../tags/tag128.xml"/><Relationship Id="rId18" Type="http://schemas.openxmlformats.org/officeDocument/2006/relationships/tags" Target="../tags/tag133.xml"/><Relationship Id="rId26" Type="http://schemas.openxmlformats.org/officeDocument/2006/relationships/image" Target="../media/image52.png"/><Relationship Id="rId3" Type="http://schemas.openxmlformats.org/officeDocument/2006/relationships/tags" Target="../tags/tag118.xml"/><Relationship Id="rId21" Type="http://schemas.openxmlformats.org/officeDocument/2006/relationships/tags" Target="../tags/tag136.xml"/><Relationship Id="rId7" Type="http://schemas.openxmlformats.org/officeDocument/2006/relationships/tags" Target="../tags/tag122.xml"/><Relationship Id="rId12" Type="http://schemas.openxmlformats.org/officeDocument/2006/relationships/tags" Target="../tags/tag127.xml"/><Relationship Id="rId17" Type="http://schemas.openxmlformats.org/officeDocument/2006/relationships/tags" Target="../tags/tag132.xml"/><Relationship Id="rId25" Type="http://schemas.openxmlformats.org/officeDocument/2006/relationships/image" Target="../media/image57.png"/><Relationship Id="rId2" Type="http://schemas.openxmlformats.org/officeDocument/2006/relationships/tags" Target="../tags/tag117.xml"/><Relationship Id="rId16" Type="http://schemas.openxmlformats.org/officeDocument/2006/relationships/tags" Target="../tags/tag131.xml"/><Relationship Id="rId20" Type="http://schemas.openxmlformats.org/officeDocument/2006/relationships/tags" Target="../tags/tag135.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24" Type="http://schemas.openxmlformats.org/officeDocument/2006/relationships/notesSlide" Target="../notesSlides/notesSlide13.xml"/><Relationship Id="rId5" Type="http://schemas.openxmlformats.org/officeDocument/2006/relationships/tags" Target="../tags/tag120.xml"/><Relationship Id="rId15" Type="http://schemas.openxmlformats.org/officeDocument/2006/relationships/tags" Target="../tags/tag130.xml"/><Relationship Id="rId23" Type="http://schemas.openxmlformats.org/officeDocument/2006/relationships/slideLayout" Target="../slideLayouts/slideLayout50.xml"/><Relationship Id="rId10" Type="http://schemas.openxmlformats.org/officeDocument/2006/relationships/tags" Target="../tags/tag125.xml"/><Relationship Id="rId19" Type="http://schemas.openxmlformats.org/officeDocument/2006/relationships/tags" Target="../tags/tag134.xml"/><Relationship Id="rId4" Type="http://schemas.openxmlformats.org/officeDocument/2006/relationships/tags" Target="../tags/tag119.xml"/><Relationship Id="rId9" Type="http://schemas.openxmlformats.org/officeDocument/2006/relationships/tags" Target="../tags/tag124.xml"/><Relationship Id="rId14" Type="http://schemas.openxmlformats.org/officeDocument/2006/relationships/tags" Target="../tags/tag129.xml"/><Relationship Id="rId22" Type="http://schemas.openxmlformats.org/officeDocument/2006/relationships/tags" Target="../tags/tag137.xml"/></Relationships>
</file>

<file path=ppt/slides/_rels/slide37.xml.rels><?xml version="1.0" encoding="UTF-8" standalone="yes"?>
<Relationships xmlns="http://schemas.openxmlformats.org/package/2006/relationships"><Relationship Id="rId3" Type="http://schemas.openxmlformats.org/officeDocument/2006/relationships/tags" Target="../tags/tag140.xml"/><Relationship Id="rId7" Type="http://schemas.openxmlformats.org/officeDocument/2006/relationships/image" Target="../media/image52.png"/><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image" Target="../media/image57.png"/><Relationship Id="rId5" Type="http://schemas.openxmlformats.org/officeDocument/2006/relationships/notesSlide" Target="../notesSlides/notesSlide14.xml"/><Relationship Id="rId4" Type="http://schemas.openxmlformats.org/officeDocument/2006/relationships/slideLayout" Target="../slideLayouts/slideLayout69.xml"/></Relationships>
</file>

<file path=ppt/slides/_rels/slide38.xml.rels><?xml version="1.0" encoding="UTF-8" standalone="yes"?>
<Relationships xmlns="http://schemas.openxmlformats.org/package/2006/relationships"><Relationship Id="rId3" Type="http://schemas.openxmlformats.org/officeDocument/2006/relationships/tags" Target="../tags/tag143.xml"/><Relationship Id="rId7" Type="http://schemas.openxmlformats.org/officeDocument/2006/relationships/image" Target="../media/image52.png"/><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image" Target="../media/image57.png"/><Relationship Id="rId5" Type="http://schemas.openxmlformats.org/officeDocument/2006/relationships/notesSlide" Target="../notesSlides/notesSlide15.xml"/><Relationship Id="rId4" Type="http://schemas.openxmlformats.org/officeDocument/2006/relationships/slideLayout" Target="../slideLayouts/slideLayout69.xml"/></Relationships>
</file>

<file path=ppt/slides/_rels/slide3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50.xml"/></Relationships>
</file>

<file path=ppt/slides/_rels/slide4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5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91.xml"/></Relationships>
</file>

<file path=ppt/slides/_rels/slide4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23.xml"/></Relationships>
</file>

<file path=ppt/slides/_rels/slide4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23.xml"/></Relationships>
</file>

<file path=ppt/slides/_rels/slide4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23.xml"/></Relationships>
</file>

<file path=ppt/slides/_rels/slide4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23.xml"/></Relationships>
</file>

<file path=ppt/slides/_rels/slide5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28.xml"/></Relationships>
</file>

<file path=ppt/slides/_rels/slide51.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package" Target="../embeddings/Microsoft_Excel_Worksheet_B139400C.xlsx"/><Relationship Id="rId1" Type="http://schemas.openxmlformats.org/officeDocument/2006/relationships/slideLayout" Target="../slideLayouts/slideLayout128.xml"/></Relationships>
</file>

<file path=ppt/slides/_rels/slide52.xml.rels><?xml version="1.0" encoding="UTF-8" standalone="yes"?>
<Relationships xmlns="http://schemas.openxmlformats.org/package/2006/relationships"><Relationship Id="rId3" Type="http://schemas.openxmlformats.org/officeDocument/2006/relationships/image" Target="../media/image96.svg"/><Relationship Id="rId2" Type="http://schemas.openxmlformats.org/officeDocument/2006/relationships/image" Target="../media/image95.png"/><Relationship Id="rId1" Type="http://schemas.openxmlformats.org/officeDocument/2006/relationships/slideLayout" Target="../slideLayouts/slideLayout1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54.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notesSlide" Target="../notesSlides/notesSlide16.xml"/><Relationship Id="rId7" Type="http://schemas.openxmlformats.org/officeDocument/2006/relationships/image" Target="../media/image98.png"/><Relationship Id="rId2" Type="http://schemas.openxmlformats.org/officeDocument/2006/relationships/slideLayout" Target="../slideLayouts/slideLayout185.xml"/><Relationship Id="rId1" Type="http://schemas.openxmlformats.org/officeDocument/2006/relationships/tags" Target="../tags/tag144.xml"/><Relationship Id="rId6" Type="http://schemas.openxmlformats.org/officeDocument/2006/relationships/image" Target="../media/image97.jpeg"/><Relationship Id="rId5" Type="http://schemas.openxmlformats.org/officeDocument/2006/relationships/image" Target="../media/image23.emf"/><Relationship Id="rId4" Type="http://schemas.openxmlformats.org/officeDocument/2006/relationships/oleObject" Target="../embeddings/oleObject10.bin"/></Relationships>
</file>

<file path=ppt/slides/_rels/slide55.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2.png"/><Relationship Id="rId3" Type="http://schemas.openxmlformats.org/officeDocument/2006/relationships/notesSlide" Target="../notesSlides/notesSlide17.xml"/><Relationship Id="rId7" Type="http://schemas.openxmlformats.org/officeDocument/2006/relationships/image" Target="../media/image98.png"/><Relationship Id="rId12" Type="http://schemas.openxmlformats.org/officeDocument/2006/relationships/hyperlink" Target="https://www.chiesi.com/en/agreement-haisco-pharmaceutical-reversible-dipeptidyl-peptidase-1-inhibitor-bronchiectasis/" TargetMode="External"/><Relationship Id="rId2" Type="http://schemas.openxmlformats.org/officeDocument/2006/relationships/slideLayout" Target="../slideLayouts/slideLayout186.xml"/><Relationship Id="rId1" Type="http://schemas.openxmlformats.org/officeDocument/2006/relationships/tags" Target="../tags/tag145.xml"/><Relationship Id="rId6" Type="http://schemas.openxmlformats.org/officeDocument/2006/relationships/image" Target="../media/image97.jpeg"/><Relationship Id="rId11" Type="http://schemas.openxmlformats.org/officeDocument/2006/relationships/hyperlink" Target="https://www.fosunpharma.com/content/details37_14968.html" TargetMode="External"/><Relationship Id="rId5" Type="http://schemas.openxmlformats.org/officeDocument/2006/relationships/image" Target="../media/image23.emf"/><Relationship Id="rId10" Type="http://schemas.openxmlformats.org/officeDocument/2006/relationships/image" Target="../media/image101.png"/><Relationship Id="rId4" Type="http://schemas.openxmlformats.org/officeDocument/2006/relationships/oleObject" Target="../embeddings/oleObject10.bin"/><Relationship Id="rId9" Type="http://schemas.openxmlformats.org/officeDocument/2006/relationships/image" Target="../media/image100.png"/><Relationship Id="rId14" Type="http://schemas.openxmlformats.org/officeDocument/2006/relationships/image" Target="../media/image103.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105.png"/><Relationship Id="rId2" Type="http://schemas.openxmlformats.org/officeDocument/2006/relationships/slideLayout" Target="../slideLayouts/slideLayout186.xml"/><Relationship Id="rId1" Type="http://schemas.openxmlformats.org/officeDocument/2006/relationships/tags" Target="../tags/tag146.xml"/><Relationship Id="rId6" Type="http://schemas.openxmlformats.org/officeDocument/2006/relationships/image" Target="../media/image104.jpeg"/><Relationship Id="rId5" Type="http://schemas.openxmlformats.org/officeDocument/2006/relationships/image" Target="../media/image23.emf"/><Relationship Id="rId4" Type="http://schemas.openxmlformats.org/officeDocument/2006/relationships/oleObject" Target="../embeddings/oleObject10.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5.xml"/></Relationships>
</file>

<file path=ppt/slides/_rels/slide59.xml.rels><?xml version="1.0" encoding="UTF-8" standalone="yes"?>
<Relationships xmlns="http://schemas.openxmlformats.org/package/2006/relationships"><Relationship Id="rId8" Type="http://schemas.openxmlformats.org/officeDocument/2006/relationships/tags" Target="../tags/tag154.xml"/><Relationship Id="rId13" Type="http://schemas.openxmlformats.org/officeDocument/2006/relationships/tags" Target="../tags/tag159.xml"/><Relationship Id="rId18" Type="http://schemas.openxmlformats.org/officeDocument/2006/relationships/tags" Target="../tags/tag164.xml"/><Relationship Id="rId26" Type="http://schemas.openxmlformats.org/officeDocument/2006/relationships/image" Target="../media/image56.png"/><Relationship Id="rId3" Type="http://schemas.openxmlformats.org/officeDocument/2006/relationships/tags" Target="../tags/tag149.xml"/><Relationship Id="rId21" Type="http://schemas.openxmlformats.org/officeDocument/2006/relationships/notesSlide" Target="../notesSlides/notesSlide19.xml"/><Relationship Id="rId7" Type="http://schemas.openxmlformats.org/officeDocument/2006/relationships/tags" Target="../tags/tag153.xml"/><Relationship Id="rId12" Type="http://schemas.openxmlformats.org/officeDocument/2006/relationships/tags" Target="../tags/tag158.xml"/><Relationship Id="rId17" Type="http://schemas.openxmlformats.org/officeDocument/2006/relationships/tags" Target="../tags/tag163.xml"/><Relationship Id="rId25" Type="http://schemas.openxmlformats.org/officeDocument/2006/relationships/image" Target="../media/image49.svg"/><Relationship Id="rId2" Type="http://schemas.openxmlformats.org/officeDocument/2006/relationships/tags" Target="../tags/tag148.xml"/><Relationship Id="rId16" Type="http://schemas.openxmlformats.org/officeDocument/2006/relationships/tags" Target="../tags/tag162.xml"/><Relationship Id="rId20" Type="http://schemas.openxmlformats.org/officeDocument/2006/relationships/slideLayout" Target="../slideLayouts/slideLayout50.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24" Type="http://schemas.openxmlformats.org/officeDocument/2006/relationships/image" Target="../media/image48.png"/><Relationship Id="rId5" Type="http://schemas.openxmlformats.org/officeDocument/2006/relationships/tags" Target="../tags/tag151.xml"/><Relationship Id="rId15" Type="http://schemas.openxmlformats.org/officeDocument/2006/relationships/tags" Target="../tags/tag161.xml"/><Relationship Id="rId23" Type="http://schemas.openxmlformats.org/officeDocument/2006/relationships/image" Target="../media/image52.png"/><Relationship Id="rId10" Type="http://schemas.openxmlformats.org/officeDocument/2006/relationships/tags" Target="../tags/tag156.xml"/><Relationship Id="rId19" Type="http://schemas.openxmlformats.org/officeDocument/2006/relationships/tags" Target="../tags/tag165.xml"/><Relationship Id="rId4" Type="http://schemas.openxmlformats.org/officeDocument/2006/relationships/tags" Target="../tags/tag150.xml"/><Relationship Id="rId9" Type="http://schemas.openxmlformats.org/officeDocument/2006/relationships/tags" Target="../tags/tag155.xml"/><Relationship Id="rId14" Type="http://schemas.openxmlformats.org/officeDocument/2006/relationships/tags" Target="../tags/tag160.xml"/><Relationship Id="rId22" Type="http://schemas.openxmlformats.org/officeDocument/2006/relationships/image" Target="../media/image57.png"/><Relationship Id="rId27" Type="http://schemas.openxmlformats.org/officeDocument/2006/relationships/image" Target="../media/image106.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0.xml"/></Relationships>
</file>

<file path=ppt/slides/_rels/slide61.xml.rels><?xml version="1.0" encoding="UTF-8" standalone="yes"?>
<Relationships xmlns="http://schemas.openxmlformats.org/package/2006/relationships"><Relationship Id="rId13" Type="http://schemas.openxmlformats.org/officeDocument/2006/relationships/tags" Target="../tags/tag178.xml"/><Relationship Id="rId18" Type="http://schemas.openxmlformats.org/officeDocument/2006/relationships/tags" Target="../tags/tag183.xml"/><Relationship Id="rId26" Type="http://schemas.openxmlformats.org/officeDocument/2006/relationships/tags" Target="../tags/tag191.xml"/><Relationship Id="rId21" Type="http://schemas.openxmlformats.org/officeDocument/2006/relationships/tags" Target="../tags/tag186.xml"/><Relationship Id="rId34" Type="http://schemas.openxmlformats.org/officeDocument/2006/relationships/image" Target="../media/image57.png"/><Relationship Id="rId7" Type="http://schemas.openxmlformats.org/officeDocument/2006/relationships/tags" Target="../tags/tag172.xml"/><Relationship Id="rId12" Type="http://schemas.openxmlformats.org/officeDocument/2006/relationships/tags" Target="../tags/tag177.xml"/><Relationship Id="rId17" Type="http://schemas.openxmlformats.org/officeDocument/2006/relationships/tags" Target="../tags/tag182.xml"/><Relationship Id="rId25" Type="http://schemas.openxmlformats.org/officeDocument/2006/relationships/tags" Target="../tags/tag190.xml"/><Relationship Id="rId33" Type="http://schemas.openxmlformats.org/officeDocument/2006/relationships/image" Target="../media/image21.emf"/><Relationship Id="rId38" Type="http://schemas.openxmlformats.org/officeDocument/2006/relationships/image" Target="../media/image49.svg"/><Relationship Id="rId2" Type="http://schemas.openxmlformats.org/officeDocument/2006/relationships/tags" Target="../tags/tag167.xml"/><Relationship Id="rId16" Type="http://schemas.openxmlformats.org/officeDocument/2006/relationships/tags" Target="../tags/tag181.xml"/><Relationship Id="rId20" Type="http://schemas.openxmlformats.org/officeDocument/2006/relationships/tags" Target="../tags/tag185.xml"/><Relationship Id="rId29" Type="http://schemas.openxmlformats.org/officeDocument/2006/relationships/tags" Target="../tags/tag194.xml"/><Relationship Id="rId1" Type="http://schemas.openxmlformats.org/officeDocument/2006/relationships/tags" Target="../tags/tag166.xml"/><Relationship Id="rId6" Type="http://schemas.openxmlformats.org/officeDocument/2006/relationships/tags" Target="../tags/tag171.xml"/><Relationship Id="rId11" Type="http://schemas.openxmlformats.org/officeDocument/2006/relationships/tags" Target="../tags/tag176.xml"/><Relationship Id="rId24" Type="http://schemas.openxmlformats.org/officeDocument/2006/relationships/tags" Target="../tags/tag189.xml"/><Relationship Id="rId32" Type="http://schemas.openxmlformats.org/officeDocument/2006/relationships/oleObject" Target="../embeddings/oleObject11.bin"/><Relationship Id="rId37" Type="http://schemas.openxmlformats.org/officeDocument/2006/relationships/image" Target="../media/image48.png"/><Relationship Id="rId5" Type="http://schemas.openxmlformats.org/officeDocument/2006/relationships/tags" Target="../tags/tag170.xml"/><Relationship Id="rId15" Type="http://schemas.openxmlformats.org/officeDocument/2006/relationships/tags" Target="../tags/tag180.xml"/><Relationship Id="rId23" Type="http://schemas.openxmlformats.org/officeDocument/2006/relationships/tags" Target="../tags/tag188.xml"/><Relationship Id="rId28" Type="http://schemas.openxmlformats.org/officeDocument/2006/relationships/tags" Target="../tags/tag193.xml"/><Relationship Id="rId36" Type="http://schemas.openxmlformats.org/officeDocument/2006/relationships/image" Target="../media/image56.png"/><Relationship Id="rId10" Type="http://schemas.openxmlformats.org/officeDocument/2006/relationships/tags" Target="../tags/tag175.xml"/><Relationship Id="rId19" Type="http://schemas.openxmlformats.org/officeDocument/2006/relationships/tags" Target="../tags/tag184.xml"/><Relationship Id="rId31" Type="http://schemas.openxmlformats.org/officeDocument/2006/relationships/notesSlide" Target="../notesSlides/notesSlide21.xml"/><Relationship Id="rId4" Type="http://schemas.openxmlformats.org/officeDocument/2006/relationships/tags" Target="../tags/tag169.xml"/><Relationship Id="rId9" Type="http://schemas.openxmlformats.org/officeDocument/2006/relationships/tags" Target="../tags/tag174.xml"/><Relationship Id="rId14" Type="http://schemas.openxmlformats.org/officeDocument/2006/relationships/tags" Target="../tags/tag179.xml"/><Relationship Id="rId22" Type="http://schemas.openxmlformats.org/officeDocument/2006/relationships/tags" Target="../tags/tag187.xml"/><Relationship Id="rId27" Type="http://schemas.openxmlformats.org/officeDocument/2006/relationships/tags" Target="../tags/tag192.xml"/><Relationship Id="rId30" Type="http://schemas.openxmlformats.org/officeDocument/2006/relationships/slideLayout" Target="../slideLayouts/slideLayout50.xml"/><Relationship Id="rId35" Type="http://schemas.openxmlformats.org/officeDocument/2006/relationships/image" Target="../media/image52.png"/><Relationship Id="rId8" Type="http://schemas.openxmlformats.org/officeDocument/2006/relationships/tags" Target="../tags/tag173.xml"/><Relationship Id="rId3" Type="http://schemas.openxmlformats.org/officeDocument/2006/relationships/tags" Target="../tags/tag168.xml"/></Relationships>
</file>

<file path=ppt/slides/_rels/slide62.xml.rels><?xml version="1.0" encoding="UTF-8" standalone="yes"?>
<Relationships xmlns="http://schemas.openxmlformats.org/package/2006/relationships"><Relationship Id="rId8" Type="http://schemas.openxmlformats.org/officeDocument/2006/relationships/tags" Target="../tags/tag202.xml"/><Relationship Id="rId13" Type="http://schemas.openxmlformats.org/officeDocument/2006/relationships/tags" Target="../tags/tag207.xml"/><Relationship Id="rId18" Type="http://schemas.openxmlformats.org/officeDocument/2006/relationships/notesSlide" Target="../notesSlides/notesSlide22.xml"/><Relationship Id="rId3" Type="http://schemas.openxmlformats.org/officeDocument/2006/relationships/tags" Target="../tags/tag197.xml"/><Relationship Id="rId21" Type="http://schemas.openxmlformats.org/officeDocument/2006/relationships/image" Target="../media/image56.png"/><Relationship Id="rId7" Type="http://schemas.openxmlformats.org/officeDocument/2006/relationships/tags" Target="../tags/tag201.xml"/><Relationship Id="rId12" Type="http://schemas.openxmlformats.org/officeDocument/2006/relationships/tags" Target="../tags/tag206.xml"/><Relationship Id="rId17" Type="http://schemas.openxmlformats.org/officeDocument/2006/relationships/slideLayout" Target="../slideLayouts/slideLayout50.xml"/><Relationship Id="rId25" Type="http://schemas.openxmlformats.org/officeDocument/2006/relationships/image" Target="../media/image109.png"/><Relationship Id="rId2" Type="http://schemas.openxmlformats.org/officeDocument/2006/relationships/tags" Target="../tags/tag196.xml"/><Relationship Id="rId16" Type="http://schemas.openxmlformats.org/officeDocument/2006/relationships/tags" Target="../tags/tag210.xml"/><Relationship Id="rId20" Type="http://schemas.openxmlformats.org/officeDocument/2006/relationships/image" Target="../media/image46.png"/><Relationship Id="rId1" Type="http://schemas.openxmlformats.org/officeDocument/2006/relationships/tags" Target="../tags/tag195.xml"/><Relationship Id="rId6" Type="http://schemas.openxmlformats.org/officeDocument/2006/relationships/tags" Target="../tags/tag200.xml"/><Relationship Id="rId11" Type="http://schemas.openxmlformats.org/officeDocument/2006/relationships/tags" Target="../tags/tag205.xml"/><Relationship Id="rId24" Type="http://schemas.openxmlformats.org/officeDocument/2006/relationships/image" Target="../media/image108.png"/><Relationship Id="rId5" Type="http://schemas.openxmlformats.org/officeDocument/2006/relationships/tags" Target="../tags/tag199.xml"/><Relationship Id="rId15" Type="http://schemas.openxmlformats.org/officeDocument/2006/relationships/tags" Target="../tags/tag209.xml"/><Relationship Id="rId23" Type="http://schemas.openxmlformats.org/officeDocument/2006/relationships/image" Target="../media/image49.svg"/><Relationship Id="rId10" Type="http://schemas.openxmlformats.org/officeDocument/2006/relationships/tags" Target="../tags/tag204.xml"/><Relationship Id="rId19" Type="http://schemas.openxmlformats.org/officeDocument/2006/relationships/image" Target="../media/image107.png"/><Relationship Id="rId4" Type="http://schemas.openxmlformats.org/officeDocument/2006/relationships/tags" Target="../tags/tag198.xml"/><Relationship Id="rId9" Type="http://schemas.openxmlformats.org/officeDocument/2006/relationships/tags" Target="../tags/tag203.xml"/><Relationship Id="rId14" Type="http://schemas.openxmlformats.org/officeDocument/2006/relationships/tags" Target="../tags/tag208.xml"/><Relationship Id="rId22" Type="http://schemas.openxmlformats.org/officeDocument/2006/relationships/image" Target="../media/image48.png"/></Relationships>
</file>

<file path=ppt/slides/_rels/slide6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6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479425" y="2637000"/>
            <a:ext cx="11587237" cy="1584000"/>
          </a:xfrm>
        </p:spPr>
        <p:txBody>
          <a:bodyPr anchor="t"/>
          <a:lstStyle/>
          <a:p>
            <a:r>
              <a:rPr lang="en-US" sz="3200"/>
              <a:t>Portfolio Executive Committee (PEC) Review Meeting</a:t>
            </a:r>
            <a:br>
              <a:rPr lang="en-US" sz="3200"/>
            </a:br>
            <a:br>
              <a:rPr lang="en-US" sz="3200"/>
            </a:br>
            <a:r>
              <a:rPr lang="en-US" sz="3200"/>
              <a:t>TA </a:t>
            </a:r>
            <a:r>
              <a:rPr lang="en-US" sz="2800" i="1">
                <a:solidFill>
                  <a:schemeClr val="bg1">
                    <a:lumMod val="75000"/>
                  </a:schemeClr>
                </a:solidFill>
              </a:rPr>
              <a:t>INFL</a:t>
            </a:r>
            <a:endParaRPr lang="en-US" sz="3200"/>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479425" y="4437120"/>
            <a:ext cx="8281375" cy="936000"/>
          </a:xfrm>
        </p:spPr>
        <p:txBody>
          <a:bodyPr/>
          <a:lstStyle/>
          <a:p>
            <a:pPr lvl="1"/>
            <a:r>
              <a:rPr lang="en-US"/>
              <a:t>Helen Tao &amp; Team | Dec. 15th, 2025 </a:t>
            </a:r>
            <a:r>
              <a:rPr lang="en-US" altLang="zh-CN"/>
              <a:t>| 20 min</a:t>
            </a:r>
            <a:endParaRPr lang="en-US"/>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479936" y="6165328"/>
            <a:ext cx="5040000" cy="216000"/>
          </a:xfrm>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TextBox 7">
            <a:extLst>
              <a:ext uri="{FF2B5EF4-FFF2-40B4-BE49-F238E27FC236}">
                <a16:creationId xmlns:a16="http://schemas.microsoft.com/office/drawing/2014/main" id="{28576732-9C88-DCDA-879A-44699A5FB4E6}"/>
              </a:ext>
            </a:extLst>
          </p:cNvPr>
          <p:cNvSpPr txBox="1">
            <a:spLocks noGrp="1" noRot="1" noMove="1" noResize="1" noEditPoints="1" noAdjustHandles="1" noChangeArrowheads="1" noChangeShapeType="1"/>
          </p:cNvSpPr>
          <p:nvPr/>
        </p:nvSpPr>
        <p:spPr bwMode="gray">
          <a:xfrm>
            <a:off x="12399976" y="-1"/>
            <a:ext cx="1715078" cy="3017521"/>
          </a:xfrm>
          <a:prstGeom prst="rect">
            <a:avLst/>
          </a:prstGeom>
          <a:solidFill>
            <a:schemeClr val="bg1"/>
          </a:solidFill>
        </p:spPr>
        <p:txBody>
          <a:bodyPr wrap="square" lIns="108000" tIns="108000" rIns="108000" bIns="108000">
            <a:noAutofit/>
          </a:body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Boehringer Forward Head"/>
                <a:ea typeface="+mn-ea"/>
                <a:cs typeface="+mn-cs"/>
              </a:rPr>
              <a:t>To insert a wordmark:</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Add (e.g. via drag and drop) your wordmark file (in RGB) to this slide (in alignment with our brand governance and architecture guidelines)</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Change the size of the wordmark according to the height reference (magenta placeholder)</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Select the “guides” in the navigation bar and move the wordmark to the right and top line (orange)</a:t>
            </a:r>
          </a:p>
        </p:txBody>
      </p:sp>
      <p:pic>
        <p:nvPicPr>
          <p:cNvPr id="10" name="Grafik 9">
            <a:extLst>
              <a:ext uri="{FF2B5EF4-FFF2-40B4-BE49-F238E27FC236}">
                <a16:creationId xmlns:a16="http://schemas.microsoft.com/office/drawing/2014/main" id="{3ABF3C48-BECA-13B1-0740-A1DC728D6B9E}"/>
              </a:ext>
            </a:extLst>
          </p:cNvPr>
          <p:cNvPicPr>
            <a:picLocks noGrp="1" noRot="1" noChangeAspect="1" noMove="1" noResize="1" noEditPoints="1" noAdjustHandles="1" noChangeArrowheads="1" noChangeShapeType="1" noCrop="1"/>
          </p:cNvPicPr>
          <p:nvPr/>
        </p:nvPicPr>
        <p:blipFill>
          <a:blip r:embed="rId3"/>
          <a:stretch>
            <a:fillRect/>
          </a:stretch>
        </p:blipFill>
        <p:spPr>
          <a:xfrm>
            <a:off x="12399976" y="3212976"/>
            <a:ext cx="2448273" cy="815185"/>
          </a:xfrm>
          <a:prstGeom prst="rect">
            <a:avLst/>
          </a:prstGeom>
        </p:spPr>
      </p:pic>
    </p:spTree>
    <p:extLst>
      <p:ext uri="{BB962C8B-B14F-4D97-AF65-F5344CB8AC3E}">
        <p14:creationId xmlns:p14="http://schemas.microsoft.com/office/powerpoint/2010/main" val="3380180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3DEEBB-CDFD-BBFA-517C-6C9314852D4C}"/>
              </a:ext>
            </a:extLst>
          </p:cNvPr>
          <p:cNvSpPr>
            <a:spLocks noGrp="1"/>
          </p:cNvSpPr>
          <p:nvPr>
            <p:ph type="ctrTitle"/>
          </p:nvPr>
        </p:nvSpPr>
        <p:spPr>
          <a:xfrm>
            <a:off x="479425" y="2637000"/>
            <a:ext cx="10474521" cy="1584000"/>
          </a:xfrm>
        </p:spPr>
        <p:txBody>
          <a:bodyPr vert="horz" lIns="0" tIns="0" rIns="0" bIns="0" rtlCol="0" anchor="b">
            <a:normAutofit fontScale="90000"/>
          </a:bodyPr>
          <a:lstStyle/>
          <a:p>
            <a:pPr marL="0" indent="0"/>
            <a:r>
              <a:rPr lang="en-US" altLang="zh-CN" b="1" i="0" kern="1200">
                <a:latin typeface="+mj-lt"/>
                <a:ea typeface="+mj-ea"/>
                <a:cs typeface="+mj-cs"/>
              </a:rPr>
              <a:t>Part I:</a:t>
            </a:r>
            <a:br>
              <a:rPr lang="en-US" altLang="zh-CN" b="1" i="0" kern="1200">
                <a:latin typeface="+mj-lt"/>
                <a:ea typeface="+mj-ea"/>
                <a:cs typeface="+mj-cs"/>
              </a:rPr>
            </a:br>
            <a:r>
              <a:rPr lang="en-US" altLang="zh-CN" b="1" i="0" kern="1200">
                <a:latin typeface="+mj-lt"/>
                <a:ea typeface="+mj-ea"/>
                <a:cs typeface="+mj-cs"/>
              </a:rPr>
              <a:t>Follow-up Actions from the Previous PEC</a:t>
            </a:r>
          </a:p>
        </p:txBody>
      </p:sp>
      <p:sp>
        <p:nvSpPr>
          <p:cNvPr id="7" name="TextBox 6">
            <a:extLst>
              <a:ext uri="{FF2B5EF4-FFF2-40B4-BE49-F238E27FC236}">
                <a16:creationId xmlns:a16="http://schemas.microsoft.com/office/drawing/2014/main" id="{7469B780-1BBC-792F-A6E5-B8CFDAFBCB97}"/>
              </a:ext>
            </a:extLst>
          </p:cNvPr>
          <p:cNvSpPr txBox="1"/>
          <p:nvPr/>
        </p:nvSpPr>
        <p:spPr bwMode="gray">
          <a:xfrm>
            <a:off x="479426" y="4437120"/>
            <a:ext cx="8281375" cy="936000"/>
          </a:xfrm>
          <a:prstGeom prst="rect">
            <a:avLst/>
          </a:prstGeom>
        </p:spPr>
        <p:txBody>
          <a:bodyPr vert="horz" lIns="0" tIns="0" rIns="0" bIns="0" rtlCol="0">
            <a:normAutofit/>
          </a:bodyPr>
          <a:lstStyle/>
          <a:p>
            <a:pPr defTabSz="914377">
              <a:spcAft>
                <a:spcPts val="2400"/>
              </a:spcAft>
            </a:pPr>
            <a:r>
              <a:rPr lang="en-US" altLang="zh-CN" sz="2400" u="sng">
                <a:solidFill>
                  <a:schemeClr val="bg2"/>
                </a:solidFill>
                <a:hlinkClick r:id="rId2"/>
              </a:rPr>
              <a:t>PEC action log</a:t>
            </a:r>
            <a:endParaRPr lang="en-US" altLang="zh-CN" sz="2400" u="sng">
              <a:solidFill>
                <a:schemeClr val="bg2"/>
              </a:solidFill>
            </a:endParaRPr>
          </a:p>
        </p:txBody>
      </p:sp>
      <p:sp>
        <p:nvSpPr>
          <p:cNvPr id="6" name="Slide Number Placeholder 5" hidden="1">
            <a:extLst>
              <a:ext uri="{FF2B5EF4-FFF2-40B4-BE49-F238E27FC236}">
                <a16:creationId xmlns:a16="http://schemas.microsoft.com/office/drawing/2014/main" id="{61BD01A9-C7E0-274E-262B-49239315BBD3}"/>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2</a:t>
            </a:fld>
            <a:endParaRPr lang="en-US"/>
          </a:p>
        </p:txBody>
      </p:sp>
    </p:spTree>
    <p:extLst>
      <p:ext uri="{BB962C8B-B14F-4D97-AF65-F5344CB8AC3E}">
        <p14:creationId xmlns:p14="http://schemas.microsoft.com/office/powerpoint/2010/main" val="251418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FA591-C10F-45A9-9EBE-C53D53FB111B}"/>
              </a:ext>
            </a:extLst>
          </p:cNvPr>
          <p:cNvSpPr>
            <a:spLocks noGrp="1"/>
          </p:cNvSpPr>
          <p:nvPr>
            <p:ph type="title"/>
          </p:nvPr>
        </p:nvSpPr>
        <p:spPr/>
        <p:txBody>
          <a:bodyPr/>
          <a:lstStyle/>
          <a:p>
            <a:r>
              <a:rPr lang="de-DE"/>
              <a:t>Follow up actions from previous PEC (Nov. 2025)</a:t>
            </a:r>
            <a:endParaRPr lang="en-US"/>
          </a:p>
        </p:txBody>
      </p:sp>
      <p:sp>
        <p:nvSpPr>
          <p:cNvPr id="3" name="Content Placeholder 2">
            <a:extLst>
              <a:ext uri="{FF2B5EF4-FFF2-40B4-BE49-F238E27FC236}">
                <a16:creationId xmlns:a16="http://schemas.microsoft.com/office/drawing/2014/main" id="{301234E9-DDB6-1982-DFC3-1C5C70081465}"/>
              </a:ext>
            </a:extLst>
          </p:cNvPr>
          <p:cNvSpPr>
            <a:spLocks noGrp="1"/>
          </p:cNvSpPr>
          <p:nvPr>
            <p:ph idx="1"/>
          </p:nvPr>
        </p:nvSpPr>
        <p:spPr/>
        <p:txBody>
          <a:bodyPr/>
          <a:lstStyle/>
          <a:p>
            <a:pPr marL="0" indent="0" algn="l" rtl="0" fontAlgn="base">
              <a:buNone/>
            </a:pPr>
            <a:r>
              <a:rPr lang="en-US" sz="1800" b="1" i="0">
                <a:solidFill>
                  <a:srgbClr val="000000"/>
                </a:solidFill>
                <a:effectLst/>
              </a:rPr>
              <a:t>No open actions for TA INFL team.</a:t>
            </a:r>
            <a:endParaRPr lang="en-US" sz="1800" b="0" i="1">
              <a:solidFill>
                <a:srgbClr val="000000"/>
              </a:solidFill>
              <a:effectLst/>
            </a:endParaRPr>
          </a:p>
          <a:p>
            <a:pPr lvl="1" fontAlgn="base"/>
            <a:endParaRPr lang="en-US" sz="1800" b="0" i="1">
              <a:solidFill>
                <a:srgbClr val="000000"/>
              </a:solidFill>
              <a:effectLst/>
            </a:endParaRPr>
          </a:p>
          <a:p>
            <a:pPr marL="215994" lvl="1" indent="0" fontAlgn="base">
              <a:buNone/>
            </a:pPr>
            <a:endParaRPr lang="en-US" sz="1800" b="1" i="0">
              <a:solidFill>
                <a:srgbClr val="000000"/>
              </a:solidFill>
              <a:effectLst/>
            </a:endParaRPr>
          </a:p>
          <a:p>
            <a:pPr marL="0" indent="0" algn="l" rtl="0" fontAlgn="base">
              <a:buNone/>
            </a:pPr>
            <a:endParaRPr lang="en-US" b="0" i="0">
              <a:solidFill>
                <a:srgbClr val="000000"/>
              </a:solidFill>
              <a:effectLst/>
            </a:endParaRPr>
          </a:p>
          <a:p>
            <a:endParaRPr lang="en-US"/>
          </a:p>
        </p:txBody>
      </p:sp>
      <p:sp>
        <p:nvSpPr>
          <p:cNvPr id="4" name="Text Placeholder 3">
            <a:extLst>
              <a:ext uri="{FF2B5EF4-FFF2-40B4-BE49-F238E27FC236}">
                <a16:creationId xmlns:a16="http://schemas.microsoft.com/office/drawing/2014/main" id="{35EA6F6E-4910-161B-7A4A-FAAC3D442B87}"/>
              </a:ext>
            </a:extLst>
          </p:cNvPr>
          <p:cNvSpPr>
            <a:spLocks noGrp="1"/>
          </p:cNvSpPr>
          <p:nvPr>
            <p:ph type="body" sz="quarter" idx="13"/>
          </p:nvPr>
        </p:nvSpPr>
        <p:spPr/>
        <p:txBody>
          <a:bodyPr/>
          <a:lstStyle/>
          <a:p>
            <a:endParaRPr lang="en-US"/>
          </a:p>
        </p:txBody>
      </p:sp>
      <p:sp>
        <p:nvSpPr>
          <p:cNvPr id="5" name="Slide Number Placeholder 4">
            <a:extLst>
              <a:ext uri="{FF2B5EF4-FFF2-40B4-BE49-F238E27FC236}">
                <a16:creationId xmlns:a16="http://schemas.microsoft.com/office/drawing/2014/main" id="{8442DC39-1FFB-6525-EF65-B37D0E6B2539}"/>
              </a:ext>
            </a:extLst>
          </p:cNvPr>
          <p:cNvSpPr>
            <a:spLocks noGrp="1"/>
          </p:cNvSpPr>
          <p:nvPr>
            <p:ph type="sldNum" sz="quarter" idx="20"/>
          </p:nvPr>
        </p:nvSpPr>
        <p:spPr/>
        <p:txBody>
          <a:bodyPr/>
          <a:lstStyle/>
          <a:p>
            <a:fld id="{DF4E8F9F-5B1F-4F5B-BE49-3245D8C18D9F}" type="slidenum">
              <a:rPr lang="en-US" smtClean="0"/>
              <a:pPr/>
              <a:t>3</a:t>
            </a:fld>
            <a:endParaRPr lang="en-US"/>
          </a:p>
        </p:txBody>
      </p:sp>
      <p:pic>
        <p:nvPicPr>
          <p:cNvPr id="8" name="Graphic 7" descr="Clipboard Checked with solid fill">
            <a:extLst>
              <a:ext uri="{FF2B5EF4-FFF2-40B4-BE49-F238E27FC236}">
                <a16:creationId xmlns:a16="http://schemas.microsoft.com/office/drawing/2014/main" id="{73351106-93DF-9E89-81BB-98C6D29095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4968" y="1816608"/>
            <a:ext cx="1969008" cy="1969008"/>
          </a:xfrm>
          <a:prstGeom prst="rect">
            <a:avLst/>
          </a:prstGeom>
        </p:spPr>
      </p:pic>
    </p:spTree>
    <p:extLst>
      <p:ext uri="{BB962C8B-B14F-4D97-AF65-F5344CB8AC3E}">
        <p14:creationId xmlns:p14="http://schemas.microsoft.com/office/powerpoint/2010/main" val="4024630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43307-A2AC-FD79-A6B1-B6FF397E30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0ACD9-449E-959D-52D6-C8EC196674B8}"/>
              </a:ext>
            </a:extLst>
          </p:cNvPr>
          <p:cNvSpPr>
            <a:spLocks noGrp="1"/>
          </p:cNvSpPr>
          <p:nvPr>
            <p:ph type="ctrTitle"/>
          </p:nvPr>
        </p:nvSpPr>
        <p:spPr>
          <a:xfrm>
            <a:off x="479425" y="2637000"/>
            <a:ext cx="8280755" cy="1584000"/>
          </a:xfrm>
        </p:spPr>
        <p:txBody>
          <a:bodyPr anchor="b">
            <a:normAutofit/>
          </a:bodyPr>
          <a:lstStyle/>
          <a:p>
            <a:pPr marL="0" indent="0">
              <a:buNone/>
            </a:pPr>
            <a:r>
              <a:rPr lang="en-US" altLang="zh-CN" b="1"/>
              <a:t>Part II: Pipeline Update</a:t>
            </a:r>
            <a:endParaRPr lang="zh-CN" altLang="en-US" b="1"/>
          </a:p>
        </p:txBody>
      </p:sp>
      <p:sp>
        <p:nvSpPr>
          <p:cNvPr id="6" name="Slide Number Placeholder 5" hidden="1">
            <a:extLst>
              <a:ext uri="{FF2B5EF4-FFF2-40B4-BE49-F238E27FC236}">
                <a16:creationId xmlns:a16="http://schemas.microsoft.com/office/drawing/2014/main" id="{212DC281-C5C9-FB64-DFB6-75FE95A7F99E}"/>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4</a:t>
            </a:fld>
            <a:endParaRPr lang="en-US"/>
          </a:p>
        </p:txBody>
      </p:sp>
    </p:spTree>
    <p:extLst>
      <p:ext uri="{BB962C8B-B14F-4D97-AF65-F5344CB8AC3E}">
        <p14:creationId xmlns:p14="http://schemas.microsoft.com/office/powerpoint/2010/main" val="2230873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CA6FC-CEC8-54DF-D486-32288EBB6B0A}"/>
              </a:ext>
            </a:extLst>
          </p:cNvPr>
          <p:cNvSpPr>
            <a:spLocks noGrp="1"/>
          </p:cNvSpPr>
          <p:nvPr>
            <p:ph type="title"/>
          </p:nvPr>
        </p:nvSpPr>
        <p:spPr>
          <a:xfrm>
            <a:off x="479426" y="288461"/>
            <a:ext cx="11233151" cy="720000"/>
          </a:xfrm>
        </p:spPr>
        <p:txBody>
          <a:bodyPr/>
          <a:lstStyle/>
          <a:p>
            <a:r>
              <a:rPr lang="en-US" altLang="zh-CN"/>
              <a:t>TA </a:t>
            </a:r>
            <a:r>
              <a:rPr lang="en-US" altLang="zh-CN">
                <a:solidFill>
                  <a:schemeClr val="tx2"/>
                </a:solidFill>
              </a:rPr>
              <a:t>INFL</a:t>
            </a:r>
            <a:r>
              <a:rPr lang="en-US" altLang="zh-CN"/>
              <a:t> Portfolio Summary - </a:t>
            </a:r>
            <a:r>
              <a:rPr lang="en-US" altLang="zh-CN">
                <a:solidFill>
                  <a:schemeClr val="tx2"/>
                </a:solidFill>
              </a:rPr>
              <a:t>Pipeline Projects</a:t>
            </a:r>
            <a:endParaRPr lang="zh-CN" altLang="en-US">
              <a:solidFill>
                <a:schemeClr val="tx2"/>
              </a:solidFill>
            </a:endParaRPr>
          </a:p>
        </p:txBody>
      </p:sp>
      <p:sp>
        <p:nvSpPr>
          <p:cNvPr id="6" name="Slide Number Placeholder 5">
            <a:extLst>
              <a:ext uri="{FF2B5EF4-FFF2-40B4-BE49-F238E27FC236}">
                <a16:creationId xmlns:a16="http://schemas.microsoft.com/office/drawing/2014/main" id="{C8EC9E28-92C8-D776-24ED-34AAEB33ABC8}"/>
              </a:ext>
            </a:extLst>
          </p:cNvPr>
          <p:cNvSpPr>
            <a:spLocks noGrp="1"/>
          </p:cNvSpPr>
          <p:nvPr>
            <p:ph type="sldNum" sz="quarter" idx="20"/>
          </p:nvPr>
        </p:nvSpPr>
        <p:spPr/>
        <p:txBody>
          <a:bodyPr/>
          <a:lstStyle/>
          <a:p>
            <a:fld id="{DF4E8F9F-5B1F-4F5B-BE49-3245D8C18D9F}" type="slidenum">
              <a:rPr lang="en-US" smtClean="0"/>
              <a:pPr/>
              <a:t>5</a:t>
            </a:fld>
            <a:endParaRPr lang="en-US"/>
          </a:p>
        </p:txBody>
      </p:sp>
      <p:sp>
        <p:nvSpPr>
          <p:cNvPr id="15" name="Star: 4 Points 14">
            <a:extLst>
              <a:ext uri="{FF2B5EF4-FFF2-40B4-BE49-F238E27FC236}">
                <a16:creationId xmlns:a16="http://schemas.microsoft.com/office/drawing/2014/main" id="{C6A4602D-7EC1-2ED8-C248-5FB31CCE9212}"/>
              </a:ext>
            </a:extLst>
          </p:cNvPr>
          <p:cNvSpPr/>
          <p:nvPr/>
        </p:nvSpPr>
        <p:spPr bwMode="gray">
          <a:xfrm>
            <a:off x="4826321" y="4213409"/>
            <a:ext cx="147638" cy="147638"/>
          </a:xfrm>
          <a:prstGeom prst="star4">
            <a:avLst/>
          </a:prstGeom>
          <a:solidFill>
            <a:srgbClr val="5D449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7" name="Isosceles Triangle 26">
            <a:extLst>
              <a:ext uri="{FF2B5EF4-FFF2-40B4-BE49-F238E27FC236}">
                <a16:creationId xmlns:a16="http://schemas.microsoft.com/office/drawing/2014/main" id="{B3166E4B-49B2-D78D-0D32-EDC265B71BA7}"/>
              </a:ext>
            </a:extLst>
          </p:cNvPr>
          <p:cNvSpPr/>
          <p:nvPr/>
        </p:nvSpPr>
        <p:spPr bwMode="gray">
          <a:xfrm>
            <a:off x="4826988" y="5048933"/>
            <a:ext cx="146304" cy="130897"/>
          </a:xfrm>
          <a:prstGeom prst="triangle">
            <a:avLst/>
          </a:prstGeom>
          <a:solidFill>
            <a:srgbClr val="5D449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pic>
        <p:nvPicPr>
          <p:cNvPr id="5" name="Picture 4">
            <a:extLst>
              <a:ext uri="{FF2B5EF4-FFF2-40B4-BE49-F238E27FC236}">
                <a16:creationId xmlns:a16="http://schemas.microsoft.com/office/drawing/2014/main" id="{C5C964C4-1048-1FF3-3050-F96A85F924F7}"/>
              </a:ext>
            </a:extLst>
          </p:cNvPr>
          <p:cNvPicPr>
            <a:picLocks noChangeAspect="1"/>
          </p:cNvPicPr>
          <p:nvPr/>
        </p:nvPicPr>
        <p:blipFill>
          <a:blip r:embed="rId2"/>
          <a:stretch>
            <a:fillRect/>
          </a:stretch>
        </p:blipFill>
        <p:spPr>
          <a:xfrm>
            <a:off x="4808692" y="4598409"/>
            <a:ext cx="182896" cy="182896"/>
          </a:xfrm>
          <a:prstGeom prst="rect">
            <a:avLst/>
          </a:prstGeom>
        </p:spPr>
      </p:pic>
      <p:sp>
        <p:nvSpPr>
          <p:cNvPr id="16" name="Rectangle 15">
            <a:extLst>
              <a:ext uri="{FF2B5EF4-FFF2-40B4-BE49-F238E27FC236}">
                <a16:creationId xmlns:a16="http://schemas.microsoft.com/office/drawing/2014/main" id="{9D931F32-1181-11CB-B406-693B510BBC33}"/>
              </a:ext>
            </a:extLst>
          </p:cNvPr>
          <p:cNvSpPr/>
          <p:nvPr/>
        </p:nvSpPr>
        <p:spPr bwMode="gray">
          <a:xfrm>
            <a:off x="9619488" y="0"/>
            <a:ext cx="2572512" cy="448056"/>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de-DE" sz="1600">
                <a:solidFill>
                  <a:schemeClr val="tx1"/>
                </a:solidFill>
              </a:rPr>
              <a:t>Status: Dec. 11th, 2025</a:t>
            </a:r>
            <a:endParaRPr lang="en-US" sz="1600">
              <a:solidFill>
                <a:schemeClr val="tx1"/>
              </a:solidFill>
            </a:endParaRPr>
          </a:p>
        </p:txBody>
      </p:sp>
      <p:pic>
        <p:nvPicPr>
          <p:cNvPr id="4" name="Picture 3">
            <a:extLst>
              <a:ext uri="{FF2B5EF4-FFF2-40B4-BE49-F238E27FC236}">
                <a16:creationId xmlns:a16="http://schemas.microsoft.com/office/drawing/2014/main" id="{9A3C0EE5-72CA-860B-1D2E-DC3F27ACE1D5}"/>
              </a:ext>
            </a:extLst>
          </p:cNvPr>
          <p:cNvPicPr>
            <a:picLocks noChangeAspect="1"/>
          </p:cNvPicPr>
          <p:nvPr/>
        </p:nvPicPr>
        <p:blipFill>
          <a:blip r:embed="rId3"/>
          <a:stretch>
            <a:fillRect/>
          </a:stretch>
        </p:blipFill>
        <p:spPr>
          <a:xfrm>
            <a:off x="358219" y="736517"/>
            <a:ext cx="10694479" cy="590602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591353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5C3AEF73-DB2E-3906-C127-FBD65AF9454D}"/>
              </a:ext>
            </a:extLst>
          </p:cNvPr>
          <p:cNvPicPr>
            <a:picLocks noChangeAspect="1"/>
          </p:cNvPicPr>
          <p:nvPr/>
        </p:nvPicPr>
        <p:blipFill>
          <a:blip r:embed="rId2"/>
          <a:stretch>
            <a:fillRect/>
          </a:stretch>
        </p:blipFill>
        <p:spPr>
          <a:xfrm>
            <a:off x="461433" y="1305983"/>
            <a:ext cx="5638800" cy="2552700"/>
          </a:xfrm>
          <a:prstGeom prst="rect">
            <a:avLst/>
          </a:prstGeom>
        </p:spPr>
      </p:pic>
      <p:sp>
        <p:nvSpPr>
          <p:cNvPr id="2" name="标题 1">
            <a:extLst>
              <a:ext uri="{FF2B5EF4-FFF2-40B4-BE49-F238E27FC236}">
                <a16:creationId xmlns:a16="http://schemas.microsoft.com/office/drawing/2014/main" id="{3920C367-C0E2-EFB6-89BB-C1B3752D378B}"/>
              </a:ext>
            </a:extLst>
          </p:cNvPr>
          <p:cNvSpPr>
            <a:spLocks noGrp="1"/>
          </p:cNvSpPr>
          <p:nvPr>
            <p:ph type="title"/>
          </p:nvPr>
        </p:nvSpPr>
        <p:spPr/>
        <p:txBody>
          <a:bodyPr/>
          <a:lstStyle/>
          <a:p>
            <a:r>
              <a:rPr lang="en-US" altLang="zh-CN"/>
              <a:t>TA </a:t>
            </a:r>
            <a:r>
              <a:rPr lang="en-US" altLang="zh-CN" i="1">
                <a:solidFill>
                  <a:schemeClr val="bg1">
                    <a:lumMod val="85000"/>
                  </a:schemeClr>
                </a:solidFill>
              </a:rPr>
              <a:t>INFL </a:t>
            </a:r>
            <a:r>
              <a:rPr lang="en-US" altLang="zh-CN"/>
              <a:t> Portfolio Summary - </a:t>
            </a:r>
            <a:r>
              <a:rPr lang="en-US" altLang="zh-CN">
                <a:solidFill>
                  <a:srgbClr val="FF0000"/>
                </a:solidFill>
              </a:rPr>
              <a:t>PMS Studies</a:t>
            </a:r>
            <a:endParaRPr lang="zh-CN" altLang="en-US"/>
          </a:p>
        </p:txBody>
      </p:sp>
      <p:sp>
        <p:nvSpPr>
          <p:cNvPr id="5" name="灯片编号占位符 4">
            <a:extLst>
              <a:ext uri="{FF2B5EF4-FFF2-40B4-BE49-F238E27FC236}">
                <a16:creationId xmlns:a16="http://schemas.microsoft.com/office/drawing/2014/main" id="{E58CF51C-D6A0-93D8-92A4-6C68A32F6FF6}"/>
              </a:ext>
            </a:extLst>
          </p:cNvPr>
          <p:cNvSpPr>
            <a:spLocks noGrp="1"/>
          </p:cNvSpPr>
          <p:nvPr>
            <p:ph type="sldNum" sz="quarter" idx="20"/>
          </p:nvPr>
        </p:nvSpPr>
        <p:spPr/>
        <p:txBody>
          <a:bodyPr/>
          <a:lstStyle/>
          <a:p>
            <a:fld id="{DF4E8F9F-5B1F-4F5B-BE49-3245D8C18D9F}" type="slidenum">
              <a:rPr lang="en-US" smtClean="0"/>
              <a:pPr/>
              <a:t>6</a:t>
            </a:fld>
            <a:endParaRPr lang="en-US"/>
          </a:p>
        </p:txBody>
      </p:sp>
      <p:sp>
        <p:nvSpPr>
          <p:cNvPr id="8" name="Oval 19">
            <a:extLst>
              <a:ext uri="{FF2B5EF4-FFF2-40B4-BE49-F238E27FC236}">
                <a16:creationId xmlns:a16="http://schemas.microsoft.com/office/drawing/2014/main" id="{8C5F72C3-7B26-876C-67F8-1091095CE18D}"/>
              </a:ext>
            </a:extLst>
          </p:cNvPr>
          <p:cNvSpPr/>
          <p:nvPr/>
        </p:nvSpPr>
        <p:spPr bwMode="gray">
          <a:xfrm>
            <a:off x="2104476" y="2729955"/>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9" name="Oval 19">
            <a:extLst>
              <a:ext uri="{FF2B5EF4-FFF2-40B4-BE49-F238E27FC236}">
                <a16:creationId xmlns:a16="http://schemas.microsoft.com/office/drawing/2014/main" id="{6A62F9A3-1306-7A21-4711-ACE29C267295}"/>
              </a:ext>
            </a:extLst>
          </p:cNvPr>
          <p:cNvSpPr/>
          <p:nvPr/>
        </p:nvSpPr>
        <p:spPr bwMode="gray">
          <a:xfrm>
            <a:off x="2105952" y="2946636"/>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0" name="Oval 19">
            <a:extLst>
              <a:ext uri="{FF2B5EF4-FFF2-40B4-BE49-F238E27FC236}">
                <a16:creationId xmlns:a16="http://schemas.microsoft.com/office/drawing/2014/main" id="{B79018C7-D909-7365-550D-B733E18B0D16}"/>
              </a:ext>
            </a:extLst>
          </p:cNvPr>
          <p:cNvSpPr/>
          <p:nvPr/>
        </p:nvSpPr>
        <p:spPr bwMode="gray">
          <a:xfrm>
            <a:off x="4104608" y="2698381"/>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1" name="Oval 19">
            <a:extLst>
              <a:ext uri="{FF2B5EF4-FFF2-40B4-BE49-F238E27FC236}">
                <a16:creationId xmlns:a16="http://schemas.microsoft.com/office/drawing/2014/main" id="{7F5D7E5F-0203-C7C5-E0E4-DE4C5548BD33}"/>
              </a:ext>
            </a:extLst>
          </p:cNvPr>
          <p:cNvSpPr/>
          <p:nvPr/>
        </p:nvSpPr>
        <p:spPr bwMode="gray">
          <a:xfrm>
            <a:off x="4103947" y="2915066"/>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2" name="Oval 19">
            <a:extLst>
              <a:ext uri="{FF2B5EF4-FFF2-40B4-BE49-F238E27FC236}">
                <a16:creationId xmlns:a16="http://schemas.microsoft.com/office/drawing/2014/main" id="{09AFDC70-6EB1-ABCA-2BBD-CEC20B9ADA78}"/>
              </a:ext>
            </a:extLst>
          </p:cNvPr>
          <p:cNvSpPr/>
          <p:nvPr/>
        </p:nvSpPr>
        <p:spPr bwMode="gray">
          <a:xfrm>
            <a:off x="4116440" y="3151646"/>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3" name="Oval 19">
            <a:extLst>
              <a:ext uri="{FF2B5EF4-FFF2-40B4-BE49-F238E27FC236}">
                <a16:creationId xmlns:a16="http://schemas.microsoft.com/office/drawing/2014/main" id="{53138267-94A4-946B-1938-B0F744D56F90}"/>
              </a:ext>
            </a:extLst>
          </p:cNvPr>
          <p:cNvSpPr/>
          <p:nvPr/>
        </p:nvSpPr>
        <p:spPr bwMode="gray">
          <a:xfrm>
            <a:off x="4106900" y="3408121"/>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6" name="Rectangle 10">
            <a:extLst>
              <a:ext uri="{FF2B5EF4-FFF2-40B4-BE49-F238E27FC236}">
                <a16:creationId xmlns:a16="http://schemas.microsoft.com/office/drawing/2014/main" id="{C729F2F8-4536-D08D-D01A-DF3AF626CEED}"/>
              </a:ext>
            </a:extLst>
          </p:cNvPr>
          <p:cNvSpPr/>
          <p:nvPr/>
        </p:nvSpPr>
        <p:spPr bwMode="gray">
          <a:xfrm>
            <a:off x="3188949" y="3864684"/>
            <a:ext cx="7854872" cy="2117475"/>
          </a:xfrm>
          <a:prstGeom prst="rect">
            <a:avLst/>
          </a:prstGeom>
          <a:solidFill>
            <a:schemeClr val="bg1"/>
          </a:solid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377">
              <a:lnSpc>
                <a:spcPct val="110000"/>
              </a:lnSpc>
            </a:pPr>
            <a:r>
              <a:rPr lang="en-US" altLang="zh-CN" sz="1200" b="1">
                <a:solidFill>
                  <a:srgbClr val="5D4495"/>
                </a:solidFill>
              </a:rPr>
              <a:t>      New studies:</a:t>
            </a:r>
            <a:r>
              <a:rPr lang="zh-CN" altLang="en-US" sz="1200" b="1">
                <a:solidFill>
                  <a:srgbClr val="5D4495"/>
                </a:solidFill>
              </a:rPr>
              <a:t>  </a:t>
            </a:r>
            <a:r>
              <a:rPr lang="en-US" altLang="zh-CN" sz="1400" i="1">
                <a:solidFill>
                  <a:schemeClr val="tx1"/>
                </a:solidFill>
              </a:rPr>
              <a:t>NA</a:t>
            </a:r>
          </a:p>
          <a:p>
            <a:pPr marL="742950" lvl="1" indent="-285750" defTabSz="914377">
              <a:lnSpc>
                <a:spcPct val="110000"/>
              </a:lnSpc>
              <a:buFont typeface="Arial" panose="020B0604020202020204" pitchFamily="34" charset="0"/>
              <a:buChar char="•"/>
            </a:pPr>
            <a:endParaRPr lang="en-US" altLang="zh-CN" sz="1200" i="1">
              <a:solidFill>
                <a:schemeClr val="bg1">
                  <a:lumMod val="50000"/>
                </a:schemeClr>
              </a:solidFill>
            </a:endParaRPr>
          </a:p>
          <a:p>
            <a:pPr defTabSz="914377">
              <a:lnSpc>
                <a:spcPct val="110000"/>
              </a:lnSpc>
            </a:pPr>
            <a:r>
              <a:rPr lang="en-US" altLang="zh-CN" sz="1200" b="1">
                <a:solidFill>
                  <a:srgbClr val="5D4495"/>
                </a:solidFill>
              </a:rPr>
              <a:t>       Status change: </a:t>
            </a:r>
            <a:endParaRPr lang="en-US" altLang="zh-CN" sz="1200" i="1">
              <a:solidFill>
                <a:schemeClr val="bg1">
                  <a:lumMod val="65000"/>
                </a:schemeClr>
              </a:solidFill>
            </a:endParaRPr>
          </a:p>
          <a:p>
            <a:pPr marL="742950" lvl="1" indent="-285750" defTabSz="914377">
              <a:lnSpc>
                <a:spcPct val="110000"/>
              </a:lnSpc>
              <a:spcBef>
                <a:spcPts val="100"/>
              </a:spcBef>
              <a:buFont typeface="Arial" panose="020B0604020202020204" pitchFamily="34" charset="0"/>
              <a:buChar char="•"/>
            </a:pPr>
            <a:r>
              <a:rPr lang="en-US" altLang="zh-CN" sz="1400" i="1">
                <a:solidFill>
                  <a:schemeClr val="bg1">
                    <a:lumMod val="50000"/>
                  </a:schemeClr>
                </a:solidFill>
              </a:rPr>
              <a:t>1199-0562, IPF survey, Ph II enrollment ongoing, 91(+54)/245 (actual/plan) enrolled, supplemental contract signed </a:t>
            </a:r>
          </a:p>
          <a:p>
            <a:pPr marL="742950" lvl="1" indent="-285750" defTabSz="914377">
              <a:lnSpc>
                <a:spcPct val="110000"/>
              </a:lnSpc>
              <a:spcBef>
                <a:spcPts val="100"/>
              </a:spcBef>
              <a:buFont typeface="Arial" panose="020B0604020202020204" pitchFamily="34" charset="0"/>
              <a:buChar char="•"/>
            </a:pPr>
            <a:r>
              <a:rPr lang="en-US" altLang="zh-CN" sz="1400" i="1">
                <a:solidFill>
                  <a:schemeClr val="bg1">
                    <a:lumMod val="50000"/>
                  </a:schemeClr>
                </a:solidFill>
              </a:rPr>
              <a:t>0000-0009, multimodal AI tool to early predict IPF, proposal released on Nov 24th </a:t>
            </a:r>
          </a:p>
          <a:p>
            <a:pPr marL="742950" lvl="1" indent="-285750" defTabSz="914377">
              <a:lnSpc>
                <a:spcPct val="110000"/>
              </a:lnSpc>
              <a:buFont typeface="Arial" panose="020B0604020202020204" pitchFamily="34" charset="0"/>
              <a:buChar char="•"/>
            </a:pPr>
            <a:endParaRPr lang="en-US" altLang="zh-CN" sz="1400" i="1">
              <a:solidFill>
                <a:schemeClr val="bg1">
                  <a:lumMod val="50000"/>
                </a:schemeClr>
              </a:solidFill>
            </a:endParaRPr>
          </a:p>
        </p:txBody>
      </p:sp>
      <p:sp>
        <p:nvSpPr>
          <p:cNvPr id="17" name="Star: 4 Points 12">
            <a:extLst>
              <a:ext uri="{FF2B5EF4-FFF2-40B4-BE49-F238E27FC236}">
                <a16:creationId xmlns:a16="http://schemas.microsoft.com/office/drawing/2014/main" id="{7FE72FBB-C2DF-FB0F-A350-174AD74CBF1A}"/>
              </a:ext>
            </a:extLst>
          </p:cNvPr>
          <p:cNvSpPr/>
          <p:nvPr/>
        </p:nvSpPr>
        <p:spPr bwMode="gray">
          <a:xfrm>
            <a:off x="3217592" y="3923162"/>
            <a:ext cx="147638" cy="147638"/>
          </a:xfrm>
          <a:prstGeom prst="star4">
            <a:avLst/>
          </a:prstGeom>
          <a:solidFill>
            <a:srgbClr val="5D449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pic>
        <p:nvPicPr>
          <p:cNvPr id="18" name="Graphic 13" descr="Eye with solid fill">
            <a:extLst>
              <a:ext uri="{FF2B5EF4-FFF2-40B4-BE49-F238E27FC236}">
                <a16:creationId xmlns:a16="http://schemas.microsoft.com/office/drawing/2014/main" id="{003A96BE-0222-DC64-D51B-961C31074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10983" y="4340717"/>
            <a:ext cx="182880" cy="182880"/>
          </a:xfrm>
          <a:prstGeom prst="rect">
            <a:avLst/>
          </a:prstGeom>
        </p:spPr>
      </p:pic>
      <p:pic>
        <p:nvPicPr>
          <p:cNvPr id="3" name="Graphic 13" descr="Eye with solid fill">
            <a:extLst>
              <a:ext uri="{FF2B5EF4-FFF2-40B4-BE49-F238E27FC236}">
                <a16:creationId xmlns:a16="http://schemas.microsoft.com/office/drawing/2014/main" id="{353CBDB0-A400-748F-1C8A-DAF2291754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00114" y="2696508"/>
            <a:ext cx="182880" cy="182880"/>
          </a:xfrm>
          <a:prstGeom prst="rect">
            <a:avLst/>
          </a:prstGeom>
        </p:spPr>
      </p:pic>
      <p:pic>
        <p:nvPicPr>
          <p:cNvPr id="20" name="Graphic 13" descr="Eye with solid fill">
            <a:extLst>
              <a:ext uri="{FF2B5EF4-FFF2-40B4-BE49-F238E27FC236}">
                <a16:creationId xmlns:a16="http://schemas.microsoft.com/office/drawing/2014/main" id="{3DB7BE90-E35A-D117-DA3C-CD0AC24385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4259" y="2706433"/>
            <a:ext cx="182880" cy="182880"/>
          </a:xfrm>
          <a:prstGeom prst="rect">
            <a:avLst/>
          </a:prstGeom>
        </p:spPr>
      </p:pic>
    </p:spTree>
    <p:extLst>
      <p:ext uri="{BB962C8B-B14F-4D97-AF65-F5344CB8AC3E}">
        <p14:creationId xmlns:p14="http://schemas.microsoft.com/office/powerpoint/2010/main" val="918876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744C-4A7A-DAFF-15D5-6D20D5998967}"/>
              </a:ext>
            </a:extLst>
          </p:cNvPr>
          <p:cNvSpPr>
            <a:spLocks noGrp="1"/>
          </p:cNvSpPr>
          <p:nvPr>
            <p:ph type="ctrTitle"/>
          </p:nvPr>
        </p:nvSpPr>
        <p:spPr/>
        <p:txBody>
          <a:bodyPr/>
          <a:lstStyle/>
          <a:p>
            <a:r>
              <a:rPr lang="de-DE"/>
              <a:t>Update Nerandomilast</a:t>
            </a:r>
            <a:endParaRPr lang="en-US"/>
          </a:p>
        </p:txBody>
      </p:sp>
      <p:sp>
        <p:nvSpPr>
          <p:cNvPr id="4" name="Footer Placeholder 3">
            <a:extLst>
              <a:ext uri="{FF2B5EF4-FFF2-40B4-BE49-F238E27FC236}">
                <a16:creationId xmlns:a16="http://schemas.microsoft.com/office/drawing/2014/main" id="{6ED5021E-1AC3-0E0C-D7C8-89B9CD912841}"/>
              </a:ext>
            </a:extLst>
          </p:cNvPr>
          <p:cNvSpPr>
            <a:spLocks noGrp="1"/>
          </p:cNvSpPr>
          <p:nvPr>
            <p:ph type="ftr" sz="quarter" idx="19"/>
          </p:nvPr>
        </p:nvSpPr>
        <p:spPr/>
        <p:txBody>
          <a:bodyPr/>
          <a:lstStyle/>
          <a:p>
            <a:r>
              <a:rPr lang="en-US" sz="1050"/>
              <a:t>ONLY FOR INTERNAL USE</a:t>
            </a:r>
          </a:p>
        </p:txBody>
      </p:sp>
    </p:spTree>
    <p:extLst>
      <p:ext uri="{BB962C8B-B14F-4D97-AF65-F5344CB8AC3E}">
        <p14:creationId xmlns:p14="http://schemas.microsoft.com/office/powerpoint/2010/main" val="898938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ACF0D96-72D6-07A4-24EE-51E1DF071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B656F-7CD0-E54C-3656-8102F16678F2}"/>
              </a:ext>
            </a:extLst>
          </p:cNvPr>
          <p:cNvSpPr>
            <a:spLocks noGrp="1"/>
          </p:cNvSpPr>
          <p:nvPr>
            <p:ph type="title"/>
          </p:nvPr>
        </p:nvSpPr>
        <p:spPr>
          <a:xfrm>
            <a:off x="479422" y="257447"/>
            <a:ext cx="11233151" cy="720000"/>
          </a:xfrm>
        </p:spPr>
        <p:txBody>
          <a:bodyPr/>
          <a:lstStyle/>
          <a:p>
            <a:r>
              <a:rPr lang="de-DE"/>
              <a:t>Overview: China Development Plan - Nerandomilast</a:t>
            </a:r>
            <a:endParaRPr lang="en-US"/>
          </a:p>
        </p:txBody>
      </p:sp>
      <p:graphicFrame>
        <p:nvGraphicFramePr>
          <p:cNvPr id="7" name="Content Placeholder 6">
            <a:extLst>
              <a:ext uri="{FF2B5EF4-FFF2-40B4-BE49-F238E27FC236}">
                <a16:creationId xmlns:a16="http://schemas.microsoft.com/office/drawing/2014/main" id="{D7E27480-1679-0344-9A81-D4198C283A1C}"/>
              </a:ext>
            </a:extLst>
          </p:cNvPr>
          <p:cNvGraphicFramePr>
            <a:graphicFrameLocks noGrp="1"/>
          </p:cNvGraphicFramePr>
          <p:nvPr>
            <p:ph idx="1"/>
            <p:extLst>
              <p:ext uri="{D42A27DB-BD31-4B8C-83A1-F6EECF244321}">
                <p14:modId xmlns:p14="http://schemas.microsoft.com/office/powerpoint/2010/main" val="1817274951"/>
              </p:ext>
            </p:extLst>
          </p:nvPr>
        </p:nvGraphicFramePr>
        <p:xfrm>
          <a:off x="588279" y="832735"/>
          <a:ext cx="11232000" cy="5192530"/>
        </p:xfrm>
        <a:graphic>
          <a:graphicData uri="http://schemas.openxmlformats.org/drawingml/2006/table">
            <a:tbl>
              <a:tblPr firstRow="1" bandRow="1">
                <a:tableStyleId>{5C22544A-7EE6-4342-B048-85BDC9FD1C3A}</a:tableStyleId>
              </a:tblPr>
              <a:tblGrid>
                <a:gridCol w="2111378">
                  <a:extLst>
                    <a:ext uri="{9D8B030D-6E8A-4147-A177-3AD203B41FA5}">
                      <a16:colId xmlns:a16="http://schemas.microsoft.com/office/drawing/2014/main" val="1992561350"/>
                    </a:ext>
                  </a:extLst>
                </a:gridCol>
                <a:gridCol w="4177732">
                  <a:extLst>
                    <a:ext uri="{9D8B030D-6E8A-4147-A177-3AD203B41FA5}">
                      <a16:colId xmlns:a16="http://schemas.microsoft.com/office/drawing/2014/main" val="286813749"/>
                    </a:ext>
                  </a:extLst>
                </a:gridCol>
                <a:gridCol w="2953168">
                  <a:extLst>
                    <a:ext uri="{9D8B030D-6E8A-4147-A177-3AD203B41FA5}">
                      <a16:colId xmlns:a16="http://schemas.microsoft.com/office/drawing/2014/main" val="3820105433"/>
                    </a:ext>
                  </a:extLst>
                </a:gridCol>
                <a:gridCol w="1989722">
                  <a:extLst>
                    <a:ext uri="{9D8B030D-6E8A-4147-A177-3AD203B41FA5}">
                      <a16:colId xmlns:a16="http://schemas.microsoft.com/office/drawing/2014/main" val="1944790202"/>
                    </a:ext>
                  </a:extLst>
                </a:gridCol>
              </a:tblGrid>
              <a:tr h="414906">
                <a:tc>
                  <a:txBody>
                    <a:bodyPr/>
                    <a:lstStyle/>
                    <a:p>
                      <a:pPr algn="ctr"/>
                      <a:r>
                        <a:rPr lang="en-US" sz="1400">
                          <a:solidFill>
                            <a:schemeClr val="tx1"/>
                          </a:solidFill>
                        </a:rPr>
                        <a:t>Projects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400">
                          <a:solidFill>
                            <a:schemeClr val="tx1"/>
                          </a:solidFill>
                        </a:rPr>
                        <a:t>Study 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400">
                          <a:solidFill>
                            <a:schemeClr val="tx1"/>
                          </a:solidFill>
                        </a:rPr>
                        <a:t>Current 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400">
                          <a:solidFill>
                            <a:schemeClr val="tx1"/>
                          </a:solidFill>
                        </a:rPr>
                        <a:t>NDA approval (best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190815718"/>
                  </a:ext>
                </a:extLst>
              </a:tr>
              <a:tr h="529090">
                <a:tc rowSpan="3">
                  <a:txBody>
                    <a:bodyPr/>
                    <a:lstStyle/>
                    <a:p>
                      <a:pPr algn="ctr"/>
                      <a:r>
                        <a:rPr lang="en-US" sz="1400" b="1"/>
                        <a:t>IPF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a:solidFill>
                            <a:schemeClr val="accent3">
                              <a:lumMod val="50000"/>
                            </a:schemeClr>
                          </a:solidFill>
                        </a:rPr>
                        <a:t>1305-0024</a:t>
                      </a:r>
                    </a:p>
                    <a:p>
                      <a:pPr algn="ctr"/>
                      <a:r>
                        <a:rPr lang="en-US" sz="1400"/>
                        <a:t>Phase 1 CN </a:t>
                      </a:r>
                      <a:r>
                        <a:rPr lang="en-US" altLang="zh-CN" sz="1400"/>
                        <a:t>PK study</a:t>
                      </a:r>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400"/>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09382106"/>
                  </a:ext>
                </a:extLst>
              </a:tr>
              <a:tr h="471957">
                <a:tc vMerge="1">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400">
                          <a:solidFill>
                            <a:schemeClr val="accent3">
                              <a:lumMod val="50000"/>
                            </a:schemeClr>
                          </a:solidFill>
                        </a:rPr>
                        <a:t>1305-0014</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1400"/>
                        <a:t>FIBRONEER-IPF, ph3, IPF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400"/>
                        <a:t>NDA approved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400">
                          <a:solidFill>
                            <a:schemeClr val="tx1"/>
                          </a:solidFill>
                        </a:rPr>
                        <a:t>US: Oct 7, 2025</a:t>
                      </a:r>
                    </a:p>
                    <a:p>
                      <a:r>
                        <a:rPr lang="en-US" altLang="zh-CN" sz="1400">
                          <a:solidFill>
                            <a:schemeClr val="tx1"/>
                          </a:solidFill>
                        </a:rPr>
                        <a:t>CN: Oct 21, 2025</a:t>
                      </a:r>
                      <a:endParaRPr lang="en-US" sz="1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229978621"/>
                  </a:ext>
                </a:extLst>
              </a:tr>
              <a:tr h="471957">
                <a:tc vMerge="1">
                  <a:txBody>
                    <a:bodyPr/>
                    <a:lstStyle/>
                    <a:p>
                      <a:pPr algn="ctr"/>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1305-0031</a:t>
                      </a:r>
                    </a:p>
                    <a:p>
                      <a:pPr algn="ctr"/>
                      <a:r>
                        <a:rPr lang="en-US" altLang="zh-CN" sz="1400"/>
                        <a:t>FIBRONEER-ON, ph3 OLE, IPF + PPF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400"/>
                        <a:t>Follow-up ongoing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1285676"/>
                  </a:ext>
                </a:extLst>
              </a:tr>
              <a:tr h="471957">
                <a:tc rowSpan="3">
                  <a:txBody>
                    <a:bodyPr/>
                    <a:lstStyle/>
                    <a:p>
                      <a:pPr algn="ctr"/>
                      <a:r>
                        <a:rPr lang="en-US" altLang="zh-CN" sz="1400" b="1"/>
                        <a:t>PPF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1305-0023</a:t>
                      </a:r>
                    </a:p>
                    <a:p>
                      <a:pPr algn="ctr"/>
                      <a:r>
                        <a:rPr lang="en-US" altLang="zh-CN" sz="1400"/>
                        <a:t>FIBRONEER-ILD, ph3, PPF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400">
                          <a:solidFill>
                            <a:schemeClr val="tx2"/>
                          </a:solidFill>
                        </a:rPr>
                        <a:t>NDA approved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a:t>US: Jan 2026</a:t>
                      </a:r>
                    </a:p>
                    <a:p>
                      <a:r>
                        <a:rPr lang="en-US" altLang="zh-CN" sz="1400">
                          <a:solidFill>
                            <a:schemeClr val="tx2"/>
                          </a:solidFill>
                        </a:rPr>
                        <a:t>CN: Dec 9, 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612170"/>
                  </a:ext>
                </a:extLst>
              </a:tr>
              <a:tr h="471957">
                <a:tc vMerge="1">
                  <a:txBody>
                    <a:bodyPr/>
                    <a:lstStyle/>
                    <a:p>
                      <a:pPr algn="ctr"/>
                      <a:endParaRPr lang="en-US" altLang="zh-CN" sz="14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1305-0046</a:t>
                      </a:r>
                    </a:p>
                    <a:p>
                      <a:pPr algn="ctr"/>
                      <a:r>
                        <a:rPr lang="en-US" altLang="zh-CN" sz="1400"/>
                        <a:t>FIBRONEER-SARD, ph3b, SARD-ILD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Recruitment ongoing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0334655"/>
                  </a:ext>
                </a:extLst>
              </a:tr>
              <a:tr h="471957">
                <a:tc v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kern="1200">
                          <a:solidFill>
                            <a:schemeClr val="accent3">
                              <a:lumMod val="50000"/>
                            </a:schemeClr>
                          </a:solidFill>
                          <a:latin typeface="+mn-lt"/>
                          <a:ea typeface="+mn-ea"/>
                          <a:cs typeface="+mn-cs"/>
                        </a:rPr>
                        <a:t>1305-0152</a:t>
                      </a:r>
                    </a:p>
                    <a:p>
                      <a:pPr algn="ctr"/>
                      <a:r>
                        <a:rPr lang="en-US" altLang="zh-CN" sz="1400">
                          <a:solidFill>
                            <a:schemeClr val="tx1"/>
                          </a:solidFill>
                        </a:rPr>
                        <a:t>FIBRONEER-ACT, ph4, non-IPF fibrotic 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solidFill>
                            <a:schemeClr val="tx1"/>
                          </a:solidFill>
                        </a:rPr>
                        <a:t>Under evaluation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2533125"/>
                  </a:ext>
                </a:extLst>
              </a:tr>
              <a:tr h="471957">
                <a:tc>
                  <a:txBody>
                    <a:bodyPr/>
                    <a:lstStyle/>
                    <a:p>
                      <a:pPr algn="ctr"/>
                      <a:r>
                        <a:rPr lang="en-US" altLang="zh-CN" sz="1400" b="1"/>
                        <a:t>chILD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1305-0022</a:t>
                      </a:r>
                    </a:p>
                    <a:p>
                      <a:pPr algn="ctr"/>
                      <a:r>
                        <a:rPr lang="en-US" altLang="zh-CN" sz="1400"/>
                        <a:t>Ph3, chILD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solidFill>
                            <a:schemeClr val="tx1"/>
                          </a:solidFill>
                        </a:rPr>
                        <a:t>Pre-IND feedback received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a:t>US:</a:t>
                      </a:r>
                      <a:r>
                        <a:rPr lang="zh-CN" altLang="en-US" sz="1400"/>
                        <a:t> </a:t>
                      </a:r>
                      <a:r>
                        <a:rPr lang="en-US" altLang="zh-CN" sz="1400"/>
                        <a:t>Sep</a:t>
                      </a:r>
                      <a:r>
                        <a:rPr lang="zh-CN" altLang="en-US" sz="1400"/>
                        <a:t> </a:t>
                      </a:r>
                      <a:r>
                        <a:rPr lang="en-US" altLang="zh-CN" sz="1400"/>
                        <a:t>2030 </a:t>
                      </a:r>
                    </a:p>
                    <a:p>
                      <a:r>
                        <a:rPr lang="en-US" sz="1400"/>
                        <a:t>CN: Oct 2030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230577"/>
                  </a:ext>
                </a:extLst>
              </a:tr>
              <a:tr h="471957">
                <a:tc>
                  <a:txBody>
                    <a:bodyPr/>
                    <a:lstStyle/>
                    <a:p>
                      <a:pPr algn="ctr"/>
                      <a:r>
                        <a:rPr lang="en-US" altLang="zh-CN" sz="1400" b="1"/>
                        <a:t>SSc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1305-0052</a:t>
                      </a:r>
                    </a:p>
                    <a:p>
                      <a:pPr algn="ctr"/>
                      <a:r>
                        <a:rPr lang="en-US" altLang="zh-CN" sz="1400"/>
                        <a:t>Ph3, SSc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solidFill>
                            <a:schemeClr val="tx1"/>
                          </a:solidFill>
                        </a:rPr>
                        <a:t>Pre-IND feedback received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US: Feb 2031</a:t>
                      </a:r>
                    </a:p>
                    <a:p>
                      <a:r>
                        <a:rPr lang="en-US" sz="1400"/>
                        <a:t>CN: Jul 2031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9713492"/>
                  </a:ext>
                </a:extLst>
              </a:tr>
              <a:tr h="471957">
                <a:tc>
                  <a:txBody>
                    <a:bodyPr/>
                    <a:lstStyle/>
                    <a:p>
                      <a:pPr algn="ctr"/>
                      <a:r>
                        <a:rPr lang="en-US" altLang="zh-CN" sz="1400" b="1"/>
                        <a:t>IIM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1305-0146</a:t>
                      </a:r>
                    </a:p>
                    <a:p>
                      <a:pPr algn="ctr"/>
                      <a:r>
                        <a:rPr lang="en-US" altLang="zh-CN" sz="1400">
                          <a:solidFill>
                            <a:schemeClr val="tx1"/>
                          </a:solidFill>
                        </a:rPr>
                        <a:t>Ph3</a:t>
                      </a:r>
                      <a:r>
                        <a:rPr lang="en-US" altLang="zh-CN" sz="1400"/>
                        <a:t>, IIM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Under evaluation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US: Dec 2030</a:t>
                      </a:r>
                    </a:p>
                    <a:p>
                      <a:r>
                        <a:rPr lang="en-US" sz="1400"/>
                        <a:t>CN: Jun 2031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5002728"/>
                  </a:ext>
                </a:extLst>
              </a:tr>
            </a:tbl>
          </a:graphicData>
        </a:graphic>
      </p:graphicFrame>
      <p:sp>
        <p:nvSpPr>
          <p:cNvPr id="4" name="Text Placeholder 3">
            <a:extLst>
              <a:ext uri="{FF2B5EF4-FFF2-40B4-BE49-F238E27FC236}">
                <a16:creationId xmlns:a16="http://schemas.microsoft.com/office/drawing/2014/main" id="{F8D1F357-A996-AFAD-EA41-5A644CD145B5}"/>
              </a:ext>
            </a:extLst>
          </p:cNvPr>
          <p:cNvSpPr>
            <a:spLocks noGrp="1"/>
          </p:cNvSpPr>
          <p:nvPr>
            <p:ph type="body" sz="quarter" idx="13"/>
          </p:nvPr>
        </p:nvSpPr>
        <p:spPr>
          <a:xfrm>
            <a:off x="479425" y="6170908"/>
            <a:ext cx="11232000" cy="144000"/>
          </a:xfrm>
        </p:spPr>
        <p:txBody>
          <a:bodyPr/>
          <a:lstStyle/>
          <a:p>
            <a:endParaRPr lang="en-US"/>
          </a:p>
        </p:txBody>
      </p:sp>
      <p:sp>
        <p:nvSpPr>
          <p:cNvPr id="6" name="Slide Number Placeholder 5">
            <a:extLst>
              <a:ext uri="{FF2B5EF4-FFF2-40B4-BE49-F238E27FC236}">
                <a16:creationId xmlns:a16="http://schemas.microsoft.com/office/drawing/2014/main" id="{469E0BBA-36B8-5498-E3B1-AB5BC18B54B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1382724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345790" y="259919"/>
            <a:ext cx="11233151" cy="720000"/>
          </a:xfrm>
        </p:spPr>
        <p:txBody>
          <a:bodyPr>
            <a:normAutofit fontScale="90000"/>
          </a:bodyPr>
          <a:lstStyle/>
          <a:p>
            <a:r>
              <a:rPr lang="en-US" altLang="zh-CN" sz="2400" b="0" i="1">
                <a:solidFill>
                  <a:schemeClr val="tx1"/>
                </a:solidFill>
              </a:rPr>
              <a:t>Nerandomilast (PDE4b inhibitor): </a:t>
            </a:r>
            <a:r>
              <a:rPr lang="en-US" altLang="zh-CN" sz="2400" b="0">
                <a:solidFill>
                  <a:schemeClr val="tx1"/>
                </a:solidFill>
              </a:rPr>
              <a:t>Idiopathic Pulmonary Fibrosis(IPF) and Progressive Pulmonary Fibrosis (PPF) Development Plan</a:t>
            </a:r>
            <a:endParaRPr lang="zh-CN" altLang="en-US" sz="2400" b="0">
              <a:solidFill>
                <a:schemeClr val="tx1"/>
              </a:solidFill>
            </a:endParaRPr>
          </a:p>
        </p:txBody>
      </p:sp>
      <p:cxnSp>
        <p:nvCxnSpPr>
          <p:cNvPr id="9" name="Straight Connector 8">
            <a:extLst>
              <a:ext uri="{FF2B5EF4-FFF2-40B4-BE49-F238E27FC236}">
                <a16:creationId xmlns:a16="http://schemas.microsoft.com/office/drawing/2014/main" id="{9C165100-0114-4167-8FF0-BFF01B293D04}"/>
              </a:ext>
            </a:extLst>
          </p:cNvPr>
          <p:cNvCxnSpPr>
            <a:cxnSpLocks/>
          </p:cNvCxnSpPr>
          <p:nvPr/>
        </p:nvCxnSpPr>
        <p:spPr bwMode="auto">
          <a:xfrm flipH="1">
            <a:off x="23368" y="3628677"/>
            <a:ext cx="1216800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17" name="OTLSHAPE_T_e17f3958430f4cff8650518c93c7635e_StartDate">
            <a:extLst>
              <a:ext uri="{FF2B5EF4-FFF2-40B4-BE49-F238E27FC236}">
                <a16:creationId xmlns:a16="http://schemas.microsoft.com/office/drawing/2014/main" id="{9224C17E-1AA1-4096-A3FD-25D6FD8BA444}"/>
              </a:ext>
            </a:extLst>
          </p:cNvPr>
          <p:cNvSpPr txBox="1"/>
          <p:nvPr>
            <p:custDataLst>
              <p:tags r:id="rId1"/>
            </p:custDataLst>
          </p:nvPr>
        </p:nvSpPr>
        <p:spPr>
          <a:xfrm>
            <a:off x="1308165" y="1799121"/>
            <a:ext cx="1116936" cy="1384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Sep 26 </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aphicFrame>
        <p:nvGraphicFramePr>
          <p:cNvPr id="49" name="Table 48">
            <a:extLst>
              <a:ext uri="{FF2B5EF4-FFF2-40B4-BE49-F238E27FC236}">
                <a16:creationId xmlns:a16="http://schemas.microsoft.com/office/drawing/2014/main" id="{EB1832F7-86BE-4DEE-91F1-447638E4A957}"/>
              </a:ext>
            </a:extLst>
          </p:cNvPr>
          <p:cNvGraphicFramePr>
            <a:graphicFrameLocks noGrp="1"/>
          </p:cNvGraphicFramePr>
          <p:nvPr/>
        </p:nvGraphicFramePr>
        <p:xfrm>
          <a:off x="241017" y="1001167"/>
          <a:ext cx="11700087" cy="685800"/>
        </p:xfrm>
        <a:graphic>
          <a:graphicData uri="http://schemas.openxmlformats.org/drawingml/2006/table">
            <a:tbl>
              <a:tblPr firstRow="1" bandRow="1"/>
              <a:tblGrid>
                <a:gridCol w="557147">
                  <a:extLst>
                    <a:ext uri="{9D8B030D-6E8A-4147-A177-3AD203B41FA5}">
                      <a16:colId xmlns:a16="http://schemas.microsoft.com/office/drawing/2014/main" val="3411862845"/>
                    </a:ext>
                  </a:extLst>
                </a:gridCol>
                <a:gridCol w="557147">
                  <a:extLst>
                    <a:ext uri="{9D8B030D-6E8A-4147-A177-3AD203B41FA5}">
                      <a16:colId xmlns:a16="http://schemas.microsoft.com/office/drawing/2014/main" val="2851474774"/>
                    </a:ext>
                  </a:extLst>
                </a:gridCol>
                <a:gridCol w="557147">
                  <a:extLst>
                    <a:ext uri="{9D8B030D-6E8A-4147-A177-3AD203B41FA5}">
                      <a16:colId xmlns:a16="http://schemas.microsoft.com/office/drawing/2014/main" val="107595344"/>
                    </a:ext>
                  </a:extLst>
                </a:gridCol>
                <a:gridCol w="557147">
                  <a:extLst>
                    <a:ext uri="{9D8B030D-6E8A-4147-A177-3AD203B41FA5}">
                      <a16:colId xmlns:a16="http://schemas.microsoft.com/office/drawing/2014/main" val="1666999431"/>
                    </a:ext>
                  </a:extLst>
                </a:gridCol>
                <a:gridCol w="557147">
                  <a:extLst>
                    <a:ext uri="{9D8B030D-6E8A-4147-A177-3AD203B41FA5}">
                      <a16:colId xmlns:a16="http://schemas.microsoft.com/office/drawing/2014/main" val="3696607442"/>
                    </a:ext>
                  </a:extLst>
                </a:gridCol>
                <a:gridCol w="557147">
                  <a:extLst>
                    <a:ext uri="{9D8B030D-6E8A-4147-A177-3AD203B41FA5}">
                      <a16:colId xmlns:a16="http://schemas.microsoft.com/office/drawing/2014/main" val="223989776"/>
                    </a:ext>
                  </a:extLst>
                </a:gridCol>
                <a:gridCol w="557147">
                  <a:extLst>
                    <a:ext uri="{9D8B030D-6E8A-4147-A177-3AD203B41FA5}">
                      <a16:colId xmlns:a16="http://schemas.microsoft.com/office/drawing/2014/main" val="124731204"/>
                    </a:ext>
                  </a:extLst>
                </a:gridCol>
                <a:gridCol w="557147">
                  <a:extLst>
                    <a:ext uri="{9D8B030D-6E8A-4147-A177-3AD203B41FA5}">
                      <a16:colId xmlns:a16="http://schemas.microsoft.com/office/drawing/2014/main" val="3066978585"/>
                    </a:ext>
                  </a:extLst>
                </a:gridCol>
                <a:gridCol w="557147">
                  <a:extLst>
                    <a:ext uri="{9D8B030D-6E8A-4147-A177-3AD203B41FA5}">
                      <a16:colId xmlns:a16="http://schemas.microsoft.com/office/drawing/2014/main" val="1064917641"/>
                    </a:ext>
                  </a:extLst>
                </a:gridCol>
                <a:gridCol w="557147">
                  <a:extLst>
                    <a:ext uri="{9D8B030D-6E8A-4147-A177-3AD203B41FA5}">
                      <a16:colId xmlns:a16="http://schemas.microsoft.com/office/drawing/2014/main" val="4221117315"/>
                    </a:ext>
                  </a:extLst>
                </a:gridCol>
                <a:gridCol w="557147">
                  <a:extLst>
                    <a:ext uri="{9D8B030D-6E8A-4147-A177-3AD203B41FA5}">
                      <a16:colId xmlns:a16="http://schemas.microsoft.com/office/drawing/2014/main" val="3266065341"/>
                    </a:ext>
                  </a:extLst>
                </a:gridCol>
                <a:gridCol w="557147">
                  <a:extLst>
                    <a:ext uri="{9D8B030D-6E8A-4147-A177-3AD203B41FA5}">
                      <a16:colId xmlns:a16="http://schemas.microsoft.com/office/drawing/2014/main" val="2374051224"/>
                    </a:ext>
                  </a:extLst>
                </a:gridCol>
                <a:gridCol w="557147">
                  <a:extLst>
                    <a:ext uri="{9D8B030D-6E8A-4147-A177-3AD203B41FA5}">
                      <a16:colId xmlns:a16="http://schemas.microsoft.com/office/drawing/2014/main" val="1840388365"/>
                    </a:ext>
                  </a:extLst>
                </a:gridCol>
                <a:gridCol w="557147">
                  <a:extLst>
                    <a:ext uri="{9D8B030D-6E8A-4147-A177-3AD203B41FA5}">
                      <a16:colId xmlns:a16="http://schemas.microsoft.com/office/drawing/2014/main" val="267750830"/>
                    </a:ext>
                  </a:extLst>
                </a:gridCol>
                <a:gridCol w="557147">
                  <a:extLst>
                    <a:ext uri="{9D8B030D-6E8A-4147-A177-3AD203B41FA5}">
                      <a16:colId xmlns:a16="http://schemas.microsoft.com/office/drawing/2014/main" val="3966469970"/>
                    </a:ext>
                  </a:extLst>
                </a:gridCol>
                <a:gridCol w="557147">
                  <a:extLst>
                    <a:ext uri="{9D8B030D-6E8A-4147-A177-3AD203B41FA5}">
                      <a16:colId xmlns:a16="http://schemas.microsoft.com/office/drawing/2014/main" val="2522973146"/>
                    </a:ext>
                  </a:extLst>
                </a:gridCol>
                <a:gridCol w="557147">
                  <a:extLst>
                    <a:ext uri="{9D8B030D-6E8A-4147-A177-3AD203B41FA5}">
                      <a16:colId xmlns:a16="http://schemas.microsoft.com/office/drawing/2014/main" val="3852236956"/>
                    </a:ext>
                  </a:extLst>
                </a:gridCol>
                <a:gridCol w="557147">
                  <a:extLst>
                    <a:ext uri="{9D8B030D-6E8A-4147-A177-3AD203B41FA5}">
                      <a16:colId xmlns:a16="http://schemas.microsoft.com/office/drawing/2014/main" val="2684703990"/>
                    </a:ext>
                  </a:extLst>
                </a:gridCol>
                <a:gridCol w="557147">
                  <a:extLst>
                    <a:ext uri="{9D8B030D-6E8A-4147-A177-3AD203B41FA5}">
                      <a16:colId xmlns:a16="http://schemas.microsoft.com/office/drawing/2014/main" val="493228184"/>
                    </a:ext>
                  </a:extLst>
                </a:gridCol>
                <a:gridCol w="557147">
                  <a:extLst>
                    <a:ext uri="{9D8B030D-6E8A-4147-A177-3AD203B41FA5}">
                      <a16:colId xmlns:a16="http://schemas.microsoft.com/office/drawing/2014/main" val="1381913138"/>
                    </a:ext>
                  </a:extLst>
                </a:gridCol>
                <a:gridCol w="557147">
                  <a:extLst>
                    <a:ext uri="{9D8B030D-6E8A-4147-A177-3AD203B41FA5}">
                      <a16:colId xmlns:a16="http://schemas.microsoft.com/office/drawing/2014/main" val="2981130253"/>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2022</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2024</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sp>
        <p:nvSpPr>
          <p:cNvPr id="50" name="Isosceles Triangle 49"/>
          <p:cNvSpPr/>
          <p:nvPr/>
        </p:nvSpPr>
        <p:spPr>
          <a:xfrm rot="16200000" flipH="1">
            <a:off x="-196097" y="1273616"/>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51" name="Isosceles Triangle 50"/>
          <p:cNvSpPr/>
          <p:nvPr/>
        </p:nvSpPr>
        <p:spPr>
          <a:xfrm rot="5400000">
            <a:off x="11730582" y="1254664"/>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44" name="TextBox 43"/>
          <p:cNvSpPr txBox="1"/>
          <p:nvPr/>
        </p:nvSpPr>
        <p:spPr>
          <a:xfrm>
            <a:off x="5165" y="1921837"/>
            <a:ext cx="572911" cy="328423"/>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Ph3-1305.14</a:t>
            </a:r>
          </a:p>
        </p:txBody>
      </p:sp>
      <p:sp>
        <p:nvSpPr>
          <p:cNvPr id="45" name="TextBox 44"/>
          <p:cNvSpPr txBox="1"/>
          <p:nvPr/>
        </p:nvSpPr>
        <p:spPr>
          <a:xfrm>
            <a:off x="33122" y="4039274"/>
            <a:ext cx="619207" cy="328423"/>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1305.14</a:t>
            </a:r>
          </a:p>
        </p:txBody>
      </p:sp>
      <p:sp>
        <p:nvSpPr>
          <p:cNvPr id="46" name="OTLSHAPE_T_e17f3958430f4cff8650518c93c7635e_Shape">
            <a:extLst>
              <a:ext uri="{FF2B5EF4-FFF2-40B4-BE49-F238E27FC236}">
                <a16:creationId xmlns:a16="http://schemas.microsoft.com/office/drawing/2014/main" id="{B4E8BEE0-0EB3-40D8-9AA2-B2BC6D502A8C}"/>
              </a:ext>
            </a:extLst>
          </p:cNvPr>
          <p:cNvSpPr/>
          <p:nvPr>
            <p:custDataLst>
              <p:tags r:id="rId2"/>
            </p:custDataLst>
          </p:nvPr>
        </p:nvSpPr>
        <p:spPr bwMode="auto">
          <a:xfrm>
            <a:off x="1912685" y="1967416"/>
            <a:ext cx="1561459" cy="256032"/>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7" name="Star: 4 Points 143">
            <a:extLst>
              <a:ext uri="{FF2B5EF4-FFF2-40B4-BE49-F238E27FC236}">
                <a16:creationId xmlns:a16="http://schemas.microsoft.com/office/drawing/2014/main" id="{B361C849-6669-4EC4-A9AD-EB1BCC463147}"/>
              </a:ext>
            </a:extLst>
          </p:cNvPr>
          <p:cNvSpPr/>
          <p:nvPr/>
        </p:nvSpPr>
        <p:spPr bwMode="auto">
          <a:xfrm>
            <a:off x="1809973" y="213910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3" name="Rectangle 52"/>
          <p:cNvSpPr/>
          <p:nvPr/>
        </p:nvSpPr>
        <p:spPr>
          <a:xfrm>
            <a:off x="1734815" y="2243401"/>
            <a:ext cx="365805"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58" name="OTLSHAPE_T_e17f3958430f4cff8650518c93c7635e_StartDate">
            <a:extLst>
              <a:ext uri="{FF2B5EF4-FFF2-40B4-BE49-F238E27FC236}">
                <a16:creationId xmlns:a16="http://schemas.microsoft.com/office/drawing/2014/main" id="{9224C17E-1AA1-4096-A3FD-25D6FD8BA444}"/>
              </a:ext>
            </a:extLst>
          </p:cNvPr>
          <p:cNvSpPr txBox="1"/>
          <p:nvPr>
            <p:custDataLst>
              <p:tags r:id="rId3"/>
            </p:custDataLst>
          </p:nvPr>
        </p:nvSpPr>
        <p:spPr>
          <a:xfrm>
            <a:off x="6279637" y="2324306"/>
            <a:ext cx="682623" cy="143565"/>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Dec 2024</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59" name="OTLSHAPE_T_5a934a26f311425e8ebaa0f45e6533ad_Shape">
            <a:extLst>
              <a:ext uri="{FF2B5EF4-FFF2-40B4-BE49-F238E27FC236}">
                <a16:creationId xmlns:a16="http://schemas.microsoft.com/office/drawing/2014/main" id="{A1E70551-578A-4B35-ACAC-04BA6E603952}"/>
              </a:ext>
            </a:extLst>
          </p:cNvPr>
          <p:cNvSpPr/>
          <p:nvPr>
            <p:custDataLst>
              <p:tags r:id="rId4"/>
            </p:custDataLst>
          </p:nvPr>
        </p:nvSpPr>
        <p:spPr bwMode="auto">
          <a:xfrm>
            <a:off x="2386887" y="4070685"/>
            <a:ext cx="1101580" cy="256032"/>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endPar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0" name="OTLSHAPE_T_e17f3958430f4cff8650518c93c7635e_StartDate">
            <a:extLst>
              <a:ext uri="{FF2B5EF4-FFF2-40B4-BE49-F238E27FC236}">
                <a16:creationId xmlns:a16="http://schemas.microsoft.com/office/drawing/2014/main" id="{9224C17E-1AA1-4096-A3FD-25D6FD8BA444}"/>
              </a:ext>
            </a:extLst>
          </p:cNvPr>
          <p:cNvSpPr txBox="1"/>
          <p:nvPr>
            <p:custDataLst>
              <p:tags r:id="rId5"/>
            </p:custDataLst>
          </p:nvPr>
        </p:nvSpPr>
        <p:spPr>
          <a:xfrm>
            <a:off x="2218417" y="4055136"/>
            <a:ext cx="1153931" cy="287130"/>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CN ML N=97</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TW: N=22</a:t>
            </a:r>
            <a:endParaRPr kumimoji="0" lang="en-US" altLang="zh-CN" sz="933"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sp>
        <p:nvSpPr>
          <p:cNvPr id="61" name="TextBox 25"/>
          <p:cNvSpPr txBox="1"/>
          <p:nvPr/>
        </p:nvSpPr>
        <p:spPr>
          <a:xfrm>
            <a:off x="27035" y="5926930"/>
            <a:ext cx="619207" cy="328423"/>
          </a:xfrm>
          <a:prstGeom prst="rect">
            <a:avLst/>
          </a:prstGeom>
          <a:noFill/>
          <a:ln>
            <a:solidFill>
              <a:schemeClr val="accent1"/>
            </a:solidFill>
          </a:ln>
        </p:spPr>
        <p:txBody>
          <a:bodyPr wrap="square" lIns="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China PK 1305.24</a:t>
            </a:r>
          </a:p>
        </p:txBody>
      </p:sp>
      <p:sp>
        <p:nvSpPr>
          <p:cNvPr id="73" name="OTLSHAPE_T_e17f3958430f4cff8650518c93c7635e_StartDate">
            <a:extLst>
              <a:ext uri="{FF2B5EF4-FFF2-40B4-BE49-F238E27FC236}">
                <a16:creationId xmlns:a16="http://schemas.microsoft.com/office/drawing/2014/main" id="{9224C17E-1AA1-4096-A3FD-25D6FD8BA444}"/>
              </a:ext>
            </a:extLst>
          </p:cNvPr>
          <p:cNvSpPr txBox="1"/>
          <p:nvPr>
            <p:custDataLst>
              <p:tags r:id="rId6"/>
            </p:custDataLst>
          </p:nvPr>
        </p:nvSpPr>
        <p:spPr>
          <a:xfrm>
            <a:off x="1835755" y="2014345"/>
            <a:ext cx="1570228" cy="1384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IPF N=1077</a:t>
            </a:r>
          </a:p>
        </p:txBody>
      </p:sp>
      <p:sp>
        <p:nvSpPr>
          <p:cNvPr id="74" name="Rectangle 37"/>
          <p:cNvSpPr/>
          <p:nvPr/>
        </p:nvSpPr>
        <p:spPr>
          <a:xfrm>
            <a:off x="6968253" y="1956939"/>
            <a:ext cx="925720" cy="2769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US NDA Sub </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7 Feb 2025</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6" name="Rectangle 37"/>
          <p:cNvSpPr/>
          <p:nvPr/>
        </p:nvSpPr>
        <p:spPr>
          <a:xfrm>
            <a:off x="8322359" y="1956939"/>
            <a:ext cx="1356487" cy="2769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US NDA appr.</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7 Oct 2025</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82" name="OTLSHAPE_T_e17f3958430f4cff8650518c93c7635e_Shape">
            <a:extLst>
              <a:ext uri="{FF2B5EF4-FFF2-40B4-BE49-F238E27FC236}">
                <a16:creationId xmlns:a16="http://schemas.microsoft.com/office/drawing/2014/main" id="{BB8CA441-CAF3-49DE-9132-10328C7407DA}"/>
              </a:ext>
            </a:extLst>
          </p:cNvPr>
          <p:cNvSpPr/>
          <p:nvPr>
            <p:custDataLst>
              <p:tags r:id="rId7"/>
            </p:custDataLst>
          </p:nvPr>
        </p:nvSpPr>
        <p:spPr bwMode="auto">
          <a:xfrm>
            <a:off x="7293599" y="4070686"/>
            <a:ext cx="1429783" cy="233066"/>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r>
              <a:rPr kumimoji="0" lang="en-US" altLang="zh-CN" sz="8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NDA review for IPF</a:t>
            </a:r>
            <a:endParaRPr kumimoji="0" lang="zh-CN" altLang="en-US" sz="8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3" name="Rectangle 37"/>
          <p:cNvSpPr/>
          <p:nvPr/>
        </p:nvSpPr>
        <p:spPr>
          <a:xfrm>
            <a:off x="6948878" y="4337255"/>
            <a:ext cx="649537"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 </a:t>
            </a:r>
          </a:p>
        </p:txBody>
      </p:sp>
      <p:sp>
        <p:nvSpPr>
          <p:cNvPr id="85" name="Rectangle 37"/>
          <p:cNvSpPr/>
          <p:nvPr/>
        </p:nvSpPr>
        <p:spPr>
          <a:xfrm>
            <a:off x="8558308" y="4326065"/>
            <a:ext cx="713657"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Appr.</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87" name="OTLSHAPE_M_39ea6ebc19a94c9fab6ef5006c31df58_Shape">
            <a:extLst>
              <a:ext uri="{FF2B5EF4-FFF2-40B4-BE49-F238E27FC236}">
                <a16:creationId xmlns:a16="http://schemas.microsoft.com/office/drawing/2014/main" id="{A0625694-4FCE-4EE7-92E6-C9D58783651F}"/>
              </a:ext>
            </a:extLst>
          </p:cNvPr>
          <p:cNvSpPr/>
          <p:nvPr>
            <p:custDataLst>
              <p:tags r:id="rId8"/>
            </p:custDataLst>
          </p:nvPr>
        </p:nvSpPr>
        <p:spPr bwMode="auto">
          <a:xfrm rot="16200000">
            <a:off x="7278057" y="4300977"/>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36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8" name="五角星 55"/>
          <p:cNvSpPr>
            <a:spLocks noChangeAspect="1"/>
          </p:cNvSpPr>
          <p:nvPr/>
        </p:nvSpPr>
        <p:spPr bwMode="auto">
          <a:xfrm>
            <a:off x="8648365" y="4246173"/>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899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91" name="Freeform: Shape 152">
            <a:extLst>
              <a:ext uri="{FF2B5EF4-FFF2-40B4-BE49-F238E27FC236}">
                <a16:creationId xmlns:a16="http://schemas.microsoft.com/office/drawing/2014/main" id="{808EC121-D3B7-4E05-908F-C8EFBD0CB71E}"/>
              </a:ext>
            </a:extLst>
          </p:cNvPr>
          <p:cNvSpPr/>
          <p:nvPr/>
        </p:nvSpPr>
        <p:spPr bwMode="auto">
          <a:xfrm>
            <a:off x="33227" y="3657552"/>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1218990"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China</a:t>
            </a: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92" name="Oval 134">
            <a:extLst>
              <a:ext uri="{FF2B5EF4-FFF2-40B4-BE49-F238E27FC236}">
                <a16:creationId xmlns:a16="http://schemas.microsoft.com/office/drawing/2014/main" id="{FEFADB89-8F35-407D-93F6-37544172D655}"/>
              </a:ext>
            </a:extLst>
          </p:cNvPr>
          <p:cNvSpPr/>
          <p:nvPr/>
        </p:nvSpPr>
        <p:spPr>
          <a:xfrm>
            <a:off x="17404" y="3561212"/>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99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pic>
        <p:nvPicPr>
          <p:cNvPr id="94"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3626" y="3597428"/>
            <a:ext cx="374799" cy="37479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3"/>
          <a:stretch>
            <a:fillRect/>
          </a:stretch>
        </p:blipFill>
        <p:spPr>
          <a:xfrm>
            <a:off x="-84702" y="1642166"/>
            <a:ext cx="854956" cy="418383"/>
          </a:xfrm>
          <a:prstGeom prst="rect">
            <a:avLst/>
          </a:prstGeom>
        </p:spPr>
      </p:pic>
      <p:sp>
        <p:nvSpPr>
          <p:cNvPr id="99" name="OTLSHAPE_T_e17f3958430f4cff8650518c93c7635e_Shape">
            <a:extLst>
              <a:ext uri="{FF2B5EF4-FFF2-40B4-BE49-F238E27FC236}">
                <a16:creationId xmlns:a16="http://schemas.microsoft.com/office/drawing/2014/main" id="{5049FDD9-83E6-4A4F-8AB0-B6468EF67093}"/>
              </a:ext>
            </a:extLst>
          </p:cNvPr>
          <p:cNvSpPr/>
          <p:nvPr>
            <p:custDataLst>
              <p:tags r:id="rId9"/>
            </p:custDataLst>
          </p:nvPr>
        </p:nvSpPr>
        <p:spPr bwMode="auto">
          <a:xfrm>
            <a:off x="1319503" y="4070685"/>
            <a:ext cx="1066332" cy="256032"/>
          </a:xfrm>
          <a:prstGeom prst="roundRect">
            <a:avLst>
              <a:gd name="adj" fmla="val 16667"/>
            </a:avLst>
          </a:prstGeom>
          <a:solidFill>
            <a:srgbClr val="E3DFE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 + 1</a:t>
            </a:r>
            <a:r>
              <a:rPr kumimoji="0" lang="en-US" altLang="zh-CN" sz="700" b="1" i="0" u="none" strike="noStrike" kern="1200" cap="none" spc="0" normalizeH="0" baseline="30000" noProof="0">
                <a:ln>
                  <a:noFill/>
                </a:ln>
                <a:solidFill>
                  <a:srgbClr val="000000"/>
                </a:solidFill>
                <a:effectLst/>
                <a:uLnTx/>
                <a:uFillTx/>
                <a:latin typeface="Calibri" panose="020F0502020204030204" pitchFamily="34" charset="0"/>
                <a:ea typeface="+mn-ea"/>
                <a:cs typeface="Calibri" panose="020F0502020204030204" pitchFamily="34" charset="0"/>
              </a:rPr>
              <a:t>st</a:t>
            </a: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SIV (5.5 M)</a:t>
            </a:r>
            <a:endParaRPr kumimoji="0" lang="zh-CN" altLang="en-US"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04" name="OTLSHAPE_T_e17f3958430f4cff8650518c93c7635e_StartDate">
            <a:extLst>
              <a:ext uri="{FF2B5EF4-FFF2-40B4-BE49-F238E27FC236}">
                <a16:creationId xmlns:a16="http://schemas.microsoft.com/office/drawing/2014/main" id="{58012D24-2A78-4B92-BDFA-20F74DD93256}"/>
              </a:ext>
            </a:extLst>
          </p:cNvPr>
          <p:cNvSpPr txBox="1"/>
          <p:nvPr>
            <p:custDataLst>
              <p:tags r:id="rId10"/>
            </p:custDataLst>
          </p:nvPr>
        </p:nvSpPr>
        <p:spPr>
          <a:xfrm>
            <a:off x="1799859" y="3917453"/>
            <a:ext cx="1153932" cy="143565"/>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Dec2022</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05" name="OTLSHAPE_M_39ea6ebc19a94c9fab6ef5006c31df58_Title">
            <a:extLst>
              <a:ext uri="{FF2B5EF4-FFF2-40B4-BE49-F238E27FC236}">
                <a16:creationId xmlns:a16="http://schemas.microsoft.com/office/drawing/2014/main" id="{1D0ED006-D44E-4D1C-8839-8F7897971E09}"/>
              </a:ext>
            </a:extLst>
          </p:cNvPr>
          <p:cNvSpPr txBox="1"/>
          <p:nvPr>
            <p:custDataLst>
              <p:tags r:id="rId11"/>
            </p:custDataLst>
          </p:nvPr>
        </p:nvSpPr>
        <p:spPr>
          <a:xfrm>
            <a:off x="1129407" y="4398811"/>
            <a:ext cx="420116" cy="1384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 Sub</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06" name="Star: 4 Points 143">
            <a:extLst>
              <a:ext uri="{FF2B5EF4-FFF2-40B4-BE49-F238E27FC236}">
                <a16:creationId xmlns:a16="http://schemas.microsoft.com/office/drawing/2014/main" id="{78762943-3D50-4383-BC81-A892F9C28375}"/>
              </a:ext>
            </a:extLst>
          </p:cNvPr>
          <p:cNvSpPr/>
          <p:nvPr/>
        </p:nvSpPr>
        <p:spPr bwMode="auto">
          <a:xfrm>
            <a:off x="2287217" y="4212845"/>
            <a:ext cx="184243" cy="256032"/>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07" name="Rectangle 106">
            <a:extLst>
              <a:ext uri="{FF2B5EF4-FFF2-40B4-BE49-F238E27FC236}">
                <a16:creationId xmlns:a16="http://schemas.microsoft.com/office/drawing/2014/main" id="{98BCD354-4B05-464E-948A-3F4AEFBB5BF8}"/>
              </a:ext>
            </a:extLst>
          </p:cNvPr>
          <p:cNvSpPr/>
          <p:nvPr/>
        </p:nvSpPr>
        <p:spPr>
          <a:xfrm>
            <a:off x="2143766" y="5001321"/>
            <a:ext cx="445956" cy="215444"/>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1</a:t>
            </a:r>
            <a:r>
              <a:rPr kumimoji="0" lang="en-US" altLang="zh-CN" sz="800" b="1" i="0" u="none" strike="noStrike" kern="1200" cap="none" spc="0" normalizeH="0" baseline="30000" noProof="0">
                <a:ln>
                  <a:noFill/>
                </a:ln>
                <a:solidFill>
                  <a:srgbClr val="44546A"/>
                </a:solidFill>
                <a:effectLst/>
                <a:uLnTx/>
                <a:uFillTx/>
                <a:latin typeface="Calibri" panose="020F0502020204030204" pitchFamily="34" charset="0"/>
                <a:ea typeface="+mn-ea"/>
                <a:cs typeface="+mn-cs"/>
              </a:rPr>
              <a:t>st</a:t>
            </a: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 SIV</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33" name="OTLSHAPE_T_e17f3958430f4cff8650518c93c7635e_StartDate">
            <a:extLst>
              <a:ext uri="{FF2B5EF4-FFF2-40B4-BE49-F238E27FC236}">
                <a16:creationId xmlns:a16="http://schemas.microsoft.com/office/drawing/2014/main" id="{E7356F44-C9B6-483B-BEA4-627D5EC02291}"/>
              </a:ext>
            </a:extLst>
          </p:cNvPr>
          <p:cNvSpPr txBox="1"/>
          <p:nvPr>
            <p:custDataLst>
              <p:tags r:id="rId12"/>
            </p:custDataLst>
          </p:nvPr>
        </p:nvSpPr>
        <p:spPr>
          <a:xfrm>
            <a:off x="921834" y="3917453"/>
            <a:ext cx="778311" cy="143565"/>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Jul2022 </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35" name="OTLSHAPE_T_e17f3958430f4cff8650518c93c7635e_Shape">
            <a:extLst>
              <a:ext uri="{FF2B5EF4-FFF2-40B4-BE49-F238E27FC236}">
                <a16:creationId xmlns:a16="http://schemas.microsoft.com/office/drawing/2014/main" id="{856E6EFB-19BA-463B-BA51-2CC7710D0A18}"/>
              </a:ext>
            </a:extLst>
          </p:cNvPr>
          <p:cNvSpPr/>
          <p:nvPr>
            <p:custDataLst>
              <p:tags r:id="rId13"/>
            </p:custDataLst>
          </p:nvPr>
        </p:nvSpPr>
        <p:spPr bwMode="auto">
          <a:xfrm>
            <a:off x="2112608" y="2466560"/>
            <a:ext cx="2226309" cy="256032"/>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6" name="Star: 4 Points 143">
            <a:extLst>
              <a:ext uri="{FF2B5EF4-FFF2-40B4-BE49-F238E27FC236}">
                <a16:creationId xmlns:a16="http://schemas.microsoft.com/office/drawing/2014/main" id="{EB0D7CD9-9939-4001-94C5-9E99ECAF630C}"/>
              </a:ext>
            </a:extLst>
          </p:cNvPr>
          <p:cNvSpPr/>
          <p:nvPr/>
        </p:nvSpPr>
        <p:spPr bwMode="auto">
          <a:xfrm>
            <a:off x="2020485" y="25585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41" name="OTLSHAPE_T_e17f3958430f4cff8650518c93c7635e_StartDate">
            <a:extLst>
              <a:ext uri="{FF2B5EF4-FFF2-40B4-BE49-F238E27FC236}">
                <a16:creationId xmlns:a16="http://schemas.microsoft.com/office/drawing/2014/main" id="{C528D282-DF6E-4A71-AD30-AB1D347B83D4}"/>
              </a:ext>
            </a:extLst>
          </p:cNvPr>
          <p:cNvSpPr txBox="1"/>
          <p:nvPr>
            <p:custDataLst>
              <p:tags r:id="rId14"/>
            </p:custDataLst>
          </p:nvPr>
        </p:nvSpPr>
        <p:spPr>
          <a:xfrm>
            <a:off x="1916560" y="2496197"/>
            <a:ext cx="2023093" cy="1384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PF-ILD  N=1078</a:t>
            </a:r>
          </a:p>
        </p:txBody>
      </p:sp>
      <p:sp>
        <p:nvSpPr>
          <p:cNvPr id="134" name="TextBox 133">
            <a:extLst>
              <a:ext uri="{FF2B5EF4-FFF2-40B4-BE49-F238E27FC236}">
                <a16:creationId xmlns:a16="http://schemas.microsoft.com/office/drawing/2014/main" id="{E6DC675E-0C04-4313-97B8-84D2678DBE97}"/>
              </a:ext>
            </a:extLst>
          </p:cNvPr>
          <p:cNvSpPr txBox="1"/>
          <p:nvPr/>
        </p:nvSpPr>
        <p:spPr>
          <a:xfrm>
            <a:off x="5159" y="2331733"/>
            <a:ext cx="572912" cy="328423"/>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Ph3-1305.23</a:t>
            </a:r>
          </a:p>
        </p:txBody>
      </p:sp>
      <p:sp>
        <p:nvSpPr>
          <p:cNvPr id="140" name="OTLSHAPE_T_5a934a26f311425e8ebaa0f45e6533ad_Shape">
            <a:extLst>
              <a:ext uri="{FF2B5EF4-FFF2-40B4-BE49-F238E27FC236}">
                <a16:creationId xmlns:a16="http://schemas.microsoft.com/office/drawing/2014/main" id="{56560FC4-DB5B-41E3-9237-69F6A7E81E2E}"/>
              </a:ext>
            </a:extLst>
          </p:cNvPr>
          <p:cNvSpPr/>
          <p:nvPr/>
        </p:nvSpPr>
        <p:spPr bwMode="auto">
          <a:xfrm>
            <a:off x="2708952" y="5947977"/>
            <a:ext cx="396677" cy="256032"/>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CN PK</a:t>
            </a:r>
          </a:p>
        </p:txBody>
      </p:sp>
      <p:sp>
        <p:nvSpPr>
          <p:cNvPr id="142" name="OTLSHAPE_T_e17f3958430f4cff8650518c93c7635e_StartDate">
            <a:extLst>
              <a:ext uri="{FF2B5EF4-FFF2-40B4-BE49-F238E27FC236}">
                <a16:creationId xmlns:a16="http://schemas.microsoft.com/office/drawing/2014/main" id="{6329237E-1681-4696-BDB0-6255283DD983}"/>
              </a:ext>
            </a:extLst>
          </p:cNvPr>
          <p:cNvSpPr txBox="1"/>
          <p:nvPr>
            <p:custDataLst>
              <p:tags r:id="rId15"/>
            </p:custDataLst>
          </p:nvPr>
        </p:nvSpPr>
        <p:spPr>
          <a:xfrm>
            <a:off x="2881748" y="5853951"/>
            <a:ext cx="714785" cy="123111"/>
          </a:xfrm>
          <a:prstGeom prst="rect">
            <a:avLst/>
          </a:prstGeom>
          <a:noFill/>
        </p:spPr>
        <p:txBody>
          <a:bodyPr vert="horz" wrap="square" lIns="0" tIns="0" rIns="0" bIns="0" rtlCol="0" anchor="ctr" anchorCtr="0">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17Mar2023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45" name="Rectangle 144">
            <a:extLst>
              <a:ext uri="{FF2B5EF4-FFF2-40B4-BE49-F238E27FC236}">
                <a16:creationId xmlns:a16="http://schemas.microsoft.com/office/drawing/2014/main" id="{716D490F-B071-418A-B7C9-1886E7F0509B}"/>
              </a:ext>
            </a:extLst>
          </p:cNvPr>
          <p:cNvSpPr/>
          <p:nvPr/>
        </p:nvSpPr>
        <p:spPr>
          <a:xfrm>
            <a:off x="2459946" y="6212645"/>
            <a:ext cx="320922" cy="215444"/>
          </a:xfrm>
          <a:prstGeom prst="rect">
            <a:avLst/>
          </a:prstGeom>
        </p:spPr>
        <p:txBody>
          <a:bodyPr wrap="none">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SIV</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47" name="OTLSHAPE_T_e17f3958430f4cff8650518c93c7635e_Shape">
            <a:extLst>
              <a:ext uri="{FF2B5EF4-FFF2-40B4-BE49-F238E27FC236}">
                <a16:creationId xmlns:a16="http://schemas.microsoft.com/office/drawing/2014/main" id="{044DF5FF-B247-45DE-9B99-1E7986EB35F6}"/>
              </a:ext>
            </a:extLst>
          </p:cNvPr>
          <p:cNvSpPr/>
          <p:nvPr>
            <p:custDataLst>
              <p:tags r:id="rId16"/>
            </p:custDataLst>
          </p:nvPr>
        </p:nvSpPr>
        <p:spPr bwMode="auto">
          <a:xfrm>
            <a:off x="1359622" y="5948513"/>
            <a:ext cx="1349551" cy="256032"/>
          </a:xfrm>
          <a:prstGeom prst="roundRect">
            <a:avLst/>
          </a:prstGeom>
          <a:solidFill>
            <a:srgbClr val="E3DFE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625318" rtl="0" eaLnBrk="0" fontAlgn="base" latinLnBrk="0" hangingPunct="0">
              <a:lnSpc>
                <a:spcPct val="100000"/>
              </a:lnSpc>
              <a:spcBef>
                <a:spcPct val="0"/>
              </a:spcBef>
              <a:spcAft>
                <a:spcPct val="0"/>
              </a:spcAft>
              <a:buClrTx/>
              <a:buSzTx/>
              <a:buFontTx/>
              <a:buNone/>
              <a:tabLst/>
              <a:defRPr/>
            </a:pPr>
            <a:r>
              <a:rPr kumimoji="0" lang="en-US" altLang="zh-CN" sz="600" b="1" i="0" u="none" strike="noStrike" kern="1200" cap="none" spc="0" normalizeH="0" baseline="0" noProof="0">
                <a:ln>
                  <a:noFill/>
                </a:ln>
                <a:solidFill>
                  <a:srgbClr val="000000"/>
                </a:solidFill>
                <a:effectLst/>
                <a:uLnTx/>
                <a:uFillTx/>
                <a:latin typeface="Verdana" charset="0"/>
                <a:ea typeface="+mn-ea"/>
                <a:cs typeface="+mn-cs"/>
              </a:rPr>
              <a:t>CTA Review + EC + HGRAC (6M)</a:t>
            </a:r>
            <a:endParaRPr kumimoji="0" lang="zh-CN" altLang="en-US" sz="6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48" name="Star: 4 Points 143">
            <a:extLst>
              <a:ext uri="{FF2B5EF4-FFF2-40B4-BE49-F238E27FC236}">
                <a16:creationId xmlns:a16="http://schemas.microsoft.com/office/drawing/2014/main" id="{C881F4DD-D410-4C1F-9628-350DA558708E}"/>
              </a:ext>
            </a:extLst>
          </p:cNvPr>
          <p:cNvSpPr/>
          <p:nvPr/>
        </p:nvSpPr>
        <p:spPr bwMode="auto">
          <a:xfrm>
            <a:off x="2619503" y="6139831"/>
            <a:ext cx="177820" cy="164148"/>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8958" rtl="0" eaLnBrk="0" fontAlgn="base" latinLnBrk="0" hangingPunct="0">
              <a:lnSpc>
                <a:spcPct val="100000"/>
              </a:lnSpc>
              <a:spcBef>
                <a:spcPct val="0"/>
              </a:spcBef>
              <a:spcAft>
                <a:spcPct val="0"/>
              </a:spcAft>
              <a:buClrTx/>
              <a:buSzTx/>
              <a:buFontTx/>
              <a:buNone/>
              <a:tabLst/>
              <a:defRPr/>
            </a:pPr>
            <a:endParaRPr kumimoji="0" lang="zh-CN" altLang="en-US" sz="1867" b="0" i="0" u="none" strike="noStrike" kern="1200" cap="none" spc="0" normalizeH="0" baseline="0" noProof="0">
              <a:ln>
                <a:noFill/>
              </a:ln>
              <a:solidFill>
                <a:srgbClr val="000000"/>
              </a:solidFill>
              <a:effectLst/>
              <a:uLnTx/>
              <a:uFillTx/>
              <a:latin typeface="Verdana" charset="0"/>
              <a:ea typeface="+mn-ea"/>
              <a:cs typeface="+mn-cs"/>
            </a:endParaRPr>
          </a:p>
        </p:txBody>
      </p:sp>
      <p:sp>
        <p:nvSpPr>
          <p:cNvPr id="153" name="Rectangle 152">
            <a:extLst>
              <a:ext uri="{FF2B5EF4-FFF2-40B4-BE49-F238E27FC236}">
                <a16:creationId xmlns:a16="http://schemas.microsoft.com/office/drawing/2014/main" id="{2594AFD7-EBD3-4EE7-B08A-2023938BDB7B}"/>
              </a:ext>
            </a:extLst>
          </p:cNvPr>
          <p:cNvSpPr/>
          <p:nvPr/>
        </p:nvSpPr>
        <p:spPr>
          <a:xfrm>
            <a:off x="2976308" y="6212645"/>
            <a:ext cx="351378" cy="215444"/>
          </a:xfrm>
          <a:prstGeom prst="rect">
            <a:avLst/>
          </a:prstGeom>
        </p:spPr>
        <p:txBody>
          <a:bodyPr wrap="none">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LPO</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55" name="OTLSHAPE_T_e17f3958430f4cff8650518c93c7635e_StartDate">
            <a:extLst>
              <a:ext uri="{FF2B5EF4-FFF2-40B4-BE49-F238E27FC236}">
                <a16:creationId xmlns:a16="http://schemas.microsoft.com/office/drawing/2014/main" id="{26B3E208-A368-4F0B-95D0-585EA32D5B38}"/>
              </a:ext>
            </a:extLst>
          </p:cNvPr>
          <p:cNvSpPr txBox="1"/>
          <p:nvPr>
            <p:custDataLst>
              <p:tags r:id="rId17"/>
            </p:custDataLst>
          </p:nvPr>
        </p:nvSpPr>
        <p:spPr>
          <a:xfrm>
            <a:off x="2304568" y="5853951"/>
            <a:ext cx="718269" cy="123111"/>
          </a:xfrm>
          <a:prstGeom prst="rect">
            <a:avLst/>
          </a:prstGeom>
          <a:noFill/>
        </p:spPr>
        <p:txBody>
          <a:bodyPr vert="horz" wrap="square" lIns="0" tIns="0" rIns="0" bIns="0" rtlCol="0" anchor="ctr" anchorCtr="0">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13 Jan 2023</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56" name="Star: 4 Points 143">
            <a:extLst>
              <a:ext uri="{FF2B5EF4-FFF2-40B4-BE49-F238E27FC236}">
                <a16:creationId xmlns:a16="http://schemas.microsoft.com/office/drawing/2014/main" id="{0C4AD61E-5347-438E-837A-B7B5DFD0B928}"/>
              </a:ext>
            </a:extLst>
          </p:cNvPr>
          <p:cNvSpPr/>
          <p:nvPr/>
        </p:nvSpPr>
        <p:spPr bwMode="auto">
          <a:xfrm>
            <a:off x="3578265" y="6000305"/>
            <a:ext cx="161187" cy="151376"/>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8988" rtl="0" eaLnBrk="0" fontAlgn="base" latinLnBrk="0" hangingPunct="0">
              <a:lnSpc>
                <a:spcPct val="100000"/>
              </a:lnSpc>
              <a:spcBef>
                <a:spcPct val="0"/>
              </a:spcBef>
              <a:spcAft>
                <a:spcPct val="0"/>
              </a:spcAft>
              <a:buClrTx/>
              <a:buSzTx/>
              <a:buFontTx/>
              <a:buNone/>
              <a:tabLst/>
              <a:defRPr/>
            </a:pPr>
            <a:endParaRPr kumimoji="0" lang="zh-CN" altLang="en-US" sz="1867"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57" name="Rectangle 156">
            <a:extLst>
              <a:ext uri="{FF2B5EF4-FFF2-40B4-BE49-F238E27FC236}">
                <a16:creationId xmlns:a16="http://schemas.microsoft.com/office/drawing/2014/main" id="{B0CE4069-8EAE-4A17-ABA2-E0CD5232A7CD}"/>
              </a:ext>
            </a:extLst>
          </p:cNvPr>
          <p:cNvSpPr/>
          <p:nvPr/>
        </p:nvSpPr>
        <p:spPr>
          <a:xfrm>
            <a:off x="4329694" y="6212645"/>
            <a:ext cx="791137" cy="215444"/>
          </a:xfrm>
          <a:prstGeom prst="rect">
            <a:avLst/>
          </a:prstGeom>
        </p:spPr>
        <p:txBody>
          <a:bodyPr wrap="square">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CTR</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58" name="OTLSHAPE_M_39ea6ebc19a94c9fab6ef5006c31df58_Title">
            <a:extLst>
              <a:ext uri="{FF2B5EF4-FFF2-40B4-BE49-F238E27FC236}">
                <a16:creationId xmlns:a16="http://schemas.microsoft.com/office/drawing/2014/main" id="{77C8127B-3EAF-4AD1-A39C-6C0D5E30EB66}"/>
              </a:ext>
            </a:extLst>
          </p:cNvPr>
          <p:cNvSpPr txBox="1"/>
          <p:nvPr>
            <p:custDataLst>
              <p:tags r:id="rId18"/>
            </p:custDataLst>
          </p:nvPr>
        </p:nvSpPr>
        <p:spPr>
          <a:xfrm>
            <a:off x="1085421" y="6263974"/>
            <a:ext cx="928200" cy="143565"/>
          </a:xfrm>
          <a:prstGeom prst="rect">
            <a:avLst/>
          </a:prstGeom>
          <a:noFill/>
        </p:spPr>
        <p:txBody>
          <a:bodyPr vert="horz" wrap="square" lIns="0" tIns="0" rIns="0" bIns="0" rtlCol="0" anchor="ctr" anchorCtr="0">
            <a:spAutoFit/>
          </a:bodyPr>
          <a:lstStyle/>
          <a:p>
            <a:pPr marL="0" marR="0" lvl="0" indent="0" algn="l"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 Sub</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cxnSp>
        <p:nvCxnSpPr>
          <p:cNvPr id="164" name="Straight Arrow Connector 163">
            <a:extLst>
              <a:ext uri="{FF2B5EF4-FFF2-40B4-BE49-F238E27FC236}">
                <a16:creationId xmlns:a16="http://schemas.microsoft.com/office/drawing/2014/main" id="{A827C8E1-C06E-4B9F-9ABC-4069A88B5F1E}"/>
              </a:ext>
            </a:extLst>
          </p:cNvPr>
          <p:cNvCxnSpPr>
            <a:cxnSpLocks/>
          </p:cNvCxnSpPr>
          <p:nvPr/>
        </p:nvCxnSpPr>
        <p:spPr>
          <a:xfrm flipV="1">
            <a:off x="1311207" y="4246173"/>
            <a:ext cx="6468" cy="189391"/>
          </a:xfrm>
          <a:prstGeom prst="straightConnector1">
            <a:avLst/>
          </a:prstGeom>
          <a:ln w="9525">
            <a:solidFill>
              <a:srgbClr val="003366"/>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75" name="TextBox 174">
            <a:extLst>
              <a:ext uri="{FF2B5EF4-FFF2-40B4-BE49-F238E27FC236}">
                <a16:creationId xmlns:a16="http://schemas.microsoft.com/office/drawing/2014/main" id="{8C9854DC-0DCD-46ED-BAB7-E76341141C87}"/>
              </a:ext>
            </a:extLst>
          </p:cNvPr>
          <p:cNvSpPr txBox="1"/>
          <p:nvPr/>
        </p:nvSpPr>
        <p:spPr>
          <a:xfrm>
            <a:off x="5453957" y="1799121"/>
            <a:ext cx="1061393" cy="1384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Aug 2024</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77" name="矩形 20">
            <a:extLst>
              <a:ext uri="{FF2B5EF4-FFF2-40B4-BE49-F238E27FC236}">
                <a16:creationId xmlns:a16="http://schemas.microsoft.com/office/drawing/2014/main" id="{718BFF50-FC3B-4CF8-8EB0-766A236EDC49}"/>
              </a:ext>
            </a:extLst>
          </p:cNvPr>
          <p:cNvSpPr/>
          <p:nvPr/>
        </p:nvSpPr>
        <p:spPr>
          <a:xfrm>
            <a:off x="3479205" y="1967416"/>
            <a:ext cx="2638307" cy="256032"/>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187" name="矩形 20">
            <a:extLst>
              <a:ext uri="{FF2B5EF4-FFF2-40B4-BE49-F238E27FC236}">
                <a16:creationId xmlns:a16="http://schemas.microsoft.com/office/drawing/2014/main" id="{54C3CD3D-74E9-4F1C-B583-BF34095EBDDD}"/>
              </a:ext>
            </a:extLst>
          </p:cNvPr>
          <p:cNvSpPr/>
          <p:nvPr/>
        </p:nvSpPr>
        <p:spPr>
          <a:xfrm>
            <a:off x="3489161" y="4070685"/>
            <a:ext cx="2612559" cy="256032"/>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193" name="矩形 20">
            <a:extLst>
              <a:ext uri="{FF2B5EF4-FFF2-40B4-BE49-F238E27FC236}">
                <a16:creationId xmlns:a16="http://schemas.microsoft.com/office/drawing/2014/main" id="{5E5EC571-5521-484E-9BCD-2D5E8B97FAEF}"/>
              </a:ext>
            </a:extLst>
          </p:cNvPr>
          <p:cNvSpPr/>
          <p:nvPr/>
        </p:nvSpPr>
        <p:spPr>
          <a:xfrm>
            <a:off x="4336014" y="2466560"/>
            <a:ext cx="2352687" cy="256032"/>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194" name="Star: 4 Points 143">
            <a:extLst>
              <a:ext uri="{FF2B5EF4-FFF2-40B4-BE49-F238E27FC236}">
                <a16:creationId xmlns:a16="http://schemas.microsoft.com/office/drawing/2014/main" id="{922E381F-4E62-4E9B-8D26-68341FDDD10E}"/>
              </a:ext>
            </a:extLst>
          </p:cNvPr>
          <p:cNvSpPr/>
          <p:nvPr/>
        </p:nvSpPr>
        <p:spPr bwMode="auto">
          <a:xfrm>
            <a:off x="6598537" y="260073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1" name="TextBox 170">
            <a:extLst>
              <a:ext uri="{FF2B5EF4-FFF2-40B4-BE49-F238E27FC236}">
                <a16:creationId xmlns:a16="http://schemas.microsoft.com/office/drawing/2014/main" id="{9DAEED67-FF51-4933-8DB9-DF126144E833}"/>
              </a:ext>
            </a:extLst>
          </p:cNvPr>
          <p:cNvSpPr txBox="1"/>
          <p:nvPr/>
        </p:nvSpPr>
        <p:spPr>
          <a:xfrm>
            <a:off x="29051" y="4728590"/>
            <a:ext cx="599316" cy="328423"/>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1305.23</a:t>
            </a:r>
          </a:p>
        </p:txBody>
      </p:sp>
      <p:sp>
        <p:nvSpPr>
          <p:cNvPr id="178" name="OTLSHAPE_T_5a934a26f311425e8ebaa0f45e6533ad_Shape">
            <a:extLst>
              <a:ext uri="{FF2B5EF4-FFF2-40B4-BE49-F238E27FC236}">
                <a16:creationId xmlns:a16="http://schemas.microsoft.com/office/drawing/2014/main" id="{4FB961C9-880F-4E2E-90FB-A3920EBE6C27}"/>
              </a:ext>
            </a:extLst>
          </p:cNvPr>
          <p:cNvSpPr/>
          <p:nvPr>
            <p:custDataLst>
              <p:tags r:id="rId19"/>
            </p:custDataLst>
          </p:nvPr>
        </p:nvSpPr>
        <p:spPr bwMode="auto">
          <a:xfrm>
            <a:off x="2335816" y="4763413"/>
            <a:ext cx="2014437" cy="256032"/>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endPar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9" name="OTLSHAPE_T_e17f3958430f4cff8650518c93c7635e_StartDate">
            <a:extLst>
              <a:ext uri="{FF2B5EF4-FFF2-40B4-BE49-F238E27FC236}">
                <a16:creationId xmlns:a16="http://schemas.microsoft.com/office/drawing/2014/main" id="{22D4F8F6-6B2A-46A3-8080-17031A334CD4}"/>
              </a:ext>
            </a:extLst>
          </p:cNvPr>
          <p:cNvSpPr txBox="1"/>
          <p:nvPr>
            <p:custDataLst>
              <p:tags r:id="rId20"/>
            </p:custDataLst>
          </p:nvPr>
        </p:nvSpPr>
        <p:spPr>
          <a:xfrm>
            <a:off x="2383971" y="4822186"/>
            <a:ext cx="1950676" cy="1384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Allocated China ML N=155, TW: N=28</a:t>
            </a:r>
            <a:endParaRPr kumimoji="0" lang="en-US" altLang="zh-CN" sz="9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sp>
        <p:nvSpPr>
          <p:cNvPr id="180" name="OTLSHAPE_T_e17f3958430f4cff8650518c93c7635e_Shape">
            <a:extLst>
              <a:ext uri="{FF2B5EF4-FFF2-40B4-BE49-F238E27FC236}">
                <a16:creationId xmlns:a16="http://schemas.microsoft.com/office/drawing/2014/main" id="{30C063E1-605D-410A-8356-38A4C4188B49}"/>
              </a:ext>
            </a:extLst>
          </p:cNvPr>
          <p:cNvSpPr/>
          <p:nvPr>
            <p:custDataLst>
              <p:tags r:id="rId21"/>
            </p:custDataLst>
          </p:nvPr>
        </p:nvSpPr>
        <p:spPr bwMode="auto">
          <a:xfrm>
            <a:off x="1317641" y="4745817"/>
            <a:ext cx="1066331" cy="256032"/>
          </a:xfrm>
          <a:prstGeom prst="roundRect">
            <a:avLst>
              <a:gd name="adj" fmla="val 16667"/>
            </a:avLst>
          </a:prstGeom>
          <a:solidFill>
            <a:srgbClr val="E3DFE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 + 1</a:t>
            </a:r>
            <a:r>
              <a:rPr kumimoji="0" lang="en-US" altLang="zh-CN" sz="700" b="1" i="0" u="none" strike="noStrike" kern="1200" cap="none" spc="0" normalizeH="0" baseline="30000" noProof="0">
                <a:ln>
                  <a:noFill/>
                </a:ln>
                <a:solidFill>
                  <a:srgbClr val="000000"/>
                </a:solidFill>
                <a:effectLst/>
                <a:uLnTx/>
                <a:uFillTx/>
                <a:latin typeface="Calibri" panose="020F0502020204030204" pitchFamily="34" charset="0"/>
                <a:ea typeface="+mn-ea"/>
                <a:cs typeface="Calibri" panose="020F0502020204030204" pitchFamily="34" charset="0"/>
              </a:rPr>
              <a:t>st</a:t>
            </a: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SIV (5.5 M)</a:t>
            </a:r>
            <a:endParaRPr kumimoji="0" lang="zh-CN" altLang="en-US"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86" name="OTLSHAPE_M_39ea6ebc19a94c9fab6ef5006c31df58_Title">
            <a:extLst>
              <a:ext uri="{FF2B5EF4-FFF2-40B4-BE49-F238E27FC236}">
                <a16:creationId xmlns:a16="http://schemas.microsoft.com/office/drawing/2014/main" id="{F899E66B-74E2-45B9-A247-7F7EA3B56782}"/>
              </a:ext>
            </a:extLst>
          </p:cNvPr>
          <p:cNvSpPr txBox="1"/>
          <p:nvPr>
            <p:custDataLst>
              <p:tags r:id="rId22"/>
            </p:custDataLst>
          </p:nvPr>
        </p:nvSpPr>
        <p:spPr>
          <a:xfrm>
            <a:off x="1301415" y="5059253"/>
            <a:ext cx="420116" cy="138499"/>
          </a:xfrm>
          <a:prstGeom prst="rect">
            <a:avLst/>
          </a:prstGeom>
          <a:noFill/>
        </p:spPr>
        <p:txBody>
          <a:bodyPr vert="horz" wrap="square" lIns="0" tIns="0" rIns="0" bIns="0" rtlCol="0" anchor="ctr" anchorCtr="0">
            <a:spAutoFit/>
          </a:bodyPr>
          <a:lstStyle/>
          <a:p>
            <a:pPr marL="0" marR="0" lvl="0" indent="0" algn="l"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 Sub</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90" name="Star: 4 Points 143">
            <a:extLst>
              <a:ext uri="{FF2B5EF4-FFF2-40B4-BE49-F238E27FC236}">
                <a16:creationId xmlns:a16="http://schemas.microsoft.com/office/drawing/2014/main" id="{6F6B4F14-A3D2-4FA1-86B3-8304A47D7D4A}"/>
              </a:ext>
            </a:extLst>
          </p:cNvPr>
          <p:cNvSpPr/>
          <p:nvPr/>
        </p:nvSpPr>
        <p:spPr bwMode="auto">
          <a:xfrm>
            <a:off x="2258801" y="4864683"/>
            <a:ext cx="184243" cy="256032"/>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99" name="矩形 20">
            <a:extLst>
              <a:ext uri="{FF2B5EF4-FFF2-40B4-BE49-F238E27FC236}">
                <a16:creationId xmlns:a16="http://schemas.microsoft.com/office/drawing/2014/main" id="{9C9F6343-6681-48DE-87B4-44D633461EF0}"/>
              </a:ext>
            </a:extLst>
          </p:cNvPr>
          <p:cNvSpPr/>
          <p:nvPr/>
        </p:nvSpPr>
        <p:spPr>
          <a:xfrm>
            <a:off x="4319793" y="4755172"/>
            <a:ext cx="2368908" cy="251920"/>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206" name="五角星 55">
            <a:extLst>
              <a:ext uri="{FF2B5EF4-FFF2-40B4-BE49-F238E27FC236}">
                <a16:creationId xmlns:a16="http://schemas.microsoft.com/office/drawing/2014/main" id="{B5E91E3E-1E01-43EF-9E8C-7C6A6F4DA617}"/>
              </a:ext>
            </a:extLst>
          </p:cNvPr>
          <p:cNvSpPr>
            <a:spLocks noChangeAspect="1"/>
          </p:cNvSpPr>
          <p:nvPr/>
        </p:nvSpPr>
        <p:spPr bwMode="auto">
          <a:xfrm>
            <a:off x="7013279" y="2031187"/>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899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172" name="OTLSHAPE_T_e17f3958430f4cff8650518c93c7635e_StartDate">
            <a:extLst>
              <a:ext uri="{FF2B5EF4-FFF2-40B4-BE49-F238E27FC236}">
                <a16:creationId xmlns:a16="http://schemas.microsoft.com/office/drawing/2014/main" id="{175CEA2E-5B4C-44ED-B320-D7230A14AC3B}"/>
              </a:ext>
            </a:extLst>
          </p:cNvPr>
          <p:cNvSpPr txBox="1"/>
          <p:nvPr>
            <p:custDataLst>
              <p:tags r:id="rId23"/>
            </p:custDataLst>
          </p:nvPr>
        </p:nvSpPr>
        <p:spPr>
          <a:xfrm>
            <a:off x="3415344" y="5853951"/>
            <a:ext cx="714785" cy="123111"/>
          </a:xfrm>
          <a:prstGeom prst="rect">
            <a:avLst/>
          </a:prstGeom>
          <a:noFill/>
        </p:spPr>
        <p:txBody>
          <a:bodyPr vert="horz" wrap="square" lIns="0" tIns="0" rIns="0" bIns="0" rtlCol="0" anchor="ctr" anchorCtr="0">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14Jul2023</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91" name="Rectangle 37">
            <a:extLst>
              <a:ext uri="{FF2B5EF4-FFF2-40B4-BE49-F238E27FC236}">
                <a16:creationId xmlns:a16="http://schemas.microsoft.com/office/drawing/2014/main" id="{7582EEDD-A9E0-4CC5-8B0C-2A6BFC6C869F}"/>
              </a:ext>
            </a:extLst>
          </p:cNvPr>
          <p:cNvSpPr/>
          <p:nvPr/>
        </p:nvSpPr>
        <p:spPr>
          <a:xfrm>
            <a:off x="4459081" y="5853951"/>
            <a:ext cx="639491" cy="123111"/>
          </a:xfrm>
          <a:prstGeom prst="rect">
            <a:avLst/>
          </a:prstGeom>
          <a:noFill/>
        </p:spPr>
        <p:txBody>
          <a:bodyPr vert="horz" wrap="square" lIns="0" tIns="0" rIns="0" bIns="0" rtlCol="0" anchor="ctr" anchorCtr="0">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Jan 2024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 name="TextBox 6">
            <a:extLst>
              <a:ext uri="{FF2B5EF4-FFF2-40B4-BE49-F238E27FC236}">
                <a16:creationId xmlns:a16="http://schemas.microsoft.com/office/drawing/2014/main" id="{E9DC4527-9B66-4450-86F5-689D3C73A610}"/>
              </a:ext>
            </a:extLst>
          </p:cNvPr>
          <p:cNvSpPr txBox="1"/>
          <p:nvPr/>
        </p:nvSpPr>
        <p:spPr>
          <a:xfrm>
            <a:off x="10665488" y="5593806"/>
            <a:ext cx="1511117" cy="1600438"/>
          </a:xfrm>
          <a:prstGeom prst="rect">
            <a:avLst/>
          </a:prstGeom>
          <a:noFill/>
        </p:spPr>
        <p:txBody>
          <a:bodyPr wrap="square" lIns="0" tIns="0" rIns="0" bIns="0" rtlCol="0">
            <a:spAutoFit/>
          </a:bodyPr>
          <a:lstStyle/>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LSS: Last subject screening</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LSLV: Last subject last visit</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DBL: database lock</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HAI: Healthy authority interaction</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INN: International Nonproprietary Names</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err="1">
                <a:ln>
                  <a:noFill/>
                </a:ln>
                <a:solidFill>
                  <a:srgbClr val="FFFFFF">
                    <a:lumMod val="50000"/>
                  </a:srgbClr>
                </a:solidFill>
                <a:effectLst/>
                <a:uLnTx/>
                <a:uFillTx/>
                <a:latin typeface="BISansCond"/>
                <a:ea typeface="+mn-ea"/>
                <a:cs typeface="+mn-cs"/>
              </a:rPr>
              <a:t>ChP</a:t>
            </a: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 Chinese Pharmacopoeia Commission</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BE: Bioequivalence</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OLE: Open label extension</a:t>
            </a: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endParaRP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endParaRP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endParaRPr>
          </a:p>
        </p:txBody>
      </p:sp>
      <p:sp>
        <p:nvSpPr>
          <p:cNvPr id="198" name="Rectangle 37">
            <a:extLst>
              <a:ext uri="{FF2B5EF4-FFF2-40B4-BE49-F238E27FC236}">
                <a16:creationId xmlns:a16="http://schemas.microsoft.com/office/drawing/2014/main" id="{1774BA4C-C416-48F1-818F-A2111977357D}"/>
              </a:ext>
            </a:extLst>
          </p:cNvPr>
          <p:cNvSpPr/>
          <p:nvPr/>
        </p:nvSpPr>
        <p:spPr>
          <a:xfrm>
            <a:off x="7014831" y="3858088"/>
            <a:ext cx="784189"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19 Feb 2025</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nvGrpSpPr>
          <p:cNvPr id="203" name="Group 202">
            <a:extLst>
              <a:ext uri="{FF2B5EF4-FFF2-40B4-BE49-F238E27FC236}">
                <a16:creationId xmlns:a16="http://schemas.microsoft.com/office/drawing/2014/main" id="{3855D1D5-D3D2-4F97-9E67-F3646B91ACCC}"/>
              </a:ext>
            </a:extLst>
          </p:cNvPr>
          <p:cNvGrpSpPr/>
          <p:nvPr/>
        </p:nvGrpSpPr>
        <p:grpSpPr>
          <a:xfrm>
            <a:off x="8917005" y="1316190"/>
            <a:ext cx="546747" cy="5281891"/>
            <a:chOff x="2078680" y="1211749"/>
            <a:chExt cx="546747" cy="3961415"/>
          </a:xfrm>
        </p:grpSpPr>
        <p:cxnSp>
          <p:nvCxnSpPr>
            <p:cNvPr id="204" name="Straight Connector 203">
              <a:extLst>
                <a:ext uri="{FF2B5EF4-FFF2-40B4-BE49-F238E27FC236}">
                  <a16:creationId xmlns:a16="http://schemas.microsoft.com/office/drawing/2014/main" id="{02E9FED2-5A70-4BF1-B54F-D99842DB23FA}"/>
                </a:ext>
              </a:extLst>
            </p:cNvPr>
            <p:cNvCxnSpPr>
              <a:cxnSpLocks/>
            </p:cNvCxnSpPr>
            <p:nvPr/>
          </p:nvCxnSpPr>
          <p:spPr bwMode="auto">
            <a:xfrm flipV="1">
              <a:off x="2134059" y="139819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207" name="OTLSHAPE_T_e17f3958430f4cff8650518c93c7635e_StartDate">
              <a:extLst>
                <a:ext uri="{FF2B5EF4-FFF2-40B4-BE49-F238E27FC236}">
                  <a16:creationId xmlns:a16="http://schemas.microsoft.com/office/drawing/2014/main" id="{967EFA37-DFAA-46BF-84D0-CD7B5F281FB4}"/>
                </a:ext>
              </a:extLst>
            </p:cNvPr>
            <p:cNvSpPr txBox="1"/>
            <p:nvPr>
              <p:custDataLst>
                <p:tags r:id="rId39"/>
              </p:custDataLst>
            </p:nvPr>
          </p:nvSpPr>
          <p:spPr>
            <a:xfrm>
              <a:off x="2078680" y="1211749"/>
              <a:ext cx="546747" cy="246317"/>
            </a:xfrm>
            <a:prstGeom prst="rect">
              <a:avLst/>
            </a:prstGeom>
            <a:noFill/>
            <a:ln w="12700">
              <a:noFill/>
            </a:ln>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210" name="OTLSHAPE_T_e17f3958430f4cff8650518c93c7635e_StartDate">
            <a:extLst>
              <a:ext uri="{FF2B5EF4-FFF2-40B4-BE49-F238E27FC236}">
                <a16:creationId xmlns:a16="http://schemas.microsoft.com/office/drawing/2014/main" id="{6A0574E4-9366-44A4-B234-500AE40A94DA}"/>
              </a:ext>
            </a:extLst>
          </p:cNvPr>
          <p:cNvSpPr txBox="1"/>
          <p:nvPr>
            <p:custDataLst>
              <p:tags r:id="rId24"/>
            </p:custDataLst>
          </p:nvPr>
        </p:nvSpPr>
        <p:spPr>
          <a:xfrm>
            <a:off x="2066552" y="2326845"/>
            <a:ext cx="354653" cy="1384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Nov 8 </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81" name="Star: 4 Points 143">
            <a:extLst>
              <a:ext uri="{FF2B5EF4-FFF2-40B4-BE49-F238E27FC236}">
                <a16:creationId xmlns:a16="http://schemas.microsoft.com/office/drawing/2014/main" id="{027EAF24-5C8B-4E99-BBC9-EBA7F47C0C77}"/>
              </a:ext>
            </a:extLst>
          </p:cNvPr>
          <p:cNvSpPr/>
          <p:nvPr/>
        </p:nvSpPr>
        <p:spPr bwMode="auto">
          <a:xfrm>
            <a:off x="4644665" y="6000305"/>
            <a:ext cx="161187" cy="151376"/>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8988" rtl="0" eaLnBrk="0" fontAlgn="base" latinLnBrk="0" hangingPunct="0">
              <a:lnSpc>
                <a:spcPct val="100000"/>
              </a:lnSpc>
              <a:spcBef>
                <a:spcPct val="0"/>
              </a:spcBef>
              <a:spcAft>
                <a:spcPct val="0"/>
              </a:spcAft>
              <a:buClrTx/>
              <a:buSzTx/>
              <a:buFontTx/>
              <a:buNone/>
              <a:tabLst/>
              <a:defRPr/>
            </a:pPr>
            <a:endParaRPr kumimoji="0" lang="zh-CN" altLang="en-US" sz="1867"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59" name="Rectangle 158">
            <a:extLst>
              <a:ext uri="{FF2B5EF4-FFF2-40B4-BE49-F238E27FC236}">
                <a16:creationId xmlns:a16="http://schemas.microsoft.com/office/drawing/2014/main" id="{6F53AC7D-E4E1-4EB0-B084-42057C763CB4}"/>
              </a:ext>
            </a:extLst>
          </p:cNvPr>
          <p:cNvSpPr/>
          <p:nvPr/>
        </p:nvSpPr>
        <p:spPr>
          <a:xfrm>
            <a:off x="3475207" y="6212645"/>
            <a:ext cx="349775" cy="215444"/>
          </a:xfrm>
          <a:prstGeom prst="rect">
            <a:avLst/>
          </a:prstGeom>
        </p:spPr>
        <p:txBody>
          <a:bodyPr wrap="none">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DBL</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20" name="TextBox 19">
            <a:extLst>
              <a:ext uri="{FF2B5EF4-FFF2-40B4-BE49-F238E27FC236}">
                <a16:creationId xmlns:a16="http://schemas.microsoft.com/office/drawing/2014/main" id="{4DDF2D0E-0F2B-463E-42D1-3E0AB0F1BB9D}"/>
              </a:ext>
            </a:extLst>
          </p:cNvPr>
          <p:cNvSpPr txBox="1"/>
          <p:nvPr/>
        </p:nvSpPr>
        <p:spPr>
          <a:xfrm>
            <a:off x="3130276" y="1799121"/>
            <a:ext cx="683145" cy="1384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5Jun 2023 </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8" name="Rectangle 37">
            <a:extLst>
              <a:ext uri="{FF2B5EF4-FFF2-40B4-BE49-F238E27FC236}">
                <a16:creationId xmlns:a16="http://schemas.microsoft.com/office/drawing/2014/main" id="{0678D67F-8ECF-2C13-D442-892D21D7D831}"/>
              </a:ext>
            </a:extLst>
          </p:cNvPr>
          <p:cNvSpPr/>
          <p:nvPr/>
        </p:nvSpPr>
        <p:spPr>
          <a:xfrm>
            <a:off x="7753724" y="2393496"/>
            <a:ext cx="925720" cy="371512"/>
          </a:xfrm>
          <a:prstGeom prst="rect">
            <a:avLst/>
          </a:prstGeom>
        </p:spPr>
        <p:txBody>
          <a:bodyPr wrap="squar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7"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US NDA Sub </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7"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5 May 2025</a:t>
            </a:r>
            <a:endParaRPr kumimoji="0" lang="zh-CN" altLang="en-US" sz="907"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9" name="Rectangle 37">
            <a:extLst>
              <a:ext uri="{FF2B5EF4-FFF2-40B4-BE49-F238E27FC236}">
                <a16:creationId xmlns:a16="http://schemas.microsoft.com/office/drawing/2014/main" id="{2DA1563D-511F-5F1E-D85D-63C5D6DE00B0}"/>
              </a:ext>
            </a:extLst>
          </p:cNvPr>
          <p:cNvSpPr/>
          <p:nvPr/>
        </p:nvSpPr>
        <p:spPr>
          <a:xfrm>
            <a:off x="9271965" y="2393496"/>
            <a:ext cx="1175423" cy="371512"/>
          </a:xfrm>
          <a:prstGeom prst="rect">
            <a:avLst/>
          </a:prstGeom>
        </p:spPr>
        <p:txBody>
          <a:bodyPr wrap="squar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7"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US NDA appr.</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7"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Jan</a:t>
            </a:r>
            <a:endParaRPr kumimoji="0" lang="zh-CN" altLang="en-US" sz="907"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3" name="OTLSHAPE_T_e17f3958430f4cff8650518c93c7635e_Shape">
            <a:extLst>
              <a:ext uri="{FF2B5EF4-FFF2-40B4-BE49-F238E27FC236}">
                <a16:creationId xmlns:a16="http://schemas.microsoft.com/office/drawing/2014/main" id="{82BD4B15-9383-5758-9556-56095A4933C5}"/>
              </a:ext>
            </a:extLst>
          </p:cNvPr>
          <p:cNvSpPr/>
          <p:nvPr>
            <p:custDataLst>
              <p:tags r:id="rId25"/>
            </p:custDataLst>
          </p:nvPr>
        </p:nvSpPr>
        <p:spPr bwMode="auto">
          <a:xfrm>
            <a:off x="7799020" y="4745817"/>
            <a:ext cx="1429783" cy="233065"/>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r>
              <a:rPr kumimoji="0" lang="en-US" altLang="zh-CN" sz="8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NDA review for PPF</a:t>
            </a:r>
            <a:endParaRPr kumimoji="0" lang="zh-CN" altLang="en-US" sz="8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5" name="Rectangle 37">
            <a:extLst>
              <a:ext uri="{FF2B5EF4-FFF2-40B4-BE49-F238E27FC236}">
                <a16:creationId xmlns:a16="http://schemas.microsoft.com/office/drawing/2014/main" id="{A1017237-98EB-8D67-FF0A-93D859C34DF0}"/>
              </a:ext>
            </a:extLst>
          </p:cNvPr>
          <p:cNvSpPr/>
          <p:nvPr/>
        </p:nvSpPr>
        <p:spPr>
          <a:xfrm>
            <a:off x="7474251" y="5051626"/>
            <a:ext cx="649537"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 </a:t>
            </a:r>
          </a:p>
        </p:txBody>
      </p:sp>
      <p:sp>
        <p:nvSpPr>
          <p:cNvPr id="37" name="OTLSHAPE_M_39ea6ebc19a94c9fab6ef5006c31df58_Shape">
            <a:extLst>
              <a:ext uri="{FF2B5EF4-FFF2-40B4-BE49-F238E27FC236}">
                <a16:creationId xmlns:a16="http://schemas.microsoft.com/office/drawing/2014/main" id="{C3F9AF42-C94B-37E9-E6E2-FF575D9C96F8}"/>
              </a:ext>
            </a:extLst>
          </p:cNvPr>
          <p:cNvSpPr/>
          <p:nvPr>
            <p:custDataLst>
              <p:tags r:id="rId26"/>
            </p:custDataLst>
          </p:nvPr>
        </p:nvSpPr>
        <p:spPr bwMode="auto">
          <a:xfrm rot="16200000">
            <a:off x="7753302" y="4971746"/>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36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2" name="五角星 55">
            <a:extLst>
              <a:ext uri="{FF2B5EF4-FFF2-40B4-BE49-F238E27FC236}">
                <a16:creationId xmlns:a16="http://schemas.microsoft.com/office/drawing/2014/main" id="{4E726A19-075B-3A54-7894-D97F074BCDCA}"/>
              </a:ext>
            </a:extLst>
          </p:cNvPr>
          <p:cNvSpPr>
            <a:spLocks noChangeAspect="1"/>
          </p:cNvSpPr>
          <p:nvPr/>
        </p:nvSpPr>
        <p:spPr bwMode="auto">
          <a:xfrm>
            <a:off x="9125256" y="4912684"/>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899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48" name="TextBox 47">
            <a:extLst>
              <a:ext uri="{FF2B5EF4-FFF2-40B4-BE49-F238E27FC236}">
                <a16:creationId xmlns:a16="http://schemas.microsoft.com/office/drawing/2014/main" id="{1EF987DA-DAB2-2B64-5D0C-CB0161B90EF7}"/>
              </a:ext>
            </a:extLst>
          </p:cNvPr>
          <p:cNvSpPr txBox="1"/>
          <p:nvPr/>
        </p:nvSpPr>
        <p:spPr>
          <a:xfrm>
            <a:off x="25051" y="5291107"/>
            <a:ext cx="599316" cy="328423"/>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 OLE-</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1305.31</a:t>
            </a:r>
          </a:p>
        </p:txBody>
      </p:sp>
      <p:sp>
        <p:nvSpPr>
          <p:cNvPr id="55" name="OTLSHAPE_T_5a934a26f311425e8ebaa0f45e6533ad_Shape">
            <a:extLst>
              <a:ext uri="{FF2B5EF4-FFF2-40B4-BE49-F238E27FC236}">
                <a16:creationId xmlns:a16="http://schemas.microsoft.com/office/drawing/2014/main" id="{DD0EB921-6E74-AECC-288A-E2EA7034C140}"/>
              </a:ext>
            </a:extLst>
          </p:cNvPr>
          <p:cNvSpPr/>
          <p:nvPr>
            <p:custDataLst>
              <p:tags r:id="rId27"/>
            </p:custDataLst>
          </p:nvPr>
        </p:nvSpPr>
        <p:spPr bwMode="auto">
          <a:xfrm>
            <a:off x="6283908" y="5270769"/>
            <a:ext cx="5150217" cy="256032"/>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endPar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2" name="TextBox 61">
            <a:extLst>
              <a:ext uri="{FF2B5EF4-FFF2-40B4-BE49-F238E27FC236}">
                <a16:creationId xmlns:a16="http://schemas.microsoft.com/office/drawing/2014/main" id="{4A258BCD-DABE-44F5-0680-2B460D1F7C14}"/>
              </a:ext>
            </a:extLst>
          </p:cNvPr>
          <p:cNvSpPr txBox="1"/>
          <p:nvPr/>
        </p:nvSpPr>
        <p:spPr>
          <a:xfrm>
            <a:off x="5159" y="2741624"/>
            <a:ext cx="563820" cy="328423"/>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 OLE-</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1305.31</a:t>
            </a:r>
          </a:p>
        </p:txBody>
      </p:sp>
      <p:sp>
        <p:nvSpPr>
          <p:cNvPr id="63" name="OTLSHAPE_T_5a934a26f311425e8ebaa0f45e6533ad_Shape">
            <a:extLst>
              <a:ext uri="{FF2B5EF4-FFF2-40B4-BE49-F238E27FC236}">
                <a16:creationId xmlns:a16="http://schemas.microsoft.com/office/drawing/2014/main" id="{7C0E7AFA-200A-4778-D5B9-A988983201CC}"/>
              </a:ext>
            </a:extLst>
          </p:cNvPr>
          <p:cNvSpPr/>
          <p:nvPr>
            <p:custDataLst>
              <p:tags r:id="rId28"/>
            </p:custDataLst>
          </p:nvPr>
        </p:nvSpPr>
        <p:spPr bwMode="auto">
          <a:xfrm>
            <a:off x="6303652" y="3053528"/>
            <a:ext cx="5130469" cy="256032"/>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OLE</a:t>
            </a:r>
          </a:p>
        </p:txBody>
      </p:sp>
      <p:sp>
        <p:nvSpPr>
          <p:cNvPr id="69" name="Rectangle 68">
            <a:extLst>
              <a:ext uri="{FF2B5EF4-FFF2-40B4-BE49-F238E27FC236}">
                <a16:creationId xmlns:a16="http://schemas.microsoft.com/office/drawing/2014/main" id="{7BF94B7E-4DC0-E432-67BF-F024DB92FB3F}"/>
              </a:ext>
            </a:extLst>
          </p:cNvPr>
          <p:cNvSpPr/>
          <p:nvPr/>
        </p:nvSpPr>
        <p:spPr>
          <a:xfrm>
            <a:off x="6131692" y="3271381"/>
            <a:ext cx="365805"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1" name="OTLSHAPE_T_e17f3958430f4cff8650518c93c7635e_StartDate">
            <a:extLst>
              <a:ext uri="{FF2B5EF4-FFF2-40B4-BE49-F238E27FC236}">
                <a16:creationId xmlns:a16="http://schemas.microsoft.com/office/drawing/2014/main" id="{D841DA78-7606-1D97-59B3-AE4D7CC09436}"/>
              </a:ext>
            </a:extLst>
          </p:cNvPr>
          <p:cNvSpPr txBox="1"/>
          <p:nvPr>
            <p:custDataLst>
              <p:tags r:id="rId29"/>
            </p:custDataLst>
          </p:nvPr>
        </p:nvSpPr>
        <p:spPr>
          <a:xfrm>
            <a:off x="5713052" y="2899183"/>
            <a:ext cx="1116936" cy="1384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26Sep 2024 </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2" name="Star: 4 Points 143">
            <a:extLst>
              <a:ext uri="{FF2B5EF4-FFF2-40B4-BE49-F238E27FC236}">
                <a16:creationId xmlns:a16="http://schemas.microsoft.com/office/drawing/2014/main" id="{527D4B15-FE8F-E48E-738F-EFE8FA5A3CC8}"/>
              </a:ext>
            </a:extLst>
          </p:cNvPr>
          <p:cNvSpPr/>
          <p:nvPr/>
        </p:nvSpPr>
        <p:spPr bwMode="auto">
          <a:xfrm>
            <a:off x="11343185" y="319491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5" name="Rectangle 74">
            <a:extLst>
              <a:ext uri="{FF2B5EF4-FFF2-40B4-BE49-F238E27FC236}">
                <a16:creationId xmlns:a16="http://schemas.microsoft.com/office/drawing/2014/main" id="{B91DF025-93D2-B8EE-EBE6-68E381642370}"/>
              </a:ext>
            </a:extLst>
          </p:cNvPr>
          <p:cNvSpPr/>
          <p:nvPr/>
        </p:nvSpPr>
        <p:spPr>
          <a:xfrm>
            <a:off x="11222917" y="3272461"/>
            <a:ext cx="396262"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 </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7" name="Star: 4 Points 143">
            <a:extLst>
              <a:ext uri="{FF2B5EF4-FFF2-40B4-BE49-F238E27FC236}">
                <a16:creationId xmlns:a16="http://schemas.microsoft.com/office/drawing/2014/main" id="{1D9E16AE-5B5B-2D3C-D4FF-5325DFC77B53}"/>
              </a:ext>
            </a:extLst>
          </p:cNvPr>
          <p:cNvSpPr/>
          <p:nvPr/>
        </p:nvSpPr>
        <p:spPr bwMode="auto">
          <a:xfrm>
            <a:off x="6221845" y="316698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8" name="OTLSHAPE_T_e17f3958430f4cff8650518c93c7635e_StartDate">
            <a:extLst>
              <a:ext uri="{FF2B5EF4-FFF2-40B4-BE49-F238E27FC236}">
                <a16:creationId xmlns:a16="http://schemas.microsoft.com/office/drawing/2014/main" id="{FE5BCCC4-C8C9-E49C-6492-E3FF71C34E82}"/>
              </a:ext>
            </a:extLst>
          </p:cNvPr>
          <p:cNvSpPr txBox="1"/>
          <p:nvPr>
            <p:custDataLst>
              <p:tags r:id="rId30"/>
            </p:custDataLst>
          </p:nvPr>
        </p:nvSpPr>
        <p:spPr>
          <a:xfrm>
            <a:off x="10824161" y="2899183"/>
            <a:ext cx="1116936" cy="1384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Jan 2027</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9" name="OTLSHAPE_T_e17f3958430f4cff8650518c93c7635e_Shape">
            <a:extLst>
              <a:ext uri="{FF2B5EF4-FFF2-40B4-BE49-F238E27FC236}">
                <a16:creationId xmlns:a16="http://schemas.microsoft.com/office/drawing/2014/main" id="{9DC64F3E-B26E-A514-1D53-2A986DE14DE2}"/>
              </a:ext>
            </a:extLst>
          </p:cNvPr>
          <p:cNvSpPr/>
          <p:nvPr>
            <p:custDataLst>
              <p:tags r:id="rId31"/>
            </p:custDataLst>
          </p:nvPr>
        </p:nvSpPr>
        <p:spPr bwMode="auto">
          <a:xfrm>
            <a:off x="4225508" y="5264015"/>
            <a:ext cx="2051929" cy="256032"/>
          </a:xfrm>
          <a:prstGeom prst="roundRect">
            <a:avLst>
              <a:gd name="adj" fmla="val 16667"/>
            </a:avLst>
          </a:prstGeom>
          <a:solidFill>
            <a:srgbClr val="E3DFE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 + 1</a:t>
            </a:r>
            <a:r>
              <a:rPr kumimoji="0" lang="en-US" altLang="zh-CN" sz="700" b="1" i="0" u="none" strike="noStrike" kern="1200" cap="none" spc="0" normalizeH="0" baseline="30000" noProof="0">
                <a:ln>
                  <a:noFill/>
                </a:ln>
                <a:solidFill>
                  <a:srgbClr val="000000"/>
                </a:solidFill>
                <a:effectLst/>
                <a:uLnTx/>
                <a:uFillTx/>
                <a:latin typeface="Calibri" panose="020F0502020204030204" pitchFamily="34" charset="0"/>
                <a:ea typeface="+mn-ea"/>
                <a:cs typeface="Calibri" panose="020F0502020204030204" pitchFamily="34" charset="0"/>
              </a:rPr>
              <a:t>st</a:t>
            </a: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SIV </a:t>
            </a:r>
            <a:endParaRPr kumimoji="0" lang="zh-CN" altLang="en-US"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0" name="OTLSHAPE_M_39ea6ebc19a94c9fab6ef5006c31df58_Shape">
            <a:extLst>
              <a:ext uri="{FF2B5EF4-FFF2-40B4-BE49-F238E27FC236}">
                <a16:creationId xmlns:a16="http://schemas.microsoft.com/office/drawing/2014/main" id="{389BBC32-9675-78D9-FFFE-557EA0955EAD}"/>
              </a:ext>
            </a:extLst>
          </p:cNvPr>
          <p:cNvSpPr/>
          <p:nvPr>
            <p:custDataLst>
              <p:tags r:id="rId32"/>
            </p:custDataLst>
          </p:nvPr>
        </p:nvSpPr>
        <p:spPr bwMode="auto">
          <a:xfrm rot="16200000">
            <a:off x="4200193" y="5474469"/>
            <a:ext cx="86735" cy="36105"/>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4" name="OTLSHAPE_T_e17f3958430f4cff8650518c93c7635e_StartDate">
            <a:extLst>
              <a:ext uri="{FF2B5EF4-FFF2-40B4-BE49-F238E27FC236}">
                <a16:creationId xmlns:a16="http://schemas.microsoft.com/office/drawing/2014/main" id="{2D3C8809-1391-94E3-7672-5FF48D75368B}"/>
              </a:ext>
            </a:extLst>
          </p:cNvPr>
          <p:cNvSpPr txBox="1"/>
          <p:nvPr>
            <p:custDataLst>
              <p:tags r:id="rId33"/>
            </p:custDataLst>
          </p:nvPr>
        </p:nvSpPr>
        <p:spPr>
          <a:xfrm>
            <a:off x="4119695" y="2326845"/>
            <a:ext cx="589823" cy="1384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F58A68"/>
                </a:solidFill>
                <a:effectLst/>
                <a:uLnTx/>
                <a:uFillTx/>
                <a:latin typeface="Calibri" panose="020F0502020204030204" pitchFamily="34" charset="0"/>
                <a:ea typeface="+mn-ea"/>
                <a:cs typeface="Calibri" panose="020F0502020204030204" pitchFamily="34" charset="0"/>
              </a:rPr>
              <a:t>1Nov2023 </a:t>
            </a:r>
            <a:endParaRPr kumimoji="0" lang="zh-CN" altLang="en-US" sz="900" b="1" i="0" u="none" strike="noStrike" kern="1200" cap="none" spc="0" normalizeH="0" baseline="0" noProof="0">
              <a:ln>
                <a:noFill/>
              </a:ln>
              <a:solidFill>
                <a:srgbClr val="F58A68"/>
              </a:solidFill>
              <a:effectLst/>
              <a:uLnTx/>
              <a:uFillTx/>
              <a:latin typeface="Calibri" panose="020F0502020204030204" pitchFamily="34" charset="0"/>
              <a:ea typeface="+mn-ea"/>
              <a:cs typeface="Calibri" panose="020F0502020204030204" pitchFamily="34" charset="0"/>
            </a:endParaRPr>
          </a:p>
        </p:txBody>
      </p:sp>
      <p:sp>
        <p:nvSpPr>
          <p:cNvPr id="90" name="OTLSHAPE_T_e17f3958430f4cff8650518c93c7635e_StartDate">
            <a:extLst>
              <a:ext uri="{FF2B5EF4-FFF2-40B4-BE49-F238E27FC236}">
                <a16:creationId xmlns:a16="http://schemas.microsoft.com/office/drawing/2014/main" id="{5897F635-B45E-7308-C37D-CD2E9EC952DF}"/>
              </a:ext>
            </a:extLst>
          </p:cNvPr>
          <p:cNvSpPr txBox="1"/>
          <p:nvPr>
            <p:custDataLst>
              <p:tags r:id="rId34"/>
            </p:custDataLst>
          </p:nvPr>
        </p:nvSpPr>
        <p:spPr>
          <a:xfrm>
            <a:off x="3867757" y="5152078"/>
            <a:ext cx="546849" cy="1384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Sep 2023</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 name="Rectangle 2">
            <a:extLst>
              <a:ext uri="{FF2B5EF4-FFF2-40B4-BE49-F238E27FC236}">
                <a16:creationId xmlns:a16="http://schemas.microsoft.com/office/drawing/2014/main" id="{9861FAD8-4017-C6FB-86E4-B249A667963A}"/>
              </a:ext>
            </a:extLst>
          </p:cNvPr>
          <p:cNvSpPr/>
          <p:nvPr/>
        </p:nvSpPr>
        <p:spPr>
          <a:xfrm>
            <a:off x="6082667" y="5487613"/>
            <a:ext cx="365805"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4" name="OTLSHAPE_T_e17f3958430f4cff8650518c93c7635e_StartDate">
            <a:extLst>
              <a:ext uri="{FF2B5EF4-FFF2-40B4-BE49-F238E27FC236}">
                <a16:creationId xmlns:a16="http://schemas.microsoft.com/office/drawing/2014/main" id="{68A7628B-AF88-08DF-84D1-853B37CB02C0}"/>
              </a:ext>
            </a:extLst>
          </p:cNvPr>
          <p:cNvSpPr txBox="1"/>
          <p:nvPr>
            <p:custDataLst>
              <p:tags r:id="rId35"/>
            </p:custDataLst>
          </p:nvPr>
        </p:nvSpPr>
        <p:spPr>
          <a:xfrm>
            <a:off x="5702821" y="5026044"/>
            <a:ext cx="1116936" cy="2769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26Sep 2024 </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8" name="Star: 4 Points 143">
            <a:extLst>
              <a:ext uri="{FF2B5EF4-FFF2-40B4-BE49-F238E27FC236}">
                <a16:creationId xmlns:a16="http://schemas.microsoft.com/office/drawing/2014/main" id="{492C1DCB-1659-B897-0118-F8252D0478DC}"/>
              </a:ext>
            </a:extLst>
          </p:cNvPr>
          <p:cNvSpPr/>
          <p:nvPr/>
        </p:nvSpPr>
        <p:spPr bwMode="auto">
          <a:xfrm>
            <a:off x="6203841" y="54191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9" name="Star: 4 Points 143">
            <a:extLst>
              <a:ext uri="{FF2B5EF4-FFF2-40B4-BE49-F238E27FC236}">
                <a16:creationId xmlns:a16="http://schemas.microsoft.com/office/drawing/2014/main" id="{36EA8056-2554-1425-7431-A5439E424E9A}"/>
              </a:ext>
            </a:extLst>
          </p:cNvPr>
          <p:cNvSpPr/>
          <p:nvPr/>
        </p:nvSpPr>
        <p:spPr bwMode="auto">
          <a:xfrm>
            <a:off x="11336613" y="54191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1" name="Rectangle 20">
            <a:extLst>
              <a:ext uri="{FF2B5EF4-FFF2-40B4-BE49-F238E27FC236}">
                <a16:creationId xmlns:a16="http://schemas.microsoft.com/office/drawing/2014/main" id="{F9469B6B-5AA9-DD39-A29A-A14BC5E44A95}"/>
              </a:ext>
            </a:extLst>
          </p:cNvPr>
          <p:cNvSpPr/>
          <p:nvPr/>
        </p:nvSpPr>
        <p:spPr>
          <a:xfrm>
            <a:off x="11184505" y="5517731"/>
            <a:ext cx="396262"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 </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5" name="OTLSHAPE_T_e17f3958430f4cff8650518c93c7635e_StartDate">
            <a:extLst>
              <a:ext uri="{FF2B5EF4-FFF2-40B4-BE49-F238E27FC236}">
                <a16:creationId xmlns:a16="http://schemas.microsoft.com/office/drawing/2014/main" id="{6492D9A5-40E8-4A55-8D6A-1F242C776C38}"/>
              </a:ext>
            </a:extLst>
          </p:cNvPr>
          <p:cNvSpPr txBox="1"/>
          <p:nvPr>
            <p:custDataLst>
              <p:tags r:id="rId36"/>
            </p:custDataLst>
          </p:nvPr>
        </p:nvSpPr>
        <p:spPr>
          <a:xfrm>
            <a:off x="10781725" y="5002852"/>
            <a:ext cx="1116936" cy="2769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Jan 2027</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8" name="Rectangle 7">
            <a:extLst>
              <a:ext uri="{FF2B5EF4-FFF2-40B4-BE49-F238E27FC236}">
                <a16:creationId xmlns:a16="http://schemas.microsoft.com/office/drawing/2014/main" id="{F420ADC8-AA2E-5293-DFFA-CAC8A7ACE401}"/>
              </a:ext>
            </a:extLst>
          </p:cNvPr>
          <p:cNvSpPr/>
          <p:nvPr/>
        </p:nvSpPr>
        <p:spPr>
          <a:xfrm>
            <a:off x="3273777" y="2201281"/>
            <a:ext cx="474368" cy="246221"/>
          </a:xfrm>
          <a:prstGeom prst="rect">
            <a:avLst/>
          </a:prstGeom>
        </p:spPr>
        <p:txBody>
          <a:bodyPr wrap="squar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0" name="Rectangle 9">
            <a:extLst>
              <a:ext uri="{FF2B5EF4-FFF2-40B4-BE49-F238E27FC236}">
                <a16:creationId xmlns:a16="http://schemas.microsoft.com/office/drawing/2014/main" id="{1A3A5071-FD4F-2F17-5277-6AA4E85C8E77}"/>
              </a:ext>
            </a:extLst>
          </p:cNvPr>
          <p:cNvSpPr/>
          <p:nvPr/>
        </p:nvSpPr>
        <p:spPr>
          <a:xfrm>
            <a:off x="5478520" y="2157780"/>
            <a:ext cx="1248281" cy="338554"/>
          </a:xfrm>
          <a:prstGeom prst="rect">
            <a:avLst/>
          </a:prstGeom>
        </p:spPr>
        <p:txBody>
          <a:bodyPr wrap="squar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Last patient Primary</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endpoint</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2" name="Rectangle 37">
            <a:extLst>
              <a:ext uri="{FF2B5EF4-FFF2-40B4-BE49-F238E27FC236}">
                <a16:creationId xmlns:a16="http://schemas.microsoft.com/office/drawing/2014/main" id="{40A184B6-8C2D-B25A-2D4F-7AEE6E203284}"/>
              </a:ext>
            </a:extLst>
          </p:cNvPr>
          <p:cNvSpPr/>
          <p:nvPr/>
        </p:nvSpPr>
        <p:spPr>
          <a:xfrm>
            <a:off x="8545468" y="3860810"/>
            <a:ext cx="627096"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Oct 2025</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cxnSp>
        <p:nvCxnSpPr>
          <p:cNvPr id="34" name="Straight Arrow Connector 33">
            <a:extLst>
              <a:ext uri="{FF2B5EF4-FFF2-40B4-BE49-F238E27FC236}">
                <a16:creationId xmlns:a16="http://schemas.microsoft.com/office/drawing/2014/main" id="{E3C2EEC1-5DA7-0837-E900-DC9984231716}"/>
              </a:ext>
            </a:extLst>
          </p:cNvPr>
          <p:cNvCxnSpPr>
            <a:cxnSpLocks/>
          </p:cNvCxnSpPr>
          <p:nvPr/>
        </p:nvCxnSpPr>
        <p:spPr>
          <a:xfrm flipV="1">
            <a:off x="1313491" y="4898010"/>
            <a:ext cx="6468" cy="189391"/>
          </a:xfrm>
          <a:prstGeom prst="straightConnector1">
            <a:avLst/>
          </a:prstGeom>
          <a:ln w="9525">
            <a:solidFill>
              <a:srgbClr val="003366"/>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EDE10C4-D8CD-C388-DA43-F4F6D3940E26}"/>
              </a:ext>
            </a:extLst>
          </p:cNvPr>
          <p:cNvCxnSpPr>
            <a:cxnSpLocks/>
          </p:cNvCxnSpPr>
          <p:nvPr/>
        </p:nvCxnSpPr>
        <p:spPr>
          <a:xfrm flipV="1">
            <a:off x="1359035" y="6141745"/>
            <a:ext cx="6468" cy="189391"/>
          </a:xfrm>
          <a:prstGeom prst="straightConnector1">
            <a:avLst/>
          </a:prstGeom>
          <a:ln w="9525">
            <a:solidFill>
              <a:srgbClr val="003366"/>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40" name="Star: 4 Points 143">
            <a:extLst>
              <a:ext uri="{FF2B5EF4-FFF2-40B4-BE49-F238E27FC236}">
                <a16:creationId xmlns:a16="http://schemas.microsoft.com/office/drawing/2014/main" id="{0643441F-4989-7E2F-1A2A-4C5FC228A22E}"/>
              </a:ext>
            </a:extLst>
          </p:cNvPr>
          <p:cNvSpPr/>
          <p:nvPr/>
        </p:nvSpPr>
        <p:spPr bwMode="auto">
          <a:xfrm>
            <a:off x="3031583" y="6157391"/>
            <a:ext cx="177820" cy="164148"/>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8958" rtl="0" eaLnBrk="0" fontAlgn="base" latinLnBrk="0" hangingPunct="0">
              <a:lnSpc>
                <a:spcPct val="100000"/>
              </a:lnSpc>
              <a:spcBef>
                <a:spcPct val="0"/>
              </a:spcBef>
              <a:spcAft>
                <a:spcPct val="0"/>
              </a:spcAft>
              <a:buClrTx/>
              <a:buSzTx/>
              <a:buFontTx/>
              <a:buNone/>
              <a:tabLst/>
              <a:defRPr/>
            </a:pPr>
            <a:endParaRPr kumimoji="0" lang="zh-CN" altLang="en-US" sz="1867" b="0" i="0" u="none" strike="noStrike" kern="1200" cap="none" spc="0" normalizeH="0" baseline="0" noProof="0">
              <a:ln>
                <a:noFill/>
              </a:ln>
              <a:solidFill>
                <a:srgbClr val="000000"/>
              </a:solidFill>
              <a:effectLst/>
              <a:uLnTx/>
              <a:uFillTx/>
              <a:latin typeface="Verdana" charset="0"/>
              <a:ea typeface="+mn-ea"/>
              <a:cs typeface="+mn-cs"/>
            </a:endParaRPr>
          </a:p>
        </p:txBody>
      </p:sp>
      <p:pic>
        <p:nvPicPr>
          <p:cNvPr id="52" name="Graphic 51" descr="Flag with solid fill">
            <a:extLst>
              <a:ext uri="{FF2B5EF4-FFF2-40B4-BE49-F238E27FC236}">
                <a16:creationId xmlns:a16="http://schemas.microsoft.com/office/drawing/2014/main" id="{D8E229BE-0E6D-08D7-DD03-DFA857222A2B}"/>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8398287" y="1998152"/>
            <a:ext cx="194560" cy="194560"/>
          </a:xfrm>
          <a:prstGeom prst="rect">
            <a:avLst/>
          </a:prstGeom>
        </p:spPr>
      </p:pic>
      <p:sp>
        <p:nvSpPr>
          <p:cNvPr id="54" name="五角星 55">
            <a:extLst>
              <a:ext uri="{FF2B5EF4-FFF2-40B4-BE49-F238E27FC236}">
                <a16:creationId xmlns:a16="http://schemas.microsoft.com/office/drawing/2014/main" id="{22014FB5-45BF-BC11-E10D-1C4D40AD192E}"/>
              </a:ext>
            </a:extLst>
          </p:cNvPr>
          <p:cNvSpPr>
            <a:spLocks noChangeAspect="1"/>
          </p:cNvSpPr>
          <p:nvPr/>
        </p:nvSpPr>
        <p:spPr bwMode="auto">
          <a:xfrm>
            <a:off x="7681624" y="2530331"/>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899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11" name="Rectangle 37">
            <a:extLst>
              <a:ext uri="{FF2B5EF4-FFF2-40B4-BE49-F238E27FC236}">
                <a16:creationId xmlns:a16="http://schemas.microsoft.com/office/drawing/2014/main" id="{84F9101A-7825-5915-EF6C-93CC763E6286}"/>
              </a:ext>
            </a:extLst>
          </p:cNvPr>
          <p:cNvSpPr/>
          <p:nvPr/>
        </p:nvSpPr>
        <p:spPr>
          <a:xfrm>
            <a:off x="8608075" y="4569084"/>
            <a:ext cx="1237945" cy="221536"/>
          </a:xfrm>
          <a:prstGeom prst="rect">
            <a:avLst/>
          </a:prstGeom>
        </p:spPr>
        <p:txBody>
          <a:bodyPr wrap="squar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Dec 2026</a:t>
            </a:r>
            <a:endParaRPr kumimoji="0" lang="zh-CN" altLang="en-US" sz="933"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 name="Rectangle 37">
            <a:extLst>
              <a:ext uri="{FF2B5EF4-FFF2-40B4-BE49-F238E27FC236}">
                <a16:creationId xmlns:a16="http://schemas.microsoft.com/office/drawing/2014/main" id="{6BFB1E6E-09E8-88D0-9883-4BF4B71F9073}"/>
              </a:ext>
            </a:extLst>
          </p:cNvPr>
          <p:cNvSpPr/>
          <p:nvPr/>
        </p:nvSpPr>
        <p:spPr>
          <a:xfrm>
            <a:off x="7406124" y="4590382"/>
            <a:ext cx="811441"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Apr 30  2025</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pic>
        <p:nvPicPr>
          <p:cNvPr id="13" name="Graphic 12" descr="Flag with solid fill">
            <a:extLst>
              <a:ext uri="{FF2B5EF4-FFF2-40B4-BE49-F238E27FC236}">
                <a16:creationId xmlns:a16="http://schemas.microsoft.com/office/drawing/2014/main" id="{1D610256-D632-3401-E2CF-0C8C9A7A7BB1}"/>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9349864" y="2506671"/>
            <a:ext cx="194560" cy="194560"/>
          </a:xfrm>
          <a:prstGeom prst="rect">
            <a:avLst/>
          </a:prstGeom>
        </p:spPr>
      </p:pic>
      <p:sp>
        <p:nvSpPr>
          <p:cNvPr id="15" name="Star: 4 Points 143">
            <a:extLst>
              <a:ext uri="{FF2B5EF4-FFF2-40B4-BE49-F238E27FC236}">
                <a16:creationId xmlns:a16="http://schemas.microsoft.com/office/drawing/2014/main" id="{CFB83DC0-5A2E-7510-6D49-D8CEDC885EEB}"/>
              </a:ext>
            </a:extLst>
          </p:cNvPr>
          <p:cNvSpPr/>
          <p:nvPr/>
        </p:nvSpPr>
        <p:spPr bwMode="auto">
          <a:xfrm>
            <a:off x="6033493" y="211933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6" name="Rectangle 15">
            <a:extLst>
              <a:ext uri="{FF2B5EF4-FFF2-40B4-BE49-F238E27FC236}">
                <a16:creationId xmlns:a16="http://schemas.microsoft.com/office/drawing/2014/main" id="{B5D3F992-42E4-8249-6A29-CF25396F4735}"/>
              </a:ext>
            </a:extLst>
          </p:cNvPr>
          <p:cNvSpPr/>
          <p:nvPr/>
        </p:nvSpPr>
        <p:spPr>
          <a:xfrm>
            <a:off x="6158645" y="2638098"/>
            <a:ext cx="1248281" cy="338554"/>
          </a:xfrm>
          <a:prstGeom prst="rect">
            <a:avLst/>
          </a:prstGeom>
        </p:spPr>
        <p:txBody>
          <a:bodyPr wrap="squar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Last patient Primary</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endpoint</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3" name="Rectangle 37">
            <a:extLst>
              <a:ext uri="{FF2B5EF4-FFF2-40B4-BE49-F238E27FC236}">
                <a16:creationId xmlns:a16="http://schemas.microsoft.com/office/drawing/2014/main" id="{3A901D2B-47A5-827A-1D3A-1BCD418AC030}"/>
              </a:ext>
            </a:extLst>
          </p:cNvPr>
          <p:cNvSpPr/>
          <p:nvPr/>
        </p:nvSpPr>
        <p:spPr>
          <a:xfrm>
            <a:off x="8909338" y="5023452"/>
            <a:ext cx="638316"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2" name="OTLSHAPE_M_39ea6ebc19a94c9fab6ef5006c31df58_Title">
            <a:extLst>
              <a:ext uri="{FF2B5EF4-FFF2-40B4-BE49-F238E27FC236}">
                <a16:creationId xmlns:a16="http://schemas.microsoft.com/office/drawing/2014/main" id="{B2D397BE-474D-9993-E66A-1998E478AB24}"/>
              </a:ext>
            </a:extLst>
          </p:cNvPr>
          <p:cNvSpPr txBox="1"/>
          <p:nvPr>
            <p:custDataLst>
              <p:tags r:id="rId37"/>
            </p:custDataLst>
          </p:nvPr>
        </p:nvSpPr>
        <p:spPr>
          <a:xfrm>
            <a:off x="8440146" y="5045389"/>
            <a:ext cx="649536" cy="2769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CDE Panel Meeting</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4" name="Rectangle 37">
            <a:extLst>
              <a:ext uri="{FF2B5EF4-FFF2-40B4-BE49-F238E27FC236}">
                <a16:creationId xmlns:a16="http://schemas.microsoft.com/office/drawing/2014/main" id="{8FDAFE03-153F-BBCA-62ED-F97E9E271F7E}"/>
              </a:ext>
            </a:extLst>
          </p:cNvPr>
          <p:cNvSpPr/>
          <p:nvPr/>
        </p:nvSpPr>
        <p:spPr>
          <a:xfrm>
            <a:off x="7798218" y="3858088"/>
            <a:ext cx="785793"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12 Sep 2025</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6" name="Star: 4 Points 143">
            <a:extLst>
              <a:ext uri="{FF2B5EF4-FFF2-40B4-BE49-F238E27FC236}">
                <a16:creationId xmlns:a16="http://schemas.microsoft.com/office/drawing/2014/main" id="{1AA9B138-A207-AF98-5BA4-44D5FC93CD44}"/>
              </a:ext>
            </a:extLst>
          </p:cNvPr>
          <p:cNvSpPr/>
          <p:nvPr/>
        </p:nvSpPr>
        <p:spPr bwMode="auto">
          <a:xfrm>
            <a:off x="8178529" y="4224797"/>
            <a:ext cx="184243" cy="187815"/>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1067" b="0" i="0" u="none" strike="noStrike" kern="1200" cap="none" spc="0" normalizeH="0" baseline="0" noProof="0">
              <a:ln>
                <a:noFill/>
              </a:ln>
              <a:solidFill>
                <a:srgbClr val="0066FF"/>
              </a:solidFill>
              <a:effectLst/>
              <a:uLnTx/>
              <a:uFillTx/>
              <a:latin typeface="Boehringer Forward Text"/>
              <a:ea typeface="等线" panose="02010600030101010101" pitchFamily="2" charset="-122"/>
              <a:cs typeface="Calibri" panose="020F0502020204030204" pitchFamily="34" charset="0"/>
            </a:endParaRPr>
          </a:p>
        </p:txBody>
      </p:sp>
      <p:sp>
        <p:nvSpPr>
          <p:cNvPr id="5" name="Star: 4 Points 143">
            <a:extLst>
              <a:ext uri="{FF2B5EF4-FFF2-40B4-BE49-F238E27FC236}">
                <a16:creationId xmlns:a16="http://schemas.microsoft.com/office/drawing/2014/main" id="{73A3F8D0-EECA-7A4B-CB2F-BBE208D95262}"/>
              </a:ext>
            </a:extLst>
          </p:cNvPr>
          <p:cNvSpPr/>
          <p:nvPr/>
        </p:nvSpPr>
        <p:spPr bwMode="auto">
          <a:xfrm>
            <a:off x="8794490" y="4895758"/>
            <a:ext cx="184243" cy="187815"/>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1067" b="0" i="0" u="none" strike="noStrike" kern="1200" cap="none" spc="0" normalizeH="0" baseline="0" noProof="0">
              <a:ln>
                <a:noFill/>
              </a:ln>
              <a:solidFill>
                <a:srgbClr val="0066FF"/>
              </a:solidFill>
              <a:effectLst/>
              <a:uLnTx/>
              <a:uFillTx/>
              <a:latin typeface="Boehringer Forward Text"/>
              <a:ea typeface="等线" panose="02010600030101010101" pitchFamily="2" charset="-122"/>
              <a:cs typeface="Calibri" panose="020F0502020204030204" pitchFamily="34" charset="0"/>
            </a:endParaRPr>
          </a:p>
        </p:txBody>
      </p:sp>
      <p:sp>
        <p:nvSpPr>
          <p:cNvPr id="6" name="OTLSHAPE_M_39ea6ebc19a94c9fab6ef5006c31df58_Title">
            <a:extLst>
              <a:ext uri="{FF2B5EF4-FFF2-40B4-BE49-F238E27FC236}">
                <a16:creationId xmlns:a16="http://schemas.microsoft.com/office/drawing/2014/main" id="{367EAFE7-2F4D-5FB9-DC3D-9262B586FBD9}"/>
              </a:ext>
            </a:extLst>
          </p:cNvPr>
          <p:cNvSpPr txBox="1"/>
          <p:nvPr>
            <p:custDataLst>
              <p:tags r:id="rId38"/>
            </p:custDataLst>
          </p:nvPr>
        </p:nvSpPr>
        <p:spPr>
          <a:xfrm>
            <a:off x="7953801" y="4362338"/>
            <a:ext cx="649536" cy="2769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CDE Panel Meeting</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7" name="Rectangle 37">
            <a:extLst>
              <a:ext uri="{FF2B5EF4-FFF2-40B4-BE49-F238E27FC236}">
                <a16:creationId xmlns:a16="http://schemas.microsoft.com/office/drawing/2014/main" id="{205EA0F2-D975-6949-2EE1-4DFD5AF12D80}"/>
              </a:ext>
            </a:extLst>
          </p:cNvPr>
          <p:cNvSpPr/>
          <p:nvPr/>
        </p:nvSpPr>
        <p:spPr>
          <a:xfrm>
            <a:off x="8277730" y="4576881"/>
            <a:ext cx="803426"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12 Nov 2025</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4153837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16623-F1ED-A09E-BCD0-A4086806D696}"/>
              </a:ext>
            </a:extLst>
          </p:cNvPr>
          <p:cNvSpPr>
            <a:spLocks noGrp="1"/>
          </p:cNvSpPr>
          <p:nvPr>
            <p:ph type="title"/>
          </p:nvPr>
        </p:nvSpPr>
        <p:spPr>
          <a:xfrm>
            <a:off x="479422" y="215764"/>
            <a:ext cx="11233151" cy="720000"/>
          </a:xfrm>
        </p:spPr>
        <p:txBody>
          <a:bodyPr/>
          <a:lstStyle/>
          <a:p>
            <a:r>
              <a:rPr lang="en-US" altLang="zh-CN"/>
              <a:t>Nerandomilast NDA Update</a:t>
            </a:r>
            <a:endParaRPr lang="zh-CN" altLang="en-US"/>
          </a:p>
        </p:txBody>
      </p:sp>
      <p:sp>
        <p:nvSpPr>
          <p:cNvPr id="4" name="灯片编号占位符 3">
            <a:extLst>
              <a:ext uri="{FF2B5EF4-FFF2-40B4-BE49-F238E27FC236}">
                <a16:creationId xmlns:a16="http://schemas.microsoft.com/office/drawing/2014/main" id="{1625E604-337E-D3E5-C1D4-D34755F926C5}"/>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5" name="表格 6">
            <a:extLst>
              <a:ext uri="{FF2B5EF4-FFF2-40B4-BE49-F238E27FC236}">
                <a16:creationId xmlns:a16="http://schemas.microsoft.com/office/drawing/2014/main" id="{03A3742A-C6EF-F428-6E2A-2272542D7489}"/>
              </a:ext>
            </a:extLst>
          </p:cNvPr>
          <p:cNvGraphicFramePr>
            <a:graphicFrameLocks noGrp="1"/>
          </p:cNvGraphicFramePr>
          <p:nvPr/>
        </p:nvGraphicFramePr>
        <p:xfrm>
          <a:off x="2016331" y="3176938"/>
          <a:ext cx="9696242" cy="213360"/>
        </p:xfrm>
        <a:graphic>
          <a:graphicData uri="http://schemas.openxmlformats.org/drawingml/2006/table">
            <a:tbl>
              <a:tblPr firstRow="1" bandRow="1">
                <a:tableStyleId>{5C22544A-7EE6-4342-B048-85BDC9FD1C3A}</a:tableStyleId>
              </a:tblPr>
              <a:tblGrid>
                <a:gridCol w="643918">
                  <a:extLst>
                    <a:ext uri="{9D8B030D-6E8A-4147-A177-3AD203B41FA5}">
                      <a16:colId xmlns:a16="http://schemas.microsoft.com/office/drawing/2014/main" val="383300350"/>
                    </a:ext>
                  </a:extLst>
                </a:gridCol>
                <a:gridCol w="643918">
                  <a:extLst>
                    <a:ext uri="{9D8B030D-6E8A-4147-A177-3AD203B41FA5}">
                      <a16:colId xmlns:a16="http://schemas.microsoft.com/office/drawing/2014/main" val="365748250"/>
                    </a:ext>
                  </a:extLst>
                </a:gridCol>
                <a:gridCol w="643918">
                  <a:extLst>
                    <a:ext uri="{9D8B030D-6E8A-4147-A177-3AD203B41FA5}">
                      <a16:colId xmlns:a16="http://schemas.microsoft.com/office/drawing/2014/main" val="1340521698"/>
                    </a:ext>
                  </a:extLst>
                </a:gridCol>
                <a:gridCol w="681390">
                  <a:extLst>
                    <a:ext uri="{9D8B030D-6E8A-4147-A177-3AD203B41FA5}">
                      <a16:colId xmlns:a16="http://schemas.microsoft.com/office/drawing/2014/main" val="119321160"/>
                    </a:ext>
                  </a:extLst>
                </a:gridCol>
                <a:gridCol w="643918">
                  <a:extLst>
                    <a:ext uri="{9D8B030D-6E8A-4147-A177-3AD203B41FA5}">
                      <a16:colId xmlns:a16="http://schemas.microsoft.com/office/drawing/2014/main" val="1020579981"/>
                    </a:ext>
                  </a:extLst>
                </a:gridCol>
                <a:gridCol w="643918">
                  <a:extLst>
                    <a:ext uri="{9D8B030D-6E8A-4147-A177-3AD203B41FA5}">
                      <a16:colId xmlns:a16="http://schemas.microsoft.com/office/drawing/2014/main" val="1382169812"/>
                    </a:ext>
                  </a:extLst>
                </a:gridCol>
                <a:gridCol w="643918">
                  <a:extLst>
                    <a:ext uri="{9D8B030D-6E8A-4147-A177-3AD203B41FA5}">
                      <a16:colId xmlns:a16="http://schemas.microsoft.com/office/drawing/2014/main" val="3323488212"/>
                    </a:ext>
                  </a:extLst>
                </a:gridCol>
                <a:gridCol w="643918">
                  <a:extLst>
                    <a:ext uri="{9D8B030D-6E8A-4147-A177-3AD203B41FA5}">
                      <a16:colId xmlns:a16="http://schemas.microsoft.com/office/drawing/2014/main" val="1850097007"/>
                    </a:ext>
                  </a:extLst>
                </a:gridCol>
                <a:gridCol w="643918">
                  <a:extLst>
                    <a:ext uri="{9D8B030D-6E8A-4147-A177-3AD203B41FA5}">
                      <a16:colId xmlns:a16="http://schemas.microsoft.com/office/drawing/2014/main" val="1784333001"/>
                    </a:ext>
                  </a:extLst>
                </a:gridCol>
                <a:gridCol w="643918">
                  <a:extLst>
                    <a:ext uri="{9D8B030D-6E8A-4147-A177-3AD203B41FA5}">
                      <a16:colId xmlns:a16="http://schemas.microsoft.com/office/drawing/2014/main" val="48290605"/>
                    </a:ext>
                  </a:extLst>
                </a:gridCol>
                <a:gridCol w="643918">
                  <a:extLst>
                    <a:ext uri="{9D8B030D-6E8A-4147-A177-3AD203B41FA5}">
                      <a16:colId xmlns:a16="http://schemas.microsoft.com/office/drawing/2014/main" val="1257565382"/>
                    </a:ext>
                  </a:extLst>
                </a:gridCol>
                <a:gridCol w="643918">
                  <a:extLst>
                    <a:ext uri="{9D8B030D-6E8A-4147-A177-3AD203B41FA5}">
                      <a16:colId xmlns:a16="http://schemas.microsoft.com/office/drawing/2014/main" val="694258878"/>
                    </a:ext>
                  </a:extLst>
                </a:gridCol>
                <a:gridCol w="643918">
                  <a:extLst>
                    <a:ext uri="{9D8B030D-6E8A-4147-A177-3AD203B41FA5}">
                      <a16:colId xmlns:a16="http://schemas.microsoft.com/office/drawing/2014/main" val="3473833905"/>
                    </a:ext>
                  </a:extLst>
                </a:gridCol>
                <a:gridCol w="643918">
                  <a:extLst>
                    <a:ext uri="{9D8B030D-6E8A-4147-A177-3AD203B41FA5}">
                      <a16:colId xmlns:a16="http://schemas.microsoft.com/office/drawing/2014/main" val="3465071793"/>
                    </a:ext>
                  </a:extLst>
                </a:gridCol>
                <a:gridCol w="643918">
                  <a:extLst>
                    <a:ext uri="{9D8B030D-6E8A-4147-A177-3AD203B41FA5}">
                      <a16:colId xmlns:a16="http://schemas.microsoft.com/office/drawing/2014/main" val="3400405319"/>
                    </a:ext>
                  </a:extLst>
                </a:gridCol>
              </a:tblGrid>
              <a:tr h="199360">
                <a:tc>
                  <a:txBody>
                    <a:bodyPr/>
                    <a:lstStyle/>
                    <a:p>
                      <a:r>
                        <a:rPr lang="en-US" altLang="zh-CN" sz="800" b="1">
                          <a:solidFill>
                            <a:schemeClr val="bg1"/>
                          </a:solidFill>
                        </a:rPr>
                        <a:t>Jan</a:t>
                      </a:r>
                      <a:endParaRPr lang="zh-CN" altLang="en-US" sz="800"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r>
                        <a:rPr lang="en-US" altLang="zh-CN" sz="800" b="1">
                          <a:solidFill>
                            <a:schemeClr val="bg1"/>
                          </a:solidFill>
                        </a:rPr>
                        <a:t>Feb</a:t>
                      </a:r>
                      <a:endParaRPr lang="zh-CN" altLang="en-US" sz="800"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800" b="1">
                          <a:solidFill>
                            <a:schemeClr val="bg1"/>
                          </a:solidFill>
                        </a:rPr>
                        <a:t>Mar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r>
                        <a:rPr lang="en-US" altLang="zh-CN" sz="800" b="1">
                          <a:solidFill>
                            <a:schemeClr val="bg1"/>
                          </a:solidFill>
                        </a:rPr>
                        <a:t>Apr</a:t>
                      </a:r>
                      <a:endParaRPr lang="zh-CN" altLang="en-US" sz="800"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pPr marL="0" algn="l" defTabSz="914400" rtl="0" eaLnBrk="1" latinLnBrk="0" hangingPunct="1"/>
                      <a:r>
                        <a:rPr lang="en-US" altLang="zh-CN" sz="800" b="1" kern="1200">
                          <a:solidFill>
                            <a:schemeClr val="bg1"/>
                          </a:solidFill>
                          <a:latin typeface="+mn-lt"/>
                          <a:ea typeface="+mn-ea"/>
                          <a:cs typeface="+mn-cs"/>
                        </a:rPr>
                        <a:t>May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r>
                        <a:rPr lang="en-US" altLang="zh-CN" sz="700" b="1">
                          <a:solidFill>
                            <a:schemeClr val="bg1"/>
                          </a:solidFill>
                        </a:rPr>
                        <a:t>Jun</a:t>
                      </a:r>
                      <a:endParaRPr lang="zh-CN" altLang="en-US" sz="700"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r>
                        <a:rPr lang="en-US" altLang="zh-CN" sz="700" b="1">
                          <a:solidFill>
                            <a:schemeClr val="bg1"/>
                          </a:solidFill>
                        </a:rPr>
                        <a:t>Jul</a:t>
                      </a:r>
                      <a:endParaRPr lang="zh-CN" altLang="en-US" sz="700"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r>
                        <a:rPr lang="en-US" altLang="zh-CN" sz="700" b="1">
                          <a:solidFill>
                            <a:schemeClr val="bg1"/>
                          </a:solidFill>
                        </a:rPr>
                        <a:t>Aug</a:t>
                      </a:r>
                      <a:endParaRPr lang="zh-CN" altLang="en-US" sz="700"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r>
                        <a:rPr lang="en-US" altLang="zh-CN" sz="700" b="1">
                          <a:solidFill>
                            <a:schemeClr val="bg1"/>
                          </a:solidFill>
                        </a:rPr>
                        <a:t>Sep</a:t>
                      </a:r>
                      <a:endParaRPr lang="zh-CN" altLang="en-US" sz="700"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r>
                        <a:rPr lang="en-US" altLang="zh-CN" sz="700" b="1">
                          <a:solidFill>
                            <a:schemeClr val="bg1"/>
                          </a:solidFill>
                        </a:rPr>
                        <a:t>Oct</a:t>
                      </a:r>
                      <a:endParaRPr lang="zh-CN" altLang="en-US" sz="700"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r>
                        <a:rPr lang="en-US" altLang="zh-CN" sz="700" b="1">
                          <a:solidFill>
                            <a:schemeClr val="bg1"/>
                          </a:solidFill>
                        </a:rPr>
                        <a:t>Nov</a:t>
                      </a:r>
                      <a:endParaRPr lang="zh-CN" altLang="en-US" sz="700"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r>
                        <a:rPr lang="en-US" altLang="zh-CN" sz="700" b="1">
                          <a:solidFill>
                            <a:schemeClr val="bg1"/>
                          </a:solidFill>
                        </a:rPr>
                        <a:t>Dec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r>
                        <a:rPr lang="en-US" altLang="zh-CN" sz="700" b="1">
                          <a:solidFill>
                            <a:schemeClr val="bg1"/>
                          </a:solidFill>
                        </a:rPr>
                        <a:t>Jan</a:t>
                      </a:r>
                      <a:endParaRPr lang="zh-CN" altLang="en-US" sz="700"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r>
                        <a:rPr lang="en-US" altLang="zh-CN" sz="700" b="1">
                          <a:solidFill>
                            <a:schemeClr val="bg1"/>
                          </a:solidFill>
                        </a:rPr>
                        <a:t>Feb</a:t>
                      </a:r>
                      <a:endParaRPr lang="zh-CN" altLang="en-US" sz="700" b="1">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700" b="1">
                          <a:solidFill>
                            <a:schemeClr val="bg1"/>
                          </a:solidFill>
                        </a:rPr>
                        <a:t>Mar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C6F89"/>
                    </a:solidFill>
                  </a:tcPr>
                </a:tc>
                <a:extLst>
                  <a:ext uri="{0D108BD9-81ED-4DB2-BD59-A6C34878D82A}">
                    <a16:rowId xmlns:a16="http://schemas.microsoft.com/office/drawing/2014/main" val="751284434"/>
                  </a:ext>
                </a:extLst>
              </a:tr>
            </a:tbl>
          </a:graphicData>
        </a:graphic>
      </p:graphicFrame>
      <p:sp>
        <p:nvSpPr>
          <p:cNvPr id="46" name="矩形 45">
            <a:extLst>
              <a:ext uri="{FF2B5EF4-FFF2-40B4-BE49-F238E27FC236}">
                <a16:creationId xmlns:a16="http://schemas.microsoft.com/office/drawing/2014/main" id="{4FB09675-F51E-286F-8ED5-DE1FFD4A5287}"/>
              </a:ext>
            </a:extLst>
          </p:cNvPr>
          <p:cNvSpPr/>
          <p:nvPr/>
        </p:nvSpPr>
        <p:spPr bwMode="gray">
          <a:xfrm>
            <a:off x="307178" y="1540499"/>
            <a:ext cx="923925" cy="1612875"/>
          </a:xfrm>
          <a:prstGeom prst="rect">
            <a:avLst/>
          </a:prstGeom>
          <a:solidFill>
            <a:srgbClr val="08312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IPF</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47" name="矩形 46">
            <a:extLst>
              <a:ext uri="{FF2B5EF4-FFF2-40B4-BE49-F238E27FC236}">
                <a16:creationId xmlns:a16="http://schemas.microsoft.com/office/drawing/2014/main" id="{8C6C57E2-41D0-704B-36B5-96F5AB6EA5DB}"/>
              </a:ext>
            </a:extLst>
          </p:cNvPr>
          <p:cNvSpPr/>
          <p:nvPr/>
        </p:nvSpPr>
        <p:spPr bwMode="gray">
          <a:xfrm>
            <a:off x="307177" y="3384239"/>
            <a:ext cx="923925" cy="1612875"/>
          </a:xfrm>
          <a:prstGeom prst="rect">
            <a:avLst/>
          </a:prstGeom>
          <a:solidFill>
            <a:srgbClr val="00E47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PPF</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48" name="文本框 47">
            <a:extLst>
              <a:ext uri="{FF2B5EF4-FFF2-40B4-BE49-F238E27FC236}">
                <a16:creationId xmlns:a16="http://schemas.microsoft.com/office/drawing/2014/main" id="{73B5A530-BBBC-BCF2-DADE-A6CDC8AA5DE7}"/>
              </a:ext>
            </a:extLst>
          </p:cNvPr>
          <p:cNvSpPr txBox="1"/>
          <p:nvPr/>
        </p:nvSpPr>
        <p:spPr bwMode="gray">
          <a:xfrm>
            <a:off x="1429554" y="3176938"/>
            <a:ext cx="442915"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srgbClr val="F0852D"/>
                </a:solidFill>
                <a:effectLst/>
                <a:uLnTx/>
                <a:uFillTx/>
                <a:latin typeface="Boehringer Forward Text"/>
                <a:ea typeface="+mn-ea"/>
                <a:cs typeface="+mn-cs"/>
              </a:rPr>
              <a:t>2025</a:t>
            </a:r>
            <a:endParaRPr kumimoji="0" lang="zh-CN" altLang="en-US" sz="1050" b="0" i="0" u="none" strike="noStrike" kern="1200" cap="none" spc="0" normalizeH="0" baseline="0" noProof="0">
              <a:ln>
                <a:noFill/>
              </a:ln>
              <a:solidFill>
                <a:srgbClr val="F0852D"/>
              </a:solidFill>
              <a:effectLst/>
              <a:uLnTx/>
              <a:uFillTx/>
              <a:latin typeface="Boehringer Forward Text"/>
              <a:ea typeface="+mn-ea"/>
              <a:cs typeface="+mn-cs"/>
            </a:endParaRPr>
          </a:p>
        </p:txBody>
      </p:sp>
      <p:sp>
        <p:nvSpPr>
          <p:cNvPr id="49" name="文本框 48">
            <a:extLst>
              <a:ext uri="{FF2B5EF4-FFF2-40B4-BE49-F238E27FC236}">
                <a16:creationId xmlns:a16="http://schemas.microsoft.com/office/drawing/2014/main" id="{F42B411F-2136-2C66-EBEE-A5DFF2B40189}"/>
              </a:ext>
            </a:extLst>
          </p:cNvPr>
          <p:cNvSpPr txBox="1"/>
          <p:nvPr/>
        </p:nvSpPr>
        <p:spPr bwMode="gray">
          <a:xfrm>
            <a:off x="9538349" y="3156555"/>
            <a:ext cx="990600" cy="207301"/>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srgbClr val="F0852D"/>
                </a:solidFill>
                <a:effectLst/>
                <a:uLnTx/>
                <a:uFillTx/>
                <a:latin typeface="Boehringer Forward Text"/>
                <a:ea typeface="+mn-ea"/>
                <a:cs typeface="+mn-cs"/>
              </a:rPr>
              <a:t>2026</a:t>
            </a:r>
            <a:endParaRPr kumimoji="0" lang="zh-CN" altLang="en-US" sz="1050" b="0" i="0" u="none" strike="noStrike" kern="1200" cap="none" spc="0" normalizeH="0" baseline="0" noProof="0">
              <a:ln>
                <a:noFill/>
              </a:ln>
              <a:solidFill>
                <a:srgbClr val="F0852D"/>
              </a:solidFill>
              <a:effectLst/>
              <a:uLnTx/>
              <a:uFillTx/>
              <a:latin typeface="Boehringer Forward Text"/>
              <a:ea typeface="+mn-ea"/>
              <a:cs typeface="+mn-cs"/>
            </a:endParaRPr>
          </a:p>
        </p:txBody>
      </p:sp>
      <p:sp>
        <p:nvSpPr>
          <p:cNvPr id="50" name="Triangle 363">
            <a:extLst>
              <a:ext uri="{FF2B5EF4-FFF2-40B4-BE49-F238E27FC236}">
                <a16:creationId xmlns:a16="http://schemas.microsoft.com/office/drawing/2014/main" id="{59786477-191A-FA4E-9CD0-6E821C7615C8}"/>
              </a:ext>
            </a:extLst>
          </p:cNvPr>
          <p:cNvSpPr/>
          <p:nvPr/>
        </p:nvSpPr>
        <p:spPr>
          <a:xfrm>
            <a:off x="2268571" y="2940238"/>
            <a:ext cx="196782" cy="164186"/>
          </a:xfrm>
          <a:prstGeom prst="triangle">
            <a:avLst/>
          </a:prstGeom>
          <a:solidFill>
            <a:srgbClr val="08312A"/>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09507" rtl="0" eaLnBrk="1" fontAlgn="auto" latinLnBrk="0" hangingPunct="1">
              <a:lnSpc>
                <a:spcPct val="100000"/>
              </a:lnSpc>
              <a:spcBef>
                <a:spcPts val="0"/>
              </a:spcBef>
              <a:spcAft>
                <a:spcPts val="0"/>
              </a:spcAft>
              <a:buClrTx/>
              <a:buSzTx/>
              <a:buFontTx/>
              <a:buNone/>
              <a:tabLst/>
              <a:defRPr/>
            </a:pPr>
            <a:endParaRPr kumimoji="0" lang="en-US" sz="2667" b="0" i="0" u="none" strike="noStrike" kern="0" cap="none" spc="0" normalizeH="0" baseline="0" noProof="0">
              <a:ln>
                <a:noFill/>
              </a:ln>
              <a:solidFill>
                <a:srgbClr val="08312A"/>
              </a:solidFill>
              <a:effectLst/>
              <a:uLnTx/>
              <a:uFillTx/>
              <a:latin typeface="Boehringer Forward Text"/>
              <a:ea typeface="+mn-ea"/>
              <a:cs typeface="Arial" panose="020B0604020202020204" pitchFamily="34" charset="0"/>
            </a:endParaRPr>
          </a:p>
        </p:txBody>
      </p:sp>
      <p:sp>
        <p:nvSpPr>
          <p:cNvPr id="51" name="Triangle 363">
            <a:extLst>
              <a:ext uri="{FF2B5EF4-FFF2-40B4-BE49-F238E27FC236}">
                <a16:creationId xmlns:a16="http://schemas.microsoft.com/office/drawing/2014/main" id="{85F84827-6CF9-9379-405F-30A0F988C02D}"/>
              </a:ext>
            </a:extLst>
          </p:cNvPr>
          <p:cNvSpPr/>
          <p:nvPr/>
        </p:nvSpPr>
        <p:spPr>
          <a:xfrm>
            <a:off x="2976682" y="2937927"/>
            <a:ext cx="196782" cy="164186"/>
          </a:xfrm>
          <a:prstGeom prst="triangle">
            <a:avLst/>
          </a:prstGeom>
          <a:solidFill>
            <a:srgbClr val="08312A"/>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09507" rtl="0" eaLnBrk="1" fontAlgn="auto" latinLnBrk="0" hangingPunct="1">
              <a:lnSpc>
                <a:spcPct val="100000"/>
              </a:lnSpc>
              <a:spcBef>
                <a:spcPts val="0"/>
              </a:spcBef>
              <a:spcAft>
                <a:spcPts val="0"/>
              </a:spcAft>
              <a:buClrTx/>
              <a:buSzTx/>
              <a:buFontTx/>
              <a:buNone/>
              <a:tabLst/>
              <a:defRPr/>
            </a:pPr>
            <a:endParaRPr kumimoji="0" lang="en-US" sz="2667" b="0" i="0" u="none" strike="noStrike" kern="0" cap="none" spc="0" normalizeH="0" baseline="0" noProof="0">
              <a:ln>
                <a:noFill/>
              </a:ln>
              <a:solidFill>
                <a:srgbClr val="08312A"/>
              </a:solidFill>
              <a:effectLst/>
              <a:uLnTx/>
              <a:uFillTx/>
              <a:latin typeface="Boehringer Forward Text"/>
              <a:ea typeface="+mn-ea"/>
              <a:cs typeface="Arial" panose="020B0604020202020204" pitchFamily="34" charset="0"/>
            </a:endParaRPr>
          </a:p>
        </p:txBody>
      </p:sp>
      <p:sp>
        <p:nvSpPr>
          <p:cNvPr id="52" name="Triangle 363">
            <a:extLst>
              <a:ext uri="{FF2B5EF4-FFF2-40B4-BE49-F238E27FC236}">
                <a16:creationId xmlns:a16="http://schemas.microsoft.com/office/drawing/2014/main" id="{A68051B3-C356-E2C5-A373-FFAA745B49CB}"/>
              </a:ext>
            </a:extLst>
          </p:cNvPr>
          <p:cNvSpPr/>
          <p:nvPr/>
        </p:nvSpPr>
        <p:spPr>
          <a:xfrm>
            <a:off x="4978433" y="2937927"/>
            <a:ext cx="196782" cy="164186"/>
          </a:xfrm>
          <a:prstGeom prst="triangle">
            <a:avLst/>
          </a:prstGeom>
          <a:solidFill>
            <a:srgbClr val="08312A"/>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09507" rtl="0" eaLnBrk="1" fontAlgn="auto" latinLnBrk="0" hangingPunct="1">
              <a:lnSpc>
                <a:spcPct val="100000"/>
              </a:lnSpc>
              <a:spcBef>
                <a:spcPts val="0"/>
              </a:spcBef>
              <a:spcAft>
                <a:spcPts val="0"/>
              </a:spcAft>
              <a:buClrTx/>
              <a:buSzTx/>
              <a:buFontTx/>
              <a:buNone/>
              <a:tabLst/>
              <a:defRPr/>
            </a:pPr>
            <a:endParaRPr kumimoji="0" lang="en-US" sz="2667" b="0" i="0" u="none" strike="noStrike" kern="0" cap="none" spc="0" normalizeH="0" baseline="0" noProof="0">
              <a:ln>
                <a:noFill/>
              </a:ln>
              <a:solidFill>
                <a:srgbClr val="08312A"/>
              </a:solidFill>
              <a:effectLst/>
              <a:uLnTx/>
              <a:uFillTx/>
              <a:latin typeface="Boehringer Forward Text"/>
              <a:ea typeface="+mn-ea"/>
              <a:cs typeface="Arial" panose="020B0604020202020204" pitchFamily="34" charset="0"/>
            </a:endParaRPr>
          </a:p>
        </p:txBody>
      </p:sp>
      <p:sp>
        <p:nvSpPr>
          <p:cNvPr id="53" name="Triangle 363">
            <a:extLst>
              <a:ext uri="{FF2B5EF4-FFF2-40B4-BE49-F238E27FC236}">
                <a16:creationId xmlns:a16="http://schemas.microsoft.com/office/drawing/2014/main" id="{0B9DB563-6884-DEAE-5FD4-49EECF0AA47A}"/>
              </a:ext>
            </a:extLst>
          </p:cNvPr>
          <p:cNvSpPr/>
          <p:nvPr/>
        </p:nvSpPr>
        <p:spPr>
          <a:xfrm>
            <a:off x="5445158" y="2937927"/>
            <a:ext cx="196782" cy="164186"/>
          </a:xfrm>
          <a:prstGeom prst="triangle">
            <a:avLst/>
          </a:prstGeom>
          <a:solidFill>
            <a:srgbClr val="08312A"/>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09507" rtl="0" eaLnBrk="1" fontAlgn="auto" latinLnBrk="0" hangingPunct="1">
              <a:lnSpc>
                <a:spcPct val="100000"/>
              </a:lnSpc>
              <a:spcBef>
                <a:spcPts val="0"/>
              </a:spcBef>
              <a:spcAft>
                <a:spcPts val="0"/>
              </a:spcAft>
              <a:buClrTx/>
              <a:buSzTx/>
              <a:buFontTx/>
              <a:buNone/>
              <a:tabLst/>
              <a:defRPr/>
            </a:pPr>
            <a:endParaRPr kumimoji="0" lang="en-US" sz="2667" b="0" i="0" u="none" strike="noStrike" kern="0" cap="none" spc="0" normalizeH="0" baseline="0" noProof="0">
              <a:ln>
                <a:noFill/>
              </a:ln>
              <a:solidFill>
                <a:srgbClr val="08312A"/>
              </a:solidFill>
              <a:effectLst/>
              <a:uLnTx/>
              <a:uFillTx/>
              <a:latin typeface="Boehringer Forward Text"/>
              <a:ea typeface="+mn-ea"/>
              <a:cs typeface="Arial" panose="020B0604020202020204" pitchFamily="34" charset="0"/>
            </a:endParaRPr>
          </a:p>
        </p:txBody>
      </p:sp>
      <p:sp>
        <p:nvSpPr>
          <p:cNvPr id="54" name="Triangle 363">
            <a:extLst>
              <a:ext uri="{FF2B5EF4-FFF2-40B4-BE49-F238E27FC236}">
                <a16:creationId xmlns:a16="http://schemas.microsoft.com/office/drawing/2014/main" id="{FABFE5A6-8CEA-69DA-D35F-BF292A7A97D1}"/>
              </a:ext>
            </a:extLst>
          </p:cNvPr>
          <p:cNvSpPr/>
          <p:nvPr/>
        </p:nvSpPr>
        <p:spPr>
          <a:xfrm>
            <a:off x="5959508" y="2937927"/>
            <a:ext cx="196782" cy="164186"/>
          </a:xfrm>
          <a:prstGeom prst="triangle">
            <a:avLst/>
          </a:prstGeom>
          <a:solidFill>
            <a:srgbClr val="08312A"/>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09507" rtl="0" eaLnBrk="1" fontAlgn="auto" latinLnBrk="0" hangingPunct="1">
              <a:lnSpc>
                <a:spcPct val="100000"/>
              </a:lnSpc>
              <a:spcBef>
                <a:spcPts val="0"/>
              </a:spcBef>
              <a:spcAft>
                <a:spcPts val="0"/>
              </a:spcAft>
              <a:buClrTx/>
              <a:buSzTx/>
              <a:buFontTx/>
              <a:buNone/>
              <a:tabLst/>
              <a:defRPr/>
            </a:pPr>
            <a:endParaRPr kumimoji="0" lang="en-US" sz="2667" b="0" i="0" u="none" strike="noStrike" kern="0" cap="none" spc="0" normalizeH="0" baseline="0" noProof="0">
              <a:ln>
                <a:noFill/>
              </a:ln>
              <a:solidFill>
                <a:srgbClr val="08312A"/>
              </a:solidFill>
              <a:effectLst/>
              <a:uLnTx/>
              <a:uFillTx/>
              <a:latin typeface="Boehringer Forward Text"/>
              <a:ea typeface="+mn-ea"/>
              <a:cs typeface="Arial" panose="020B0604020202020204" pitchFamily="34" charset="0"/>
            </a:endParaRPr>
          </a:p>
        </p:txBody>
      </p:sp>
      <p:sp>
        <p:nvSpPr>
          <p:cNvPr id="55" name="矩形: 圆角 54">
            <a:extLst>
              <a:ext uri="{FF2B5EF4-FFF2-40B4-BE49-F238E27FC236}">
                <a16:creationId xmlns:a16="http://schemas.microsoft.com/office/drawing/2014/main" id="{FC905EA6-D4F2-B7DD-A925-46F01C9701E5}"/>
              </a:ext>
            </a:extLst>
          </p:cNvPr>
          <p:cNvSpPr/>
          <p:nvPr/>
        </p:nvSpPr>
        <p:spPr bwMode="gray">
          <a:xfrm>
            <a:off x="7512371" y="2888753"/>
            <a:ext cx="828167" cy="234513"/>
          </a:xfrm>
          <a:prstGeom prst="roundRect">
            <a:avLst/>
          </a:prstGeom>
          <a:solidFill>
            <a:srgbClr val="08312A"/>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white"/>
                </a:solidFill>
                <a:effectLst/>
                <a:uLnTx/>
                <a:uFillTx/>
                <a:latin typeface="Boehringer Forward Text"/>
                <a:ea typeface="+mn-ea"/>
                <a:cs typeface="+mn-cs"/>
              </a:rPr>
              <a:t>TMP, CNTS and PI negotiation</a:t>
            </a:r>
            <a:endParaRPr kumimoji="0" lang="zh-CN" altLang="en-US" sz="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56" name="Rectangle 138">
            <a:extLst>
              <a:ext uri="{FF2B5EF4-FFF2-40B4-BE49-F238E27FC236}">
                <a16:creationId xmlns:a16="http://schemas.microsoft.com/office/drawing/2014/main" id="{67E23B20-4915-2EF8-E230-CE8E7976E183}"/>
              </a:ext>
            </a:extLst>
          </p:cNvPr>
          <p:cNvSpPr/>
          <p:nvPr/>
        </p:nvSpPr>
        <p:spPr>
          <a:xfrm>
            <a:off x="8206288" y="2632093"/>
            <a:ext cx="614271" cy="215444"/>
          </a:xfrm>
          <a:prstGeom prst="rect">
            <a:avLst/>
          </a:prstGeom>
        </p:spPr>
        <p:txBody>
          <a:bodyPr wrap="none">
            <a:spAutoFit/>
          </a:bodyPr>
          <a:lstStyle/>
          <a:p>
            <a:pPr marL="0" marR="0" lvl="0" indent="0" algn="ctr" defTabSz="609523" rtl="0" eaLnBrk="1" fontAlgn="auto" latinLnBrk="0" hangingPunct="1">
              <a:lnSpc>
                <a:spcPct val="100000"/>
              </a:lnSpc>
              <a:spcBef>
                <a:spcPts val="0"/>
              </a:spcBef>
              <a:spcAft>
                <a:spcPts val="0"/>
              </a:spcAft>
              <a:buClrTx/>
              <a:buSzTx/>
              <a:buFontTx/>
              <a:buNone/>
              <a:tabLst/>
              <a:defRPr/>
            </a:pPr>
            <a:r>
              <a:rPr kumimoji="0" lang="en-US" altLang="zh-CN" sz="800" b="0" i="0" u="none" strike="noStrike" kern="0" cap="none" spc="0" normalizeH="0" baseline="0" noProof="0">
                <a:ln>
                  <a:noFill/>
                </a:ln>
                <a:solidFill>
                  <a:prstClr val="black"/>
                </a:solidFill>
                <a:effectLst/>
                <a:uLnTx/>
                <a:uFillTx/>
                <a:latin typeface="Boehringer Forward Text"/>
                <a:ea typeface="+mn-ea"/>
                <a:cs typeface="Arial" panose="020B0604020202020204" pitchFamily="34" charset="0"/>
              </a:rPr>
              <a:t>Approval</a:t>
            </a:r>
          </a:p>
        </p:txBody>
      </p:sp>
      <p:sp>
        <p:nvSpPr>
          <p:cNvPr id="57" name="矩形: 圆角 56">
            <a:extLst>
              <a:ext uri="{FF2B5EF4-FFF2-40B4-BE49-F238E27FC236}">
                <a16:creationId xmlns:a16="http://schemas.microsoft.com/office/drawing/2014/main" id="{3BCDE0D1-18AD-A31C-6EBE-6FAFACF9C573}"/>
              </a:ext>
            </a:extLst>
          </p:cNvPr>
          <p:cNvSpPr/>
          <p:nvPr/>
        </p:nvSpPr>
        <p:spPr bwMode="gray">
          <a:xfrm>
            <a:off x="7278152" y="2888753"/>
            <a:ext cx="224352" cy="234513"/>
          </a:xfrm>
          <a:prstGeom prst="roundRect">
            <a:avLst/>
          </a:prstGeom>
          <a:solidFill>
            <a:srgbClr val="F0852D"/>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8" name="Triangle 363">
            <a:extLst>
              <a:ext uri="{FF2B5EF4-FFF2-40B4-BE49-F238E27FC236}">
                <a16:creationId xmlns:a16="http://schemas.microsoft.com/office/drawing/2014/main" id="{2403DBC9-1831-88D6-C5CC-3A74A6812CD3}"/>
              </a:ext>
            </a:extLst>
          </p:cNvPr>
          <p:cNvSpPr/>
          <p:nvPr/>
        </p:nvSpPr>
        <p:spPr>
          <a:xfrm>
            <a:off x="4449796" y="3432198"/>
            <a:ext cx="196782" cy="164186"/>
          </a:xfrm>
          <a:prstGeom prst="triangle">
            <a:avLst/>
          </a:prstGeom>
          <a:solidFill>
            <a:srgbClr val="00E47C"/>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09507" rtl="0" eaLnBrk="1" fontAlgn="auto" latinLnBrk="0" hangingPunct="1">
              <a:lnSpc>
                <a:spcPct val="100000"/>
              </a:lnSpc>
              <a:spcBef>
                <a:spcPts val="0"/>
              </a:spcBef>
              <a:spcAft>
                <a:spcPts val="0"/>
              </a:spcAft>
              <a:buClrTx/>
              <a:buSzTx/>
              <a:buFontTx/>
              <a:buNone/>
              <a:tabLst/>
              <a:defRPr/>
            </a:pPr>
            <a:endParaRPr kumimoji="0" lang="en-US" sz="2667" b="0" i="0" u="none" strike="noStrike" kern="0" cap="none" spc="0" normalizeH="0" baseline="0" noProof="0">
              <a:ln>
                <a:noFill/>
              </a:ln>
              <a:solidFill>
                <a:srgbClr val="08312A"/>
              </a:solidFill>
              <a:effectLst/>
              <a:uLnTx/>
              <a:uFillTx/>
              <a:latin typeface="Boehringer Forward Text"/>
              <a:ea typeface="+mn-ea"/>
              <a:cs typeface="Arial" panose="020B0604020202020204" pitchFamily="34" charset="0"/>
            </a:endParaRPr>
          </a:p>
        </p:txBody>
      </p:sp>
      <p:sp>
        <p:nvSpPr>
          <p:cNvPr id="59" name="Triangle 363">
            <a:extLst>
              <a:ext uri="{FF2B5EF4-FFF2-40B4-BE49-F238E27FC236}">
                <a16:creationId xmlns:a16="http://schemas.microsoft.com/office/drawing/2014/main" id="{A8BD71CA-3DA7-C049-6FAA-FF2CDCFEF4D8}"/>
              </a:ext>
            </a:extLst>
          </p:cNvPr>
          <p:cNvSpPr/>
          <p:nvPr/>
        </p:nvSpPr>
        <p:spPr>
          <a:xfrm>
            <a:off x="4856055" y="3439472"/>
            <a:ext cx="196782" cy="164186"/>
          </a:xfrm>
          <a:prstGeom prst="triangle">
            <a:avLst/>
          </a:prstGeom>
          <a:solidFill>
            <a:srgbClr val="00E47C"/>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09507" rtl="0" eaLnBrk="1" fontAlgn="auto" latinLnBrk="0" hangingPunct="1">
              <a:lnSpc>
                <a:spcPct val="100000"/>
              </a:lnSpc>
              <a:spcBef>
                <a:spcPts val="0"/>
              </a:spcBef>
              <a:spcAft>
                <a:spcPts val="0"/>
              </a:spcAft>
              <a:buClrTx/>
              <a:buSzTx/>
              <a:buFontTx/>
              <a:buNone/>
              <a:tabLst/>
              <a:defRPr/>
            </a:pPr>
            <a:endParaRPr kumimoji="0" lang="en-US" sz="2667" b="0" i="0" u="none" strike="noStrike" kern="0" cap="none" spc="0" normalizeH="0" baseline="0" noProof="0">
              <a:ln>
                <a:noFill/>
              </a:ln>
              <a:solidFill>
                <a:srgbClr val="08312A"/>
              </a:solidFill>
              <a:effectLst/>
              <a:uLnTx/>
              <a:uFillTx/>
              <a:latin typeface="Boehringer Forward Text"/>
              <a:ea typeface="+mn-ea"/>
              <a:cs typeface="Arial" panose="020B0604020202020204" pitchFamily="34" charset="0"/>
            </a:endParaRPr>
          </a:p>
        </p:txBody>
      </p:sp>
      <p:sp>
        <p:nvSpPr>
          <p:cNvPr id="60" name="矩形: 圆角 59">
            <a:extLst>
              <a:ext uri="{FF2B5EF4-FFF2-40B4-BE49-F238E27FC236}">
                <a16:creationId xmlns:a16="http://schemas.microsoft.com/office/drawing/2014/main" id="{C47D6FF1-3838-ABCF-0E48-5D6CD8B23FB6}"/>
              </a:ext>
            </a:extLst>
          </p:cNvPr>
          <p:cNvSpPr/>
          <p:nvPr/>
        </p:nvSpPr>
        <p:spPr bwMode="gray">
          <a:xfrm>
            <a:off x="8367445" y="3431496"/>
            <a:ext cx="882536" cy="284400"/>
          </a:xfrm>
          <a:prstGeom prst="roundRect">
            <a:avLst/>
          </a:prstGeom>
          <a:solidFill>
            <a:schemeClr val="tx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Boehringer Forward Text"/>
                <a:ea typeface="+mn-ea"/>
                <a:cs typeface="+mn-cs"/>
              </a:rPr>
              <a:t>PI negotiation</a:t>
            </a:r>
            <a:endParaRPr kumimoji="0" lang="zh-CN" altLang="en-US" sz="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1" name="Rectangle 138">
            <a:extLst>
              <a:ext uri="{FF2B5EF4-FFF2-40B4-BE49-F238E27FC236}">
                <a16:creationId xmlns:a16="http://schemas.microsoft.com/office/drawing/2014/main" id="{1D1369EB-D38B-87DB-7A20-DF5641E0F64B}"/>
              </a:ext>
            </a:extLst>
          </p:cNvPr>
          <p:cNvSpPr/>
          <p:nvPr/>
        </p:nvSpPr>
        <p:spPr>
          <a:xfrm>
            <a:off x="9022430" y="3740417"/>
            <a:ext cx="614271" cy="338554"/>
          </a:xfrm>
          <a:prstGeom prst="rect">
            <a:avLst/>
          </a:prstGeom>
        </p:spPr>
        <p:txBody>
          <a:bodyPr wrap="none">
            <a:spAutoFit/>
          </a:bodyPr>
          <a:lstStyle/>
          <a:p>
            <a:pPr marL="0" marR="0" lvl="0" indent="0" algn="ctr" defTabSz="609523" rtl="0" eaLnBrk="1" fontAlgn="auto" latinLnBrk="0" hangingPunct="1">
              <a:lnSpc>
                <a:spcPct val="100000"/>
              </a:lnSpc>
              <a:spcBef>
                <a:spcPts val="0"/>
              </a:spcBef>
              <a:spcAft>
                <a:spcPts val="0"/>
              </a:spcAft>
              <a:buClrTx/>
              <a:buSzTx/>
              <a:buFontTx/>
              <a:buNone/>
              <a:tabLst/>
              <a:defRPr/>
            </a:pPr>
            <a:r>
              <a:rPr kumimoji="0" lang="en-US" altLang="zh-CN" sz="800" b="0" i="0" u="none" strike="noStrike" kern="0" cap="none" spc="0" normalizeH="0" baseline="0" noProof="0">
                <a:ln>
                  <a:noFill/>
                </a:ln>
                <a:solidFill>
                  <a:prstClr val="black"/>
                </a:solidFill>
                <a:effectLst/>
                <a:uLnTx/>
                <a:uFillTx/>
                <a:latin typeface="Boehringer Forward Text"/>
                <a:ea typeface="+mn-ea"/>
                <a:cs typeface="Arial" panose="020B0604020202020204" pitchFamily="34" charset="0"/>
              </a:rPr>
              <a:t>Approval</a:t>
            </a:r>
          </a:p>
          <a:p>
            <a:pPr marL="0" marR="0" lvl="0" indent="0" algn="ctr" defTabSz="609523" rtl="0" eaLnBrk="1" fontAlgn="auto" latinLnBrk="0" hangingPunct="1">
              <a:lnSpc>
                <a:spcPct val="100000"/>
              </a:lnSpc>
              <a:spcBef>
                <a:spcPts val="0"/>
              </a:spcBef>
              <a:spcAft>
                <a:spcPts val="0"/>
              </a:spcAft>
              <a:buClrTx/>
              <a:buSzTx/>
              <a:buFontTx/>
              <a:buNone/>
              <a:tabLst/>
              <a:defRPr/>
            </a:pPr>
            <a:r>
              <a:rPr lang="en-US" altLang="zh-CN" sz="800" kern="0">
                <a:solidFill>
                  <a:prstClr val="black"/>
                </a:solidFill>
                <a:latin typeface="Boehringer Forward Text"/>
                <a:cs typeface="Arial" panose="020B0604020202020204" pitchFamily="34" charset="0"/>
              </a:rPr>
              <a:t>12/9</a:t>
            </a:r>
            <a:endParaRPr kumimoji="0" lang="en-US" altLang="zh-CN" sz="800" b="0" i="0" u="none" strike="noStrike" kern="0" cap="none" spc="0" normalizeH="0" baseline="0" noProof="0">
              <a:ln>
                <a:noFill/>
              </a:ln>
              <a:solidFill>
                <a:prstClr val="black"/>
              </a:solidFill>
              <a:effectLst/>
              <a:uLnTx/>
              <a:uFillTx/>
              <a:latin typeface="Boehringer Forward Text"/>
              <a:ea typeface="+mn-ea"/>
              <a:cs typeface="Arial" panose="020B0604020202020204" pitchFamily="34" charset="0"/>
            </a:endParaRPr>
          </a:p>
        </p:txBody>
      </p:sp>
      <p:sp>
        <p:nvSpPr>
          <p:cNvPr id="62" name="文本框 61">
            <a:extLst>
              <a:ext uri="{FF2B5EF4-FFF2-40B4-BE49-F238E27FC236}">
                <a16:creationId xmlns:a16="http://schemas.microsoft.com/office/drawing/2014/main" id="{A95B9B24-6F94-4B10-89A0-0B329AE1D788}"/>
              </a:ext>
            </a:extLst>
          </p:cNvPr>
          <p:cNvSpPr txBox="1"/>
          <p:nvPr/>
        </p:nvSpPr>
        <p:spPr bwMode="gray">
          <a:xfrm>
            <a:off x="2070920" y="2566287"/>
            <a:ext cx="677041" cy="439864"/>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Priority Review granted</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1/24</a:t>
            </a:r>
            <a:endParaRPr kumimoji="0" lang="zh-CN" alt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3" name="文本框 62">
            <a:extLst>
              <a:ext uri="{FF2B5EF4-FFF2-40B4-BE49-F238E27FC236}">
                <a16:creationId xmlns:a16="http://schemas.microsoft.com/office/drawing/2014/main" id="{AD290040-EDBD-110B-A8DA-D51CBA7A1C0B}"/>
              </a:ext>
            </a:extLst>
          </p:cNvPr>
          <p:cNvSpPr txBox="1"/>
          <p:nvPr/>
        </p:nvSpPr>
        <p:spPr bwMode="gray">
          <a:xfrm>
            <a:off x="2933965" y="2574049"/>
            <a:ext cx="924243" cy="289053"/>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NDA sub. with DBL1</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2/19</a:t>
            </a:r>
            <a:endParaRPr kumimoji="0" lang="zh-CN" alt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4" name="文本框 63">
            <a:extLst>
              <a:ext uri="{FF2B5EF4-FFF2-40B4-BE49-F238E27FC236}">
                <a16:creationId xmlns:a16="http://schemas.microsoft.com/office/drawing/2014/main" id="{AE8BD91A-82DA-94C0-CC9E-F429288D4978}"/>
              </a:ext>
            </a:extLst>
          </p:cNvPr>
          <p:cNvSpPr txBox="1"/>
          <p:nvPr/>
        </p:nvSpPr>
        <p:spPr bwMode="gray">
          <a:xfrm>
            <a:off x="4259273" y="2580156"/>
            <a:ext cx="1040516" cy="439864"/>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IPF type III meeting request sub. with DBL2</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5/29</a:t>
            </a:r>
            <a:endParaRPr kumimoji="0" lang="zh-CN" alt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5" name="文本框 64">
            <a:extLst>
              <a:ext uri="{FF2B5EF4-FFF2-40B4-BE49-F238E27FC236}">
                <a16:creationId xmlns:a16="http://schemas.microsoft.com/office/drawing/2014/main" id="{92DF6D14-102F-B6D5-C4CF-CFCA17087ABD}"/>
              </a:ext>
            </a:extLst>
          </p:cNvPr>
          <p:cNvSpPr txBox="1"/>
          <p:nvPr/>
        </p:nvSpPr>
        <p:spPr bwMode="gray">
          <a:xfrm>
            <a:off x="5346206" y="2622976"/>
            <a:ext cx="840031" cy="289053"/>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QC done</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6/13</a:t>
            </a:r>
            <a:endParaRPr kumimoji="0" lang="zh-CN" alt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6" name="文本框 65">
            <a:extLst>
              <a:ext uri="{FF2B5EF4-FFF2-40B4-BE49-F238E27FC236}">
                <a16:creationId xmlns:a16="http://schemas.microsoft.com/office/drawing/2014/main" id="{A2FDF318-E2C7-8D2B-F2FF-DB972B9F5BDD}"/>
              </a:ext>
            </a:extLst>
          </p:cNvPr>
          <p:cNvSpPr txBox="1"/>
          <p:nvPr/>
        </p:nvSpPr>
        <p:spPr bwMode="gray">
          <a:xfrm>
            <a:off x="5943013" y="2473848"/>
            <a:ext cx="840031" cy="439864"/>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GCP inspection finished</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7/7</a:t>
            </a:r>
            <a:endParaRPr kumimoji="0" lang="zh-CN" alt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7" name="文本框 66">
            <a:extLst>
              <a:ext uri="{FF2B5EF4-FFF2-40B4-BE49-F238E27FC236}">
                <a16:creationId xmlns:a16="http://schemas.microsoft.com/office/drawing/2014/main" id="{2B021103-75C7-7E8B-52C8-EDADCDB6B474}"/>
              </a:ext>
            </a:extLst>
          </p:cNvPr>
          <p:cNvSpPr txBox="1"/>
          <p:nvPr/>
        </p:nvSpPr>
        <p:spPr bwMode="gray">
          <a:xfrm>
            <a:off x="7191249" y="2562287"/>
            <a:ext cx="840031" cy="289053"/>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Panel meeting</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(Sept 12)</a:t>
            </a:r>
            <a:endParaRPr kumimoji="0" lang="zh-CN" alt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8" name="Triangle 363">
            <a:extLst>
              <a:ext uri="{FF2B5EF4-FFF2-40B4-BE49-F238E27FC236}">
                <a16:creationId xmlns:a16="http://schemas.microsoft.com/office/drawing/2014/main" id="{5E510116-CFEE-58A4-82C9-B5C91C5DEDDA}"/>
              </a:ext>
            </a:extLst>
          </p:cNvPr>
          <p:cNvSpPr/>
          <p:nvPr/>
        </p:nvSpPr>
        <p:spPr>
          <a:xfrm>
            <a:off x="6791145" y="3439472"/>
            <a:ext cx="196782" cy="164186"/>
          </a:xfrm>
          <a:prstGeom prst="triangle">
            <a:avLst/>
          </a:prstGeom>
          <a:solidFill>
            <a:srgbClr val="00E47C"/>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09507" rtl="0" eaLnBrk="1" fontAlgn="auto" latinLnBrk="0" hangingPunct="1">
              <a:lnSpc>
                <a:spcPct val="100000"/>
              </a:lnSpc>
              <a:spcBef>
                <a:spcPts val="0"/>
              </a:spcBef>
              <a:spcAft>
                <a:spcPts val="0"/>
              </a:spcAft>
              <a:buClrTx/>
              <a:buSzTx/>
              <a:buFontTx/>
              <a:buNone/>
              <a:tabLst/>
              <a:defRPr/>
            </a:pPr>
            <a:endParaRPr kumimoji="0" lang="en-US" sz="2667" b="0" i="0" u="none" strike="noStrike" kern="0" cap="none" spc="0" normalizeH="0" baseline="0" noProof="0">
              <a:ln>
                <a:noFill/>
              </a:ln>
              <a:solidFill>
                <a:srgbClr val="08312A"/>
              </a:solidFill>
              <a:effectLst/>
              <a:uLnTx/>
              <a:uFillTx/>
              <a:latin typeface="Boehringer Forward Text"/>
              <a:ea typeface="+mn-ea"/>
              <a:cs typeface="Arial" panose="020B0604020202020204" pitchFamily="34" charset="0"/>
            </a:endParaRPr>
          </a:p>
        </p:txBody>
      </p:sp>
      <p:sp>
        <p:nvSpPr>
          <p:cNvPr id="69" name="文本框 68">
            <a:extLst>
              <a:ext uri="{FF2B5EF4-FFF2-40B4-BE49-F238E27FC236}">
                <a16:creationId xmlns:a16="http://schemas.microsoft.com/office/drawing/2014/main" id="{A2A7411E-6E61-BF81-BEC9-EBDBD847EC30}"/>
              </a:ext>
            </a:extLst>
          </p:cNvPr>
          <p:cNvSpPr txBox="1"/>
          <p:nvPr/>
        </p:nvSpPr>
        <p:spPr bwMode="gray">
          <a:xfrm>
            <a:off x="4856055" y="3652832"/>
            <a:ext cx="662361" cy="439864"/>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Priority Review granted</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5/16</a:t>
            </a:r>
            <a:endParaRPr kumimoji="0" lang="zh-CN" alt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0" name="文本框 69">
            <a:extLst>
              <a:ext uri="{FF2B5EF4-FFF2-40B4-BE49-F238E27FC236}">
                <a16:creationId xmlns:a16="http://schemas.microsoft.com/office/drawing/2014/main" id="{21074FE4-D53D-F6A9-1F81-E73E00CFED14}"/>
              </a:ext>
            </a:extLst>
          </p:cNvPr>
          <p:cNvSpPr txBox="1"/>
          <p:nvPr/>
        </p:nvSpPr>
        <p:spPr bwMode="gray">
          <a:xfrm>
            <a:off x="3782551" y="3644856"/>
            <a:ext cx="923924" cy="289053"/>
          </a:xfrm>
          <a:prstGeom prst="rect">
            <a:avLst/>
          </a:prstGeom>
          <a:noFill/>
        </p:spPr>
        <p:txBody>
          <a:bodyPr wrap="square" lIns="0" tIns="0" rIns="0" bIns="0" rtlCol="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NDA sub. with  DBL1</a:t>
            </a:r>
          </a:p>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4/30</a:t>
            </a:r>
            <a:endParaRPr kumimoji="0" lang="zh-CN" alt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1" name="文本框 70">
            <a:extLst>
              <a:ext uri="{FF2B5EF4-FFF2-40B4-BE49-F238E27FC236}">
                <a16:creationId xmlns:a16="http://schemas.microsoft.com/office/drawing/2014/main" id="{A3577A6A-D6BF-DCFC-8F60-B4CD33CB7345}"/>
              </a:ext>
            </a:extLst>
          </p:cNvPr>
          <p:cNvSpPr txBox="1"/>
          <p:nvPr/>
        </p:nvSpPr>
        <p:spPr bwMode="gray">
          <a:xfrm>
            <a:off x="6249515" y="3621048"/>
            <a:ext cx="840031" cy="590675"/>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Type III meeting request sub. with DBL2</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8/13</a:t>
            </a:r>
            <a:endParaRPr kumimoji="0" lang="zh-CN" altLang="en-US" sz="7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72" name="Picture 6" descr="China ">
            <a:extLst>
              <a:ext uri="{FF2B5EF4-FFF2-40B4-BE49-F238E27FC236}">
                <a16:creationId xmlns:a16="http://schemas.microsoft.com/office/drawing/2014/main" id="{2DB85878-0F8C-4783-DAFF-0803488F86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67444" y="2853949"/>
            <a:ext cx="252000" cy="252000"/>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6" descr="China ">
            <a:extLst>
              <a:ext uri="{FF2B5EF4-FFF2-40B4-BE49-F238E27FC236}">
                <a16:creationId xmlns:a16="http://schemas.microsoft.com/office/drawing/2014/main" id="{B8A53F70-D18B-C533-9976-7DC63DBCF44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03566" y="3476061"/>
            <a:ext cx="252000" cy="252000"/>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6" descr="圆形美国国旗图片免费下载_PNG素材_编号z7rikl9n1_图精灵">
            <a:extLst>
              <a:ext uri="{FF2B5EF4-FFF2-40B4-BE49-F238E27FC236}">
                <a16:creationId xmlns:a16="http://schemas.microsoft.com/office/drawing/2014/main" id="{0D92EDC4-CF8F-6F19-06EB-BFC6442ECA0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743" t="15514" r="25337" b="18542"/>
          <a:stretch/>
        </p:blipFill>
        <p:spPr bwMode="auto">
          <a:xfrm>
            <a:off x="7885892" y="1623122"/>
            <a:ext cx="355627" cy="355426"/>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6" descr="圆形美国国旗图片免费下载_PNG素材_编号z7rikl9n1_图精灵">
            <a:extLst>
              <a:ext uri="{FF2B5EF4-FFF2-40B4-BE49-F238E27FC236}">
                <a16:creationId xmlns:a16="http://schemas.microsoft.com/office/drawing/2014/main" id="{FEFA0359-FCA6-FD84-797B-DBEF4284354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743" t="15514" r="25337" b="18542"/>
          <a:stretch/>
        </p:blipFill>
        <p:spPr bwMode="auto">
          <a:xfrm>
            <a:off x="9855835" y="4352635"/>
            <a:ext cx="355627" cy="355426"/>
          </a:xfrm>
          <a:prstGeom prst="rect">
            <a:avLst/>
          </a:prstGeom>
          <a:noFill/>
          <a:extLst>
            <a:ext uri="{909E8E84-426E-40DD-AFC4-6F175D3DCCD1}">
              <a14:hiddenFill xmlns:a14="http://schemas.microsoft.com/office/drawing/2010/main">
                <a:solidFill>
                  <a:srgbClr val="FFFFFF"/>
                </a:solidFill>
              </a14:hiddenFill>
            </a:ext>
          </a:extLst>
        </p:spPr>
      </p:pic>
      <p:sp>
        <p:nvSpPr>
          <p:cNvPr id="76" name="文本框 75">
            <a:extLst>
              <a:ext uri="{FF2B5EF4-FFF2-40B4-BE49-F238E27FC236}">
                <a16:creationId xmlns:a16="http://schemas.microsoft.com/office/drawing/2014/main" id="{116ACDD6-E12D-4468-347C-E328003DEF09}"/>
              </a:ext>
            </a:extLst>
          </p:cNvPr>
          <p:cNvSpPr txBox="1"/>
          <p:nvPr/>
        </p:nvSpPr>
        <p:spPr bwMode="gray">
          <a:xfrm>
            <a:off x="7897939" y="1295301"/>
            <a:ext cx="840031" cy="289053"/>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Approval</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10/7</a:t>
            </a:r>
            <a:endParaRPr kumimoji="0" lang="zh-CN" alt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7" name="文本框 76">
            <a:extLst>
              <a:ext uri="{FF2B5EF4-FFF2-40B4-BE49-F238E27FC236}">
                <a16:creationId xmlns:a16="http://schemas.microsoft.com/office/drawing/2014/main" id="{56FED598-CB3C-61BB-6C4E-AC80AE06CCA5}"/>
              </a:ext>
            </a:extLst>
          </p:cNvPr>
          <p:cNvSpPr txBox="1"/>
          <p:nvPr/>
        </p:nvSpPr>
        <p:spPr bwMode="gray">
          <a:xfrm>
            <a:off x="9855835" y="4708061"/>
            <a:ext cx="840031" cy="289053"/>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Approval</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1/5/2026</a:t>
            </a:r>
            <a:endParaRPr kumimoji="0" lang="zh-CN" altLang="en-US" sz="700" b="0" i="0" u="none" strike="noStrike" kern="1200" cap="none" spc="0" normalizeH="0" baseline="0" noProof="0">
              <a:ln>
                <a:noFill/>
              </a:ln>
              <a:solidFill>
                <a:prstClr val="black"/>
              </a:solidFill>
              <a:effectLst/>
              <a:uLnTx/>
              <a:uFillTx/>
              <a:latin typeface="Boehringer Forward Text"/>
              <a:ea typeface="+mn-ea"/>
              <a:cs typeface="+mn-cs"/>
            </a:endParaRPr>
          </a:p>
        </p:txBody>
      </p:sp>
      <p:grpSp>
        <p:nvGrpSpPr>
          <p:cNvPr id="78" name="Group 202">
            <a:extLst>
              <a:ext uri="{FF2B5EF4-FFF2-40B4-BE49-F238E27FC236}">
                <a16:creationId xmlns:a16="http://schemas.microsoft.com/office/drawing/2014/main" id="{44A12889-43C8-9952-B62A-9F3EFC9C4CFE}"/>
              </a:ext>
            </a:extLst>
          </p:cNvPr>
          <p:cNvGrpSpPr/>
          <p:nvPr/>
        </p:nvGrpSpPr>
        <p:grpSpPr>
          <a:xfrm>
            <a:off x="9407124" y="913996"/>
            <a:ext cx="546747" cy="4525886"/>
            <a:chOff x="2078680" y="1211749"/>
            <a:chExt cx="546747" cy="3961415"/>
          </a:xfrm>
        </p:grpSpPr>
        <p:cxnSp>
          <p:nvCxnSpPr>
            <p:cNvPr id="79" name="Straight Connector 203">
              <a:extLst>
                <a:ext uri="{FF2B5EF4-FFF2-40B4-BE49-F238E27FC236}">
                  <a16:creationId xmlns:a16="http://schemas.microsoft.com/office/drawing/2014/main" id="{90CE382E-F2E9-5B31-8A32-FF8635DDF2FB}"/>
                </a:ext>
              </a:extLst>
            </p:cNvPr>
            <p:cNvCxnSpPr>
              <a:cxnSpLocks/>
            </p:cNvCxnSpPr>
            <p:nvPr/>
          </p:nvCxnSpPr>
          <p:spPr bwMode="auto">
            <a:xfrm flipV="1">
              <a:off x="2134059" y="139819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80" name="OTLSHAPE_T_e17f3958430f4cff8650518c93c7635e_StartDate">
              <a:extLst>
                <a:ext uri="{FF2B5EF4-FFF2-40B4-BE49-F238E27FC236}">
                  <a16:creationId xmlns:a16="http://schemas.microsoft.com/office/drawing/2014/main" id="{85A55237-B015-AE63-CEA6-EDB0818C8001}"/>
                </a:ext>
              </a:extLst>
            </p:cNvPr>
            <p:cNvSpPr txBox="1"/>
            <p:nvPr>
              <p:custDataLst>
                <p:tags r:id="rId1"/>
              </p:custDataLst>
            </p:nvPr>
          </p:nvSpPr>
          <p:spPr>
            <a:xfrm>
              <a:off x="2078680" y="1211749"/>
              <a:ext cx="546747" cy="246317"/>
            </a:xfrm>
            <a:prstGeom prst="rect">
              <a:avLst/>
            </a:prstGeom>
            <a:noFill/>
            <a:ln w="12700">
              <a:noFill/>
            </a:ln>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81" name="Triangle 363">
            <a:extLst>
              <a:ext uri="{FF2B5EF4-FFF2-40B4-BE49-F238E27FC236}">
                <a16:creationId xmlns:a16="http://schemas.microsoft.com/office/drawing/2014/main" id="{87B031EF-878A-4CC8-01E7-02FF1CF15C5F}"/>
              </a:ext>
            </a:extLst>
          </p:cNvPr>
          <p:cNvSpPr/>
          <p:nvPr/>
        </p:nvSpPr>
        <p:spPr>
          <a:xfrm>
            <a:off x="7053018" y="3448036"/>
            <a:ext cx="196782" cy="164186"/>
          </a:xfrm>
          <a:prstGeom prst="triangle">
            <a:avLst/>
          </a:prstGeom>
          <a:solidFill>
            <a:srgbClr val="00E47C"/>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09507" rtl="0" eaLnBrk="1" fontAlgn="auto" latinLnBrk="0" hangingPunct="1">
              <a:lnSpc>
                <a:spcPct val="100000"/>
              </a:lnSpc>
              <a:spcBef>
                <a:spcPts val="0"/>
              </a:spcBef>
              <a:spcAft>
                <a:spcPts val="0"/>
              </a:spcAft>
              <a:buClrTx/>
              <a:buSzTx/>
              <a:buFontTx/>
              <a:buNone/>
              <a:tabLst/>
              <a:defRPr/>
            </a:pPr>
            <a:endParaRPr kumimoji="0" lang="en-US" sz="2667" b="0" i="0" u="none" strike="noStrike" kern="0" cap="none" spc="0" normalizeH="0" baseline="0" noProof="0">
              <a:ln>
                <a:noFill/>
              </a:ln>
              <a:solidFill>
                <a:srgbClr val="08312A"/>
              </a:solidFill>
              <a:effectLst/>
              <a:uLnTx/>
              <a:uFillTx/>
              <a:latin typeface="Boehringer Forward Text"/>
              <a:ea typeface="+mn-ea"/>
              <a:cs typeface="Arial" panose="020B0604020202020204" pitchFamily="34" charset="0"/>
            </a:endParaRPr>
          </a:p>
        </p:txBody>
      </p:sp>
      <p:sp>
        <p:nvSpPr>
          <p:cNvPr id="82" name="文本框 81">
            <a:extLst>
              <a:ext uri="{FF2B5EF4-FFF2-40B4-BE49-F238E27FC236}">
                <a16:creationId xmlns:a16="http://schemas.microsoft.com/office/drawing/2014/main" id="{4A18BF9E-3BC5-3D7D-BD86-225F123DB765}"/>
              </a:ext>
            </a:extLst>
          </p:cNvPr>
          <p:cNvSpPr txBox="1"/>
          <p:nvPr/>
        </p:nvSpPr>
        <p:spPr bwMode="gray">
          <a:xfrm>
            <a:off x="7070436" y="3623040"/>
            <a:ext cx="840031" cy="289053"/>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GCP inspection </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Aug 25-28</a:t>
            </a:r>
            <a:endParaRPr kumimoji="0" lang="zh-CN" alt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4" name="TextBox 85">
            <a:extLst>
              <a:ext uri="{FF2B5EF4-FFF2-40B4-BE49-F238E27FC236}">
                <a16:creationId xmlns:a16="http://schemas.microsoft.com/office/drawing/2014/main" id="{81663B35-DC3A-9F78-20EE-E434F0DFF0B2}"/>
              </a:ext>
            </a:extLst>
          </p:cNvPr>
          <p:cNvSpPr txBox="1"/>
          <p:nvPr/>
        </p:nvSpPr>
        <p:spPr bwMode="gray">
          <a:xfrm>
            <a:off x="1369938" y="4565432"/>
            <a:ext cx="6225887" cy="830933"/>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6616" marR="0" lvl="0" indent="-173736"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Boehringer Forward Text" panose="02000500000000020000" pitchFamily="2" charset="0"/>
                <a:ea typeface="+mn-ea"/>
                <a:cs typeface="+mn-cs"/>
              </a:rPr>
              <a:t>US status: </a:t>
            </a:r>
            <a:r>
              <a:rPr kumimoji="0" lang="en-US" sz="1200" b="0" i="0" u="none" strike="noStrike" kern="1200" cap="none" spc="0" normalizeH="0" baseline="0" noProof="0">
                <a:ln>
                  <a:noFill/>
                </a:ln>
                <a:solidFill>
                  <a:srgbClr val="000000"/>
                </a:solidFill>
                <a:effectLst/>
                <a:uLnTx/>
                <a:uFillTx/>
                <a:latin typeface="Boehringer Forward Text" panose="02000500000000020000" pitchFamily="2" charset="0"/>
                <a:ea typeface="+mn-ea"/>
                <a:cs typeface="+mn-cs"/>
              </a:rPr>
              <a:t>PI negotiation is currently in progress.</a:t>
            </a:r>
          </a:p>
          <a:p>
            <a:pPr marL="356616" indent="-173736">
              <a:lnSpc>
                <a:spcPct val="140000"/>
              </a:lnSpc>
              <a:spcAft>
                <a:spcPts val="600"/>
              </a:spcAft>
              <a:buFont typeface="Arial" panose="020B0604020202020204" pitchFamily="34" charset="0"/>
              <a:buChar char="•"/>
              <a:defRPr/>
            </a:pPr>
            <a:r>
              <a:rPr kumimoji="0" lang="en-US" sz="1200" b="1" i="0" u="none" strike="noStrike" kern="1200" cap="none" spc="0" normalizeH="0" baseline="0" noProof="0">
                <a:ln>
                  <a:noFill/>
                </a:ln>
                <a:solidFill>
                  <a:srgbClr val="000000"/>
                </a:solidFill>
                <a:effectLst/>
                <a:uLnTx/>
                <a:uFillTx/>
                <a:latin typeface="Boehringer Forward Text" panose="02000500000000020000" pitchFamily="2" charset="0"/>
                <a:ea typeface="+mn-ea"/>
                <a:cs typeface="+mn-cs"/>
              </a:rPr>
              <a:t>CN status: </a:t>
            </a:r>
            <a:r>
              <a:rPr lang="en-US" altLang="zh-CN" sz="1200">
                <a:solidFill>
                  <a:srgbClr val="000000"/>
                </a:solidFill>
                <a:latin typeface="Boehringer Forward Text" panose="020B0504030403020204" pitchFamily="2" charset="0"/>
              </a:rPr>
              <a:t>The NDA was approved on Dec 9th, making China the first country globally to obtain NDA approval for the PPF indication!</a:t>
            </a:r>
            <a:endParaRPr lang="zh-CN" altLang="en-US" sz="1200"/>
          </a:p>
        </p:txBody>
      </p:sp>
      <p:sp>
        <p:nvSpPr>
          <p:cNvPr id="85" name="矩形: 圆角 84">
            <a:extLst>
              <a:ext uri="{FF2B5EF4-FFF2-40B4-BE49-F238E27FC236}">
                <a16:creationId xmlns:a16="http://schemas.microsoft.com/office/drawing/2014/main" id="{58CAE6FD-57AC-D62B-5951-54BB004E5D70}"/>
              </a:ext>
            </a:extLst>
          </p:cNvPr>
          <p:cNvSpPr/>
          <p:nvPr/>
        </p:nvSpPr>
        <p:spPr bwMode="gray">
          <a:xfrm>
            <a:off x="8461752" y="3443970"/>
            <a:ext cx="344867" cy="208862"/>
          </a:xfrm>
          <a:prstGeom prst="roundRect">
            <a:avLst/>
          </a:prstGeom>
          <a:solidFill>
            <a:srgbClr val="F0852D"/>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6" name="文本框 85">
            <a:extLst>
              <a:ext uri="{FF2B5EF4-FFF2-40B4-BE49-F238E27FC236}">
                <a16:creationId xmlns:a16="http://schemas.microsoft.com/office/drawing/2014/main" id="{E40574B2-F8FC-3E54-A5B3-97C5D43B0DC3}"/>
              </a:ext>
            </a:extLst>
          </p:cNvPr>
          <p:cNvSpPr txBox="1"/>
          <p:nvPr/>
        </p:nvSpPr>
        <p:spPr bwMode="gray">
          <a:xfrm>
            <a:off x="8248655" y="3620304"/>
            <a:ext cx="840031" cy="289053"/>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Panel meeting</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700" b="0" i="0" u="none" strike="noStrike" kern="1200" cap="none" spc="0" normalizeH="0" baseline="0" noProof="0">
                <a:ln>
                  <a:noFill/>
                </a:ln>
                <a:solidFill>
                  <a:prstClr val="black"/>
                </a:solidFill>
                <a:effectLst/>
                <a:uLnTx/>
                <a:uFillTx/>
                <a:latin typeface="Boehringer Forward Text"/>
                <a:ea typeface="+mn-ea"/>
                <a:cs typeface="+mn-cs"/>
              </a:rPr>
              <a:t>(Nov 12)</a:t>
            </a:r>
          </a:p>
        </p:txBody>
      </p:sp>
    </p:spTree>
    <p:extLst>
      <p:ext uri="{BB962C8B-B14F-4D97-AF65-F5344CB8AC3E}">
        <p14:creationId xmlns:p14="http://schemas.microsoft.com/office/powerpoint/2010/main" val="564186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7DB59F-B7B7-F428-0C10-E6D0DF37878F}"/>
              </a:ext>
            </a:extLst>
          </p:cNvPr>
          <p:cNvSpPr>
            <a:spLocks noGrp="1"/>
          </p:cNvSpPr>
          <p:nvPr>
            <p:ph type="title"/>
          </p:nvPr>
        </p:nvSpPr>
        <p:spPr/>
        <p:txBody>
          <a:bodyPr/>
          <a:lstStyle/>
          <a:p>
            <a:r>
              <a:rPr lang="en-US" altLang="zh-CN"/>
              <a:t>CN PPF PI Summary</a:t>
            </a:r>
            <a:endParaRPr lang="zh-CN" altLang="en-US"/>
          </a:p>
        </p:txBody>
      </p:sp>
      <p:sp>
        <p:nvSpPr>
          <p:cNvPr id="3" name="文本占位符 2">
            <a:extLst>
              <a:ext uri="{FF2B5EF4-FFF2-40B4-BE49-F238E27FC236}">
                <a16:creationId xmlns:a16="http://schemas.microsoft.com/office/drawing/2014/main" id="{53BA8913-3176-A3FD-2803-B1DEABD94F6C}"/>
              </a:ext>
            </a:extLst>
          </p:cNvPr>
          <p:cNvSpPr>
            <a:spLocks noGrp="1"/>
          </p:cNvSpPr>
          <p:nvPr>
            <p:ph type="body" sz="quarter" idx="13"/>
          </p:nvPr>
        </p:nvSpPr>
        <p:spPr/>
        <p:txBody>
          <a:bodyPr/>
          <a:lstStyle/>
          <a:p>
            <a:endParaRPr lang="zh-CN" altLang="en-US"/>
          </a:p>
        </p:txBody>
      </p:sp>
      <p:sp>
        <p:nvSpPr>
          <p:cNvPr id="4" name="页脚占位符 3">
            <a:extLst>
              <a:ext uri="{FF2B5EF4-FFF2-40B4-BE49-F238E27FC236}">
                <a16:creationId xmlns:a16="http://schemas.microsoft.com/office/drawing/2014/main" id="{68D71195-B6E1-56CB-3497-882947E6A1FB}"/>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ONLY FOR INTERNAL USE</a:t>
            </a:r>
          </a:p>
        </p:txBody>
      </p:sp>
      <p:sp>
        <p:nvSpPr>
          <p:cNvPr id="5" name="灯片编号占位符 4">
            <a:extLst>
              <a:ext uri="{FF2B5EF4-FFF2-40B4-BE49-F238E27FC236}">
                <a16:creationId xmlns:a16="http://schemas.microsoft.com/office/drawing/2014/main" id="{D47A529F-899B-C2DE-0374-BB5163724A9D}"/>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7" name="文本框 6">
            <a:extLst>
              <a:ext uri="{FF2B5EF4-FFF2-40B4-BE49-F238E27FC236}">
                <a16:creationId xmlns:a16="http://schemas.microsoft.com/office/drawing/2014/main" id="{22D998AB-34C0-EAD4-9282-71491B823C4C}"/>
              </a:ext>
            </a:extLst>
          </p:cNvPr>
          <p:cNvSpPr txBox="1"/>
          <p:nvPr/>
        </p:nvSpPr>
        <p:spPr bwMode="gray">
          <a:xfrm>
            <a:off x="397553" y="997804"/>
            <a:ext cx="11396890" cy="293926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600" b="1" i="0" u="none" strike="noStrike" kern="1200" cap="none" spc="0" normalizeH="0" baseline="0" noProof="0">
                <a:ln>
                  <a:noFill/>
                </a:ln>
                <a:solidFill>
                  <a:prstClr val="black"/>
                </a:solidFill>
                <a:effectLst/>
                <a:uLnTx/>
                <a:uFillTx/>
                <a:latin typeface="Boehringer Forward Text"/>
                <a:ea typeface="+mn-ea"/>
                <a:cs typeface="+mn-cs"/>
              </a:rPr>
              <a:t>Indications</a:t>
            </a:r>
            <a:r>
              <a:rPr kumimoji="0" lang="zh-CN" altLang="en-US" sz="1600" b="1" i="0" u="none" strike="noStrike" kern="1200" cap="none" spc="0" normalizeH="0" baseline="0" noProof="0">
                <a:ln>
                  <a:noFill/>
                </a:ln>
                <a:solidFill>
                  <a:prstClr val="black"/>
                </a:solidFill>
                <a:effectLst/>
                <a:uLnTx/>
                <a:uFillTx/>
                <a:latin typeface="Boehringer Forward Text"/>
                <a:ea typeface="+mn-ea"/>
                <a:cs typeface="+mn-cs"/>
              </a:rPr>
              <a:t>：</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This product is indicated for the treatment of Progressive Pulmonary Fibrosis (PPF) in adult patients.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600" b="1" i="0" u="none" strike="noStrike" kern="1200" cap="none" spc="0" normalizeH="0" baseline="0" noProof="0">
                <a:ln>
                  <a:noFill/>
                </a:ln>
                <a:solidFill>
                  <a:prstClr val="black"/>
                </a:solidFill>
                <a:effectLst/>
                <a:uLnTx/>
                <a:uFillTx/>
                <a:latin typeface="Boehringer Forward Text"/>
                <a:ea typeface="+mn-ea"/>
                <a:cs typeface="+mn-cs"/>
              </a:rPr>
              <a:t>Dosage: </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The recommended dosage of this product is 18 mg twice daily, administered orally approximately 12 hours apart, with or without food.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    - Recommended dosage is 18 mg twice daily when used concomitantly with pirfenidone. Do not reduce dosage to 9 mg twice daily</a:t>
            </a:r>
            <a:endParaRPr kumimoji="0" lang="zh-CN" altLang="zh-CN" sz="16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    - Reduce to 9 mg twice daily for patients who are unable to tolerate 18 mg twice daily, except in patients who concomitantly use with pirfenidone. </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600" b="1" i="0" u="none" strike="noStrike" kern="100" cap="none" spc="0" normalizeH="0" baseline="0" noProof="0">
                <a:ln>
                  <a:noFill/>
                </a:ln>
                <a:solidFill>
                  <a:prstClr val="black"/>
                </a:solidFill>
                <a:effectLst/>
                <a:uLnTx/>
                <a:uFillTx/>
                <a:latin typeface="Boehringer Forward Text"/>
                <a:ea typeface="SimSun" panose="02010600030101010101" pitchFamily="2" charset="-122"/>
                <a:cs typeface="+mn-cs"/>
              </a:rPr>
              <a:t>Adverse reaction: </a:t>
            </a:r>
            <a:r>
              <a:rPr kumimoji="0" lang="en-US" altLang="zh-CN" sz="1600" b="0" i="0" u="none" strike="noStrike" kern="100" cap="none" spc="0" normalizeH="0" baseline="0" noProof="0">
                <a:ln>
                  <a:noFill/>
                </a:ln>
                <a:solidFill>
                  <a:prstClr val="black"/>
                </a:solidFill>
                <a:effectLst/>
                <a:uLnTx/>
                <a:uFillTx/>
                <a:latin typeface="Boehringer Forward Text"/>
                <a:ea typeface="SimSun" panose="02010600030101010101" pitchFamily="2" charset="-122"/>
                <a:cs typeface="+mn-cs"/>
              </a:rPr>
              <a:t>Similar to IPF section.</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600" b="1" i="0" u="none" strike="noStrike" kern="100" cap="none" spc="0" normalizeH="0" baseline="0" noProof="0">
                <a:ln>
                  <a:noFill/>
                </a:ln>
                <a:solidFill>
                  <a:prstClr val="black"/>
                </a:solidFill>
                <a:effectLst/>
                <a:uLnTx/>
                <a:uFillTx/>
                <a:latin typeface="Boehringer Forward Text"/>
                <a:ea typeface="SimSun" panose="02010600030101010101" pitchFamily="2" charset="-122"/>
                <a:cs typeface="+mn-cs"/>
              </a:rPr>
              <a:t>Efficacy data: </a:t>
            </a:r>
            <a:r>
              <a:rPr kumimoji="0" lang="en-US" altLang="zh-CN" sz="1600" b="0" i="0" u="none" strike="noStrike" kern="1200" cap="none" spc="0" normalizeH="0" baseline="0" noProof="0">
                <a:ln>
                  <a:noFill/>
                </a:ln>
                <a:solidFill>
                  <a:srgbClr val="000000"/>
                </a:solidFill>
                <a:effectLst/>
                <a:uLnTx/>
                <a:uFillTx/>
                <a:latin typeface="Boehringer Forward Text" panose="020B0504030403020204" pitchFamily="2" charset="0"/>
                <a:ea typeface="+mn-ea"/>
                <a:cs typeface="+mn-cs"/>
              </a:rPr>
              <a:t>Includes the primary endpoint, along with subgroup analyses based on AF/non-AF status, HRCT patterns, and ILD diagnosis, as well as key secondary endpoint and mortality data.</a:t>
            </a:r>
            <a:endParaRPr kumimoji="0" lang="zh-CN" altLang="zh-CN" sz="1600" b="0" i="0" u="none" strike="noStrike" kern="100" cap="none" spc="0" normalizeH="0" baseline="0" noProof="0">
              <a:ln>
                <a:noFill/>
              </a:ln>
              <a:solidFill>
                <a:prstClr val="black"/>
              </a:solidFill>
              <a:effectLst/>
              <a:uLnTx/>
              <a:uFillTx/>
              <a:latin typeface="Boehringer Forward Text"/>
              <a:ea typeface="SimSun" panose="02010600030101010101" pitchFamily="2" charset="-122"/>
              <a:cs typeface="+mn-cs"/>
            </a:endParaRPr>
          </a:p>
        </p:txBody>
      </p:sp>
    </p:spTree>
    <p:extLst>
      <p:ext uri="{BB962C8B-B14F-4D97-AF65-F5344CB8AC3E}">
        <p14:creationId xmlns:p14="http://schemas.microsoft.com/office/powerpoint/2010/main" val="3828389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矩形 20">
            <a:extLst>
              <a:ext uri="{FF2B5EF4-FFF2-40B4-BE49-F238E27FC236}">
                <a16:creationId xmlns:a16="http://schemas.microsoft.com/office/drawing/2014/main" id="{250DA2B4-64E3-96E8-4EF7-24060762E356}"/>
              </a:ext>
            </a:extLst>
          </p:cNvPr>
          <p:cNvSpPr/>
          <p:nvPr/>
        </p:nvSpPr>
        <p:spPr>
          <a:xfrm>
            <a:off x="8892729" y="3737595"/>
            <a:ext cx="1806230" cy="363607"/>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0" cap="none" spc="-7" normalizeH="0" baseline="0" noProof="0">
              <a:ln>
                <a:noFill/>
              </a:ln>
              <a:solidFill>
                <a:srgbClr val="000000"/>
              </a:solidFill>
              <a:effectLst/>
              <a:uLnTx/>
              <a:uFillTx/>
              <a:latin typeface="Boehringer Forward Text"/>
              <a:ea typeface="+mn-ea"/>
              <a:cs typeface="+mn-cs"/>
            </a:endParaRPr>
          </a:p>
        </p:txBody>
      </p:sp>
      <p:sp>
        <p:nvSpPr>
          <p:cNvPr id="253" name="OTLSHAPE_T_e17f3958430f4cff8650518c93c7635e_Shape">
            <a:extLst>
              <a:ext uri="{FF2B5EF4-FFF2-40B4-BE49-F238E27FC236}">
                <a16:creationId xmlns:a16="http://schemas.microsoft.com/office/drawing/2014/main" id="{F81314E4-3460-685F-09F4-D8B5AC912C10}"/>
              </a:ext>
            </a:extLst>
          </p:cNvPr>
          <p:cNvSpPr/>
          <p:nvPr>
            <p:custDataLst>
              <p:tags r:id="rId1"/>
            </p:custDataLst>
          </p:nvPr>
        </p:nvSpPr>
        <p:spPr bwMode="auto">
          <a:xfrm>
            <a:off x="5104773" y="3724887"/>
            <a:ext cx="3788470" cy="379573"/>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20" name="Title 3">
            <a:extLst>
              <a:ext uri="{FF2B5EF4-FFF2-40B4-BE49-F238E27FC236}">
                <a16:creationId xmlns:a16="http://schemas.microsoft.com/office/drawing/2014/main" id="{E8AE3E22-1A63-909A-C6E9-C945AB73E27A}"/>
              </a:ext>
            </a:extLst>
          </p:cNvPr>
          <p:cNvSpPr txBox="1">
            <a:spLocks/>
          </p:cNvSpPr>
          <p:nvPr/>
        </p:nvSpPr>
        <p:spPr bwMode="gray">
          <a:xfrm>
            <a:off x="322409" y="227619"/>
            <a:ext cx="10634397" cy="720000"/>
          </a:xfrm>
          <a:prstGeom prst="rect">
            <a:avLst/>
          </a:prstGeom>
        </p:spPr>
        <p:txBody>
          <a:bodyPr vert="horz" lIns="0" tIns="0" rIns="0" bIns="0" rtlCol="0" anchor="t">
            <a:normAutofit fontScale="97500"/>
          </a:bodyPr>
          <a:lstStyle>
            <a:lvl1pPr algn="l" defTabSz="914377" rtl="0" eaLnBrk="1" latinLnBrk="0" hangingPunct="1">
              <a:lnSpc>
                <a:spcPct val="100000"/>
              </a:lnSpc>
              <a:spcBef>
                <a:spcPct val="0"/>
              </a:spcBef>
              <a:buNone/>
              <a:defRPr kumimoji="1"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1" lang="en-US" altLang="zh-CN" sz="2400" b="0" i="1" u="sng"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Ongoing: </a:t>
            </a:r>
            <a:r>
              <a:rPr kumimoji="1" lang="en-US" altLang="zh-CN" sz="2400" b="0" i="1"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Nerandomilast (PDE4b inhibitor): </a:t>
            </a:r>
            <a:r>
              <a:rPr kumimoji="1" lang="en-US" altLang="zh-CN"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Systemic autoimmune rheumatic diseases-associated Interstitial Lung Diseases (SARD-ILD) Development Plan</a:t>
            </a:r>
            <a:endParaRPr kumimoji="1" lang="zh-CN" altLang="en-US"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endParaRPr>
          </a:p>
        </p:txBody>
      </p:sp>
      <p:cxnSp>
        <p:nvCxnSpPr>
          <p:cNvPr id="121" name="Straight Connector 120">
            <a:extLst>
              <a:ext uri="{FF2B5EF4-FFF2-40B4-BE49-F238E27FC236}">
                <a16:creationId xmlns:a16="http://schemas.microsoft.com/office/drawing/2014/main" id="{DE4EEFD2-FE59-2953-9D81-E8615B8A9749}"/>
              </a:ext>
            </a:extLst>
          </p:cNvPr>
          <p:cNvCxnSpPr>
            <a:cxnSpLocks/>
          </p:cNvCxnSpPr>
          <p:nvPr/>
        </p:nvCxnSpPr>
        <p:spPr bwMode="auto">
          <a:xfrm flipH="1">
            <a:off x="451" y="3188585"/>
            <a:ext cx="12168000" cy="0"/>
          </a:xfrm>
          <a:prstGeom prst="line">
            <a:avLst/>
          </a:prstGeom>
          <a:solidFill>
            <a:srgbClr val="08312A"/>
          </a:solidFill>
          <a:ln w="15875" cap="flat" cmpd="sng" algn="ctr">
            <a:solidFill>
              <a:srgbClr val="A3E5EE"/>
            </a:solidFill>
            <a:prstDash val="sysDash"/>
            <a:round/>
            <a:headEnd type="none" w="med" len="med"/>
            <a:tailEnd type="none" w="med" len="med"/>
          </a:ln>
          <a:effectLst/>
        </p:spPr>
      </p:cxnSp>
      <p:graphicFrame>
        <p:nvGraphicFramePr>
          <p:cNvPr id="123" name="Table 122">
            <a:extLst>
              <a:ext uri="{FF2B5EF4-FFF2-40B4-BE49-F238E27FC236}">
                <a16:creationId xmlns:a16="http://schemas.microsoft.com/office/drawing/2014/main" id="{B0A0F24A-E5B2-D7AD-5771-3C4CADE3707B}"/>
              </a:ext>
            </a:extLst>
          </p:cNvPr>
          <p:cNvGraphicFramePr>
            <a:graphicFrameLocks noGrp="1"/>
          </p:cNvGraphicFramePr>
          <p:nvPr/>
        </p:nvGraphicFramePr>
        <p:xfrm>
          <a:off x="250897" y="1073957"/>
          <a:ext cx="11697072" cy="608641"/>
        </p:xfrm>
        <a:graphic>
          <a:graphicData uri="http://schemas.openxmlformats.org/drawingml/2006/table">
            <a:tbl>
              <a:tblPr firstRow="1" bandRow="1"/>
              <a:tblGrid>
                <a:gridCol w="731067">
                  <a:extLst>
                    <a:ext uri="{9D8B030D-6E8A-4147-A177-3AD203B41FA5}">
                      <a16:colId xmlns:a16="http://schemas.microsoft.com/office/drawing/2014/main" val="1064917641"/>
                    </a:ext>
                  </a:extLst>
                </a:gridCol>
                <a:gridCol w="731067">
                  <a:extLst>
                    <a:ext uri="{9D8B030D-6E8A-4147-A177-3AD203B41FA5}">
                      <a16:colId xmlns:a16="http://schemas.microsoft.com/office/drawing/2014/main" val="4221117315"/>
                    </a:ext>
                  </a:extLst>
                </a:gridCol>
                <a:gridCol w="731067">
                  <a:extLst>
                    <a:ext uri="{9D8B030D-6E8A-4147-A177-3AD203B41FA5}">
                      <a16:colId xmlns:a16="http://schemas.microsoft.com/office/drawing/2014/main" val="3266065341"/>
                    </a:ext>
                  </a:extLst>
                </a:gridCol>
                <a:gridCol w="731067">
                  <a:extLst>
                    <a:ext uri="{9D8B030D-6E8A-4147-A177-3AD203B41FA5}">
                      <a16:colId xmlns:a16="http://schemas.microsoft.com/office/drawing/2014/main" val="2374051224"/>
                    </a:ext>
                  </a:extLst>
                </a:gridCol>
                <a:gridCol w="731067">
                  <a:extLst>
                    <a:ext uri="{9D8B030D-6E8A-4147-A177-3AD203B41FA5}">
                      <a16:colId xmlns:a16="http://schemas.microsoft.com/office/drawing/2014/main" val="1840388365"/>
                    </a:ext>
                  </a:extLst>
                </a:gridCol>
                <a:gridCol w="731067">
                  <a:extLst>
                    <a:ext uri="{9D8B030D-6E8A-4147-A177-3AD203B41FA5}">
                      <a16:colId xmlns:a16="http://schemas.microsoft.com/office/drawing/2014/main" val="267750830"/>
                    </a:ext>
                  </a:extLst>
                </a:gridCol>
                <a:gridCol w="731067">
                  <a:extLst>
                    <a:ext uri="{9D8B030D-6E8A-4147-A177-3AD203B41FA5}">
                      <a16:colId xmlns:a16="http://schemas.microsoft.com/office/drawing/2014/main" val="3966469970"/>
                    </a:ext>
                  </a:extLst>
                </a:gridCol>
                <a:gridCol w="731067">
                  <a:extLst>
                    <a:ext uri="{9D8B030D-6E8A-4147-A177-3AD203B41FA5}">
                      <a16:colId xmlns:a16="http://schemas.microsoft.com/office/drawing/2014/main" val="2522973146"/>
                    </a:ext>
                  </a:extLst>
                </a:gridCol>
                <a:gridCol w="731067">
                  <a:extLst>
                    <a:ext uri="{9D8B030D-6E8A-4147-A177-3AD203B41FA5}">
                      <a16:colId xmlns:a16="http://schemas.microsoft.com/office/drawing/2014/main" val="3852236956"/>
                    </a:ext>
                  </a:extLst>
                </a:gridCol>
                <a:gridCol w="731067">
                  <a:extLst>
                    <a:ext uri="{9D8B030D-6E8A-4147-A177-3AD203B41FA5}">
                      <a16:colId xmlns:a16="http://schemas.microsoft.com/office/drawing/2014/main" val="493228184"/>
                    </a:ext>
                  </a:extLst>
                </a:gridCol>
                <a:gridCol w="731067">
                  <a:extLst>
                    <a:ext uri="{9D8B030D-6E8A-4147-A177-3AD203B41FA5}">
                      <a16:colId xmlns:a16="http://schemas.microsoft.com/office/drawing/2014/main" val="2981130253"/>
                    </a:ext>
                  </a:extLst>
                </a:gridCol>
                <a:gridCol w="731067">
                  <a:extLst>
                    <a:ext uri="{9D8B030D-6E8A-4147-A177-3AD203B41FA5}">
                      <a16:colId xmlns:a16="http://schemas.microsoft.com/office/drawing/2014/main" val="1463185388"/>
                    </a:ext>
                  </a:extLst>
                </a:gridCol>
                <a:gridCol w="731067">
                  <a:extLst>
                    <a:ext uri="{9D8B030D-6E8A-4147-A177-3AD203B41FA5}">
                      <a16:colId xmlns:a16="http://schemas.microsoft.com/office/drawing/2014/main" val="2864691688"/>
                    </a:ext>
                  </a:extLst>
                </a:gridCol>
                <a:gridCol w="731067">
                  <a:extLst>
                    <a:ext uri="{9D8B030D-6E8A-4147-A177-3AD203B41FA5}">
                      <a16:colId xmlns:a16="http://schemas.microsoft.com/office/drawing/2014/main" val="2712926517"/>
                    </a:ext>
                  </a:extLst>
                </a:gridCol>
                <a:gridCol w="731067">
                  <a:extLst>
                    <a:ext uri="{9D8B030D-6E8A-4147-A177-3AD203B41FA5}">
                      <a16:colId xmlns:a16="http://schemas.microsoft.com/office/drawing/2014/main" val="1902767807"/>
                    </a:ext>
                  </a:extLst>
                </a:gridCol>
                <a:gridCol w="731067">
                  <a:extLst>
                    <a:ext uri="{9D8B030D-6E8A-4147-A177-3AD203B41FA5}">
                      <a16:colId xmlns:a16="http://schemas.microsoft.com/office/drawing/2014/main" val="1000608608"/>
                    </a:ext>
                  </a:extLst>
                </a:gridCol>
              </a:tblGrid>
              <a:tr h="212234">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2024</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extLst>
                  <a:ext uri="{0D108BD9-81ED-4DB2-BD59-A6C34878D82A}">
                    <a16:rowId xmlns:a16="http://schemas.microsoft.com/office/drawing/2014/main" val="3603824039"/>
                  </a:ext>
                </a:extLst>
              </a:tr>
              <a:tr h="349561">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124" name="Isosceles Triangle 123">
            <a:extLst>
              <a:ext uri="{FF2B5EF4-FFF2-40B4-BE49-F238E27FC236}">
                <a16:creationId xmlns:a16="http://schemas.microsoft.com/office/drawing/2014/main" id="{91A44D40-0B6E-69D5-75E5-21FA2CA2A481}"/>
              </a:ext>
            </a:extLst>
          </p:cNvPr>
          <p:cNvSpPr/>
          <p:nvPr/>
        </p:nvSpPr>
        <p:spPr>
          <a:xfrm rot="16200000" flipH="1">
            <a:off x="-143888" y="1243839"/>
            <a:ext cx="553098" cy="236472"/>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0" cap="none" spc="0" normalizeH="0" baseline="0" noProof="0" err="1">
              <a:ln>
                <a:noFill/>
              </a:ln>
              <a:solidFill>
                <a:srgbClr val="000000"/>
              </a:solidFill>
              <a:effectLst/>
              <a:uLnTx/>
              <a:uFillTx/>
              <a:latin typeface="BISansOpti"/>
              <a:ea typeface="+mn-ea"/>
              <a:cs typeface="+mn-cs"/>
            </a:endParaRPr>
          </a:p>
        </p:txBody>
      </p:sp>
      <p:sp>
        <p:nvSpPr>
          <p:cNvPr id="125" name="Isosceles Triangle 124">
            <a:extLst>
              <a:ext uri="{FF2B5EF4-FFF2-40B4-BE49-F238E27FC236}">
                <a16:creationId xmlns:a16="http://schemas.microsoft.com/office/drawing/2014/main" id="{9B0D002A-341E-EDDF-AF04-8BAD2D714C84}"/>
              </a:ext>
            </a:extLst>
          </p:cNvPr>
          <p:cNvSpPr/>
          <p:nvPr/>
        </p:nvSpPr>
        <p:spPr>
          <a:xfrm rot="5400000">
            <a:off x="11773666" y="1243839"/>
            <a:ext cx="553098" cy="236472"/>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0" cap="none" spc="0" normalizeH="0" baseline="0" noProof="0" err="1">
              <a:ln>
                <a:noFill/>
              </a:ln>
              <a:solidFill>
                <a:srgbClr val="000000"/>
              </a:solidFill>
              <a:effectLst/>
              <a:uLnTx/>
              <a:uFillTx/>
              <a:latin typeface="BISansOpti"/>
              <a:ea typeface="+mn-ea"/>
              <a:cs typeface="+mn-cs"/>
            </a:endParaRPr>
          </a:p>
        </p:txBody>
      </p:sp>
      <p:sp>
        <p:nvSpPr>
          <p:cNvPr id="126" name="TextBox 125">
            <a:extLst>
              <a:ext uri="{FF2B5EF4-FFF2-40B4-BE49-F238E27FC236}">
                <a16:creationId xmlns:a16="http://schemas.microsoft.com/office/drawing/2014/main" id="{D4A7622B-BB78-05EE-E8A4-C48732B5A633}"/>
              </a:ext>
            </a:extLst>
          </p:cNvPr>
          <p:cNvSpPr txBox="1"/>
          <p:nvPr/>
        </p:nvSpPr>
        <p:spPr>
          <a:xfrm>
            <a:off x="296991" y="2319698"/>
            <a:ext cx="773052" cy="401126"/>
          </a:xfrm>
          <a:prstGeom prst="rect">
            <a:avLst/>
          </a:prstGeom>
          <a:noFill/>
          <a:ln>
            <a:solidFill>
              <a:srgbClr val="08312A"/>
            </a:solidFill>
          </a:ln>
        </p:spPr>
        <p:txBody>
          <a:bodyPr wrap="square" lIns="72000" tIns="36000" rIns="72000" bIns="3600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0" cap="none" spc="0" normalizeH="0" baseline="0" noProof="0">
                <a:ln>
                  <a:noFill/>
                </a:ln>
                <a:solidFill>
                  <a:srgbClr val="0066CC"/>
                </a:solidFill>
                <a:effectLst/>
                <a:uLnTx/>
                <a:uFillTx/>
                <a:latin typeface="Boehringer Forward Text"/>
                <a:ea typeface="+mn-ea"/>
                <a:cs typeface="Calibri" panose="020F0502020204030204" pitchFamily="34" charset="0"/>
              </a:rPr>
              <a:t>Ph3b-1305.46</a:t>
            </a:r>
          </a:p>
        </p:txBody>
      </p:sp>
      <p:sp>
        <p:nvSpPr>
          <p:cNvPr id="127" name="TextBox 126">
            <a:extLst>
              <a:ext uri="{FF2B5EF4-FFF2-40B4-BE49-F238E27FC236}">
                <a16:creationId xmlns:a16="http://schemas.microsoft.com/office/drawing/2014/main" id="{7A314EA0-A6B9-0057-C073-A8C9EF8D4881}"/>
              </a:ext>
            </a:extLst>
          </p:cNvPr>
          <p:cNvSpPr txBox="1"/>
          <p:nvPr/>
        </p:nvSpPr>
        <p:spPr>
          <a:xfrm>
            <a:off x="251329" y="3890399"/>
            <a:ext cx="835521" cy="401126"/>
          </a:xfrm>
          <a:prstGeom prst="rect">
            <a:avLst/>
          </a:prstGeom>
          <a:noFill/>
          <a:ln>
            <a:solidFill>
              <a:srgbClr val="08312A"/>
            </a:solidFill>
          </a:ln>
        </p:spPr>
        <p:txBody>
          <a:bodyPr wrap="square" lIns="72000" tIns="36000" rIns="72000" bIns="3600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0" cap="none" spc="0" normalizeH="0" baseline="0" noProof="0">
                <a:ln>
                  <a:noFill/>
                </a:ln>
                <a:solidFill>
                  <a:srgbClr val="0066CC"/>
                </a:solidFill>
                <a:effectLst/>
                <a:uLnTx/>
                <a:uFillTx/>
                <a:latin typeface="Boehringer Forward Text"/>
                <a:ea typeface="+mn-ea"/>
                <a:cs typeface="Calibri" panose="020F0502020204030204" pitchFamily="34" charset="0"/>
              </a:rPr>
              <a:t>Ph3b-1305.46</a:t>
            </a:r>
          </a:p>
        </p:txBody>
      </p:sp>
      <p:sp>
        <p:nvSpPr>
          <p:cNvPr id="128" name="OTLSHAPE_T_e17f3958430f4cff8650518c93c7635e_Shape">
            <a:extLst>
              <a:ext uri="{FF2B5EF4-FFF2-40B4-BE49-F238E27FC236}">
                <a16:creationId xmlns:a16="http://schemas.microsoft.com/office/drawing/2014/main" id="{628A634B-2A11-4794-E361-38E8E4F2585C}"/>
              </a:ext>
            </a:extLst>
          </p:cNvPr>
          <p:cNvSpPr/>
          <p:nvPr>
            <p:custDataLst>
              <p:tags r:id="rId2"/>
            </p:custDataLst>
          </p:nvPr>
        </p:nvSpPr>
        <p:spPr bwMode="auto">
          <a:xfrm>
            <a:off x="5077863" y="2353411"/>
            <a:ext cx="3815381" cy="330036"/>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35" name="OTLSHAPE_T_e17f3958430f4cff8650518c93c7635e_StartDate">
            <a:extLst>
              <a:ext uri="{FF2B5EF4-FFF2-40B4-BE49-F238E27FC236}">
                <a16:creationId xmlns:a16="http://schemas.microsoft.com/office/drawing/2014/main" id="{8DA8DBF8-FB19-788C-8BA3-1CFB27A06BA0}"/>
              </a:ext>
            </a:extLst>
          </p:cNvPr>
          <p:cNvSpPr txBox="1"/>
          <p:nvPr>
            <p:custDataLst>
              <p:tags r:id="rId3"/>
            </p:custDataLst>
          </p:nvPr>
        </p:nvSpPr>
        <p:spPr>
          <a:xfrm>
            <a:off x="5728885" y="2358912"/>
            <a:ext cx="3202127" cy="276999"/>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Recruitment window = 16 M </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152 sites, N = 400 </a:t>
            </a:r>
          </a:p>
        </p:txBody>
      </p:sp>
      <p:pic>
        <p:nvPicPr>
          <p:cNvPr id="146" name="Picture 145">
            <a:extLst>
              <a:ext uri="{FF2B5EF4-FFF2-40B4-BE49-F238E27FC236}">
                <a16:creationId xmlns:a16="http://schemas.microsoft.com/office/drawing/2014/main" id="{77E4FDDE-AC3E-4F50-F68B-7A6E65BE26E3}"/>
              </a:ext>
            </a:extLst>
          </p:cNvPr>
          <p:cNvPicPr>
            <a:picLocks noChangeAspect="1"/>
          </p:cNvPicPr>
          <p:nvPr/>
        </p:nvPicPr>
        <p:blipFill>
          <a:blip r:embed="rId15"/>
          <a:stretch>
            <a:fillRect/>
          </a:stretch>
        </p:blipFill>
        <p:spPr>
          <a:xfrm>
            <a:off x="177945" y="1598590"/>
            <a:ext cx="1080000" cy="528511"/>
          </a:xfrm>
          <a:prstGeom prst="rect">
            <a:avLst/>
          </a:prstGeom>
        </p:spPr>
      </p:pic>
      <p:sp>
        <p:nvSpPr>
          <p:cNvPr id="170" name="矩形 20">
            <a:extLst>
              <a:ext uri="{FF2B5EF4-FFF2-40B4-BE49-F238E27FC236}">
                <a16:creationId xmlns:a16="http://schemas.microsoft.com/office/drawing/2014/main" id="{931FEFFC-F1AE-5712-E05A-C01AD6C769C2}"/>
              </a:ext>
            </a:extLst>
          </p:cNvPr>
          <p:cNvSpPr/>
          <p:nvPr/>
        </p:nvSpPr>
        <p:spPr>
          <a:xfrm>
            <a:off x="8862124" y="2353411"/>
            <a:ext cx="1806230" cy="272247"/>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0" cap="none" spc="-7" normalizeH="0" baseline="0" noProof="0">
              <a:ln>
                <a:noFill/>
              </a:ln>
              <a:solidFill>
                <a:srgbClr val="000000"/>
              </a:solidFill>
              <a:effectLst/>
              <a:uLnTx/>
              <a:uFillTx/>
              <a:latin typeface="Boehringer Forward Text"/>
              <a:ea typeface="+mn-ea"/>
              <a:cs typeface="+mn-cs"/>
            </a:endParaRPr>
          </a:p>
        </p:txBody>
      </p:sp>
      <p:sp>
        <p:nvSpPr>
          <p:cNvPr id="184" name="TextBox 183">
            <a:extLst>
              <a:ext uri="{FF2B5EF4-FFF2-40B4-BE49-F238E27FC236}">
                <a16:creationId xmlns:a16="http://schemas.microsoft.com/office/drawing/2014/main" id="{9AFBFB24-CA76-B7D0-4561-478551BC4351}"/>
              </a:ext>
            </a:extLst>
          </p:cNvPr>
          <p:cNvSpPr txBox="1"/>
          <p:nvPr/>
        </p:nvSpPr>
        <p:spPr>
          <a:xfrm>
            <a:off x="11124741" y="6317171"/>
            <a:ext cx="1175671" cy="492443"/>
          </a:xfrm>
          <a:prstGeom prst="rect">
            <a:avLst/>
          </a:prstGeom>
          <a:noFill/>
        </p:spPr>
        <p:txBody>
          <a:bodyPr wrap="square" lIns="0" tIns="0" rIns="0" bIns="0" rtlCol="0">
            <a:spAutoFit/>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TDO: trial design outline</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FSS: first subject screen</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LSS: last subject screen</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LPO: last patient out</a:t>
            </a:r>
          </a:p>
        </p:txBody>
      </p:sp>
      <p:grpSp>
        <p:nvGrpSpPr>
          <p:cNvPr id="186" name="Group 185">
            <a:extLst>
              <a:ext uri="{FF2B5EF4-FFF2-40B4-BE49-F238E27FC236}">
                <a16:creationId xmlns:a16="http://schemas.microsoft.com/office/drawing/2014/main" id="{A4AAF355-03F2-FB8C-0C00-ACD2633C7AEF}"/>
              </a:ext>
            </a:extLst>
          </p:cNvPr>
          <p:cNvGrpSpPr/>
          <p:nvPr/>
        </p:nvGrpSpPr>
        <p:grpSpPr>
          <a:xfrm>
            <a:off x="5587120" y="1453171"/>
            <a:ext cx="546747" cy="3470828"/>
            <a:chOff x="1956799" y="1213944"/>
            <a:chExt cx="546747" cy="3954750"/>
          </a:xfrm>
        </p:grpSpPr>
        <p:cxnSp>
          <p:nvCxnSpPr>
            <p:cNvPr id="187" name="Straight Connector 186">
              <a:extLst>
                <a:ext uri="{FF2B5EF4-FFF2-40B4-BE49-F238E27FC236}">
                  <a16:creationId xmlns:a16="http://schemas.microsoft.com/office/drawing/2014/main" id="{0F7FE632-D42B-04CB-031C-44E9CB8A6708}"/>
                </a:ext>
              </a:extLst>
            </p:cNvPr>
            <p:cNvCxnSpPr>
              <a:cxnSpLocks/>
            </p:cNvCxnSpPr>
            <p:nvPr/>
          </p:nvCxnSpPr>
          <p:spPr bwMode="auto">
            <a:xfrm flipV="1">
              <a:off x="2278209" y="1393721"/>
              <a:ext cx="0" cy="3774973"/>
            </a:xfrm>
            <a:prstGeom prst="line">
              <a:avLst/>
            </a:prstGeom>
            <a:solidFill>
              <a:srgbClr val="08312A"/>
            </a:solidFill>
            <a:ln w="6350" cap="flat" cmpd="sng" algn="ctr">
              <a:solidFill>
                <a:srgbClr val="FF0000"/>
              </a:solidFill>
              <a:prstDash val="sysDot"/>
              <a:round/>
              <a:headEnd type="none" w="med" len="med"/>
              <a:tailEnd type="none" w="med" len="med"/>
            </a:ln>
            <a:effectLst/>
          </p:spPr>
        </p:cxnSp>
        <p:sp>
          <p:nvSpPr>
            <p:cNvPr id="188" name="OTLSHAPE_T_e17f3958430f4cff8650518c93c7635e_StartDate">
              <a:extLst>
                <a:ext uri="{FF2B5EF4-FFF2-40B4-BE49-F238E27FC236}">
                  <a16:creationId xmlns:a16="http://schemas.microsoft.com/office/drawing/2014/main" id="{05AF66A4-BCB8-6FEA-E1B5-445C2E8CC141}"/>
                </a:ext>
              </a:extLst>
            </p:cNvPr>
            <p:cNvSpPr txBox="1"/>
            <p:nvPr>
              <p:custDataLst>
                <p:tags r:id="rId12"/>
              </p:custDataLst>
            </p:nvPr>
          </p:nvSpPr>
          <p:spPr>
            <a:xfrm>
              <a:off x="1956799" y="1213944"/>
              <a:ext cx="546747" cy="246317"/>
            </a:xfrm>
            <a:prstGeom prst="rect">
              <a:avLst/>
            </a:prstGeom>
            <a:noFill/>
            <a:ln w="12700">
              <a:noFill/>
            </a:ln>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67" b="1" i="0" u="none" strike="noStrike" kern="0" cap="none" spc="0" normalizeH="0" baseline="0" noProof="0">
                  <a:ln>
                    <a:noFill/>
                  </a:ln>
                  <a:solidFill>
                    <a:srgbClr val="FF0000"/>
                  </a:solidFill>
                  <a:effectLst/>
                  <a:uLnTx/>
                  <a:uFillTx/>
                  <a:latin typeface="Boehringer Forward Text"/>
                  <a:ea typeface="+mn-ea"/>
                  <a:cs typeface="Calibri" panose="020F0502020204030204" pitchFamily="34" charset="0"/>
                </a:rPr>
                <a:t>We are here</a:t>
              </a:r>
              <a:endParaRPr kumimoji="0" lang="zh-CN" altLang="en-US" sz="1067" b="1" i="0" u="none" strike="noStrike" kern="0" cap="none" spc="0" normalizeH="0" baseline="0" noProof="0">
                <a:ln>
                  <a:noFill/>
                </a:ln>
                <a:solidFill>
                  <a:srgbClr val="FF0000"/>
                </a:solidFill>
                <a:effectLst/>
                <a:uLnTx/>
                <a:uFillTx/>
                <a:latin typeface="Boehringer Forward Text"/>
                <a:ea typeface="+mn-ea"/>
                <a:cs typeface="Calibri" panose="020F0502020204030204" pitchFamily="34" charset="0"/>
              </a:endParaRPr>
            </a:p>
          </p:txBody>
        </p:sp>
      </p:grpSp>
      <p:pic>
        <p:nvPicPr>
          <p:cNvPr id="236" name="Picture 235">
            <a:extLst>
              <a:ext uri="{FF2B5EF4-FFF2-40B4-BE49-F238E27FC236}">
                <a16:creationId xmlns:a16="http://schemas.microsoft.com/office/drawing/2014/main" id="{7A218752-4CA1-E134-453F-E9F1EC44ECF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78577" y="3231776"/>
            <a:ext cx="1080000" cy="532285"/>
          </a:xfrm>
          <a:prstGeom prst="rect">
            <a:avLst/>
          </a:prstGeom>
        </p:spPr>
      </p:pic>
      <p:sp>
        <p:nvSpPr>
          <p:cNvPr id="244" name="5-Point Star 5">
            <a:extLst>
              <a:ext uri="{FF2B5EF4-FFF2-40B4-BE49-F238E27FC236}">
                <a16:creationId xmlns:a16="http://schemas.microsoft.com/office/drawing/2014/main" id="{B15045EE-A89C-B2A7-99C7-8C985F903D7F}"/>
              </a:ext>
            </a:extLst>
          </p:cNvPr>
          <p:cNvSpPr/>
          <p:nvPr/>
        </p:nvSpPr>
        <p:spPr>
          <a:xfrm>
            <a:off x="2186925" y="2319698"/>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45" name="OTLSHAPE_T_e17f3958430f4cff8650518c93c7635e_StartDate">
            <a:extLst>
              <a:ext uri="{FF2B5EF4-FFF2-40B4-BE49-F238E27FC236}">
                <a16:creationId xmlns:a16="http://schemas.microsoft.com/office/drawing/2014/main" id="{FA4C2FB3-88B8-AE9B-2C85-3621CC3510F6}"/>
              </a:ext>
            </a:extLst>
          </p:cNvPr>
          <p:cNvSpPr txBox="1"/>
          <p:nvPr>
            <p:custDataLst>
              <p:tags r:id="rId4"/>
            </p:custDataLst>
          </p:nvPr>
        </p:nvSpPr>
        <p:spPr>
          <a:xfrm>
            <a:off x="1822646" y="2458827"/>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46" name="Rectangle 245">
            <a:extLst>
              <a:ext uri="{FF2B5EF4-FFF2-40B4-BE49-F238E27FC236}">
                <a16:creationId xmlns:a16="http://schemas.microsoft.com/office/drawing/2014/main" id="{EBB22C6C-29C0-80A7-B925-4C8B9215065A}"/>
              </a:ext>
            </a:extLst>
          </p:cNvPr>
          <p:cNvSpPr/>
          <p:nvPr/>
        </p:nvSpPr>
        <p:spPr>
          <a:xfrm>
            <a:off x="1928457" y="1958802"/>
            <a:ext cx="654682"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21 Aug 2024</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54" name="OTLSHAPE_T_e17f3958430f4cff8650518c93c7635e_StartDate">
            <a:extLst>
              <a:ext uri="{FF2B5EF4-FFF2-40B4-BE49-F238E27FC236}">
                <a16:creationId xmlns:a16="http://schemas.microsoft.com/office/drawing/2014/main" id="{19963B41-BB5D-F514-2BE2-BAB6FEE15420}"/>
              </a:ext>
            </a:extLst>
          </p:cNvPr>
          <p:cNvSpPr txBox="1"/>
          <p:nvPr>
            <p:custDataLst>
              <p:tags r:id="rId5"/>
            </p:custDataLst>
          </p:nvPr>
        </p:nvSpPr>
        <p:spPr>
          <a:xfrm>
            <a:off x="5496843" y="3783826"/>
            <a:ext cx="3202127" cy="276999"/>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1"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Recruitment window ~16 M</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1"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17 sites, N=27</a:t>
            </a:r>
            <a:endPar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78" name="Rectangle 277">
            <a:extLst>
              <a:ext uri="{FF2B5EF4-FFF2-40B4-BE49-F238E27FC236}">
                <a16:creationId xmlns:a16="http://schemas.microsoft.com/office/drawing/2014/main" id="{F8961C28-740C-70D9-576D-3322D0A5AD7B}"/>
              </a:ext>
            </a:extLst>
          </p:cNvPr>
          <p:cNvSpPr/>
          <p:nvPr/>
        </p:nvSpPr>
        <p:spPr>
          <a:xfrm>
            <a:off x="11643749" y="2565580"/>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79" name="Star: 4 Points 143">
            <a:extLst>
              <a:ext uri="{FF2B5EF4-FFF2-40B4-BE49-F238E27FC236}">
                <a16:creationId xmlns:a16="http://schemas.microsoft.com/office/drawing/2014/main" id="{ADB8E1C6-6246-173C-D302-FC86BB4CE91B}"/>
              </a:ext>
            </a:extLst>
          </p:cNvPr>
          <p:cNvSpPr/>
          <p:nvPr/>
        </p:nvSpPr>
        <p:spPr bwMode="auto">
          <a:xfrm>
            <a:off x="11814009" y="2396813"/>
            <a:ext cx="162000" cy="162000"/>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zh-CN" altLang="en-US" sz="1867" b="0" i="0" u="none" strike="noStrike" kern="1200" cap="none" spc="0" normalizeH="0" baseline="0" noProof="0">
              <a:ln>
                <a:noFill/>
              </a:ln>
              <a:solidFill>
                <a:srgbClr val="000000"/>
              </a:solidFill>
              <a:effectLst/>
              <a:uLnTx/>
              <a:uFillTx/>
              <a:latin typeface="BISansOpti"/>
              <a:ea typeface="+mn-ea"/>
              <a:cs typeface="+mn-cs"/>
            </a:endParaRPr>
          </a:p>
        </p:txBody>
      </p:sp>
      <p:sp>
        <p:nvSpPr>
          <p:cNvPr id="280" name="Rectangle 279">
            <a:extLst>
              <a:ext uri="{FF2B5EF4-FFF2-40B4-BE49-F238E27FC236}">
                <a16:creationId xmlns:a16="http://schemas.microsoft.com/office/drawing/2014/main" id="{19548AEB-0AC1-E13A-1306-557E0EBF8929}"/>
              </a:ext>
            </a:extLst>
          </p:cNvPr>
          <p:cNvSpPr/>
          <p:nvPr/>
        </p:nvSpPr>
        <p:spPr>
          <a:xfrm>
            <a:off x="11464257" y="2129387"/>
            <a:ext cx="830377"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30 Dec 2027</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 name="OTLSHAPE_T_e17f3958430f4cff8650518c93c7635e_Shape">
            <a:extLst>
              <a:ext uri="{FF2B5EF4-FFF2-40B4-BE49-F238E27FC236}">
                <a16:creationId xmlns:a16="http://schemas.microsoft.com/office/drawing/2014/main" id="{99D0953E-C60D-91F9-2D19-9892602304B8}"/>
              </a:ext>
            </a:extLst>
          </p:cNvPr>
          <p:cNvSpPr/>
          <p:nvPr>
            <p:custDataLst>
              <p:tags r:id="rId6"/>
            </p:custDataLst>
          </p:nvPr>
        </p:nvSpPr>
        <p:spPr bwMode="auto">
          <a:xfrm>
            <a:off x="2308372" y="3715213"/>
            <a:ext cx="872257" cy="376315"/>
          </a:xfrm>
          <a:prstGeom prst="roundRect">
            <a:avLst>
              <a:gd name="adj" fmla="val 16667"/>
            </a:avLst>
          </a:prstGeom>
          <a:solidFill>
            <a:srgbClr val="E3DFE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20" rtl="0" eaLnBrk="0" fontAlgn="base" latinLnBrk="0" hangingPunct="0">
              <a:lnSpc>
                <a:spcPct val="100000"/>
              </a:lnSpc>
              <a:spcBef>
                <a:spcPct val="0"/>
              </a:spcBef>
              <a:spcAft>
                <a:spcPct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 + 1</a:t>
            </a:r>
            <a:r>
              <a:rPr kumimoji="0" lang="en-US" altLang="zh-CN" sz="900" b="1" i="0" u="none" strike="noStrike" kern="1200" cap="none" spc="0" normalizeH="0" baseline="30000" noProof="0">
                <a:ln>
                  <a:noFill/>
                </a:ln>
                <a:solidFill>
                  <a:srgbClr val="000000"/>
                </a:solidFill>
                <a:effectLst/>
                <a:uLnTx/>
                <a:uFillTx/>
                <a:latin typeface="Calibri" panose="020F0502020204030204" pitchFamily="34" charset="0"/>
                <a:ea typeface="+mn-ea"/>
                <a:cs typeface="Calibri" panose="020F0502020204030204" pitchFamily="34" charset="0"/>
              </a:rPr>
              <a:t>st</a:t>
            </a:r>
            <a:r>
              <a:rPr kumimoji="0" lang="en-US" altLang="zh-CN"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SIV (6 M)</a:t>
            </a:r>
            <a:endParaRPr kumimoji="0" lang="zh-CN" altLang="en-US"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9" name="Rectangle 8">
            <a:extLst>
              <a:ext uri="{FF2B5EF4-FFF2-40B4-BE49-F238E27FC236}">
                <a16:creationId xmlns:a16="http://schemas.microsoft.com/office/drawing/2014/main" id="{D3AAD3AB-6306-FA76-26D3-41497B69A4B5}"/>
              </a:ext>
            </a:extLst>
          </p:cNvPr>
          <p:cNvSpPr/>
          <p:nvPr/>
        </p:nvSpPr>
        <p:spPr>
          <a:xfrm>
            <a:off x="1811399" y="3542931"/>
            <a:ext cx="974855"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21 Aug 2024</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0" name="5-Point Star 5">
            <a:extLst>
              <a:ext uri="{FF2B5EF4-FFF2-40B4-BE49-F238E27FC236}">
                <a16:creationId xmlns:a16="http://schemas.microsoft.com/office/drawing/2014/main" id="{588D91E2-5055-7479-DF06-7B521C375017}"/>
              </a:ext>
            </a:extLst>
          </p:cNvPr>
          <p:cNvSpPr/>
          <p:nvPr/>
        </p:nvSpPr>
        <p:spPr>
          <a:xfrm>
            <a:off x="2241514" y="3992765"/>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1" name="OTLSHAPE_T_e17f3958430f4cff8650518c93c7635e_StartDate">
            <a:extLst>
              <a:ext uri="{FF2B5EF4-FFF2-40B4-BE49-F238E27FC236}">
                <a16:creationId xmlns:a16="http://schemas.microsoft.com/office/drawing/2014/main" id="{43E90281-F9A1-4BB6-9A9E-890712863B6A}"/>
              </a:ext>
            </a:extLst>
          </p:cNvPr>
          <p:cNvSpPr txBox="1"/>
          <p:nvPr>
            <p:custDataLst>
              <p:tags r:id="rId7"/>
            </p:custDataLst>
          </p:nvPr>
        </p:nvSpPr>
        <p:spPr>
          <a:xfrm>
            <a:off x="1866023" y="4123405"/>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2" name="Rectangle 11">
            <a:extLst>
              <a:ext uri="{FF2B5EF4-FFF2-40B4-BE49-F238E27FC236}">
                <a16:creationId xmlns:a16="http://schemas.microsoft.com/office/drawing/2014/main" id="{E245984B-6187-3494-5ABB-B8AF31113848}"/>
              </a:ext>
            </a:extLst>
          </p:cNvPr>
          <p:cNvSpPr/>
          <p:nvPr/>
        </p:nvSpPr>
        <p:spPr>
          <a:xfrm>
            <a:off x="4830369" y="4072837"/>
            <a:ext cx="548804"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3" name="Star: 4 Points 143">
            <a:extLst>
              <a:ext uri="{FF2B5EF4-FFF2-40B4-BE49-F238E27FC236}">
                <a16:creationId xmlns:a16="http://schemas.microsoft.com/office/drawing/2014/main" id="{736DE054-5A16-8956-6E31-1168F8292663}"/>
              </a:ext>
            </a:extLst>
          </p:cNvPr>
          <p:cNvSpPr/>
          <p:nvPr/>
        </p:nvSpPr>
        <p:spPr bwMode="auto">
          <a:xfrm>
            <a:off x="5012650" y="393619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4" name="Rectangle 13">
            <a:extLst>
              <a:ext uri="{FF2B5EF4-FFF2-40B4-BE49-F238E27FC236}">
                <a16:creationId xmlns:a16="http://schemas.microsoft.com/office/drawing/2014/main" id="{0184FFE5-C912-A181-C012-D5E42ADFF62C}"/>
              </a:ext>
            </a:extLst>
          </p:cNvPr>
          <p:cNvSpPr/>
          <p:nvPr/>
        </p:nvSpPr>
        <p:spPr>
          <a:xfrm>
            <a:off x="4756649" y="3368227"/>
            <a:ext cx="671847"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13 Sep 2025</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2" name="Rectangle 21">
            <a:extLst>
              <a:ext uri="{FF2B5EF4-FFF2-40B4-BE49-F238E27FC236}">
                <a16:creationId xmlns:a16="http://schemas.microsoft.com/office/drawing/2014/main" id="{E75D2188-FEF6-437C-73F9-650E186E2A11}"/>
              </a:ext>
            </a:extLst>
          </p:cNvPr>
          <p:cNvSpPr/>
          <p:nvPr/>
        </p:nvSpPr>
        <p:spPr>
          <a:xfrm>
            <a:off x="8551571" y="4081089"/>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3" name="Star: 4 Points 143">
            <a:extLst>
              <a:ext uri="{FF2B5EF4-FFF2-40B4-BE49-F238E27FC236}">
                <a16:creationId xmlns:a16="http://schemas.microsoft.com/office/drawing/2014/main" id="{65652BE7-3581-0389-D90F-CF3F2040E6F9}"/>
              </a:ext>
            </a:extLst>
          </p:cNvPr>
          <p:cNvSpPr/>
          <p:nvPr/>
        </p:nvSpPr>
        <p:spPr bwMode="auto">
          <a:xfrm>
            <a:off x="8801122" y="393859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4" name="Rectangle 23">
            <a:extLst>
              <a:ext uri="{FF2B5EF4-FFF2-40B4-BE49-F238E27FC236}">
                <a16:creationId xmlns:a16="http://schemas.microsoft.com/office/drawing/2014/main" id="{623A8FAF-7CF6-209D-37A8-0115C0FEB72A}"/>
              </a:ext>
            </a:extLst>
          </p:cNvPr>
          <p:cNvSpPr/>
          <p:nvPr/>
        </p:nvSpPr>
        <p:spPr>
          <a:xfrm>
            <a:off x="8537856" y="3373476"/>
            <a:ext cx="671847"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15 Dec 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5" name="Rectangle 24">
            <a:extLst>
              <a:ext uri="{FF2B5EF4-FFF2-40B4-BE49-F238E27FC236}">
                <a16:creationId xmlns:a16="http://schemas.microsoft.com/office/drawing/2014/main" id="{40DF0293-A40D-9E12-8B69-01F3CDE32A6B}"/>
              </a:ext>
            </a:extLst>
          </p:cNvPr>
          <p:cNvSpPr/>
          <p:nvPr/>
        </p:nvSpPr>
        <p:spPr>
          <a:xfrm>
            <a:off x="10326985" y="4032503"/>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6" name="Star: 4 Points 143">
            <a:extLst>
              <a:ext uri="{FF2B5EF4-FFF2-40B4-BE49-F238E27FC236}">
                <a16:creationId xmlns:a16="http://schemas.microsoft.com/office/drawing/2014/main" id="{F6269EC8-4A51-D636-BA01-43E1A2FFAB9B}"/>
              </a:ext>
            </a:extLst>
          </p:cNvPr>
          <p:cNvSpPr/>
          <p:nvPr/>
        </p:nvSpPr>
        <p:spPr bwMode="auto">
          <a:xfrm>
            <a:off x="10586263" y="388953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7" name="Rectangle 26">
            <a:extLst>
              <a:ext uri="{FF2B5EF4-FFF2-40B4-BE49-F238E27FC236}">
                <a16:creationId xmlns:a16="http://schemas.microsoft.com/office/drawing/2014/main" id="{1EE2488E-900C-2BFB-F6D4-AA6E5B2BA5BC}"/>
              </a:ext>
            </a:extLst>
          </p:cNvPr>
          <p:cNvSpPr/>
          <p:nvPr/>
        </p:nvSpPr>
        <p:spPr>
          <a:xfrm>
            <a:off x="10326985" y="3374875"/>
            <a:ext cx="620573" cy="338554"/>
          </a:xfrm>
          <a:prstGeom prst="rect">
            <a:avLst/>
          </a:prstGeom>
        </p:spPr>
        <p:txBody>
          <a:bodyPr wrap="square" lIns="91440" tIns="45720" rIns="91440" bIns="45720" anchor="t">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a:rPr>
              <a:t>30 Jul 2027</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a:endParaRPr>
          </a:p>
        </p:txBody>
      </p:sp>
      <p:sp>
        <p:nvSpPr>
          <p:cNvPr id="4" name="5-Point Star 5">
            <a:extLst>
              <a:ext uri="{FF2B5EF4-FFF2-40B4-BE49-F238E27FC236}">
                <a16:creationId xmlns:a16="http://schemas.microsoft.com/office/drawing/2014/main" id="{299D3A40-550D-4F37-D5B1-A6E4567DAF44}"/>
              </a:ext>
            </a:extLst>
          </p:cNvPr>
          <p:cNvSpPr/>
          <p:nvPr/>
        </p:nvSpPr>
        <p:spPr>
          <a:xfrm>
            <a:off x="2814084" y="2324189"/>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5" name="OTLSHAPE_T_e17f3958430f4cff8650518c93c7635e_StartDate">
            <a:extLst>
              <a:ext uri="{FF2B5EF4-FFF2-40B4-BE49-F238E27FC236}">
                <a16:creationId xmlns:a16="http://schemas.microsoft.com/office/drawing/2014/main" id="{4F305AC0-7679-36F3-F79E-6995612D630C}"/>
              </a:ext>
            </a:extLst>
          </p:cNvPr>
          <p:cNvSpPr txBox="1"/>
          <p:nvPr>
            <p:custDataLst>
              <p:tags r:id="rId8"/>
            </p:custDataLst>
          </p:nvPr>
        </p:nvSpPr>
        <p:spPr>
          <a:xfrm>
            <a:off x="2541790" y="2458827"/>
            <a:ext cx="773052"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6" name="Rectangle 245">
            <a:extLst>
              <a:ext uri="{FF2B5EF4-FFF2-40B4-BE49-F238E27FC236}">
                <a16:creationId xmlns:a16="http://schemas.microsoft.com/office/drawing/2014/main" id="{851ABA9E-798C-A7DE-B8CC-93ABE1738866}"/>
              </a:ext>
            </a:extLst>
          </p:cNvPr>
          <p:cNvSpPr/>
          <p:nvPr/>
        </p:nvSpPr>
        <p:spPr>
          <a:xfrm>
            <a:off x="2583139" y="1953300"/>
            <a:ext cx="617849"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22 Oct 2024</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7" name="OTLSHAPE_T_e17f3958430f4cff8650518c93c7635e_Shape">
            <a:extLst>
              <a:ext uri="{FF2B5EF4-FFF2-40B4-BE49-F238E27FC236}">
                <a16:creationId xmlns:a16="http://schemas.microsoft.com/office/drawing/2014/main" id="{B7F61440-BA03-2FE0-49E5-92F761D7664A}"/>
              </a:ext>
            </a:extLst>
          </p:cNvPr>
          <p:cNvSpPr/>
          <p:nvPr>
            <p:custDataLst>
              <p:tags r:id="rId9"/>
            </p:custDataLst>
          </p:nvPr>
        </p:nvSpPr>
        <p:spPr bwMode="auto">
          <a:xfrm>
            <a:off x="3175515" y="3724887"/>
            <a:ext cx="1929257" cy="376315"/>
          </a:xfrm>
          <a:prstGeom prst="roundRect">
            <a:avLst>
              <a:gd name="adj" fmla="val 16667"/>
            </a:avLst>
          </a:prstGeom>
          <a:solidFill>
            <a:schemeClr val="tx1">
              <a:lumMod val="50000"/>
              <a:lumOff val="50000"/>
              <a:alpha val="2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20" rtl="0" eaLnBrk="0" fontAlgn="base" latinLnBrk="0" hangingPunct="0">
              <a:lnSpc>
                <a:spcPct val="100000"/>
              </a:lnSpc>
              <a:spcBef>
                <a:spcPct val="0"/>
              </a:spcBef>
              <a:spcAft>
                <a:spcPct val="0"/>
              </a:spcAft>
              <a:buClrTx/>
              <a:buSzTx/>
              <a:buFontTx/>
              <a:buNone/>
              <a:tabLst/>
              <a:defRPr/>
            </a:pPr>
            <a:endParaRPr kumimoji="0" lang="zh-CN" altLang="en-US"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 name="Rectangle 21">
            <a:extLst>
              <a:ext uri="{FF2B5EF4-FFF2-40B4-BE49-F238E27FC236}">
                <a16:creationId xmlns:a16="http://schemas.microsoft.com/office/drawing/2014/main" id="{5584DFB9-D00C-9512-F321-BB8DDA3CEE2C}"/>
              </a:ext>
            </a:extLst>
          </p:cNvPr>
          <p:cNvSpPr/>
          <p:nvPr/>
        </p:nvSpPr>
        <p:spPr>
          <a:xfrm>
            <a:off x="8560819" y="2708782"/>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5" name="Rectangle 23">
            <a:extLst>
              <a:ext uri="{FF2B5EF4-FFF2-40B4-BE49-F238E27FC236}">
                <a16:creationId xmlns:a16="http://schemas.microsoft.com/office/drawing/2014/main" id="{9F8A5781-54DC-A87B-567A-B50CC87D183F}"/>
              </a:ext>
            </a:extLst>
          </p:cNvPr>
          <p:cNvSpPr/>
          <p:nvPr/>
        </p:nvSpPr>
        <p:spPr>
          <a:xfrm>
            <a:off x="8547104" y="2001169"/>
            <a:ext cx="671847"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15 Dec 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6" name="Rectangle 24">
            <a:extLst>
              <a:ext uri="{FF2B5EF4-FFF2-40B4-BE49-F238E27FC236}">
                <a16:creationId xmlns:a16="http://schemas.microsoft.com/office/drawing/2014/main" id="{CC60D70A-04DB-0B36-AA8B-650371BBD89B}"/>
              </a:ext>
            </a:extLst>
          </p:cNvPr>
          <p:cNvSpPr/>
          <p:nvPr/>
        </p:nvSpPr>
        <p:spPr>
          <a:xfrm>
            <a:off x="10336233" y="2660196"/>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7" name="Star: 4 Points 143">
            <a:extLst>
              <a:ext uri="{FF2B5EF4-FFF2-40B4-BE49-F238E27FC236}">
                <a16:creationId xmlns:a16="http://schemas.microsoft.com/office/drawing/2014/main" id="{8E653C53-DFA0-E18D-A427-FE4D73008A9E}"/>
              </a:ext>
            </a:extLst>
          </p:cNvPr>
          <p:cNvSpPr/>
          <p:nvPr/>
        </p:nvSpPr>
        <p:spPr bwMode="auto">
          <a:xfrm>
            <a:off x="10595511" y="251723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8" name="Rectangle 26">
            <a:extLst>
              <a:ext uri="{FF2B5EF4-FFF2-40B4-BE49-F238E27FC236}">
                <a16:creationId xmlns:a16="http://schemas.microsoft.com/office/drawing/2014/main" id="{EC27FA55-0F8A-B846-1A00-B57EC6BBB13B}"/>
              </a:ext>
            </a:extLst>
          </p:cNvPr>
          <p:cNvSpPr/>
          <p:nvPr/>
        </p:nvSpPr>
        <p:spPr>
          <a:xfrm>
            <a:off x="10336233" y="2002568"/>
            <a:ext cx="620573" cy="338554"/>
          </a:xfrm>
          <a:prstGeom prst="rect">
            <a:avLst/>
          </a:prstGeom>
        </p:spPr>
        <p:txBody>
          <a:bodyPr wrap="square" lIns="91440" tIns="45720" rIns="91440" bIns="45720" anchor="t">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a:rPr>
              <a:t>30 Jul 2027</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a:endParaRPr>
          </a:p>
        </p:txBody>
      </p:sp>
      <p:sp>
        <p:nvSpPr>
          <p:cNvPr id="19" name="Star: 4 Points 143">
            <a:extLst>
              <a:ext uri="{FF2B5EF4-FFF2-40B4-BE49-F238E27FC236}">
                <a16:creationId xmlns:a16="http://schemas.microsoft.com/office/drawing/2014/main" id="{2318CF2C-5F41-6DEC-0877-6FEF064239EF}"/>
              </a:ext>
            </a:extLst>
          </p:cNvPr>
          <p:cNvSpPr/>
          <p:nvPr/>
        </p:nvSpPr>
        <p:spPr bwMode="auto">
          <a:xfrm>
            <a:off x="8773458" y="254902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0" name="Rectangle 11">
            <a:extLst>
              <a:ext uri="{FF2B5EF4-FFF2-40B4-BE49-F238E27FC236}">
                <a16:creationId xmlns:a16="http://schemas.microsoft.com/office/drawing/2014/main" id="{3A1C91C1-EC1F-7717-F3E5-96B68F163C1E}"/>
              </a:ext>
            </a:extLst>
          </p:cNvPr>
          <p:cNvSpPr/>
          <p:nvPr/>
        </p:nvSpPr>
        <p:spPr>
          <a:xfrm>
            <a:off x="4810554" y="2671483"/>
            <a:ext cx="548804"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1" name="Star: 4 Points 143">
            <a:extLst>
              <a:ext uri="{FF2B5EF4-FFF2-40B4-BE49-F238E27FC236}">
                <a16:creationId xmlns:a16="http://schemas.microsoft.com/office/drawing/2014/main" id="{D1348A3A-2DD6-F020-3CF7-3851BED47FAB}"/>
              </a:ext>
            </a:extLst>
          </p:cNvPr>
          <p:cNvSpPr/>
          <p:nvPr/>
        </p:nvSpPr>
        <p:spPr bwMode="auto">
          <a:xfrm>
            <a:off x="4992835" y="25348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8" name="Rectangle 13">
            <a:extLst>
              <a:ext uri="{FF2B5EF4-FFF2-40B4-BE49-F238E27FC236}">
                <a16:creationId xmlns:a16="http://schemas.microsoft.com/office/drawing/2014/main" id="{F0B6D5D6-0107-8A73-1ED5-BDC586862E03}"/>
              </a:ext>
            </a:extLst>
          </p:cNvPr>
          <p:cNvSpPr/>
          <p:nvPr/>
        </p:nvSpPr>
        <p:spPr>
          <a:xfrm>
            <a:off x="4756649" y="2011218"/>
            <a:ext cx="671847"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13 Sep 2025</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9" name="OTLSHAPE_T_e17f3958430f4cff8650518c93c7635e_Shape">
            <a:extLst>
              <a:ext uri="{FF2B5EF4-FFF2-40B4-BE49-F238E27FC236}">
                <a16:creationId xmlns:a16="http://schemas.microsoft.com/office/drawing/2014/main" id="{3CD7B4A5-18BC-8AAC-9976-C30D1F70F37C}"/>
              </a:ext>
            </a:extLst>
          </p:cNvPr>
          <p:cNvSpPr/>
          <p:nvPr>
            <p:custDataLst>
              <p:tags r:id="rId10"/>
            </p:custDataLst>
          </p:nvPr>
        </p:nvSpPr>
        <p:spPr bwMode="auto">
          <a:xfrm>
            <a:off x="2924169" y="2305372"/>
            <a:ext cx="2169300" cy="388680"/>
          </a:xfrm>
          <a:prstGeom prst="roundRect">
            <a:avLst>
              <a:gd name="adj" fmla="val 16667"/>
            </a:avLst>
          </a:prstGeom>
          <a:solidFill>
            <a:schemeClr val="tx1">
              <a:lumMod val="50000"/>
              <a:lumOff val="50000"/>
              <a:alpha val="2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20" rtl="0" eaLnBrk="0" fontAlgn="base" latinLnBrk="0" hangingPunct="0">
              <a:lnSpc>
                <a:spcPct val="100000"/>
              </a:lnSpc>
              <a:spcBef>
                <a:spcPct val="0"/>
              </a:spcBef>
              <a:spcAft>
                <a:spcPct val="0"/>
              </a:spcAft>
              <a:buClrTx/>
              <a:buSzTx/>
              <a:buFontTx/>
              <a:buNone/>
              <a:tabLst/>
              <a:defRPr/>
            </a:pPr>
            <a:endParaRPr kumimoji="0" lang="zh-CN" altLang="en-US"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 name="Rectangle 8">
            <a:extLst>
              <a:ext uri="{FF2B5EF4-FFF2-40B4-BE49-F238E27FC236}">
                <a16:creationId xmlns:a16="http://schemas.microsoft.com/office/drawing/2014/main" id="{EB0906BD-1087-4F36-356D-4446BCE96440}"/>
              </a:ext>
            </a:extLst>
          </p:cNvPr>
          <p:cNvSpPr/>
          <p:nvPr/>
        </p:nvSpPr>
        <p:spPr>
          <a:xfrm>
            <a:off x="2703925" y="3542931"/>
            <a:ext cx="974855"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11 Nov 2024</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0" name="5-Point Star 5">
            <a:extLst>
              <a:ext uri="{FF2B5EF4-FFF2-40B4-BE49-F238E27FC236}">
                <a16:creationId xmlns:a16="http://schemas.microsoft.com/office/drawing/2014/main" id="{D0863D71-B499-F77A-1A6B-74E86109F632}"/>
              </a:ext>
            </a:extLst>
          </p:cNvPr>
          <p:cNvSpPr/>
          <p:nvPr/>
        </p:nvSpPr>
        <p:spPr>
          <a:xfrm>
            <a:off x="3134040" y="3992765"/>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31" name="OTLSHAPE_T_e17f3958430f4cff8650518c93c7635e_StartDate">
            <a:extLst>
              <a:ext uri="{FF2B5EF4-FFF2-40B4-BE49-F238E27FC236}">
                <a16:creationId xmlns:a16="http://schemas.microsoft.com/office/drawing/2014/main" id="{4A8A3CD2-120E-8647-A65A-5D008A187A04}"/>
              </a:ext>
            </a:extLst>
          </p:cNvPr>
          <p:cNvSpPr txBox="1"/>
          <p:nvPr>
            <p:custDataLst>
              <p:tags r:id="rId11"/>
            </p:custDataLst>
          </p:nvPr>
        </p:nvSpPr>
        <p:spPr>
          <a:xfrm>
            <a:off x="2758549" y="4123405"/>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25" name="TextBox 85">
            <a:extLst>
              <a:ext uri="{FF2B5EF4-FFF2-40B4-BE49-F238E27FC236}">
                <a16:creationId xmlns:a16="http://schemas.microsoft.com/office/drawing/2014/main" id="{7A722368-BB86-B43A-197D-9D6A633C723B}"/>
              </a:ext>
            </a:extLst>
          </p:cNvPr>
          <p:cNvSpPr txBox="1"/>
          <p:nvPr/>
        </p:nvSpPr>
        <p:spPr bwMode="gray">
          <a:xfrm>
            <a:off x="1510672" y="5111591"/>
            <a:ext cx="8436426" cy="23692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Boehringer Forward Text" panose="02000500000000020000" pitchFamily="2" charset="0"/>
                <a:ea typeface="+mn-ea"/>
                <a:cs typeface="+mn-cs"/>
              </a:rPr>
              <a:t>Recruiment is ongoing.</a:t>
            </a:r>
          </a:p>
        </p:txBody>
      </p:sp>
    </p:spTree>
    <p:extLst>
      <p:ext uri="{BB962C8B-B14F-4D97-AF65-F5344CB8AC3E}">
        <p14:creationId xmlns:p14="http://schemas.microsoft.com/office/powerpoint/2010/main" val="3501281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8042342-300D-E970-DBE6-BEF13DB86724}"/>
              </a:ext>
            </a:extLst>
          </p:cNvPr>
          <p:cNvPicPr>
            <a:picLocks noChangeAspect="1"/>
          </p:cNvPicPr>
          <p:nvPr/>
        </p:nvPicPr>
        <p:blipFill>
          <a:blip r:embed="rId2"/>
          <a:stretch>
            <a:fillRect/>
          </a:stretch>
        </p:blipFill>
        <p:spPr>
          <a:xfrm>
            <a:off x="1884821" y="2284612"/>
            <a:ext cx="10301696" cy="4250224"/>
          </a:xfrm>
          <a:prstGeom prst="rect">
            <a:avLst/>
          </a:prstGeom>
        </p:spPr>
      </p:pic>
      <p:sp>
        <p:nvSpPr>
          <p:cNvPr id="2" name="Title 1">
            <a:extLst>
              <a:ext uri="{FF2B5EF4-FFF2-40B4-BE49-F238E27FC236}">
                <a16:creationId xmlns:a16="http://schemas.microsoft.com/office/drawing/2014/main" id="{65D57976-3801-38BB-CB50-8A4C000EA181}"/>
              </a:ext>
            </a:extLst>
          </p:cNvPr>
          <p:cNvSpPr>
            <a:spLocks noGrp="1"/>
          </p:cNvSpPr>
          <p:nvPr>
            <p:ph type="title"/>
          </p:nvPr>
        </p:nvSpPr>
        <p:spPr/>
        <p:txBody>
          <a:bodyPr/>
          <a:lstStyle/>
          <a:p>
            <a:r>
              <a:rPr lang="en-US" altLang="zh-CN"/>
              <a:t>China Level Report: recruitment</a:t>
            </a:r>
            <a:endParaRPr lang="zh-CN" altLang="en-US"/>
          </a:p>
        </p:txBody>
      </p:sp>
      <p:sp>
        <p:nvSpPr>
          <p:cNvPr id="5" name="Footer Placeholder 4">
            <a:extLst>
              <a:ext uri="{FF2B5EF4-FFF2-40B4-BE49-F238E27FC236}">
                <a16:creationId xmlns:a16="http://schemas.microsoft.com/office/drawing/2014/main" id="{EF5EE93D-A593-B038-8FFA-CC1394AF4C1D}"/>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TA CEC Portfolio Update|    ONLY FOR INTERNAL USE</a:t>
            </a:r>
          </a:p>
        </p:txBody>
      </p:sp>
      <p:sp>
        <p:nvSpPr>
          <p:cNvPr id="6" name="Slide Number Placeholder 5">
            <a:extLst>
              <a:ext uri="{FF2B5EF4-FFF2-40B4-BE49-F238E27FC236}">
                <a16:creationId xmlns:a16="http://schemas.microsoft.com/office/drawing/2014/main" id="{26A3ACC1-8969-C35E-B87F-B6ACEA270C58}"/>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9" name="Rectangle 8">
            <a:extLst>
              <a:ext uri="{FF2B5EF4-FFF2-40B4-BE49-F238E27FC236}">
                <a16:creationId xmlns:a16="http://schemas.microsoft.com/office/drawing/2014/main" id="{18CA4540-5467-667B-8546-50FE290F1A14}"/>
              </a:ext>
            </a:extLst>
          </p:cNvPr>
          <p:cNvSpPr/>
          <p:nvPr/>
        </p:nvSpPr>
        <p:spPr bwMode="gray">
          <a:xfrm>
            <a:off x="119336" y="979982"/>
            <a:ext cx="1656184" cy="5832649"/>
          </a:xfrm>
          <a:prstGeom prst="rect">
            <a:avLst/>
          </a:prstGeom>
          <a:solidFill>
            <a:schemeClr val="tx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Trial Number:</a:t>
            </a:r>
            <a:b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1305-0046</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BI Substance:</a:t>
            </a:r>
            <a:b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BI 1015550</a:t>
            </a:r>
            <a:endPar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Mode of Action:</a:t>
            </a:r>
            <a:b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PDE4b inhibitor</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Therapeutic Area:</a:t>
            </a:r>
            <a:b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INFL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Target population:</a:t>
            </a:r>
            <a:b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27 (China)</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400 (Global)</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Phase:</a:t>
            </a:r>
            <a:b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err="1">
                <a:ln>
                  <a:noFill/>
                </a:ln>
                <a:solidFill>
                  <a:prstClr val="black"/>
                </a:solidFill>
                <a:effectLst/>
                <a:uLnTx/>
                <a:uFillTx/>
                <a:latin typeface="Boehringer Forward Text"/>
                <a:ea typeface="+mn-ea"/>
                <a:cs typeface="+mn-cs"/>
              </a:rPr>
              <a:t>IIIb</a:t>
            </a:r>
            <a:endPar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Rectangle 5">
            <a:extLst>
              <a:ext uri="{FF2B5EF4-FFF2-40B4-BE49-F238E27FC236}">
                <a16:creationId xmlns:a16="http://schemas.microsoft.com/office/drawing/2014/main" id="{BA70E4D3-4180-6E3A-D16F-B61AF30BF95B}"/>
              </a:ext>
            </a:extLst>
          </p:cNvPr>
          <p:cNvSpPr/>
          <p:nvPr/>
        </p:nvSpPr>
        <p:spPr>
          <a:xfrm>
            <a:off x="1884821" y="980144"/>
            <a:ext cx="3246577" cy="104396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sz="1000" b="0" i="0" u="sng" strike="noStrike" kern="1200" cap="none" spc="0" normalizeH="0" baseline="0" noProof="0">
                <a:ln>
                  <a:noFill/>
                </a:ln>
                <a:solidFill>
                  <a:srgbClr val="000000"/>
                </a:solidFill>
                <a:effectLst/>
                <a:uLnTx/>
                <a:uFillTx/>
                <a:latin typeface="Boehringer Forward Text"/>
                <a:ea typeface="+mn-ea"/>
                <a:cs typeface="+mn-cs"/>
              </a:rPr>
              <a:t>Cut-off date: 2025.12.14</a:t>
            </a:r>
            <a:endParaRPr kumimoji="0" lang="zh-CN" altLang="en-US" sz="1100" b="0" i="0" u="sng" strike="noStrike" kern="1200" cap="none" spc="0" normalizeH="0" baseline="0" noProof="0">
              <a:ln>
                <a:noFill/>
              </a:ln>
              <a:solidFill>
                <a:prstClr val="white"/>
              </a:solidFill>
              <a:effectLst/>
              <a:uLnTx/>
              <a:uFillTx/>
              <a:latin typeface="Boehringer Forward Text"/>
              <a:ea typeface="+mn-ea"/>
              <a:cs typeface="+mn-cs"/>
            </a:endParaRPr>
          </a:p>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Total Screened = 16</a:t>
            </a:r>
            <a:r>
              <a:rPr kumimoji="0" lang="en-US" sz="1000" b="1" i="0" u="none" strike="noStrike" kern="1200" cap="none" spc="0" normalizeH="0" baseline="0" noProof="0">
                <a:ln>
                  <a:noFill/>
                </a:ln>
                <a:solidFill>
                  <a:srgbClr val="000000"/>
                </a:solidFill>
                <a:effectLst/>
                <a:uLnTx/>
                <a:uFillTx/>
                <a:latin typeface="Boehringer Forward Text"/>
                <a:ea typeface="+mn-ea"/>
                <a:cs typeface="+mn-cs"/>
              </a:rPr>
              <a:t> (China) </a:t>
            </a: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  65 (Global)</a:t>
            </a:r>
          </a:p>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Total Randomized = 6</a:t>
            </a:r>
            <a:r>
              <a:rPr kumimoji="0" lang="en-US" sz="1000" b="1" i="0" u="none" strike="noStrike" kern="1200" cap="none" spc="0" normalizeH="0" baseline="0" noProof="0">
                <a:ln>
                  <a:noFill/>
                </a:ln>
                <a:solidFill>
                  <a:srgbClr val="000000"/>
                </a:solidFill>
                <a:effectLst/>
                <a:uLnTx/>
                <a:uFillTx/>
                <a:latin typeface="Boehringer Forward Text"/>
                <a:ea typeface="+mn-ea"/>
                <a:cs typeface="+mn-cs"/>
              </a:rPr>
              <a:t> (China)</a:t>
            </a: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 /  </a:t>
            </a:r>
            <a:r>
              <a:rPr lang="en-US" sz="1000">
                <a:solidFill>
                  <a:srgbClr val="000000"/>
                </a:solidFill>
                <a:latin typeface="Boehringer Forward Text"/>
              </a:rPr>
              <a:t>21</a:t>
            </a: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 (Global)</a:t>
            </a:r>
          </a:p>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mn-ea"/>
                <a:cs typeface="+mn-cs"/>
              </a:rPr>
              <a:t>Total Screen failure = 4</a:t>
            </a: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 (China) /  13 (Global)</a:t>
            </a:r>
          </a:p>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mn-ea"/>
                <a:cs typeface="+mn-cs"/>
              </a:rPr>
              <a:t>Screen failure rate = 25% (China) / </a:t>
            </a:r>
            <a:r>
              <a:rPr lang="en-US" altLang="zh-CN" sz="1000">
                <a:solidFill>
                  <a:srgbClr val="000000"/>
                </a:solidFill>
                <a:latin typeface="Boehringer Forward Text"/>
              </a:rPr>
              <a:t>20</a:t>
            </a:r>
            <a:r>
              <a:rPr kumimoji="0" lang="en-US" altLang="zh-CN" sz="1000" b="0" i="0" u="none" strike="noStrike" kern="1200" cap="none" spc="0" normalizeH="0" baseline="0" noProof="0">
                <a:ln>
                  <a:noFill/>
                </a:ln>
                <a:solidFill>
                  <a:srgbClr val="000000"/>
                </a:solidFill>
                <a:effectLst/>
                <a:uLnTx/>
                <a:uFillTx/>
                <a:latin typeface="Boehringer Forward Text"/>
                <a:ea typeface="+mn-ea"/>
                <a:cs typeface="+mn-cs"/>
              </a:rPr>
              <a:t>% (Global)</a:t>
            </a:r>
          </a:p>
        </p:txBody>
      </p:sp>
      <p:sp>
        <p:nvSpPr>
          <p:cNvPr id="3" name="矩形: 圆角 2">
            <a:extLst>
              <a:ext uri="{FF2B5EF4-FFF2-40B4-BE49-F238E27FC236}">
                <a16:creationId xmlns:a16="http://schemas.microsoft.com/office/drawing/2014/main" id="{435D8AFC-74C0-BD92-D275-544BF9170CFD}"/>
              </a:ext>
            </a:extLst>
          </p:cNvPr>
          <p:cNvSpPr/>
          <p:nvPr/>
        </p:nvSpPr>
        <p:spPr bwMode="gray">
          <a:xfrm>
            <a:off x="6323638" y="5030038"/>
            <a:ext cx="488426" cy="104856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7" name="图片 6">
            <a:extLst>
              <a:ext uri="{FF2B5EF4-FFF2-40B4-BE49-F238E27FC236}">
                <a16:creationId xmlns:a16="http://schemas.microsoft.com/office/drawing/2014/main" id="{212808B7-0CB2-26C5-6388-11BE7718C0E7}"/>
              </a:ext>
            </a:extLst>
          </p:cNvPr>
          <p:cNvPicPr>
            <a:picLocks noChangeAspect="1"/>
          </p:cNvPicPr>
          <p:nvPr/>
        </p:nvPicPr>
        <p:blipFill>
          <a:blip r:embed="rId3"/>
          <a:stretch>
            <a:fillRect/>
          </a:stretch>
        </p:blipFill>
        <p:spPr>
          <a:xfrm>
            <a:off x="5807066" y="587829"/>
            <a:ext cx="5277005" cy="1425398"/>
          </a:xfrm>
          <a:prstGeom prst="rect">
            <a:avLst/>
          </a:prstGeom>
        </p:spPr>
      </p:pic>
    </p:spTree>
    <p:extLst>
      <p:ext uri="{BB962C8B-B14F-4D97-AF65-F5344CB8AC3E}">
        <p14:creationId xmlns:p14="http://schemas.microsoft.com/office/powerpoint/2010/main" val="3218953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0B5C69F-46C7-488A-05EE-7A7369E28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9EB260-EBAC-5F48-7D8F-47D6366559AF}"/>
              </a:ext>
            </a:extLst>
          </p:cNvPr>
          <p:cNvSpPr>
            <a:spLocks noGrp="1"/>
          </p:cNvSpPr>
          <p:nvPr>
            <p:ph type="title"/>
          </p:nvPr>
        </p:nvSpPr>
        <p:spPr/>
        <p:txBody>
          <a:bodyPr/>
          <a:lstStyle/>
          <a:p>
            <a:r>
              <a:rPr lang="en-US" altLang="zh-CN"/>
              <a:t>Global Level Report: recruitment</a:t>
            </a:r>
            <a:endParaRPr lang="zh-CN" altLang="en-US"/>
          </a:p>
        </p:txBody>
      </p:sp>
      <p:sp>
        <p:nvSpPr>
          <p:cNvPr id="5" name="Footer Placeholder 4">
            <a:extLst>
              <a:ext uri="{FF2B5EF4-FFF2-40B4-BE49-F238E27FC236}">
                <a16:creationId xmlns:a16="http://schemas.microsoft.com/office/drawing/2014/main" id="{6047F30A-E3E0-5667-AAA7-A32C20746DCE}"/>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TA CEC Portfolio Update|    ONLY FOR INTERNAL USE</a:t>
            </a:r>
          </a:p>
        </p:txBody>
      </p:sp>
      <p:sp>
        <p:nvSpPr>
          <p:cNvPr id="6" name="Slide Number Placeholder 5">
            <a:extLst>
              <a:ext uri="{FF2B5EF4-FFF2-40B4-BE49-F238E27FC236}">
                <a16:creationId xmlns:a16="http://schemas.microsoft.com/office/drawing/2014/main" id="{43B0E7D1-7D49-4CDC-F181-8E79E148FAAB}"/>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9" name="Rectangle 8">
            <a:extLst>
              <a:ext uri="{FF2B5EF4-FFF2-40B4-BE49-F238E27FC236}">
                <a16:creationId xmlns:a16="http://schemas.microsoft.com/office/drawing/2014/main" id="{B2B6D26D-01FC-C89F-EA0A-1DA2C5A6D25D}"/>
              </a:ext>
            </a:extLst>
          </p:cNvPr>
          <p:cNvSpPr/>
          <p:nvPr/>
        </p:nvSpPr>
        <p:spPr bwMode="gray">
          <a:xfrm>
            <a:off x="119336" y="979982"/>
            <a:ext cx="1656184" cy="5832649"/>
          </a:xfrm>
          <a:prstGeom prst="rect">
            <a:avLst/>
          </a:prstGeom>
          <a:solidFill>
            <a:schemeClr val="tx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Trial Number:</a:t>
            </a:r>
            <a:b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1305-0046</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BI Substance:</a:t>
            </a:r>
            <a:b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BI 1015550</a:t>
            </a:r>
            <a:endPar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Mode of Action:</a:t>
            </a:r>
            <a:b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PDE4b inhibitor</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Therapeutic Area:</a:t>
            </a:r>
            <a:b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INFL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Target population:</a:t>
            </a:r>
            <a:b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27 (China)</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400 (Global)</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Phase:</a:t>
            </a:r>
            <a:b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err="1">
                <a:ln>
                  <a:noFill/>
                </a:ln>
                <a:solidFill>
                  <a:prstClr val="black"/>
                </a:solidFill>
                <a:effectLst/>
                <a:uLnTx/>
                <a:uFillTx/>
                <a:latin typeface="Boehringer Forward Text"/>
                <a:ea typeface="+mn-ea"/>
                <a:cs typeface="+mn-cs"/>
              </a:rPr>
              <a:t>IIIb</a:t>
            </a:r>
            <a:endPar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1026" name="Picture 2">
            <a:extLst>
              <a:ext uri="{FF2B5EF4-FFF2-40B4-BE49-F238E27FC236}">
                <a16:creationId xmlns:a16="http://schemas.microsoft.com/office/drawing/2014/main" id="{30746715-1884-B9EF-1157-9BEE25C73E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4532" y="2116226"/>
            <a:ext cx="8231522" cy="402993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5">
            <a:extLst>
              <a:ext uri="{FF2B5EF4-FFF2-40B4-BE49-F238E27FC236}">
                <a16:creationId xmlns:a16="http://schemas.microsoft.com/office/drawing/2014/main" id="{71908A53-3C10-F22A-2997-B2F98B11FFD9}"/>
              </a:ext>
            </a:extLst>
          </p:cNvPr>
          <p:cNvSpPr/>
          <p:nvPr/>
        </p:nvSpPr>
        <p:spPr>
          <a:xfrm>
            <a:off x="1884821" y="980144"/>
            <a:ext cx="3246577" cy="104396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sz="1000" b="0" i="0" u="sng" strike="noStrike" kern="1200" cap="none" spc="0" normalizeH="0" baseline="0" noProof="0">
                <a:ln>
                  <a:noFill/>
                </a:ln>
                <a:solidFill>
                  <a:srgbClr val="000000"/>
                </a:solidFill>
                <a:effectLst/>
                <a:uLnTx/>
                <a:uFillTx/>
                <a:latin typeface="Boehringer Forward Text"/>
                <a:ea typeface="+mn-ea"/>
                <a:cs typeface="+mn-cs"/>
              </a:rPr>
              <a:t>Cut-off date: 2025.12.14</a:t>
            </a:r>
            <a:endParaRPr kumimoji="0" lang="zh-CN" altLang="en-US" sz="1100" b="0" i="0" u="sng" strike="noStrike" kern="1200" cap="none" spc="0" normalizeH="0" baseline="0" noProof="0">
              <a:ln>
                <a:noFill/>
              </a:ln>
              <a:solidFill>
                <a:prstClr val="white"/>
              </a:solidFill>
              <a:effectLst/>
              <a:uLnTx/>
              <a:uFillTx/>
              <a:latin typeface="Boehringer Forward Text"/>
              <a:ea typeface="+mn-ea"/>
              <a:cs typeface="+mn-cs"/>
            </a:endParaRPr>
          </a:p>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Total Screened = 16</a:t>
            </a:r>
            <a:r>
              <a:rPr kumimoji="0" lang="en-US" sz="1000" b="1" i="0" u="none" strike="noStrike" kern="1200" cap="none" spc="0" normalizeH="0" baseline="0" noProof="0">
                <a:ln>
                  <a:noFill/>
                </a:ln>
                <a:solidFill>
                  <a:srgbClr val="000000"/>
                </a:solidFill>
                <a:effectLst/>
                <a:uLnTx/>
                <a:uFillTx/>
                <a:latin typeface="Boehringer Forward Text"/>
                <a:ea typeface="+mn-ea"/>
                <a:cs typeface="+mn-cs"/>
              </a:rPr>
              <a:t> (China) </a:t>
            </a: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  65 (Global)</a:t>
            </a:r>
          </a:p>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Total Randomized = 6</a:t>
            </a:r>
            <a:r>
              <a:rPr kumimoji="0" lang="en-US" sz="1000" b="1" i="0" u="none" strike="noStrike" kern="1200" cap="none" spc="0" normalizeH="0" baseline="0" noProof="0">
                <a:ln>
                  <a:noFill/>
                </a:ln>
                <a:solidFill>
                  <a:srgbClr val="000000"/>
                </a:solidFill>
                <a:effectLst/>
                <a:uLnTx/>
                <a:uFillTx/>
                <a:latin typeface="Boehringer Forward Text"/>
                <a:ea typeface="+mn-ea"/>
                <a:cs typeface="+mn-cs"/>
              </a:rPr>
              <a:t> (China)</a:t>
            </a: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 /  </a:t>
            </a:r>
            <a:r>
              <a:rPr lang="en-US" sz="1000">
                <a:solidFill>
                  <a:srgbClr val="000000"/>
                </a:solidFill>
                <a:latin typeface="Boehringer Forward Text"/>
              </a:rPr>
              <a:t>21</a:t>
            </a: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 (Global)</a:t>
            </a:r>
          </a:p>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mn-ea"/>
                <a:cs typeface="+mn-cs"/>
              </a:rPr>
              <a:t>Total Screen failure = 4</a:t>
            </a: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 (China) /  13 (Global)</a:t>
            </a:r>
          </a:p>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mn-ea"/>
                <a:cs typeface="+mn-cs"/>
              </a:rPr>
              <a:t>Screen failure rate = 25% (China) / </a:t>
            </a:r>
            <a:r>
              <a:rPr lang="en-US" altLang="zh-CN" sz="1000">
                <a:solidFill>
                  <a:srgbClr val="000000"/>
                </a:solidFill>
                <a:latin typeface="Boehringer Forward Text"/>
              </a:rPr>
              <a:t>20</a:t>
            </a:r>
            <a:r>
              <a:rPr kumimoji="0" lang="en-US" altLang="zh-CN" sz="1000" b="0" i="0" u="none" strike="noStrike" kern="1200" cap="none" spc="0" normalizeH="0" baseline="0" noProof="0">
                <a:ln>
                  <a:noFill/>
                </a:ln>
                <a:solidFill>
                  <a:srgbClr val="000000"/>
                </a:solidFill>
                <a:effectLst/>
                <a:uLnTx/>
                <a:uFillTx/>
                <a:latin typeface="Boehringer Forward Text"/>
                <a:ea typeface="+mn-ea"/>
                <a:cs typeface="+mn-cs"/>
              </a:rPr>
              <a:t>% (Global)</a:t>
            </a:r>
          </a:p>
        </p:txBody>
      </p:sp>
    </p:spTree>
    <p:extLst>
      <p:ext uri="{BB962C8B-B14F-4D97-AF65-F5344CB8AC3E}">
        <p14:creationId xmlns:p14="http://schemas.microsoft.com/office/powerpoint/2010/main" val="232329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7CA40-0714-6D50-66D5-A01628727E65}"/>
            </a:ext>
          </a:extLst>
        </p:cNvPr>
        <p:cNvGrpSpPr/>
        <p:nvPr/>
      </p:nvGrpSpPr>
      <p:grpSpPr>
        <a:xfrm>
          <a:off x="0" y="0"/>
          <a:ext cx="0" cy="0"/>
          <a:chOff x="0" y="0"/>
          <a:chExt cx="0" cy="0"/>
        </a:xfrm>
      </p:grpSpPr>
      <p:sp>
        <p:nvSpPr>
          <p:cNvPr id="253" name="OTLSHAPE_T_e17f3958430f4cff8650518c93c7635e_Shape">
            <a:extLst>
              <a:ext uri="{FF2B5EF4-FFF2-40B4-BE49-F238E27FC236}">
                <a16:creationId xmlns:a16="http://schemas.microsoft.com/office/drawing/2014/main" id="{936C832A-301E-F12B-4813-4C536E7014EF}"/>
              </a:ext>
            </a:extLst>
          </p:cNvPr>
          <p:cNvSpPr/>
          <p:nvPr>
            <p:custDataLst>
              <p:tags r:id="rId1"/>
            </p:custDataLst>
          </p:nvPr>
        </p:nvSpPr>
        <p:spPr bwMode="auto">
          <a:xfrm>
            <a:off x="5219985" y="3724888"/>
            <a:ext cx="5366277" cy="275114"/>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20" name="Title 3">
            <a:extLst>
              <a:ext uri="{FF2B5EF4-FFF2-40B4-BE49-F238E27FC236}">
                <a16:creationId xmlns:a16="http://schemas.microsoft.com/office/drawing/2014/main" id="{9938E0AF-A76E-10C9-9ECE-E5176B61B20A}"/>
              </a:ext>
            </a:extLst>
          </p:cNvPr>
          <p:cNvSpPr txBox="1">
            <a:spLocks/>
          </p:cNvSpPr>
          <p:nvPr/>
        </p:nvSpPr>
        <p:spPr bwMode="gray">
          <a:xfrm>
            <a:off x="322409" y="227619"/>
            <a:ext cx="11972225" cy="720000"/>
          </a:xfrm>
          <a:prstGeom prst="rect">
            <a:avLst/>
          </a:prstGeom>
        </p:spPr>
        <p:txBody>
          <a:bodyPr vert="horz" lIns="0" tIns="0" rIns="0" bIns="0" rtlCol="0" anchor="t">
            <a:normAutofit fontScale="97500"/>
          </a:bodyPr>
          <a:lstStyle>
            <a:lvl1pPr algn="l" defTabSz="914377" rtl="0" eaLnBrk="1" latinLnBrk="0" hangingPunct="1">
              <a:lnSpc>
                <a:spcPct val="100000"/>
              </a:lnSpc>
              <a:spcBef>
                <a:spcPct val="0"/>
              </a:spcBef>
              <a:buNone/>
              <a:defRPr kumimoji="1"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1" lang="en-US" altLang="zh-CN" sz="2400" b="0" i="1" u="sng"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Under evaluation: </a:t>
            </a:r>
            <a:r>
              <a:rPr kumimoji="1" lang="en-US" altLang="zh-CN" sz="2400" b="0" i="1"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Nerandomilast (PDE4b inhibitor): </a:t>
            </a:r>
            <a:r>
              <a:rPr kumimoji="1" lang="en-US" altLang="zh-CN"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non-IPF fibrotic ILD Development Plan</a:t>
            </a:r>
            <a:endParaRPr kumimoji="1" lang="zh-CN" altLang="en-US"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endParaRPr>
          </a:p>
        </p:txBody>
      </p:sp>
      <p:cxnSp>
        <p:nvCxnSpPr>
          <p:cNvPr id="121" name="Straight Connector 120">
            <a:extLst>
              <a:ext uri="{FF2B5EF4-FFF2-40B4-BE49-F238E27FC236}">
                <a16:creationId xmlns:a16="http://schemas.microsoft.com/office/drawing/2014/main" id="{BACBBA61-1A4B-574E-5E33-143F10405DC9}"/>
              </a:ext>
            </a:extLst>
          </p:cNvPr>
          <p:cNvCxnSpPr>
            <a:cxnSpLocks/>
          </p:cNvCxnSpPr>
          <p:nvPr/>
        </p:nvCxnSpPr>
        <p:spPr bwMode="auto">
          <a:xfrm flipH="1">
            <a:off x="451" y="3188585"/>
            <a:ext cx="12168000" cy="0"/>
          </a:xfrm>
          <a:prstGeom prst="line">
            <a:avLst/>
          </a:prstGeom>
          <a:solidFill>
            <a:srgbClr val="08312A"/>
          </a:solidFill>
          <a:ln w="15875" cap="flat" cmpd="sng" algn="ctr">
            <a:solidFill>
              <a:srgbClr val="A3E5EE"/>
            </a:solidFill>
            <a:prstDash val="sysDash"/>
            <a:round/>
            <a:headEnd type="none" w="med" len="med"/>
            <a:tailEnd type="none" w="med" len="med"/>
          </a:ln>
          <a:effectLst/>
        </p:spPr>
      </p:cxnSp>
      <p:graphicFrame>
        <p:nvGraphicFramePr>
          <p:cNvPr id="123" name="Table 122">
            <a:extLst>
              <a:ext uri="{FF2B5EF4-FFF2-40B4-BE49-F238E27FC236}">
                <a16:creationId xmlns:a16="http://schemas.microsoft.com/office/drawing/2014/main" id="{E447D377-673F-79AD-D064-ED164130B0C0}"/>
              </a:ext>
            </a:extLst>
          </p:cNvPr>
          <p:cNvGraphicFramePr>
            <a:graphicFrameLocks noGrp="1"/>
          </p:cNvGraphicFramePr>
          <p:nvPr>
            <p:extLst>
              <p:ext uri="{D42A27DB-BD31-4B8C-83A1-F6EECF244321}">
                <p14:modId xmlns:p14="http://schemas.microsoft.com/office/powerpoint/2010/main" val="3691110659"/>
              </p:ext>
            </p:extLst>
          </p:nvPr>
        </p:nvGraphicFramePr>
        <p:xfrm>
          <a:off x="250897" y="1073957"/>
          <a:ext cx="11697066" cy="608641"/>
        </p:xfrm>
        <a:graphic>
          <a:graphicData uri="http://schemas.openxmlformats.org/drawingml/2006/table">
            <a:tbl>
              <a:tblPr firstRow="1" bandRow="1"/>
              <a:tblGrid>
                <a:gridCol w="649837">
                  <a:extLst>
                    <a:ext uri="{9D8B030D-6E8A-4147-A177-3AD203B41FA5}">
                      <a16:colId xmlns:a16="http://schemas.microsoft.com/office/drawing/2014/main" val="1064917641"/>
                    </a:ext>
                  </a:extLst>
                </a:gridCol>
                <a:gridCol w="649837">
                  <a:extLst>
                    <a:ext uri="{9D8B030D-6E8A-4147-A177-3AD203B41FA5}">
                      <a16:colId xmlns:a16="http://schemas.microsoft.com/office/drawing/2014/main" val="4221117315"/>
                    </a:ext>
                  </a:extLst>
                </a:gridCol>
                <a:gridCol w="649837">
                  <a:extLst>
                    <a:ext uri="{9D8B030D-6E8A-4147-A177-3AD203B41FA5}">
                      <a16:colId xmlns:a16="http://schemas.microsoft.com/office/drawing/2014/main" val="3266065341"/>
                    </a:ext>
                  </a:extLst>
                </a:gridCol>
                <a:gridCol w="649837">
                  <a:extLst>
                    <a:ext uri="{9D8B030D-6E8A-4147-A177-3AD203B41FA5}">
                      <a16:colId xmlns:a16="http://schemas.microsoft.com/office/drawing/2014/main" val="2374051224"/>
                    </a:ext>
                  </a:extLst>
                </a:gridCol>
                <a:gridCol w="649837">
                  <a:extLst>
                    <a:ext uri="{9D8B030D-6E8A-4147-A177-3AD203B41FA5}">
                      <a16:colId xmlns:a16="http://schemas.microsoft.com/office/drawing/2014/main" val="1840388365"/>
                    </a:ext>
                  </a:extLst>
                </a:gridCol>
                <a:gridCol w="649837">
                  <a:extLst>
                    <a:ext uri="{9D8B030D-6E8A-4147-A177-3AD203B41FA5}">
                      <a16:colId xmlns:a16="http://schemas.microsoft.com/office/drawing/2014/main" val="267750830"/>
                    </a:ext>
                  </a:extLst>
                </a:gridCol>
                <a:gridCol w="649837">
                  <a:extLst>
                    <a:ext uri="{9D8B030D-6E8A-4147-A177-3AD203B41FA5}">
                      <a16:colId xmlns:a16="http://schemas.microsoft.com/office/drawing/2014/main" val="3966469970"/>
                    </a:ext>
                  </a:extLst>
                </a:gridCol>
                <a:gridCol w="649837">
                  <a:extLst>
                    <a:ext uri="{9D8B030D-6E8A-4147-A177-3AD203B41FA5}">
                      <a16:colId xmlns:a16="http://schemas.microsoft.com/office/drawing/2014/main" val="2522973146"/>
                    </a:ext>
                  </a:extLst>
                </a:gridCol>
                <a:gridCol w="649837">
                  <a:extLst>
                    <a:ext uri="{9D8B030D-6E8A-4147-A177-3AD203B41FA5}">
                      <a16:colId xmlns:a16="http://schemas.microsoft.com/office/drawing/2014/main" val="3852236956"/>
                    </a:ext>
                  </a:extLst>
                </a:gridCol>
                <a:gridCol w="649837">
                  <a:extLst>
                    <a:ext uri="{9D8B030D-6E8A-4147-A177-3AD203B41FA5}">
                      <a16:colId xmlns:a16="http://schemas.microsoft.com/office/drawing/2014/main" val="493228184"/>
                    </a:ext>
                  </a:extLst>
                </a:gridCol>
                <a:gridCol w="649837">
                  <a:extLst>
                    <a:ext uri="{9D8B030D-6E8A-4147-A177-3AD203B41FA5}">
                      <a16:colId xmlns:a16="http://schemas.microsoft.com/office/drawing/2014/main" val="2981130253"/>
                    </a:ext>
                  </a:extLst>
                </a:gridCol>
                <a:gridCol w="649837">
                  <a:extLst>
                    <a:ext uri="{9D8B030D-6E8A-4147-A177-3AD203B41FA5}">
                      <a16:colId xmlns:a16="http://schemas.microsoft.com/office/drawing/2014/main" val="1463185388"/>
                    </a:ext>
                  </a:extLst>
                </a:gridCol>
                <a:gridCol w="649837">
                  <a:extLst>
                    <a:ext uri="{9D8B030D-6E8A-4147-A177-3AD203B41FA5}">
                      <a16:colId xmlns:a16="http://schemas.microsoft.com/office/drawing/2014/main" val="2864691688"/>
                    </a:ext>
                  </a:extLst>
                </a:gridCol>
                <a:gridCol w="649837">
                  <a:extLst>
                    <a:ext uri="{9D8B030D-6E8A-4147-A177-3AD203B41FA5}">
                      <a16:colId xmlns:a16="http://schemas.microsoft.com/office/drawing/2014/main" val="2712926517"/>
                    </a:ext>
                  </a:extLst>
                </a:gridCol>
                <a:gridCol w="649837">
                  <a:extLst>
                    <a:ext uri="{9D8B030D-6E8A-4147-A177-3AD203B41FA5}">
                      <a16:colId xmlns:a16="http://schemas.microsoft.com/office/drawing/2014/main" val="1902767807"/>
                    </a:ext>
                  </a:extLst>
                </a:gridCol>
                <a:gridCol w="649837">
                  <a:extLst>
                    <a:ext uri="{9D8B030D-6E8A-4147-A177-3AD203B41FA5}">
                      <a16:colId xmlns:a16="http://schemas.microsoft.com/office/drawing/2014/main" val="1000608608"/>
                    </a:ext>
                  </a:extLst>
                </a:gridCol>
                <a:gridCol w="649837">
                  <a:extLst>
                    <a:ext uri="{9D8B030D-6E8A-4147-A177-3AD203B41FA5}">
                      <a16:colId xmlns:a16="http://schemas.microsoft.com/office/drawing/2014/main" val="4070922586"/>
                    </a:ext>
                  </a:extLst>
                </a:gridCol>
                <a:gridCol w="649837">
                  <a:extLst>
                    <a:ext uri="{9D8B030D-6E8A-4147-A177-3AD203B41FA5}">
                      <a16:colId xmlns:a16="http://schemas.microsoft.com/office/drawing/2014/main" val="2285472394"/>
                    </a:ext>
                  </a:extLst>
                </a:gridCol>
              </a:tblGrid>
              <a:tr h="212234">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extLst>
                  <a:ext uri="{0D108BD9-81ED-4DB2-BD59-A6C34878D82A}">
                    <a16:rowId xmlns:a16="http://schemas.microsoft.com/office/drawing/2014/main" val="3603824039"/>
                  </a:ext>
                </a:extLst>
              </a:tr>
              <a:tr h="349561">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124" name="Isosceles Triangle 123">
            <a:extLst>
              <a:ext uri="{FF2B5EF4-FFF2-40B4-BE49-F238E27FC236}">
                <a16:creationId xmlns:a16="http://schemas.microsoft.com/office/drawing/2014/main" id="{64D6C39C-D20B-2A6D-1D1B-4E7C919A292B}"/>
              </a:ext>
            </a:extLst>
          </p:cNvPr>
          <p:cNvSpPr/>
          <p:nvPr/>
        </p:nvSpPr>
        <p:spPr>
          <a:xfrm rot="16200000" flipH="1">
            <a:off x="-143888" y="1243839"/>
            <a:ext cx="553098" cy="236472"/>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0" cap="none" spc="0" normalizeH="0" baseline="0" noProof="0" err="1">
              <a:ln>
                <a:noFill/>
              </a:ln>
              <a:solidFill>
                <a:srgbClr val="000000"/>
              </a:solidFill>
              <a:effectLst/>
              <a:uLnTx/>
              <a:uFillTx/>
              <a:latin typeface="BISansOpti"/>
              <a:ea typeface="+mn-ea"/>
              <a:cs typeface="+mn-cs"/>
            </a:endParaRPr>
          </a:p>
        </p:txBody>
      </p:sp>
      <p:sp>
        <p:nvSpPr>
          <p:cNvPr id="125" name="Isosceles Triangle 124">
            <a:extLst>
              <a:ext uri="{FF2B5EF4-FFF2-40B4-BE49-F238E27FC236}">
                <a16:creationId xmlns:a16="http://schemas.microsoft.com/office/drawing/2014/main" id="{912B0373-106C-C2EC-595B-428DED968B24}"/>
              </a:ext>
            </a:extLst>
          </p:cNvPr>
          <p:cNvSpPr/>
          <p:nvPr/>
        </p:nvSpPr>
        <p:spPr>
          <a:xfrm rot="5400000">
            <a:off x="11773666" y="1243839"/>
            <a:ext cx="553098" cy="236472"/>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0" cap="none" spc="0" normalizeH="0" baseline="0" noProof="0" err="1">
              <a:ln>
                <a:noFill/>
              </a:ln>
              <a:solidFill>
                <a:srgbClr val="000000"/>
              </a:solidFill>
              <a:effectLst/>
              <a:uLnTx/>
              <a:uFillTx/>
              <a:latin typeface="BISansOpti"/>
              <a:ea typeface="+mn-ea"/>
              <a:cs typeface="+mn-cs"/>
            </a:endParaRPr>
          </a:p>
        </p:txBody>
      </p:sp>
      <p:sp>
        <p:nvSpPr>
          <p:cNvPr id="126" name="TextBox 125">
            <a:extLst>
              <a:ext uri="{FF2B5EF4-FFF2-40B4-BE49-F238E27FC236}">
                <a16:creationId xmlns:a16="http://schemas.microsoft.com/office/drawing/2014/main" id="{4A68BC8C-E48E-2F73-047F-AB410901D7B0}"/>
              </a:ext>
            </a:extLst>
          </p:cNvPr>
          <p:cNvSpPr txBox="1"/>
          <p:nvPr/>
        </p:nvSpPr>
        <p:spPr>
          <a:xfrm>
            <a:off x="296990" y="2319698"/>
            <a:ext cx="904987" cy="401126"/>
          </a:xfrm>
          <a:prstGeom prst="rect">
            <a:avLst/>
          </a:prstGeom>
          <a:noFill/>
          <a:ln>
            <a:solidFill>
              <a:srgbClr val="08312A"/>
            </a:solidFill>
          </a:ln>
        </p:spPr>
        <p:txBody>
          <a:bodyPr wrap="square" lIns="72000" tIns="36000" rIns="72000" bIns="3600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0" cap="none" spc="0" normalizeH="0" baseline="0" noProof="0">
                <a:ln>
                  <a:noFill/>
                </a:ln>
                <a:solidFill>
                  <a:srgbClr val="0066CC"/>
                </a:solidFill>
                <a:effectLst/>
                <a:uLnTx/>
                <a:uFillTx/>
                <a:latin typeface="Boehringer Forward Text"/>
                <a:ea typeface="+mn-ea"/>
                <a:cs typeface="Calibri" panose="020F0502020204030204" pitchFamily="34" charset="0"/>
              </a:rPr>
              <a:t>Ph</a:t>
            </a:r>
            <a:r>
              <a:rPr lang="en-US" sz="1067" b="1" kern="0">
                <a:solidFill>
                  <a:srgbClr val="0066CC"/>
                </a:solidFill>
                <a:latin typeface="Boehringer Forward Text"/>
                <a:cs typeface="Calibri" panose="020F0502020204030204" pitchFamily="34" charset="0"/>
              </a:rPr>
              <a:t>4</a:t>
            </a:r>
            <a:r>
              <a:rPr kumimoji="0" lang="en-US" sz="1067" b="1" i="0" u="none" strike="noStrike" kern="0" cap="none" spc="0" normalizeH="0" baseline="0" noProof="0">
                <a:ln>
                  <a:noFill/>
                </a:ln>
                <a:solidFill>
                  <a:srgbClr val="0066CC"/>
                </a:solidFill>
                <a:effectLst/>
                <a:uLnTx/>
                <a:uFillTx/>
                <a:latin typeface="Boehringer Forward Text"/>
                <a:ea typeface="+mn-ea"/>
                <a:cs typeface="Calibri" panose="020F0502020204030204" pitchFamily="34" charset="0"/>
              </a:rPr>
              <a:t>-1305.152</a:t>
            </a:r>
          </a:p>
        </p:txBody>
      </p:sp>
      <p:sp>
        <p:nvSpPr>
          <p:cNvPr id="127" name="TextBox 126">
            <a:extLst>
              <a:ext uri="{FF2B5EF4-FFF2-40B4-BE49-F238E27FC236}">
                <a16:creationId xmlns:a16="http://schemas.microsoft.com/office/drawing/2014/main" id="{FB13F2DF-E3BD-0E37-220A-920785A91AAB}"/>
              </a:ext>
            </a:extLst>
          </p:cNvPr>
          <p:cNvSpPr txBox="1"/>
          <p:nvPr/>
        </p:nvSpPr>
        <p:spPr>
          <a:xfrm>
            <a:off x="251329" y="3890399"/>
            <a:ext cx="835521" cy="401126"/>
          </a:xfrm>
          <a:prstGeom prst="rect">
            <a:avLst/>
          </a:prstGeom>
          <a:noFill/>
          <a:ln>
            <a:solidFill>
              <a:srgbClr val="08312A"/>
            </a:solidFill>
          </a:ln>
        </p:spPr>
        <p:txBody>
          <a:bodyPr wrap="square" lIns="72000" tIns="36000" rIns="72000" bIns="3600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0" cap="none" spc="0" normalizeH="0" baseline="0" noProof="0">
                <a:ln>
                  <a:noFill/>
                </a:ln>
                <a:solidFill>
                  <a:srgbClr val="0066CC"/>
                </a:solidFill>
                <a:effectLst/>
                <a:uLnTx/>
                <a:uFillTx/>
                <a:latin typeface="Boehringer Forward Text"/>
                <a:ea typeface="+mn-ea"/>
                <a:cs typeface="Calibri" panose="020F0502020204030204" pitchFamily="34" charset="0"/>
              </a:rPr>
              <a:t>Ph4-1305.152</a:t>
            </a:r>
          </a:p>
        </p:txBody>
      </p:sp>
      <p:sp>
        <p:nvSpPr>
          <p:cNvPr id="128" name="OTLSHAPE_T_e17f3958430f4cff8650518c93c7635e_Shape">
            <a:extLst>
              <a:ext uri="{FF2B5EF4-FFF2-40B4-BE49-F238E27FC236}">
                <a16:creationId xmlns:a16="http://schemas.microsoft.com/office/drawing/2014/main" id="{AD4A1BD0-F128-9203-906F-96AA24269B40}"/>
              </a:ext>
            </a:extLst>
          </p:cNvPr>
          <p:cNvSpPr/>
          <p:nvPr>
            <p:custDataLst>
              <p:tags r:id="rId2"/>
            </p:custDataLst>
          </p:nvPr>
        </p:nvSpPr>
        <p:spPr bwMode="auto">
          <a:xfrm>
            <a:off x="4692708" y="2353410"/>
            <a:ext cx="5893555" cy="269019"/>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35" name="OTLSHAPE_T_e17f3958430f4cff8650518c93c7635e_StartDate">
            <a:extLst>
              <a:ext uri="{FF2B5EF4-FFF2-40B4-BE49-F238E27FC236}">
                <a16:creationId xmlns:a16="http://schemas.microsoft.com/office/drawing/2014/main" id="{B2AC0DA5-46C2-C930-9A0D-F7043B8E1508}"/>
              </a:ext>
            </a:extLst>
          </p:cNvPr>
          <p:cNvSpPr txBox="1"/>
          <p:nvPr>
            <p:custDataLst>
              <p:tags r:id="rId3"/>
            </p:custDataLst>
          </p:nvPr>
        </p:nvSpPr>
        <p:spPr>
          <a:xfrm>
            <a:off x="6228731" y="2433985"/>
            <a:ext cx="2808971" cy="138499"/>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180 sites, N = 466 </a:t>
            </a:r>
          </a:p>
        </p:txBody>
      </p:sp>
      <p:pic>
        <p:nvPicPr>
          <p:cNvPr id="146" name="Picture 145">
            <a:extLst>
              <a:ext uri="{FF2B5EF4-FFF2-40B4-BE49-F238E27FC236}">
                <a16:creationId xmlns:a16="http://schemas.microsoft.com/office/drawing/2014/main" id="{C6F795DF-EBBA-9AF6-DD43-CE4AA5C8EFCE}"/>
              </a:ext>
            </a:extLst>
          </p:cNvPr>
          <p:cNvPicPr>
            <a:picLocks noChangeAspect="1"/>
          </p:cNvPicPr>
          <p:nvPr/>
        </p:nvPicPr>
        <p:blipFill>
          <a:blip r:embed="rId10"/>
          <a:stretch>
            <a:fillRect/>
          </a:stretch>
        </p:blipFill>
        <p:spPr>
          <a:xfrm>
            <a:off x="177945" y="1598590"/>
            <a:ext cx="1080000" cy="528511"/>
          </a:xfrm>
          <a:prstGeom prst="rect">
            <a:avLst/>
          </a:prstGeom>
        </p:spPr>
      </p:pic>
      <p:sp>
        <p:nvSpPr>
          <p:cNvPr id="184" name="TextBox 183">
            <a:extLst>
              <a:ext uri="{FF2B5EF4-FFF2-40B4-BE49-F238E27FC236}">
                <a16:creationId xmlns:a16="http://schemas.microsoft.com/office/drawing/2014/main" id="{AF30661B-2AF7-EC12-4E72-5F8D2AAC7E4C}"/>
              </a:ext>
            </a:extLst>
          </p:cNvPr>
          <p:cNvSpPr txBox="1"/>
          <p:nvPr/>
        </p:nvSpPr>
        <p:spPr>
          <a:xfrm>
            <a:off x="11124741" y="6317171"/>
            <a:ext cx="1175671" cy="492443"/>
          </a:xfrm>
          <a:prstGeom prst="rect">
            <a:avLst/>
          </a:prstGeom>
          <a:noFill/>
        </p:spPr>
        <p:txBody>
          <a:bodyPr wrap="square" lIns="0" tIns="0" rIns="0" bIns="0" rtlCol="0">
            <a:spAutoFit/>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TDO: trial design outline</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FSS: first subject screen</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LSS: last subject screen</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LPO: last patient out</a:t>
            </a:r>
          </a:p>
        </p:txBody>
      </p:sp>
      <p:grpSp>
        <p:nvGrpSpPr>
          <p:cNvPr id="186" name="Group 185">
            <a:extLst>
              <a:ext uri="{FF2B5EF4-FFF2-40B4-BE49-F238E27FC236}">
                <a16:creationId xmlns:a16="http://schemas.microsoft.com/office/drawing/2014/main" id="{4BB69301-3617-B20D-C0F7-DAA1710D623A}"/>
              </a:ext>
            </a:extLst>
          </p:cNvPr>
          <p:cNvGrpSpPr/>
          <p:nvPr/>
        </p:nvGrpSpPr>
        <p:grpSpPr>
          <a:xfrm>
            <a:off x="2288808" y="1362075"/>
            <a:ext cx="546747" cy="3470828"/>
            <a:chOff x="1956799" y="1213944"/>
            <a:chExt cx="546747" cy="3954750"/>
          </a:xfrm>
        </p:grpSpPr>
        <p:cxnSp>
          <p:nvCxnSpPr>
            <p:cNvPr id="187" name="Straight Connector 186">
              <a:extLst>
                <a:ext uri="{FF2B5EF4-FFF2-40B4-BE49-F238E27FC236}">
                  <a16:creationId xmlns:a16="http://schemas.microsoft.com/office/drawing/2014/main" id="{8C554F38-A82A-4D6E-8DF6-7586E6F1DA0B}"/>
                </a:ext>
              </a:extLst>
            </p:cNvPr>
            <p:cNvCxnSpPr>
              <a:cxnSpLocks/>
            </p:cNvCxnSpPr>
            <p:nvPr/>
          </p:nvCxnSpPr>
          <p:spPr bwMode="auto">
            <a:xfrm flipV="1">
              <a:off x="2278209" y="1393721"/>
              <a:ext cx="0" cy="3774973"/>
            </a:xfrm>
            <a:prstGeom prst="line">
              <a:avLst/>
            </a:prstGeom>
            <a:solidFill>
              <a:srgbClr val="08312A"/>
            </a:solidFill>
            <a:ln w="6350" cap="flat" cmpd="sng" algn="ctr">
              <a:solidFill>
                <a:srgbClr val="FF0000"/>
              </a:solidFill>
              <a:prstDash val="sysDot"/>
              <a:round/>
              <a:headEnd type="none" w="med" len="med"/>
              <a:tailEnd type="none" w="med" len="med"/>
            </a:ln>
            <a:effectLst/>
          </p:spPr>
        </p:cxnSp>
        <p:sp>
          <p:nvSpPr>
            <p:cNvPr id="188" name="OTLSHAPE_T_e17f3958430f4cff8650518c93c7635e_StartDate">
              <a:extLst>
                <a:ext uri="{FF2B5EF4-FFF2-40B4-BE49-F238E27FC236}">
                  <a16:creationId xmlns:a16="http://schemas.microsoft.com/office/drawing/2014/main" id="{B5231AE2-4DAA-4C21-449E-EF708B7EDB5E}"/>
                </a:ext>
              </a:extLst>
            </p:cNvPr>
            <p:cNvSpPr txBox="1"/>
            <p:nvPr>
              <p:custDataLst>
                <p:tags r:id="rId7"/>
              </p:custDataLst>
            </p:nvPr>
          </p:nvSpPr>
          <p:spPr>
            <a:xfrm>
              <a:off x="1956799" y="1213944"/>
              <a:ext cx="546747" cy="246317"/>
            </a:xfrm>
            <a:prstGeom prst="rect">
              <a:avLst/>
            </a:prstGeom>
            <a:noFill/>
            <a:ln w="12700">
              <a:noFill/>
            </a:ln>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67" b="1" i="0" u="none" strike="noStrike" kern="0" cap="none" spc="0" normalizeH="0" baseline="0" noProof="0">
                  <a:ln>
                    <a:noFill/>
                  </a:ln>
                  <a:solidFill>
                    <a:srgbClr val="FF0000"/>
                  </a:solidFill>
                  <a:effectLst/>
                  <a:uLnTx/>
                  <a:uFillTx/>
                  <a:latin typeface="Boehringer Forward Text"/>
                  <a:ea typeface="+mn-ea"/>
                  <a:cs typeface="Calibri" panose="020F0502020204030204" pitchFamily="34" charset="0"/>
                </a:rPr>
                <a:t>We are here</a:t>
              </a:r>
              <a:endParaRPr kumimoji="0" lang="zh-CN" altLang="en-US" sz="1067" b="1" i="0" u="none" strike="noStrike" kern="0" cap="none" spc="0" normalizeH="0" baseline="0" noProof="0">
                <a:ln>
                  <a:noFill/>
                </a:ln>
                <a:solidFill>
                  <a:srgbClr val="FF0000"/>
                </a:solidFill>
                <a:effectLst/>
                <a:uLnTx/>
                <a:uFillTx/>
                <a:latin typeface="Boehringer Forward Text"/>
                <a:ea typeface="+mn-ea"/>
                <a:cs typeface="Calibri" panose="020F0502020204030204" pitchFamily="34" charset="0"/>
              </a:endParaRPr>
            </a:p>
          </p:txBody>
        </p:sp>
      </p:grpSp>
      <p:pic>
        <p:nvPicPr>
          <p:cNvPr id="236" name="Picture 235">
            <a:extLst>
              <a:ext uri="{FF2B5EF4-FFF2-40B4-BE49-F238E27FC236}">
                <a16:creationId xmlns:a16="http://schemas.microsoft.com/office/drawing/2014/main" id="{07F524F8-88D0-2B66-D011-CE08C12CF10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8577" y="3231776"/>
            <a:ext cx="1080000" cy="532285"/>
          </a:xfrm>
          <a:prstGeom prst="rect">
            <a:avLst/>
          </a:prstGeom>
        </p:spPr>
      </p:pic>
      <p:sp>
        <p:nvSpPr>
          <p:cNvPr id="244" name="5-Point Star 5">
            <a:extLst>
              <a:ext uri="{FF2B5EF4-FFF2-40B4-BE49-F238E27FC236}">
                <a16:creationId xmlns:a16="http://schemas.microsoft.com/office/drawing/2014/main" id="{CDF282B9-334C-0908-87AB-463804ECF3E6}"/>
              </a:ext>
            </a:extLst>
          </p:cNvPr>
          <p:cNvSpPr/>
          <p:nvPr/>
        </p:nvSpPr>
        <p:spPr>
          <a:xfrm>
            <a:off x="3758953" y="2351768"/>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45" name="OTLSHAPE_T_e17f3958430f4cff8650518c93c7635e_StartDate">
            <a:extLst>
              <a:ext uri="{FF2B5EF4-FFF2-40B4-BE49-F238E27FC236}">
                <a16:creationId xmlns:a16="http://schemas.microsoft.com/office/drawing/2014/main" id="{53E7F37C-3CD5-6DBA-082B-26E3232505FF}"/>
              </a:ext>
            </a:extLst>
          </p:cNvPr>
          <p:cNvSpPr txBox="1"/>
          <p:nvPr>
            <p:custDataLst>
              <p:tags r:id="rId4"/>
            </p:custDataLst>
          </p:nvPr>
        </p:nvSpPr>
        <p:spPr>
          <a:xfrm>
            <a:off x="3370038" y="2565580"/>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46" name="Rectangle 245">
            <a:extLst>
              <a:ext uri="{FF2B5EF4-FFF2-40B4-BE49-F238E27FC236}">
                <a16:creationId xmlns:a16="http://schemas.microsoft.com/office/drawing/2014/main" id="{C213E555-3079-AFDD-F7C3-7726A9657666}"/>
              </a:ext>
            </a:extLst>
          </p:cNvPr>
          <p:cNvSpPr/>
          <p:nvPr/>
        </p:nvSpPr>
        <p:spPr>
          <a:xfrm>
            <a:off x="3508615" y="2027635"/>
            <a:ext cx="654682"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lang="en-US" altLang="zh-CN" sz="800" b="1">
                <a:solidFill>
                  <a:srgbClr val="44546A"/>
                </a:solidFill>
                <a:latin typeface="Boehringer Forward Text"/>
                <a:cs typeface="Calibri" panose="020F0502020204030204" pitchFamily="34" charset="0"/>
              </a:rPr>
              <a:t>30</a:t>
            </a: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Apr 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54" name="OTLSHAPE_T_e17f3958430f4cff8650518c93c7635e_StartDate">
            <a:extLst>
              <a:ext uri="{FF2B5EF4-FFF2-40B4-BE49-F238E27FC236}">
                <a16:creationId xmlns:a16="http://schemas.microsoft.com/office/drawing/2014/main" id="{512D343A-D3EB-B1AB-6175-A98D6CC9E519}"/>
              </a:ext>
            </a:extLst>
          </p:cNvPr>
          <p:cNvSpPr txBox="1"/>
          <p:nvPr>
            <p:custDataLst>
              <p:tags r:id="rId5"/>
            </p:custDataLst>
          </p:nvPr>
        </p:nvSpPr>
        <p:spPr>
          <a:xfrm>
            <a:off x="6369796" y="3822225"/>
            <a:ext cx="3202127" cy="138499"/>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1"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18 sites, N=</a:t>
            </a:r>
            <a:r>
              <a:rPr lang="en-US" altLang="zh-CN" sz="900" b="1" i="1">
                <a:solidFill>
                  <a:srgbClr val="000000"/>
                </a:solidFill>
                <a:latin typeface="Boehringer Forward Text"/>
                <a:cs typeface="Calibri" panose="020F0502020204030204" pitchFamily="34" charset="0"/>
              </a:rPr>
              <a:t>49 (pre-liminary allocation)</a:t>
            </a:r>
            <a:endPar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0" name="5-Point Star 5">
            <a:extLst>
              <a:ext uri="{FF2B5EF4-FFF2-40B4-BE49-F238E27FC236}">
                <a16:creationId xmlns:a16="http://schemas.microsoft.com/office/drawing/2014/main" id="{52CB7628-C4C0-EC2B-667E-6405CB7089F1}"/>
              </a:ext>
            </a:extLst>
          </p:cNvPr>
          <p:cNvSpPr/>
          <p:nvPr/>
        </p:nvSpPr>
        <p:spPr>
          <a:xfrm>
            <a:off x="3828590" y="3989945"/>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1" name="OTLSHAPE_T_e17f3958430f4cff8650518c93c7635e_StartDate">
            <a:extLst>
              <a:ext uri="{FF2B5EF4-FFF2-40B4-BE49-F238E27FC236}">
                <a16:creationId xmlns:a16="http://schemas.microsoft.com/office/drawing/2014/main" id="{2E818061-CBC3-CCFE-FFE5-CEE0ED9F32C3}"/>
              </a:ext>
            </a:extLst>
          </p:cNvPr>
          <p:cNvSpPr txBox="1"/>
          <p:nvPr>
            <p:custDataLst>
              <p:tags r:id="rId6"/>
            </p:custDataLst>
          </p:nvPr>
        </p:nvSpPr>
        <p:spPr>
          <a:xfrm>
            <a:off x="3453100" y="4124009"/>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2" name="Rectangle 11">
            <a:extLst>
              <a:ext uri="{FF2B5EF4-FFF2-40B4-BE49-F238E27FC236}">
                <a16:creationId xmlns:a16="http://schemas.microsoft.com/office/drawing/2014/main" id="{8110E93C-E6EE-9D38-4358-9D0611F1A0C2}"/>
              </a:ext>
            </a:extLst>
          </p:cNvPr>
          <p:cNvSpPr/>
          <p:nvPr/>
        </p:nvSpPr>
        <p:spPr>
          <a:xfrm>
            <a:off x="4969540" y="4083643"/>
            <a:ext cx="548804"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3" name="Star: 4 Points 143">
            <a:extLst>
              <a:ext uri="{FF2B5EF4-FFF2-40B4-BE49-F238E27FC236}">
                <a16:creationId xmlns:a16="http://schemas.microsoft.com/office/drawing/2014/main" id="{8CDD42AD-4845-D6C8-A2DA-D4EDA8542A76}"/>
              </a:ext>
            </a:extLst>
          </p:cNvPr>
          <p:cNvSpPr/>
          <p:nvPr/>
        </p:nvSpPr>
        <p:spPr bwMode="auto">
          <a:xfrm>
            <a:off x="5138582" y="392542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4" name="Rectangle 13">
            <a:extLst>
              <a:ext uri="{FF2B5EF4-FFF2-40B4-BE49-F238E27FC236}">
                <a16:creationId xmlns:a16="http://schemas.microsoft.com/office/drawing/2014/main" id="{74A0A9DA-7985-0FA4-8E57-394FFCFD1423}"/>
              </a:ext>
            </a:extLst>
          </p:cNvPr>
          <p:cNvSpPr/>
          <p:nvPr/>
        </p:nvSpPr>
        <p:spPr>
          <a:xfrm>
            <a:off x="4894779" y="3487116"/>
            <a:ext cx="671847"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TBU</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5" name="Rectangle 24">
            <a:extLst>
              <a:ext uri="{FF2B5EF4-FFF2-40B4-BE49-F238E27FC236}">
                <a16:creationId xmlns:a16="http://schemas.microsoft.com/office/drawing/2014/main" id="{0E43914D-A616-CD26-C8F1-3EA13E65625C}"/>
              </a:ext>
            </a:extLst>
          </p:cNvPr>
          <p:cNvSpPr/>
          <p:nvPr/>
        </p:nvSpPr>
        <p:spPr>
          <a:xfrm>
            <a:off x="10243653" y="4032504"/>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6" name="Star: 4 Points 143">
            <a:extLst>
              <a:ext uri="{FF2B5EF4-FFF2-40B4-BE49-F238E27FC236}">
                <a16:creationId xmlns:a16="http://schemas.microsoft.com/office/drawing/2014/main" id="{DB80E389-0D4C-8E50-8B5B-B7DE26D1EC11}"/>
              </a:ext>
            </a:extLst>
          </p:cNvPr>
          <p:cNvSpPr/>
          <p:nvPr/>
        </p:nvSpPr>
        <p:spPr bwMode="auto">
          <a:xfrm>
            <a:off x="10502931" y="38895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6" name="Rectangle 245">
            <a:extLst>
              <a:ext uri="{FF2B5EF4-FFF2-40B4-BE49-F238E27FC236}">
                <a16:creationId xmlns:a16="http://schemas.microsoft.com/office/drawing/2014/main" id="{D381CEAE-6F80-482D-97A9-D2D48FFD8D5A}"/>
              </a:ext>
            </a:extLst>
          </p:cNvPr>
          <p:cNvSpPr/>
          <p:nvPr/>
        </p:nvSpPr>
        <p:spPr>
          <a:xfrm>
            <a:off x="4367152" y="2019284"/>
            <a:ext cx="617849"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30Aug 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8" name="Rectangle 21">
            <a:extLst>
              <a:ext uri="{FF2B5EF4-FFF2-40B4-BE49-F238E27FC236}">
                <a16:creationId xmlns:a16="http://schemas.microsoft.com/office/drawing/2014/main" id="{CF9231A5-8657-6678-9FF0-96A9369933FF}"/>
              </a:ext>
            </a:extLst>
          </p:cNvPr>
          <p:cNvSpPr/>
          <p:nvPr/>
        </p:nvSpPr>
        <p:spPr>
          <a:xfrm>
            <a:off x="10300767" y="2666258"/>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5" name="Rectangle 23">
            <a:extLst>
              <a:ext uri="{FF2B5EF4-FFF2-40B4-BE49-F238E27FC236}">
                <a16:creationId xmlns:a16="http://schemas.microsoft.com/office/drawing/2014/main" id="{B8B372CD-3821-B04D-C108-100B9898036D}"/>
              </a:ext>
            </a:extLst>
          </p:cNvPr>
          <p:cNvSpPr/>
          <p:nvPr/>
        </p:nvSpPr>
        <p:spPr>
          <a:xfrm>
            <a:off x="10214364" y="2089511"/>
            <a:ext cx="671847"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Dec 2028</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9" name="Star: 4 Points 143">
            <a:extLst>
              <a:ext uri="{FF2B5EF4-FFF2-40B4-BE49-F238E27FC236}">
                <a16:creationId xmlns:a16="http://schemas.microsoft.com/office/drawing/2014/main" id="{3B4F66C2-AC8D-2DA7-8486-812097BB159C}"/>
              </a:ext>
            </a:extLst>
          </p:cNvPr>
          <p:cNvSpPr/>
          <p:nvPr/>
        </p:nvSpPr>
        <p:spPr bwMode="auto">
          <a:xfrm>
            <a:off x="10502931" y="246068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0" name="Rectangle 11">
            <a:extLst>
              <a:ext uri="{FF2B5EF4-FFF2-40B4-BE49-F238E27FC236}">
                <a16:creationId xmlns:a16="http://schemas.microsoft.com/office/drawing/2014/main" id="{D4F6AFEC-25B3-55A2-1BE9-0CAFCE94E909}"/>
              </a:ext>
            </a:extLst>
          </p:cNvPr>
          <p:cNvSpPr/>
          <p:nvPr/>
        </p:nvSpPr>
        <p:spPr>
          <a:xfrm>
            <a:off x="4451474" y="2639048"/>
            <a:ext cx="548804"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1" name="Star: 4 Points 143">
            <a:extLst>
              <a:ext uri="{FF2B5EF4-FFF2-40B4-BE49-F238E27FC236}">
                <a16:creationId xmlns:a16="http://schemas.microsoft.com/office/drawing/2014/main" id="{59F28948-DD07-8ACA-7BC7-31A4A7CF14B9}"/>
              </a:ext>
            </a:extLst>
          </p:cNvPr>
          <p:cNvSpPr/>
          <p:nvPr/>
        </p:nvSpPr>
        <p:spPr bwMode="auto">
          <a:xfrm>
            <a:off x="4613679" y="24784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25" name="TextBox 85">
            <a:extLst>
              <a:ext uri="{FF2B5EF4-FFF2-40B4-BE49-F238E27FC236}">
                <a16:creationId xmlns:a16="http://schemas.microsoft.com/office/drawing/2014/main" id="{8CC05067-B993-9C03-0071-8D3FA85450EF}"/>
              </a:ext>
            </a:extLst>
          </p:cNvPr>
          <p:cNvSpPr txBox="1"/>
          <p:nvPr/>
        </p:nvSpPr>
        <p:spPr bwMode="gray">
          <a:xfrm>
            <a:off x="330279" y="4832903"/>
            <a:ext cx="11617684" cy="753989"/>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6616" lvl="0" indent="-173736">
              <a:lnSpc>
                <a:spcPct val="140000"/>
              </a:lnSpc>
              <a:buFont typeface="Arial" panose="020B0604020202020204" pitchFamily="34" charset="0"/>
              <a:buChar char="•"/>
              <a:defRPr/>
            </a:pPr>
            <a:r>
              <a:rPr lang="en-US" sz="1200">
                <a:solidFill>
                  <a:srgbClr val="000000"/>
                </a:solidFill>
                <a:effectLst/>
                <a:latin typeface="Boehringer Forward Text" panose="020B0504030403020204" pitchFamily="2" charset="0"/>
              </a:rPr>
              <a:t>Global has agreed Prof. Luo </a:t>
            </a:r>
            <a:r>
              <a:rPr lang="en-US" sz="1200" err="1">
                <a:solidFill>
                  <a:srgbClr val="000000"/>
                </a:solidFill>
                <a:effectLst/>
                <a:latin typeface="Boehringer Forward Text" panose="020B0504030403020204" pitchFamily="2" charset="0"/>
              </a:rPr>
              <a:t>Fengming's</a:t>
            </a:r>
            <a:r>
              <a:rPr lang="en-US" sz="1200">
                <a:solidFill>
                  <a:srgbClr val="000000"/>
                </a:solidFill>
                <a:effectLst/>
                <a:latin typeface="Boehringer Forward Text" panose="020B0504030403020204" pitchFamily="2" charset="0"/>
              </a:rPr>
              <a:t> to join the Global Steering Committee. The contract has been signed in Nov, and Prof. Luo has been invited to participate in the Global SC meeting scheduled for Jan 2026.</a:t>
            </a:r>
          </a:p>
          <a:p>
            <a:pPr marL="356616" lvl="0" indent="-173736">
              <a:lnSpc>
                <a:spcPct val="140000"/>
              </a:lnSpc>
              <a:buFont typeface="Arial" panose="020B0604020202020204" pitchFamily="34" charset="0"/>
              <a:buChar char="•"/>
              <a:defRPr/>
            </a:pPr>
            <a:r>
              <a:rPr lang="en-US" altLang="zh-CN" sz="1200"/>
              <a:t>Global early asset labeling team will initiate the evaluation of the possibility of label update based on FIBRONEER-ACT final TDO (end of Feb 2026).</a:t>
            </a:r>
            <a:endParaRPr lang="en-US" sz="1200">
              <a:solidFill>
                <a:srgbClr val="000000"/>
              </a:solidFill>
              <a:latin typeface="Boehringer Forward Text" panose="020B0504030403020204" pitchFamily="2" charset="0"/>
            </a:endParaRPr>
          </a:p>
        </p:txBody>
      </p:sp>
      <p:sp>
        <p:nvSpPr>
          <p:cNvPr id="226" name="Rectangle 13">
            <a:extLst>
              <a:ext uri="{FF2B5EF4-FFF2-40B4-BE49-F238E27FC236}">
                <a16:creationId xmlns:a16="http://schemas.microsoft.com/office/drawing/2014/main" id="{928FC58F-106E-0BD8-E710-4A600AB4E120}"/>
              </a:ext>
            </a:extLst>
          </p:cNvPr>
          <p:cNvSpPr/>
          <p:nvPr/>
        </p:nvSpPr>
        <p:spPr>
          <a:xfrm>
            <a:off x="3569668" y="3509443"/>
            <a:ext cx="671847"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TBU</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27" name="Rectangle 23">
            <a:extLst>
              <a:ext uri="{FF2B5EF4-FFF2-40B4-BE49-F238E27FC236}">
                <a16:creationId xmlns:a16="http://schemas.microsoft.com/office/drawing/2014/main" id="{EB815FD3-90D0-C042-15DD-0F1E71444779}"/>
              </a:ext>
            </a:extLst>
          </p:cNvPr>
          <p:cNvSpPr/>
          <p:nvPr/>
        </p:nvSpPr>
        <p:spPr>
          <a:xfrm>
            <a:off x="10195960" y="3561694"/>
            <a:ext cx="671847"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Dec 2028</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Tree>
    <p:extLst>
      <p:ext uri="{BB962C8B-B14F-4D97-AF65-F5344CB8AC3E}">
        <p14:creationId xmlns:p14="http://schemas.microsoft.com/office/powerpoint/2010/main" val="2771358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39B6B-6DEE-71CC-794F-112757CB7AD3}"/>
            </a:ext>
          </a:extLst>
        </p:cNvPr>
        <p:cNvGrpSpPr/>
        <p:nvPr/>
      </p:nvGrpSpPr>
      <p:grpSpPr>
        <a:xfrm>
          <a:off x="0" y="0"/>
          <a:ext cx="0" cy="0"/>
          <a:chOff x="0" y="0"/>
          <a:chExt cx="0" cy="0"/>
        </a:xfrm>
      </p:grpSpPr>
      <p:sp>
        <p:nvSpPr>
          <p:cNvPr id="7" name="矩形 20">
            <a:extLst>
              <a:ext uri="{FF2B5EF4-FFF2-40B4-BE49-F238E27FC236}">
                <a16:creationId xmlns:a16="http://schemas.microsoft.com/office/drawing/2014/main" id="{E7E9E7A0-25F2-9029-3E1A-05E49F11DD8C}"/>
              </a:ext>
            </a:extLst>
          </p:cNvPr>
          <p:cNvSpPr/>
          <p:nvPr/>
        </p:nvSpPr>
        <p:spPr>
          <a:xfrm>
            <a:off x="6809501" y="2455127"/>
            <a:ext cx="3483999" cy="253179"/>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0" cap="none" spc="-7" normalizeH="0" baseline="0" noProof="0">
              <a:ln>
                <a:noFill/>
              </a:ln>
              <a:solidFill>
                <a:srgbClr val="000000"/>
              </a:solidFill>
              <a:effectLst/>
              <a:uLnTx/>
              <a:uFillTx/>
              <a:latin typeface="Boehringer Forward Text"/>
              <a:ea typeface="+mn-ea"/>
              <a:cs typeface="+mn-cs"/>
            </a:endParaRPr>
          </a:p>
        </p:txBody>
      </p:sp>
      <p:sp>
        <p:nvSpPr>
          <p:cNvPr id="13" name="OTLSHAPE_T_e17f3958430f4cff8650518c93c7635e_Shape">
            <a:extLst>
              <a:ext uri="{FF2B5EF4-FFF2-40B4-BE49-F238E27FC236}">
                <a16:creationId xmlns:a16="http://schemas.microsoft.com/office/drawing/2014/main" id="{D4679D7A-E388-E6C9-5D24-F5574226D613}"/>
              </a:ext>
            </a:extLst>
          </p:cNvPr>
          <p:cNvSpPr/>
          <p:nvPr>
            <p:custDataLst>
              <p:tags r:id="rId1"/>
            </p:custDataLst>
          </p:nvPr>
        </p:nvSpPr>
        <p:spPr bwMode="auto">
          <a:xfrm>
            <a:off x="2706102" y="2421903"/>
            <a:ext cx="4103399" cy="332967"/>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6" name="Title 3">
            <a:extLst>
              <a:ext uri="{FF2B5EF4-FFF2-40B4-BE49-F238E27FC236}">
                <a16:creationId xmlns:a16="http://schemas.microsoft.com/office/drawing/2014/main" id="{EBEB55D8-790F-BFF0-BF36-F373D202A484}"/>
              </a:ext>
            </a:extLst>
          </p:cNvPr>
          <p:cNvSpPr txBox="1">
            <a:spLocks/>
          </p:cNvSpPr>
          <p:nvPr/>
        </p:nvSpPr>
        <p:spPr bwMode="gray">
          <a:xfrm>
            <a:off x="322409" y="227619"/>
            <a:ext cx="11233151" cy="720000"/>
          </a:xfrm>
          <a:prstGeom prst="rect">
            <a:avLst/>
          </a:prstGeom>
        </p:spPr>
        <p:txBody>
          <a:bodyPr vert="horz" lIns="0" tIns="0" rIns="0" bIns="0" rtlCol="0" anchor="t">
            <a:normAutofit fontScale="97500"/>
          </a:bodyPr>
          <a:lstStyle>
            <a:lvl1pPr algn="l" defTabSz="914377" rtl="0" eaLnBrk="1" latinLnBrk="0" hangingPunct="1">
              <a:lnSpc>
                <a:spcPct val="100000"/>
              </a:lnSpc>
              <a:spcBef>
                <a:spcPct val="0"/>
              </a:spcBef>
              <a:buNone/>
              <a:defRPr kumimoji="1"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1" lang="en-US" altLang="zh-CN" sz="2400" b="0" i="1" u="sng"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Endorsed: </a:t>
            </a:r>
            <a:r>
              <a:rPr kumimoji="1" lang="en-US" altLang="zh-CN" sz="2400" b="0" i="1"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Nerandomilast (PDE4b inhibitor): </a:t>
            </a:r>
            <a:r>
              <a:rPr kumimoji="1" lang="en-US" altLang="zh-CN"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Pediatric Fibrosing Interstitial Lung Diseases (</a:t>
            </a:r>
            <a:r>
              <a:rPr kumimoji="1" lang="en-US" altLang="zh-CN" sz="2400" b="0" i="0" u="none" strike="noStrike" kern="1200" cap="none" spc="0" normalizeH="0" baseline="0" noProof="0" err="1">
                <a:ln>
                  <a:noFill/>
                </a:ln>
                <a:solidFill>
                  <a:srgbClr val="08312A"/>
                </a:solidFill>
                <a:effectLst/>
                <a:uLnTx/>
                <a:uFillTx/>
                <a:latin typeface="Boehringer Forward Head"/>
                <a:ea typeface="+mj-ea"/>
                <a:cs typeface="Calibri" panose="020F0502020204030204" pitchFamily="34" charset="0"/>
              </a:rPr>
              <a:t>chILD</a:t>
            </a:r>
            <a:r>
              <a:rPr kumimoji="1" lang="en-US" altLang="zh-CN"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 Development Plan</a:t>
            </a:r>
            <a:endParaRPr kumimoji="1" lang="zh-CN" altLang="en-US"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endParaRPr>
          </a:p>
        </p:txBody>
      </p:sp>
      <p:graphicFrame>
        <p:nvGraphicFramePr>
          <p:cNvPr id="9" name="Table 8">
            <a:extLst>
              <a:ext uri="{FF2B5EF4-FFF2-40B4-BE49-F238E27FC236}">
                <a16:creationId xmlns:a16="http://schemas.microsoft.com/office/drawing/2014/main" id="{F2C40640-BBFD-C83D-56C1-C7DC425B0C35}"/>
              </a:ext>
            </a:extLst>
          </p:cNvPr>
          <p:cNvGraphicFramePr>
            <a:graphicFrameLocks noGrp="1"/>
          </p:cNvGraphicFramePr>
          <p:nvPr/>
        </p:nvGraphicFramePr>
        <p:xfrm>
          <a:off x="445976" y="1066820"/>
          <a:ext cx="11495120" cy="702925"/>
        </p:xfrm>
        <a:graphic>
          <a:graphicData uri="http://schemas.openxmlformats.org/drawingml/2006/table">
            <a:tbl>
              <a:tblPr firstRow="1" bandRow="1"/>
              <a:tblGrid>
                <a:gridCol w="442120">
                  <a:extLst>
                    <a:ext uri="{9D8B030D-6E8A-4147-A177-3AD203B41FA5}">
                      <a16:colId xmlns:a16="http://schemas.microsoft.com/office/drawing/2014/main" val="1840388365"/>
                    </a:ext>
                  </a:extLst>
                </a:gridCol>
                <a:gridCol w="442120">
                  <a:extLst>
                    <a:ext uri="{9D8B030D-6E8A-4147-A177-3AD203B41FA5}">
                      <a16:colId xmlns:a16="http://schemas.microsoft.com/office/drawing/2014/main" val="3966469970"/>
                    </a:ext>
                  </a:extLst>
                </a:gridCol>
                <a:gridCol w="442120">
                  <a:extLst>
                    <a:ext uri="{9D8B030D-6E8A-4147-A177-3AD203B41FA5}">
                      <a16:colId xmlns:a16="http://schemas.microsoft.com/office/drawing/2014/main" val="137654521"/>
                    </a:ext>
                  </a:extLst>
                </a:gridCol>
                <a:gridCol w="442120">
                  <a:extLst>
                    <a:ext uri="{9D8B030D-6E8A-4147-A177-3AD203B41FA5}">
                      <a16:colId xmlns:a16="http://schemas.microsoft.com/office/drawing/2014/main" val="3672033112"/>
                    </a:ext>
                  </a:extLst>
                </a:gridCol>
                <a:gridCol w="442120">
                  <a:extLst>
                    <a:ext uri="{9D8B030D-6E8A-4147-A177-3AD203B41FA5}">
                      <a16:colId xmlns:a16="http://schemas.microsoft.com/office/drawing/2014/main" val="3852236956"/>
                    </a:ext>
                  </a:extLst>
                </a:gridCol>
                <a:gridCol w="442120">
                  <a:extLst>
                    <a:ext uri="{9D8B030D-6E8A-4147-A177-3AD203B41FA5}">
                      <a16:colId xmlns:a16="http://schemas.microsoft.com/office/drawing/2014/main" val="1535643368"/>
                    </a:ext>
                  </a:extLst>
                </a:gridCol>
                <a:gridCol w="442120">
                  <a:extLst>
                    <a:ext uri="{9D8B030D-6E8A-4147-A177-3AD203B41FA5}">
                      <a16:colId xmlns:a16="http://schemas.microsoft.com/office/drawing/2014/main" val="626578476"/>
                    </a:ext>
                  </a:extLst>
                </a:gridCol>
                <a:gridCol w="442120">
                  <a:extLst>
                    <a:ext uri="{9D8B030D-6E8A-4147-A177-3AD203B41FA5}">
                      <a16:colId xmlns:a16="http://schemas.microsoft.com/office/drawing/2014/main" val="493228184"/>
                    </a:ext>
                  </a:extLst>
                </a:gridCol>
                <a:gridCol w="442120">
                  <a:extLst>
                    <a:ext uri="{9D8B030D-6E8A-4147-A177-3AD203B41FA5}">
                      <a16:colId xmlns:a16="http://schemas.microsoft.com/office/drawing/2014/main" val="2981130253"/>
                    </a:ext>
                  </a:extLst>
                </a:gridCol>
                <a:gridCol w="442120">
                  <a:extLst>
                    <a:ext uri="{9D8B030D-6E8A-4147-A177-3AD203B41FA5}">
                      <a16:colId xmlns:a16="http://schemas.microsoft.com/office/drawing/2014/main" val="2993963400"/>
                    </a:ext>
                  </a:extLst>
                </a:gridCol>
                <a:gridCol w="442120">
                  <a:extLst>
                    <a:ext uri="{9D8B030D-6E8A-4147-A177-3AD203B41FA5}">
                      <a16:colId xmlns:a16="http://schemas.microsoft.com/office/drawing/2014/main" val="1463185388"/>
                    </a:ext>
                  </a:extLst>
                </a:gridCol>
                <a:gridCol w="442120">
                  <a:extLst>
                    <a:ext uri="{9D8B030D-6E8A-4147-A177-3AD203B41FA5}">
                      <a16:colId xmlns:a16="http://schemas.microsoft.com/office/drawing/2014/main" val="1698635942"/>
                    </a:ext>
                  </a:extLst>
                </a:gridCol>
                <a:gridCol w="442120">
                  <a:extLst>
                    <a:ext uri="{9D8B030D-6E8A-4147-A177-3AD203B41FA5}">
                      <a16:colId xmlns:a16="http://schemas.microsoft.com/office/drawing/2014/main" val="2909608629"/>
                    </a:ext>
                  </a:extLst>
                </a:gridCol>
                <a:gridCol w="442120">
                  <a:extLst>
                    <a:ext uri="{9D8B030D-6E8A-4147-A177-3AD203B41FA5}">
                      <a16:colId xmlns:a16="http://schemas.microsoft.com/office/drawing/2014/main" val="1689714411"/>
                    </a:ext>
                  </a:extLst>
                </a:gridCol>
                <a:gridCol w="442120">
                  <a:extLst>
                    <a:ext uri="{9D8B030D-6E8A-4147-A177-3AD203B41FA5}">
                      <a16:colId xmlns:a16="http://schemas.microsoft.com/office/drawing/2014/main" val="1204803658"/>
                    </a:ext>
                  </a:extLst>
                </a:gridCol>
                <a:gridCol w="442120">
                  <a:extLst>
                    <a:ext uri="{9D8B030D-6E8A-4147-A177-3AD203B41FA5}">
                      <a16:colId xmlns:a16="http://schemas.microsoft.com/office/drawing/2014/main" val="139152288"/>
                    </a:ext>
                  </a:extLst>
                </a:gridCol>
                <a:gridCol w="442120">
                  <a:extLst>
                    <a:ext uri="{9D8B030D-6E8A-4147-A177-3AD203B41FA5}">
                      <a16:colId xmlns:a16="http://schemas.microsoft.com/office/drawing/2014/main" val="3437160631"/>
                    </a:ext>
                  </a:extLst>
                </a:gridCol>
                <a:gridCol w="442120">
                  <a:extLst>
                    <a:ext uri="{9D8B030D-6E8A-4147-A177-3AD203B41FA5}">
                      <a16:colId xmlns:a16="http://schemas.microsoft.com/office/drawing/2014/main" val="1146681596"/>
                    </a:ext>
                  </a:extLst>
                </a:gridCol>
                <a:gridCol w="442120">
                  <a:extLst>
                    <a:ext uri="{9D8B030D-6E8A-4147-A177-3AD203B41FA5}">
                      <a16:colId xmlns:a16="http://schemas.microsoft.com/office/drawing/2014/main" val="1450459043"/>
                    </a:ext>
                  </a:extLst>
                </a:gridCol>
                <a:gridCol w="442120">
                  <a:extLst>
                    <a:ext uri="{9D8B030D-6E8A-4147-A177-3AD203B41FA5}">
                      <a16:colId xmlns:a16="http://schemas.microsoft.com/office/drawing/2014/main" val="1817915287"/>
                    </a:ext>
                  </a:extLst>
                </a:gridCol>
                <a:gridCol w="442120">
                  <a:extLst>
                    <a:ext uri="{9D8B030D-6E8A-4147-A177-3AD203B41FA5}">
                      <a16:colId xmlns:a16="http://schemas.microsoft.com/office/drawing/2014/main" val="1020917369"/>
                    </a:ext>
                  </a:extLst>
                </a:gridCol>
                <a:gridCol w="442120">
                  <a:extLst>
                    <a:ext uri="{9D8B030D-6E8A-4147-A177-3AD203B41FA5}">
                      <a16:colId xmlns:a16="http://schemas.microsoft.com/office/drawing/2014/main" val="4111695533"/>
                    </a:ext>
                  </a:extLst>
                </a:gridCol>
                <a:gridCol w="442120">
                  <a:extLst>
                    <a:ext uri="{9D8B030D-6E8A-4147-A177-3AD203B41FA5}">
                      <a16:colId xmlns:a16="http://schemas.microsoft.com/office/drawing/2014/main" val="3352891001"/>
                    </a:ext>
                  </a:extLst>
                </a:gridCol>
                <a:gridCol w="442120">
                  <a:extLst>
                    <a:ext uri="{9D8B030D-6E8A-4147-A177-3AD203B41FA5}">
                      <a16:colId xmlns:a16="http://schemas.microsoft.com/office/drawing/2014/main" val="1438834867"/>
                    </a:ext>
                  </a:extLst>
                </a:gridCol>
                <a:gridCol w="442120">
                  <a:extLst>
                    <a:ext uri="{9D8B030D-6E8A-4147-A177-3AD203B41FA5}">
                      <a16:colId xmlns:a16="http://schemas.microsoft.com/office/drawing/2014/main" val="4246973075"/>
                    </a:ext>
                  </a:extLst>
                </a:gridCol>
                <a:gridCol w="442120">
                  <a:extLst>
                    <a:ext uri="{9D8B030D-6E8A-4147-A177-3AD203B41FA5}">
                      <a16:colId xmlns:a16="http://schemas.microsoft.com/office/drawing/2014/main" val="1386407709"/>
                    </a:ext>
                  </a:extLst>
                </a:gridCol>
              </a:tblGrid>
              <a:tr h="276205">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endParaRPr lang="zh-CN" altLang="en-US"/>
                    </a:p>
                  </a:txBody>
                  <a:tcPr/>
                </a:tc>
                <a:tc hMerge="1">
                  <a:txBody>
                    <a:bodyPr/>
                    <a:lstStyle/>
                    <a:p>
                      <a:endParaRPr lang="zh-CN" altLang="en-US"/>
                    </a:p>
                  </a:txBody>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endParaRPr lang="zh-CN" altLang="en-US"/>
                    </a:p>
                  </a:txBody>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endParaRPr lang="zh-CN" altLang="en-US"/>
                    </a:p>
                  </a:txBody>
                  <a:tcPr/>
                </a:tc>
                <a:tc hMerge="1">
                  <a:txBody>
                    <a:bodyPr/>
                    <a:lstStyle/>
                    <a:p>
                      <a:endParaRPr lang="zh-CN" altLang="en-US"/>
                    </a:p>
                  </a:txBody>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endParaRPr lang="zh-CN" altLang="en-US"/>
                    </a:p>
                  </a:txBody>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extLst>
                  <a:ext uri="{0D108BD9-81ED-4DB2-BD59-A6C34878D82A}">
                    <a16:rowId xmlns:a16="http://schemas.microsoft.com/office/drawing/2014/main" val="3603824039"/>
                  </a:ext>
                </a:extLst>
              </a:tr>
              <a:tr h="426720">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sp>
        <p:nvSpPr>
          <p:cNvPr id="10" name="Isosceles Triangle 9">
            <a:extLst>
              <a:ext uri="{FF2B5EF4-FFF2-40B4-BE49-F238E27FC236}">
                <a16:creationId xmlns:a16="http://schemas.microsoft.com/office/drawing/2014/main" id="{B2BD0626-E70D-606E-342A-CA62602EB91E}"/>
              </a:ext>
            </a:extLst>
          </p:cNvPr>
          <p:cNvSpPr/>
          <p:nvPr/>
        </p:nvSpPr>
        <p:spPr>
          <a:xfrm rot="16200000" flipH="1">
            <a:off x="8106" y="1308138"/>
            <a:ext cx="648393" cy="227349"/>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0" cap="none" spc="0" normalizeH="0" baseline="0" noProof="0" err="1">
              <a:ln>
                <a:noFill/>
              </a:ln>
              <a:solidFill>
                <a:srgbClr val="000000"/>
              </a:solidFill>
              <a:effectLst/>
              <a:uLnTx/>
              <a:uFillTx/>
              <a:latin typeface="BISansOpti"/>
              <a:ea typeface="+mn-ea"/>
              <a:cs typeface="+mn-cs"/>
            </a:endParaRPr>
          </a:p>
        </p:txBody>
      </p:sp>
      <p:sp>
        <p:nvSpPr>
          <p:cNvPr id="11" name="Isosceles Triangle 10">
            <a:extLst>
              <a:ext uri="{FF2B5EF4-FFF2-40B4-BE49-F238E27FC236}">
                <a16:creationId xmlns:a16="http://schemas.microsoft.com/office/drawing/2014/main" id="{B540CE07-2150-9532-100F-08D83C790BC8}"/>
              </a:ext>
            </a:extLst>
          </p:cNvPr>
          <p:cNvSpPr/>
          <p:nvPr/>
        </p:nvSpPr>
        <p:spPr>
          <a:xfrm rot="5400000">
            <a:off x="11730580" y="1296047"/>
            <a:ext cx="648393" cy="227349"/>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0" cap="none" spc="0" normalizeH="0" baseline="0" noProof="0" err="1">
              <a:ln>
                <a:noFill/>
              </a:ln>
              <a:solidFill>
                <a:srgbClr val="000000"/>
              </a:solidFill>
              <a:effectLst/>
              <a:uLnTx/>
              <a:uFillTx/>
              <a:latin typeface="BISansOpti"/>
              <a:ea typeface="+mn-ea"/>
              <a:cs typeface="+mn-cs"/>
            </a:endParaRPr>
          </a:p>
        </p:txBody>
      </p:sp>
      <p:sp>
        <p:nvSpPr>
          <p:cNvPr id="12" name="TextBox 11">
            <a:extLst>
              <a:ext uri="{FF2B5EF4-FFF2-40B4-BE49-F238E27FC236}">
                <a16:creationId xmlns:a16="http://schemas.microsoft.com/office/drawing/2014/main" id="{C18E90F6-F00F-3D8C-3AF7-D6D39328E7FE}"/>
              </a:ext>
            </a:extLst>
          </p:cNvPr>
          <p:cNvSpPr txBox="1"/>
          <p:nvPr/>
        </p:nvSpPr>
        <p:spPr>
          <a:xfrm>
            <a:off x="3817" y="2312678"/>
            <a:ext cx="835836" cy="729550"/>
          </a:xfrm>
          <a:prstGeom prst="rect">
            <a:avLst/>
          </a:prstGeom>
          <a:noFill/>
          <a:ln>
            <a:solidFill>
              <a:srgbClr val="08312A"/>
            </a:solidFill>
          </a:ln>
        </p:spPr>
        <p:txBody>
          <a:bodyPr wrap="square" lIns="72000" tIns="36000" rIns="72000" bIns="3600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0" cap="none" spc="0" normalizeH="0" baseline="0" noProof="0">
                <a:ln>
                  <a:noFill/>
                </a:ln>
                <a:solidFill>
                  <a:srgbClr val="0066CC"/>
                </a:solidFill>
                <a:effectLst/>
                <a:uLnTx/>
                <a:uFillTx/>
                <a:latin typeface="Boehringer Forward Text"/>
                <a:ea typeface="+mn-ea"/>
                <a:cs typeface="Calibri" panose="020F0502020204030204" pitchFamily="34" charset="0"/>
              </a:rPr>
              <a:t>Ph3-1305.22 (include OLE)</a:t>
            </a:r>
          </a:p>
        </p:txBody>
      </p:sp>
      <p:sp>
        <p:nvSpPr>
          <p:cNvPr id="14" name="OTLSHAPE_T_e17f3958430f4cff8650518c93c7635e_StartDate">
            <a:extLst>
              <a:ext uri="{FF2B5EF4-FFF2-40B4-BE49-F238E27FC236}">
                <a16:creationId xmlns:a16="http://schemas.microsoft.com/office/drawing/2014/main" id="{062F394E-F65D-69BC-2C5F-85CB61154537}"/>
              </a:ext>
            </a:extLst>
          </p:cNvPr>
          <p:cNvSpPr txBox="1"/>
          <p:nvPr>
            <p:custDataLst>
              <p:tags r:id="rId2"/>
            </p:custDataLst>
          </p:nvPr>
        </p:nvSpPr>
        <p:spPr>
          <a:xfrm>
            <a:off x="3775918" y="2519136"/>
            <a:ext cx="2532872" cy="138499"/>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N = 30</a:t>
            </a:r>
          </a:p>
        </p:txBody>
      </p:sp>
      <p:pic>
        <p:nvPicPr>
          <p:cNvPr id="15" name="Picture 14">
            <a:extLst>
              <a:ext uri="{FF2B5EF4-FFF2-40B4-BE49-F238E27FC236}">
                <a16:creationId xmlns:a16="http://schemas.microsoft.com/office/drawing/2014/main" id="{80C9B45F-9596-751C-63FC-052FFAEEC28A}"/>
              </a:ext>
            </a:extLst>
          </p:cNvPr>
          <p:cNvPicPr>
            <a:picLocks noChangeAspect="1"/>
          </p:cNvPicPr>
          <p:nvPr/>
        </p:nvPicPr>
        <p:blipFill>
          <a:blip r:embed="rId19"/>
          <a:stretch>
            <a:fillRect/>
          </a:stretch>
        </p:blipFill>
        <p:spPr>
          <a:xfrm>
            <a:off x="177945" y="1799391"/>
            <a:ext cx="1080000" cy="528511"/>
          </a:xfrm>
          <a:prstGeom prst="rect">
            <a:avLst/>
          </a:prstGeom>
        </p:spPr>
      </p:pic>
      <p:sp>
        <p:nvSpPr>
          <p:cNvPr id="17" name="Rectangle 16">
            <a:extLst>
              <a:ext uri="{FF2B5EF4-FFF2-40B4-BE49-F238E27FC236}">
                <a16:creationId xmlns:a16="http://schemas.microsoft.com/office/drawing/2014/main" id="{05BB8AC0-7D28-971C-F561-CA5D80CD2942}"/>
              </a:ext>
            </a:extLst>
          </p:cNvPr>
          <p:cNvSpPr/>
          <p:nvPr/>
        </p:nvSpPr>
        <p:spPr>
          <a:xfrm>
            <a:off x="7640237" y="2748093"/>
            <a:ext cx="844312" cy="200055"/>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Main DBL</a:t>
            </a:r>
            <a:endParaRPr kumimoji="0" lang="zh-CN" altLang="en-US"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8" name="Star: 4 Points 143">
            <a:extLst>
              <a:ext uri="{FF2B5EF4-FFF2-40B4-BE49-F238E27FC236}">
                <a16:creationId xmlns:a16="http://schemas.microsoft.com/office/drawing/2014/main" id="{386D5BAE-015B-3759-AC64-400994B72634}"/>
              </a:ext>
            </a:extLst>
          </p:cNvPr>
          <p:cNvSpPr/>
          <p:nvPr/>
        </p:nvSpPr>
        <p:spPr bwMode="auto">
          <a:xfrm>
            <a:off x="7916111" y="258708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9" name="Rectangle 18">
            <a:extLst>
              <a:ext uri="{FF2B5EF4-FFF2-40B4-BE49-F238E27FC236}">
                <a16:creationId xmlns:a16="http://schemas.microsoft.com/office/drawing/2014/main" id="{631E3491-292F-CA6B-31EB-849D9FA3F9E7}"/>
              </a:ext>
            </a:extLst>
          </p:cNvPr>
          <p:cNvSpPr/>
          <p:nvPr/>
        </p:nvSpPr>
        <p:spPr>
          <a:xfrm>
            <a:off x="7649352" y="2121480"/>
            <a:ext cx="703191"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18Mar 2029</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4" name="Star: 4 Points 143">
            <a:extLst>
              <a:ext uri="{FF2B5EF4-FFF2-40B4-BE49-F238E27FC236}">
                <a16:creationId xmlns:a16="http://schemas.microsoft.com/office/drawing/2014/main" id="{C98C7B65-E18B-DF09-B408-CE4F4D1F85D8}"/>
              </a:ext>
            </a:extLst>
          </p:cNvPr>
          <p:cNvSpPr/>
          <p:nvPr/>
        </p:nvSpPr>
        <p:spPr bwMode="auto">
          <a:xfrm>
            <a:off x="2622954" y="259175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5" name="Rectangle 24">
            <a:extLst>
              <a:ext uri="{FF2B5EF4-FFF2-40B4-BE49-F238E27FC236}">
                <a16:creationId xmlns:a16="http://schemas.microsoft.com/office/drawing/2014/main" id="{B0BE2051-CF53-F1BE-49CD-151051E71A8A}"/>
              </a:ext>
            </a:extLst>
          </p:cNvPr>
          <p:cNvSpPr/>
          <p:nvPr/>
        </p:nvSpPr>
        <p:spPr>
          <a:xfrm>
            <a:off x="2473160" y="2190823"/>
            <a:ext cx="747109" cy="338554"/>
          </a:xfrm>
          <a:prstGeom prst="rect">
            <a:avLst/>
          </a:prstGeom>
        </p:spPr>
        <p:txBody>
          <a:bodyPr wrap="square" lIns="91440" tIns="45720" rIns="91440" bIns="45720" anchor="t">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a:rPr>
              <a:t>23 Mar 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a:endParaRPr>
          </a:p>
        </p:txBody>
      </p:sp>
      <p:cxnSp>
        <p:nvCxnSpPr>
          <p:cNvPr id="37" name="Straight Connector 36">
            <a:extLst>
              <a:ext uri="{FF2B5EF4-FFF2-40B4-BE49-F238E27FC236}">
                <a16:creationId xmlns:a16="http://schemas.microsoft.com/office/drawing/2014/main" id="{470CF0B5-0D2F-EE1B-5F98-6D57207734A8}"/>
              </a:ext>
            </a:extLst>
          </p:cNvPr>
          <p:cNvCxnSpPr>
            <a:cxnSpLocks/>
          </p:cNvCxnSpPr>
          <p:nvPr/>
        </p:nvCxnSpPr>
        <p:spPr bwMode="auto">
          <a:xfrm flipH="1">
            <a:off x="12000" y="3810546"/>
            <a:ext cx="12168000" cy="0"/>
          </a:xfrm>
          <a:prstGeom prst="line">
            <a:avLst/>
          </a:prstGeom>
          <a:solidFill>
            <a:srgbClr val="08312A"/>
          </a:solidFill>
          <a:ln w="15875" cap="flat" cmpd="sng" algn="ctr">
            <a:solidFill>
              <a:srgbClr val="A3E5EE"/>
            </a:solidFill>
            <a:prstDash val="sysDash"/>
            <a:round/>
            <a:headEnd type="none" w="med" len="med"/>
            <a:tailEnd type="none" w="med" len="med"/>
          </a:ln>
          <a:effectLst/>
        </p:spPr>
      </p:cxnSp>
      <p:pic>
        <p:nvPicPr>
          <p:cNvPr id="38" name="Picture 37">
            <a:extLst>
              <a:ext uri="{FF2B5EF4-FFF2-40B4-BE49-F238E27FC236}">
                <a16:creationId xmlns:a16="http://schemas.microsoft.com/office/drawing/2014/main" id="{D4AE72EF-B7BC-81B1-6BEE-EBE1A7BBA1B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02577" y="3769659"/>
            <a:ext cx="1080000" cy="532285"/>
          </a:xfrm>
          <a:prstGeom prst="rect">
            <a:avLst/>
          </a:prstGeom>
        </p:spPr>
      </p:pic>
      <p:sp>
        <p:nvSpPr>
          <p:cNvPr id="39" name="OTLSHAPE_T_e17f3958430f4cff8650518c93c7635e_Shape">
            <a:extLst>
              <a:ext uri="{FF2B5EF4-FFF2-40B4-BE49-F238E27FC236}">
                <a16:creationId xmlns:a16="http://schemas.microsoft.com/office/drawing/2014/main" id="{9248D72D-B232-1A76-703A-EFA6C636DE9E}"/>
              </a:ext>
            </a:extLst>
          </p:cNvPr>
          <p:cNvSpPr/>
          <p:nvPr>
            <p:custDataLst>
              <p:tags r:id="rId3"/>
            </p:custDataLst>
          </p:nvPr>
        </p:nvSpPr>
        <p:spPr bwMode="auto">
          <a:xfrm>
            <a:off x="3487799" y="4377716"/>
            <a:ext cx="3321702" cy="242418"/>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00" b="1" i="1"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3 sites, N=2 </a:t>
            </a:r>
          </a:p>
        </p:txBody>
      </p:sp>
      <p:sp>
        <p:nvSpPr>
          <p:cNvPr id="51" name="TextBox 50">
            <a:extLst>
              <a:ext uri="{FF2B5EF4-FFF2-40B4-BE49-F238E27FC236}">
                <a16:creationId xmlns:a16="http://schemas.microsoft.com/office/drawing/2014/main" id="{B3FF8C2B-C0AE-3A40-8A4F-6826E53B3BD7}"/>
              </a:ext>
            </a:extLst>
          </p:cNvPr>
          <p:cNvSpPr txBox="1"/>
          <p:nvPr/>
        </p:nvSpPr>
        <p:spPr>
          <a:xfrm>
            <a:off x="5680" y="4273672"/>
            <a:ext cx="833971" cy="729550"/>
          </a:xfrm>
          <a:prstGeom prst="rect">
            <a:avLst/>
          </a:prstGeom>
          <a:noFill/>
          <a:ln>
            <a:solidFill>
              <a:srgbClr val="08312A"/>
            </a:solidFill>
          </a:ln>
        </p:spPr>
        <p:txBody>
          <a:bodyPr wrap="square" lIns="72000" tIns="36000" rIns="72000" bIns="3600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0" cap="none" spc="0" normalizeH="0" baseline="0" noProof="0">
                <a:ln>
                  <a:noFill/>
                </a:ln>
                <a:solidFill>
                  <a:srgbClr val="0066CC"/>
                </a:solidFill>
                <a:effectLst/>
                <a:uLnTx/>
                <a:uFillTx/>
                <a:latin typeface="Boehringer Forward Text"/>
                <a:ea typeface="+mn-ea"/>
                <a:cs typeface="Calibri" panose="020F0502020204030204" pitchFamily="34" charset="0"/>
              </a:rPr>
              <a:t>Ph3-1305.22 (include OLE)</a:t>
            </a:r>
          </a:p>
        </p:txBody>
      </p:sp>
      <p:grpSp>
        <p:nvGrpSpPr>
          <p:cNvPr id="2" name="Group 1">
            <a:extLst>
              <a:ext uri="{FF2B5EF4-FFF2-40B4-BE49-F238E27FC236}">
                <a16:creationId xmlns:a16="http://schemas.microsoft.com/office/drawing/2014/main" id="{A774F0F6-690A-4939-7233-199575A22D93}"/>
              </a:ext>
            </a:extLst>
          </p:cNvPr>
          <p:cNvGrpSpPr/>
          <p:nvPr/>
        </p:nvGrpSpPr>
        <p:grpSpPr>
          <a:xfrm>
            <a:off x="1727665" y="1244070"/>
            <a:ext cx="546747" cy="5273003"/>
            <a:chOff x="1956799" y="1213944"/>
            <a:chExt cx="546747" cy="3954750"/>
          </a:xfrm>
        </p:grpSpPr>
        <p:cxnSp>
          <p:nvCxnSpPr>
            <p:cNvPr id="3" name="Straight Connector 2">
              <a:extLst>
                <a:ext uri="{FF2B5EF4-FFF2-40B4-BE49-F238E27FC236}">
                  <a16:creationId xmlns:a16="http://schemas.microsoft.com/office/drawing/2014/main" id="{A8BABB0C-3E0D-803D-7F42-A4B152CA39FF}"/>
                </a:ext>
              </a:extLst>
            </p:cNvPr>
            <p:cNvCxnSpPr>
              <a:cxnSpLocks/>
            </p:cNvCxnSpPr>
            <p:nvPr/>
          </p:nvCxnSpPr>
          <p:spPr bwMode="auto">
            <a:xfrm flipV="1">
              <a:off x="2278209" y="1393721"/>
              <a:ext cx="0" cy="3774973"/>
            </a:xfrm>
            <a:prstGeom prst="line">
              <a:avLst/>
            </a:prstGeom>
            <a:solidFill>
              <a:srgbClr val="08312A"/>
            </a:solidFill>
            <a:ln w="6350" cap="flat" cmpd="sng" algn="ctr">
              <a:solidFill>
                <a:srgbClr val="FF0000"/>
              </a:solidFill>
              <a:prstDash val="sysDot"/>
              <a:round/>
              <a:headEnd type="none" w="med" len="med"/>
              <a:tailEnd type="none" w="med" len="med"/>
            </a:ln>
            <a:effectLst/>
          </p:spPr>
        </p:cxnSp>
        <p:sp>
          <p:nvSpPr>
            <p:cNvPr id="4" name="OTLSHAPE_T_e17f3958430f4cff8650518c93c7635e_StartDate">
              <a:extLst>
                <a:ext uri="{FF2B5EF4-FFF2-40B4-BE49-F238E27FC236}">
                  <a16:creationId xmlns:a16="http://schemas.microsoft.com/office/drawing/2014/main" id="{D810DCFA-2CAD-083F-38F8-0EF86FAFDE7A}"/>
                </a:ext>
              </a:extLst>
            </p:cNvPr>
            <p:cNvSpPr txBox="1"/>
            <p:nvPr>
              <p:custDataLst>
                <p:tags r:id="rId16"/>
              </p:custDataLst>
            </p:nvPr>
          </p:nvSpPr>
          <p:spPr>
            <a:xfrm>
              <a:off x="1956799" y="1213944"/>
              <a:ext cx="546747" cy="246317"/>
            </a:xfrm>
            <a:prstGeom prst="rect">
              <a:avLst/>
            </a:prstGeom>
            <a:noFill/>
            <a:ln w="12700">
              <a:noFill/>
            </a:ln>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67" b="1" i="0" u="none" strike="noStrike" kern="0" cap="none" spc="0" normalizeH="0" baseline="0" noProof="0">
                  <a:ln>
                    <a:noFill/>
                  </a:ln>
                  <a:solidFill>
                    <a:srgbClr val="FF0000"/>
                  </a:solidFill>
                  <a:effectLst/>
                  <a:uLnTx/>
                  <a:uFillTx/>
                  <a:latin typeface="Boehringer Forward Text"/>
                  <a:ea typeface="+mn-ea"/>
                  <a:cs typeface="Calibri" panose="020F0502020204030204" pitchFamily="34" charset="0"/>
                </a:rPr>
                <a:t>We are here</a:t>
              </a:r>
              <a:endParaRPr kumimoji="0" lang="zh-CN" altLang="en-US" sz="1067" b="1" i="0" u="none" strike="noStrike" kern="0" cap="none" spc="0" normalizeH="0" baseline="0" noProof="0">
                <a:ln>
                  <a:noFill/>
                </a:ln>
                <a:solidFill>
                  <a:srgbClr val="FF0000"/>
                </a:solidFill>
                <a:effectLst/>
                <a:uLnTx/>
                <a:uFillTx/>
                <a:latin typeface="Boehringer Forward Text"/>
                <a:ea typeface="+mn-ea"/>
                <a:cs typeface="Calibri" panose="020F0502020204030204" pitchFamily="34" charset="0"/>
              </a:endParaRPr>
            </a:p>
          </p:txBody>
        </p:sp>
      </p:grpSp>
      <p:sp>
        <p:nvSpPr>
          <p:cNvPr id="8" name="5-Point Star 5">
            <a:extLst>
              <a:ext uri="{FF2B5EF4-FFF2-40B4-BE49-F238E27FC236}">
                <a16:creationId xmlns:a16="http://schemas.microsoft.com/office/drawing/2014/main" id="{B39321BF-BB66-0275-32D9-0929F27BAD15}"/>
              </a:ext>
            </a:extLst>
          </p:cNvPr>
          <p:cNvSpPr/>
          <p:nvPr/>
        </p:nvSpPr>
        <p:spPr>
          <a:xfrm>
            <a:off x="2196056" y="2494330"/>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7" name="OTLSHAPE_T_e17f3958430f4cff8650518c93c7635e_StartDate">
            <a:extLst>
              <a:ext uri="{FF2B5EF4-FFF2-40B4-BE49-F238E27FC236}">
                <a16:creationId xmlns:a16="http://schemas.microsoft.com/office/drawing/2014/main" id="{D57A70B9-47EA-7CA8-A193-097A7F4441B8}"/>
              </a:ext>
            </a:extLst>
          </p:cNvPr>
          <p:cNvSpPr txBox="1"/>
          <p:nvPr>
            <p:custDataLst>
              <p:tags r:id="rId4"/>
            </p:custDataLst>
          </p:nvPr>
        </p:nvSpPr>
        <p:spPr>
          <a:xfrm>
            <a:off x="1991326" y="2638875"/>
            <a:ext cx="507972" cy="33855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8" name="Rectangle 31">
            <a:extLst>
              <a:ext uri="{FF2B5EF4-FFF2-40B4-BE49-F238E27FC236}">
                <a16:creationId xmlns:a16="http://schemas.microsoft.com/office/drawing/2014/main" id="{BAB13B5E-45E0-7F52-FE98-48E39B260EC6}"/>
              </a:ext>
            </a:extLst>
          </p:cNvPr>
          <p:cNvSpPr/>
          <p:nvPr/>
        </p:nvSpPr>
        <p:spPr>
          <a:xfrm>
            <a:off x="1991326" y="2191681"/>
            <a:ext cx="444281"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Jan 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4" name="OTLSHAPE_T_e17f3958430f4cff8650518c93c7635e_StartDate">
            <a:extLst>
              <a:ext uri="{FF2B5EF4-FFF2-40B4-BE49-F238E27FC236}">
                <a16:creationId xmlns:a16="http://schemas.microsoft.com/office/drawing/2014/main" id="{071542AD-2F2B-DFB1-CCCA-5C4DCF14AF73}"/>
              </a:ext>
            </a:extLst>
          </p:cNvPr>
          <p:cNvSpPr txBox="1"/>
          <p:nvPr>
            <p:custDataLst>
              <p:tags r:id="rId5"/>
            </p:custDataLst>
          </p:nvPr>
        </p:nvSpPr>
        <p:spPr>
          <a:xfrm>
            <a:off x="2280658" y="2648218"/>
            <a:ext cx="507972" cy="33855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5" name="5-Point Star 5">
            <a:extLst>
              <a:ext uri="{FF2B5EF4-FFF2-40B4-BE49-F238E27FC236}">
                <a16:creationId xmlns:a16="http://schemas.microsoft.com/office/drawing/2014/main" id="{04BBD8CB-FA46-656D-4D10-DB2E088F66C9}"/>
              </a:ext>
            </a:extLst>
          </p:cNvPr>
          <p:cNvSpPr/>
          <p:nvPr/>
        </p:nvSpPr>
        <p:spPr>
          <a:xfrm>
            <a:off x="2456724" y="2507510"/>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46" name="Rectangle 31">
            <a:extLst>
              <a:ext uri="{FF2B5EF4-FFF2-40B4-BE49-F238E27FC236}">
                <a16:creationId xmlns:a16="http://schemas.microsoft.com/office/drawing/2014/main" id="{A5BE6867-F817-1BC9-866F-38394704C962}"/>
              </a:ext>
            </a:extLst>
          </p:cNvPr>
          <p:cNvSpPr/>
          <p:nvPr/>
        </p:nvSpPr>
        <p:spPr>
          <a:xfrm>
            <a:off x="2298948" y="2191270"/>
            <a:ext cx="467335"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Feb</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7" name="Rectangle 37">
            <a:extLst>
              <a:ext uri="{FF2B5EF4-FFF2-40B4-BE49-F238E27FC236}">
                <a16:creationId xmlns:a16="http://schemas.microsoft.com/office/drawing/2014/main" id="{94BD1378-9D3F-93E6-7A27-880424292ADC}"/>
              </a:ext>
            </a:extLst>
          </p:cNvPr>
          <p:cNvSpPr/>
          <p:nvPr/>
        </p:nvSpPr>
        <p:spPr>
          <a:xfrm>
            <a:off x="8478521" y="3501001"/>
            <a:ext cx="472206"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a:t>
            </a:r>
          </a:p>
        </p:txBody>
      </p:sp>
      <p:pic>
        <p:nvPicPr>
          <p:cNvPr id="48" name="Graphic 51" descr="Flag with solid fill">
            <a:extLst>
              <a:ext uri="{FF2B5EF4-FFF2-40B4-BE49-F238E27FC236}">
                <a16:creationId xmlns:a16="http://schemas.microsoft.com/office/drawing/2014/main" id="{E1076383-B129-883D-E58E-C893E148F41C}"/>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616928" y="3136200"/>
            <a:ext cx="285241" cy="285241"/>
          </a:xfrm>
          <a:prstGeom prst="rect">
            <a:avLst/>
          </a:prstGeom>
        </p:spPr>
      </p:pic>
      <p:sp>
        <p:nvSpPr>
          <p:cNvPr id="49" name="Rectangle 37">
            <a:extLst>
              <a:ext uri="{FF2B5EF4-FFF2-40B4-BE49-F238E27FC236}">
                <a16:creationId xmlns:a16="http://schemas.microsoft.com/office/drawing/2014/main" id="{54DBAB6C-D195-0BE4-7EBD-6C8C696A7645}"/>
              </a:ext>
            </a:extLst>
          </p:cNvPr>
          <p:cNvSpPr/>
          <p:nvPr/>
        </p:nvSpPr>
        <p:spPr>
          <a:xfrm>
            <a:off x="8386139" y="2989416"/>
            <a:ext cx="64585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9Jul 2029</a:t>
            </a:r>
          </a:p>
        </p:txBody>
      </p:sp>
      <p:sp>
        <p:nvSpPr>
          <p:cNvPr id="50" name="Rectangle 16">
            <a:extLst>
              <a:ext uri="{FF2B5EF4-FFF2-40B4-BE49-F238E27FC236}">
                <a16:creationId xmlns:a16="http://schemas.microsoft.com/office/drawing/2014/main" id="{C1A3C9A4-D4E4-3CBA-F8B4-9D34A758E6BC}"/>
              </a:ext>
            </a:extLst>
          </p:cNvPr>
          <p:cNvSpPr/>
          <p:nvPr/>
        </p:nvSpPr>
        <p:spPr>
          <a:xfrm>
            <a:off x="10051971" y="2757633"/>
            <a:ext cx="483053" cy="307777"/>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OLE</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54" name="Rectangle 18">
            <a:extLst>
              <a:ext uri="{FF2B5EF4-FFF2-40B4-BE49-F238E27FC236}">
                <a16:creationId xmlns:a16="http://schemas.microsoft.com/office/drawing/2014/main" id="{3B8FE7BB-6D9E-77DD-F56B-5CA03450DE60}"/>
              </a:ext>
            </a:extLst>
          </p:cNvPr>
          <p:cNvSpPr/>
          <p:nvPr/>
        </p:nvSpPr>
        <p:spPr>
          <a:xfrm>
            <a:off x="9941903" y="2153002"/>
            <a:ext cx="703191"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24 Mar 2031</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55" name="Star: 4 Points 143">
            <a:extLst>
              <a:ext uri="{FF2B5EF4-FFF2-40B4-BE49-F238E27FC236}">
                <a16:creationId xmlns:a16="http://schemas.microsoft.com/office/drawing/2014/main" id="{00B31324-2913-977A-D98A-7D03DFE2A162}"/>
              </a:ext>
            </a:extLst>
          </p:cNvPr>
          <p:cNvSpPr/>
          <p:nvPr/>
        </p:nvSpPr>
        <p:spPr bwMode="auto">
          <a:xfrm>
            <a:off x="10201378" y="258708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5" name="5-Point Star 5">
            <a:extLst>
              <a:ext uri="{FF2B5EF4-FFF2-40B4-BE49-F238E27FC236}">
                <a16:creationId xmlns:a16="http://schemas.microsoft.com/office/drawing/2014/main" id="{EF18EB29-34E0-BECA-4027-DEE90570B6A5}"/>
              </a:ext>
            </a:extLst>
          </p:cNvPr>
          <p:cNvSpPr/>
          <p:nvPr/>
        </p:nvSpPr>
        <p:spPr>
          <a:xfrm>
            <a:off x="1522315" y="4495271"/>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0" name="OTLSHAPE_T_e17f3958430f4cff8650518c93c7635e_StartDate">
            <a:extLst>
              <a:ext uri="{FF2B5EF4-FFF2-40B4-BE49-F238E27FC236}">
                <a16:creationId xmlns:a16="http://schemas.microsoft.com/office/drawing/2014/main" id="{6F739892-B30E-FCB5-1BC3-5F890F53C779}"/>
              </a:ext>
            </a:extLst>
          </p:cNvPr>
          <p:cNvSpPr txBox="1"/>
          <p:nvPr>
            <p:custDataLst>
              <p:tags r:id="rId6"/>
            </p:custDataLst>
          </p:nvPr>
        </p:nvSpPr>
        <p:spPr>
          <a:xfrm>
            <a:off x="1170680" y="4637085"/>
            <a:ext cx="682623" cy="33855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Pre-IND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1" name="OTLSHAPE_T_e17f3958430f4cff8650518c93c7635e_StartDate">
            <a:extLst>
              <a:ext uri="{FF2B5EF4-FFF2-40B4-BE49-F238E27FC236}">
                <a16:creationId xmlns:a16="http://schemas.microsoft.com/office/drawing/2014/main" id="{4B7948AA-9FDC-4F7B-0006-F0DC7BFEE975}"/>
              </a:ext>
            </a:extLst>
          </p:cNvPr>
          <p:cNvSpPr txBox="1"/>
          <p:nvPr>
            <p:custDataLst>
              <p:tags r:id="rId7"/>
            </p:custDataLst>
          </p:nvPr>
        </p:nvSpPr>
        <p:spPr>
          <a:xfrm>
            <a:off x="1086449" y="4362809"/>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12 Sep 2025</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2" name="5-Point Star 5">
            <a:extLst>
              <a:ext uri="{FF2B5EF4-FFF2-40B4-BE49-F238E27FC236}">
                <a16:creationId xmlns:a16="http://schemas.microsoft.com/office/drawing/2014/main" id="{F4CB01A1-8F26-F16D-B543-5BDF536F2ED4}"/>
              </a:ext>
            </a:extLst>
          </p:cNvPr>
          <p:cNvSpPr/>
          <p:nvPr/>
        </p:nvSpPr>
        <p:spPr>
          <a:xfrm>
            <a:off x="2350061" y="4519658"/>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6" name="OTLSHAPE_T_e17f3958430f4cff8650518c93c7635e_StartDate">
            <a:extLst>
              <a:ext uri="{FF2B5EF4-FFF2-40B4-BE49-F238E27FC236}">
                <a16:creationId xmlns:a16="http://schemas.microsoft.com/office/drawing/2014/main" id="{08A6F002-18EA-0C01-EB44-B0E3AD73D1B5}"/>
              </a:ext>
            </a:extLst>
          </p:cNvPr>
          <p:cNvSpPr txBox="1"/>
          <p:nvPr>
            <p:custDataLst>
              <p:tags r:id="rId8"/>
            </p:custDataLst>
          </p:nvPr>
        </p:nvSpPr>
        <p:spPr>
          <a:xfrm>
            <a:off x="1998426" y="4661472"/>
            <a:ext cx="682623"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9" name="OTLSHAPE_T_e17f3958430f4cff8650518c93c7635e_StartDate">
            <a:extLst>
              <a:ext uri="{FF2B5EF4-FFF2-40B4-BE49-F238E27FC236}">
                <a16:creationId xmlns:a16="http://schemas.microsoft.com/office/drawing/2014/main" id="{4417EAF1-67A2-9799-A8AD-0879A2504CF4}"/>
              </a:ext>
            </a:extLst>
          </p:cNvPr>
          <p:cNvSpPr txBox="1"/>
          <p:nvPr>
            <p:custDataLst>
              <p:tags r:id="rId9"/>
            </p:custDataLst>
          </p:nvPr>
        </p:nvSpPr>
        <p:spPr>
          <a:xfrm>
            <a:off x="2158562" y="4285041"/>
            <a:ext cx="435865" cy="24622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Feb</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 2026</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30" name="5-Point Star 5">
            <a:extLst>
              <a:ext uri="{FF2B5EF4-FFF2-40B4-BE49-F238E27FC236}">
                <a16:creationId xmlns:a16="http://schemas.microsoft.com/office/drawing/2014/main" id="{BFE7B541-FAA3-F4E7-BB52-CC3A5279108D}"/>
              </a:ext>
            </a:extLst>
          </p:cNvPr>
          <p:cNvSpPr/>
          <p:nvPr/>
        </p:nvSpPr>
        <p:spPr>
          <a:xfrm>
            <a:off x="2918930" y="4508289"/>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31" name="OTLSHAPE_T_e17f3958430f4cff8650518c93c7635e_StartDate">
            <a:extLst>
              <a:ext uri="{FF2B5EF4-FFF2-40B4-BE49-F238E27FC236}">
                <a16:creationId xmlns:a16="http://schemas.microsoft.com/office/drawing/2014/main" id="{8BF3396B-E0A2-3630-4D9F-A51680064DD1}"/>
              </a:ext>
            </a:extLst>
          </p:cNvPr>
          <p:cNvSpPr txBox="1"/>
          <p:nvPr>
            <p:custDataLst>
              <p:tags r:id="rId10"/>
            </p:custDataLst>
          </p:nvPr>
        </p:nvSpPr>
        <p:spPr>
          <a:xfrm>
            <a:off x="2567295" y="4650103"/>
            <a:ext cx="682623"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2" name="OTLSHAPE_T_e17f3958430f4cff8650518c93c7635e_StartDate">
            <a:extLst>
              <a:ext uri="{FF2B5EF4-FFF2-40B4-BE49-F238E27FC236}">
                <a16:creationId xmlns:a16="http://schemas.microsoft.com/office/drawing/2014/main" id="{A7CB0C01-AC5B-69AB-62E9-04CA60F99738}"/>
              </a:ext>
            </a:extLst>
          </p:cNvPr>
          <p:cNvSpPr txBox="1"/>
          <p:nvPr>
            <p:custDataLst>
              <p:tags r:id="rId11"/>
            </p:custDataLst>
          </p:nvPr>
        </p:nvSpPr>
        <p:spPr>
          <a:xfrm>
            <a:off x="2727431" y="4273672"/>
            <a:ext cx="435865" cy="24622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 Jun 2026</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35" name="Star: 4 Points 143">
            <a:extLst>
              <a:ext uri="{FF2B5EF4-FFF2-40B4-BE49-F238E27FC236}">
                <a16:creationId xmlns:a16="http://schemas.microsoft.com/office/drawing/2014/main" id="{744B2DCD-BC6F-025B-7DC1-E8575891BBF0}"/>
              </a:ext>
            </a:extLst>
          </p:cNvPr>
          <p:cNvSpPr/>
          <p:nvPr/>
        </p:nvSpPr>
        <p:spPr bwMode="auto">
          <a:xfrm>
            <a:off x="3417310" y="450828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36" name="OTLSHAPE_T_e17f3958430f4cff8650518c93c7635e_StartDate">
            <a:extLst>
              <a:ext uri="{FF2B5EF4-FFF2-40B4-BE49-F238E27FC236}">
                <a16:creationId xmlns:a16="http://schemas.microsoft.com/office/drawing/2014/main" id="{C9CC2DB9-2A4A-EA35-0E01-4D140BE6D298}"/>
              </a:ext>
            </a:extLst>
          </p:cNvPr>
          <p:cNvSpPr txBox="1"/>
          <p:nvPr>
            <p:custDataLst>
              <p:tags r:id="rId12"/>
            </p:custDataLst>
          </p:nvPr>
        </p:nvSpPr>
        <p:spPr>
          <a:xfrm>
            <a:off x="3235292" y="4657666"/>
            <a:ext cx="505012"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a:t>
            </a:r>
            <a:r>
              <a:rPr kumimoji="0" lang="en-US" altLang="zh-CN" sz="800" b="1" i="0" u="none" strike="noStrike" kern="1200" cap="none" spc="0" normalizeH="0" baseline="30000" noProof="0">
                <a:ln>
                  <a:noFill/>
                </a:ln>
                <a:solidFill>
                  <a:srgbClr val="44546A"/>
                </a:solidFill>
                <a:effectLst/>
                <a:uLnTx/>
                <a:uFillTx/>
                <a:latin typeface="Boehringer Forward Text"/>
                <a:ea typeface="+mn-ea"/>
                <a:cs typeface="Calibri" panose="020F0502020204030204" pitchFamily="34" charset="0"/>
              </a:rPr>
              <a:t>st</a:t>
            </a: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 SIV</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0" name="OTLSHAPE_T_e17f3958430f4cff8650518c93c7635e_StartDate">
            <a:extLst>
              <a:ext uri="{FF2B5EF4-FFF2-40B4-BE49-F238E27FC236}">
                <a16:creationId xmlns:a16="http://schemas.microsoft.com/office/drawing/2014/main" id="{0DF9F63E-5CE0-4F82-032E-52B0A6C0BC98}"/>
              </a:ext>
            </a:extLst>
          </p:cNvPr>
          <p:cNvSpPr txBox="1"/>
          <p:nvPr>
            <p:custDataLst>
              <p:tags r:id="rId13"/>
            </p:custDataLst>
          </p:nvPr>
        </p:nvSpPr>
        <p:spPr>
          <a:xfrm>
            <a:off x="3269865" y="4262068"/>
            <a:ext cx="435865" cy="24622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 Sep 2026</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41" name="OTLSHAPE_T_e17f3958430f4cff8650518c93c7635e_StartDate">
            <a:extLst>
              <a:ext uri="{FF2B5EF4-FFF2-40B4-BE49-F238E27FC236}">
                <a16:creationId xmlns:a16="http://schemas.microsoft.com/office/drawing/2014/main" id="{76BF5A8F-2D49-0018-9136-A2220552B15D}"/>
              </a:ext>
            </a:extLst>
          </p:cNvPr>
          <p:cNvSpPr txBox="1"/>
          <p:nvPr>
            <p:custDataLst>
              <p:tags r:id="rId14"/>
            </p:custDataLst>
          </p:nvPr>
        </p:nvSpPr>
        <p:spPr>
          <a:xfrm>
            <a:off x="2516560" y="2741588"/>
            <a:ext cx="505012" cy="200055"/>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2" name="OTLSHAPE_T_e17f3958430f4cff8650518c93c7635e_StartDate">
            <a:extLst>
              <a:ext uri="{FF2B5EF4-FFF2-40B4-BE49-F238E27FC236}">
                <a16:creationId xmlns:a16="http://schemas.microsoft.com/office/drawing/2014/main" id="{9BCF0472-AF6E-0B11-C0A0-B0826703395D}"/>
              </a:ext>
            </a:extLst>
          </p:cNvPr>
          <p:cNvSpPr txBox="1"/>
          <p:nvPr>
            <p:custDataLst>
              <p:tags r:id="rId15"/>
            </p:custDataLst>
          </p:nvPr>
        </p:nvSpPr>
        <p:spPr>
          <a:xfrm>
            <a:off x="6572583" y="2787301"/>
            <a:ext cx="505012" cy="200055"/>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LSS</a:t>
            </a:r>
            <a:endParaRPr kumimoji="0" lang="zh-CN" altLang="en-US"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3" name="Rectangle 24">
            <a:extLst>
              <a:ext uri="{FF2B5EF4-FFF2-40B4-BE49-F238E27FC236}">
                <a16:creationId xmlns:a16="http://schemas.microsoft.com/office/drawing/2014/main" id="{A5409F45-BA64-AF7A-4B83-C5B53D65F039}"/>
              </a:ext>
            </a:extLst>
          </p:cNvPr>
          <p:cNvSpPr/>
          <p:nvPr/>
        </p:nvSpPr>
        <p:spPr>
          <a:xfrm>
            <a:off x="6557271" y="2232756"/>
            <a:ext cx="557506" cy="338554"/>
          </a:xfrm>
          <a:prstGeom prst="rect">
            <a:avLst/>
          </a:prstGeom>
        </p:spPr>
        <p:txBody>
          <a:bodyPr wrap="square" lIns="91440" tIns="45720" rIns="91440" bIns="45720" anchor="t">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a:rPr>
              <a:t>23 Jun 2028</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a:endParaRPr>
          </a:p>
        </p:txBody>
      </p:sp>
      <p:sp>
        <p:nvSpPr>
          <p:cNvPr id="52" name="Star: 4 Points 143">
            <a:extLst>
              <a:ext uri="{FF2B5EF4-FFF2-40B4-BE49-F238E27FC236}">
                <a16:creationId xmlns:a16="http://schemas.microsoft.com/office/drawing/2014/main" id="{9088305F-8BA1-E4FF-D176-19AD203C5C91}"/>
              </a:ext>
            </a:extLst>
          </p:cNvPr>
          <p:cNvSpPr/>
          <p:nvPr/>
        </p:nvSpPr>
        <p:spPr bwMode="auto">
          <a:xfrm>
            <a:off x="6722233" y="264605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56" name="TextBox 85">
            <a:extLst>
              <a:ext uri="{FF2B5EF4-FFF2-40B4-BE49-F238E27FC236}">
                <a16:creationId xmlns:a16="http://schemas.microsoft.com/office/drawing/2014/main" id="{23F99580-0E10-0FC7-3C72-88A523FBBD5E}"/>
              </a:ext>
            </a:extLst>
          </p:cNvPr>
          <p:cNvSpPr txBox="1"/>
          <p:nvPr/>
        </p:nvSpPr>
        <p:spPr bwMode="gray">
          <a:xfrm>
            <a:off x="454116" y="5568525"/>
            <a:ext cx="11101444" cy="753989"/>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chor="t">
            <a:spAutoFit/>
          </a:bodyPr>
          <a:lstStyle/>
          <a:p>
            <a:pPr marL="356235" marR="0" lvl="0" indent="-173355"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00000"/>
                </a:solidFill>
                <a:effectLst/>
                <a:uLnTx/>
                <a:uFillTx/>
                <a:latin typeface="Boehringer Forward Text"/>
                <a:ea typeface="+mn-ea"/>
                <a:cs typeface="+mn-cs"/>
              </a:rPr>
              <a:t>CDE feedback for </a:t>
            </a:r>
            <a:r>
              <a:rPr kumimoji="0" lang="en-US" altLang="zh-CN" sz="1200" b="0" i="0" u="none" strike="noStrike" kern="1200" cap="none" spc="0" normalizeH="0" baseline="0" noProof="0" err="1">
                <a:ln>
                  <a:noFill/>
                </a:ln>
                <a:solidFill>
                  <a:srgbClr val="000000"/>
                </a:solidFill>
                <a:effectLst/>
                <a:uLnTx/>
                <a:uFillTx/>
                <a:latin typeface="Boehringer Forward Text"/>
                <a:ea typeface="+mn-ea"/>
                <a:cs typeface="+mn-cs"/>
              </a:rPr>
              <a:t>chILD</a:t>
            </a:r>
            <a:r>
              <a:rPr kumimoji="0" lang="en-US" altLang="zh-CN" sz="1200" b="0" i="0" u="none" strike="noStrike" kern="1200" cap="none" spc="0" normalizeH="0" baseline="0" noProof="0">
                <a:ln>
                  <a:noFill/>
                </a:ln>
                <a:solidFill>
                  <a:srgbClr val="000000"/>
                </a:solidFill>
                <a:effectLst/>
                <a:uLnTx/>
                <a:uFillTx/>
                <a:latin typeface="Boehringer Forward Text"/>
                <a:ea typeface="+mn-ea"/>
                <a:cs typeface="+mn-cs"/>
              </a:rPr>
              <a:t> ph3 pre-IND received on Nov 25</a:t>
            </a:r>
            <a:r>
              <a:rPr kumimoji="0" lang="en-US" altLang="zh-CN" sz="1200" b="0" i="0" u="none" strike="noStrike" kern="1200" cap="none" spc="0" normalizeH="0" baseline="30000" noProof="0">
                <a:ln>
                  <a:noFill/>
                </a:ln>
                <a:solidFill>
                  <a:srgbClr val="000000"/>
                </a:solidFill>
                <a:effectLst/>
                <a:uLnTx/>
                <a:uFillTx/>
                <a:latin typeface="Boehringer Forward Text"/>
                <a:ea typeface="+mn-ea"/>
                <a:cs typeface="+mn-cs"/>
              </a:rPr>
              <a:t>th</a:t>
            </a:r>
            <a:r>
              <a:rPr kumimoji="0" lang="en-US" altLang="zh-CN" sz="1200" b="0" i="0" u="none" strike="noStrike" kern="1200" cap="none" spc="0" normalizeH="0" baseline="0" noProof="0">
                <a:ln>
                  <a:noFill/>
                </a:ln>
                <a:solidFill>
                  <a:srgbClr val="000000"/>
                </a:solidFill>
                <a:effectLst/>
                <a:uLnTx/>
                <a:uFillTx/>
                <a:latin typeface="Boehringer Forward Text"/>
                <a:ea typeface="+mn-ea"/>
                <a:cs typeface="+mn-cs"/>
              </a:rPr>
              <a:t> : no comments from CDE clinical and nonclinical division; </a:t>
            </a:r>
            <a:r>
              <a:rPr kumimoji="0" lang="en-US" altLang="zh-CN" sz="1200" b="0" i="0" u="none" strike="noStrike" kern="1200" cap="none" spc="0" normalizeH="0" baseline="0" noProof="0">
                <a:ln>
                  <a:noFill/>
                </a:ln>
                <a:solidFill>
                  <a:srgbClr val="000000"/>
                </a:solidFill>
                <a:effectLst/>
                <a:uLnTx/>
                <a:uFillTx/>
                <a:latin typeface="Boehringer Forward Text" panose="02000500000000020000" pitchFamily="2" charset="0"/>
                <a:ea typeface="+mn-ea"/>
                <a:cs typeface="+mn-cs"/>
              </a:rPr>
              <a:t>Additional simulations of PK parameters (</a:t>
            </a:r>
            <a:r>
              <a:rPr kumimoji="0" lang="en-US" altLang="zh-CN" sz="1200" b="0" i="0" u="none" strike="noStrike" kern="1200" cap="none" spc="0" normalizeH="0" baseline="0" noProof="0" err="1">
                <a:ln>
                  <a:noFill/>
                </a:ln>
                <a:solidFill>
                  <a:srgbClr val="000000"/>
                </a:solidFill>
                <a:effectLst/>
                <a:uLnTx/>
                <a:uFillTx/>
                <a:latin typeface="Boehringer Forward Text" panose="02000500000000020000" pitchFamily="2" charset="0"/>
                <a:ea typeface="+mn-ea"/>
                <a:cs typeface="+mn-cs"/>
              </a:rPr>
              <a:t>eg.</a:t>
            </a:r>
            <a:r>
              <a:rPr kumimoji="0" lang="zh-CN" altLang="en-US" sz="1200" b="0" i="0" u="none" strike="noStrike" kern="1200" cap="none" spc="0" normalizeH="0" baseline="0" noProof="0">
                <a:ln>
                  <a:noFill/>
                </a:ln>
                <a:solidFill>
                  <a:srgbClr val="000000"/>
                </a:solidFill>
                <a:effectLst/>
                <a:uLnTx/>
                <a:uFillTx/>
                <a:latin typeface="Boehringer Forward Text" panose="02000500000000020000" pitchFamily="2" charset="0"/>
                <a:ea typeface="+mn-ea"/>
                <a:cs typeface="+mn-cs"/>
              </a:rPr>
              <a:t> </a:t>
            </a:r>
            <a:r>
              <a:rPr kumimoji="0" lang="en-US" altLang="zh-CN" sz="1200" b="0" i="0" u="none" strike="noStrike" kern="1200" cap="none" spc="0" normalizeH="0" baseline="0" noProof="0" err="1">
                <a:ln>
                  <a:noFill/>
                </a:ln>
                <a:solidFill>
                  <a:srgbClr val="000000"/>
                </a:solidFill>
                <a:effectLst/>
                <a:uLnTx/>
                <a:uFillTx/>
                <a:latin typeface="Boehringer Forward Text" panose="02000500000000020000" pitchFamily="2" charset="0"/>
                <a:ea typeface="+mn-ea"/>
                <a:cs typeface="+mn-cs"/>
              </a:rPr>
              <a:t>Cmax</a:t>
            </a:r>
            <a:r>
              <a:rPr kumimoji="0" lang="en-US" altLang="zh-CN" sz="1200" b="0" i="0" u="none" strike="noStrike" kern="1200" cap="none" spc="0" normalizeH="0" baseline="0" noProof="0">
                <a:ln>
                  <a:noFill/>
                </a:ln>
                <a:solidFill>
                  <a:srgbClr val="000000"/>
                </a:solidFill>
                <a:effectLst/>
                <a:uLnTx/>
                <a:uFillTx/>
                <a:latin typeface="Boehringer Forward Text" panose="02000500000000020000" pitchFamily="2" charset="0"/>
                <a:ea typeface="+mn-ea"/>
                <a:cs typeface="+mn-cs"/>
              </a:rPr>
              <a:t>,</a:t>
            </a:r>
            <a:r>
              <a:rPr kumimoji="0" lang="zh-CN" altLang="en-US" sz="1200" b="0" i="0" u="none" strike="noStrike" kern="1200" cap="none" spc="0" normalizeH="0" baseline="0" noProof="0">
                <a:ln>
                  <a:noFill/>
                </a:ln>
                <a:solidFill>
                  <a:srgbClr val="000000"/>
                </a:solidFill>
                <a:effectLst/>
                <a:uLnTx/>
                <a:uFillTx/>
                <a:latin typeface="Boehringer Forward Text" panose="02000500000000020000" pitchFamily="2" charset="0"/>
                <a:ea typeface="+mn-ea"/>
                <a:cs typeface="+mn-cs"/>
              </a:rPr>
              <a:t> </a:t>
            </a:r>
            <a:r>
              <a:rPr kumimoji="0" lang="en-US" altLang="zh-CN" sz="1200" b="0" i="0" u="none" strike="noStrike" kern="1200" cap="none" spc="0" normalizeH="0" baseline="0" noProof="0" err="1">
                <a:ln>
                  <a:noFill/>
                </a:ln>
                <a:solidFill>
                  <a:srgbClr val="000000"/>
                </a:solidFill>
                <a:effectLst/>
                <a:uLnTx/>
                <a:uFillTx/>
                <a:latin typeface="Boehringer Forward Text" panose="02000500000000020000" pitchFamily="2" charset="0"/>
                <a:ea typeface="+mn-ea"/>
                <a:cs typeface="+mn-cs"/>
              </a:rPr>
              <a:t>Cmin</a:t>
            </a:r>
            <a:r>
              <a:rPr kumimoji="0" lang="en-US" altLang="zh-CN" sz="1200" b="0" i="0" u="none" strike="noStrike" kern="1200" cap="none" spc="0" normalizeH="0" baseline="0" noProof="0">
                <a:ln>
                  <a:noFill/>
                </a:ln>
                <a:solidFill>
                  <a:srgbClr val="000000"/>
                </a:solidFill>
                <a:effectLst/>
                <a:uLnTx/>
                <a:uFillTx/>
                <a:latin typeface="Boehringer Forward Text" panose="02000500000000020000" pitchFamily="2" charset="0"/>
                <a:ea typeface="+mn-ea"/>
                <a:cs typeface="+mn-cs"/>
              </a:rPr>
              <a:t>) are suggested for a thorough dose selection evaluation</a:t>
            </a:r>
            <a:r>
              <a:rPr kumimoji="0" lang="en-US" altLang="zh-CN" sz="1200" b="0" i="0" u="none" strike="noStrike" kern="1200" cap="none" spc="0" normalizeH="0" baseline="0" noProof="0">
                <a:ln>
                  <a:noFill/>
                </a:ln>
                <a:solidFill>
                  <a:srgbClr val="000000"/>
                </a:solidFill>
                <a:effectLst/>
                <a:uLnTx/>
                <a:uFillTx/>
                <a:latin typeface="Boehringer Forward Text"/>
                <a:ea typeface="+mn-ea"/>
                <a:cs typeface="+mn-cs"/>
              </a:rPr>
              <a:t>. </a:t>
            </a:r>
          </a:p>
          <a:p>
            <a:pPr marL="356235" marR="0" lvl="0" indent="-173355"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Boehringer Forward Text"/>
                <a:ea typeface="+mn-ea"/>
                <a:cs typeface="+mn-cs"/>
              </a:rPr>
              <a:t>The China CTA will be submitted following receipt of feedback from the FDA regarding the US CTA.</a:t>
            </a:r>
            <a:endPar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7" name="矩形 20">
            <a:extLst>
              <a:ext uri="{FF2B5EF4-FFF2-40B4-BE49-F238E27FC236}">
                <a16:creationId xmlns:a16="http://schemas.microsoft.com/office/drawing/2014/main" id="{FE95F442-DEBD-E1DF-F9D0-5797CE9ADD0C}"/>
              </a:ext>
            </a:extLst>
          </p:cNvPr>
          <p:cNvSpPr/>
          <p:nvPr/>
        </p:nvSpPr>
        <p:spPr>
          <a:xfrm>
            <a:off x="6795953" y="4359330"/>
            <a:ext cx="3483999" cy="253179"/>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0" cap="none" spc="-7" normalizeH="0" baseline="0" noProof="0">
              <a:ln>
                <a:noFill/>
              </a:ln>
              <a:solidFill>
                <a:srgbClr val="000000"/>
              </a:solidFill>
              <a:effectLst/>
              <a:uLnTx/>
              <a:uFillTx/>
              <a:latin typeface="Boehringer Forward Text"/>
              <a:ea typeface="+mn-ea"/>
              <a:cs typeface="+mn-cs"/>
            </a:endParaRPr>
          </a:p>
        </p:txBody>
      </p:sp>
      <p:sp>
        <p:nvSpPr>
          <p:cNvPr id="58" name="Rectangle 37">
            <a:extLst>
              <a:ext uri="{FF2B5EF4-FFF2-40B4-BE49-F238E27FC236}">
                <a16:creationId xmlns:a16="http://schemas.microsoft.com/office/drawing/2014/main" id="{31AF628A-1F60-6D6C-2B75-2F2B72E8A3E6}"/>
              </a:ext>
            </a:extLst>
          </p:cNvPr>
          <p:cNvSpPr/>
          <p:nvPr/>
        </p:nvSpPr>
        <p:spPr>
          <a:xfrm>
            <a:off x="9297579" y="3508694"/>
            <a:ext cx="452144" cy="123111"/>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appr.</a:t>
            </a:r>
          </a:p>
        </p:txBody>
      </p:sp>
      <p:pic>
        <p:nvPicPr>
          <p:cNvPr id="59" name="Graphic 51" descr="Flag with solid fill">
            <a:extLst>
              <a:ext uri="{FF2B5EF4-FFF2-40B4-BE49-F238E27FC236}">
                <a16:creationId xmlns:a16="http://schemas.microsoft.com/office/drawing/2014/main" id="{A20F364D-F872-2640-0347-ECE9DDCC4F13}"/>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414305" y="3150246"/>
            <a:ext cx="285241" cy="285241"/>
          </a:xfrm>
          <a:prstGeom prst="rect">
            <a:avLst/>
          </a:prstGeom>
        </p:spPr>
      </p:pic>
      <p:sp>
        <p:nvSpPr>
          <p:cNvPr id="60" name="Rectangle 37">
            <a:extLst>
              <a:ext uri="{FF2B5EF4-FFF2-40B4-BE49-F238E27FC236}">
                <a16:creationId xmlns:a16="http://schemas.microsoft.com/office/drawing/2014/main" id="{D92D8F0E-D8D2-042B-1245-DF547778E504}"/>
              </a:ext>
            </a:extLst>
          </p:cNvPr>
          <p:cNvSpPr/>
          <p:nvPr/>
        </p:nvSpPr>
        <p:spPr>
          <a:xfrm>
            <a:off x="9263419" y="2996982"/>
            <a:ext cx="486304" cy="123111"/>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9 Jan 2030</a:t>
            </a:r>
          </a:p>
        </p:txBody>
      </p:sp>
      <p:sp>
        <p:nvSpPr>
          <p:cNvPr id="61" name="Rectangle 37">
            <a:extLst>
              <a:ext uri="{FF2B5EF4-FFF2-40B4-BE49-F238E27FC236}">
                <a16:creationId xmlns:a16="http://schemas.microsoft.com/office/drawing/2014/main" id="{7EF5BFFE-E1FD-C55F-6B7E-B5C44932B16B}"/>
              </a:ext>
            </a:extLst>
          </p:cNvPr>
          <p:cNvSpPr/>
          <p:nvPr/>
        </p:nvSpPr>
        <p:spPr>
          <a:xfrm>
            <a:off x="8666066" y="5272102"/>
            <a:ext cx="472206"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a:t>
            </a:r>
          </a:p>
        </p:txBody>
      </p:sp>
      <p:pic>
        <p:nvPicPr>
          <p:cNvPr id="62" name="Graphic 51" descr="Flag with solid fill">
            <a:extLst>
              <a:ext uri="{FF2B5EF4-FFF2-40B4-BE49-F238E27FC236}">
                <a16:creationId xmlns:a16="http://schemas.microsoft.com/office/drawing/2014/main" id="{EE9BB700-1FED-FF8A-77E3-79DE9E398B8A}"/>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808106" y="4883475"/>
            <a:ext cx="285241" cy="285241"/>
          </a:xfrm>
          <a:prstGeom prst="rect">
            <a:avLst/>
          </a:prstGeom>
        </p:spPr>
      </p:pic>
      <p:sp>
        <p:nvSpPr>
          <p:cNvPr id="63" name="Rectangle 37">
            <a:extLst>
              <a:ext uri="{FF2B5EF4-FFF2-40B4-BE49-F238E27FC236}">
                <a16:creationId xmlns:a16="http://schemas.microsoft.com/office/drawing/2014/main" id="{F7839920-451E-A3B3-030B-602921E04EC6}"/>
              </a:ext>
            </a:extLst>
          </p:cNvPr>
          <p:cNvSpPr/>
          <p:nvPr/>
        </p:nvSpPr>
        <p:spPr>
          <a:xfrm>
            <a:off x="8617185" y="4718145"/>
            <a:ext cx="64585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9 Aug 2029</a:t>
            </a:r>
          </a:p>
        </p:txBody>
      </p:sp>
      <p:sp>
        <p:nvSpPr>
          <p:cNvPr id="64" name="Rectangle 37">
            <a:extLst>
              <a:ext uri="{FF2B5EF4-FFF2-40B4-BE49-F238E27FC236}">
                <a16:creationId xmlns:a16="http://schemas.microsoft.com/office/drawing/2014/main" id="{DE6B6773-737D-9036-5A0E-9721D2494E75}"/>
              </a:ext>
            </a:extLst>
          </p:cNvPr>
          <p:cNvSpPr/>
          <p:nvPr/>
        </p:nvSpPr>
        <p:spPr>
          <a:xfrm>
            <a:off x="9386390" y="5200766"/>
            <a:ext cx="624022" cy="246221"/>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appr. (best case)</a:t>
            </a:r>
          </a:p>
        </p:txBody>
      </p:sp>
      <p:pic>
        <p:nvPicPr>
          <p:cNvPr id="65" name="Graphic 51" descr="Flag with solid fill">
            <a:extLst>
              <a:ext uri="{FF2B5EF4-FFF2-40B4-BE49-F238E27FC236}">
                <a16:creationId xmlns:a16="http://schemas.microsoft.com/office/drawing/2014/main" id="{3D9A4153-F517-F851-2F94-0D69E39E4A7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598131" y="4894871"/>
            <a:ext cx="285241" cy="285241"/>
          </a:xfrm>
          <a:prstGeom prst="rect">
            <a:avLst/>
          </a:prstGeom>
        </p:spPr>
      </p:pic>
      <p:sp>
        <p:nvSpPr>
          <p:cNvPr id="66" name="Rectangle 37">
            <a:extLst>
              <a:ext uri="{FF2B5EF4-FFF2-40B4-BE49-F238E27FC236}">
                <a16:creationId xmlns:a16="http://schemas.microsoft.com/office/drawing/2014/main" id="{80CFD6AA-98E3-12A7-AE7C-39771C57987D}"/>
              </a:ext>
            </a:extLst>
          </p:cNvPr>
          <p:cNvSpPr/>
          <p:nvPr/>
        </p:nvSpPr>
        <p:spPr>
          <a:xfrm>
            <a:off x="9432942" y="4696104"/>
            <a:ext cx="486304" cy="123111"/>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9 Jun 2030</a:t>
            </a:r>
          </a:p>
        </p:txBody>
      </p:sp>
    </p:spTree>
    <p:extLst>
      <p:ext uri="{BB962C8B-B14F-4D97-AF65-F5344CB8AC3E}">
        <p14:creationId xmlns:p14="http://schemas.microsoft.com/office/powerpoint/2010/main" val="3868179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TLSHAPE_T_e17f3958430f4cff8650518c93c7635e_Shape">
            <a:extLst>
              <a:ext uri="{FF2B5EF4-FFF2-40B4-BE49-F238E27FC236}">
                <a16:creationId xmlns:a16="http://schemas.microsoft.com/office/drawing/2014/main" id="{B4E8BEE0-0EB3-40D8-9AA2-B2BC6D502A8C}"/>
              </a:ext>
            </a:extLst>
          </p:cNvPr>
          <p:cNvSpPr/>
          <p:nvPr>
            <p:custDataLst>
              <p:tags r:id="rId1"/>
            </p:custDataLst>
          </p:nvPr>
        </p:nvSpPr>
        <p:spPr bwMode="auto">
          <a:xfrm>
            <a:off x="369569" y="2075391"/>
            <a:ext cx="5577546" cy="192711"/>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 name="Title 3"/>
          <p:cNvSpPr>
            <a:spLocks noGrp="1"/>
          </p:cNvSpPr>
          <p:nvPr>
            <p:ph type="title"/>
          </p:nvPr>
        </p:nvSpPr>
        <p:spPr>
          <a:xfrm>
            <a:off x="346236" y="281595"/>
            <a:ext cx="11333146" cy="720000"/>
          </a:xfrm>
        </p:spPr>
        <p:txBody>
          <a:bodyPr>
            <a:normAutofit fontScale="90000"/>
          </a:bodyPr>
          <a:lstStyle/>
          <a:p>
            <a:r>
              <a:rPr lang="en-US" altLang="zh-CN" sz="2400" b="0" i="1" u="sng">
                <a:ea typeface="+mn-ea"/>
                <a:cs typeface="Calibri" panose="020F0502020204030204" pitchFamily="34" charset="0"/>
              </a:rPr>
              <a:t>Endorsed: </a:t>
            </a:r>
            <a:r>
              <a:rPr lang="en-US" altLang="zh-CN" sz="2400" b="0" i="1">
                <a:cs typeface="Calibri" panose="020F0502020204030204" pitchFamily="34" charset="0"/>
              </a:rPr>
              <a:t>Nerandomilast (PDE4b inhibitor): </a:t>
            </a:r>
            <a:r>
              <a:rPr lang="en-US" altLang="zh-CN" sz="2400" b="0">
                <a:cs typeface="Calibri" panose="020F0502020204030204" pitchFamily="34" charset="0"/>
              </a:rPr>
              <a:t>Systemic Sclerosis (</a:t>
            </a:r>
            <a:r>
              <a:rPr lang="en-US" altLang="zh-CN" sz="2400" b="0" err="1">
                <a:ea typeface="+mn-ea"/>
                <a:cs typeface="Calibri" panose="020F0502020204030204" pitchFamily="34" charset="0"/>
              </a:rPr>
              <a:t>SSc</a:t>
            </a:r>
            <a:r>
              <a:rPr lang="en-US" altLang="zh-CN" sz="2400" b="0">
                <a:ea typeface="+mn-ea"/>
                <a:cs typeface="Calibri" panose="020F0502020204030204" pitchFamily="34" charset="0"/>
              </a:rPr>
              <a:t>) Development Plan</a:t>
            </a:r>
            <a:endParaRPr lang="zh-CN" altLang="en-US" sz="2400" b="0">
              <a:ea typeface="+mn-ea"/>
              <a:cs typeface="Calibri" panose="020F0502020204030204" pitchFamily="34" charset="0"/>
            </a:endParaRPr>
          </a:p>
        </p:txBody>
      </p:sp>
      <p:cxnSp>
        <p:nvCxnSpPr>
          <p:cNvPr id="9" name="Straight Connector 8">
            <a:extLst>
              <a:ext uri="{FF2B5EF4-FFF2-40B4-BE49-F238E27FC236}">
                <a16:creationId xmlns:a16="http://schemas.microsoft.com/office/drawing/2014/main" id="{9C165100-0114-4167-8FF0-BFF01B293D04}"/>
              </a:ext>
            </a:extLst>
          </p:cNvPr>
          <p:cNvCxnSpPr>
            <a:cxnSpLocks/>
          </p:cNvCxnSpPr>
          <p:nvPr/>
        </p:nvCxnSpPr>
        <p:spPr bwMode="auto">
          <a:xfrm flipH="1">
            <a:off x="-24703" y="3584239"/>
            <a:ext cx="1216800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49" name="Table 48">
            <a:extLst>
              <a:ext uri="{FF2B5EF4-FFF2-40B4-BE49-F238E27FC236}">
                <a16:creationId xmlns:a16="http://schemas.microsoft.com/office/drawing/2014/main" id="{EB1832F7-86BE-4DEE-91F1-447638E4A957}"/>
              </a:ext>
            </a:extLst>
          </p:cNvPr>
          <p:cNvGraphicFramePr>
            <a:graphicFrameLocks noGrp="1"/>
          </p:cNvGraphicFramePr>
          <p:nvPr/>
        </p:nvGraphicFramePr>
        <p:xfrm>
          <a:off x="369569" y="1039091"/>
          <a:ext cx="11669672" cy="685800"/>
        </p:xfrm>
        <a:graphic>
          <a:graphicData uri="http://schemas.openxmlformats.org/drawingml/2006/table">
            <a:tbl>
              <a:tblPr firstRow="1" bandRow="1"/>
              <a:tblGrid>
                <a:gridCol w="416774">
                  <a:extLst>
                    <a:ext uri="{9D8B030D-6E8A-4147-A177-3AD203B41FA5}">
                      <a16:colId xmlns:a16="http://schemas.microsoft.com/office/drawing/2014/main" val="3696607442"/>
                    </a:ext>
                  </a:extLst>
                </a:gridCol>
                <a:gridCol w="416774">
                  <a:extLst>
                    <a:ext uri="{9D8B030D-6E8A-4147-A177-3AD203B41FA5}">
                      <a16:colId xmlns:a16="http://schemas.microsoft.com/office/drawing/2014/main" val="223989776"/>
                    </a:ext>
                  </a:extLst>
                </a:gridCol>
                <a:gridCol w="416774">
                  <a:extLst>
                    <a:ext uri="{9D8B030D-6E8A-4147-A177-3AD203B41FA5}">
                      <a16:colId xmlns:a16="http://schemas.microsoft.com/office/drawing/2014/main" val="124731204"/>
                    </a:ext>
                  </a:extLst>
                </a:gridCol>
                <a:gridCol w="416774">
                  <a:extLst>
                    <a:ext uri="{9D8B030D-6E8A-4147-A177-3AD203B41FA5}">
                      <a16:colId xmlns:a16="http://schemas.microsoft.com/office/drawing/2014/main" val="3066978585"/>
                    </a:ext>
                  </a:extLst>
                </a:gridCol>
                <a:gridCol w="416774">
                  <a:extLst>
                    <a:ext uri="{9D8B030D-6E8A-4147-A177-3AD203B41FA5}">
                      <a16:colId xmlns:a16="http://schemas.microsoft.com/office/drawing/2014/main" val="1064917641"/>
                    </a:ext>
                  </a:extLst>
                </a:gridCol>
                <a:gridCol w="416774">
                  <a:extLst>
                    <a:ext uri="{9D8B030D-6E8A-4147-A177-3AD203B41FA5}">
                      <a16:colId xmlns:a16="http://schemas.microsoft.com/office/drawing/2014/main" val="4221117315"/>
                    </a:ext>
                  </a:extLst>
                </a:gridCol>
                <a:gridCol w="416774">
                  <a:extLst>
                    <a:ext uri="{9D8B030D-6E8A-4147-A177-3AD203B41FA5}">
                      <a16:colId xmlns:a16="http://schemas.microsoft.com/office/drawing/2014/main" val="3266065341"/>
                    </a:ext>
                  </a:extLst>
                </a:gridCol>
                <a:gridCol w="416774">
                  <a:extLst>
                    <a:ext uri="{9D8B030D-6E8A-4147-A177-3AD203B41FA5}">
                      <a16:colId xmlns:a16="http://schemas.microsoft.com/office/drawing/2014/main" val="2374051224"/>
                    </a:ext>
                  </a:extLst>
                </a:gridCol>
                <a:gridCol w="416774">
                  <a:extLst>
                    <a:ext uri="{9D8B030D-6E8A-4147-A177-3AD203B41FA5}">
                      <a16:colId xmlns:a16="http://schemas.microsoft.com/office/drawing/2014/main" val="1840388365"/>
                    </a:ext>
                  </a:extLst>
                </a:gridCol>
                <a:gridCol w="416774">
                  <a:extLst>
                    <a:ext uri="{9D8B030D-6E8A-4147-A177-3AD203B41FA5}">
                      <a16:colId xmlns:a16="http://schemas.microsoft.com/office/drawing/2014/main" val="267750830"/>
                    </a:ext>
                  </a:extLst>
                </a:gridCol>
                <a:gridCol w="416774">
                  <a:extLst>
                    <a:ext uri="{9D8B030D-6E8A-4147-A177-3AD203B41FA5}">
                      <a16:colId xmlns:a16="http://schemas.microsoft.com/office/drawing/2014/main" val="3966469970"/>
                    </a:ext>
                  </a:extLst>
                </a:gridCol>
                <a:gridCol w="416774">
                  <a:extLst>
                    <a:ext uri="{9D8B030D-6E8A-4147-A177-3AD203B41FA5}">
                      <a16:colId xmlns:a16="http://schemas.microsoft.com/office/drawing/2014/main" val="2522973146"/>
                    </a:ext>
                  </a:extLst>
                </a:gridCol>
                <a:gridCol w="416774">
                  <a:extLst>
                    <a:ext uri="{9D8B030D-6E8A-4147-A177-3AD203B41FA5}">
                      <a16:colId xmlns:a16="http://schemas.microsoft.com/office/drawing/2014/main" val="3852236956"/>
                    </a:ext>
                  </a:extLst>
                </a:gridCol>
                <a:gridCol w="416774">
                  <a:extLst>
                    <a:ext uri="{9D8B030D-6E8A-4147-A177-3AD203B41FA5}">
                      <a16:colId xmlns:a16="http://schemas.microsoft.com/office/drawing/2014/main" val="2684703990"/>
                    </a:ext>
                  </a:extLst>
                </a:gridCol>
                <a:gridCol w="416774">
                  <a:extLst>
                    <a:ext uri="{9D8B030D-6E8A-4147-A177-3AD203B41FA5}">
                      <a16:colId xmlns:a16="http://schemas.microsoft.com/office/drawing/2014/main" val="493228184"/>
                    </a:ext>
                  </a:extLst>
                </a:gridCol>
                <a:gridCol w="416774">
                  <a:extLst>
                    <a:ext uri="{9D8B030D-6E8A-4147-A177-3AD203B41FA5}">
                      <a16:colId xmlns:a16="http://schemas.microsoft.com/office/drawing/2014/main" val="1381913138"/>
                    </a:ext>
                  </a:extLst>
                </a:gridCol>
                <a:gridCol w="416774">
                  <a:extLst>
                    <a:ext uri="{9D8B030D-6E8A-4147-A177-3AD203B41FA5}">
                      <a16:colId xmlns:a16="http://schemas.microsoft.com/office/drawing/2014/main" val="2981130253"/>
                    </a:ext>
                  </a:extLst>
                </a:gridCol>
                <a:gridCol w="416774">
                  <a:extLst>
                    <a:ext uri="{9D8B030D-6E8A-4147-A177-3AD203B41FA5}">
                      <a16:colId xmlns:a16="http://schemas.microsoft.com/office/drawing/2014/main" val="1079565870"/>
                    </a:ext>
                  </a:extLst>
                </a:gridCol>
                <a:gridCol w="416774">
                  <a:extLst>
                    <a:ext uri="{9D8B030D-6E8A-4147-A177-3AD203B41FA5}">
                      <a16:colId xmlns:a16="http://schemas.microsoft.com/office/drawing/2014/main" val="3858798142"/>
                    </a:ext>
                  </a:extLst>
                </a:gridCol>
                <a:gridCol w="416774">
                  <a:extLst>
                    <a:ext uri="{9D8B030D-6E8A-4147-A177-3AD203B41FA5}">
                      <a16:colId xmlns:a16="http://schemas.microsoft.com/office/drawing/2014/main" val="3644221336"/>
                    </a:ext>
                  </a:extLst>
                </a:gridCol>
                <a:gridCol w="416774">
                  <a:extLst>
                    <a:ext uri="{9D8B030D-6E8A-4147-A177-3AD203B41FA5}">
                      <a16:colId xmlns:a16="http://schemas.microsoft.com/office/drawing/2014/main" val="2294277384"/>
                    </a:ext>
                  </a:extLst>
                </a:gridCol>
                <a:gridCol w="416774">
                  <a:extLst>
                    <a:ext uri="{9D8B030D-6E8A-4147-A177-3AD203B41FA5}">
                      <a16:colId xmlns:a16="http://schemas.microsoft.com/office/drawing/2014/main" val="3507583475"/>
                    </a:ext>
                  </a:extLst>
                </a:gridCol>
                <a:gridCol w="416774">
                  <a:extLst>
                    <a:ext uri="{9D8B030D-6E8A-4147-A177-3AD203B41FA5}">
                      <a16:colId xmlns:a16="http://schemas.microsoft.com/office/drawing/2014/main" val="886327182"/>
                    </a:ext>
                  </a:extLst>
                </a:gridCol>
                <a:gridCol w="416774">
                  <a:extLst>
                    <a:ext uri="{9D8B030D-6E8A-4147-A177-3AD203B41FA5}">
                      <a16:colId xmlns:a16="http://schemas.microsoft.com/office/drawing/2014/main" val="1377691189"/>
                    </a:ext>
                  </a:extLst>
                </a:gridCol>
                <a:gridCol w="416774">
                  <a:extLst>
                    <a:ext uri="{9D8B030D-6E8A-4147-A177-3AD203B41FA5}">
                      <a16:colId xmlns:a16="http://schemas.microsoft.com/office/drawing/2014/main" val="3833544948"/>
                    </a:ext>
                  </a:extLst>
                </a:gridCol>
                <a:gridCol w="416774">
                  <a:extLst>
                    <a:ext uri="{9D8B030D-6E8A-4147-A177-3AD203B41FA5}">
                      <a16:colId xmlns:a16="http://schemas.microsoft.com/office/drawing/2014/main" val="1839448441"/>
                    </a:ext>
                  </a:extLst>
                </a:gridCol>
                <a:gridCol w="416774">
                  <a:extLst>
                    <a:ext uri="{9D8B030D-6E8A-4147-A177-3AD203B41FA5}">
                      <a16:colId xmlns:a16="http://schemas.microsoft.com/office/drawing/2014/main" val="3130983783"/>
                    </a:ext>
                  </a:extLst>
                </a:gridCol>
                <a:gridCol w="416774">
                  <a:extLst>
                    <a:ext uri="{9D8B030D-6E8A-4147-A177-3AD203B41FA5}">
                      <a16:colId xmlns:a16="http://schemas.microsoft.com/office/drawing/2014/main" val="2768341058"/>
                    </a:ext>
                  </a:extLst>
                </a:gridCol>
              </a:tblGrid>
              <a:tr h="209835">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50" name="Isosceles Triangle 49"/>
          <p:cNvSpPr/>
          <p:nvPr/>
        </p:nvSpPr>
        <p:spPr>
          <a:xfrm rot="16200000" flipH="1">
            <a:off x="-97992" y="1209843"/>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51" name="Isosceles Triangle 50"/>
          <p:cNvSpPr/>
          <p:nvPr/>
        </p:nvSpPr>
        <p:spPr>
          <a:xfrm rot="5400000">
            <a:off x="11828683" y="1190892"/>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44" name="TextBox 43"/>
          <p:cNvSpPr txBox="1"/>
          <p:nvPr/>
        </p:nvSpPr>
        <p:spPr>
          <a:xfrm>
            <a:off x="0" y="2014615"/>
            <a:ext cx="572911" cy="328423"/>
          </a:xfrm>
          <a:prstGeom prst="rect">
            <a:avLst/>
          </a:prstGeom>
          <a:noFill/>
          <a:ln>
            <a:solidFill>
              <a:schemeClr val="accent1"/>
            </a:solidFill>
          </a:ln>
        </p:spPr>
        <p:txBody>
          <a:bodyPr wrap="square" lIns="0" tIns="0" rIns="0" bIns="0" rtlCol="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Ph2b-1305.40</a:t>
            </a:r>
          </a:p>
        </p:txBody>
      </p:sp>
      <p:sp>
        <p:nvSpPr>
          <p:cNvPr id="45" name="TextBox 44"/>
          <p:cNvSpPr txBox="1"/>
          <p:nvPr/>
        </p:nvSpPr>
        <p:spPr>
          <a:xfrm>
            <a:off x="48755" y="4065728"/>
            <a:ext cx="619207" cy="328423"/>
          </a:xfrm>
          <a:prstGeom prst="rect">
            <a:avLst/>
          </a:prstGeom>
          <a:noFill/>
          <a:ln>
            <a:solidFill>
              <a:schemeClr val="accent1"/>
            </a:solidFill>
          </a:ln>
        </p:spPr>
        <p:txBody>
          <a:bodyPr wrap="square" lIns="0" tIns="0" rIns="0" bIns="0" rtlCol="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1305.52</a:t>
            </a:r>
          </a:p>
        </p:txBody>
      </p:sp>
      <p:sp>
        <p:nvSpPr>
          <p:cNvPr id="58" name="OTLSHAPE_T_e17f3958430f4cff8650518c93c7635e_StartDate">
            <a:extLst>
              <a:ext uri="{FF2B5EF4-FFF2-40B4-BE49-F238E27FC236}">
                <a16:creationId xmlns:a16="http://schemas.microsoft.com/office/drawing/2014/main" id="{9224C17E-1AA1-4096-A3FD-25D6FD8BA444}"/>
              </a:ext>
            </a:extLst>
          </p:cNvPr>
          <p:cNvSpPr txBox="1"/>
          <p:nvPr>
            <p:custDataLst>
              <p:tags r:id="rId2"/>
            </p:custDataLst>
          </p:nvPr>
        </p:nvSpPr>
        <p:spPr>
          <a:xfrm>
            <a:off x="8896329" y="2543610"/>
            <a:ext cx="693698" cy="287130"/>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12Apr </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2030</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4" name="Rectangle 37"/>
          <p:cNvSpPr/>
          <p:nvPr/>
        </p:nvSpPr>
        <p:spPr>
          <a:xfrm>
            <a:off x="9461238" y="2564535"/>
            <a:ext cx="643057"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Aug </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2030</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6" name="Rectangle 37"/>
          <p:cNvSpPr/>
          <p:nvPr/>
        </p:nvSpPr>
        <p:spPr>
          <a:xfrm>
            <a:off x="10206505" y="2556885"/>
            <a:ext cx="643057"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Feb</a:t>
            </a:r>
          </a:p>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panose="020F0502020204030204" pitchFamily="34" charset="0"/>
                <a:cs typeface="Calibri" panose="020F0502020204030204" pitchFamily="34" charset="0"/>
              </a:rPr>
              <a:t>2031</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91" name="Freeform: Shape 152">
            <a:extLst>
              <a:ext uri="{FF2B5EF4-FFF2-40B4-BE49-F238E27FC236}">
                <a16:creationId xmlns:a16="http://schemas.microsoft.com/office/drawing/2014/main" id="{808EC121-D3B7-4E05-908F-C8EFBD0CB71E}"/>
              </a:ext>
            </a:extLst>
          </p:cNvPr>
          <p:cNvSpPr/>
          <p:nvPr/>
        </p:nvSpPr>
        <p:spPr bwMode="auto">
          <a:xfrm>
            <a:off x="48865" y="3684009"/>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1219110"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China</a:t>
            </a: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92" name="Oval 134">
            <a:extLst>
              <a:ext uri="{FF2B5EF4-FFF2-40B4-BE49-F238E27FC236}">
                <a16:creationId xmlns:a16="http://schemas.microsoft.com/office/drawing/2014/main" id="{FEFADB89-8F35-407D-93F6-37544172D655}"/>
              </a:ext>
            </a:extLst>
          </p:cNvPr>
          <p:cNvSpPr/>
          <p:nvPr/>
        </p:nvSpPr>
        <p:spPr>
          <a:xfrm>
            <a:off x="33042" y="3587669"/>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pic>
        <p:nvPicPr>
          <p:cNvPr id="94"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9256" y="3623880"/>
            <a:ext cx="374799" cy="37479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26"/>
          <a:stretch>
            <a:fillRect/>
          </a:stretch>
        </p:blipFill>
        <p:spPr>
          <a:xfrm>
            <a:off x="21439" y="1602873"/>
            <a:ext cx="854956" cy="418383"/>
          </a:xfrm>
          <a:prstGeom prst="rect">
            <a:avLst/>
          </a:prstGeom>
        </p:spPr>
      </p:pic>
      <p:sp>
        <p:nvSpPr>
          <p:cNvPr id="135" name="OTLSHAPE_T_e17f3958430f4cff8650518c93c7635e_Shape">
            <a:extLst>
              <a:ext uri="{FF2B5EF4-FFF2-40B4-BE49-F238E27FC236}">
                <a16:creationId xmlns:a16="http://schemas.microsoft.com/office/drawing/2014/main" id="{856E6EFB-19BA-463B-BA51-2CC7710D0A18}"/>
              </a:ext>
            </a:extLst>
          </p:cNvPr>
          <p:cNvSpPr/>
          <p:nvPr>
            <p:custDataLst>
              <p:tags r:id="rId3"/>
            </p:custDataLst>
          </p:nvPr>
        </p:nvSpPr>
        <p:spPr bwMode="auto">
          <a:xfrm>
            <a:off x="2751639" y="2815546"/>
            <a:ext cx="6549544" cy="212698"/>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SSc</a:t>
            </a: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Ph3 (N=</a:t>
            </a:r>
            <a:r>
              <a:rPr lang="en-US" altLang="zh-CN" sz="1000" b="1">
                <a:solidFill>
                  <a:srgbClr val="000000"/>
                </a:solidFill>
                <a:latin typeface="Calibri" panose="020F0502020204030204" pitchFamily="34" charset="0"/>
                <a:cs typeface="Calibri" panose="020F0502020204030204" pitchFamily="34" charset="0"/>
              </a:rPr>
              <a:t>448</a:t>
            </a: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6" name="Star: 4 Points 143">
            <a:extLst>
              <a:ext uri="{FF2B5EF4-FFF2-40B4-BE49-F238E27FC236}">
                <a16:creationId xmlns:a16="http://schemas.microsoft.com/office/drawing/2014/main" id="{EB0D7CD9-9939-4001-94C5-9E99ECAF630C}"/>
              </a:ext>
            </a:extLst>
          </p:cNvPr>
          <p:cNvSpPr/>
          <p:nvPr/>
        </p:nvSpPr>
        <p:spPr bwMode="auto">
          <a:xfrm>
            <a:off x="2665924" y="290666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4" name="TextBox 133">
            <a:extLst>
              <a:ext uri="{FF2B5EF4-FFF2-40B4-BE49-F238E27FC236}">
                <a16:creationId xmlns:a16="http://schemas.microsoft.com/office/drawing/2014/main" id="{E6DC675E-0C04-4313-97B8-84D2678DBE97}"/>
              </a:ext>
            </a:extLst>
          </p:cNvPr>
          <p:cNvSpPr txBox="1"/>
          <p:nvPr/>
        </p:nvSpPr>
        <p:spPr>
          <a:xfrm>
            <a:off x="22470" y="2706021"/>
            <a:ext cx="572912" cy="328423"/>
          </a:xfrm>
          <a:prstGeom prst="rect">
            <a:avLst/>
          </a:prstGeom>
          <a:noFill/>
          <a:ln>
            <a:solidFill>
              <a:schemeClr val="accent1"/>
            </a:solidFill>
          </a:ln>
        </p:spPr>
        <p:txBody>
          <a:bodyPr wrap="square" lIns="0" tIns="0" rIns="0" bIns="0" rtlCol="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Ph3-1305.52</a:t>
            </a:r>
          </a:p>
        </p:txBody>
      </p:sp>
      <p:sp>
        <p:nvSpPr>
          <p:cNvPr id="210" name="OTLSHAPE_T_e17f3958430f4cff8650518c93c7635e_StartDate">
            <a:extLst>
              <a:ext uri="{FF2B5EF4-FFF2-40B4-BE49-F238E27FC236}">
                <a16:creationId xmlns:a16="http://schemas.microsoft.com/office/drawing/2014/main" id="{6A0574E4-9366-44A4-B234-500AE40A94DA}"/>
              </a:ext>
            </a:extLst>
          </p:cNvPr>
          <p:cNvSpPr txBox="1"/>
          <p:nvPr>
            <p:custDataLst>
              <p:tags r:id="rId4"/>
            </p:custDataLst>
          </p:nvPr>
        </p:nvSpPr>
        <p:spPr>
          <a:xfrm>
            <a:off x="2676334" y="2656989"/>
            <a:ext cx="452670"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 May 2026</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pic>
        <p:nvPicPr>
          <p:cNvPr id="52" name="Graphic 51" descr="Flag with solid fill">
            <a:extLst>
              <a:ext uri="{FF2B5EF4-FFF2-40B4-BE49-F238E27FC236}">
                <a16:creationId xmlns:a16="http://schemas.microsoft.com/office/drawing/2014/main" id="{D8E229BE-0E6D-08D7-DD03-DFA857222A2B}"/>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462054" y="2868536"/>
            <a:ext cx="194560" cy="194560"/>
          </a:xfrm>
          <a:prstGeom prst="rect">
            <a:avLst/>
          </a:prstGeom>
        </p:spPr>
      </p:pic>
      <p:sp>
        <p:nvSpPr>
          <p:cNvPr id="15" name="Star: 4 Points 143">
            <a:extLst>
              <a:ext uri="{FF2B5EF4-FFF2-40B4-BE49-F238E27FC236}">
                <a16:creationId xmlns:a16="http://schemas.microsoft.com/office/drawing/2014/main" id="{CFB83DC0-5A2E-7510-6D49-D8CEDC885EEB}"/>
              </a:ext>
            </a:extLst>
          </p:cNvPr>
          <p:cNvSpPr/>
          <p:nvPr/>
        </p:nvSpPr>
        <p:spPr bwMode="auto">
          <a:xfrm>
            <a:off x="5842898" y="208619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0" name="Isosceles Triangle 29">
            <a:extLst>
              <a:ext uri="{FF2B5EF4-FFF2-40B4-BE49-F238E27FC236}">
                <a16:creationId xmlns:a16="http://schemas.microsoft.com/office/drawing/2014/main" id="{9C0271C8-4168-3528-2FC4-765E04CC3CE8}"/>
              </a:ext>
            </a:extLst>
          </p:cNvPr>
          <p:cNvSpPr/>
          <p:nvPr/>
        </p:nvSpPr>
        <p:spPr bwMode="gray">
          <a:xfrm>
            <a:off x="3744626" y="2173842"/>
            <a:ext cx="130608" cy="121858"/>
          </a:xfrm>
          <a:prstGeom prst="triangl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 name="Rectangle 37">
            <a:extLst>
              <a:ext uri="{FF2B5EF4-FFF2-40B4-BE49-F238E27FC236}">
                <a16:creationId xmlns:a16="http://schemas.microsoft.com/office/drawing/2014/main" id="{3B6F82DE-F9AC-578D-C45F-342300A4C34B}"/>
              </a:ext>
            </a:extLst>
          </p:cNvPr>
          <p:cNvSpPr/>
          <p:nvPr/>
        </p:nvSpPr>
        <p:spPr>
          <a:xfrm>
            <a:off x="3581429" y="1793894"/>
            <a:ext cx="471874" cy="307777"/>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31Jan 2027</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6" name="Rectangle 37">
            <a:extLst>
              <a:ext uri="{FF2B5EF4-FFF2-40B4-BE49-F238E27FC236}">
                <a16:creationId xmlns:a16="http://schemas.microsoft.com/office/drawing/2014/main" id="{8C1717B8-EAD0-3EA6-6D22-540178F02D0F}"/>
              </a:ext>
            </a:extLst>
          </p:cNvPr>
          <p:cNvSpPr/>
          <p:nvPr/>
        </p:nvSpPr>
        <p:spPr>
          <a:xfrm>
            <a:off x="2052327" y="2748332"/>
            <a:ext cx="45267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Feb  2026</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41" name="OTLSHAPE_T_5a934a26f311425e8ebaa0f45e6533ad_Shape">
            <a:extLst>
              <a:ext uri="{FF2B5EF4-FFF2-40B4-BE49-F238E27FC236}">
                <a16:creationId xmlns:a16="http://schemas.microsoft.com/office/drawing/2014/main" id="{B1E308F7-A38B-1D2A-DF17-49FBF403CD3E}"/>
              </a:ext>
            </a:extLst>
          </p:cNvPr>
          <p:cNvSpPr/>
          <p:nvPr>
            <p:custDataLst>
              <p:tags r:id="rId5"/>
            </p:custDataLst>
          </p:nvPr>
        </p:nvSpPr>
        <p:spPr bwMode="auto">
          <a:xfrm>
            <a:off x="3355125" y="4168502"/>
            <a:ext cx="5946057" cy="29834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SSc</a:t>
            </a: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Ph3</a:t>
            </a:r>
            <a:r>
              <a:rPr lang="en-US" altLang="zh-CN" sz="1000" b="1">
                <a:solidFill>
                  <a:srgbClr val="000000"/>
                </a:solidFill>
                <a:latin typeface="Calibri" panose="020F0502020204030204" pitchFamily="34" charset="0"/>
                <a:cs typeface="Calibri" panose="020F0502020204030204" pitchFamily="34" charset="0"/>
              </a:rPr>
              <a:t> (N=45)</a:t>
            </a:r>
            <a:endPar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8" name="五角星 55">
            <a:extLst>
              <a:ext uri="{FF2B5EF4-FFF2-40B4-BE49-F238E27FC236}">
                <a16:creationId xmlns:a16="http://schemas.microsoft.com/office/drawing/2014/main" id="{CC709E3D-6EB6-EFE5-6A60-08E4FBDBB0B5}"/>
              </a:ext>
            </a:extLst>
          </p:cNvPr>
          <p:cNvSpPr>
            <a:spLocks noChangeAspect="1"/>
          </p:cNvSpPr>
          <p:nvPr/>
        </p:nvSpPr>
        <p:spPr bwMode="auto">
          <a:xfrm>
            <a:off x="9709705" y="2879502"/>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1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70" name="Rectangle 37">
            <a:extLst>
              <a:ext uri="{FF2B5EF4-FFF2-40B4-BE49-F238E27FC236}">
                <a16:creationId xmlns:a16="http://schemas.microsoft.com/office/drawing/2014/main" id="{9C44927C-B0F2-F829-0974-DDE58573E96D}"/>
              </a:ext>
            </a:extLst>
          </p:cNvPr>
          <p:cNvSpPr/>
          <p:nvPr/>
        </p:nvSpPr>
        <p:spPr>
          <a:xfrm>
            <a:off x="9426934" y="3907951"/>
            <a:ext cx="925720"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Sep</a:t>
            </a:r>
          </a:p>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panose="020F0502020204030204" pitchFamily="34" charset="0"/>
                <a:cs typeface="Calibri" panose="020F0502020204030204" pitchFamily="34" charset="0"/>
              </a:rPr>
              <a:t>2030</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pic>
        <p:nvPicPr>
          <p:cNvPr id="81" name="Graphic 80" descr="Flag with solid fill">
            <a:extLst>
              <a:ext uri="{FF2B5EF4-FFF2-40B4-BE49-F238E27FC236}">
                <a16:creationId xmlns:a16="http://schemas.microsoft.com/office/drawing/2014/main" id="{128A88A2-37A9-01C9-C115-7EB797234945}"/>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1079453" y="4218976"/>
            <a:ext cx="194560" cy="194560"/>
          </a:xfrm>
          <a:prstGeom prst="rect">
            <a:avLst/>
          </a:prstGeom>
        </p:spPr>
      </p:pic>
      <p:sp>
        <p:nvSpPr>
          <p:cNvPr id="86" name="五角星 55">
            <a:extLst>
              <a:ext uri="{FF2B5EF4-FFF2-40B4-BE49-F238E27FC236}">
                <a16:creationId xmlns:a16="http://schemas.microsoft.com/office/drawing/2014/main" id="{08F3E73E-2376-95A3-2678-E55C4143DB2B}"/>
              </a:ext>
            </a:extLst>
          </p:cNvPr>
          <p:cNvSpPr>
            <a:spLocks noChangeAspect="1"/>
          </p:cNvSpPr>
          <p:nvPr/>
        </p:nvSpPr>
        <p:spPr bwMode="auto">
          <a:xfrm>
            <a:off x="9835988" y="4229754"/>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1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89" name="Rectangle 37">
            <a:extLst>
              <a:ext uri="{FF2B5EF4-FFF2-40B4-BE49-F238E27FC236}">
                <a16:creationId xmlns:a16="http://schemas.microsoft.com/office/drawing/2014/main" id="{4030344B-944E-38BC-ABFC-BC9FF7686C6F}"/>
              </a:ext>
            </a:extLst>
          </p:cNvPr>
          <p:cNvSpPr/>
          <p:nvPr/>
        </p:nvSpPr>
        <p:spPr>
          <a:xfrm>
            <a:off x="10667898" y="3941977"/>
            <a:ext cx="993545"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Jul</a:t>
            </a:r>
          </a:p>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panose="020F0502020204030204" pitchFamily="34" charset="0"/>
                <a:cs typeface="Calibri" panose="020F0502020204030204" pitchFamily="34" charset="0"/>
              </a:rPr>
              <a:t>2031</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nvGrpSpPr>
          <p:cNvPr id="3" name="Group 2">
            <a:extLst>
              <a:ext uri="{FF2B5EF4-FFF2-40B4-BE49-F238E27FC236}">
                <a16:creationId xmlns:a16="http://schemas.microsoft.com/office/drawing/2014/main" id="{617F5821-6204-96A0-0496-51C04921EC49}"/>
              </a:ext>
            </a:extLst>
          </p:cNvPr>
          <p:cNvGrpSpPr/>
          <p:nvPr/>
        </p:nvGrpSpPr>
        <p:grpSpPr>
          <a:xfrm>
            <a:off x="1608982" y="1347117"/>
            <a:ext cx="546747" cy="3795204"/>
            <a:chOff x="1956799" y="1275522"/>
            <a:chExt cx="546747" cy="3893172"/>
          </a:xfrm>
        </p:grpSpPr>
        <p:cxnSp>
          <p:nvCxnSpPr>
            <p:cNvPr id="5" name="Straight Connector 4">
              <a:extLst>
                <a:ext uri="{FF2B5EF4-FFF2-40B4-BE49-F238E27FC236}">
                  <a16:creationId xmlns:a16="http://schemas.microsoft.com/office/drawing/2014/main" id="{6D4CE5F4-855A-A1A9-6E07-E09C6FB11AC0}"/>
                </a:ext>
              </a:extLst>
            </p:cNvPr>
            <p:cNvCxnSpPr>
              <a:cxnSpLocks/>
            </p:cNvCxnSpPr>
            <p:nvPr/>
          </p:nvCxnSpPr>
          <p:spPr bwMode="auto">
            <a:xfrm flipV="1">
              <a:off x="2278209" y="139372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6" name="OTLSHAPE_T_e17f3958430f4cff8650518c93c7635e_StartDate">
              <a:extLst>
                <a:ext uri="{FF2B5EF4-FFF2-40B4-BE49-F238E27FC236}">
                  <a16:creationId xmlns:a16="http://schemas.microsoft.com/office/drawing/2014/main" id="{4C312F06-6870-7A4E-55B9-E66F21E62F02}"/>
                </a:ext>
              </a:extLst>
            </p:cNvPr>
            <p:cNvSpPr txBox="1"/>
            <p:nvPr>
              <p:custDataLst>
                <p:tags r:id="rId22"/>
              </p:custDataLst>
            </p:nvPr>
          </p:nvSpPr>
          <p:spPr>
            <a:xfrm>
              <a:off x="1956799" y="1275522"/>
              <a:ext cx="546747" cy="123159"/>
            </a:xfrm>
            <a:prstGeom prst="rect">
              <a:avLst/>
            </a:prstGeom>
            <a:noFill/>
            <a:ln w="12700">
              <a:noFill/>
            </a:ln>
          </p:spPr>
          <p:txBody>
            <a:bodyPr vert="horz" wrap="square" lIns="0" tIns="0" rIns="0" bIns="0" rtlCol="0" anchor="ctr" anchorCtr="0">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12" name="Star: 4 Points 143">
            <a:extLst>
              <a:ext uri="{FF2B5EF4-FFF2-40B4-BE49-F238E27FC236}">
                <a16:creationId xmlns:a16="http://schemas.microsoft.com/office/drawing/2014/main" id="{2419FA29-FC90-DE03-C49F-CFEB0A659ADA}"/>
              </a:ext>
            </a:extLst>
          </p:cNvPr>
          <p:cNvSpPr/>
          <p:nvPr/>
        </p:nvSpPr>
        <p:spPr bwMode="auto">
          <a:xfrm>
            <a:off x="3272752" y="422993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4" name="OTLSHAPE_T_e17f3958430f4cff8650518c93c7635e_StartDate">
            <a:extLst>
              <a:ext uri="{FF2B5EF4-FFF2-40B4-BE49-F238E27FC236}">
                <a16:creationId xmlns:a16="http://schemas.microsoft.com/office/drawing/2014/main" id="{8DB288A6-1FBD-8C9C-6127-9E6FDC6F36A7}"/>
              </a:ext>
            </a:extLst>
          </p:cNvPr>
          <p:cNvSpPr txBox="1"/>
          <p:nvPr>
            <p:custDataLst>
              <p:tags r:id="rId6"/>
            </p:custDataLst>
          </p:nvPr>
        </p:nvSpPr>
        <p:spPr>
          <a:xfrm>
            <a:off x="5635013" y="1764656"/>
            <a:ext cx="581310" cy="307777"/>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15Apr 2028</a:t>
            </a:r>
            <a:endParaRPr kumimoji="0" lang="zh-CN" altLang="en-US" sz="10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7" name="Rectangle 37">
            <a:extLst>
              <a:ext uri="{FF2B5EF4-FFF2-40B4-BE49-F238E27FC236}">
                <a16:creationId xmlns:a16="http://schemas.microsoft.com/office/drawing/2014/main" id="{B434AB64-63A9-79E1-4CED-EC45EAE00949}"/>
              </a:ext>
            </a:extLst>
          </p:cNvPr>
          <p:cNvSpPr/>
          <p:nvPr/>
        </p:nvSpPr>
        <p:spPr>
          <a:xfrm>
            <a:off x="2134192" y="3943782"/>
            <a:ext cx="348255"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FF0000"/>
                </a:solidFill>
                <a:effectLst/>
                <a:uLnTx/>
                <a:uFillTx/>
                <a:latin typeface="Calibri"/>
                <a:ea typeface="Calibri"/>
                <a:cs typeface="Calibri"/>
              </a:rPr>
              <a:t>Mar</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2026</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8" name="Rectangle 7">
            <a:extLst>
              <a:ext uri="{FF2B5EF4-FFF2-40B4-BE49-F238E27FC236}">
                <a16:creationId xmlns:a16="http://schemas.microsoft.com/office/drawing/2014/main" id="{F420ADC8-AA2E-5293-DFFA-CAC8A7ACE401}"/>
              </a:ext>
            </a:extLst>
          </p:cNvPr>
          <p:cNvSpPr/>
          <p:nvPr/>
        </p:nvSpPr>
        <p:spPr>
          <a:xfrm>
            <a:off x="1878800" y="2046199"/>
            <a:ext cx="2020350" cy="246221"/>
          </a:xfrm>
          <a:prstGeom prst="rect">
            <a:avLst/>
          </a:prstGeom>
        </p:spPr>
        <p:txBody>
          <a:bodyPr wrap="square">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CONQUEST Trial, </a:t>
            </a:r>
            <a:r>
              <a:rPr kumimoji="0" lang="en-US" altLang="zh-CN" sz="1000" b="1" i="0" u="none" strike="noStrike" kern="1200" cap="none" spc="0" normalizeH="0" baseline="0" noProof="0" err="1">
                <a:ln>
                  <a:noFill/>
                </a:ln>
                <a:solidFill>
                  <a:srgbClr val="44546A"/>
                </a:solidFill>
                <a:effectLst/>
                <a:uLnTx/>
                <a:uFillTx/>
                <a:latin typeface="Calibri" panose="020F0502020204030204" pitchFamily="34" charset="0"/>
                <a:ea typeface="+mn-ea"/>
                <a:cs typeface="Calibri" panose="020F0502020204030204" pitchFamily="34" charset="0"/>
              </a:rPr>
              <a:t>SSc</a:t>
            </a: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-ILD, ph2b</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8" name="Star: 4 Points 143">
            <a:extLst>
              <a:ext uri="{FF2B5EF4-FFF2-40B4-BE49-F238E27FC236}">
                <a16:creationId xmlns:a16="http://schemas.microsoft.com/office/drawing/2014/main" id="{5B97D9C5-8C92-BE5C-A9BD-9750D22EB10E}"/>
              </a:ext>
            </a:extLst>
          </p:cNvPr>
          <p:cNvSpPr/>
          <p:nvPr/>
        </p:nvSpPr>
        <p:spPr bwMode="auto">
          <a:xfrm>
            <a:off x="9178760" y="28532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9" name="OTLSHAPE_T_e17f3958430f4cff8650518c93c7635e_StartDate">
            <a:extLst>
              <a:ext uri="{FF2B5EF4-FFF2-40B4-BE49-F238E27FC236}">
                <a16:creationId xmlns:a16="http://schemas.microsoft.com/office/drawing/2014/main" id="{6A8A5E06-8C92-D9FA-B2B6-D5DE65ADC7FA}"/>
              </a:ext>
            </a:extLst>
          </p:cNvPr>
          <p:cNvSpPr txBox="1"/>
          <p:nvPr>
            <p:custDataLst>
              <p:tags r:id="rId7"/>
            </p:custDataLst>
          </p:nvPr>
        </p:nvSpPr>
        <p:spPr>
          <a:xfrm>
            <a:off x="3158342" y="3933190"/>
            <a:ext cx="380248"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Oct </a:t>
            </a: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2026</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3" name="Rectangle 37">
            <a:extLst>
              <a:ext uri="{FF2B5EF4-FFF2-40B4-BE49-F238E27FC236}">
                <a16:creationId xmlns:a16="http://schemas.microsoft.com/office/drawing/2014/main" id="{2B05A927-7A25-E18E-8B53-1CE53CB659F5}"/>
              </a:ext>
            </a:extLst>
          </p:cNvPr>
          <p:cNvSpPr/>
          <p:nvPr/>
        </p:nvSpPr>
        <p:spPr>
          <a:xfrm>
            <a:off x="1149536" y="2677974"/>
            <a:ext cx="539760"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15 Aug 2025</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27" name="Rectangle 37">
            <a:extLst>
              <a:ext uri="{FF2B5EF4-FFF2-40B4-BE49-F238E27FC236}">
                <a16:creationId xmlns:a16="http://schemas.microsoft.com/office/drawing/2014/main" id="{82E01482-82E0-8A5A-16BE-F164724DC1B5}"/>
              </a:ext>
            </a:extLst>
          </p:cNvPr>
          <p:cNvSpPr/>
          <p:nvPr/>
        </p:nvSpPr>
        <p:spPr>
          <a:xfrm>
            <a:off x="1286717" y="3929535"/>
            <a:ext cx="392033"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21 Aug 2025</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7" name="5-Point Star 5">
            <a:extLst>
              <a:ext uri="{FF2B5EF4-FFF2-40B4-BE49-F238E27FC236}">
                <a16:creationId xmlns:a16="http://schemas.microsoft.com/office/drawing/2014/main" id="{1C0A289F-A7E3-2F6F-4626-702D6F9F7592}"/>
              </a:ext>
            </a:extLst>
          </p:cNvPr>
          <p:cNvSpPr/>
          <p:nvPr/>
        </p:nvSpPr>
        <p:spPr>
          <a:xfrm>
            <a:off x="1404067" y="4257611"/>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0" name="5-Point Star 5">
            <a:extLst>
              <a:ext uri="{FF2B5EF4-FFF2-40B4-BE49-F238E27FC236}">
                <a16:creationId xmlns:a16="http://schemas.microsoft.com/office/drawing/2014/main" id="{30059EFD-319A-EF4F-9248-24674CA05622}"/>
              </a:ext>
            </a:extLst>
          </p:cNvPr>
          <p:cNvSpPr/>
          <p:nvPr/>
        </p:nvSpPr>
        <p:spPr>
          <a:xfrm>
            <a:off x="2209887" y="4256718"/>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1" name="5-Point Star 5">
            <a:extLst>
              <a:ext uri="{FF2B5EF4-FFF2-40B4-BE49-F238E27FC236}">
                <a16:creationId xmlns:a16="http://schemas.microsoft.com/office/drawing/2014/main" id="{C50CB7DD-1E26-9A65-FFCD-A2DDAE35A43E}"/>
              </a:ext>
            </a:extLst>
          </p:cNvPr>
          <p:cNvSpPr/>
          <p:nvPr/>
        </p:nvSpPr>
        <p:spPr>
          <a:xfrm>
            <a:off x="1393782" y="2929952"/>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6" name="5-Point Star 5">
            <a:extLst>
              <a:ext uri="{FF2B5EF4-FFF2-40B4-BE49-F238E27FC236}">
                <a16:creationId xmlns:a16="http://schemas.microsoft.com/office/drawing/2014/main" id="{20BCC26C-CA80-2E2D-C0A0-ACA16A14C096}"/>
              </a:ext>
            </a:extLst>
          </p:cNvPr>
          <p:cNvSpPr/>
          <p:nvPr/>
        </p:nvSpPr>
        <p:spPr>
          <a:xfrm>
            <a:off x="2177091" y="2914938"/>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4" name="TextBox 85">
            <a:extLst>
              <a:ext uri="{FF2B5EF4-FFF2-40B4-BE49-F238E27FC236}">
                <a16:creationId xmlns:a16="http://schemas.microsoft.com/office/drawing/2014/main" id="{FD930C03-7489-2769-92E5-A7416D63BD04}"/>
              </a:ext>
            </a:extLst>
          </p:cNvPr>
          <p:cNvSpPr txBox="1"/>
          <p:nvPr/>
        </p:nvSpPr>
        <p:spPr bwMode="gray">
          <a:xfrm>
            <a:off x="876395" y="4974275"/>
            <a:ext cx="11064121" cy="127105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6616" indent="-173736">
              <a:lnSpc>
                <a:spcPct val="140000"/>
              </a:lnSpc>
              <a:buFont typeface="Arial" panose="020B0604020202020204" pitchFamily="34" charset="0"/>
              <a:buChar char="•"/>
              <a:defRPr/>
            </a:pPr>
            <a:r>
              <a:rPr kumimoji="0" lang="en-US" sz="1200" b="0" i="0" u="none" strike="noStrike" kern="1200" cap="none" spc="0" normalizeH="0" baseline="0" noProof="0">
                <a:ln>
                  <a:noFill/>
                </a:ln>
                <a:solidFill>
                  <a:srgbClr val="000000"/>
                </a:solidFill>
                <a:effectLst/>
                <a:uLnTx/>
                <a:uFillTx/>
                <a:latin typeface="Boehringer Forward Text" panose="02000500000000020000" pitchFamily="2" charset="0"/>
                <a:ea typeface="+mn-ea"/>
                <a:cs typeface="+mn-cs"/>
              </a:rPr>
              <a:t>CDE feedback for pre-IND was received on Nov 10</a:t>
            </a:r>
            <a:r>
              <a:rPr kumimoji="0" lang="en-US" sz="1200" b="0" i="0" u="none" strike="noStrike" kern="1200" cap="none" spc="0" normalizeH="0" baseline="30000" noProof="0">
                <a:ln>
                  <a:noFill/>
                </a:ln>
                <a:solidFill>
                  <a:srgbClr val="000000"/>
                </a:solidFill>
                <a:effectLst/>
                <a:uLnTx/>
                <a:uFillTx/>
                <a:latin typeface="Boehringer Forward Text" panose="02000500000000020000" pitchFamily="2" charset="0"/>
                <a:ea typeface="+mn-ea"/>
                <a:cs typeface="+mn-cs"/>
              </a:rPr>
              <a:t>th</a:t>
            </a:r>
            <a:r>
              <a:rPr kumimoji="0" lang="en-US" sz="1200" b="0" i="0" u="none" strike="noStrike" kern="1200" cap="none" spc="0" normalizeH="0" baseline="0" noProof="0">
                <a:ln>
                  <a:noFill/>
                </a:ln>
                <a:solidFill>
                  <a:srgbClr val="000000"/>
                </a:solidFill>
                <a:effectLst/>
                <a:uLnTx/>
                <a:uFillTx/>
                <a:latin typeface="Boehringer Forward Text" panose="02000500000000020000" pitchFamily="2" charset="0"/>
                <a:ea typeface="+mn-ea"/>
                <a:cs typeface="+mn-cs"/>
              </a:rPr>
              <a:t>. </a:t>
            </a:r>
            <a:r>
              <a:rPr lang="en-US" altLang="zh-CN" sz="1200">
                <a:solidFill>
                  <a:srgbClr val="000000"/>
                </a:solidFill>
                <a:latin typeface="Boehringer Forward Text" panose="02000500000000020000" pitchFamily="2" charset="0"/>
              </a:rPr>
              <a:t>Considering about the potential risks with China CTA/EC approvals, team proposed to submit China CTA after FDA feedback on US CTA, which has been endorsed by CEC in Nov and aligned with global ET.</a:t>
            </a:r>
            <a:endParaRPr kumimoji="0" lang="en-US" altLang="zh-CN" sz="1800" b="0" i="0" u="none" strike="noStrike" kern="1200" cap="none" spc="0" normalizeH="0" baseline="0" noProof="0">
              <a:ln>
                <a:noFill/>
              </a:ln>
              <a:solidFill>
                <a:prstClr val="black"/>
              </a:solidFill>
              <a:effectLst/>
              <a:uLnTx/>
              <a:uFillTx/>
              <a:latin typeface="Boehringer Forward Text"/>
              <a:ea typeface="+mn-ea"/>
              <a:cs typeface="+mn-cs"/>
            </a:endParaRPr>
          </a:p>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chemeClr val="tx1"/>
                </a:solidFill>
                <a:effectLst/>
                <a:uLnTx/>
                <a:uFillTx/>
                <a:latin typeface="Boehringer Forward Text" panose="02000500000000020000" pitchFamily="2" charset="0"/>
                <a:ea typeface="+mn-ea"/>
                <a:cs typeface="+mn-cs"/>
              </a:rPr>
              <a:t>TDO was finalized on Nov 26</a:t>
            </a:r>
            <a:r>
              <a:rPr kumimoji="0" lang="en-US" altLang="zh-CN" sz="1200" b="0" i="0" u="none" strike="noStrike" kern="1200" cap="none" spc="0" normalizeH="0" baseline="30000" noProof="0">
                <a:ln>
                  <a:noFill/>
                </a:ln>
                <a:solidFill>
                  <a:schemeClr val="tx1"/>
                </a:solidFill>
                <a:effectLst/>
                <a:uLnTx/>
                <a:uFillTx/>
                <a:latin typeface="Boehringer Forward Text" panose="02000500000000020000" pitchFamily="2" charset="0"/>
                <a:ea typeface="+mn-ea"/>
                <a:cs typeface="+mn-cs"/>
              </a:rPr>
              <a:t>th</a:t>
            </a:r>
            <a:r>
              <a:rPr kumimoji="0" lang="en-US" altLang="zh-CN" sz="1200" b="0" i="0" u="none" strike="noStrike" kern="1200" cap="none" spc="0" normalizeH="0" baseline="0" noProof="0">
                <a:ln>
                  <a:noFill/>
                </a:ln>
                <a:solidFill>
                  <a:schemeClr val="tx1"/>
                </a:solidFill>
                <a:effectLst/>
                <a:uLnTx/>
                <a:uFillTx/>
                <a:latin typeface="Boehringer Forward Text" panose="02000500000000020000" pitchFamily="2" charset="0"/>
                <a:ea typeface="+mn-ea"/>
                <a:cs typeface="+mn-cs"/>
              </a:rPr>
              <a:t> . On Dec 2</a:t>
            </a:r>
            <a:r>
              <a:rPr kumimoji="0" lang="en-US" altLang="zh-CN" sz="1200" b="0" i="0" u="none" strike="noStrike" kern="1200" cap="none" spc="0" normalizeH="0" baseline="30000" noProof="0">
                <a:ln>
                  <a:noFill/>
                </a:ln>
                <a:solidFill>
                  <a:schemeClr val="tx1"/>
                </a:solidFill>
                <a:effectLst/>
                <a:uLnTx/>
                <a:uFillTx/>
                <a:latin typeface="Boehringer Forward Text" panose="02000500000000020000" pitchFamily="2" charset="0"/>
                <a:ea typeface="+mn-ea"/>
                <a:cs typeface="+mn-cs"/>
              </a:rPr>
              <a:t>nd</a:t>
            </a:r>
            <a:r>
              <a:rPr kumimoji="0" lang="en-US" altLang="zh-CN" sz="1200" b="0" i="0" u="none" strike="noStrike" kern="1200" cap="none" spc="0" normalizeH="0" baseline="0" noProof="0">
                <a:ln>
                  <a:noFill/>
                </a:ln>
                <a:solidFill>
                  <a:schemeClr val="tx1"/>
                </a:solidFill>
                <a:effectLst/>
                <a:uLnTx/>
                <a:uFillTx/>
                <a:latin typeface="Boehringer Forward Text" panose="02000500000000020000" pitchFamily="2" charset="0"/>
                <a:ea typeface="+mn-ea"/>
                <a:cs typeface="+mn-cs"/>
              </a:rPr>
              <a:t>. The study design was revised. Country allocation for China has been adjusted to 45 subjects from 25 sites (total sample size has been adjusted to 448 subjects)</a:t>
            </a:r>
            <a:r>
              <a:rPr lang="en-US" altLang="zh-CN" sz="1200">
                <a:solidFill>
                  <a:schemeClr val="tx1"/>
                </a:solidFill>
                <a:latin typeface="Boehringer Forward Text" panose="02000500000000020000" pitchFamily="2" charset="0"/>
              </a:rPr>
              <a:t>.</a:t>
            </a:r>
            <a:endParaRPr kumimoji="0" lang="en-US" altLang="zh-CN" sz="1200" b="0" i="0" u="none" strike="noStrike" kern="1200" cap="none" spc="0" normalizeH="0" baseline="0" noProof="0">
              <a:ln>
                <a:noFill/>
              </a:ln>
              <a:solidFill>
                <a:schemeClr val="tx1"/>
              </a:solidFill>
              <a:effectLst/>
              <a:uLnTx/>
              <a:uFillTx/>
              <a:latin typeface="Boehringer Forward Text" panose="02000500000000020000" pitchFamily="2" charset="0"/>
              <a:ea typeface="+mn-ea"/>
              <a:cs typeface="+mn-cs"/>
            </a:endParaRPr>
          </a:p>
          <a:p>
            <a:pPr marL="356616" indent="-173736">
              <a:lnSpc>
                <a:spcPct val="140000"/>
              </a:lnSpc>
              <a:buFont typeface="Arial" panose="020B0604020202020204" pitchFamily="34" charset="0"/>
              <a:buChar char="•"/>
              <a:defRPr/>
            </a:pPr>
            <a:r>
              <a:rPr lang="en-US" altLang="zh-CN" sz="1200" err="1">
                <a:solidFill>
                  <a:schemeClr val="tx1"/>
                </a:solidFill>
                <a:latin typeface="Boehringer Forward Text" panose="02000500000000020000" pitchFamily="2" charset="0"/>
              </a:rPr>
              <a:t>Huashan</a:t>
            </a:r>
            <a:r>
              <a:rPr lang="en-US" altLang="zh-CN" sz="1200">
                <a:solidFill>
                  <a:schemeClr val="tx1"/>
                </a:solidFill>
                <a:latin typeface="Boehringer Forward Text" panose="02000500000000020000" pitchFamily="2" charset="0"/>
              </a:rPr>
              <a:t> hospital &amp; BI Collaboration Exchange Meeting was successfully held on Dec 1</a:t>
            </a:r>
            <a:r>
              <a:rPr lang="en-US" altLang="zh-CN" sz="1200" baseline="30000">
                <a:solidFill>
                  <a:schemeClr val="tx1"/>
                </a:solidFill>
                <a:latin typeface="Boehringer Forward Text" panose="02000500000000020000" pitchFamily="2" charset="0"/>
              </a:rPr>
              <a:t>st</a:t>
            </a:r>
            <a:r>
              <a:rPr lang="en-US" altLang="zh-CN" sz="1200">
                <a:solidFill>
                  <a:schemeClr val="tx1"/>
                </a:solidFill>
                <a:latin typeface="Boehringer Forward Text" panose="02000500000000020000" pitchFamily="2" charset="0"/>
              </a:rPr>
              <a:t> ,</a:t>
            </a:r>
            <a:r>
              <a:rPr lang="en-US" altLang="zh-CN" sz="1200">
                <a:solidFill>
                  <a:srgbClr val="000000"/>
                </a:solidFill>
                <a:latin typeface="Boehringer Forward Text" panose="020B0504030403020204" pitchFamily="2" charset="0"/>
              </a:rPr>
              <a:t> during which </a:t>
            </a:r>
            <a:r>
              <a:rPr lang="en-US" altLang="zh-CN" sz="1200" err="1">
                <a:solidFill>
                  <a:srgbClr val="000000"/>
                </a:solidFill>
                <a:latin typeface="Boehringer Forward Text" panose="020B0504030403020204" pitchFamily="2" charset="0"/>
              </a:rPr>
              <a:t>SSc</a:t>
            </a:r>
            <a:r>
              <a:rPr lang="en-US" altLang="zh-CN" sz="1200">
                <a:solidFill>
                  <a:srgbClr val="000000"/>
                </a:solidFill>
                <a:latin typeface="Boehringer Forward Text" panose="020B0504030403020204" pitchFamily="2" charset="0"/>
              </a:rPr>
              <a:t> project was a key topic of discussion.</a:t>
            </a:r>
            <a:endParaRPr lang="en-US" altLang="zh-CN" sz="1200">
              <a:solidFill>
                <a:schemeClr val="tx1"/>
              </a:solidFill>
              <a:latin typeface="Boehringer Forward Text" panose="02000500000000020000" pitchFamily="2" charset="0"/>
            </a:endParaRPr>
          </a:p>
        </p:txBody>
      </p:sp>
      <p:sp>
        <p:nvSpPr>
          <p:cNvPr id="25" name="OTLSHAPE_T_e17f3958430f4cff8650518c93c7635e_StartDate">
            <a:extLst>
              <a:ext uri="{FF2B5EF4-FFF2-40B4-BE49-F238E27FC236}">
                <a16:creationId xmlns:a16="http://schemas.microsoft.com/office/drawing/2014/main" id="{CF1A1996-36F3-1756-DA34-B2D505F2F834}"/>
              </a:ext>
            </a:extLst>
          </p:cNvPr>
          <p:cNvSpPr txBox="1"/>
          <p:nvPr>
            <p:custDataLst>
              <p:tags r:id="rId8"/>
            </p:custDataLst>
          </p:nvPr>
        </p:nvSpPr>
        <p:spPr>
          <a:xfrm>
            <a:off x="3364873" y="2340557"/>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IA</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8" name="OTLSHAPE_T_e17f3958430f4cff8650518c93c7635e_StartDate">
            <a:extLst>
              <a:ext uri="{FF2B5EF4-FFF2-40B4-BE49-F238E27FC236}">
                <a16:creationId xmlns:a16="http://schemas.microsoft.com/office/drawing/2014/main" id="{2EB6FC2C-BB94-6B96-FF5A-F13B6DFF5EC3}"/>
              </a:ext>
            </a:extLst>
          </p:cNvPr>
          <p:cNvSpPr txBox="1"/>
          <p:nvPr>
            <p:custDataLst>
              <p:tags r:id="rId9"/>
            </p:custDataLst>
          </p:nvPr>
        </p:nvSpPr>
        <p:spPr>
          <a:xfrm>
            <a:off x="5482525" y="2295939"/>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Key results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9" name="OTLSHAPE_T_e17f3958430f4cff8650518c93c7635e_StartDate">
            <a:extLst>
              <a:ext uri="{FF2B5EF4-FFF2-40B4-BE49-F238E27FC236}">
                <a16:creationId xmlns:a16="http://schemas.microsoft.com/office/drawing/2014/main" id="{337DB876-AECC-595E-522D-B54FD8922BBA}"/>
              </a:ext>
            </a:extLst>
          </p:cNvPr>
          <p:cNvSpPr txBox="1"/>
          <p:nvPr>
            <p:custDataLst>
              <p:tags r:id="rId10"/>
            </p:custDataLst>
          </p:nvPr>
        </p:nvSpPr>
        <p:spPr>
          <a:xfrm>
            <a:off x="1016473" y="3092570"/>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HAI</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4" name="OTLSHAPE_T_e17f3958430f4cff8650518c93c7635e_StartDate">
            <a:extLst>
              <a:ext uri="{FF2B5EF4-FFF2-40B4-BE49-F238E27FC236}">
                <a16:creationId xmlns:a16="http://schemas.microsoft.com/office/drawing/2014/main" id="{D105C575-841F-C6D7-A806-07486A5F065A}"/>
              </a:ext>
            </a:extLst>
          </p:cNvPr>
          <p:cNvSpPr txBox="1"/>
          <p:nvPr>
            <p:custDataLst>
              <p:tags r:id="rId11"/>
            </p:custDataLst>
          </p:nvPr>
        </p:nvSpPr>
        <p:spPr>
          <a:xfrm>
            <a:off x="2007175" y="3029856"/>
            <a:ext cx="501875" cy="33855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5" name="OTLSHAPE_T_e17f3958430f4cff8650518c93c7635e_StartDate">
            <a:extLst>
              <a:ext uri="{FF2B5EF4-FFF2-40B4-BE49-F238E27FC236}">
                <a16:creationId xmlns:a16="http://schemas.microsoft.com/office/drawing/2014/main" id="{C894EAC2-0460-A329-50A7-C7DA59C663C4}"/>
              </a:ext>
            </a:extLst>
          </p:cNvPr>
          <p:cNvSpPr txBox="1"/>
          <p:nvPr>
            <p:custDataLst>
              <p:tags r:id="rId12"/>
            </p:custDataLst>
          </p:nvPr>
        </p:nvSpPr>
        <p:spPr>
          <a:xfrm>
            <a:off x="2336170" y="3092570"/>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7" name="OTLSHAPE_T_e17f3958430f4cff8650518c93c7635e_StartDate">
            <a:extLst>
              <a:ext uri="{FF2B5EF4-FFF2-40B4-BE49-F238E27FC236}">
                <a16:creationId xmlns:a16="http://schemas.microsoft.com/office/drawing/2014/main" id="{6616317D-1161-AB2F-A04C-29C9EBD6F686}"/>
              </a:ext>
            </a:extLst>
          </p:cNvPr>
          <p:cNvSpPr txBox="1"/>
          <p:nvPr>
            <p:custDataLst>
              <p:tags r:id="rId13"/>
            </p:custDataLst>
          </p:nvPr>
        </p:nvSpPr>
        <p:spPr>
          <a:xfrm>
            <a:off x="8808759" y="3077175"/>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DBL</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8" name="OTLSHAPE_T_e17f3958430f4cff8650518c93c7635e_StartDate">
            <a:extLst>
              <a:ext uri="{FF2B5EF4-FFF2-40B4-BE49-F238E27FC236}">
                <a16:creationId xmlns:a16="http://schemas.microsoft.com/office/drawing/2014/main" id="{FE90227F-7713-6CAF-DA8E-EB32BE8985BF}"/>
              </a:ext>
            </a:extLst>
          </p:cNvPr>
          <p:cNvSpPr txBox="1"/>
          <p:nvPr>
            <p:custDataLst>
              <p:tags r:id="rId14"/>
            </p:custDataLst>
          </p:nvPr>
        </p:nvSpPr>
        <p:spPr>
          <a:xfrm>
            <a:off x="9363003" y="3048330"/>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NDA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9" name="OTLSHAPE_T_e17f3958430f4cff8650518c93c7635e_StartDate">
            <a:extLst>
              <a:ext uri="{FF2B5EF4-FFF2-40B4-BE49-F238E27FC236}">
                <a16:creationId xmlns:a16="http://schemas.microsoft.com/office/drawing/2014/main" id="{F42DBE8A-C098-F6BC-79D4-4447F9C579D8}"/>
              </a:ext>
            </a:extLst>
          </p:cNvPr>
          <p:cNvSpPr txBox="1"/>
          <p:nvPr>
            <p:custDataLst>
              <p:tags r:id="rId15"/>
            </p:custDataLst>
          </p:nvPr>
        </p:nvSpPr>
        <p:spPr>
          <a:xfrm>
            <a:off x="10156779" y="3062515"/>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NDA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0" name="OTLSHAPE_T_e17f3958430f4cff8650518c93c7635e_StartDate">
            <a:extLst>
              <a:ext uri="{FF2B5EF4-FFF2-40B4-BE49-F238E27FC236}">
                <a16:creationId xmlns:a16="http://schemas.microsoft.com/office/drawing/2014/main" id="{1DF8E5F2-21C9-49E9-729A-0B45B70695D9}"/>
              </a:ext>
            </a:extLst>
          </p:cNvPr>
          <p:cNvSpPr txBox="1"/>
          <p:nvPr>
            <p:custDataLst>
              <p:tags r:id="rId16"/>
            </p:custDataLst>
          </p:nvPr>
        </p:nvSpPr>
        <p:spPr>
          <a:xfrm>
            <a:off x="996265" y="4452941"/>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HAI</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2" name="OTLSHAPE_T_e17f3958430f4cff8650518c93c7635e_StartDate">
            <a:extLst>
              <a:ext uri="{FF2B5EF4-FFF2-40B4-BE49-F238E27FC236}">
                <a16:creationId xmlns:a16="http://schemas.microsoft.com/office/drawing/2014/main" id="{58CF18B1-3788-C69E-BF27-07C0EF28AD69}"/>
              </a:ext>
            </a:extLst>
          </p:cNvPr>
          <p:cNvSpPr txBox="1"/>
          <p:nvPr>
            <p:custDataLst>
              <p:tags r:id="rId17"/>
            </p:custDataLst>
          </p:nvPr>
        </p:nvSpPr>
        <p:spPr>
          <a:xfrm>
            <a:off x="1770168" y="4452941"/>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3" name="OTLSHAPE_T_e17f3958430f4cff8650518c93c7635e_StartDate">
            <a:extLst>
              <a:ext uri="{FF2B5EF4-FFF2-40B4-BE49-F238E27FC236}">
                <a16:creationId xmlns:a16="http://schemas.microsoft.com/office/drawing/2014/main" id="{2FD1E0FB-9F0A-E520-1757-7E4AEA7FABDA}"/>
              </a:ext>
            </a:extLst>
          </p:cNvPr>
          <p:cNvSpPr txBox="1"/>
          <p:nvPr>
            <p:custDataLst>
              <p:tags r:id="rId18"/>
            </p:custDataLst>
          </p:nvPr>
        </p:nvSpPr>
        <p:spPr>
          <a:xfrm>
            <a:off x="2888693" y="4432541"/>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8" name="OTLSHAPE_T_e17f3958430f4cff8650518c93c7635e_StartDate">
            <a:extLst>
              <a:ext uri="{FF2B5EF4-FFF2-40B4-BE49-F238E27FC236}">
                <a16:creationId xmlns:a16="http://schemas.microsoft.com/office/drawing/2014/main" id="{8DE0B0D6-6DDA-585E-B368-353A51252392}"/>
              </a:ext>
            </a:extLst>
          </p:cNvPr>
          <p:cNvSpPr txBox="1"/>
          <p:nvPr>
            <p:custDataLst>
              <p:tags r:id="rId19"/>
            </p:custDataLst>
          </p:nvPr>
        </p:nvSpPr>
        <p:spPr>
          <a:xfrm>
            <a:off x="9466924" y="4443185"/>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NDA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53" name="OTLSHAPE_T_e17f3958430f4cff8650518c93c7635e_StartDate">
            <a:extLst>
              <a:ext uri="{FF2B5EF4-FFF2-40B4-BE49-F238E27FC236}">
                <a16:creationId xmlns:a16="http://schemas.microsoft.com/office/drawing/2014/main" id="{E5C476A4-DB74-DD15-0373-747B493F8A02}"/>
              </a:ext>
            </a:extLst>
          </p:cNvPr>
          <p:cNvSpPr txBox="1"/>
          <p:nvPr>
            <p:custDataLst>
              <p:tags r:id="rId20"/>
            </p:custDataLst>
          </p:nvPr>
        </p:nvSpPr>
        <p:spPr>
          <a:xfrm>
            <a:off x="10693125" y="4412007"/>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NDA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55" name="OTLSHAPE_T_e17f3958430f4cff8650518c93c7635e_StartDate">
            <a:extLst>
              <a:ext uri="{FF2B5EF4-FFF2-40B4-BE49-F238E27FC236}">
                <a16:creationId xmlns:a16="http://schemas.microsoft.com/office/drawing/2014/main" id="{57A93F4E-3E86-7AE5-F11D-93DC54E657FC}"/>
              </a:ext>
            </a:extLst>
          </p:cNvPr>
          <p:cNvSpPr txBox="1"/>
          <p:nvPr>
            <p:custDataLst>
              <p:tags r:id="rId21"/>
            </p:custDataLst>
          </p:nvPr>
        </p:nvSpPr>
        <p:spPr>
          <a:xfrm>
            <a:off x="1622441" y="3074973"/>
            <a:ext cx="501875"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srgbClr val="44546A"/>
                </a:solidFill>
                <a:effectLst/>
                <a:uLnTx/>
                <a:uFillTx/>
                <a:latin typeface="Boehringer Forward Text"/>
                <a:ea typeface="+mn-ea"/>
                <a:cs typeface="Calibri" panose="020F0502020204030204" pitchFamily="34" charset="0"/>
              </a:rPr>
              <a:t>RoFD</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56" name="Star: 4 Points 143">
            <a:extLst>
              <a:ext uri="{FF2B5EF4-FFF2-40B4-BE49-F238E27FC236}">
                <a16:creationId xmlns:a16="http://schemas.microsoft.com/office/drawing/2014/main" id="{19E29455-A644-1314-C6CF-0E79898D1DB0}"/>
              </a:ext>
            </a:extLst>
          </p:cNvPr>
          <p:cNvSpPr/>
          <p:nvPr/>
        </p:nvSpPr>
        <p:spPr bwMode="auto">
          <a:xfrm>
            <a:off x="1806311" y="28955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7" name="Rectangle 37">
            <a:extLst>
              <a:ext uri="{FF2B5EF4-FFF2-40B4-BE49-F238E27FC236}">
                <a16:creationId xmlns:a16="http://schemas.microsoft.com/office/drawing/2014/main" id="{DCB1151E-B253-F962-AD94-DDD22BDD50B9}"/>
              </a:ext>
            </a:extLst>
          </p:cNvPr>
          <p:cNvSpPr/>
          <p:nvPr/>
        </p:nvSpPr>
        <p:spPr>
          <a:xfrm>
            <a:off x="1758052" y="2592496"/>
            <a:ext cx="273077" cy="415498"/>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18 Nov 2025</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Tree>
    <p:extLst>
      <p:ext uri="{BB962C8B-B14F-4D97-AF65-F5344CB8AC3E}">
        <p14:creationId xmlns:p14="http://schemas.microsoft.com/office/powerpoint/2010/main" val="3519402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A41648-5A81-236E-A52D-CD16C9D6386E}"/>
            </a:ext>
          </a:extLst>
        </p:cNvPr>
        <p:cNvGrpSpPr/>
        <p:nvPr/>
      </p:nvGrpSpPr>
      <p:grpSpPr>
        <a:xfrm>
          <a:off x="0" y="0"/>
          <a:ext cx="0" cy="0"/>
          <a:chOff x="0" y="0"/>
          <a:chExt cx="0" cy="0"/>
        </a:xfrm>
      </p:grpSpPr>
      <p:sp>
        <p:nvSpPr>
          <p:cNvPr id="39" name="OTLSHAPE_T_e17f3958430f4cff8650518c93c7635e_Shape">
            <a:extLst>
              <a:ext uri="{FF2B5EF4-FFF2-40B4-BE49-F238E27FC236}">
                <a16:creationId xmlns:a16="http://schemas.microsoft.com/office/drawing/2014/main" id="{9EE02624-285C-F724-50FC-3B0F8A1FE3C5}"/>
              </a:ext>
            </a:extLst>
          </p:cNvPr>
          <p:cNvSpPr/>
          <p:nvPr>
            <p:custDataLst>
              <p:tags r:id="rId1"/>
            </p:custDataLst>
          </p:nvPr>
        </p:nvSpPr>
        <p:spPr bwMode="auto">
          <a:xfrm>
            <a:off x="3270225" y="2404760"/>
            <a:ext cx="5814160" cy="259791"/>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r>
              <a:rPr lang="en-US" altLang="zh-CN" sz="1000" b="1">
                <a:solidFill>
                  <a:srgbClr val="000000"/>
                </a:solidFill>
                <a:latin typeface="Calibri" panose="020F0502020204030204" pitchFamily="34" charset="0"/>
                <a:cs typeface="Calibri" panose="020F0502020204030204" pitchFamily="34" charset="0"/>
              </a:rPr>
              <a:t>IIM</a:t>
            </a: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Ph</a:t>
            </a:r>
            <a:r>
              <a:rPr lang="en-US" altLang="zh-CN" sz="1000" b="1">
                <a:solidFill>
                  <a:srgbClr val="000000"/>
                </a:solidFill>
                <a:latin typeface="Calibri" panose="020F0502020204030204" pitchFamily="34" charset="0"/>
                <a:cs typeface="Calibri" panose="020F0502020204030204" pitchFamily="34" charset="0"/>
              </a:rPr>
              <a:t>3 (TBC)</a:t>
            </a: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 name="Title 3">
            <a:extLst>
              <a:ext uri="{FF2B5EF4-FFF2-40B4-BE49-F238E27FC236}">
                <a16:creationId xmlns:a16="http://schemas.microsoft.com/office/drawing/2014/main" id="{D2DE0AB1-B544-03A5-BC57-EE102BDD2E69}"/>
              </a:ext>
            </a:extLst>
          </p:cNvPr>
          <p:cNvSpPr>
            <a:spLocks noGrp="1"/>
          </p:cNvSpPr>
          <p:nvPr>
            <p:ph type="title"/>
          </p:nvPr>
        </p:nvSpPr>
        <p:spPr>
          <a:xfrm>
            <a:off x="346236" y="281595"/>
            <a:ext cx="11233151" cy="720000"/>
          </a:xfrm>
        </p:spPr>
        <p:txBody>
          <a:bodyPr>
            <a:normAutofit fontScale="90000"/>
          </a:bodyPr>
          <a:lstStyle/>
          <a:p>
            <a:r>
              <a:rPr lang="en-US" altLang="zh-CN" sz="2400" b="0" i="1" u="sng">
                <a:ea typeface="+mn-ea"/>
                <a:cs typeface="Calibri" panose="020F0502020204030204" pitchFamily="34" charset="0"/>
              </a:rPr>
              <a:t>Under evaluation: </a:t>
            </a:r>
            <a:r>
              <a:rPr lang="en-US" altLang="zh-CN" sz="2400" b="0" i="1">
                <a:cs typeface="Calibri" panose="020F0502020204030204" pitchFamily="34" charset="0"/>
              </a:rPr>
              <a:t>Nerandomilast (PDE4b inhibitor): </a:t>
            </a:r>
            <a:r>
              <a:rPr lang="en-US" altLang="zh-CN" sz="2400" b="0">
                <a:cs typeface="Calibri" panose="020F0502020204030204" pitchFamily="34" charset="0"/>
              </a:rPr>
              <a:t>I</a:t>
            </a:r>
            <a:r>
              <a:rPr lang="en-US" altLang="zh-CN" b="0"/>
              <a:t>diopathic Inflammatory Myopathies (IIM)</a:t>
            </a:r>
            <a:r>
              <a:rPr lang="en-US" altLang="zh-CN" sz="2400" b="0">
                <a:ea typeface="+mn-ea"/>
                <a:cs typeface="Calibri" panose="020F0502020204030204" pitchFamily="34" charset="0"/>
              </a:rPr>
              <a:t> Development Plan</a:t>
            </a:r>
            <a:endParaRPr lang="zh-CN" altLang="en-US" sz="2400" b="0">
              <a:ea typeface="+mn-ea"/>
              <a:cs typeface="Calibri" panose="020F0502020204030204" pitchFamily="34" charset="0"/>
            </a:endParaRPr>
          </a:p>
        </p:txBody>
      </p:sp>
      <p:cxnSp>
        <p:nvCxnSpPr>
          <p:cNvPr id="9" name="Straight Connector 8">
            <a:extLst>
              <a:ext uri="{FF2B5EF4-FFF2-40B4-BE49-F238E27FC236}">
                <a16:creationId xmlns:a16="http://schemas.microsoft.com/office/drawing/2014/main" id="{0B6B0B24-2D31-08FF-AB26-BCCB2E54B3FB}"/>
              </a:ext>
            </a:extLst>
          </p:cNvPr>
          <p:cNvCxnSpPr>
            <a:cxnSpLocks/>
          </p:cNvCxnSpPr>
          <p:nvPr/>
        </p:nvCxnSpPr>
        <p:spPr bwMode="auto">
          <a:xfrm flipH="1">
            <a:off x="-24703" y="3997897"/>
            <a:ext cx="1216800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49" name="Table 48">
            <a:extLst>
              <a:ext uri="{FF2B5EF4-FFF2-40B4-BE49-F238E27FC236}">
                <a16:creationId xmlns:a16="http://schemas.microsoft.com/office/drawing/2014/main" id="{0CDBD9A9-D59F-A4C0-060F-C30302095F7A}"/>
              </a:ext>
            </a:extLst>
          </p:cNvPr>
          <p:cNvGraphicFramePr>
            <a:graphicFrameLocks noGrp="1"/>
          </p:cNvGraphicFramePr>
          <p:nvPr/>
        </p:nvGraphicFramePr>
        <p:xfrm>
          <a:off x="369569" y="1039091"/>
          <a:ext cx="11669672" cy="685800"/>
        </p:xfrm>
        <a:graphic>
          <a:graphicData uri="http://schemas.openxmlformats.org/drawingml/2006/table">
            <a:tbl>
              <a:tblPr firstRow="1" bandRow="1"/>
              <a:tblGrid>
                <a:gridCol w="416774">
                  <a:extLst>
                    <a:ext uri="{9D8B030D-6E8A-4147-A177-3AD203B41FA5}">
                      <a16:colId xmlns:a16="http://schemas.microsoft.com/office/drawing/2014/main" val="3696607442"/>
                    </a:ext>
                  </a:extLst>
                </a:gridCol>
                <a:gridCol w="416774">
                  <a:extLst>
                    <a:ext uri="{9D8B030D-6E8A-4147-A177-3AD203B41FA5}">
                      <a16:colId xmlns:a16="http://schemas.microsoft.com/office/drawing/2014/main" val="223989776"/>
                    </a:ext>
                  </a:extLst>
                </a:gridCol>
                <a:gridCol w="416774">
                  <a:extLst>
                    <a:ext uri="{9D8B030D-6E8A-4147-A177-3AD203B41FA5}">
                      <a16:colId xmlns:a16="http://schemas.microsoft.com/office/drawing/2014/main" val="124731204"/>
                    </a:ext>
                  </a:extLst>
                </a:gridCol>
                <a:gridCol w="416774">
                  <a:extLst>
                    <a:ext uri="{9D8B030D-6E8A-4147-A177-3AD203B41FA5}">
                      <a16:colId xmlns:a16="http://schemas.microsoft.com/office/drawing/2014/main" val="3066978585"/>
                    </a:ext>
                  </a:extLst>
                </a:gridCol>
                <a:gridCol w="416774">
                  <a:extLst>
                    <a:ext uri="{9D8B030D-6E8A-4147-A177-3AD203B41FA5}">
                      <a16:colId xmlns:a16="http://schemas.microsoft.com/office/drawing/2014/main" val="1064917641"/>
                    </a:ext>
                  </a:extLst>
                </a:gridCol>
                <a:gridCol w="416774">
                  <a:extLst>
                    <a:ext uri="{9D8B030D-6E8A-4147-A177-3AD203B41FA5}">
                      <a16:colId xmlns:a16="http://schemas.microsoft.com/office/drawing/2014/main" val="4221117315"/>
                    </a:ext>
                  </a:extLst>
                </a:gridCol>
                <a:gridCol w="416774">
                  <a:extLst>
                    <a:ext uri="{9D8B030D-6E8A-4147-A177-3AD203B41FA5}">
                      <a16:colId xmlns:a16="http://schemas.microsoft.com/office/drawing/2014/main" val="3266065341"/>
                    </a:ext>
                  </a:extLst>
                </a:gridCol>
                <a:gridCol w="416774">
                  <a:extLst>
                    <a:ext uri="{9D8B030D-6E8A-4147-A177-3AD203B41FA5}">
                      <a16:colId xmlns:a16="http://schemas.microsoft.com/office/drawing/2014/main" val="2374051224"/>
                    </a:ext>
                  </a:extLst>
                </a:gridCol>
                <a:gridCol w="416774">
                  <a:extLst>
                    <a:ext uri="{9D8B030D-6E8A-4147-A177-3AD203B41FA5}">
                      <a16:colId xmlns:a16="http://schemas.microsoft.com/office/drawing/2014/main" val="1840388365"/>
                    </a:ext>
                  </a:extLst>
                </a:gridCol>
                <a:gridCol w="416774">
                  <a:extLst>
                    <a:ext uri="{9D8B030D-6E8A-4147-A177-3AD203B41FA5}">
                      <a16:colId xmlns:a16="http://schemas.microsoft.com/office/drawing/2014/main" val="267750830"/>
                    </a:ext>
                  </a:extLst>
                </a:gridCol>
                <a:gridCol w="416774">
                  <a:extLst>
                    <a:ext uri="{9D8B030D-6E8A-4147-A177-3AD203B41FA5}">
                      <a16:colId xmlns:a16="http://schemas.microsoft.com/office/drawing/2014/main" val="3966469970"/>
                    </a:ext>
                  </a:extLst>
                </a:gridCol>
                <a:gridCol w="416774">
                  <a:extLst>
                    <a:ext uri="{9D8B030D-6E8A-4147-A177-3AD203B41FA5}">
                      <a16:colId xmlns:a16="http://schemas.microsoft.com/office/drawing/2014/main" val="2522973146"/>
                    </a:ext>
                  </a:extLst>
                </a:gridCol>
                <a:gridCol w="416774">
                  <a:extLst>
                    <a:ext uri="{9D8B030D-6E8A-4147-A177-3AD203B41FA5}">
                      <a16:colId xmlns:a16="http://schemas.microsoft.com/office/drawing/2014/main" val="3852236956"/>
                    </a:ext>
                  </a:extLst>
                </a:gridCol>
                <a:gridCol w="416774">
                  <a:extLst>
                    <a:ext uri="{9D8B030D-6E8A-4147-A177-3AD203B41FA5}">
                      <a16:colId xmlns:a16="http://schemas.microsoft.com/office/drawing/2014/main" val="2684703990"/>
                    </a:ext>
                  </a:extLst>
                </a:gridCol>
                <a:gridCol w="416774">
                  <a:extLst>
                    <a:ext uri="{9D8B030D-6E8A-4147-A177-3AD203B41FA5}">
                      <a16:colId xmlns:a16="http://schemas.microsoft.com/office/drawing/2014/main" val="493228184"/>
                    </a:ext>
                  </a:extLst>
                </a:gridCol>
                <a:gridCol w="416774">
                  <a:extLst>
                    <a:ext uri="{9D8B030D-6E8A-4147-A177-3AD203B41FA5}">
                      <a16:colId xmlns:a16="http://schemas.microsoft.com/office/drawing/2014/main" val="1381913138"/>
                    </a:ext>
                  </a:extLst>
                </a:gridCol>
                <a:gridCol w="416774">
                  <a:extLst>
                    <a:ext uri="{9D8B030D-6E8A-4147-A177-3AD203B41FA5}">
                      <a16:colId xmlns:a16="http://schemas.microsoft.com/office/drawing/2014/main" val="2981130253"/>
                    </a:ext>
                  </a:extLst>
                </a:gridCol>
                <a:gridCol w="416774">
                  <a:extLst>
                    <a:ext uri="{9D8B030D-6E8A-4147-A177-3AD203B41FA5}">
                      <a16:colId xmlns:a16="http://schemas.microsoft.com/office/drawing/2014/main" val="1079565870"/>
                    </a:ext>
                  </a:extLst>
                </a:gridCol>
                <a:gridCol w="416774">
                  <a:extLst>
                    <a:ext uri="{9D8B030D-6E8A-4147-A177-3AD203B41FA5}">
                      <a16:colId xmlns:a16="http://schemas.microsoft.com/office/drawing/2014/main" val="3858798142"/>
                    </a:ext>
                  </a:extLst>
                </a:gridCol>
                <a:gridCol w="416774">
                  <a:extLst>
                    <a:ext uri="{9D8B030D-6E8A-4147-A177-3AD203B41FA5}">
                      <a16:colId xmlns:a16="http://schemas.microsoft.com/office/drawing/2014/main" val="3644221336"/>
                    </a:ext>
                  </a:extLst>
                </a:gridCol>
                <a:gridCol w="416774">
                  <a:extLst>
                    <a:ext uri="{9D8B030D-6E8A-4147-A177-3AD203B41FA5}">
                      <a16:colId xmlns:a16="http://schemas.microsoft.com/office/drawing/2014/main" val="2294277384"/>
                    </a:ext>
                  </a:extLst>
                </a:gridCol>
                <a:gridCol w="416774">
                  <a:extLst>
                    <a:ext uri="{9D8B030D-6E8A-4147-A177-3AD203B41FA5}">
                      <a16:colId xmlns:a16="http://schemas.microsoft.com/office/drawing/2014/main" val="3507583475"/>
                    </a:ext>
                  </a:extLst>
                </a:gridCol>
                <a:gridCol w="416774">
                  <a:extLst>
                    <a:ext uri="{9D8B030D-6E8A-4147-A177-3AD203B41FA5}">
                      <a16:colId xmlns:a16="http://schemas.microsoft.com/office/drawing/2014/main" val="886327182"/>
                    </a:ext>
                  </a:extLst>
                </a:gridCol>
                <a:gridCol w="416774">
                  <a:extLst>
                    <a:ext uri="{9D8B030D-6E8A-4147-A177-3AD203B41FA5}">
                      <a16:colId xmlns:a16="http://schemas.microsoft.com/office/drawing/2014/main" val="1377691189"/>
                    </a:ext>
                  </a:extLst>
                </a:gridCol>
                <a:gridCol w="416774">
                  <a:extLst>
                    <a:ext uri="{9D8B030D-6E8A-4147-A177-3AD203B41FA5}">
                      <a16:colId xmlns:a16="http://schemas.microsoft.com/office/drawing/2014/main" val="3833544948"/>
                    </a:ext>
                  </a:extLst>
                </a:gridCol>
                <a:gridCol w="416774">
                  <a:extLst>
                    <a:ext uri="{9D8B030D-6E8A-4147-A177-3AD203B41FA5}">
                      <a16:colId xmlns:a16="http://schemas.microsoft.com/office/drawing/2014/main" val="1839448441"/>
                    </a:ext>
                  </a:extLst>
                </a:gridCol>
                <a:gridCol w="416774">
                  <a:extLst>
                    <a:ext uri="{9D8B030D-6E8A-4147-A177-3AD203B41FA5}">
                      <a16:colId xmlns:a16="http://schemas.microsoft.com/office/drawing/2014/main" val="3130983783"/>
                    </a:ext>
                  </a:extLst>
                </a:gridCol>
                <a:gridCol w="416774">
                  <a:extLst>
                    <a:ext uri="{9D8B030D-6E8A-4147-A177-3AD203B41FA5}">
                      <a16:colId xmlns:a16="http://schemas.microsoft.com/office/drawing/2014/main" val="2768341058"/>
                    </a:ext>
                  </a:extLst>
                </a:gridCol>
              </a:tblGrid>
              <a:tr h="209835">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50" name="Isosceles Triangle 49">
            <a:extLst>
              <a:ext uri="{FF2B5EF4-FFF2-40B4-BE49-F238E27FC236}">
                <a16:creationId xmlns:a16="http://schemas.microsoft.com/office/drawing/2014/main" id="{671E923E-B853-C08F-5B00-FE6789AF4DFB}"/>
              </a:ext>
            </a:extLst>
          </p:cNvPr>
          <p:cNvSpPr/>
          <p:nvPr/>
        </p:nvSpPr>
        <p:spPr>
          <a:xfrm rot="16200000" flipH="1">
            <a:off x="-97992" y="1209843"/>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51" name="Isosceles Triangle 50">
            <a:extLst>
              <a:ext uri="{FF2B5EF4-FFF2-40B4-BE49-F238E27FC236}">
                <a16:creationId xmlns:a16="http://schemas.microsoft.com/office/drawing/2014/main" id="{94A73A6D-93F0-7341-DC60-32CB5A7B1E78}"/>
              </a:ext>
            </a:extLst>
          </p:cNvPr>
          <p:cNvSpPr/>
          <p:nvPr/>
        </p:nvSpPr>
        <p:spPr>
          <a:xfrm rot="5400000">
            <a:off x="11828683" y="1190892"/>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44" name="TextBox 43">
            <a:extLst>
              <a:ext uri="{FF2B5EF4-FFF2-40B4-BE49-F238E27FC236}">
                <a16:creationId xmlns:a16="http://schemas.microsoft.com/office/drawing/2014/main" id="{7B8F8A94-ABFB-6B4E-A062-F06FAC0E7524}"/>
              </a:ext>
            </a:extLst>
          </p:cNvPr>
          <p:cNvSpPr txBox="1"/>
          <p:nvPr/>
        </p:nvSpPr>
        <p:spPr>
          <a:xfrm>
            <a:off x="0" y="2014615"/>
            <a:ext cx="572911" cy="328423"/>
          </a:xfrm>
          <a:prstGeom prst="rect">
            <a:avLst/>
          </a:prstGeom>
          <a:noFill/>
          <a:ln>
            <a:solidFill>
              <a:schemeClr val="accent1"/>
            </a:solidFill>
          </a:ln>
        </p:spPr>
        <p:txBody>
          <a:bodyPr wrap="square" lIns="0" tIns="0" rIns="0" bIns="0" rtlCol="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Ph3-1305.</a:t>
            </a:r>
            <a:r>
              <a:rPr lang="en-US" sz="1067" b="1">
                <a:solidFill>
                  <a:srgbClr val="0066CC"/>
                </a:solidFill>
                <a:latin typeface="Calibri" panose="020F0502020204030204" pitchFamily="34" charset="0"/>
                <a:cs typeface="Calibri" panose="020F0502020204030204" pitchFamily="34" charset="0"/>
              </a:rPr>
              <a:t>146</a:t>
            </a:r>
            <a:endPar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endParaRPr>
          </a:p>
        </p:txBody>
      </p:sp>
      <p:sp>
        <p:nvSpPr>
          <p:cNvPr id="45" name="TextBox 44">
            <a:extLst>
              <a:ext uri="{FF2B5EF4-FFF2-40B4-BE49-F238E27FC236}">
                <a16:creationId xmlns:a16="http://schemas.microsoft.com/office/drawing/2014/main" id="{57241A9A-363C-98C9-7188-CA930A56AEE2}"/>
              </a:ext>
            </a:extLst>
          </p:cNvPr>
          <p:cNvSpPr txBox="1"/>
          <p:nvPr/>
        </p:nvSpPr>
        <p:spPr>
          <a:xfrm>
            <a:off x="48755" y="4479386"/>
            <a:ext cx="619207" cy="328423"/>
          </a:xfrm>
          <a:prstGeom prst="rect">
            <a:avLst/>
          </a:prstGeom>
          <a:noFill/>
          <a:ln>
            <a:solidFill>
              <a:schemeClr val="accent1"/>
            </a:solidFill>
          </a:ln>
        </p:spPr>
        <p:txBody>
          <a:bodyPr wrap="square" lIns="0" tIns="0" rIns="0" bIns="0" rtlCol="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1305.</a:t>
            </a:r>
            <a:r>
              <a:rPr lang="en-US" sz="1067" b="1">
                <a:solidFill>
                  <a:srgbClr val="0066CC"/>
                </a:solidFill>
                <a:latin typeface="Calibri" panose="020F0502020204030204" pitchFamily="34" charset="0"/>
                <a:cs typeface="Calibri" panose="020F0502020204030204" pitchFamily="34" charset="0"/>
              </a:rPr>
              <a:t>146</a:t>
            </a:r>
            <a:endPar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endParaRPr>
          </a:p>
        </p:txBody>
      </p:sp>
      <p:sp>
        <p:nvSpPr>
          <p:cNvPr id="74" name="Rectangle 37">
            <a:extLst>
              <a:ext uri="{FF2B5EF4-FFF2-40B4-BE49-F238E27FC236}">
                <a16:creationId xmlns:a16="http://schemas.microsoft.com/office/drawing/2014/main" id="{746D3092-0F5B-DB3A-712C-01A8715D116A}"/>
              </a:ext>
            </a:extLst>
          </p:cNvPr>
          <p:cNvSpPr/>
          <p:nvPr/>
        </p:nvSpPr>
        <p:spPr>
          <a:xfrm>
            <a:off x="9210018" y="2230895"/>
            <a:ext cx="92572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Jul 2030</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6" name="Rectangle 37">
            <a:extLst>
              <a:ext uri="{FF2B5EF4-FFF2-40B4-BE49-F238E27FC236}">
                <a16:creationId xmlns:a16="http://schemas.microsoft.com/office/drawing/2014/main" id="{A52462A7-4A25-D5CC-A325-FC5428278EC8}"/>
              </a:ext>
            </a:extLst>
          </p:cNvPr>
          <p:cNvSpPr/>
          <p:nvPr/>
        </p:nvSpPr>
        <p:spPr>
          <a:xfrm>
            <a:off x="9946751" y="2194953"/>
            <a:ext cx="798581"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Dec 2030</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91" name="Freeform: Shape 152">
            <a:extLst>
              <a:ext uri="{FF2B5EF4-FFF2-40B4-BE49-F238E27FC236}">
                <a16:creationId xmlns:a16="http://schemas.microsoft.com/office/drawing/2014/main" id="{A0BD9FC3-582B-B89D-4B82-30D868E44B7F}"/>
              </a:ext>
            </a:extLst>
          </p:cNvPr>
          <p:cNvSpPr/>
          <p:nvPr/>
        </p:nvSpPr>
        <p:spPr bwMode="auto">
          <a:xfrm>
            <a:off x="48865" y="4097667"/>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1219110"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China</a:t>
            </a: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92" name="Oval 134">
            <a:extLst>
              <a:ext uri="{FF2B5EF4-FFF2-40B4-BE49-F238E27FC236}">
                <a16:creationId xmlns:a16="http://schemas.microsoft.com/office/drawing/2014/main" id="{44D0AEC4-0BC8-081F-C304-79CD12250479}"/>
              </a:ext>
            </a:extLst>
          </p:cNvPr>
          <p:cNvSpPr/>
          <p:nvPr/>
        </p:nvSpPr>
        <p:spPr>
          <a:xfrm>
            <a:off x="-2107" y="3987011"/>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pic>
        <p:nvPicPr>
          <p:cNvPr id="94" name="Picture 2" descr="Image result for China flag circle png">
            <a:extLst>
              <a:ext uri="{FF2B5EF4-FFF2-40B4-BE49-F238E27FC236}">
                <a16:creationId xmlns:a16="http://schemas.microsoft.com/office/drawing/2014/main" id="{DC586996-92EC-B516-6A40-E5EF485599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969" y="4032506"/>
            <a:ext cx="374799" cy="37479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D99CB1D6-0BBC-C0C6-88E3-E968FB7B4220}"/>
              </a:ext>
            </a:extLst>
          </p:cNvPr>
          <p:cNvPicPr>
            <a:picLocks noChangeAspect="1"/>
          </p:cNvPicPr>
          <p:nvPr/>
        </p:nvPicPr>
        <p:blipFill>
          <a:blip r:embed="rId7"/>
          <a:stretch>
            <a:fillRect/>
          </a:stretch>
        </p:blipFill>
        <p:spPr>
          <a:xfrm>
            <a:off x="21439" y="1602873"/>
            <a:ext cx="854956" cy="418383"/>
          </a:xfrm>
          <a:prstGeom prst="rect">
            <a:avLst/>
          </a:prstGeom>
        </p:spPr>
      </p:pic>
      <p:sp>
        <p:nvSpPr>
          <p:cNvPr id="36" name="Rectangle 37">
            <a:extLst>
              <a:ext uri="{FF2B5EF4-FFF2-40B4-BE49-F238E27FC236}">
                <a16:creationId xmlns:a16="http://schemas.microsoft.com/office/drawing/2014/main" id="{102F093A-398A-4A0D-862F-C2D08A93DF66}"/>
              </a:ext>
            </a:extLst>
          </p:cNvPr>
          <p:cNvSpPr/>
          <p:nvPr/>
        </p:nvSpPr>
        <p:spPr>
          <a:xfrm>
            <a:off x="1909442" y="2121389"/>
            <a:ext cx="489451"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5 Jan 2026</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grpSp>
        <p:nvGrpSpPr>
          <p:cNvPr id="3" name="Group 2">
            <a:extLst>
              <a:ext uri="{FF2B5EF4-FFF2-40B4-BE49-F238E27FC236}">
                <a16:creationId xmlns:a16="http://schemas.microsoft.com/office/drawing/2014/main" id="{BBEAF94D-1511-83C8-79F5-B8D5C36F09AD}"/>
              </a:ext>
            </a:extLst>
          </p:cNvPr>
          <p:cNvGrpSpPr/>
          <p:nvPr/>
        </p:nvGrpSpPr>
        <p:grpSpPr>
          <a:xfrm>
            <a:off x="1568687" y="1422173"/>
            <a:ext cx="546747" cy="3225417"/>
            <a:chOff x="1956799" y="1275522"/>
            <a:chExt cx="546747" cy="3893172"/>
          </a:xfrm>
        </p:grpSpPr>
        <p:cxnSp>
          <p:nvCxnSpPr>
            <p:cNvPr id="5" name="Straight Connector 4">
              <a:extLst>
                <a:ext uri="{FF2B5EF4-FFF2-40B4-BE49-F238E27FC236}">
                  <a16:creationId xmlns:a16="http://schemas.microsoft.com/office/drawing/2014/main" id="{84D297EC-4348-DB57-F5AA-1B1411817215}"/>
                </a:ext>
              </a:extLst>
            </p:cNvPr>
            <p:cNvCxnSpPr>
              <a:cxnSpLocks/>
            </p:cNvCxnSpPr>
            <p:nvPr/>
          </p:nvCxnSpPr>
          <p:spPr bwMode="auto">
            <a:xfrm flipV="1">
              <a:off x="2278209" y="139372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6" name="OTLSHAPE_T_e17f3958430f4cff8650518c93c7635e_StartDate">
              <a:extLst>
                <a:ext uri="{FF2B5EF4-FFF2-40B4-BE49-F238E27FC236}">
                  <a16:creationId xmlns:a16="http://schemas.microsoft.com/office/drawing/2014/main" id="{58228150-1EB6-A7B7-5256-9BC2F9BD662D}"/>
                </a:ext>
              </a:extLst>
            </p:cNvPr>
            <p:cNvSpPr txBox="1"/>
            <p:nvPr>
              <p:custDataLst>
                <p:tags r:id="rId3"/>
              </p:custDataLst>
            </p:nvPr>
          </p:nvSpPr>
          <p:spPr>
            <a:xfrm>
              <a:off x="1956799" y="1275522"/>
              <a:ext cx="546747" cy="123159"/>
            </a:xfrm>
            <a:prstGeom prst="rect">
              <a:avLst/>
            </a:prstGeom>
            <a:noFill/>
            <a:ln w="12700">
              <a:noFill/>
            </a:ln>
          </p:spPr>
          <p:txBody>
            <a:bodyPr vert="horz" wrap="square" lIns="0" tIns="0" rIns="0" bIns="0" rtlCol="0" anchor="ctr" anchorCtr="0">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23" name="Rectangle 37">
            <a:extLst>
              <a:ext uri="{FF2B5EF4-FFF2-40B4-BE49-F238E27FC236}">
                <a16:creationId xmlns:a16="http://schemas.microsoft.com/office/drawing/2014/main" id="{AEEDF1CF-1B28-29BB-DA6B-8CAC7E425104}"/>
              </a:ext>
            </a:extLst>
          </p:cNvPr>
          <p:cNvSpPr/>
          <p:nvPr/>
        </p:nvSpPr>
        <p:spPr>
          <a:xfrm>
            <a:off x="1037581" y="2578699"/>
            <a:ext cx="676530"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a:ea typeface="Calibri"/>
                <a:cs typeface="Calibri"/>
              </a:rPr>
              <a:t>Release of </a:t>
            </a:r>
            <a:r>
              <a:rPr lang="en-US" altLang="zh-CN" sz="900" b="1" err="1">
                <a:solidFill>
                  <a:srgbClr val="44546A"/>
                </a:solidFill>
                <a:latin typeface="Calibri"/>
                <a:ea typeface="Calibri"/>
                <a:cs typeface="Calibri"/>
              </a:rPr>
              <a:t>SoD</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11" name="5-Point Star 5">
            <a:extLst>
              <a:ext uri="{FF2B5EF4-FFF2-40B4-BE49-F238E27FC236}">
                <a16:creationId xmlns:a16="http://schemas.microsoft.com/office/drawing/2014/main" id="{82BEEE8B-5ECD-3301-7E17-9A591BFA9F7E}"/>
              </a:ext>
            </a:extLst>
          </p:cNvPr>
          <p:cNvSpPr/>
          <p:nvPr/>
        </p:nvSpPr>
        <p:spPr>
          <a:xfrm>
            <a:off x="1305076" y="2406729"/>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9050">
              <a:defRPr/>
            </a:pPr>
            <a:endParaRPr lang="en-US" sz="1867" err="1">
              <a:solidFill>
                <a:srgbClr val="000000"/>
              </a:solidFill>
              <a:latin typeface="BISansOpti"/>
            </a:endParaRPr>
          </a:p>
        </p:txBody>
      </p:sp>
      <p:sp>
        <p:nvSpPr>
          <p:cNvPr id="16" name="5-Point Star 5">
            <a:extLst>
              <a:ext uri="{FF2B5EF4-FFF2-40B4-BE49-F238E27FC236}">
                <a16:creationId xmlns:a16="http://schemas.microsoft.com/office/drawing/2014/main" id="{0721F5EF-523D-C675-6B09-35C4E26760A0}"/>
              </a:ext>
            </a:extLst>
          </p:cNvPr>
          <p:cNvSpPr/>
          <p:nvPr/>
        </p:nvSpPr>
        <p:spPr>
          <a:xfrm>
            <a:off x="2064846" y="2428778"/>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9050">
              <a:defRPr/>
            </a:pPr>
            <a:endParaRPr lang="en-US" sz="1867" err="1">
              <a:solidFill>
                <a:srgbClr val="000000"/>
              </a:solidFill>
              <a:latin typeface="BISansOpti"/>
            </a:endParaRPr>
          </a:p>
        </p:txBody>
      </p:sp>
      <p:sp>
        <p:nvSpPr>
          <p:cNvPr id="24" name="TextBox 85">
            <a:extLst>
              <a:ext uri="{FF2B5EF4-FFF2-40B4-BE49-F238E27FC236}">
                <a16:creationId xmlns:a16="http://schemas.microsoft.com/office/drawing/2014/main" id="{180E7212-2E50-B1FA-2D76-E54AA3E8A24D}"/>
              </a:ext>
            </a:extLst>
          </p:cNvPr>
          <p:cNvSpPr txBox="1"/>
          <p:nvPr/>
        </p:nvSpPr>
        <p:spPr bwMode="gray">
          <a:xfrm>
            <a:off x="1375846" y="5307889"/>
            <a:ext cx="8436426" cy="23692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4330" marR="0" lvl="0" indent="-1714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sz="1200"/>
              <a:t>SoD for Nerandomilast in Myositis was released by HPSC on Jul 2</a:t>
            </a:r>
            <a:r>
              <a:rPr lang="en-US" sz="1200" baseline="30000"/>
              <a:t>nd</a:t>
            </a:r>
            <a:r>
              <a:rPr lang="en-US" sz="1200"/>
              <a:t>, 2025. </a:t>
            </a:r>
            <a:endPar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Rectangle 37">
            <a:extLst>
              <a:ext uri="{FF2B5EF4-FFF2-40B4-BE49-F238E27FC236}">
                <a16:creationId xmlns:a16="http://schemas.microsoft.com/office/drawing/2014/main" id="{ED73342C-FE36-5634-2026-5EC1D4A7D183}"/>
              </a:ext>
            </a:extLst>
          </p:cNvPr>
          <p:cNvSpPr/>
          <p:nvPr/>
        </p:nvSpPr>
        <p:spPr>
          <a:xfrm>
            <a:off x="1156157" y="2121781"/>
            <a:ext cx="439377"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a:ea typeface="Calibri"/>
                <a:cs typeface="Calibri"/>
              </a:rPr>
              <a:t>2 Jul 2025</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22" name="Rectangle 37">
            <a:extLst>
              <a:ext uri="{FF2B5EF4-FFF2-40B4-BE49-F238E27FC236}">
                <a16:creationId xmlns:a16="http://schemas.microsoft.com/office/drawing/2014/main" id="{9224650A-8B0F-8B80-E3AF-FEA775259B67}"/>
              </a:ext>
            </a:extLst>
          </p:cNvPr>
          <p:cNvSpPr/>
          <p:nvPr/>
        </p:nvSpPr>
        <p:spPr>
          <a:xfrm>
            <a:off x="1976630" y="2593290"/>
            <a:ext cx="330436"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a:ea typeface="Calibri"/>
                <a:cs typeface="Calibri"/>
              </a:rPr>
              <a:t>HAI sub.</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25" name="Star: 4 Points 143">
            <a:extLst>
              <a:ext uri="{FF2B5EF4-FFF2-40B4-BE49-F238E27FC236}">
                <a16:creationId xmlns:a16="http://schemas.microsoft.com/office/drawing/2014/main" id="{6CDCE35A-7C4F-3A71-AD79-C0B650C2E713}"/>
              </a:ext>
            </a:extLst>
          </p:cNvPr>
          <p:cNvSpPr/>
          <p:nvPr/>
        </p:nvSpPr>
        <p:spPr bwMode="auto">
          <a:xfrm>
            <a:off x="2327262" y="240748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6" name="Rectangle 37">
            <a:extLst>
              <a:ext uri="{FF2B5EF4-FFF2-40B4-BE49-F238E27FC236}">
                <a16:creationId xmlns:a16="http://schemas.microsoft.com/office/drawing/2014/main" id="{9505647F-61E1-2F55-BEBB-1B1AD432B322}"/>
              </a:ext>
            </a:extLst>
          </p:cNvPr>
          <p:cNvSpPr/>
          <p:nvPr/>
        </p:nvSpPr>
        <p:spPr>
          <a:xfrm>
            <a:off x="2226498" y="2645161"/>
            <a:ext cx="474139"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err="1">
                <a:solidFill>
                  <a:srgbClr val="44546A"/>
                </a:solidFill>
                <a:latin typeface="Calibri"/>
                <a:ea typeface="Calibri"/>
                <a:cs typeface="Calibri"/>
              </a:rPr>
              <a:t>RoFD</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28" name="Rectangle 37">
            <a:extLst>
              <a:ext uri="{FF2B5EF4-FFF2-40B4-BE49-F238E27FC236}">
                <a16:creationId xmlns:a16="http://schemas.microsoft.com/office/drawing/2014/main" id="{F79DE200-08CF-E0A7-2E6F-2083DD9A0A03}"/>
              </a:ext>
            </a:extLst>
          </p:cNvPr>
          <p:cNvSpPr/>
          <p:nvPr/>
        </p:nvSpPr>
        <p:spPr>
          <a:xfrm>
            <a:off x="2226498" y="2130307"/>
            <a:ext cx="489451"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a:ea typeface="Calibri"/>
                <a:cs typeface="Calibri"/>
              </a:rPr>
              <a:t>30</a:t>
            </a: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 Mar 2026</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29" name="Rectangle 37">
            <a:extLst>
              <a:ext uri="{FF2B5EF4-FFF2-40B4-BE49-F238E27FC236}">
                <a16:creationId xmlns:a16="http://schemas.microsoft.com/office/drawing/2014/main" id="{7F7D30F1-AC66-2699-BB9D-36E44EE47BB2}"/>
              </a:ext>
            </a:extLst>
          </p:cNvPr>
          <p:cNvSpPr/>
          <p:nvPr/>
        </p:nvSpPr>
        <p:spPr>
          <a:xfrm>
            <a:off x="2562375" y="2142762"/>
            <a:ext cx="394415"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a:ea typeface="Calibri"/>
                <a:cs typeface="Calibri"/>
              </a:rPr>
              <a:t>Apr </a:t>
            </a: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2026</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32" name="5-Point Star 5">
            <a:extLst>
              <a:ext uri="{FF2B5EF4-FFF2-40B4-BE49-F238E27FC236}">
                <a16:creationId xmlns:a16="http://schemas.microsoft.com/office/drawing/2014/main" id="{815972BF-BC78-59F7-FCC3-EFA043A2A584}"/>
              </a:ext>
            </a:extLst>
          </p:cNvPr>
          <p:cNvSpPr/>
          <p:nvPr/>
        </p:nvSpPr>
        <p:spPr>
          <a:xfrm>
            <a:off x="2654782" y="2441521"/>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9050">
              <a:defRPr/>
            </a:pPr>
            <a:endParaRPr lang="en-US" sz="1867" err="1">
              <a:solidFill>
                <a:srgbClr val="000000"/>
              </a:solidFill>
              <a:latin typeface="BISansOpti"/>
            </a:endParaRPr>
          </a:p>
        </p:txBody>
      </p:sp>
      <p:sp>
        <p:nvSpPr>
          <p:cNvPr id="33" name="Rectangle 37">
            <a:extLst>
              <a:ext uri="{FF2B5EF4-FFF2-40B4-BE49-F238E27FC236}">
                <a16:creationId xmlns:a16="http://schemas.microsoft.com/office/drawing/2014/main" id="{5245B287-EDE7-FF1A-D81D-920CF07AC9FE}"/>
              </a:ext>
            </a:extLst>
          </p:cNvPr>
          <p:cNvSpPr/>
          <p:nvPr/>
        </p:nvSpPr>
        <p:spPr>
          <a:xfrm>
            <a:off x="2566566" y="2606033"/>
            <a:ext cx="330436"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a:ea typeface="Calibri"/>
                <a:cs typeface="Calibri"/>
              </a:rPr>
              <a:t>CTA sub.</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34" name="Rectangle 37">
            <a:extLst>
              <a:ext uri="{FF2B5EF4-FFF2-40B4-BE49-F238E27FC236}">
                <a16:creationId xmlns:a16="http://schemas.microsoft.com/office/drawing/2014/main" id="{5FD646FE-4239-2450-00F6-084AEDB4B9EC}"/>
              </a:ext>
            </a:extLst>
          </p:cNvPr>
          <p:cNvSpPr/>
          <p:nvPr/>
        </p:nvSpPr>
        <p:spPr>
          <a:xfrm>
            <a:off x="3074356" y="2132030"/>
            <a:ext cx="394415"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a:ea typeface="Calibri"/>
                <a:cs typeface="Calibri"/>
              </a:rPr>
              <a:t>Sep </a:t>
            </a: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2026</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35" name="5-Point Star 5">
            <a:extLst>
              <a:ext uri="{FF2B5EF4-FFF2-40B4-BE49-F238E27FC236}">
                <a16:creationId xmlns:a16="http://schemas.microsoft.com/office/drawing/2014/main" id="{0962F0A8-0FDF-A001-0D64-E8BE49EA4BD6}"/>
              </a:ext>
            </a:extLst>
          </p:cNvPr>
          <p:cNvSpPr/>
          <p:nvPr/>
        </p:nvSpPr>
        <p:spPr>
          <a:xfrm>
            <a:off x="3166763" y="2430789"/>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9050">
              <a:defRPr/>
            </a:pPr>
            <a:endParaRPr lang="en-US" sz="1867" err="1">
              <a:solidFill>
                <a:srgbClr val="000000"/>
              </a:solidFill>
              <a:latin typeface="BISansOpti"/>
            </a:endParaRPr>
          </a:p>
        </p:txBody>
      </p:sp>
      <p:sp>
        <p:nvSpPr>
          <p:cNvPr id="37" name="Rectangle 37">
            <a:extLst>
              <a:ext uri="{FF2B5EF4-FFF2-40B4-BE49-F238E27FC236}">
                <a16:creationId xmlns:a16="http://schemas.microsoft.com/office/drawing/2014/main" id="{9BB1C23E-547A-6E4B-BB05-76C8B9B18DF8}"/>
              </a:ext>
            </a:extLst>
          </p:cNvPr>
          <p:cNvSpPr/>
          <p:nvPr/>
        </p:nvSpPr>
        <p:spPr>
          <a:xfrm>
            <a:off x="3078547" y="2664551"/>
            <a:ext cx="330436"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a:ea typeface="Calibri"/>
                <a:cs typeface="Calibri"/>
              </a:rPr>
              <a:t>FSS</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pic>
        <p:nvPicPr>
          <p:cNvPr id="52" name="Graphic 51" descr="Flag with solid fill">
            <a:extLst>
              <a:ext uri="{FF2B5EF4-FFF2-40B4-BE49-F238E27FC236}">
                <a16:creationId xmlns:a16="http://schemas.microsoft.com/office/drawing/2014/main" id="{0DDFC8A5-EC70-5950-407B-6C8C1FE0E8F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215370" y="2413363"/>
            <a:ext cx="194560" cy="194560"/>
          </a:xfrm>
          <a:prstGeom prst="rect">
            <a:avLst/>
          </a:prstGeom>
        </p:spPr>
      </p:pic>
      <p:sp>
        <p:nvSpPr>
          <p:cNvPr id="68" name="五角星 55">
            <a:extLst>
              <a:ext uri="{FF2B5EF4-FFF2-40B4-BE49-F238E27FC236}">
                <a16:creationId xmlns:a16="http://schemas.microsoft.com/office/drawing/2014/main" id="{001E36D7-2A61-B5BE-39B6-EC5D93CD29CA}"/>
              </a:ext>
            </a:extLst>
          </p:cNvPr>
          <p:cNvSpPr>
            <a:spLocks noChangeAspect="1"/>
          </p:cNvSpPr>
          <p:nvPr/>
        </p:nvSpPr>
        <p:spPr bwMode="auto">
          <a:xfrm>
            <a:off x="9582527" y="2426119"/>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1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18" name="Star: 4 Points 143">
            <a:extLst>
              <a:ext uri="{FF2B5EF4-FFF2-40B4-BE49-F238E27FC236}">
                <a16:creationId xmlns:a16="http://schemas.microsoft.com/office/drawing/2014/main" id="{6FA699E2-EEBC-6046-4A03-EE13B89D46A2}"/>
              </a:ext>
            </a:extLst>
          </p:cNvPr>
          <p:cNvSpPr/>
          <p:nvPr/>
        </p:nvSpPr>
        <p:spPr bwMode="auto">
          <a:xfrm>
            <a:off x="8982795" y="246586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2" name="Rectangle 37">
            <a:extLst>
              <a:ext uri="{FF2B5EF4-FFF2-40B4-BE49-F238E27FC236}">
                <a16:creationId xmlns:a16="http://schemas.microsoft.com/office/drawing/2014/main" id="{AC49629E-B22F-E531-6A02-82CFBF4D3A98}"/>
              </a:ext>
            </a:extLst>
          </p:cNvPr>
          <p:cNvSpPr/>
          <p:nvPr/>
        </p:nvSpPr>
        <p:spPr>
          <a:xfrm>
            <a:off x="9265792" y="2664592"/>
            <a:ext cx="92572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43" name="Rectangle 37">
            <a:extLst>
              <a:ext uri="{FF2B5EF4-FFF2-40B4-BE49-F238E27FC236}">
                <a16:creationId xmlns:a16="http://schemas.microsoft.com/office/drawing/2014/main" id="{9A6C4EA8-B793-1662-AF24-1A2D38FAC6B9}"/>
              </a:ext>
            </a:extLst>
          </p:cNvPr>
          <p:cNvSpPr/>
          <p:nvPr/>
        </p:nvSpPr>
        <p:spPr>
          <a:xfrm>
            <a:off x="9946751" y="2662758"/>
            <a:ext cx="798581"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Appr.</a:t>
            </a:r>
          </a:p>
        </p:txBody>
      </p:sp>
      <p:sp>
        <p:nvSpPr>
          <p:cNvPr id="53" name="Rectangle 37">
            <a:extLst>
              <a:ext uri="{FF2B5EF4-FFF2-40B4-BE49-F238E27FC236}">
                <a16:creationId xmlns:a16="http://schemas.microsoft.com/office/drawing/2014/main" id="{46CD4FFF-58E8-8078-ACEB-3F75D907E906}"/>
              </a:ext>
            </a:extLst>
          </p:cNvPr>
          <p:cNvSpPr/>
          <p:nvPr/>
        </p:nvSpPr>
        <p:spPr>
          <a:xfrm>
            <a:off x="8570670" y="2239519"/>
            <a:ext cx="92572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Mar 2030</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54" name="Rectangle 37">
            <a:extLst>
              <a:ext uri="{FF2B5EF4-FFF2-40B4-BE49-F238E27FC236}">
                <a16:creationId xmlns:a16="http://schemas.microsoft.com/office/drawing/2014/main" id="{B015F5F3-E46D-887B-0E93-9A8A74B8C7EE}"/>
              </a:ext>
            </a:extLst>
          </p:cNvPr>
          <p:cNvSpPr/>
          <p:nvPr/>
        </p:nvSpPr>
        <p:spPr>
          <a:xfrm>
            <a:off x="8651012" y="2641030"/>
            <a:ext cx="92572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DBL</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55" name="OTLSHAPE_T_e17f3958430f4cff8650518c93c7635e_Shape">
            <a:extLst>
              <a:ext uri="{FF2B5EF4-FFF2-40B4-BE49-F238E27FC236}">
                <a16:creationId xmlns:a16="http://schemas.microsoft.com/office/drawing/2014/main" id="{709A11AE-27F4-5FE6-B882-B32E145FDA9C}"/>
              </a:ext>
            </a:extLst>
          </p:cNvPr>
          <p:cNvSpPr/>
          <p:nvPr>
            <p:custDataLst>
              <p:tags r:id="rId2"/>
            </p:custDataLst>
          </p:nvPr>
        </p:nvSpPr>
        <p:spPr bwMode="auto">
          <a:xfrm>
            <a:off x="3668486" y="4580405"/>
            <a:ext cx="5415896" cy="197758"/>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r>
              <a:rPr lang="en-US" altLang="zh-CN" sz="1000" b="1">
                <a:solidFill>
                  <a:srgbClr val="000000"/>
                </a:solidFill>
                <a:latin typeface="Calibri" panose="020F0502020204030204" pitchFamily="34" charset="0"/>
                <a:cs typeface="Calibri" panose="020F0502020204030204" pitchFamily="34" charset="0"/>
              </a:rPr>
              <a:t>TBU</a:t>
            </a: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5-Point Star 5">
            <a:extLst>
              <a:ext uri="{FF2B5EF4-FFF2-40B4-BE49-F238E27FC236}">
                <a16:creationId xmlns:a16="http://schemas.microsoft.com/office/drawing/2014/main" id="{B2333206-A6FB-E983-3A47-3C5E252AC2AD}"/>
              </a:ext>
            </a:extLst>
          </p:cNvPr>
          <p:cNvSpPr/>
          <p:nvPr/>
        </p:nvSpPr>
        <p:spPr>
          <a:xfrm>
            <a:off x="2203905" y="4542539"/>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9050">
              <a:defRPr/>
            </a:pPr>
            <a:endParaRPr lang="en-US" sz="1867" err="1">
              <a:solidFill>
                <a:srgbClr val="000000"/>
              </a:solidFill>
              <a:latin typeface="BISansOpti"/>
            </a:endParaRPr>
          </a:p>
        </p:txBody>
      </p:sp>
      <p:sp>
        <p:nvSpPr>
          <p:cNvPr id="8" name="Rectangle 37">
            <a:extLst>
              <a:ext uri="{FF2B5EF4-FFF2-40B4-BE49-F238E27FC236}">
                <a16:creationId xmlns:a16="http://schemas.microsoft.com/office/drawing/2014/main" id="{97F6BD07-BB15-D2AD-C27A-56AC35948AF5}"/>
              </a:ext>
            </a:extLst>
          </p:cNvPr>
          <p:cNvSpPr/>
          <p:nvPr/>
        </p:nvSpPr>
        <p:spPr>
          <a:xfrm>
            <a:off x="2115689" y="4707051"/>
            <a:ext cx="330436"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a:ea typeface="Calibri"/>
                <a:cs typeface="Calibri"/>
              </a:rPr>
              <a:t>HAI sub.</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10" name="Rectangle 37">
            <a:extLst>
              <a:ext uri="{FF2B5EF4-FFF2-40B4-BE49-F238E27FC236}">
                <a16:creationId xmlns:a16="http://schemas.microsoft.com/office/drawing/2014/main" id="{4B7CCD61-95C2-8C9D-582C-F4EDE2DAA9A7}"/>
              </a:ext>
            </a:extLst>
          </p:cNvPr>
          <p:cNvSpPr/>
          <p:nvPr/>
        </p:nvSpPr>
        <p:spPr>
          <a:xfrm>
            <a:off x="2701434" y="4325773"/>
            <a:ext cx="394415"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a:ea typeface="Calibri"/>
                <a:cs typeface="Calibri"/>
              </a:rPr>
              <a:t>TBC</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12" name="5-Point Star 5">
            <a:extLst>
              <a:ext uri="{FF2B5EF4-FFF2-40B4-BE49-F238E27FC236}">
                <a16:creationId xmlns:a16="http://schemas.microsoft.com/office/drawing/2014/main" id="{48BC4DF3-964D-70E0-57E0-AFDFDD210F50}"/>
              </a:ext>
            </a:extLst>
          </p:cNvPr>
          <p:cNvSpPr/>
          <p:nvPr/>
        </p:nvSpPr>
        <p:spPr>
          <a:xfrm>
            <a:off x="2793841" y="4555282"/>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9050">
              <a:defRPr/>
            </a:pPr>
            <a:endParaRPr lang="en-US" sz="1867" err="1">
              <a:solidFill>
                <a:srgbClr val="000000"/>
              </a:solidFill>
              <a:latin typeface="BISansOpti"/>
            </a:endParaRPr>
          </a:p>
        </p:txBody>
      </p:sp>
      <p:sp>
        <p:nvSpPr>
          <p:cNvPr id="14" name="Rectangle 37">
            <a:extLst>
              <a:ext uri="{FF2B5EF4-FFF2-40B4-BE49-F238E27FC236}">
                <a16:creationId xmlns:a16="http://schemas.microsoft.com/office/drawing/2014/main" id="{C4C035A4-491D-83BB-E260-8D3D6399C4BD}"/>
              </a:ext>
            </a:extLst>
          </p:cNvPr>
          <p:cNvSpPr/>
          <p:nvPr/>
        </p:nvSpPr>
        <p:spPr>
          <a:xfrm>
            <a:off x="2705625" y="4719794"/>
            <a:ext cx="330436"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a:ea typeface="Calibri"/>
                <a:cs typeface="Calibri"/>
              </a:rPr>
              <a:t>CTA sub.</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15" name="Rectangle 37">
            <a:extLst>
              <a:ext uri="{FF2B5EF4-FFF2-40B4-BE49-F238E27FC236}">
                <a16:creationId xmlns:a16="http://schemas.microsoft.com/office/drawing/2014/main" id="{12014EE0-CC24-6ECA-4992-1C1C6EA86E4A}"/>
              </a:ext>
            </a:extLst>
          </p:cNvPr>
          <p:cNvSpPr/>
          <p:nvPr/>
        </p:nvSpPr>
        <p:spPr>
          <a:xfrm>
            <a:off x="2051040" y="4352208"/>
            <a:ext cx="489451"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Mid Jan</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17" name="Rectangle 37">
            <a:extLst>
              <a:ext uri="{FF2B5EF4-FFF2-40B4-BE49-F238E27FC236}">
                <a16:creationId xmlns:a16="http://schemas.microsoft.com/office/drawing/2014/main" id="{20776CF6-ECCD-54F6-3962-8B8C27F2BB09}"/>
              </a:ext>
            </a:extLst>
          </p:cNvPr>
          <p:cNvSpPr/>
          <p:nvPr/>
        </p:nvSpPr>
        <p:spPr>
          <a:xfrm>
            <a:off x="9407965" y="4431869"/>
            <a:ext cx="92572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panose="020F0502020204030204" pitchFamily="34" charset="0"/>
                <a:cs typeface="Calibri" panose="020F0502020204030204" pitchFamily="34" charset="0"/>
              </a:rPr>
              <a:t>Aug</a:t>
            </a: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2030</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9" name="Rectangle 37">
            <a:extLst>
              <a:ext uri="{FF2B5EF4-FFF2-40B4-BE49-F238E27FC236}">
                <a16:creationId xmlns:a16="http://schemas.microsoft.com/office/drawing/2014/main" id="{49B42C50-B02C-7FA3-EB2F-F44C8DB407B6}"/>
              </a:ext>
            </a:extLst>
          </p:cNvPr>
          <p:cNvSpPr/>
          <p:nvPr/>
        </p:nvSpPr>
        <p:spPr>
          <a:xfrm>
            <a:off x="10712037" y="4394839"/>
            <a:ext cx="798581"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panose="020F0502020204030204" pitchFamily="34" charset="0"/>
                <a:cs typeface="Calibri" panose="020F0502020204030204" pitchFamily="34" charset="0"/>
              </a:rPr>
              <a:t>Jun</a:t>
            </a: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2031</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pic>
        <p:nvPicPr>
          <p:cNvPr id="20" name="Graphic 51" descr="Flag with solid fill">
            <a:extLst>
              <a:ext uri="{FF2B5EF4-FFF2-40B4-BE49-F238E27FC236}">
                <a16:creationId xmlns:a16="http://schemas.microsoft.com/office/drawing/2014/main" id="{B93FDA7A-D01A-1740-FEDF-9D6B263EA6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980656" y="4613249"/>
            <a:ext cx="194560" cy="194560"/>
          </a:xfrm>
          <a:prstGeom prst="rect">
            <a:avLst/>
          </a:prstGeom>
        </p:spPr>
      </p:pic>
      <p:sp>
        <p:nvSpPr>
          <p:cNvPr id="21" name="五角星 55">
            <a:extLst>
              <a:ext uri="{FF2B5EF4-FFF2-40B4-BE49-F238E27FC236}">
                <a16:creationId xmlns:a16="http://schemas.microsoft.com/office/drawing/2014/main" id="{9B1C1E33-FE2F-82E1-048F-0810490EF131}"/>
              </a:ext>
            </a:extLst>
          </p:cNvPr>
          <p:cNvSpPr>
            <a:spLocks noChangeAspect="1"/>
          </p:cNvSpPr>
          <p:nvPr/>
        </p:nvSpPr>
        <p:spPr bwMode="auto">
          <a:xfrm>
            <a:off x="9731353" y="4648242"/>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1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30" name="Rectangle 37">
            <a:extLst>
              <a:ext uri="{FF2B5EF4-FFF2-40B4-BE49-F238E27FC236}">
                <a16:creationId xmlns:a16="http://schemas.microsoft.com/office/drawing/2014/main" id="{B98ACD89-C553-AB3E-B4A2-60BE1B9BBD52}"/>
              </a:ext>
            </a:extLst>
          </p:cNvPr>
          <p:cNvSpPr/>
          <p:nvPr/>
        </p:nvSpPr>
        <p:spPr>
          <a:xfrm>
            <a:off x="9341555" y="4897985"/>
            <a:ext cx="92572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1" name="Rectangle 37">
            <a:extLst>
              <a:ext uri="{FF2B5EF4-FFF2-40B4-BE49-F238E27FC236}">
                <a16:creationId xmlns:a16="http://schemas.microsoft.com/office/drawing/2014/main" id="{031535F4-0D35-FC0F-CB03-D5C31A29CCAF}"/>
              </a:ext>
            </a:extLst>
          </p:cNvPr>
          <p:cNvSpPr/>
          <p:nvPr/>
        </p:nvSpPr>
        <p:spPr>
          <a:xfrm>
            <a:off x="10712037" y="4862644"/>
            <a:ext cx="798581"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Appr.</a:t>
            </a:r>
          </a:p>
        </p:txBody>
      </p:sp>
    </p:spTree>
    <p:extLst>
      <p:ext uri="{BB962C8B-B14F-4D97-AF65-F5344CB8AC3E}">
        <p14:creationId xmlns:p14="http://schemas.microsoft.com/office/powerpoint/2010/main" val="966417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744C-4A7A-DAFF-15D5-6D20D5998967}"/>
              </a:ext>
            </a:extLst>
          </p:cNvPr>
          <p:cNvSpPr>
            <a:spLocks noGrp="1"/>
          </p:cNvSpPr>
          <p:nvPr>
            <p:ph type="ctrTitle"/>
          </p:nvPr>
        </p:nvSpPr>
        <p:spPr/>
        <p:txBody>
          <a:bodyPr/>
          <a:lstStyle/>
          <a:p>
            <a:r>
              <a:rPr lang="de-DE"/>
              <a:t>Update Verducatib</a:t>
            </a:r>
            <a:endParaRPr lang="en-US"/>
          </a:p>
        </p:txBody>
      </p:sp>
      <p:sp>
        <p:nvSpPr>
          <p:cNvPr id="4" name="Footer Placeholder 3">
            <a:extLst>
              <a:ext uri="{FF2B5EF4-FFF2-40B4-BE49-F238E27FC236}">
                <a16:creationId xmlns:a16="http://schemas.microsoft.com/office/drawing/2014/main" id="{6ED5021E-1AC3-0E0C-D7C8-89B9CD912841}"/>
              </a:ext>
            </a:extLst>
          </p:cNvPr>
          <p:cNvSpPr>
            <a:spLocks noGrp="1"/>
          </p:cNvSpPr>
          <p:nvPr>
            <p:ph type="ftr" sz="quarter" idx="19"/>
          </p:nvPr>
        </p:nvSpPr>
        <p:spPr/>
        <p:txBody>
          <a:bodyPr/>
          <a:lstStyle/>
          <a:p>
            <a:r>
              <a:rPr lang="en-US"/>
              <a:t>ONLY FOR INTERNAL USE</a:t>
            </a:r>
          </a:p>
        </p:txBody>
      </p:sp>
    </p:spTree>
    <p:extLst>
      <p:ext uri="{BB962C8B-B14F-4D97-AF65-F5344CB8AC3E}">
        <p14:creationId xmlns:p14="http://schemas.microsoft.com/office/powerpoint/2010/main" val="231723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AC8A5D-AF9D-C977-4230-57FE3FB6642E}"/>
              </a:ext>
            </a:extLst>
          </p:cNvPr>
          <p:cNvSpPr>
            <a:spLocks noGrp="1"/>
          </p:cNvSpPr>
          <p:nvPr>
            <p:ph type="sldNum" sz="quarter" idx="20"/>
          </p:nvPr>
        </p:nvSpPr>
        <p:spPr/>
        <p:txBody>
          <a:bodyPr/>
          <a:lstStyle/>
          <a:p>
            <a:fld id="{DF4E8F9F-5B1F-4F5B-BE49-3245D8C18D9F}" type="slidenum">
              <a:rPr lang="en-US" smtClean="0"/>
              <a:pPr/>
              <a:t>20</a:t>
            </a:fld>
            <a:endParaRPr lang="en-US"/>
          </a:p>
        </p:txBody>
      </p:sp>
      <p:pic>
        <p:nvPicPr>
          <p:cNvPr id="6" name="Picture 5" descr="Traffic light - Simple English Wikipedia, the free ...">
            <a:extLst>
              <a:ext uri="{FF2B5EF4-FFF2-40B4-BE49-F238E27FC236}">
                <a16:creationId xmlns:a16="http://schemas.microsoft.com/office/drawing/2014/main" id="{09571202-1C5F-E536-4C35-7311E95A9E44}"/>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rot="16200000" flipV="1">
            <a:off x="10850096" y="-476913"/>
            <a:ext cx="698504" cy="1726513"/>
          </a:xfrm>
          <a:prstGeom prst="rect">
            <a:avLst/>
          </a:prstGeom>
        </p:spPr>
      </p:pic>
      <p:sp>
        <p:nvSpPr>
          <p:cNvPr id="7" name="标题 1">
            <a:extLst>
              <a:ext uri="{FF2B5EF4-FFF2-40B4-BE49-F238E27FC236}">
                <a16:creationId xmlns:a16="http://schemas.microsoft.com/office/drawing/2014/main" id="{7EBF7B03-1BFA-5613-5ABD-604ACD7C94B9}"/>
              </a:ext>
            </a:extLst>
          </p:cNvPr>
          <p:cNvSpPr>
            <a:spLocks noGrp="1"/>
          </p:cNvSpPr>
          <p:nvPr>
            <p:ph type="title"/>
          </p:nvPr>
        </p:nvSpPr>
        <p:spPr>
          <a:xfrm>
            <a:off x="413621" y="260435"/>
            <a:ext cx="11233150" cy="451108"/>
          </a:xfrm>
        </p:spPr>
        <p:txBody>
          <a:bodyPr vert="horz" lIns="0" tIns="0" rIns="0" bIns="0" rtlCol="0" anchor="t">
            <a:noAutofit/>
          </a:bodyPr>
          <a:lstStyle/>
          <a:p>
            <a:r>
              <a:rPr lang="it-IT" altLang="zh-CN"/>
              <a:t>BI 1291583/verducatib </a:t>
            </a:r>
            <a:r>
              <a:rPr lang="en-US"/>
              <a:t>(</a:t>
            </a:r>
            <a:r>
              <a:rPr lang="en-US" err="1"/>
              <a:t>CatC</a:t>
            </a:r>
            <a:r>
              <a:rPr lang="en-US"/>
              <a:t>/DPP-1 inhibitor): </a:t>
            </a:r>
            <a:r>
              <a:rPr lang="it-IT" altLang="zh-CN"/>
              <a:t>Bronchiectasis</a:t>
            </a:r>
            <a:endParaRPr lang="en-US"/>
          </a:p>
        </p:txBody>
      </p:sp>
      <p:graphicFrame>
        <p:nvGraphicFramePr>
          <p:cNvPr id="9" name="Table 8">
            <a:extLst>
              <a:ext uri="{FF2B5EF4-FFF2-40B4-BE49-F238E27FC236}">
                <a16:creationId xmlns:a16="http://schemas.microsoft.com/office/drawing/2014/main" id="{25173B41-C4CE-25F9-1B01-AAD5A8993EBD}"/>
              </a:ext>
            </a:extLst>
          </p:cNvPr>
          <p:cNvGraphicFramePr>
            <a:graphicFrameLocks noGrp="1"/>
          </p:cNvGraphicFramePr>
          <p:nvPr/>
        </p:nvGraphicFramePr>
        <p:xfrm>
          <a:off x="479425" y="957820"/>
          <a:ext cx="11583180" cy="526534"/>
        </p:xfrm>
        <a:graphic>
          <a:graphicData uri="http://schemas.openxmlformats.org/drawingml/2006/table">
            <a:tbl>
              <a:tblPr firstRow="1" bandRow="1"/>
              <a:tblGrid>
                <a:gridCol w="386106">
                  <a:extLst>
                    <a:ext uri="{9D8B030D-6E8A-4147-A177-3AD203B41FA5}">
                      <a16:colId xmlns:a16="http://schemas.microsoft.com/office/drawing/2014/main" val="3091663135"/>
                    </a:ext>
                  </a:extLst>
                </a:gridCol>
                <a:gridCol w="386106">
                  <a:extLst>
                    <a:ext uri="{9D8B030D-6E8A-4147-A177-3AD203B41FA5}">
                      <a16:colId xmlns:a16="http://schemas.microsoft.com/office/drawing/2014/main" val="2003423086"/>
                    </a:ext>
                  </a:extLst>
                </a:gridCol>
                <a:gridCol w="386106">
                  <a:extLst>
                    <a:ext uri="{9D8B030D-6E8A-4147-A177-3AD203B41FA5}">
                      <a16:colId xmlns:a16="http://schemas.microsoft.com/office/drawing/2014/main" val="2466911814"/>
                    </a:ext>
                  </a:extLst>
                </a:gridCol>
                <a:gridCol w="386106">
                  <a:extLst>
                    <a:ext uri="{9D8B030D-6E8A-4147-A177-3AD203B41FA5}">
                      <a16:colId xmlns:a16="http://schemas.microsoft.com/office/drawing/2014/main" val="3023231563"/>
                    </a:ext>
                  </a:extLst>
                </a:gridCol>
                <a:gridCol w="386106">
                  <a:extLst>
                    <a:ext uri="{9D8B030D-6E8A-4147-A177-3AD203B41FA5}">
                      <a16:colId xmlns:a16="http://schemas.microsoft.com/office/drawing/2014/main" val="3411862845"/>
                    </a:ext>
                  </a:extLst>
                </a:gridCol>
                <a:gridCol w="386106">
                  <a:extLst>
                    <a:ext uri="{9D8B030D-6E8A-4147-A177-3AD203B41FA5}">
                      <a16:colId xmlns:a16="http://schemas.microsoft.com/office/drawing/2014/main" val="2851474774"/>
                    </a:ext>
                  </a:extLst>
                </a:gridCol>
                <a:gridCol w="386106">
                  <a:extLst>
                    <a:ext uri="{9D8B030D-6E8A-4147-A177-3AD203B41FA5}">
                      <a16:colId xmlns:a16="http://schemas.microsoft.com/office/drawing/2014/main" val="107595344"/>
                    </a:ext>
                  </a:extLst>
                </a:gridCol>
                <a:gridCol w="386106">
                  <a:extLst>
                    <a:ext uri="{9D8B030D-6E8A-4147-A177-3AD203B41FA5}">
                      <a16:colId xmlns:a16="http://schemas.microsoft.com/office/drawing/2014/main" val="1666999431"/>
                    </a:ext>
                  </a:extLst>
                </a:gridCol>
                <a:gridCol w="386106">
                  <a:extLst>
                    <a:ext uri="{9D8B030D-6E8A-4147-A177-3AD203B41FA5}">
                      <a16:colId xmlns:a16="http://schemas.microsoft.com/office/drawing/2014/main" val="3696607442"/>
                    </a:ext>
                  </a:extLst>
                </a:gridCol>
                <a:gridCol w="386106">
                  <a:extLst>
                    <a:ext uri="{9D8B030D-6E8A-4147-A177-3AD203B41FA5}">
                      <a16:colId xmlns:a16="http://schemas.microsoft.com/office/drawing/2014/main" val="223989776"/>
                    </a:ext>
                  </a:extLst>
                </a:gridCol>
                <a:gridCol w="386106">
                  <a:extLst>
                    <a:ext uri="{9D8B030D-6E8A-4147-A177-3AD203B41FA5}">
                      <a16:colId xmlns:a16="http://schemas.microsoft.com/office/drawing/2014/main" val="124731204"/>
                    </a:ext>
                  </a:extLst>
                </a:gridCol>
                <a:gridCol w="386106">
                  <a:extLst>
                    <a:ext uri="{9D8B030D-6E8A-4147-A177-3AD203B41FA5}">
                      <a16:colId xmlns:a16="http://schemas.microsoft.com/office/drawing/2014/main" val="3066978585"/>
                    </a:ext>
                  </a:extLst>
                </a:gridCol>
                <a:gridCol w="386106">
                  <a:extLst>
                    <a:ext uri="{9D8B030D-6E8A-4147-A177-3AD203B41FA5}">
                      <a16:colId xmlns:a16="http://schemas.microsoft.com/office/drawing/2014/main" val="1064917641"/>
                    </a:ext>
                  </a:extLst>
                </a:gridCol>
                <a:gridCol w="386106">
                  <a:extLst>
                    <a:ext uri="{9D8B030D-6E8A-4147-A177-3AD203B41FA5}">
                      <a16:colId xmlns:a16="http://schemas.microsoft.com/office/drawing/2014/main" val="4221117315"/>
                    </a:ext>
                  </a:extLst>
                </a:gridCol>
                <a:gridCol w="386106">
                  <a:extLst>
                    <a:ext uri="{9D8B030D-6E8A-4147-A177-3AD203B41FA5}">
                      <a16:colId xmlns:a16="http://schemas.microsoft.com/office/drawing/2014/main" val="3266065341"/>
                    </a:ext>
                  </a:extLst>
                </a:gridCol>
                <a:gridCol w="386106">
                  <a:extLst>
                    <a:ext uri="{9D8B030D-6E8A-4147-A177-3AD203B41FA5}">
                      <a16:colId xmlns:a16="http://schemas.microsoft.com/office/drawing/2014/main" val="2374051224"/>
                    </a:ext>
                  </a:extLst>
                </a:gridCol>
                <a:gridCol w="386106">
                  <a:extLst>
                    <a:ext uri="{9D8B030D-6E8A-4147-A177-3AD203B41FA5}">
                      <a16:colId xmlns:a16="http://schemas.microsoft.com/office/drawing/2014/main" val="1840388365"/>
                    </a:ext>
                  </a:extLst>
                </a:gridCol>
                <a:gridCol w="386106">
                  <a:extLst>
                    <a:ext uri="{9D8B030D-6E8A-4147-A177-3AD203B41FA5}">
                      <a16:colId xmlns:a16="http://schemas.microsoft.com/office/drawing/2014/main" val="267750830"/>
                    </a:ext>
                  </a:extLst>
                </a:gridCol>
                <a:gridCol w="386106">
                  <a:extLst>
                    <a:ext uri="{9D8B030D-6E8A-4147-A177-3AD203B41FA5}">
                      <a16:colId xmlns:a16="http://schemas.microsoft.com/office/drawing/2014/main" val="3966469970"/>
                    </a:ext>
                  </a:extLst>
                </a:gridCol>
                <a:gridCol w="386106">
                  <a:extLst>
                    <a:ext uri="{9D8B030D-6E8A-4147-A177-3AD203B41FA5}">
                      <a16:colId xmlns:a16="http://schemas.microsoft.com/office/drawing/2014/main" val="2522973146"/>
                    </a:ext>
                  </a:extLst>
                </a:gridCol>
                <a:gridCol w="386106">
                  <a:extLst>
                    <a:ext uri="{9D8B030D-6E8A-4147-A177-3AD203B41FA5}">
                      <a16:colId xmlns:a16="http://schemas.microsoft.com/office/drawing/2014/main" val="309019048"/>
                    </a:ext>
                  </a:extLst>
                </a:gridCol>
                <a:gridCol w="386106">
                  <a:extLst>
                    <a:ext uri="{9D8B030D-6E8A-4147-A177-3AD203B41FA5}">
                      <a16:colId xmlns:a16="http://schemas.microsoft.com/office/drawing/2014/main" val="4088660355"/>
                    </a:ext>
                  </a:extLst>
                </a:gridCol>
                <a:gridCol w="386106">
                  <a:extLst>
                    <a:ext uri="{9D8B030D-6E8A-4147-A177-3AD203B41FA5}">
                      <a16:colId xmlns:a16="http://schemas.microsoft.com/office/drawing/2014/main" val="4101055617"/>
                    </a:ext>
                  </a:extLst>
                </a:gridCol>
                <a:gridCol w="386106">
                  <a:extLst>
                    <a:ext uri="{9D8B030D-6E8A-4147-A177-3AD203B41FA5}">
                      <a16:colId xmlns:a16="http://schemas.microsoft.com/office/drawing/2014/main" val="1497634779"/>
                    </a:ext>
                  </a:extLst>
                </a:gridCol>
                <a:gridCol w="386106">
                  <a:extLst>
                    <a:ext uri="{9D8B030D-6E8A-4147-A177-3AD203B41FA5}">
                      <a16:colId xmlns:a16="http://schemas.microsoft.com/office/drawing/2014/main" val="1313870339"/>
                    </a:ext>
                  </a:extLst>
                </a:gridCol>
                <a:gridCol w="386106">
                  <a:extLst>
                    <a:ext uri="{9D8B030D-6E8A-4147-A177-3AD203B41FA5}">
                      <a16:colId xmlns:a16="http://schemas.microsoft.com/office/drawing/2014/main" val="380966906"/>
                    </a:ext>
                  </a:extLst>
                </a:gridCol>
                <a:gridCol w="386106">
                  <a:extLst>
                    <a:ext uri="{9D8B030D-6E8A-4147-A177-3AD203B41FA5}">
                      <a16:colId xmlns:a16="http://schemas.microsoft.com/office/drawing/2014/main" val="370559516"/>
                    </a:ext>
                  </a:extLst>
                </a:gridCol>
                <a:gridCol w="386106">
                  <a:extLst>
                    <a:ext uri="{9D8B030D-6E8A-4147-A177-3AD203B41FA5}">
                      <a16:colId xmlns:a16="http://schemas.microsoft.com/office/drawing/2014/main" val="2085800570"/>
                    </a:ext>
                  </a:extLst>
                </a:gridCol>
                <a:gridCol w="386106">
                  <a:extLst>
                    <a:ext uri="{9D8B030D-6E8A-4147-A177-3AD203B41FA5}">
                      <a16:colId xmlns:a16="http://schemas.microsoft.com/office/drawing/2014/main" val="2866958328"/>
                    </a:ext>
                  </a:extLst>
                </a:gridCol>
                <a:gridCol w="386106">
                  <a:extLst>
                    <a:ext uri="{9D8B030D-6E8A-4147-A177-3AD203B41FA5}">
                      <a16:colId xmlns:a16="http://schemas.microsoft.com/office/drawing/2014/main" val="2742855301"/>
                    </a:ext>
                  </a:extLst>
                </a:gridCol>
              </a:tblGrid>
              <a:tr h="225779">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mn-ea"/>
                          <a:ea typeface="+mn-ea"/>
                          <a:cs typeface="Arial" panose="020B0604020202020204" pitchFamily="34" charset="0"/>
                        </a:rPr>
                        <a:t>2022</a:t>
                      </a:r>
                      <a:endParaRPr lang="zh-CN" altLang="en-US" sz="1100" b="1">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2023</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2024</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2025</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2026</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bg1"/>
                          </a:solidFill>
                          <a:latin typeface="+mn-ea"/>
                          <a:ea typeface="+mn-ea"/>
                          <a:cs typeface="Arial"/>
                        </a:rPr>
                        <a:t>2027</a:t>
                      </a:r>
                      <a:endParaRPr lang="zh-CN" altLang="en-US" sz="1100" b="1" kern="1200">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mn-ea"/>
                          <a:ea typeface="+mn-ea"/>
                          <a:cs typeface="Arial"/>
                        </a:rPr>
                        <a:t>2028</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mn-ea"/>
                          <a:ea typeface="+mn-ea"/>
                          <a:cs typeface="Arial"/>
                        </a:rPr>
                        <a:t>2029</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mn-ea"/>
                          <a:ea typeface="+mn-ea"/>
                          <a:cs typeface="Arial"/>
                        </a:rPr>
                        <a:t>2030</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67454">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Q1</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panose="020B0604020202020204" pitchFamily="34" charset="0"/>
                        </a:rPr>
                        <a:t>Q2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Q4</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Q1</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a:rPr>
                        <a:t>Q3</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Q4</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panose="020B0604020202020204" pitchFamily="34" charset="0"/>
                        </a:rPr>
                        <a:t>Q2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a:rPr>
                        <a:t>H2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extLst>
                  <a:ext uri="{0D108BD9-81ED-4DB2-BD59-A6C34878D82A}">
                    <a16:rowId xmlns:a16="http://schemas.microsoft.com/office/drawing/2014/main" val="2722476245"/>
                  </a:ext>
                </a:extLst>
              </a:tr>
            </a:tbl>
          </a:graphicData>
        </a:graphic>
      </p:graphicFrame>
      <p:sp>
        <p:nvSpPr>
          <p:cNvPr id="10" name="Isosceles Triangle 9">
            <a:extLst>
              <a:ext uri="{FF2B5EF4-FFF2-40B4-BE49-F238E27FC236}">
                <a16:creationId xmlns:a16="http://schemas.microsoft.com/office/drawing/2014/main" id="{4399AABB-F84C-BAAB-D4C3-3A146B729A23}"/>
              </a:ext>
            </a:extLst>
          </p:cNvPr>
          <p:cNvSpPr/>
          <p:nvPr/>
        </p:nvSpPr>
        <p:spPr>
          <a:xfrm rot="16200000" flipH="1">
            <a:off x="163925" y="1137035"/>
            <a:ext cx="487802" cy="129376"/>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sp>
        <p:nvSpPr>
          <p:cNvPr id="11" name="Isosceles Triangle 10">
            <a:extLst>
              <a:ext uri="{FF2B5EF4-FFF2-40B4-BE49-F238E27FC236}">
                <a16:creationId xmlns:a16="http://schemas.microsoft.com/office/drawing/2014/main" id="{DA1736F1-AD10-4198-C3B9-A01697DE8EE4}"/>
              </a:ext>
            </a:extLst>
          </p:cNvPr>
          <p:cNvSpPr/>
          <p:nvPr/>
        </p:nvSpPr>
        <p:spPr>
          <a:xfrm rot="5400000">
            <a:off x="11883408" y="1137033"/>
            <a:ext cx="487801" cy="129375"/>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pic>
        <p:nvPicPr>
          <p:cNvPr id="12" name="Picture 11">
            <a:extLst>
              <a:ext uri="{FF2B5EF4-FFF2-40B4-BE49-F238E27FC236}">
                <a16:creationId xmlns:a16="http://schemas.microsoft.com/office/drawing/2014/main" id="{3471E2A8-2DA3-F130-1243-97FEF1A581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78" y="1427764"/>
            <a:ext cx="730436" cy="360000"/>
          </a:xfrm>
          <a:prstGeom prst="rect">
            <a:avLst/>
          </a:prstGeom>
        </p:spPr>
      </p:pic>
      <p:sp>
        <p:nvSpPr>
          <p:cNvPr id="13" name="TextBox 12">
            <a:extLst>
              <a:ext uri="{FF2B5EF4-FFF2-40B4-BE49-F238E27FC236}">
                <a16:creationId xmlns:a16="http://schemas.microsoft.com/office/drawing/2014/main" id="{E21FAD2D-411D-7B71-3FA1-0A736A7FD8FD}"/>
              </a:ext>
            </a:extLst>
          </p:cNvPr>
          <p:cNvSpPr txBox="1"/>
          <p:nvPr/>
        </p:nvSpPr>
        <p:spPr>
          <a:xfrm>
            <a:off x="56497" y="1793437"/>
            <a:ext cx="630000" cy="246221"/>
          </a:xfrm>
          <a:prstGeom prst="rect">
            <a:avLst/>
          </a:prstGeom>
          <a:noFill/>
          <a:ln>
            <a:solidFill>
              <a:schemeClr val="accent1"/>
            </a:solidFill>
          </a:ln>
        </p:spPr>
        <p:txBody>
          <a:bodyPr wrap="square" lIns="0" tIns="0" rIns="0" bIns="0" rtlCol="0">
            <a:spAutoFit/>
          </a:bodyPr>
          <a:lstStyle/>
          <a:p>
            <a:pPr algn="ctr" defTabSz="1218960">
              <a:defRPr/>
            </a:pPr>
            <a:r>
              <a:rPr lang="en-US" sz="800" b="1">
                <a:solidFill>
                  <a:schemeClr val="bg2"/>
                </a:solidFill>
                <a:cs typeface="Calibri" panose="020F0502020204030204" pitchFamily="34" charset="0"/>
              </a:rPr>
              <a:t>Phase 2</a:t>
            </a:r>
          </a:p>
          <a:p>
            <a:pPr algn="ctr" defTabSz="1218960">
              <a:defRPr/>
            </a:pPr>
            <a:r>
              <a:rPr lang="en-US" sz="800" b="1">
                <a:solidFill>
                  <a:schemeClr val="bg2"/>
                </a:solidFill>
                <a:cs typeface="Calibri" panose="020F0502020204030204" pitchFamily="34" charset="0"/>
              </a:rPr>
              <a:t>1397-0012</a:t>
            </a:r>
          </a:p>
        </p:txBody>
      </p:sp>
      <p:grpSp>
        <p:nvGrpSpPr>
          <p:cNvPr id="14" name="Group 13">
            <a:extLst>
              <a:ext uri="{FF2B5EF4-FFF2-40B4-BE49-F238E27FC236}">
                <a16:creationId xmlns:a16="http://schemas.microsoft.com/office/drawing/2014/main" id="{0FA7741C-86E6-197F-428A-39E71C3A5739}"/>
              </a:ext>
            </a:extLst>
          </p:cNvPr>
          <p:cNvGrpSpPr/>
          <p:nvPr/>
        </p:nvGrpSpPr>
        <p:grpSpPr>
          <a:xfrm>
            <a:off x="532405" y="1712956"/>
            <a:ext cx="3923565" cy="631671"/>
            <a:chOff x="532405" y="1930679"/>
            <a:chExt cx="3923565" cy="631671"/>
          </a:xfrm>
        </p:grpSpPr>
        <p:sp>
          <p:nvSpPr>
            <p:cNvPr id="15" name="OTLSHAPE_T_5a934a26f311425e8ebaa0f45e6533ad_Shape">
              <a:extLst>
                <a:ext uri="{FF2B5EF4-FFF2-40B4-BE49-F238E27FC236}">
                  <a16:creationId xmlns:a16="http://schemas.microsoft.com/office/drawing/2014/main" id="{065854EE-9E0F-4A01-5F62-1071F01AD444}"/>
                </a:ext>
              </a:extLst>
            </p:cNvPr>
            <p:cNvSpPr/>
            <p:nvPr/>
          </p:nvSpPr>
          <p:spPr bwMode="auto">
            <a:xfrm>
              <a:off x="741597" y="2078800"/>
              <a:ext cx="2783431" cy="201598"/>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err="1">
                  <a:solidFill>
                    <a:schemeClr val="bg2"/>
                  </a:solidFill>
                  <a:cs typeface="Calibri" panose="020F0502020204030204" pitchFamily="34" charset="0"/>
                </a:rPr>
                <a:t>Airleaf</a:t>
              </a:r>
              <a:r>
                <a:rPr lang="en-US" altLang="zh-CN" sz="900" b="1">
                  <a:solidFill>
                    <a:schemeClr val="bg2"/>
                  </a:solidFill>
                  <a:cs typeface="Calibri" panose="020F0502020204030204" pitchFamily="34" charset="0"/>
                </a:rPr>
                <a:t> Ph II 1397-0012 </a:t>
              </a:r>
            </a:p>
          </p:txBody>
        </p:sp>
        <p:sp>
          <p:nvSpPr>
            <p:cNvPr id="16" name="TextBox 15">
              <a:extLst>
                <a:ext uri="{FF2B5EF4-FFF2-40B4-BE49-F238E27FC236}">
                  <a16:creationId xmlns:a16="http://schemas.microsoft.com/office/drawing/2014/main" id="{D479A9FF-1AD4-ABB6-0B19-CA7E5209801E}"/>
                </a:ext>
              </a:extLst>
            </p:cNvPr>
            <p:cNvSpPr txBox="1"/>
            <p:nvPr/>
          </p:nvSpPr>
          <p:spPr bwMode="gray">
            <a:xfrm>
              <a:off x="532405" y="2285864"/>
              <a:ext cx="418384" cy="138243"/>
            </a:xfrm>
            <a:prstGeom prst="rect">
              <a:avLst/>
            </a:prstGeom>
            <a:noFill/>
          </p:spPr>
          <p:txBody>
            <a:bodyPr wrap="none" lIns="0" tIns="0" rIns="0" bIns="0" rtlCol="0">
              <a:spAutoFit/>
            </a:bodyPr>
            <a:lstStyle/>
            <a:p>
              <a:pPr algn="ctr">
                <a:lnSpc>
                  <a:spcPct val="140000"/>
                </a:lnSpc>
              </a:pPr>
              <a:r>
                <a:rPr lang="en-US" sz="700" b="1">
                  <a:solidFill>
                    <a:schemeClr val="bg2"/>
                  </a:solidFill>
                </a:rPr>
                <a:t>Aug 2022</a:t>
              </a:r>
            </a:p>
          </p:txBody>
        </p:sp>
        <p:grpSp>
          <p:nvGrpSpPr>
            <p:cNvPr id="17" name="Group 16">
              <a:extLst>
                <a:ext uri="{FF2B5EF4-FFF2-40B4-BE49-F238E27FC236}">
                  <a16:creationId xmlns:a16="http://schemas.microsoft.com/office/drawing/2014/main" id="{9DF3C47C-CF5D-0EC4-E9E7-4448A7BAA221}"/>
                </a:ext>
              </a:extLst>
            </p:cNvPr>
            <p:cNvGrpSpPr/>
            <p:nvPr/>
          </p:nvGrpSpPr>
          <p:grpSpPr>
            <a:xfrm>
              <a:off x="1134842" y="1930679"/>
              <a:ext cx="400751" cy="631671"/>
              <a:chOff x="1134842" y="1930679"/>
              <a:chExt cx="400751" cy="631671"/>
            </a:xfrm>
          </p:grpSpPr>
          <p:sp>
            <p:nvSpPr>
              <p:cNvPr id="30" name="Star: 5 Points 29">
                <a:extLst>
                  <a:ext uri="{FF2B5EF4-FFF2-40B4-BE49-F238E27FC236}">
                    <a16:creationId xmlns:a16="http://schemas.microsoft.com/office/drawing/2014/main" id="{C4677D93-A432-D00A-2E8A-F4E203E4415A}"/>
                  </a:ext>
                </a:extLst>
              </p:cNvPr>
              <p:cNvSpPr/>
              <p:nvPr/>
            </p:nvSpPr>
            <p:spPr bwMode="gray">
              <a:xfrm>
                <a:off x="1275428" y="228477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31" name="TextBox 30">
                <a:extLst>
                  <a:ext uri="{FF2B5EF4-FFF2-40B4-BE49-F238E27FC236}">
                    <a16:creationId xmlns:a16="http://schemas.microsoft.com/office/drawing/2014/main" id="{6E65CB53-9D36-5A37-B8A9-F6454F6EC416}"/>
                  </a:ext>
                </a:extLst>
              </p:cNvPr>
              <p:cNvSpPr txBox="1"/>
              <p:nvPr/>
            </p:nvSpPr>
            <p:spPr bwMode="gray">
              <a:xfrm>
                <a:off x="1214992" y="2424107"/>
                <a:ext cx="240451" cy="138243"/>
              </a:xfrm>
              <a:prstGeom prst="rect">
                <a:avLst/>
              </a:prstGeom>
              <a:noFill/>
            </p:spPr>
            <p:txBody>
              <a:bodyPr wrap="none" lIns="0" tIns="0" rIns="0" bIns="0" rtlCol="0">
                <a:spAutoFit/>
              </a:bodyPr>
              <a:lstStyle/>
              <a:p>
                <a:pPr algn="ctr">
                  <a:lnSpc>
                    <a:spcPct val="140000"/>
                  </a:lnSpc>
                </a:pPr>
                <a:r>
                  <a:rPr lang="en-US" sz="700" b="1" err="1">
                    <a:solidFill>
                      <a:schemeClr val="bg2"/>
                    </a:solidFill>
                  </a:rPr>
                  <a:t>PoCP</a:t>
                </a:r>
                <a:endParaRPr lang="en-US" sz="700" b="1">
                  <a:solidFill>
                    <a:schemeClr val="bg2"/>
                  </a:solidFill>
                </a:endParaRPr>
              </a:p>
            </p:txBody>
          </p:sp>
          <p:sp>
            <p:nvSpPr>
              <p:cNvPr id="32" name="TextBox 31">
                <a:extLst>
                  <a:ext uri="{FF2B5EF4-FFF2-40B4-BE49-F238E27FC236}">
                    <a16:creationId xmlns:a16="http://schemas.microsoft.com/office/drawing/2014/main" id="{4429D23A-9533-F6BE-72D0-DB2E43761578}"/>
                  </a:ext>
                </a:extLst>
              </p:cNvPr>
              <p:cNvSpPr txBox="1"/>
              <p:nvPr/>
            </p:nvSpPr>
            <p:spPr bwMode="gray">
              <a:xfrm>
                <a:off x="1134842" y="1930679"/>
                <a:ext cx="400751" cy="138243"/>
              </a:xfrm>
              <a:prstGeom prst="rect">
                <a:avLst/>
              </a:prstGeom>
              <a:noFill/>
            </p:spPr>
            <p:txBody>
              <a:bodyPr wrap="none" lIns="0" tIns="0" rIns="0" bIns="0" rtlCol="0">
                <a:spAutoFit/>
              </a:bodyPr>
              <a:lstStyle/>
              <a:p>
                <a:pPr algn="ctr">
                  <a:lnSpc>
                    <a:spcPct val="140000"/>
                  </a:lnSpc>
                </a:pPr>
                <a:r>
                  <a:rPr lang="en-US" sz="700" b="1">
                    <a:solidFill>
                      <a:schemeClr val="bg2"/>
                    </a:solidFill>
                  </a:rPr>
                  <a:t>Jan 2023</a:t>
                </a:r>
              </a:p>
            </p:txBody>
          </p:sp>
        </p:grpSp>
        <p:grpSp>
          <p:nvGrpSpPr>
            <p:cNvPr id="18" name="Group 17">
              <a:extLst>
                <a:ext uri="{FF2B5EF4-FFF2-40B4-BE49-F238E27FC236}">
                  <a16:creationId xmlns:a16="http://schemas.microsoft.com/office/drawing/2014/main" id="{DEE1185B-FF0F-8E59-5845-8A989308BB50}"/>
                </a:ext>
              </a:extLst>
            </p:cNvPr>
            <p:cNvGrpSpPr/>
            <p:nvPr/>
          </p:nvGrpSpPr>
          <p:grpSpPr>
            <a:xfrm>
              <a:off x="2067216" y="1930679"/>
              <a:ext cx="413575" cy="625586"/>
              <a:chOff x="2067216" y="1930679"/>
              <a:chExt cx="413575" cy="625586"/>
            </a:xfrm>
          </p:grpSpPr>
          <p:sp>
            <p:nvSpPr>
              <p:cNvPr id="27" name="Flowchart: Extract 26">
                <a:extLst>
                  <a:ext uri="{FF2B5EF4-FFF2-40B4-BE49-F238E27FC236}">
                    <a16:creationId xmlns:a16="http://schemas.microsoft.com/office/drawing/2014/main" id="{A09A0833-9B0D-E33A-464F-534F594BFE17}"/>
                  </a:ext>
                </a:extLst>
              </p:cNvPr>
              <p:cNvSpPr/>
              <p:nvPr/>
            </p:nvSpPr>
            <p:spPr bwMode="gray">
              <a:xfrm>
                <a:off x="2224497" y="2297816"/>
                <a:ext cx="99012" cy="99012"/>
              </a:xfrm>
              <a:prstGeom prst="flowChartExtract">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accent2">
                      <a:lumMod val="50000"/>
                    </a:schemeClr>
                  </a:solidFill>
                </a:endParaRPr>
              </a:p>
            </p:txBody>
          </p:sp>
          <p:sp>
            <p:nvSpPr>
              <p:cNvPr id="28" name="TextBox 27">
                <a:extLst>
                  <a:ext uri="{FF2B5EF4-FFF2-40B4-BE49-F238E27FC236}">
                    <a16:creationId xmlns:a16="http://schemas.microsoft.com/office/drawing/2014/main" id="{0F635753-6957-0BBE-2000-237F91B7BA64}"/>
                  </a:ext>
                </a:extLst>
              </p:cNvPr>
              <p:cNvSpPr txBox="1"/>
              <p:nvPr/>
            </p:nvSpPr>
            <p:spPr bwMode="gray">
              <a:xfrm>
                <a:off x="2189845" y="2418022"/>
                <a:ext cx="168316" cy="138243"/>
              </a:xfrm>
              <a:prstGeom prst="rect">
                <a:avLst/>
              </a:prstGeom>
              <a:noFill/>
            </p:spPr>
            <p:txBody>
              <a:bodyPr wrap="none" lIns="0" tIns="0" rIns="0" bIns="0" rtlCol="0">
                <a:spAutoFit/>
              </a:bodyPr>
              <a:lstStyle/>
              <a:p>
                <a:pPr algn="ctr">
                  <a:lnSpc>
                    <a:spcPct val="140000"/>
                  </a:lnSpc>
                </a:pPr>
                <a:r>
                  <a:rPr lang="en-US" sz="700" b="1">
                    <a:solidFill>
                      <a:schemeClr val="bg2"/>
                    </a:solidFill>
                  </a:rPr>
                  <a:t>LSS</a:t>
                </a:r>
              </a:p>
            </p:txBody>
          </p:sp>
          <p:sp>
            <p:nvSpPr>
              <p:cNvPr id="29" name="TextBox 28">
                <a:extLst>
                  <a:ext uri="{FF2B5EF4-FFF2-40B4-BE49-F238E27FC236}">
                    <a16:creationId xmlns:a16="http://schemas.microsoft.com/office/drawing/2014/main" id="{1B8D75CA-382A-1D6A-3D29-1B31E3127139}"/>
                  </a:ext>
                </a:extLst>
              </p:cNvPr>
              <p:cNvSpPr txBox="1"/>
              <p:nvPr/>
            </p:nvSpPr>
            <p:spPr bwMode="gray">
              <a:xfrm>
                <a:off x="2067216" y="1930679"/>
                <a:ext cx="413575" cy="138243"/>
              </a:xfrm>
              <a:prstGeom prst="rect">
                <a:avLst/>
              </a:prstGeom>
              <a:noFill/>
            </p:spPr>
            <p:txBody>
              <a:bodyPr wrap="none" lIns="0" tIns="0" rIns="0" bIns="0" rtlCol="0">
                <a:spAutoFit/>
              </a:bodyPr>
              <a:lstStyle/>
              <a:p>
                <a:pPr algn="ctr">
                  <a:lnSpc>
                    <a:spcPct val="140000"/>
                  </a:lnSpc>
                </a:pPr>
                <a:r>
                  <a:rPr lang="en-US" sz="700" b="1">
                    <a:solidFill>
                      <a:schemeClr val="bg2"/>
                    </a:solidFill>
                  </a:rPr>
                  <a:t>Sep 2023</a:t>
                </a:r>
              </a:p>
            </p:txBody>
          </p:sp>
        </p:grpSp>
        <p:grpSp>
          <p:nvGrpSpPr>
            <p:cNvPr id="19" name="Group 18">
              <a:extLst>
                <a:ext uri="{FF2B5EF4-FFF2-40B4-BE49-F238E27FC236}">
                  <a16:creationId xmlns:a16="http://schemas.microsoft.com/office/drawing/2014/main" id="{AD63A225-1E21-DF16-0289-0F8812A66D01}"/>
                </a:ext>
              </a:extLst>
            </p:cNvPr>
            <p:cNvGrpSpPr/>
            <p:nvPr/>
          </p:nvGrpSpPr>
          <p:grpSpPr>
            <a:xfrm>
              <a:off x="3419636" y="1930679"/>
              <a:ext cx="405560" cy="475284"/>
              <a:chOff x="3419636" y="1930679"/>
              <a:chExt cx="405560" cy="475284"/>
            </a:xfrm>
          </p:grpSpPr>
          <p:sp>
            <p:nvSpPr>
              <p:cNvPr id="24" name="Star: 5 Points 23">
                <a:extLst>
                  <a:ext uri="{FF2B5EF4-FFF2-40B4-BE49-F238E27FC236}">
                    <a16:creationId xmlns:a16="http://schemas.microsoft.com/office/drawing/2014/main" id="{0D78ABE9-76CF-0A98-5898-D6CE39A553D0}"/>
                  </a:ext>
                </a:extLst>
              </p:cNvPr>
              <p:cNvSpPr/>
              <p:nvPr/>
            </p:nvSpPr>
            <p:spPr bwMode="gray">
              <a:xfrm>
                <a:off x="3562627" y="2112684"/>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25" name="TextBox 24">
                <a:extLst>
                  <a:ext uri="{FF2B5EF4-FFF2-40B4-BE49-F238E27FC236}">
                    <a16:creationId xmlns:a16="http://schemas.microsoft.com/office/drawing/2014/main" id="{8C3CEDDB-E069-7991-7D5D-E09DFF879628}"/>
                  </a:ext>
                </a:extLst>
              </p:cNvPr>
              <p:cNvSpPr txBox="1"/>
              <p:nvPr/>
            </p:nvSpPr>
            <p:spPr bwMode="gray">
              <a:xfrm>
                <a:off x="3496580" y="2267720"/>
                <a:ext cx="251672" cy="138243"/>
              </a:xfrm>
              <a:prstGeom prst="rect">
                <a:avLst/>
              </a:prstGeom>
              <a:noFill/>
            </p:spPr>
            <p:txBody>
              <a:bodyPr wrap="none" lIns="0" tIns="0" rIns="0" bIns="0" rtlCol="0">
                <a:spAutoFit/>
              </a:bodyPr>
              <a:lstStyle/>
              <a:p>
                <a:pPr algn="ctr">
                  <a:lnSpc>
                    <a:spcPct val="140000"/>
                  </a:lnSpc>
                </a:pPr>
                <a:r>
                  <a:rPr lang="en-US" sz="700" b="1" err="1">
                    <a:solidFill>
                      <a:schemeClr val="bg2"/>
                    </a:solidFill>
                  </a:rPr>
                  <a:t>PoCC</a:t>
                </a:r>
                <a:endParaRPr lang="en-US" sz="700" b="1">
                  <a:solidFill>
                    <a:schemeClr val="bg2"/>
                  </a:solidFill>
                </a:endParaRPr>
              </a:p>
            </p:txBody>
          </p:sp>
          <p:sp>
            <p:nvSpPr>
              <p:cNvPr id="26" name="TextBox 25">
                <a:extLst>
                  <a:ext uri="{FF2B5EF4-FFF2-40B4-BE49-F238E27FC236}">
                    <a16:creationId xmlns:a16="http://schemas.microsoft.com/office/drawing/2014/main" id="{C6E08498-ACB7-BB7B-97F3-1CEF14E6AC75}"/>
                  </a:ext>
                </a:extLst>
              </p:cNvPr>
              <p:cNvSpPr txBox="1"/>
              <p:nvPr/>
            </p:nvSpPr>
            <p:spPr bwMode="gray">
              <a:xfrm>
                <a:off x="3419636" y="1930679"/>
                <a:ext cx="405560" cy="138243"/>
              </a:xfrm>
              <a:prstGeom prst="rect">
                <a:avLst/>
              </a:prstGeom>
              <a:noFill/>
            </p:spPr>
            <p:txBody>
              <a:bodyPr wrap="none" lIns="0" tIns="0" rIns="0" bIns="0" rtlCol="0">
                <a:spAutoFit/>
              </a:bodyPr>
              <a:lstStyle/>
              <a:p>
                <a:pPr algn="ctr">
                  <a:lnSpc>
                    <a:spcPct val="140000"/>
                  </a:lnSpc>
                </a:pPr>
                <a:r>
                  <a:rPr lang="en-US" sz="700" b="1">
                    <a:solidFill>
                      <a:schemeClr val="bg2"/>
                    </a:solidFill>
                  </a:rPr>
                  <a:t>Jun 2024</a:t>
                </a:r>
              </a:p>
            </p:txBody>
          </p:sp>
        </p:grpSp>
        <p:grpSp>
          <p:nvGrpSpPr>
            <p:cNvPr id="20" name="Group 19">
              <a:extLst>
                <a:ext uri="{FF2B5EF4-FFF2-40B4-BE49-F238E27FC236}">
                  <a16:creationId xmlns:a16="http://schemas.microsoft.com/office/drawing/2014/main" id="{E9828D75-26DD-6D2E-1D26-5CFA6FBED196}"/>
                </a:ext>
              </a:extLst>
            </p:cNvPr>
            <p:cNvGrpSpPr/>
            <p:nvPr/>
          </p:nvGrpSpPr>
          <p:grpSpPr>
            <a:xfrm>
              <a:off x="4040792" y="1930679"/>
              <a:ext cx="415178" cy="475284"/>
              <a:chOff x="4040792" y="1930679"/>
              <a:chExt cx="415178" cy="475284"/>
            </a:xfrm>
          </p:grpSpPr>
          <p:sp>
            <p:nvSpPr>
              <p:cNvPr id="21" name="TextBox 20">
                <a:extLst>
                  <a:ext uri="{FF2B5EF4-FFF2-40B4-BE49-F238E27FC236}">
                    <a16:creationId xmlns:a16="http://schemas.microsoft.com/office/drawing/2014/main" id="{4D373F01-5EB7-B652-2ED1-CC340BC2A4B3}"/>
                  </a:ext>
                </a:extLst>
              </p:cNvPr>
              <p:cNvSpPr txBox="1"/>
              <p:nvPr/>
            </p:nvSpPr>
            <p:spPr bwMode="gray">
              <a:xfrm>
                <a:off x="4040792" y="1930679"/>
                <a:ext cx="415178" cy="138243"/>
              </a:xfrm>
              <a:prstGeom prst="rect">
                <a:avLst/>
              </a:prstGeom>
              <a:noFill/>
            </p:spPr>
            <p:txBody>
              <a:bodyPr wrap="none" lIns="0" tIns="0" rIns="0" bIns="0" rtlCol="0">
                <a:spAutoFit/>
              </a:bodyPr>
              <a:lstStyle/>
              <a:p>
                <a:pPr algn="ctr">
                  <a:lnSpc>
                    <a:spcPct val="140000"/>
                  </a:lnSpc>
                </a:pPr>
                <a:r>
                  <a:rPr lang="en-US" sz="700" b="1">
                    <a:solidFill>
                      <a:schemeClr val="bg2"/>
                    </a:solidFill>
                  </a:rPr>
                  <a:t>Dec 2024</a:t>
                </a:r>
              </a:p>
            </p:txBody>
          </p:sp>
          <p:sp>
            <p:nvSpPr>
              <p:cNvPr id="22" name="TextBox 21">
                <a:extLst>
                  <a:ext uri="{FF2B5EF4-FFF2-40B4-BE49-F238E27FC236}">
                    <a16:creationId xmlns:a16="http://schemas.microsoft.com/office/drawing/2014/main" id="{1BC57559-8398-F7CA-5ED5-92DD8F2FEC87}"/>
                  </a:ext>
                </a:extLst>
              </p:cNvPr>
              <p:cNvSpPr txBox="1"/>
              <p:nvPr/>
            </p:nvSpPr>
            <p:spPr bwMode="gray">
              <a:xfrm>
                <a:off x="4132965" y="2267720"/>
                <a:ext cx="230832" cy="138243"/>
              </a:xfrm>
              <a:prstGeom prst="rect">
                <a:avLst/>
              </a:prstGeom>
              <a:noFill/>
            </p:spPr>
            <p:txBody>
              <a:bodyPr wrap="none" lIns="0" tIns="0" rIns="0" bIns="0" rtlCol="0">
                <a:spAutoFit/>
              </a:bodyPr>
              <a:lstStyle/>
              <a:p>
                <a:pPr algn="ctr">
                  <a:lnSpc>
                    <a:spcPct val="140000"/>
                  </a:lnSpc>
                </a:pPr>
                <a:r>
                  <a:rPr lang="en-US" sz="700" b="1" err="1">
                    <a:solidFill>
                      <a:schemeClr val="bg2"/>
                    </a:solidFill>
                  </a:rPr>
                  <a:t>RoFD</a:t>
                </a:r>
                <a:endParaRPr lang="en-US" sz="700" b="1">
                  <a:solidFill>
                    <a:schemeClr val="bg2"/>
                  </a:solidFill>
                </a:endParaRPr>
              </a:p>
            </p:txBody>
          </p:sp>
          <p:sp>
            <p:nvSpPr>
              <p:cNvPr id="23" name="Star: 5 Points 22">
                <a:extLst>
                  <a:ext uri="{FF2B5EF4-FFF2-40B4-BE49-F238E27FC236}">
                    <a16:creationId xmlns:a16="http://schemas.microsoft.com/office/drawing/2014/main" id="{F115414D-6672-5604-76E2-2604C18CFB51}"/>
                  </a:ext>
                </a:extLst>
              </p:cNvPr>
              <p:cNvSpPr/>
              <p:nvPr/>
            </p:nvSpPr>
            <p:spPr bwMode="gray">
              <a:xfrm>
                <a:off x="4188592" y="2112684"/>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grpSp>
      </p:grpSp>
      <p:grpSp>
        <p:nvGrpSpPr>
          <p:cNvPr id="33" name="Group 32">
            <a:extLst>
              <a:ext uri="{FF2B5EF4-FFF2-40B4-BE49-F238E27FC236}">
                <a16:creationId xmlns:a16="http://schemas.microsoft.com/office/drawing/2014/main" id="{D087DD8F-9DD1-F5D0-3C0D-D00D397E2433}"/>
              </a:ext>
            </a:extLst>
          </p:cNvPr>
          <p:cNvGrpSpPr/>
          <p:nvPr/>
        </p:nvGrpSpPr>
        <p:grpSpPr>
          <a:xfrm>
            <a:off x="2451388" y="2334581"/>
            <a:ext cx="1976207" cy="414883"/>
            <a:chOff x="2451388" y="2591688"/>
            <a:chExt cx="1976207" cy="414883"/>
          </a:xfrm>
        </p:grpSpPr>
        <p:sp>
          <p:nvSpPr>
            <p:cNvPr id="34" name="OTLSHAPE_T_5a934a26f311425e8ebaa0f45e6533ad_Shape">
              <a:extLst>
                <a:ext uri="{FF2B5EF4-FFF2-40B4-BE49-F238E27FC236}">
                  <a16:creationId xmlns:a16="http://schemas.microsoft.com/office/drawing/2014/main" id="{074CC0A8-26EC-2D69-4057-7BEE3698223A}"/>
                </a:ext>
              </a:extLst>
            </p:cNvPr>
            <p:cNvSpPr/>
            <p:nvPr/>
          </p:nvSpPr>
          <p:spPr bwMode="auto">
            <a:xfrm>
              <a:off x="2664588" y="2750539"/>
              <a:ext cx="1582874" cy="256032"/>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800" b="1" err="1">
                  <a:solidFill>
                    <a:schemeClr val="bg2"/>
                  </a:solidFill>
                  <a:cs typeface="Calibri" panose="020F0502020204030204" pitchFamily="34" charset="0"/>
                </a:rPr>
                <a:t>Clairafly</a:t>
              </a:r>
              <a:r>
                <a:rPr lang="en-US" altLang="zh-CN" sz="800" b="1">
                  <a:solidFill>
                    <a:schemeClr val="bg2"/>
                  </a:solidFill>
                  <a:cs typeface="Calibri" panose="020F0502020204030204" pitchFamily="34" charset="0"/>
                </a:rPr>
                <a:t> 1397-0013 CF Profiling study </a:t>
              </a:r>
            </a:p>
          </p:txBody>
        </p:sp>
        <p:sp>
          <p:nvSpPr>
            <p:cNvPr id="35" name="TextBox 34">
              <a:extLst>
                <a:ext uri="{FF2B5EF4-FFF2-40B4-BE49-F238E27FC236}">
                  <a16:creationId xmlns:a16="http://schemas.microsoft.com/office/drawing/2014/main" id="{40786BB1-6BFE-EC4C-EA2D-B4129B06E278}"/>
                </a:ext>
              </a:extLst>
            </p:cNvPr>
            <p:cNvSpPr txBox="1"/>
            <p:nvPr/>
          </p:nvSpPr>
          <p:spPr bwMode="gray">
            <a:xfrm>
              <a:off x="2451388" y="2591688"/>
              <a:ext cx="426399" cy="138243"/>
            </a:xfrm>
            <a:prstGeom prst="rect">
              <a:avLst/>
            </a:prstGeom>
            <a:noFill/>
          </p:spPr>
          <p:txBody>
            <a:bodyPr wrap="none" lIns="0" tIns="0" rIns="0" bIns="0" rtlCol="0">
              <a:spAutoFit/>
            </a:bodyPr>
            <a:lstStyle/>
            <a:p>
              <a:pPr algn="ctr">
                <a:lnSpc>
                  <a:spcPct val="140000"/>
                </a:lnSpc>
              </a:pPr>
              <a:r>
                <a:rPr lang="en-US" sz="700" b="1">
                  <a:solidFill>
                    <a:schemeClr val="bg2"/>
                  </a:solidFill>
                </a:rPr>
                <a:t>Nov 2023</a:t>
              </a:r>
            </a:p>
          </p:txBody>
        </p:sp>
        <p:sp>
          <p:nvSpPr>
            <p:cNvPr id="36" name="TextBox 35">
              <a:extLst>
                <a:ext uri="{FF2B5EF4-FFF2-40B4-BE49-F238E27FC236}">
                  <a16:creationId xmlns:a16="http://schemas.microsoft.com/office/drawing/2014/main" id="{A863BE29-F7CF-69F2-9914-9C38A368E63A}"/>
                </a:ext>
              </a:extLst>
            </p:cNvPr>
            <p:cNvSpPr txBox="1"/>
            <p:nvPr/>
          </p:nvSpPr>
          <p:spPr bwMode="gray">
            <a:xfrm>
              <a:off x="4054095" y="2591688"/>
              <a:ext cx="373500" cy="138243"/>
            </a:xfrm>
            <a:prstGeom prst="rect">
              <a:avLst/>
            </a:prstGeom>
            <a:noFill/>
          </p:spPr>
          <p:txBody>
            <a:bodyPr wrap="none" lIns="0" tIns="0" rIns="0" bIns="0" rtlCol="0">
              <a:spAutoFit/>
            </a:bodyPr>
            <a:lstStyle/>
            <a:p>
              <a:pPr algn="ctr">
                <a:lnSpc>
                  <a:spcPct val="140000"/>
                </a:lnSpc>
              </a:pPr>
              <a:r>
                <a:rPr lang="en-US" sz="700" b="1">
                  <a:solidFill>
                    <a:schemeClr val="bg2"/>
                  </a:solidFill>
                </a:rPr>
                <a:t>Q4 2024</a:t>
              </a:r>
            </a:p>
          </p:txBody>
        </p:sp>
      </p:grpSp>
      <p:sp>
        <p:nvSpPr>
          <p:cNvPr id="37" name="TextBox 36">
            <a:extLst>
              <a:ext uri="{FF2B5EF4-FFF2-40B4-BE49-F238E27FC236}">
                <a16:creationId xmlns:a16="http://schemas.microsoft.com/office/drawing/2014/main" id="{15844AA9-6F38-D629-2966-57E9E8B1C5A3}"/>
              </a:ext>
            </a:extLst>
          </p:cNvPr>
          <p:cNvSpPr txBox="1"/>
          <p:nvPr/>
        </p:nvSpPr>
        <p:spPr>
          <a:xfrm>
            <a:off x="56497" y="2529247"/>
            <a:ext cx="630000" cy="246221"/>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defTabSz="1218960">
              <a:defRPr/>
            </a:pPr>
            <a:r>
              <a:rPr lang="en-US">
                <a:solidFill>
                  <a:schemeClr val="bg2"/>
                </a:solidFill>
                <a:latin typeface="+mn-lt"/>
              </a:rPr>
              <a:t>Phase 2</a:t>
            </a:r>
          </a:p>
          <a:p>
            <a:pPr defTabSz="1218960">
              <a:defRPr/>
            </a:pPr>
            <a:r>
              <a:rPr lang="en-US">
                <a:solidFill>
                  <a:schemeClr val="bg2"/>
                </a:solidFill>
                <a:latin typeface="+mn-lt"/>
              </a:rPr>
              <a:t>1397-0013</a:t>
            </a:r>
          </a:p>
        </p:txBody>
      </p:sp>
      <p:grpSp>
        <p:nvGrpSpPr>
          <p:cNvPr id="38" name="Group 37">
            <a:extLst>
              <a:ext uri="{FF2B5EF4-FFF2-40B4-BE49-F238E27FC236}">
                <a16:creationId xmlns:a16="http://schemas.microsoft.com/office/drawing/2014/main" id="{22D0BF2C-042C-9913-4C48-40755BC41864}"/>
              </a:ext>
            </a:extLst>
          </p:cNvPr>
          <p:cNvGrpSpPr/>
          <p:nvPr/>
        </p:nvGrpSpPr>
        <p:grpSpPr>
          <a:xfrm>
            <a:off x="1937674" y="2855365"/>
            <a:ext cx="5029260" cy="396205"/>
            <a:chOff x="1937674" y="3093260"/>
            <a:chExt cx="5029260" cy="396205"/>
          </a:xfrm>
        </p:grpSpPr>
        <p:sp>
          <p:nvSpPr>
            <p:cNvPr id="39" name="OTLSHAPE_T_5a934a26f311425e8ebaa0f45e6533ad_Shape">
              <a:extLst>
                <a:ext uri="{FF2B5EF4-FFF2-40B4-BE49-F238E27FC236}">
                  <a16:creationId xmlns:a16="http://schemas.microsoft.com/office/drawing/2014/main" id="{90DB961F-5F4F-5A75-FFCB-2CB88FFB780B}"/>
                </a:ext>
              </a:extLst>
            </p:cNvPr>
            <p:cNvSpPr/>
            <p:nvPr/>
          </p:nvSpPr>
          <p:spPr bwMode="auto">
            <a:xfrm>
              <a:off x="2131755" y="3252697"/>
              <a:ext cx="4648429" cy="236768"/>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err="1">
                  <a:solidFill>
                    <a:schemeClr val="bg2"/>
                  </a:solidFill>
                  <a:latin typeface="+mn-ea"/>
                  <a:cs typeface="Calibri" panose="020F0502020204030204" pitchFamily="34" charset="0"/>
                </a:rPr>
                <a:t>Clairleaf</a:t>
              </a:r>
              <a:r>
                <a:rPr lang="en-US" altLang="zh-CN" sz="900" b="1">
                  <a:solidFill>
                    <a:schemeClr val="bg2"/>
                  </a:solidFill>
                  <a:latin typeface="+mn-ea"/>
                  <a:cs typeface="Calibri" panose="020F0502020204030204" pitchFamily="34" charset="0"/>
                </a:rPr>
                <a:t> Phase 2 CFBE + </a:t>
              </a:r>
              <a:r>
                <a:rPr lang="en-US" altLang="zh-CN" sz="900" b="1" err="1">
                  <a:solidFill>
                    <a:schemeClr val="bg2"/>
                  </a:solidFill>
                  <a:latin typeface="+mn-ea"/>
                  <a:cs typeface="Calibri" panose="020F0502020204030204" pitchFamily="34" charset="0"/>
                </a:rPr>
                <a:t>nCFBE</a:t>
              </a:r>
              <a:r>
                <a:rPr lang="en-US" altLang="zh-CN" sz="900" b="1">
                  <a:solidFill>
                    <a:schemeClr val="bg2"/>
                  </a:solidFill>
                  <a:latin typeface="+mn-ea"/>
                  <a:cs typeface="Calibri" panose="020F0502020204030204" pitchFamily="34" charset="0"/>
                </a:rPr>
                <a:t> roll-over study </a:t>
              </a:r>
            </a:p>
          </p:txBody>
        </p:sp>
        <p:sp>
          <p:nvSpPr>
            <p:cNvPr id="40" name="TextBox 39">
              <a:extLst>
                <a:ext uri="{FF2B5EF4-FFF2-40B4-BE49-F238E27FC236}">
                  <a16:creationId xmlns:a16="http://schemas.microsoft.com/office/drawing/2014/main" id="{05FE5AE9-AC38-04B9-EE75-5FE56C565830}"/>
                </a:ext>
              </a:extLst>
            </p:cNvPr>
            <p:cNvSpPr txBox="1"/>
            <p:nvPr/>
          </p:nvSpPr>
          <p:spPr bwMode="gray">
            <a:xfrm>
              <a:off x="1937674" y="3093260"/>
              <a:ext cx="373500" cy="138243"/>
            </a:xfrm>
            <a:prstGeom prst="rect">
              <a:avLst/>
            </a:prstGeom>
            <a:noFill/>
          </p:spPr>
          <p:txBody>
            <a:bodyPr wrap="none" lIns="0" tIns="0" rIns="0" bIns="0" rtlCol="0">
              <a:spAutoFit/>
            </a:bodyPr>
            <a:lstStyle/>
            <a:p>
              <a:pPr algn="ctr">
                <a:lnSpc>
                  <a:spcPct val="140000"/>
                </a:lnSpc>
              </a:pPr>
              <a:r>
                <a:rPr lang="en-US" sz="700" b="1">
                  <a:solidFill>
                    <a:schemeClr val="bg2"/>
                  </a:solidFill>
                </a:rPr>
                <a:t>Q3 2023</a:t>
              </a:r>
            </a:p>
          </p:txBody>
        </p:sp>
        <p:sp>
          <p:nvSpPr>
            <p:cNvPr id="41" name="TextBox 40">
              <a:extLst>
                <a:ext uri="{FF2B5EF4-FFF2-40B4-BE49-F238E27FC236}">
                  <a16:creationId xmlns:a16="http://schemas.microsoft.com/office/drawing/2014/main" id="{8858DC5B-B919-35FC-8FC9-BA414DE25F3B}"/>
                </a:ext>
              </a:extLst>
            </p:cNvPr>
            <p:cNvSpPr txBox="1"/>
            <p:nvPr/>
          </p:nvSpPr>
          <p:spPr bwMode="gray">
            <a:xfrm>
              <a:off x="6593434" y="3093260"/>
              <a:ext cx="373500" cy="138243"/>
            </a:xfrm>
            <a:prstGeom prst="rect">
              <a:avLst/>
            </a:prstGeom>
            <a:noFill/>
          </p:spPr>
          <p:txBody>
            <a:bodyPr wrap="none" lIns="0" tIns="0" rIns="0" bIns="0" rtlCol="0">
              <a:spAutoFit/>
            </a:bodyPr>
            <a:lstStyle/>
            <a:p>
              <a:pPr algn="ctr">
                <a:lnSpc>
                  <a:spcPct val="140000"/>
                </a:lnSpc>
              </a:pPr>
              <a:r>
                <a:rPr lang="en-US" sz="700" b="1">
                  <a:solidFill>
                    <a:schemeClr val="bg2"/>
                  </a:solidFill>
                </a:rPr>
                <a:t>Q3 2026</a:t>
              </a:r>
            </a:p>
          </p:txBody>
        </p:sp>
      </p:grpSp>
      <p:sp>
        <p:nvSpPr>
          <p:cNvPr id="42" name="TextBox 9">
            <a:extLst>
              <a:ext uri="{FF2B5EF4-FFF2-40B4-BE49-F238E27FC236}">
                <a16:creationId xmlns:a16="http://schemas.microsoft.com/office/drawing/2014/main" id="{AEB43553-FB7B-48C9-9673-35CC453A061C}"/>
              </a:ext>
            </a:extLst>
          </p:cNvPr>
          <p:cNvSpPr txBox="1"/>
          <p:nvPr/>
        </p:nvSpPr>
        <p:spPr>
          <a:xfrm>
            <a:off x="56497" y="3029017"/>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2</a:t>
            </a:r>
          </a:p>
          <a:p>
            <a:r>
              <a:rPr lang="en-US"/>
              <a:t>1397-0017</a:t>
            </a:r>
          </a:p>
        </p:txBody>
      </p:sp>
      <p:sp>
        <p:nvSpPr>
          <p:cNvPr id="43" name="TextBox 42">
            <a:extLst>
              <a:ext uri="{FF2B5EF4-FFF2-40B4-BE49-F238E27FC236}">
                <a16:creationId xmlns:a16="http://schemas.microsoft.com/office/drawing/2014/main" id="{8F9B563F-5DCD-F7E2-4817-97830418AE01}"/>
              </a:ext>
            </a:extLst>
          </p:cNvPr>
          <p:cNvSpPr txBox="1"/>
          <p:nvPr/>
        </p:nvSpPr>
        <p:spPr>
          <a:xfrm>
            <a:off x="56497" y="3519524"/>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1397-0014</a:t>
            </a:r>
          </a:p>
        </p:txBody>
      </p:sp>
      <p:grpSp>
        <p:nvGrpSpPr>
          <p:cNvPr id="44" name="Group 43">
            <a:extLst>
              <a:ext uri="{FF2B5EF4-FFF2-40B4-BE49-F238E27FC236}">
                <a16:creationId xmlns:a16="http://schemas.microsoft.com/office/drawing/2014/main" id="{8F8CC1BE-E777-7124-604F-F3EA5232FBAE}"/>
              </a:ext>
            </a:extLst>
          </p:cNvPr>
          <p:cNvGrpSpPr/>
          <p:nvPr/>
        </p:nvGrpSpPr>
        <p:grpSpPr>
          <a:xfrm>
            <a:off x="4291310" y="3317390"/>
            <a:ext cx="7771294" cy="877059"/>
            <a:chOff x="4291310" y="3688459"/>
            <a:chExt cx="7771294" cy="877059"/>
          </a:xfrm>
        </p:grpSpPr>
        <p:sp>
          <p:nvSpPr>
            <p:cNvPr id="45" name="OTLSHAPE_T_5a934a26f311425e8ebaa0f45e6533ad_Shape">
              <a:extLst>
                <a:ext uri="{FF2B5EF4-FFF2-40B4-BE49-F238E27FC236}">
                  <a16:creationId xmlns:a16="http://schemas.microsoft.com/office/drawing/2014/main" id="{AC296670-2EEE-42F2-D725-0687C4F50E8B}"/>
                </a:ext>
              </a:extLst>
            </p:cNvPr>
            <p:cNvSpPr/>
            <p:nvPr/>
          </p:nvSpPr>
          <p:spPr bwMode="auto">
            <a:xfrm>
              <a:off x="5022851" y="3954514"/>
              <a:ext cx="3599192" cy="211020"/>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2"/>
                  </a:solidFill>
                  <a:latin typeface="+mn-ea"/>
                  <a:cs typeface="Calibri" panose="020F0502020204030204" pitchFamily="34" charset="0"/>
                </a:rPr>
                <a:t>AIRTIVITY 1397-0014 Phase 3</a:t>
              </a:r>
            </a:p>
          </p:txBody>
        </p:sp>
        <p:sp>
          <p:nvSpPr>
            <p:cNvPr id="46" name="OTLSHAPE_T_5a934a26f311425e8ebaa0f45e6533ad_Shape">
              <a:extLst>
                <a:ext uri="{FF2B5EF4-FFF2-40B4-BE49-F238E27FC236}">
                  <a16:creationId xmlns:a16="http://schemas.microsoft.com/office/drawing/2014/main" id="{E08D6AAD-0680-7B68-0B15-7ACD429068B9}"/>
                </a:ext>
              </a:extLst>
            </p:cNvPr>
            <p:cNvSpPr/>
            <p:nvPr/>
          </p:nvSpPr>
          <p:spPr bwMode="auto">
            <a:xfrm>
              <a:off x="7549815" y="4341942"/>
              <a:ext cx="4512789" cy="223576"/>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33" b="1">
                  <a:solidFill>
                    <a:srgbClr val="000000"/>
                  </a:solidFill>
                  <a:latin typeface="Calibri" panose="020F0502020204030204" pitchFamily="34" charset="0"/>
                  <a:cs typeface="Calibri" panose="020F0502020204030204" pitchFamily="34" charset="0"/>
                </a:rPr>
                <a:t>1397-0018 Phase 3 </a:t>
              </a:r>
              <a:r>
                <a:rPr lang="en-US" altLang="zh-CN" sz="933" b="1" err="1">
                  <a:solidFill>
                    <a:srgbClr val="000000"/>
                  </a:solidFill>
                  <a:latin typeface="Calibri" panose="020F0502020204030204" pitchFamily="34" charset="0"/>
                  <a:cs typeface="Calibri" panose="020F0502020204030204" pitchFamily="34" charset="0"/>
                </a:rPr>
                <a:t>nCFB</a:t>
              </a:r>
              <a:r>
                <a:rPr lang="en-US" altLang="zh-CN" sz="933" b="1">
                  <a:solidFill>
                    <a:srgbClr val="000000"/>
                  </a:solidFill>
                  <a:latin typeface="Calibri" panose="020F0502020204030204" pitchFamily="34" charset="0"/>
                  <a:cs typeface="Calibri" panose="020F0502020204030204" pitchFamily="34" charset="0"/>
                </a:rPr>
                <a:t>+/- CFB roll-over study </a:t>
              </a:r>
            </a:p>
          </p:txBody>
        </p:sp>
        <p:grpSp>
          <p:nvGrpSpPr>
            <p:cNvPr id="47" name="Group 46">
              <a:extLst>
                <a:ext uri="{FF2B5EF4-FFF2-40B4-BE49-F238E27FC236}">
                  <a16:creationId xmlns:a16="http://schemas.microsoft.com/office/drawing/2014/main" id="{C4A531CF-3012-7A9F-D1CC-59FC95589C02}"/>
                </a:ext>
              </a:extLst>
            </p:cNvPr>
            <p:cNvGrpSpPr/>
            <p:nvPr/>
          </p:nvGrpSpPr>
          <p:grpSpPr>
            <a:xfrm>
              <a:off x="4291310" y="3688459"/>
              <a:ext cx="402354" cy="590994"/>
              <a:chOff x="3273356" y="3891293"/>
              <a:chExt cx="402354" cy="590994"/>
            </a:xfrm>
          </p:grpSpPr>
          <p:sp>
            <p:nvSpPr>
              <p:cNvPr id="58" name="Star: 5 Points 57">
                <a:extLst>
                  <a:ext uri="{FF2B5EF4-FFF2-40B4-BE49-F238E27FC236}">
                    <a16:creationId xmlns:a16="http://schemas.microsoft.com/office/drawing/2014/main" id="{80FF7C35-62B3-0884-76B9-CF2FBC90D0E3}"/>
                  </a:ext>
                </a:extLst>
              </p:cNvPr>
              <p:cNvSpPr/>
              <p:nvPr/>
            </p:nvSpPr>
            <p:spPr bwMode="gray">
              <a:xfrm>
                <a:off x="3414744" y="4189008"/>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59" name="TextBox 58">
                <a:extLst>
                  <a:ext uri="{FF2B5EF4-FFF2-40B4-BE49-F238E27FC236}">
                    <a16:creationId xmlns:a16="http://schemas.microsoft.com/office/drawing/2014/main" id="{8461C74F-9888-D939-80BB-9E9F5ADE8730}"/>
                  </a:ext>
                </a:extLst>
              </p:cNvPr>
              <p:cNvSpPr txBox="1"/>
              <p:nvPr/>
            </p:nvSpPr>
            <p:spPr bwMode="gray">
              <a:xfrm>
                <a:off x="3379154" y="4344044"/>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60" name="TextBox 59">
                <a:extLst>
                  <a:ext uri="{FF2B5EF4-FFF2-40B4-BE49-F238E27FC236}">
                    <a16:creationId xmlns:a16="http://schemas.microsoft.com/office/drawing/2014/main" id="{A19B4229-985A-8D35-59D1-5DD75D859EC9}"/>
                  </a:ext>
                </a:extLst>
              </p:cNvPr>
              <p:cNvSpPr txBox="1"/>
              <p:nvPr/>
            </p:nvSpPr>
            <p:spPr bwMode="gray">
              <a:xfrm>
                <a:off x="3273356" y="3891293"/>
                <a:ext cx="402354" cy="138243"/>
              </a:xfrm>
              <a:prstGeom prst="rect">
                <a:avLst/>
              </a:prstGeom>
              <a:noFill/>
            </p:spPr>
            <p:txBody>
              <a:bodyPr wrap="none" lIns="0" tIns="0" rIns="0" bIns="0" rtlCol="0">
                <a:spAutoFit/>
              </a:bodyPr>
              <a:lstStyle/>
              <a:p>
                <a:pPr algn="ctr">
                  <a:lnSpc>
                    <a:spcPct val="140000"/>
                  </a:lnSpc>
                </a:pPr>
                <a:r>
                  <a:rPr lang="en-US" sz="700" b="1">
                    <a:solidFill>
                      <a:schemeClr val="bg2"/>
                    </a:solidFill>
                  </a:rPr>
                  <a:t>Feb 2025</a:t>
                </a:r>
              </a:p>
            </p:txBody>
          </p:sp>
        </p:grpSp>
        <p:sp>
          <p:nvSpPr>
            <p:cNvPr id="48" name="TextBox 47">
              <a:extLst>
                <a:ext uri="{FF2B5EF4-FFF2-40B4-BE49-F238E27FC236}">
                  <a16:creationId xmlns:a16="http://schemas.microsoft.com/office/drawing/2014/main" id="{E38BA29C-AAC1-E366-2B72-F638267608A2}"/>
                </a:ext>
              </a:extLst>
            </p:cNvPr>
            <p:cNvSpPr txBox="1"/>
            <p:nvPr/>
          </p:nvSpPr>
          <p:spPr bwMode="gray">
            <a:xfrm>
              <a:off x="4673118" y="3802479"/>
              <a:ext cx="7229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16 Jun 2025 </a:t>
              </a:r>
              <a:r>
                <a:rPr lang="en-US" altLang="zh-CN" sz="700" b="1">
                  <a:solidFill>
                    <a:schemeClr val="bg2"/>
                  </a:solidFill>
                </a:rPr>
                <a:t>FSS</a:t>
              </a:r>
              <a:endParaRPr lang="en-US" sz="700" b="1">
                <a:solidFill>
                  <a:schemeClr val="bg2"/>
                </a:solidFill>
              </a:endParaRPr>
            </a:p>
          </p:txBody>
        </p:sp>
        <p:sp>
          <p:nvSpPr>
            <p:cNvPr id="49" name="TextBox 48">
              <a:extLst>
                <a:ext uri="{FF2B5EF4-FFF2-40B4-BE49-F238E27FC236}">
                  <a16:creationId xmlns:a16="http://schemas.microsoft.com/office/drawing/2014/main" id="{B32479EB-6F90-3AFC-5C00-85BED9459D0E}"/>
                </a:ext>
              </a:extLst>
            </p:cNvPr>
            <p:cNvSpPr txBox="1"/>
            <p:nvPr/>
          </p:nvSpPr>
          <p:spPr bwMode="gray">
            <a:xfrm>
              <a:off x="7999609" y="3753920"/>
              <a:ext cx="740587"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20 Sep 2027, DBL</a:t>
              </a:r>
            </a:p>
          </p:txBody>
        </p:sp>
        <p:grpSp>
          <p:nvGrpSpPr>
            <p:cNvPr id="50" name="Group 49">
              <a:extLst>
                <a:ext uri="{FF2B5EF4-FFF2-40B4-BE49-F238E27FC236}">
                  <a16:creationId xmlns:a16="http://schemas.microsoft.com/office/drawing/2014/main" id="{5B0CEAC3-6749-5EE5-4F06-AA231605E351}"/>
                </a:ext>
              </a:extLst>
            </p:cNvPr>
            <p:cNvGrpSpPr/>
            <p:nvPr/>
          </p:nvGrpSpPr>
          <p:grpSpPr>
            <a:xfrm>
              <a:off x="8848172" y="3733018"/>
              <a:ext cx="407163" cy="529804"/>
              <a:chOff x="2275321" y="3937542"/>
              <a:chExt cx="407163" cy="529804"/>
            </a:xfrm>
          </p:grpSpPr>
          <p:sp>
            <p:nvSpPr>
              <p:cNvPr id="55" name="Star: 5 Points 54">
                <a:extLst>
                  <a:ext uri="{FF2B5EF4-FFF2-40B4-BE49-F238E27FC236}">
                    <a16:creationId xmlns:a16="http://schemas.microsoft.com/office/drawing/2014/main" id="{D7FC2126-A678-006E-4885-A94A616E8CE0}"/>
                  </a:ext>
                </a:extLst>
              </p:cNvPr>
              <p:cNvSpPr/>
              <p:nvPr/>
            </p:nvSpPr>
            <p:spPr bwMode="gray">
              <a:xfrm>
                <a:off x="2419114" y="4174067"/>
                <a:ext cx="119578" cy="119578"/>
              </a:xfrm>
              <a:prstGeom prst="star5">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56" name="TextBox 55">
                <a:extLst>
                  <a:ext uri="{FF2B5EF4-FFF2-40B4-BE49-F238E27FC236}">
                    <a16:creationId xmlns:a16="http://schemas.microsoft.com/office/drawing/2014/main" id="{BE175577-9903-36BA-B725-D886284F0C8C}"/>
                  </a:ext>
                </a:extLst>
              </p:cNvPr>
              <p:cNvSpPr txBox="1"/>
              <p:nvPr/>
            </p:nvSpPr>
            <p:spPr bwMode="gray">
              <a:xfrm>
                <a:off x="2304977" y="4329103"/>
                <a:ext cx="347852" cy="138243"/>
              </a:xfrm>
              <a:prstGeom prst="rect">
                <a:avLst/>
              </a:prstGeom>
              <a:noFill/>
            </p:spPr>
            <p:txBody>
              <a:bodyPr wrap="none" lIns="0" tIns="0" rIns="0" bIns="0" rtlCol="0">
                <a:spAutoFit/>
              </a:bodyPr>
              <a:lstStyle/>
              <a:p>
                <a:pPr algn="ctr">
                  <a:lnSpc>
                    <a:spcPct val="140000"/>
                  </a:lnSpc>
                </a:pPr>
                <a:r>
                  <a:rPr lang="en-US" sz="700" b="1">
                    <a:solidFill>
                      <a:schemeClr val="bg2"/>
                    </a:solidFill>
                  </a:rPr>
                  <a:t>US NDA</a:t>
                </a:r>
              </a:p>
            </p:txBody>
          </p:sp>
          <p:sp>
            <p:nvSpPr>
              <p:cNvPr id="57" name="TextBox 56">
                <a:extLst>
                  <a:ext uri="{FF2B5EF4-FFF2-40B4-BE49-F238E27FC236}">
                    <a16:creationId xmlns:a16="http://schemas.microsoft.com/office/drawing/2014/main" id="{0861E95E-31F3-C39C-1A57-6EB3078D797C}"/>
                  </a:ext>
                </a:extLst>
              </p:cNvPr>
              <p:cNvSpPr txBox="1"/>
              <p:nvPr/>
            </p:nvSpPr>
            <p:spPr bwMode="gray">
              <a:xfrm>
                <a:off x="2275321" y="3937542"/>
                <a:ext cx="407163"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Dec 2027</a:t>
                </a:r>
              </a:p>
            </p:txBody>
          </p:sp>
        </p:grpSp>
        <p:grpSp>
          <p:nvGrpSpPr>
            <p:cNvPr id="51" name="Group 50">
              <a:extLst>
                <a:ext uri="{FF2B5EF4-FFF2-40B4-BE49-F238E27FC236}">
                  <a16:creationId xmlns:a16="http://schemas.microsoft.com/office/drawing/2014/main" id="{8B8A2A99-A03D-4713-B18A-67606925EBFD}"/>
                </a:ext>
              </a:extLst>
            </p:cNvPr>
            <p:cNvGrpSpPr/>
            <p:nvPr/>
          </p:nvGrpSpPr>
          <p:grpSpPr>
            <a:xfrm>
              <a:off x="9649325" y="3733018"/>
              <a:ext cx="541816" cy="533956"/>
              <a:chOff x="9885350" y="3085466"/>
              <a:chExt cx="541816" cy="533956"/>
            </a:xfrm>
          </p:grpSpPr>
          <p:pic>
            <p:nvPicPr>
              <p:cNvPr id="52" name="Graphic 51" descr="Flag with solid fill">
                <a:extLst>
                  <a:ext uri="{FF2B5EF4-FFF2-40B4-BE49-F238E27FC236}">
                    <a16:creationId xmlns:a16="http://schemas.microsoft.com/office/drawing/2014/main" id="{0AFA3E98-C086-F296-C29B-E0F48BE8BE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57387" y="3282909"/>
                <a:ext cx="197742" cy="197742"/>
              </a:xfrm>
              <a:prstGeom prst="rect">
                <a:avLst/>
              </a:prstGeom>
            </p:spPr>
          </p:pic>
          <p:sp>
            <p:nvSpPr>
              <p:cNvPr id="53" name="TextBox 52">
                <a:extLst>
                  <a:ext uri="{FF2B5EF4-FFF2-40B4-BE49-F238E27FC236}">
                    <a16:creationId xmlns:a16="http://schemas.microsoft.com/office/drawing/2014/main" id="{83A46B91-6C92-9228-F7A1-81FA3FE300F6}"/>
                  </a:ext>
                </a:extLst>
              </p:cNvPr>
              <p:cNvSpPr txBox="1"/>
              <p:nvPr/>
            </p:nvSpPr>
            <p:spPr bwMode="gray">
              <a:xfrm>
                <a:off x="9885350" y="3481179"/>
                <a:ext cx="541816" cy="138243"/>
              </a:xfrm>
              <a:prstGeom prst="rect">
                <a:avLst/>
              </a:prstGeom>
              <a:noFill/>
            </p:spPr>
            <p:txBody>
              <a:bodyPr wrap="none" lIns="0" tIns="0" rIns="0" bIns="0" rtlCol="0">
                <a:spAutoFit/>
              </a:bodyPr>
              <a:lstStyle/>
              <a:p>
                <a:pPr algn="ctr">
                  <a:lnSpc>
                    <a:spcPct val="140000"/>
                  </a:lnSpc>
                </a:pPr>
                <a:r>
                  <a:rPr lang="en-US" sz="700" b="1">
                    <a:solidFill>
                      <a:schemeClr val="bg2"/>
                    </a:solidFill>
                  </a:rPr>
                  <a:t>US Approval</a:t>
                </a:r>
              </a:p>
            </p:txBody>
          </p:sp>
          <p:sp>
            <p:nvSpPr>
              <p:cNvPr id="54" name="TextBox 53">
                <a:extLst>
                  <a:ext uri="{FF2B5EF4-FFF2-40B4-BE49-F238E27FC236}">
                    <a16:creationId xmlns:a16="http://schemas.microsoft.com/office/drawing/2014/main" id="{F9728F93-4206-D15F-7116-BCF882201686}"/>
                  </a:ext>
                </a:extLst>
              </p:cNvPr>
              <p:cNvSpPr txBox="1"/>
              <p:nvPr/>
            </p:nvSpPr>
            <p:spPr bwMode="gray">
              <a:xfrm>
                <a:off x="9935045" y="3085466"/>
                <a:ext cx="426399"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Aug 2028 </a:t>
                </a:r>
              </a:p>
            </p:txBody>
          </p:sp>
        </p:grpSp>
      </p:grpSp>
      <p:sp>
        <p:nvSpPr>
          <p:cNvPr id="61" name="TextBox 9">
            <a:extLst>
              <a:ext uri="{FF2B5EF4-FFF2-40B4-BE49-F238E27FC236}">
                <a16:creationId xmlns:a16="http://schemas.microsoft.com/office/drawing/2014/main" id="{7E25555F-30F2-921D-2600-9E535CCA8153}"/>
              </a:ext>
            </a:extLst>
          </p:cNvPr>
          <p:cNvSpPr txBox="1"/>
          <p:nvPr/>
        </p:nvSpPr>
        <p:spPr>
          <a:xfrm>
            <a:off x="56497" y="3935999"/>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1397-0018</a:t>
            </a:r>
          </a:p>
        </p:txBody>
      </p:sp>
      <p:pic>
        <p:nvPicPr>
          <p:cNvPr id="62" name="Picture 61">
            <a:extLst>
              <a:ext uri="{FF2B5EF4-FFF2-40B4-BE49-F238E27FC236}">
                <a16:creationId xmlns:a16="http://schemas.microsoft.com/office/drawing/2014/main" id="{D6290F2C-903C-C52A-04B6-970144C9E2F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78" y="4305908"/>
            <a:ext cx="730437" cy="360000"/>
          </a:xfrm>
          <a:prstGeom prst="rect">
            <a:avLst/>
          </a:prstGeom>
        </p:spPr>
      </p:pic>
      <p:cxnSp>
        <p:nvCxnSpPr>
          <p:cNvPr id="63" name="Straight Connector 62">
            <a:extLst>
              <a:ext uri="{FF2B5EF4-FFF2-40B4-BE49-F238E27FC236}">
                <a16:creationId xmlns:a16="http://schemas.microsoft.com/office/drawing/2014/main" id="{197D651A-1B0E-D7CA-1A81-5E2F0C8A2AE9}"/>
              </a:ext>
            </a:extLst>
          </p:cNvPr>
          <p:cNvCxnSpPr/>
          <p:nvPr/>
        </p:nvCxnSpPr>
        <p:spPr bwMode="gray">
          <a:xfrm>
            <a:off x="802742" y="4407528"/>
            <a:ext cx="11241211" cy="0"/>
          </a:xfrm>
          <a:prstGeom prst="line">
            <a:avLst/>
          </a:prstGeom>
          <a:ln w="19050">
            <a:solidFill>
              <a:schemeClr val="bg2"/>
            </a:solidFill>
            <a:prstDash val="lgDashDot"/>
          </a:ln>
        </p:spPr>
        <p:style>
          <a:lnRef idx="2">
            <a:schemeClr val="accent2"/>
          </a:lnRef>
          <a:fillRef idx="0">
            <a:schemeClr val="accent2"/>
          </a:fillRef>
          <a:effectRef idx="1">
            <a:schemeClr val="accent2"/>
          </a:effectRef>
          <a:fontRef idx="minor">
            <a:schemeClr val="tx1"/>
          </a:fontRef>
        </p:style>
      </p:cxnSp>
      <p:grpSp>
        <p:nvGrpSpPr>
          <p:cNvPr id="64" name="Group 63">
            <a:extLst>
              <a:ext uri="{FF2B5EF4-FFF2-40B4-BE49-F238E27FC236}">
                <a16:creationId xmlns:a16="http://schemas.microsoft.com/office/drawing/2014/main" id="{BC82375A-47D6-2105-87AD-57604735329D}"/>
              </a:ext>
            </a:extLst>
          </p:cNvPr>
          <p:cNvGrpSpPr/>
          <p:nvPr/>
        </p:nvGrpSpPr>
        <p:grpSpPr>
          <a:xfrm>
            <a:off x="3725335" y="4430698"/>
            <a:ext cx="4886480" cy="637229"/>
            <a:chOff x="3725335" y="4891875"/>
            <a:chExt cx="4886480" cy="637229"/>
          </a:xfrm>
        </p:grpSpPr>
        <p:sp>
          <p:nvSpPr>
            <p:cNvPr id="65" name="OTLSHAPE_T_5a934a26f311425e8ebaa0f45e6533ad_Shape">
              <a:extLst>
                <a:ext uri="{FF2B5EF4-FFF2-40B4-BE49-F238E27FC236}">
                  <a16:creationId xmlns:a16="http://schemas.microsoft.com/office/drawing/2014/main" id="{E1CD7819-EA99-39C4-6CF2-B50488F28504}"/>
                </a:ext>
              </a:extLst>
            </p:cNvPr>
            <p:cNvSpPr/>
            <p:nvPr/>
          </p:nvSpPr>
          <p:spPr bwMode="auto">
            <a:xfrm>
              <a:off x="5336770" y="5078355"/>
              <a:ext cx="3275045" cy="200155"/>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2"/>
                  </a:solidFill>
                  <a:latin typeface="+mn-ea"/>
                  <a:cs typeface="Calibri" panose="020F0502020204030204" pitchFamily="34" charset="0"/>
                </a:rPr>
                <a:t>AIRTIVITY 1397-0014 Phase 3</a:t>
              </a:r>
            </a:p>
          </p:txBody>
        </p:sp>
        <p:sp>
          <p:nvSpPr>
            <p:cNvPr id="66" name="OTLSHAPE_T_e17f3958430f4cff8650518c93c7635e_Shape">
              <a:extLst>
                <a:ext uri="{FF2B5EF4-FFF2-40B4-BE49-F238E27FC236}">
                  <a16:creationId xmlns:a16="http://schemas.microsoft.com/office/drawing/2014/main" id="{F0D40A89-894F-89C1-B7F8-6AB80C9EAE91}"/>
                </a:ext>
              </a:extLst>
            </p:cNvPr>
            <p:cNvSpPr/>
            <p:nvPr>
              <p:custDataLst>
                <p:tags r:id="rId2"/>
              </p:custDataLst>
            </p:nvPr>
          </p:nvSpPr>
          <p:spPr bwMode="auto">
            <a:xfrm>
              <a:off x="4531854" y="5059679"/>
              <a:ext cx="804916" cy="20160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9" rIns="51435" bIns="25719"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450" b="1">
                  <a:solidFill>
                    <a:schemeClr val="bg2"/>
                  </a:solidFill>
                  <a:latin typeface="+mn-ea"/>
                </a:rPr>
                <a:t>CTA Review + EC + HGRAC + 1</a:t>
              </a:r>
              <a:r>
                <a:rPr lang="en-US" altLang="zh-CN" sz="450" b="1" baseline="30000">
                  <a:solidFill>
                    <a:schemeClr val="bg2"/>
                  </a:solidFill>
                  <a:latin typeface="+mn-ea"/>
                </a:rPr>
                <a:t>st</a:t>
              </a:r>
              <a:r>
                <a:rPr lang="en-US" altLang="zh-CN" sz="450" b="1">
                  <a:solidFill>
                    <a:schemeClr val="bg2"/>
                  </a:solidFill>
                  <a:latin typeface="+mn-ea"/>
                </a:rPr>
                <a:t> SIV (6m) *</a:t>
              </a:r>
              <a:endParaRPr lang="zh-CN" altLang="en-US" sz="450" b="1">
                <a:solidFill>
                  <a:schemeClr val="bg2"/>
                </a:solidFill>
                <a:latin typeface="+mn-ea"/>
              </a:endParaRPr>
            </a:p>
          </p:txBody>
        </p:sp>
        <p:grpSp>
          <p:nvGrpSpPr>
            <p:cNvPr id="67" name="Group 66">
              <a:extLst>
                <a:ext uri="{FF2B5EF4-FFF2-40B4-BE49-F238E27FC236}">
                  <a16:creationId xmlns:a16="http://schemas.microsoft.com/office/drawing/2014/main" id="{02615AC4-5B68-D93B-FBFE-FD9E930DB883}"/>
                </a:ext>
              </a:extLst>
            </p:cNvPr>
            <p:cNvGrpSpPr/>
            <p:nvPr/>
          </p:nvGrpSpPr>
          <p:grpSpPr>
            <a:xfrm>
              <a:off x="4296262" y="4891875"/>
              <a:ext cx="402354" cy="483993"/>
              <a:chOff x="3007621" y="5554699"/>
              <a:chExt cx="402354" cy="483993"/>
            </a:xfrm>
          </p:grpSpPr>
          <p:sp>
            <p:nvSpPr>
              <p:cNvPr id="76" name="Star: 5 Points 75">
                <a:extLst>
                  <a:ext uri="{FF2B5EF4-FFF2-40B4-BE49-F238E27FC236}">
                    <a16:creationId xmlns:a16="http://schemas.microsoft.com/office/drawing/2014/main" id="{F14953E0-EFDA-6E29-EE6C-7C6D3ABD705A}"/>
                  </a:ext>
                </a:extLst>
              </p:cNvPr>
              <p:cNvSpPr/>
              <p:nvPr/>
            </p:nvSpPr>
            <p:spPr bwMode="gray">
              <a:xfrm>
                <a:off x="3149008"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7" name="TextBox 76">
                <a:extLst>
                  <a:ext uri="{FF2B5EF4-FFF2-40B4-BE49-F238E27FC236}">
                    <a16:creationId xmlns:a16="http://schemas.microsoft.com/office/drawing/2014/main" id="{7F145F92-5B55-8F57-AE19-716694DFE4D5}"/>
                  </a:ext>
                </a:extLst>
              </p:cNvPr>
              <p:cNvSpPr txBox="1"/>
              <p:nvPr/>
            </p:nvSpPr>
            <p:spPr bwMode="gray">
              <a:xfrm>
                <a:off x="3113418" y="5900449"/>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78" name="TextBox 77">
                <a:extLst>
                  <a:ext uri="{FF2B5EF4-FFF2-40B4-BE49-F238E27FC236}">
                    <a16:creationId xmlns:a16="http://schemas.microsoft.com/office/drawing/2014/main" id="{A3A7B43A-F53B-8575-2018-6BE0164B11EB}"/>
                  </a:ext>
                </a:extLst>
              </p:cNvPr>
              <p:cNvSpPr txBox="1"/>
              <p:nvPr/>
            </p:nvSpPr>
            <p:spPr bwMode="gray">
              <a:xfrm>
                <a:off x="3007621" y="5554699"/>
                <a:ext cx="402354" cy="138243"/>
              </a:xfrm>
              <a:prstGeom prst="rect">
                <a:avLst/>
              </a:prstGeom>
              <a:noFill/>
            </p:spPr>
            <p:txBody>
              <a:bodyPr wrap="none" lIns="0" tIns="0" rIns="0" bIns="0" rtlCol="0">
                <a:spAutoFit/>
              </a:bodyPr>
              <a:lstStyle/>
              <a:p>
                <a:pPr algn="ctr">
                  <a:lnSpc>
                    <a:spcPct val="140000"/>
                  </a:lnSpc>
                </a:pPr>
                <a:r>
                  <a:rPr lang="en-US" altLang="zh-CN" sz="700" b="1">
                    <a:solidFill>
                      <a:schemeClr val="bg2"/>
                    </a:solidFill>
                  </a:rPr>
                  <a:t>Feb</a:t>
                </a:r>
                <a:r>
                  <a:rPr lang="en-US" sz="700" b="1">
                    <a:solidFill>
                      <a:schemeClr val="bg2"/>
                    </a:solidFill>
                  </a:rPr>
                  <a:t> 2025</a:t>
                </a:r>
              </a:p>
            </p:txBody>
          </p:sp>
        </p:grpSp>
        <p:grpSp>
          <p:nvGrpSpPr>
            <p:cNvPr id="68" name="Group 67">
              <a:extLst>
                <a:ext uri="{FF2B5EF4-FFF2-40B4-BE49-F238E27FC236}">
                  <a16:creationId xmlns:a16="http://schemas.microsoft.com/office/drawing/2014/main" id="{1E772F7D-50B1-686A-1539-7DC6A1B0B7F9}"/>
                </a:ext>
              </a:extLst>
            </p:cNvPr>
            <p:cNvGrpSpPr/>
            <p:nvPr/>
          </p:nvGrpSpPr>
          <p:grpSpPr>
            <a:xfrm>
              <a:off x="5144206" y="4903011"/>
              <a:ext cx="379912" cy="596819"/>
              <a:chOff x="5144206" y="4903011"/>
              <a:chExt cx="379912" cy="596819"/>
            </a:xfrm>
          </p:grpSpPr>
          <p:sp>
            <p:nvSpPr>
              <p:cNvPr id="73" name="TextBox 72">
                <a:extLst>
                  <a:ext uri="{FF2B5EF4-FFF2-40B4-BE49-F238E27FC236}">
                    <a16:creationId xmlns:a16="http://schemas.microsoft.com/office/drawing/2014/main" id="{353A22AD-F351-A44E-E72F-C9F9D13F69E7}"/>
                  </a:ext>
                </a:extLst>
              </p:cNvPr>
              <p:cNvSpPr txBox="1"/>
              <p:nvPr/>
            </p:nvSpPr>
            <p:spPr bwMode="gray">
              <a:xfrm>
                <a:off x="5144206" y="4903011"/>
                <a:ext cx="379912" cy="138243"/>
              </a:xfrm>
              <a:prstGeom prst="rect">
                <a:avLst/>
              </a:prstGeom>
              <a:noFill/>
            </p:spPr>
            <p:txBody>
              <a:bodyPr wrap="none" lIns="0" tIns="0" rIns="0" bIns="0" rtlCol="0">
                <a:spAutoFit/>
              </a:bodyPr>
              <a:lstStyle/>
              <a:p>
                <a:pPr algn="ctr">
                  <a:lnSpc>
                    <a:spcPct val="140000"/>
                  </a:lnSpc>
                </a:pPr>
                <a:r>
                  <a:rPr lang="en-US" sz="700" b="1">
                    <a:solidFill>
                      <a:schemeClr val="bg2"/>
                    </a:solidFill>
                  </a:rPr>
                  <a:t>Jul 2025</a:t>
                </a:r>
              </a:p>
            </p:txBody>
          </p:sp>
          <p:sp>
            <p:nvSpPr>
              <p:cNvPr id="74" name="Star: 4 Points 73">
                <a:extLst>
                  <a:ext uri="{FF2B5EF4-FFF2-40B4-BE49-F238E27FC236}">
                    <a16:creationId xmlns:a16="http://schemas.microsoft.com/office/drawing/2014/main" id="{931CE8AB-E3F4-0A17-4968-1FA872218027}"/>
                  </a:ext>
                </a:extLst>
              </p:cNvPr>
              <p:cNvSpPr/>
              <p:nvPr/>
            </p:nvSpPr>
            <p:spPr bwMode="gray">
              <a:xfrm>
                <a:off x="5258062" y="5184288"/>
                <a:ext cx="164900" cy="164900"/>
              </a:xfrm>
              <a:prstGeom prst="star4">
                <a:avLst/>
              </a:prstGeom>
              <a:solidFill>
                <a:srgbClr val="EE6541"/>
              </a:solidFill>
              <a:ln w="635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75" name="TextBox 74">
                <a:extLst>
                  <a:ext uri="{FF2B5EF4-FFF2-40B4-BE49-F238E27FC236}">
                    <a16:creationId xmlns:a16="http://schemas.microsoft.com/office/drawing/2014/main" id="{2F65CC5E-E021-D3B7-C317-AFC8E2B74E90}"/>
                  </a:ext>
                </a:extLst>
              </p:cNvPr>
              <p:cNvSpPr txBox="1"/>
              <p:nvPr/>
            </p:nvSpPr>
            <p:spPr bwMode="gray">
              <a:xfrm>
                <a:off x="5199447" y="5361587"/>
                <a:ext cx="282130" cy="138243"/>
              </a:xfrm>
              <a:prstGeom prst="rect">
                <a:avLst/>
              </a:prstGeom>
              <a:noFill/>
            </p:spPr>
            <p:txBody>
              <a:bodyPr wrap="none" lIns="0" tIns="0" rIns="0" bIns="0" rtlCol="0">
                <a:spAutoFit/>
              </a:bodyPr>
              <a:lstStyle/>
              <a:p>
                <a:pPr algn="ctr">
                  <a:lnSpc>
                    <a:spcPct val="140000"/>
                  </a:lnSpc>
                </a:pPr>
                <a:r>
                  <a:rPr lang="en-US" sz="700" b="1">
                    <a:solidFill>
                      <a:schemeClr val="bg2"/>
                    </a:solidFill>
                  </a:rPr>
                  <a:t>1</a:t>
                </a:r>
                <a:r>
                  <a:rPr lang="en-US" sz="700" b="1" baseline="30000">
                    <a:solidFill>
                      <a:schemeClr val="bg2"/>
                    </a:solidFill>
                  </a:rPr>
                  <a:t>st</a:t>
                </a:r>
                <a:r>
                  <a:rPr lang="en-US" sz="700" b="1">
                    <a:solidFill>
                      <a:schemeClr val="bg2"/>
                    </a:solidFill>
                  </a:rPr>
                  <a:t> SIV</a:t>
                </a:r>
              </a:p>
            </p:txBody>
          </p:sp>
        </p:grpSp>
        <p:grpSp>
          <p:nvGrpSpPr>
            <p:cNvPr id="69" name="Group 68">
              <a:extLst>
                <a:ext uri="{FF2B5EF4-FFF2-40B4-BE49-F238E27FC236}">
                  <a16:creationId xmlns:a16="http://schemas.microsoft.com/office/drawing/2014/main" id="{94A9B389-94DD-13A9-FBF3-5A0CD686CFFC}"/>
                </a:ext>
              </a:extLst>
            </p:cNvPr>
            <p:cNvGrpSpPr/>
            <p:nvPr/>
          </p:nvGrpSpPr>
          <p:grpSpPr>
            <a:xfrm>
              <a:off x="3725335" y="4903010"/>
              <a:ext cx="487313" cy="626094"/>
              <a:chOff x="2213536" y="5563408"/>
              <a:chExt cx="487313" cy="626094"/>
            </a:xfrm>
          </p:grpSpPr>
          <p:sp>
            <p:nvSpPr>
              <p:cNvPr id="70" name="Star: 5 Points 69">
                <a:extLst>
                  <a:ext uri="{FF2B5EF4-FFF2-40B4-BE49-F238E27FC236}">
                    <a16:creationId xmlns:a16="http://schemas.microsoft.com/office/drawing/2014/main" id="{F4ABE51B-DB5E-65B3-1D12-E2326D053987}"/>
                  </a:ext>
                </a:extLst>
              </p:cNvPr>
              <p:cNvSpPr/>
              <p:nvPr/>
            </p:nvSpPr>
            <p:spPr bwMode="gray">
              <a:xfrm>
                <a:off x="2397403"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1" name="TextBox 70">
                <a:extLst>
                  <a:ext uri="{FF2B5EF4-FFF2-40B4-BE49-F238E27FC236}">
                    <a16:creationId xmlns:a16="http://schemas.microsoft.com/office/drawing/2014/main" id="{295D38AA-83F8-6C0E-A12E-4B55B8F29E6B}"/>
                  </a:ext>
                </a:extLst>
              </p:cNvPr>
              <p:cNvSpPr txBox="1"/>
              <p:nvPr/>
            </p:nvSpPr>
            <p:spPr bwMode="gray">
              <a:xfrm>
                <a:off x="2213536" y="5900449"/>
                <a:ext cx="487313" cy="289053"/>
              </a:xfrm>
              <a:prstGeom prst="rect">
                <a:avLst/>
              </a:prstGeom>
              <a:noFill/>
            </p:spPr>
            <p:txBody>
              <a:bodyPr wrap="none" lIns="0" tIns="0" rIns="0" bIns="0" rtlCol="0">
                <a:spAutoFit/>
              </a:bodyPr>
              <a:lstStyle/>
              <a:p>
                <a:pPr algn="ctr">
                  <a:lnSpc>
                    <a:spcPct val="140000"/>
                  </a:lnSpc>
                </a:pPr>
                <a:r>
                  <a:rPr lang="en-US" sz="700" b="1">
                    <a:solidFill>
                      <a:schemeClr val="bg2"/>
                    </a:solidFill>
                  </a:rPr>
                  <a:t>EoP2 HAI</a:t>
                </a:r>
              </a:p>
              <a:p>
                <a:pPr algn="ctr">
                  <a:lnSpc>
                    <a:spcPct val="140000"/>
                  </a:lnSpc>
                </a:pPr>
                <a:r>
                  <a:rPr lang="en-US" sz="700" b="1">
                    <a:solidFill>
                      <a:schemeClr val="bg2"/>
                    </a:solidFill>
                  </a:rPr>
                  <a:t>Req. </a:t>
                </a:r>
                <a:r>
                  <a:rPr lang="en-US" sz="700" b="1" err="1">
                    <a:solidFill>
                      <a:schemeClr val="bg2"/>
                    </a:solidFill>
                  </a:rPr>
                  <a:t>Subm</a:t>
                </a:r>
                <a:r>
                  <a:rPr lang="en-US" sz="700" b="1">
                    <a:solidFill>
                      <a:schemeClr val="bg2"/>
                    </a:solidFill>
                  </a:rPr>
                  <a:t>.</a:t>
                </a:r>
              </a:p>
            </p:txBody>
          </p:sp>
          <p:sp>
            <p:nvSpPr>
              <p:cNvPr id="72" name="TextBox 71">
                <a:extLst>
                  <a:ext uri="{FF2B5EF4-FFF2-40B4-BE49-F238E27FC236}">
                    <a16:creationId xmlns:a16="http://schemas.microsoft.com/office/drawing/2014/main" id="{EE363F73-0097-3957-780E-9BF6C8BF76B5}"/>
                  </a:ext>
                </a:extLst>
              </p:cNvPr>
              <p:cNvSpPr txBox="1"/>
              <p:nvPr/>
            </p:nvSpPr>
            <p:spPr bwMode="gray">
              <a:xfrm>
                <a:off x="2250406" y="5563408"/>
                <a:ext cx="413575" cy="138243"/>
              </a:xfrm>
              <a:prstGeom prst="rect">
                <a:avLst/>
              </a:prstGeom>
              <a:noFill/>
            </p:spPr>
            <p:txBody>
              <a:bodyPr wrap="none" lIns="0" tIns="0" rIns="0" bIns="0" rtlCol="0">
                <a:spAutoFit/>
              </a:bodyPr>
              <a:lstStyle/>
              <a:p>
                <a:pPr algn="ctr">
                  <a:lnSpc>
                    <a:spcPct val="140000"/>
                  </a:lnSpc>
                </a:pPr>
                <a:r>
                  <a:rPr lang="en-US" sz="700" b="1">
                    <a:solidFill>
                      <a:schemeClr val="bg2"/>
                    </a:solidFill>
                  </a:rPr>
                  <a:t>Sep 2024</a:t>
                </a:r>
              </a:p>
            </p:txBody>
          </p:sp>
        </p:grpSp>
      </p:grpSp>
      <p:grpSp>
        <p:nvGrpSpPr>
          <p:cNvPr id="79" name="Group 78">
            <a:extLst>
              <a:ext uri="{FF2B5EF4-FFF2-40B4-BE49-F238E27FC236}">
                <a16:creationId xmlns:a16="http://schemas.microsoft.com/office/drawing/2014/main" id="{CFB3E0FB-D184-E4ED-E7BA-B4E91C0AE34E}"/>
              </a:ext>
            </a:extLst>
          </p:cNvPr>
          <p:cNvGrpSpPr/>
          <p:nvPr/>
        </p:nvGrpSpPr>
        <p:grpSpPr>
          <a:xfrm>
            <a:off x="10167884" y="4461064"/>
            <a:ext cx="670915" cy="529188"/>
            <a:chOff x="9873696" y="4894914"/>
            <a:chExt cx="670915" cy="529188"/>
          </a:xfrm>
        </p:grpSpPr>
        <p:sp>
          <p:nvSpPr>
            <p:cNvPr id="81" name="TextBox 80">
              <a:extLst>
                <a:ext uri="{FF2B5EF4-FFF2-40B4-BE49-F238E27FC236}">
                  <a16:creationId xmlns:a16="http://schemas.microsoft.com/office/drawing/2014/main" id="{AB41A3C3-08FD-9BBE-5EC9-A66920D228FA}"/>
                </a:ext>
              </a:extLst>
            </p:cNvPr>
            <p:cNvSpPr txBox="1"/>
            <p:nvPr/>
          </p:nvSpPr>
          <p:spPr bwMode="gray">
            <a:xfrm>
              <a:off x="9874556" y="5285859"/>
              <a:ext cx="6700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China Approval</a:t>
              </a:r>
            </a:p>
          </p:txBody>
        </p:sp>
        <p:sp>
          <p:nvSpPr>
            <p:cNvPr id="82" name="TextBox 81">
              <a:extLst>
                <a:ext uri="{FF2B5EF4-FFF2-40B4-BE49-F238E27FC236}">
                  <a16:creationId xmlns:a16="http://schemas.microsoft.com/office/drawing/2014/main" id="{F2A7F510-F862-8847-4C17-70CD8119D9CB}"/>
                </a:ext>
              </a:extLst>
            </p:cNvPr>
            <p:cNvSpPr txBox="1"/>
            <p:nvPr/>
          </p:nvSpPr>
          <p:spPr bwMode="gray">
            <a:xfrm>
              <a:off x="9873696" y="4894914"/>
              <a:ext cx="629980"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Best: Dec 2028</a:t>
              </a:r>
            </a:p>
          </p:txBody>
        </p:sp>
      </p:grpSp>
      <p:sp>
        <p:nvSpPr>
          <p:cNvPr id="83" name="TextBox 82">
            <a:extLst>
              <a:ext uri="{FF2B5EF4-FFF2-40B4-BE49-F238E27FC236}">
                <a16:creationId xmlns:a16="http://schemas.microsoft.com/office/drawing/2014/main" id="{DA954F20-A30E-906C-9815-E8BB639D7126}"/>
              </a:ext>
            </a:extLst>
          </p:cNvPr>
          <p:cNvSpPr txBox="1"/>
          <p:nvPr/>
        </p:nvSpPr>
        <p:spPr>
          <a:xfrm>
            <a:off x="56497" y="4704979"/>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1397-0014</a:t>
            </a:r>
          </a:p>
        </p:txBody>
      </p:sp>
      <p:sp>
        <p:nvSpPr>
          <p:cNvPr id="84" name="TextBox 83">
            <a:extLst>
              <a:ext uri="{FF2B5EF4-FFF2-40B4-BE49-F238E27FC236}">
                <a16:creationId xmlns:a16="http://schemas.microsoft.com/office/drawing/2014/main" id="{5682386F-D004-040F-458C-DBD8342841DD}"/>
              </a:ext>
            </a:extLst>
          </p:cNvPr>
          <p:cNvSpPr txBox="1"/>
          <p:nvPr/>
        </p:nvSpPr>
        <p:spPr>
          <a:xfrm>
            <a:off x="56497" y="5440160"/>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1 PK</a:t>
            </a:r>
          </a:p>
          <a:p>
            <a:r>
              <a:rPr lang="en-US"/>
              <a:t>1397-0027</a:t>
            </a:r>
          </a:p>
        </p:txBody>
      </p:sp>
      <p:sp>
        <p:nvSpPr>
          <p:cNvPr id="86" name="TextBox 85">
            <a:extLst>
              <a:ext uri="{FF2B5EF4-FFF2-40B4-BE49-F238E27FC236}">
                <a16:creationId xmlns:a16="http://schemas.microsoft.com/office/drawing/2014/main" id="{BC8598E7-0D03-5983-2743-039A5C4EB52C}"/>
              </a:ext>
            </a:extLst>
          </p:cNvPr>
          <p:cNvSpPr txBox="1"/>
          <p:nvPr/>
        </p:nvSpPr>
        <p:spPr bwMode="gray">
          <a:xfrm>
            <a:off x="498231" y="6569731"/>
            <a:ext cx="11214344" cy="215444"/>
          </a:xfrm>
          <a:prstGeom prst="rect">
            <a:avLst/>
          </a:prstGeom>
          <a:noFill/>
        </p:spPr>
        <p:txBody>
          <a:bodyPr wrap="square">
            <a:spAutoFit/>
          </a:bodyPr>
          <a:lstStyle/>
          <a:p>
            <a:r>
              <a:rPr lang="en-US" sz="800">
                <a:solidFill>
                  <a:schemeClr val="bg1">
                    <a:lumMod val="50000"/>
                  </a:schemeClr>
                </a:solidFill>
              </a:rPr>
              <a:t>AB, Advisory board; TDO, Trial Design Outline</a:t>
            </a:r>
          </a:p>
        </p:txBody>
      </p:sp>
      <p:grpSp>
        <p:nvGrpSpPr>
          <p:cNvPr id="87" name="Group 86">
            <a:extLst>
              <a:ext uri="{FF2B5EF4-FFF2-40B4-BE49-F238E27FC236}">
                <a16:creationId xmlns:a16="http://schemas.microsoft.com/office/drawing/2014/main" id="{1C6470EB-CA35-0577-9858-B6E1F6C9762E}"/>
              </a:ext>
            </a:extLst>
          </p:cNvPr>
          <p:cNvGrpSpPr/>
          <p:nvPr/>
        </p:nvGrpSpPr>
        <p:grpSpPr>
          <a:xfrm>
            <a:off x="5479293" y="1494123"/>
            <a:ext cx="795089" cy="5289660"/>
            <a:chOff x="3380533" y="1514976"/>
            <a:chExt cx="795089" cy="5289660"/>
          </a:xfrm>
        </p:grpSpPr>
        <p:cxnSp>
          <p:nvCxnSpPr>
            <p:cNvPr id="88" name="Straight Connector 87">
              <a:extLst>
                <a:ext uri="{FF2B5EF4-FFF2-40B4-BE49-F238E27FC236}">
                  <a16:creationId xmlns:a16="http://schemas.microsoft.com/office/drawing/2014/main" id="{5AC4E2BE-89E9-BA04-9100-A8BB41184B21}"/>
                </a:ext>
              </a:extLst>
            </p:cNvPr>
            <p:cNvCxnSpPr>
              <a:cxnSpLocks/>
            </p:cNvCxnSpPr>
            <p:nvPr/>
          </p:nvCxnSpPr>
          <p:spPr bwMode="auto">
            <a:xfrm flipV="1">
              <a:off x="3698101" y="1514976"/>
              <a:ext cx="0" cy="5183170"/>
            </a:xfrm>
            <a:prstGeom prst="line">
              <a:avLst/>
            </a:prstGeom>
            <a:solidFill>
              <a:schemeClr val="accent1"/>
            </a:solidFill>
            <a:ln w="12700" cap="flat" cmpd="sng" algn="ctr">
              <a:solidFill>
                <a:srgbClr val="FF0000"/>
              </a:solidFill>
              <a:prstDash val="lgDashDotDot"/>
              <a:round/>
              <a:headEnd type="none" w="med" len="med"/>
              <a:tailEnd type="none" w="med" len="med"/>
            </a:ln>
            <a:effectLst/>
          </p:spPr>
        </p:cxnSp>
        <p:sp>
          <p:nvSpPr>
            <p:cNvPr id="89" name="TextBox 88">
              <a:extLst>
                <a:ext uri="{FF2B5EF4-FFF2-40B4-BE49-F238E27FC236}">
                  <a16:creationId xmlns:a16="http://schemas.microsoft.com/office/drawing/2014/main" id="{12764D8D-3124-312D-135D-C7A521C85A41}"/>
                </a:ext>
              </a:extLst>
            </p:cNvPr>
            <p:cNvSpPr txBox="1"/>
            <p:nvPr/>
          </p:nvSpPr>
          <p:spPr bwMode="gray">
            <a:xfrm>
              <a:off x="3380533" y="6587461"/>
              <a:ext cx="795089" cy="217175"/>
            </a:xfrm>
            <a:prstGeom prst="rect">
              <a:avLst/>
            </a:prstGeom>
            <a:noFill/>
          </p:spPr>
          <p:txBody>
            <a:bodyPr wrap="none" lIns="0" tIns="0" rIns="0" bIns="0" rtlCol="0">
              <a:spAutoFit/>
            </a:bodyPr>
            <a:lstStyle/>
            <a:p>
              <a:pPr algn="ctr">
                <a:lnSpc>
                  <a:spcPct val="140000"/>
                </a:lnSpc>
              </a:pPr>
              <a:r>
                <a:rPr lang="en-US" sz="1100" b="1">
                  <a:solidFill>
                    <a:srgbClr val="FF0000"/>
                  </a:solidFill>
                </a:rPr>
                <a:t>we are here</a:t>
              </a:r>
            </a:p>
          </p:txBody>
        </p:sp>
      </p:grpSp>
      <p:grpSp>
        <p:nvGrpSpPr>
          <p:cNvPr id="90" name="Group 89">
            <a:extLst>
              <a:ext uri="{FF2B5EF4-FFF2-40B4-BE49-F238E27FC236}">
                <a16:creationId xmlns:a16="http://schemas.microsoft.com/office/drawing/2014/main" id="{0BF4F5B4-8C30-7707-112C-5233D1032A16}"/>
              </a:ext>
            </a:extLst>
          </p:cNvPr>
          <p:cNvGrpSpPr/>
          <p:nvPr/>
        </p:nvGrpSpPr>
        <p:grpSpPr>
          <a:xfrm>
            <a:off x="5528769" y="5327948"/>
            <a:ext cx="2764167" cy="535344"/>
            <a:chOff x="5528769" y="5327948"/>
            <a:chExt cx="2764167" cy="535344"/>
          </a:xfrm>
        </p:grpSpPr>
        <p:sp>
          <p:nvSpPr>
            <p:cNvPr id="91" name="OTLSHAPE_T_5a934a26f311425e8ebaa0f45e6533ad_Shape">
              <a:extLst>
                <a:ext uri="{FF2B5EF4-FFF2-40B4-BE49-F238E27FC236}">
                  <a16:creationId xmlns:a16="http://schemas.microsoft.com/office/drawing/2014/main" id="{706987EE-E5A4-692C-84C9-7356658AEE9F}"/>
                </a:ext>
              </a:extLst>
            </p:cNvPr>
            <p:cNvSpPr/>
            <p:nvPr/>
          </p:nvSpPr>
          <p:spPr bwMode="auto">
            <a:xfrm>
              <a:off x="6780184" y="5485140"/>
              <a:ext cx="566067" cy="201600"/>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r>
                <a:rPr lang="en-US" altLang="zh-CN" sz="600" b="1">
                  <a:latin typeface="+mn-ea"/>
                  <a:cs typeface="Calibri" panose="020F0502020204030204" pitchFamily="34" charset="0"/>
                </a:rPr>
                <a:t>China PK</a:t>
              </a:r>
            </a:p>
          </p:txBody>
        </p:sp>
        <p:sp>
          <p:nvSpPr>
            <p:cNvPr id="92" name="OTLSHAPE_T_e17f3958430f4cff8650518c93c7635e_Shape">
              <a:extLst>
                <a:ext uri="{FF2B5EF4-FFF2-40B4-BE49-F238E27FC236}">
                  <a16:creationId xmlns:a16="http://schemas.microsoft.com/office/drawing/2014/main" id="{B633ED02-3FEC-7318-C999-F68EDAF62ABE}"/>
                </a:ext>
              </a:extLst>
            </p:cNvPr>
            <p:cNvSpPr/>
            <p:nvPr>
              <p:custDataLst>
                <p:tags r:id="rId1"/>
              </p:custDataLst>
            </p:nvPr>
          </p:nvSpPr>
          <p:spPr bwMode="auto">
            <a:xfrm>
              <a:off x="6024493" y="5485140"/>
              <a:ext cx="756521" cy="20160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9" rIns="51435" bIns="25719"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400" b="1">
                  <a:latin typeface="+mn-ea"/>
                </a:rPr>
                <a:t>CTA Review + EC + HGRAC + 1</a:t>
              </a:r>
              <a:r>
                <a:rPr lang="en-US" altLang="zh-CN" sz="400" b="1" baseline="30000">
                  <a:latin typeface="+mn-ea"/>
                </a:rPr>
                <a:t>st</a:t>
              </a:r>
              <a:r>
                <a:rPr lang="en-US" altLang="zh-CN" sz="400" b="1">
                  <a:latin typeface="+mn-ea"/>
                </a:rPr>
                <a:t> SIV (6m) *</a:t>
              </a:r>
              <a:endParaRPr lang="zh-CN" altLang="en-US" sz="400" b="1">
                <a:latin typeface="+mn-ea"/>
              </a:endParaRPr>
            </a:p>
          </p:txBody>
        </p:sp>
        <p:sp>
          <p:nvSpPr>
            <p:cNvPr id="93" name="Rectangle 92">
              <a:extLst>
                <a:ext uri="{FF2B5EF4-FFF2-40B4-BE49-F238E27FC236}">
                  <a16:creationId xmlns:a16="http://schemas.microsoft.com/office/drawing/2014/main" id="{BCAD4EE1-97C9-DAC5-9C42-7F0B147A4122}"/>
                </a:ext>
              </a:extLst>
            </p:cNvPr>
            <p:cNvSpPr/>
            <p:nvPr/>
          </p:nvSpPr>
          <p:spPr bwMode="gray">
            <a:xfrm>
              <a:off x="5528769" y="5485140"/>
              <a:ext cx="495724" cy="201600"/>
            </a:xfrm>
            <a:prstGeom prst="rect">
              <a:avLst/>
            </a:prstGeom>
            <a:solidFill>
              <a:schemeClr val="accent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ctr" anchorCtr="0" compatLnSpc="1">
              <a:prstTxWarp prst="textNoShape">
                <a:avLst/>
              </a:prstTxWarp>
            </a:bodyPr>
            <a:lstStyle/>
            <a:p>
              <a:pPr algn="ctr" defTabSz="1218990"/>
              <a:r>
                <a:rPr lang="en-US" altLang="zh-CN" sz="600" b="1">
                  <a:latin typeface="+mn-ea"/>
                  <a:cs typeface="Calibri" panose="020F0502020204030204" pitchFamily="34" charset="0"/>
                </a:rPr>
                <a:t>Protocol develop</a:t>
              </a:r>
              <a:endParaRPr lang="zh-CN" altLang="en-US" sz="600" b="1">
                <a:latin typeface="+mn-ea"/>
                <a:cs typeface="Calibri" panose="020F0502020204030204" pitchFamily="34" charset="0"/>
              </a:endParaRPr>
            </a:p>
          </p:txBody>
        </p:sp>
        <p:sp>
          <p:nvSpPr>
            <p:cNvPr id="94" name="TextBox 93">
              <a:extLst>
                <a:ext uri="{FF2B5EF4-FFF2-40B4-BE49-F238E27FC236}">
                  <a16:creationId xmlns:a16="http://schemas.microsoft.com/office/drawing/2014/main" id="{66EE1DC4-F493-4132-A2FB-9FE2308E3687}"/>
                </a:ext>
              </a:extLst>
            </p:cNvPr>
            <p:cNvSpPr txBox="1"/>
            <p:nvPr/>
          </p:nvSpPr>
          <p:spPr bwMode="gray">
            <a:xfrm>
              <a:off x="6550285" y="5327948"/>
              <a:ext cx="511358" cy="138243"/>
            </a:xfrm>
            <a:prstGeom prst="rect">
              <a:avLst/>
            </a:prstGeom>
            <a:noFill/>
          </p:spPr>
          <p:txBody>
            <a:bodyPr wrap="none" lIns="0" tIns="0" rIns="0" bIns="0" rtlCol="0">
              <a:spAutoFit/>
            </a:bodyPr>
            <a:lstStyle/>
            <a:p>
              <a:pPr algn="ctr">
                <a:lnSpc>
                  <a:spcPct val="140000"/>
                </a:lnSpc>
              </a:pPr>
              <a:r>
                <a:rPr lang="en-US" sz="700" b="1"/>
                <a:t>13 Jul 2026</a:t>
              </a:r>
            </a:p>
          </p:txBody>
        </p:sp>
        <p:grpSp>
          <p:nvGrpSpPr>
            <p:cNvPr id="95" name="Group 94">
              <a:extLst>
                <a:ext uri="{FF2B5EF4-FFF2-40B4-BE49-F238E27FC236}">
                  <a16:creationId xmlns:a16="http://schemas.microsoft.com/office/drawing/2014/main" id="{E8C10A79-1E25-DB17-F089-3356501C26FC}"/>
                </a:ext>
              </a:extLst>
            </p:cNvPr>
            <p:cNvGrpSpPr/>
            <p:nvPr/>
          </p:nvGrpSpPr>
          <p:grpSpPr>
            <a:xfrm>
              <a:off x="7667765" y="5329677"/>
              <a:ext cx="625171" cy="533615"/>
              <a:chOff x="8103342" y="5699544"/>
              <a:chExt cx="625171" cy="466643"/>
            </a:xfrm>
          </p:grpSpPr>
          <p:sp>
            <p:nvSpPr>
              <p:cNvPr id="99" name="Flowchart: Extract 98">
                <a:extLst>
                  <a:ext uri="{FF2B5EF4-FFF2-40B4-BE49-F238E27FC236}">
                    <a16:creationId xmlns:a16="http://schemas.microsoft.com/office/drawing/2014/main" id="{402A7AF0-EB31-074A-87A9-BB0F20873F5D}"/>
                  </a:ext>
                </a:extLst>
              </p:cNvPr>
              <p:cNvSpPr/>
              <p:nvPr/>
            </p:nvSpPr>
            <p:spPr bwMode="gray">
              <a:xfrm>
                <a:off x="8366421" y="5892035"/>
                <a:ext cx="99012" cy="99012"/>
              </a:xfrm>
              <a:prstGeom prst="flowChartExtract">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bg1">
                      <a:lumMod val="50000"/>
                    </a:schemeClr>
                  </a:solidFill>
                </a:endParaRPr>
              </a:p>
            </p:txBody>
          </p:sp>
          <p:sp>
            <p:nvSpPr>
              <p:cNvPr id="100" name="TextBox 99">
                <a:extLst>
                  <a:ext uri="{FF2B5EF4-FFF2-40B4-BE49-F238E27FC236}">
                    <a16:creationId xmlns:a16="http://schemas.microsoft.com/office/drawing/2014/main" id="{7BDC6F62-8A56-E5D3-A154-04AB1824A5CC}"/>
                  </a:ext>
                </a:extLst>
              </p:cNvPr>
              <p:cNvSpPr txBox="1"/>
              <p:nvPr/>
            </p:nvSpPr>
            <p:spPr bwMode="gray">
              <a:xfrm>
                <a:off x="8103342" y="6045294"/>
                <a:ext cx="625171" cy="120893"/>
              </a:xfrm>
              <a:prstGeom prst="rect">
                <a:avLst/>
              </a:prstGeom>
              <a:noFill/>
            </p:spPr>
            <p:txBody>
              <a:bodyPr wrap="none" lIns="0" tIns="0" rIns="0" bIns="0" rtlCol="0">
                <a:spAutoFit/>
              </a:bodyPr>
              <a:lstStyle/>
              <a:p>
                <a:pPr algn="ctr">
                  <a:lnSpc>
                    <a:spcPct val="140000"/>
                  </a:lnSpc>
                </a:pPr>
                <a:r>
                  <a:rPr lang="en-US" altLang="zh-CN" sz="700" b="1"/>
                  <a:t>Key </a:t>
                </a:r>
                <a:r>
                  <a:rPr lang="en-US" sz="700" b="1"/>
                  <a:t>PK results</a:t>
                </a:r>
              </a:p>
            </p:txBody>
          </p:sp>
          <p:sp>
            <p:nvSpPr>
              <p:cNvPr id="101" name="TextBox 100">
                <a:extLst>
                  <a:ext uri="{FF2B5EF4-FFF2-40B4-BE49-F238E27FC236}">
                    <a16:creationId xmlns:a16="http://schemas.microsoft.com/office/drawing/2014/main" id="{89FF83CE-0E37-B9C2-BA2C-B82E1CE819F3}"/>
                  </a:ext>
                </a:extLst>
              </p:cNvPr>
              <p:cNvSpPr txBox="1"/>
              <p:nvPr/>
            </p:nvSpPr>
            <p:spPr bwMode="gray">
              <a:xfrm>
                <a:off x="8215553" y="5699544"/>
                <a:ext cx="400751" cy="120893"/>
              </a:xfrm>
              <a:prstGeom prst="rect">
                <a:avLst/>
              </a:prstGeom>
              <a:noFill/>
            </p:spPr>
            <p:txBody>
              <a:bodyPr wrap="none" lIns="0" tIns="0" rIns="0" bIns="0" rtlCol="0">
                <a:spAutoFit/>
              </a:bodyPr>
              <a:lstStyle/>
              <a:p>
                <a:pPr algn="ctr">
                  <a:lnSpc>
                    <a:spcPct val="140000"/>
                  </a:lnSpc>
                </a:pPr>
                <a:r>
                  <a:rPr lang="en-US" sz="700" b="1"/>
                  <a:t>Apr 2027</a:t>
                </a:r>
              </a:p>
            </p:txBody>
          </p:sp>
        </p:grpSp>
        <p:sp>
          <p:nvSpPr>
            <p:cNvPr id="96" name="TextBox 95">
              <a:extLst>
                <a:ext uri="{FF2B5EF4-FFF2-40B4-BE49-F238E27FC236}">
                  <a16:creationId xmlns:a16="http://schemas.microsoft.com/office/drawing/2014/main" id="{95B0C23C-1264-0C22-BD07-45A0F43BA677}"/>
                </a:ext>
              </a:extLst>
            </p:cNvPr>
            <p:cNvSpPr txBox="1"/>
            <p:nvPr/>
          </p:nvSpPr>
          <p:spPr bwMode="gray">
            <a:xfrm>
              <a:off x="6722607" y="5690904"/>
              <a:ext cx="166712" cy="138243"/>
            </a:xfrm>
            <a:prstGeom prst="rect">
              <a:avLst/>
            </a:prstGeom>
            <a:noFill/>
          </p:spPr>
          <p:txBody>
            <a:bodyPr wrap="none" lIns="0" tIns="0" rIns="0" bIns="0" rtlCol="0">
              <a:spAutoFit/>
            </a:bodyPr>
            <a:lstStyle/>
            <a:p>
              <a:pPr algn="ctr">
                <a:lnSpc>
                  <a:spcPct val="140000"/>
                </a:lnSpc>
              </a:pPr>
              <a:r>
                <a:rPr lang="en-US" sz="700" b="1"/>
                <a:t>FSS</a:t>
              </a:r>
            </a:p>
          </p:txBody>
        </p:sp>
        <p:sp>
          <p:nvSpPr>
            <p:cNvPr id="97" name="TextBox 96">
              <a:extLst>
                <a:ext uri="{FF2B5EF4-FFF2-40B4-BE49-F238E27FC236}">
                  <a16:creationId xmlns:a16="http://schemas.microsoft.com/office/drawing/2014/main" id="{668293E8-1AC7-4A09-7A48-0EA55A343461}"/>
                </a:ext>
              </a:extLst>
            </p:cNvPr>
            <p:cNvSpPr txBox="1"/>
            <p:nvPr/>
          </p:nvSpPr>
          <p:spPr bwMode="gray">
            <a:xfrm>
              <a:off x="7074570" y="5327948"/>
              <a:ext cx="537006" cy="138243"/>
            </a:xfrm>
            <a:prstGeom prst="rect">
              <a:avLst/>
            </a:prstGeom>
            <a:noFill/>
          </p:spPr>
          <p:txBody>
            <a:bodyPr wrap="none" lIns="0" tIns="0" rIns="0" bIns="0" rtlCol="0">
              <a:spAutoFit/>
            </a:bodyPr>
            <a:lstStyle/>
            <a:p>
              <a:pPr algn="ctr">
                <a:lnSpc>
                  <a:spcPct val="140000"/>
                </a:lnSpc>
              </a:pPr>
              <a:r>
                <a:rPr lang="en-US" sz="700" b="1"/>
                <a:t>11 Oct 2026</a:t>
              </a:r>
            </a:p>
          </p:txBody>
        </p:sp>
        <p:sp>
          <p:nvSpPr>
            <p:cNvPr id="98" name="TextBox 97">
              <a:extLst>
                <a:ext uri="{FF2B5EF4-FFF2-40B4-BE49-F238E27FC236}">
                  <a16:creationId xmlns:a16="http://schemas.microsoft.com/office/drawing/2014/main" id="{D3D4D68F-B5B3-8984-51EB-1C89B8A010D5}"/>
                </a:ext>
              </a:extLst>
            </p:cNvPr>
            <p:cNvSpPr txBox="1"/>
            <p:nvPr/>
          </p:nvSpPr>
          <p:spPr bwMode="gray">
            <a:xfrm>
              <a:off x="7251700" y="5690904"/>
              <a:ext cx="182743" cy="138243"/>
            </a:xfrm>
            <a:prstGeom prst="rect">
              <a:avLst/>
            </a:prstGeom>
            <a:noFill/>
          </p:spPr>
          <p:txBody>
            <a:bodyPr wrap="none" lIns="0" tIns="0" rIns="0" bIns="0" rtlCol="0">
              <a:spAutoFit/>
            </a:bodyPr>
            <a:lstStyle/>
            <a:p>
              <a:pPr algn="ctr">
                <a:lnSpc>
                  <a:spcPct val="140000"/>
                </a:lnSpc>
              </a:pPr>
              <a:r>
                <a:rPr lang="en-US" altLang="zh-CN" sz="700" b="1"/>
                <a:t>LSO</a:t>
              </a:r>
              <a:endParaRPr lang="en-US" sz="700" b="1"/>
            </a:p>
          </p:txBody>
        </p:sp>
      </p:grpSp>
      <p:pic>
        <p:nvPicPr>
          <p:cNvPr id="102" name="Picture 101">
            <a:extLst>
              <a:ext uri="{FF2B5EF4-FFF2-40B4-BE49-F238E27FC236}">
                <a16:creationId xmlns:a16="http://schemas.microsoft.com/office/drawing/2014/main" id="{EBCB071F-643D-9C12-4AEF-AFC93DF83EBB}"/>
              </a:ext>
            </a:extLst>
          </p:cNvPr>
          <p:cNvPicPr>
            <a:picLocks noChangeAspect="1"/>
          </p:cNvPicPr>
          <p:nvPr/>
        </p:nvPicPr>
        <p:blipFill>
          <a:blip r:embed="rId9"/>
          <a:srcRect t="992" b="4795"/>
          <a:stretch/>
        </p:blipFill>
        <p:spPr>
          <a:xfrm>
            <a:off x="2358161" y="4503300"/>
            <a:ext cx="1225456" cy="479136"/>
          </a:xfrm>
          <a:prstGeom prst="rect">
            <a:avLst/>
          </a:prstGeom>
          <a:noFill/>
        </p:spPr>
      </p:pic>
      <p:sp>
        <p:nvSpPr>
          <p:cNvPr id="103" name="OTLSHAPE_T_5a934a26f311425e8ebaa0f45e6533ad_Shape">
            <a:extLst>
              <a:ext uri="{FF2B5EF4-FFF2-40B4-BE49-F238E27FC236}">
                <a16:creationId xmlns:a16="http://schemas.microsoft.com/office/drawing/2014/main" id="{601D904E-8860-A669-33AC-34AE45F59BF0}"/>
              </a:ext>
            </a:extLst>
          </p:cNvPr>
          <p:cNvSpPr/>
          <p:nvPr/>
        </p:nvSpPr>
        <p:spPr bwMode="auto">
          <a:xfrm>
            <a:off x="7549815" y="4992279"/>
            <a:ext cx="4512789" cy="223576"/>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33" b="1">
                <a:solidFill>
                  <a:srgbClr val="000000"/>
                </a:solidFill>
                <a:latin typeface="Calibri" panose="020F0502020204030204" pitchFamily="34" charset="0"/>
                <a:cs typeface="Calibri" panose="020F0502020204030204" pitchFamily="34" charset="0"/>
              </a:rPr>
              <a:t>1397-0018 Phase 3 </a:t>
            </a:r>
            <a:r>
              <a:rPr lang="en-US" altLang="zh-CN" sz="933" b="1" err="1">
                <a:solidFill>
                  <a:srgbClr val="000000"/>
                </a:solidFill>
                <a:latin typeface="Calibri" panose="020F0502020204030204" pitchFamily="34" charset="0"/>
                <a:cs typeface="Calibri" panose="020F0502020204030204" pitchFamily="34" charset="0"/>
              </a:rPr>
              <a:t>nCFB</a:t>
            </a:r>
            <a:r>
              <a:rPr lang="en-US" altLang="zh-CN" sz="933" b="1">
                <a:solidFill>
                  <a:srgbClr val="000000"/>
                </a:solidFill>
                <a:latin typeface="Calibri" panose="020F0502020204030204" pitchFamily="34" charset="0"/>
                <a:cs typeface="Calibri" panose="020F0502020204030204" pitchFamily="34" charset="0"/>
              </a:rPr>
              <a:t>+/- CFB roll-over study </a:t>
            </a:r>
          </a:p>
        </p:txBody>
      </p:sp>
      <p:sp>
        <p:nvSpPr>
          <p:cNvPr id="104" name="TextBox 9">
            <a:extLst>
              <a:ext uri="{FF2B5EF4-FFF2-40B4-BE49-F238E27FC236}">
                <a16:creationId xmlns:a16="http://schemas.microsoft.com/office/drawing/2014/main" id="{E29E6BBD-5BF5-1270-3509-5205802DE0F2}"/>
              </a:ext>
            </a:extLst>
          </p:cNvPr>
          <p:cNvSpPr txBox="1"/>
          <p:nvPr/>
        </p:nvSpPr>
        <p:spPr>
          <a:xfrm>
            <a:off x="56497" y="5055950"/>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1397-0018</a:t>
            </a:r>
          </a:p>
        </p:txBody>
      </p:sp>
      <p:sp>
        <p:nvSpPr>
          <p:cNvPr id="3" name="Rectangle: Rounded Corners 2">
            <a:extLst>
              <a:ext uri="{FF2B5EF4-FFF2-40B4-BE49-F238E27FC236}">
                <a16:creationId xmlns:a16="http://schemas.microsoft.com/office/drawing/2014/main" id="{C9BCC677-0D33-9514-F10E-CA918EB8B39A}"/>
              </a:ext>
            </a:extLst>
          </p:cNvPr>
          <p:cNvSpPr/>
          <p:nvPr/>
        </p:nvSpPr>
        <p:spPr bwMode="gray">
          <a:xfrm>
            <a:off x="0" y="3302002"/>
            <a:ext cx="12212434" cy="948310"/>
          </a:xfrm>
          <a:prstGeom prst="round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4" name="Rectangle: Rounded Corners 3">
            <a:extLst>
              <a:ext uri="{FF2B5EF4-FFF2-40B4-BE49-F238E27FC236}">
                <a16:creationId xmlns:a16="http://schemas.microsoft.com/office/drawing/2014/main" id="{9A899776-1233-B314-6FA4-A6D4BFD16F2F}"/>
              </a:ext>
            </a:extLst>
          </p:cNvPr>
          <p:cNvSpPr/>
          <p:nvPr/>
        </p:nvSpPr>
        <p:spPr bwMode="gray">
          <a:xfrm>
            <a:off x="38100" y="4355809"/>
            <a:ext cx="12153900" cy="1530073"/>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pic>
        <p:nvPicPr>
          <p:cNvPr id="8" name="Graphic 7" descr="Flag with solid fill">
            <a:extLst>
              <a:ext uri="{FF2B5EF4-FFF2-40B4-BE49-F238E27FC236}">
                <a16:creationId xmlns:a16="http://schemas.microsoft.com/office/drawing/2014/main" id="{B264EBB6-B28A-CEFA-6C3F-3FD0C57A1E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33929" y="4662733"/>
            <a:ext cx="197742" cy="197742"/>
          </a:xfrm>
          <a:prstGeom prst="rect">
            <a:avLst/>
          </a:prstGeom>
        </p:spPr>
      </p:pic>
      <p:sp>
        <p:nvSpPr>
          <p:cNvPr id="85" name="Star: 5 Points 54">
            <a:extLst>
              <a:ext uri="{FF2B5EF4-FFF2-40B4-BE49-F238E27FC236}">
                <a16:creationId xmlns:a16="http://schemas.microsoft.com/office/drawing/2014/main" id="{799F98E5-005C-64FD-3842-85E02EAC5E3E}"/>
              </a:ext>
            </a:extLst>
          </p:cNvPr>
          <p:cNvSpPr/>
          <p:nvPr/>
        </p:nvSpPr>
        <p:spPr bwMode="gray">
          <a:xfrm>
            <a:off x="8968806" y="4695903"/>
            <a:ext cx="119578" cy="119578"/>
          </a:xfrm>
          <a:prstGeom prst="star5">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106" name="TextBox 55">
            <a:extLst>
              <a:ext uri="{FF2B5EF4-FFF2-40B4-BE49-F238E27FC236}">
                <a16:creationId xmlns:a16="http://schemas.microsoft.com/office/drawing/2014/main" id="{5F86AB7B-FA8E-527D-1126-82FADD9765DE}"/>
              </a:ext>
            </a:extLst>
          </p:cNvPr>
          <p:cNvSpPr txBox="1"/>
          <p:nvPr/>
        </p:nvSpPr>
        <p:spPr bwMode="gray">
          <a:xfrm>
            <a:off x="8856271" y="4850939"/>
            <a:ext cx="344646"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CN NDA</a:t>
            </a:r>
          </a:p>
        </p:txBody>
      </p:sp>
      <p:sp>
        <p:nvSpPr>
          <p:cNvPr id="108" name="TextBox 56">
            <a:extLst>
              <a:ext uri="{FF2B5EF4-FFF2-40B4-BE49-F238E27FC236}">
                <a16:creationId xmlns:a16="http://schemas.microsoft.com/office/drawing/2014/main" id="{8470312D-DEA1-2887-D9CC-96D068E964B5}"/>
              </a:ext>
            </a:extLst>
          </p:cNvPr>
          <p:cNvSpPr txBox="1"/>
          <p:nvPr/>
        </p:nvSpPr>
        <p:spPr bwMode="gray">
          <a:xfrm>
            <a:off x="8825013" y="4459378"/>
            <a:ext cx="407163"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Dec 2027</a:t>
            </a:r>
          </a:p>
        </p:txBody>
      </p:sp>
      <p:grpSp>
        <p:nvGrpSpPr>
          <p:cNvPr id="109" name="Group 78">
            <a:extLst>
              <a:ext uri="{FF2B5EF4-FFF2-40B4-BE49-F238E27FC236}">
                <a16:creationId xmlns:a16="http://schemas.microsoft.com/office/drawing/2014/main" id="{EDEA0541-DA10-8735-7889-2A65B2A0BA2B}"/>
              </a:ext>
            </a:extLst>
          </p:cNvPr>
          <p:cNvGrpSpPr/>
          <p:nvPr/>
        </p:nvGrpSpPr>
        <p:grpSpPr>
          <a:xfrm>
            <a:off x="10919177" y="4453593"/>
            <a:ext cx="696563" cy="529188"/>
            <a:chOff x="9848048" y="4894914"/>
            <a:chExt cx="696563" cy="529188"/>
          </a:xfrm>
        </p:grpSpPr>
        <p:sp>
          <p:nvSpPr>
            <p:cNvPr id="110" name="TextBox 80">
              <a:extLst>
                <a:ext uri="{FF2B5EF4-FFF2-40B4-BE49-F238E27FC236}">
                  <a16:creationId xmlns:a16="http://schemas.microsoft.com/office/drawing/2014/main" id="{A938721B-7D7C-222F-C571-D4B643C56321}"/>
                </a:ext>
              </a:extLst>
            </p:cNvPr>
            <p:cNvSpPr txBox="1"/>
            <p:nvPr/>
          </p:nvSpPr>
          <p:spPr bwMode="gray">
            <a:xfrm>
              <a:off x="9874556" y="5285859"/>
              <a:ext cx="6700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China Approval</a:t>
              </a:r>
            </a:p>
          </p:txBody>
        </p:sp>
        <p:sp>
          <p:nvSpPr>
            <p:cNvPr id="111" name="TextBox 81">
              <a:extLst>
                <a:ext uri="{FF2B5EF4-FFF2-40B4-BE49-F238E27FC236}">
                  <a16:creationId xmlns:a16="http://schemas.microsoft.com/office/drawing/2014/main" id="{99CE4D90-BA78-44CF-8F5C-C7EFAB884E51}"/>
                </a:ext>
              </a:extLst>
            </p:cNvPr>
            <p:cNvSpPr txBox="1"/>
            <p:nvPr/>
          </p:nvSpPr>
          <p:spPr bwMode="gray">
            <a:xfrm>
              <a:off x="9848048" y="4894914"/>
              <a:ext cx="681277"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Base: June 2029</a:t>
              </a:r>
            </a:p>
          </p:txBody>
        </p:sp>
      </p:grpSp>
      <p:pic>
        <p:nvPicPr>
          <p:cNvPr id="112" name="Graphic 7" descr="Flag with solid fill">
            <a:extLst>
              <a:ext uri="{FF2B5EF4-FFF2-40B4-BE49-F238E27FC236}">
                <a16:creationId xmlns:a16="http://schemas.microsoft.com/office/drawing/2014/main" id="{923FC242-EC78-B656-A93D-39EEBED6F82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110870" y="4655262"/>
            <a:ext cx="197742" cy="197742"/>
          </a:xfrm>
          <a:prstGeom prst="rect">
            <a:avLst/>
          </a:prstGeom>
        </p:spPr>
      </p:pic>
    </p:spTree>
    <p:extLst>
      <p:ext uri="{BB962C8B-B14F-4D97-AF65-F5344CB8AC3E}">
        <p14:creationId xmlns:p14="http://schemas.microsoft.com/office/powerpoint/2010/main" val="284758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AC8A5D-AF9D-C977-4230-57FE3FB6642E}"/>
              </a:ext>
            </a:extLst>
          </p:cNvPr>
          <p:cNvSpPr>
            <a:spLocks noGrp="1"/>
          </p:cNvSpPr>
          <p:nvPr>
            <p:ph type="sldNum" sz="quarter" idx="20"/>
          </p:nvPr>
        </p:nvSpPr>
        <p:spPr/>
        <p:txBody>
          <a:bodyPr/>
          <a:lstStyle/>
          <a:p>
            <a:fld id="{DF4E8F9F-5B1F-4F5B-BE49-3245D8C18D9F}" type="slidenum">
              <a:rPr lang="en-US" smtClean="0"/>
              <a:pPr/>
              <a:t>21</a:t>
            </a:fld>
            <a:endParaRPr lang="en-US"/>
          </a:p>
        </p:txBody>
      </p:sp>
      <p:pic>
        <p:nvPicPr>
          <p:cNvPr id="6" name="Picture 5" descr="Traffic light - Simple English Wikipedia, the free ...">
            <a:extLst>
              <a:ext uri="{FF2B5EF4-FFF2-40B4-BE49-F238E27FC236}">
                <a16:creationId xmlns:a16="http://schemas.microsoft.com/office/drawing/2014/main" id="{09571202-1C5F-E536-4C35-7311E95A9E44}"/>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rot="16200000" flipV="1">
            <a:off x="10850096" y="-476913"/>
            <a:ext cx="698504" cy="1726513"/>
          </a:xfrm>
          <a:prstGeom prst="rect">
            <a:avLst/>
          </a:prstGeom>
        </p:spPr>
      </p:pic>
      <p:sp>
        <p:nvSpPr>
          <p:cNvPr id="7" name="标题 1">
            <a:extLst>
              <a:ext uri="{FF2B5EF4-FFF2-40B4-BE49-F238E27FC236}">
                <a16:creationId xmlns:a16="http://schemas.microsoft.com/office/drawing/2014/main" id="{7EBF7B03-1BFA-5613-5ABD-604ACD7C94B9}"/>
              </a:ext>
            </a:extLst>
          </p:cNvPr>
          <p:cNvSpPr>
            <a:spLocks noGrp="1"/>
          </p:cNvSpPr>
          <p:nvPr>
            <p:ph type="title"/>
          </p:nvPr>
        </p:nvSpPr>
        <p:spPr>
          <a:xfrm>
            <a:off x="413621" y="260435"/>
            <a:ext cx="11233150" cy="451108"/>
          </a:xfrm>
        </p:spPr>
        <p:txBody>
          <a:bodyPr vert="horz" lIns="0" tIns="0" rIns="0" bIns="0" rtlCol="0" anchor="t">
            <a:noAutofit/>
          </a:bodyPr>
          <a:lstStyle/>
          <a:p>
            <a:r>
              <a:rPr lang="it-IT" altLang="zh-CN"/>
              <a:t>NDA </a:t>
            </a:r>
            <a:r>
              <a:rPr lang="it-IT" altLang="zh-CN" err="1"/>
              <a:t>Submission</a:t>
            </a:r>
            <a:r>
              <a:rPr lang="it-IT" altLang="zh-CN"/>
              <a:t> Strategy Snapshot</a:t>
            </a:r>
          </a:p>
        </p:txBody>
      </p:sp>
      <p:graphicFrame>
        <p:nvGraphicFramePr>
          <p:cNvPr id="9" name="Table 8">
            <a:extLst>
              <a:ext uri="{FF2B5EF4-FFF2-40B4-BE49-F238E27FC236}">
                <a16:creationId xmlns:a16="http://schemas.microsoft.com/office/drawing/2014/main" id="{25173B41-C4CE-25F9-1B01-AAD5A8993EBD}"/>
              </a:ext>
            </a:extLst>
          </p:cNvPr>
          <p:cNvGraphicFramePr>
            <a:graphicFrameLocks noGrp="1"/>
          </p:cNvGraphicFramePr>
          <p:nvPr>
            <p:extLst>
              <p:ext uri="{D42A27DB-BD31-4B8C-83A1-F6EECF244321}">
                <p14:modId xmlns:p14="http://schemas.microsoft.com/office/powerpoint/2010/main" val="3539760319"/>
              </p:ext>
            </p:extLst>
          </p:nvPr>
        </p:nvGraphicFramePr>
        <p:xfrm>
          <a:off x="128307" y="957820"/>
          <a:ext cx="11741870" cy="637882"/>
        </p:xfrm>
        <a:graphic>
          <a:graphicData uri="http://schemas.openxmlformats.org/drawingml/2006/table">
            <a:tbl>
              <a:tblPr firstRow="1" bandRow="1"/>
              <a:tblGrid>
                <a:gridCol w="378770">
                  <a:extLst>
                    <a:ext uri="{9D8B030D-6E8A-4147-A177-3AD203B41FA5}">
                      <a16:colId xmlns:a16="http://schemas.microsoft.com/office/drawing/2014/main" val="3091663135"/>
                    </a:ext>
                  </a:extLst>
                </a:gridCol>
                <a:gridCol w="378770">
                  <a:extLst>
                    <a:ext uri="{9D8B030D-6E8A-4147-A177-3AD203B41FA5}">
                      <a16:colId xmlns:a16="http://schemas.microsoft.com/office/drawing/2014/main" val="2003423086"/>
                    </a:ext>
                  </a:extLst>
                </a:gridCol>
                <a:gridCol w="378770">
                  <a:extLst>
                    <a:ext uri="{9D8B030D-6E8A-4147-A177-3AD203B41FA5}">
                      <a16:colId xmlns:a16="http://schemas.microsoft.com/office/drawing/2014/main" val="2466911814"/>
                    </a:ext>
                  </a:extLst>
                </a:gridCol>
                <a:gridCol w="378770">
                  <a:extLst>
                    <a:ext uri="{9D8B030D-6E8A-4147-A177-3AD203B41FA5}">
                      <a16:colId xmlns:a16="http://schemas.microsoft.com/office/drawing/2014/main" val="3023231563"/>
                    </a:ext>
                  </a:extLst>
                </a:gridCol>
                <a:gridCol w="378770">
                  <a:extLst>
                    <a:ext uri="{9D8B030D-6E8A-4147-A177-3AD203B41FA5}">
                      <a16:colId xmlns:a16="http://schemas.microsoft.com/office/drawing/2014/main" val="3411862845"/>
                    </a:ext>
                  </a:extLst>
                </a:gridCol>
                <a:gridCol w="378770">
                  <a:extLst>
                    <a:ext uri="{9D8B030D-6E8A-4147-A177-3AD203B41FA5}">
                      <a16:colId xmlns:a16="http://schemas.microsoft.com/office/drawing/2014/main" val="2851474774"/>
                    </a:ext>
                  </a:extLst>
                </a:gridCol>
                <a:gridCol w="378770">
                  <a:extLst>
                    <a:ext uri="{9D8B030D-6E8A-4147-A177-3AD203B41FA5}">
                      <a16:colId xmlns:a16="http://schemas.microsoft.com/office/drawing/2014/main" val="107595344"/>
                    </a:ext>
                  </a:extLst>
                </a:gridCol>
                <a:gridCol w="378770">
                  <a:extLst>
                    <a:ext uri="{9D8B030D-6E8A-4147-A177-3AD203B41FA5}">
                      <a16:colId xmlns:a16="http://schemas.microsoft.com/office/drawing/2014/main" val="1666999431"/>
                    </a:ext>
                  </a:extLst>
                </a:gridCol>
                <a:gridCol w="378770">
                  <a:extLst>
                    <a:ext uri="{9D8B030D-6E8A-4147-A177-3AD203B41FA5}">
                      <a16:colId xmlns:a16="http://schemas.microsoft.com/office/drawing/2014/main" val="3696607442"/>
                    </a:ext>
                  </a:extLst>
                </a:gridCol>
                <a:gridCol w="378770">
                  <a:extLst>
                    <a:ext uri="{9D8B030D-6E8A-4147-A177-3AD203B41FA5}">
                      <a16:colId xmlns:a16="http://schemas.microsoft.com/office/drawing/2014/main" val="223989776"/>
                    </a:ext>
                  </a:extLst>
                </a:gridCol>
                <a:gridCol w="378770">
                  <a:extLst>
                    <a:ext uri="{9D8B030D-6E8A-4147-A177-3AD203B41FA5}">
                      <a16:colId xmlns:a16="http://schemas.microsoft.com/office/drawing/2014/main" val="124731204"/>
                    </a:ext>
                  </a:extLst>
                </a:gridCol>
                <a:gridCol w="378770">
                  <a:extLst>
                    <a:ext uri="{9D8B030D-6E8A-4147-A177-3AD203B41FA5}">
                      <a16:colId xmlns:a16="http://schemas.microsoft.com/office/drawing/2014/main" val="3066978585"/>
                    </a:ext>
                  </a:extLst>
                </a:gridCol>
                <a:gridCol w="378770">
                  <a:extLst>
                    <a:ext uri="{9D8B030D-6E8A-4147-A177-3AD203B41FA5}">
                      <a16:colId xmlns:a16="http://schemas.microsoft.com/office/drawing/2014/main" val="1064917641"/>
                    </a:ext>
                  </a:extLst>
                </a:gridCol>
                <a:gridCol w="378770">
                  <a:extLst>
                    <a:ext uri="{9D8B030D-6E8A-4147-A177-3AD203B41FA5}">
                      <a16:colId xmlns:a16="http://schemas.microsoft.com/office/drawing/2014/main" val="4221117315"/>
                    </a:ext>
                  </a:extLst>
                </a:gridCol>
                <a:gridCol w="378770">
                  <a:extLst>
                    <a:ext uri="{9D8B030D-6E8A-4147-A177-3AD203B41FA5}">
                      <a16:colId xmlns:a16="http://schemas.microsoft.com/office/drawing/2014/main" val="3266065341"/>
                    </a:ext>
                  </a:extLst>
                </a:gridCol>
                <a:gridCol w="378770">
                  <a:extLst>
                    <a:ext uri="{9D8B030D-6E8A-4147-A177-3AD203B41FA5}">
                      <a16:colId xmlns:a16="http://schemas.microsoft.com/office/drawing/2014/main" val="2374051224"/>
                    </a:ext>
                  </a:extLst>
                </a:gridCol>
                <a:gridCol w="378770">
                  <a:extLst>
                    <a:ext uri="{9D8B030D-6E8A-4147-A177-3AD203B41FA5}">
                      <a16:colId xmlns:a16="http://schemas.microsoft.com/office/drawing/2014/main" val="1840388365"/>
                    </a:ext>
                  </a:extLst>
                </a:gridCol>
                <a:gridCol w="378770">
                  <a:extLst>
                    <a:ext uri="{9D8B030D-6E8A-4147-A177-3AD203B41FA5}">
                      <a16:colId xmlns:a16="http://schemas.microsoft.com/office/drawing/2014/main" val="267750830"/>
                    </a:ext>
                  </a:extLst>
                </a:gridCol>
                <a:gridCol w="378770">
                  <a:extLst>
                    <a:ext uri="{9D8B030D-6E8A-4147-A177-3AD203B41FA5}">
                      <a16:colId xmlns:a16="http://schemas.microsoft.com/office/drawing/2014/main" val="3966469970"/>
                    </a:ext>
                  </a:extLst>
                </a:gridCol>
                <a:gridCol w="378770">
                  <a:extLst>
                    <a:ext uri="{9D8B030D-6E8A-4147-A177-3AD203B41FA5}">
                      <a16:colId xmlns:a16="http://schemas.microsoft.com/office/drawing/2014/main" val="2522973146"/>
                    </a:ext>
                  </a:extLst>
                </a:gridCol>
                <a:gridCol w="378770">
                  <a:extLst>
                    <a:ext uri="{9D8B030D-6E8A-4147-A177-3AD203B41FA5}">
                      <a16:colId xmlns:a16="http://schemas.microsoft.com/office/drawing/2014/main" val="309019048"/>
                    </a:ext>
                  </a:extLst>
                </a:gridCol>
                <a:gridCol w="378770">
                  <a:extLst>
                    <a:ext uri="{9D8B030D-6E8A-4147-A177-3AD203B41FA5}">
                      <a16:colId xmlns:a16="http://schemas.microsoft.com/office/drawing/2014/main" val="4088660355"/>
                    </a:ext>
                  </a:extLst>
                </a:gridCol>
                <a:gridCol w="378770">
                  <a:extLst>
                    <a:ext uri="{9D8B030D-6E8A-4147-A177-3AD203B41FA5}">
                      <a16:colId xmlns:a16="http://schemas.microsoft.com/office/drawing/2014/main" val="4101055617"/>
                    </a:ext>
                  </a:extLst>
                </a:gridCol>
                <a:gridCol w="378770">
                  <a:extLst>
                    <a:ext uri="{9D8B030D-6E8A-4147-A177-3AD203B41FA5}">
                      <a16:colId xmlns:a16="http://schemas.microsoft.com/office/drawing/2014/main" val="1497634779"/>
                    </a:ext>
                  </a:extLst>
                </a:gridCol>
                <a:gridCol w="378770">
                  <a:extLst>
                    <a:ext uri="{9D8B030D-6E8A-4147-A177-3AD203B41FA5}">
                      <a16:colId xmlns:a16="http://schemas.microsoft.com/office/drawing/2014/main" val="1313870339"/>
                    </a:ext>
                  </a:extLst>
                </a:gridCol>
                <a:gridCol w="378770">
                  <a:extLst>
                    <a:ext uri="{9D8B030D-6E8A-4147-A177-3AD203B41FA5}">
                      <a16:colId xmlns:a16="http://schemas.microsoft.com/office/drawing/2014/main" val="380966906"/>
                    </a:ext>
                  </a:extLst>
                </a:gridCol>
                <a:gridCol w="378770">
                  <a:extLst>
                    <a:ext uri="{9D8B030D-6E8A-4147-A177-3AD203B41FA5}">
                      <a16:colId xmlns:a16="http://schemas.microsoft.com/office/drawing/2014/main" val="370559516"/>
                    </a:ext>
                  </a:extLst>
                </a:gridCol>
                <a:gridCol w="378770">
                  <a:extLst>
                    <a:ext uri="{9D8B030D-6E8A-4147-A177-3AD203B41FA5}">
                      <a16:colId xmlns:a16="http://schemas.microsoft.com/office/drawing/2014/main" val="3600075590"/>
                    </a:ext>
                  </a:extLst>
                </a:gridCol>
                <a:gridCol w="378770">
                  <a:extLst>
                    <a:ext uri="{9D8B030D-6E8A-4147-A177-3AD203B41FA5}">
                      <a16:colId xmlns:a16="http://schemas.microsoft.com/office/drawing/2014/main" val="2085800570"/>
                    </a:ext>
                  </a:extLst>
                </a:gridCol>
                <a:gridCol w="378770">
                  <a:extLst>
                    <a:ext uri="{9D8B030D-6E8A-4147-A177-3AD203B41FA5}">
                      <a16:colId xmlns:a16="http://schemas.microsoft.com/office/drawing/2014/main" val="2866958328"/>
                    </a:ext>
                  </a:extLst>
                </a:gridCol>
                <a:gridCol w="378770">
                  <a:extLst>
                    <a:ext uri="{9D8B030D-6E8A-4147-A177-3AD203B41FA5}">
                      <a16:colId xmlns:a16="http://schemas.microsoft.com/office/drawing/2014/main" val="2742855301"/>
                    </a:ext>
                  </a:extLst>
                </a:gridCol>
              </a:tblGrid>
              <a:tr h="231490">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mn-ea"/>
                          <a:ea typeface="+mn-ea"/>
                          <a:cs typeface="Arial"/>
                        </a:rPr>
                        <a:t>2022</a:t>
                      </a:r>
                      <a:endParaRPr lang="zh-CN" altLang="en-US" sz="1100" b="1">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2023</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2024</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2025</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2026</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bg1"/>
                          </a:solidFill>
                          <a:latin typeface="+mn-ea"/>
                          <a:ea typeface="+mn-ea"/>
                          <a:cs typeface="Arial"/>
                        </a:rPr>
                        <a:t>2027</a:t>
                      </a:r>
                      <a:endParaRPr lang="zh-CN" altLang="en-US" sz="1100" b="1" kern="1200">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mn-ea"/>
                          <a:ea typeface="+mn-ea"/>
                          <a:cs typeface="Arial"/>
                        </a:rPr>
                        <a:t>2028</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3">
                  <a:txBody>
                    <a:bodyPr/>
                    <a:lstStyle/>
                    <a:p>
                      <a:pPr marL="0" algn="ctr" defTabSz="914400" rtl="0" eaLnBrk="1" latinLnBrk="0" hangingPunct="1"/>
                      <a:r>
                        <a:rPr lang="en-US" altLang="zh-CN" sz="1100" b="1" kern="1200">
                          <a:solidFill>
                            <a:schemeClr val="lt1"/>
                          </a:solidFill>
                          <a:latin typeface="+mn-ea"/>
                          <a:ea typeface="+mn-ea"/>
                          <a:cs typeface="Arial"/>
                        </a:rPr>
                        <a:t>2029</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nchor="ctr">
                    <a:lnL w="12700">
                      <a:solidFill>
                        <a:sysClr val="window" lastClr="FFFFFF"/>
                      </a:solidFill>
                    </a:lnL>
                    <a:lnR w="12700">
                      <a:solidFill>
                        <a:sysClr val="window" lastClr="FFFFFF"/>
                      </a:solidFill>
                    </a:lnR>
                    <a:lnT w="12700">
                      <a:solidFill>
                        <a:sysClr val="window" lastClr="FFFFFF"/>
                      </a:solidFill>
                    </a:lnT>
                    <a:lnB w="38099">
                      <a:solidFill>
                        <a:sysClr val="window" lastClr="FFFFFF"/>
                      </a:solidFill>
                    </a:lnB>
                    <a:lnTlToBr w="0">
                      <a:noFill/>
                    </a:lnTlToBr>
                    <a:lnBlToTr w="0">
                      <a:noFill/>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mn-ea"/>
                          <a:ea typeface="+mn-ea"/>
                          <a:cs typeface="Arial"/>
                        </a:rPr>
                        <a:t>2030</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78802">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a:solidFill>
                            <a:schemeClr val="bg2"/>
                          </a:solidFill>
                          <a:latin typeface="+mn-ea"/>
                          <a:ea typeface="+mn-ea"/>
                          <a:cs typeface="Arial"/>
                        </a:rPr>
                        <a:t>Q2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a:solidFill>
                            <a:schemeClr val="bg2"/>
                          </a:solidFill>
                          <a:latin typeface="+mn-ea"/>
                          <a:ea typeface="+mn-ea"/>
                          <a:cs typeface="Arial"/>
                        </a:rPr>
                        <a:t>Q2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a:solidFill>
                            <a:schemeClr val="bg2"/>
                          </a:solidFill>
                          <a:latin typeface="+mn-ea"/>
                          <a:ea typeface="+mn-ea"/>
                          <a:cs typeface="Arial"/>
                        </a:rPr>
                        <a:t>Q2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a:solidFill>
                            <a:schemeClr val="bg2"/>
                          </a:solidFill>
                          <a:latin typeface="+mn-ea"/>
                          <a:ea typeface="+mn-ea"/>
                          <a:cs typeface="Arial"/>
                        </a:rPr>
                        <a:t>Q2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a:solidFill>
                            <a:schemeClr val="bg2"/>
                          </a:solidFill>
                          <a:latin typeface="+mn-ea"/>
                          <a:ea typeface="+mn-ea"/>
                          <a:cs typeface="Arial"/>
                        </a:rPr>
                        <a:t>Q2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a:solidFill>
                            <a:schemeClr val="bg2"/>
                          </a:solidFill>
                          <a:latin typeface="+mn-ea"/>
                          <a:ea typeface="+mn-ea"/>
                          <a:cs typeface="Arial"/>
                        </a:rPr>
                        <a:t>Q2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H1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lvl="0" algn="ctr">
                        <a:buNone/>
                      </a:pPr>
                      <a:endParaRPr lang="en-US" altLang="zh-CN" sz="1050" b="1">
                        <a:solidFill>
                          <a:schemeClr val="bg2"/>
                        </a:solidFill>
                        <a:latin typeface="+mn-ea"/>
                        <a:ea typeface="+mn-ea"/>
                        <a:cs typeface="Arial"/>
                      </a:endParaRPr>
                    </a:p>
                  </a:txBody>
                  <a:tcPr anchor="ctr">
                    <a:lnL w="12700">
                      <a:solidFill>
                        <a:sysClr val="window" lastClr="FFFFFF"/>
                      </a:solidFill>
                    </a:lnL>
                    <a:lnR w="12700">
                      <a:solidFill>
                        <a:sysClr val="window" lastClr="FFFFFF"/>
                      </a:solidFill>
                    </a:lnR>
                    <a:lnT w="38099">
                      <a:solidFill>
                        <a:sysClr val="window" lastClr="FFFFFF"/>
                      </a:solidFill>
                    </a:lnT>
                    <a:lnB w="12700">
                      <a:solidFill>
                        <a:sysClr val="window" lastClr="FFFFFF"/>
                      </a:solidFill>
                    </a:lnB>
                    <a:lnTlToBr w="0">
                      <a:noFill/>
                    </a:lnTlToBr>
                    <a:lnBlToTr w="0">
                      <a:noFill/>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H2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H1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H2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extLst>
                  <a:ext uri="{0D108BD9-81ED-4DB2-BD59-A6C34878D82A}">
                    <a16:rowId xmlns:a16="http://schemas.microsoft.com/office/drawing/2014/main" val="2722476245"/>
                  </a:ext>
                </a:extLst>
              </a:tr>
            </a:tbl>
          </a:graphicData>
        </a:graphic>
      </p:graphicFrame>
      <p:sp>
        <p:nvSpPr>
          <p:cNvPr id="10" name="Isosceles Triangle 9">
            <a:extLst>
              <a:ext uri="{FF2B5EF4-FFF2-40B4-BE49-F238E27FC236}">
                <a16:creationId xmlns:a16="http://schemas.microsoft.com/office/drawing/2014/main" id="{4399AABB-F84C-BAAB-D4C3-3A146B729A23}"/>
              </a:ext>
            </a:extLst>
          </p:cNvPr>
          <p:cNvSpPr/>
          <p:nvPr/>
        </p:nvSpPr>
        <p:spPr>
          <a:xfrm rot="16200000" flipH="1">
            <a:off x="-252417" y="1200536"/>
            <a:ext cx="624570" cy="119607"/>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sp>
        <p:nvSpPr>
          <p:cNvPr id="11" name="Isosceles Triangle 10">
            <a:extLst>
              <a:ext uri="{FF2B5EF4-FFF2-40B4-BE49-F238E27FC236}">
                <a16:creationId xmlns:a16="http://schemas.microsoft.com/office/drawing/2014/main" id="{DA1736F1-AD10-4198-C3B9-A01697DE8EE4}"/>
              </a:ext>
            </a:extLst>
          </p:cNvPr>
          <p:cNvSpPr/>
          <p:nvPr/>
        </p:nvSpPr>
        <p:spPr>
          <a:xfrm rot="5400000">
            <a:off x="11698367" y="1185879"/>
            <a:ext cx="605031" cy="148913"/>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pic>
        <p:nvPicPr>
          <p:cNvPr id="12" name="Picture 11">
            <a:extLst>
              <a:ext uri="{FF2B5EF4-FFF2-40B4-BE49-F238E27FC236}">
                <a16:creationId xmlns:a16="http://schemas.microsoft.com/office/drawing/2014/main" id="{3471E2A8-2DA3-F130-1243-97FEF1A581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27898" y="2540882"/>
            <a:ext cx="730436" cy="360000"/>
          </a:xfrm>
          <a:prstGeom prst="rect">
            <a:avLst/>
          </a:prstGeom>
        </p:spPr>
      </p:pic>
      <p:grpSp>
        <p:nvGrpSpPr>
          <p:cNvPr id="44" name="Group 43">
            <a:extLst>
              <a:ext uri="{FF2B5EF4-FFF2-40B4-BE49-F238E27FC236}">
                <a16:creationId xmlns:a16="http://schemas.microsoft.com/office/drawing/2014/main" id="{8F8CC1BE-E777-7124-604F-F3EA5232FBAE}"/>
              </a:ext>
            </a:extLst>
          </p:cNvPr>
          <p:cNvGrpSpPr/>
          <p:nvPr/>
        </p:nvGrpSpPr>
        <p:grpSpPr>
          <a:xfrm>
            <a:off x="3940192" y="2361155"/>
            <a:ext cx="5899831" cy="1844323"/>
            <a:chOff x="4291310" y="2732224"/>
            <a:chExt cx="5899831" cy="1844323"/>
          </a:xfrm>
        </p:grpSpPr>
        <p:sp>
          <p:nvSpPr>
            <p:cNvPr id="45" name="OTLSHAPE_T_5a934a26f311425e8ebaa0f45e6533ad_Shape">
              <a:extLst>
                <a:ext uri="{FF2B5EF4-FFF2-40B4-BE49-F238E27FC236}">
                  <a16:creationId xmlns:a16="http://schemas.microsoft.com/office/drawing/2014/main" id="{AC296670-2EEE-42F2-D725-0687C4F50E8B}"/>
                </a:ext>
              </a:extLst>
            </p:cNvPr>
            <p:cNvSpPr/>
            <p:nvPr/>
          </p:nvSpPr>
          <p:spPr bwMode="auto">
            <a:xfrm>
              <a:off x="5022851" y="2998279"/>
              <a:ext cx="3354962" cy="201251"/>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2"/>
                  </a:solidFill>
                  <a:latin typeface="+mn-ea"/>
                  <a:cs typeface="Calibri" panose="020F0502020204030204" pitchFamily="34" charset="0"/>
                </a:rPr>
                <a:t>AIRTIVITY 1397-0014 Phase 3</a:t>
              </a:r>
            </a:p>
          </p:txBody>
        </p:sp>
        <p:grpSp>
          <p:nvGrpSpPr>
            <p:cNvPr id="47" name="Group 46">
              <a:extLst>
                <a:ext uri="{FF2B5EF4-FFF2-40B4-BE49-F238E27FC236}">
                  <a16:creationId xmlns:a16="http://schemas.microsoft.com/office/drawing/2014/main" id="{C4A531CF-3012-7A9F-D1CC-59FC95589C02}"/>
                </a:ext>
              </a:extLst>
            </p:cNvPr>
            <p:cNvGrpSpPr/>
            <p:nvPr/>
          </p:nvGrpSpPr>
          <p:grpSpPr>
            <a:xfrm>
              <a:off x="4291310" y="2732224"/>
              <a:ext cx="402354" cy="620876"/>
              <a:chOff x="3273356" y="2935058"/>
              <a:chExt cx="402354" cy="620876"/>
            </a:xfrm>
          </p:grpSpPr>
          <p:sp>
            <p:nvSpPr>
              <p:cNvPr id="58" name="Star: 5 Points 57">
                <a:extLst>
                  <a:ext uri="{FF2B5EF4-FFF2-40B4-BE49-F238E27FC236}">
                    <a16:creationId xmlns:a16="http://schemas.microsoft.com/office/drawing/2014/main" id="{80FF7C35-62B3-0884-76B9-CF2FBC90D0E3}"/>
                  </a:ext>
                </a:extLst>
              </p:cNvPr>
              <p:cNvSpPr/>
              <p:nvPr/>
            </p:nvSpPr>
            <p:spPr bwMode="gray">
              <a:xfrm>
                <a:off x="3414744" y="323277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59" name="TextBox 58">
                <a:extLst>
                  <a:ext uri="{FF2B5EF4-FFF2-40B4-BE49-F238E27FC236}">
                    <a16:creationId xmlns:a16="http://schemas.microsoft.com/office/drawing/2014/main" id="{8461C74F-9888-D939-80BB-9E9F5ADE8730}"/>
                  </a:ext>
                </a:extLst>
              </p:cNvPr>
              <p:cNvSpPr txBox="1"/>
              <p:nvPr/>
            </p:nvSpPr>
            <p:spPr bwMode="gray">
              <a:xfrm>
                <a:off x="3379154" y="3417691"/>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60" name="TextBox 59">
                <a:extLst>
                  <a:ext uri="{FF2B5EF4-FFF2-40B4-BE49-F238E27FC236}">
                    <a16:creationId xmlns:a16="http://schemas.microsoft.com/office/drawing/2014/main" id="{A19B4229-985A-8D35-59D1-5DD75D859EC9}"/>
                  </a:ext>
                </a:extLst>
              </p:cNvPr>
              <p:cNvSpPr txBox="1"/>
              <p:nvPr/>
            </p:nvSpPr>
            <p:spPr bwMode="gray">
              <a:xfrm>
                <a:off x="3273356" y="2935058"/>
                <a:ext cx="402354" cy="138243"/>
              </a:xfrm>
              <a:prstGeom prst="rect">
                <a:avLst/>
              </a:prstGeom>
              <a:noFill/>
            </p:spPr>
            <p:txBody>
              <a:bodyPr wrap="none" lIns="0" tIns="0" rIns="0" bIns="0" rtlCol="0">
                <a:spAutoFit/>
              </a:bodyPr>
              <a:lstStyle/>
              <a:p>
                <a:pPr algn="ctr">
                  <a:lnSpc>
                    <a:spcPct val="140000"/>
                  </a:lnSpc>
                </a:pPr>
                <a:r>
                  <a:rPr lang="en-US" sz="700" b="1">
                    <a:solidFill>
                      <a:schemeClr val="bg2"/>
                    </a:solidFill>
                  </a:rPr>
                  <a:t>Feb 2025</a:t>
                </a:r>
              </a:p>
            </p:txBody>
          </p:sp>
        </p:grpSp>
        <p:sp>
          <p:nvSpPr>
            <p:cNvPr id="48" name="TextBox 47">
              <a:extLst>
                <a:ext uri="{FF2B5EF4-FFF2-40B4-BE49-F238E27FC236}">
                  <a16:creationId xmlns:a16="http://schemas.microsoft.com/office/drawing/2014/main" id="{E38BA29C-AAC1-E366-2B72-F638267608A2}"/>
                </a:ext>
              </a:extLst>
            </p:cNvPr>
            <p:cNvSpPr txBox="1"/>
            <p:nvPr/>
          </p:nvSpPr>
          <p:spPr bwMode="gray">
            <a:xfrm>
              <a:off x="4673118" y="2846244"/>
              <a:ext cx="7229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16 Jun 2025 </a:t>
              </a:r>
              <a:r>
                <a:rPr lang="en-US" altLang="zh-CN" sz="700" b="1">
                  <a:solidFill>
                    <a:schemeClr val="bg2"/>
                  </a:solidFill>
                </a:rPr>
                <a:t>FSS</a:t>
              </a:r>
              <a:endParaRPr lang="en-US" sz="700" b="1">
                <a:solidFill>
                  <a:schemeClr val="bg2"/>
                </a:solidFill>
              </a:endParaRPr>
            </a:p>
          </p:txBody>
        </p:sp>
        <p:sp>
          <p:nvSpPr>
            <p:cNvPr id="49" name="TextBox 48">
              <a:extLst>
                <a:ext uri="{FF2B5EF4-FFF2-40B4-BE49-F238E27FC236}">
                  <a16:creationId xmlns:a16="http://schemas.microsoft.com/office/drawing/2014/main" id="{B32479EB-6F90-3AFC-5C00-85BED9459D0E}"/>
                </a:ext>
              </a:extLst>
            </p:cNvPr>
            <p:cNvSpPr txBox="1"/>
            <p:nvPr/>
          </p:nvSpPr>
          <p:spPr bwMode="gray">
            <a:xfrm>
              <a:off x="8233223" y="4276288"/>
              <a:ext cx="623038" cy="300259"/>
            </a:xfrm>
            <a:prstGeom prst="rect">
              <a:avLst/>
            </a:prstGeom>
            <a:noFill/>
          </p:spPr>
          <p:txBody>
            <a:bodyPr wrap="square" lIns="0" tIns="0" rIns="0" bIns="0" rtlCol="0" anchor="t">
              <a:spAutoFit/>
            </a:bodyPr>
            <a:lstStyle/>
            <a:p>
              <a:pPr>
                <a:lnSpc>
                  <a:spcPct val="140000"/>
                </a:lnSpc>
              </a:pPr>
              <a:r>
                <a:rPr lang="en-US" sz="700" b="1">
                  <a:solidFill>
                    <a:srgbClr val="052EFC"/>
                  </a:solidFill>
                </a:rPr>
                <a:t>DBL-1</a:t>
              </a:r>
              <a:endParaRPr lang="en-US" b="1">
                <a:solidFill>
                  <a:srgbClr val="052EFC"/>
                </a:solidFill>
              </a:endParaRPr>
            </a:p>
            <a:p>
              <a:pPr>
                <a:lnSpc>
                  <a:spcPct val="140000"/>
                </a:lnSpc>
              </a:pPr>
              <a:r>
                <a:rPr lang="en-US" sz="700" b="1">
                  <a:solidFill>
                    <a:srgbClr val="052EFC"/>
                  </a:solidFill>
                </a:rPr>
                <a:t>Sep 2027</a:t>
              </a:r>
              <a:endParaRPr lang="en-US" b="1">
                <a:solidFill>
                  <a:srgbClr val="052EFC"/>
                </a:solidFill>
              </a:endParaRPr>
            </a:p>
          </p:txBody>
        </p:sp>
        <p:grpSp>
          <p:nvGrpSpPr>
            <p:cNvPr id="50" name="Group 49">
              <a:extLst>
                <a:ext uri="{FF2B5EF4-FFF2-40B4-BE49-F238E27FC236}">
                  <a16:creationId xmlns:a16="http://schemas.microsoft.com/office/drawing/2014/main" id="{5B0CEAC3-6749-5EE5-4F06-AA231605E351}"/>
                </a:ext>
              </a:extLst>
            </p:cNvPr>
            <p:cNvGrpSpPr/>
            <p:nvPr/>
          </p:nvGrpSpPr>
          <p:grpSpPr>
            <a:xfrm>
              <a:off x="8848172" y="2799194"/>
              <a:ext cx="407163" cy="529804"/>
              <a:chOff x="2275321" y="3003718"/>
              <a:chExt cx="407163" cy="529804"/>
            </a:xfrm>
          </p:grpSpPr>
          <p:sp>
            <p:nvSpPr>
              <p:cNvPr id="55" name="Star: 5 Points 54">
                <a:extLst>
                  <a:ext uri="{FF2B5EF4-FFF2-40B4-BE49-F238E27FC236}">
                    <a16:creationId xmlns:a16="http://schemas.microsoft.com/office/drawing/2014/main" id="{D7FC2126-A678-006E-4885-A94A616E8CE0}"/>
                  </a:ext>
                </a:extLst>
              </p:cNvPr>
              <p:cNvSpPr/>
              <p:nvPr/>
            </p:nvSpPr>
            <p:spPr bwMode="gray">
              <a:xfrm>
                <a:off x="2419114" y="3240243"/>
                <a:ext cx="119578" cy="119578"/>
              </a:xfrm>
              <a:prstGeom prst="star5">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56" name="TextBox 55">
                <a:extLst>
                  <a:ext uri="{FF2B5EF4-FFF2-40B4-BE49-F238E27FC236}">
                    <a16:creationId xmlns:a16="http://schemas.microsoft.com/office/drawing/2014/main" id="{BE175577-9903-36BA-B725-D886284F0C8C}"/>
                  </a:ext>
                </a:extLst>
              </p:cNvPr>
              <p:cNvSpPr txBox="1"/>
              <p:nvPr/>
            </p:nvSpPr>
            <p:spPr bwMode="gray">
              <a:xfrm>
                <a:off x="2304977" y="3395279"/>
                <a:ext cx="347852" cy="138243"/>
              </a:xfrm>
              <a:prstGeom prst="rect">
                <a:avLst/>
              </a:prstGeom>
              <a:noFill/>
            </p:spPr>
            <p:txBody>
              <a:bodyPr wrap="none" lIns="0" tIns="0" rIns="0" bIns="0" rtlCol="0">
                <a:spAutoFit/>
              </a:bodyPr>
              <a:lstStyle/>
              <a:p>
                <a:pPr algn="ctr">
                  <a:lnSpc>
                    <a:spcPct val="140000"/>
                  </a:lnSpc>
                </a:pPr>
                <a:r>
                  <a:rPr lang="en-US" sz="700" b="1">
                    <a:solidFill>
                      <a:schemeClr val="bg2"/>
                    </a:solidFill>
                  </a:rPr>
                  <a:t>US NDA</a:t>
                </a:r>
              </a:p>
            </p:txBody>
          </p:sp>
          <p:sp>
            <p:nvSpPr>
              <p:cNvPr id="57" name="TextBox 56">
                <a:extLst>
                  <a:ext uri="{FF2B5EF4-FFF2-40B4-BE49-F238E27FC236}">
                    <a16:creationId xmlns:a16="http://schemas.microsoft.com/office/drawing/2014/main" id="{0861E95E-31F3-C39C-1A57-6EB3078D797C}"/>
                  </a:ext>
                </a:extLst>
              </p:cNvPr>
              <p:cNvSpPr txBox="1"/>
              <p:nvPr/>
            </p:nvSpPr>
            <p:spPr bwMode="gray">
              <a:xfrm>
                <a:off x="2275321" y="3003718"/>
                <a:ext cx="407163"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Dec 2027</a:t>
                </a:r>
              </a:p>
            </p:txBody>
          </p:sp>
        </p:grpSp>
        <p:grpSp>
          <p:nvGrpSpPr>
            <p:cNvPr id="51" name="Group 50">
              <a:extLst>
                <a:ext uri="{FF2B5EF4-FFF2-40B4-BE49-F238E27FC236}">
                  <a16:creationId xmlns:a16="http://schemas.microsoft.com/office/drawing/2014/main" id="{8B8A2A99-A03D-4713-B18A-67606925EBFD}"/>
                </a:ext>
              </a:extLst>
            </p:cNvPr>
            <p:cNvGrpSpPr/>
            <p:nvPr/>
          </p:nvGrpSpPr>
          <p:grpSpPr>
            <a:xfrm>
              <a:off x="9649325" y="2799194"/>
              <a:ext cx="541816" cy="533956"/>
              <a:chOff x="9885350" y="2151642"/>
              <a:chExt cx="541816" cy="533956"/>
            </a:xfrm>
          </p:grpSpPr>
          <p:pic>
            <p:nvPicPr>
              <p:cNvPr id="52" name="Graphic 51" descr="Flag with solid fill">
                <a:extLst>
                  <a:ext uri="{FF2B5EF4-FFF2-40B4-BE49-F238E27FC236}">
                    <a16:creationId xmlns:a16="http://schemas.microsoft.com/office/drawing/2014/main" id="{0AFA3E98-C086-F296-C29B-E0F48BE8BE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57387" y="2349085"/>
                <a:ext cx="197742" cy="197742"/>
              </a:xfrm>
              <a:prstGeom prst="rect">
                <a:avLst/>
              </a:prstGeom>
            </p:spPr>
          </p:pic>
          <p:sp>
            <p:nvSpPr>
              <p:cNvPr id="53" name="TextBox 52">
                <a:extLst>
                  <a:ext uri="{FF2B5EF4-FFF2-40B4-BE49-F238E27FC236}">
                    <a16:creationId xmlns:a16="http://schemas.microsoft.com/office/drawing/2014/main" id="{83A46B91-6C92-9228-F7A1-81FA3FE300F6}"/>
                  </a:ext>
                </a:extLst>
              </p:cNvPr>
              <p:cNvSpPr txBox="1"/>
              <p:nvPr/>
            </p:nvSpPr>
            <p:spPr bwMode="gray">
              <a:xfrm>
                <a:off x="9885350" y="2547355"/>
                <a:ext cx="541816" cy="138243"/>
              </a:xfrm>
              <a:prstGeom prst="rect">
                <a:avLst/>
              </a:prstGeom>
              <a:noFill/>
            </p:spPr>
            <p:txBody>
              <a:bodyPr wrap="none" lIns="0" tIns="0" rIns="0" bIns="0" rtlCol="0">
                <a:spAutoFit/>
              </a:bodyPr>
              <a:lstStyle/>
              <a:p>
                <a:pPr algn="ctr">
                  <a:lnSpc>
                    <a:spcPct val="140000"/>
                  </a:lnSpc>
                </a:pPr>
                <a:r>
                  <a:rPr lang="en-US" sz="700" b="1">
                    <a:solidFill>
                      <a:schemeClr val="bg2"/>
                    </a:solidFill>
                  </a:rPr>
                  <a:t>US Approval</a:t>
                </a:r>
              </a:p>
            </p:txBody>
          </p:sp>
          <p:sp>
            <p:nvSpPr>
              <p:cNvPr id="54" name="TextBox 53">
                <a:extLst>
                  <a:ext uri="{FF2B5EF4-FFF2-40B4-BE49-F238E27FC236}">
                    <a16:creationId xmlns:a16="http://schemas.microsoft.com/office/drawing/2014/main" id="{F9728F93-4206-D15F-7116-BCF882201686}"/>
                  </a:ext>
                </a:extLst>
              </p:cNvPr>
              <p:cNvSpPr txBox="1"/>
              <p:nvPr/>
            </p:nvSpPr>
            <p:spPr bwMode="gray">
              <a:xfrm>
                <a:off x="9935045" y="2151642"/>
                <a:ext cx="426399"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Aug 2028 </a:t>
                </a:r>
              </a:p>
            </p:txBody>
          </p:sp>
        </p:grpSp>
      </p:grpSp>
      <p:pic>
        <p:nvPicPr>
          <p:cNvPr id="62" name="Picture 61">
            <a:extLst>
              <a:ext uri="{FF2B5EF4-FFF2-40B4-BE49-F238E27FC236}">
                <a16:creationId xmlns:a16="http://schemas.microsoft.com/office/drawing/2014/main" id="{D6290F2C-903C-C52A-04B6-970144C9E2F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42310" y="3274967"/>
            <a:ext cx="730437" cy="360000"/>
          </a:xfrm>
          <a:prstGeom prst="rect">
            <a:avLst/>
          </a:prstGeom>
        </p:spPr>
      </p:pic>
      <p:grpSp>
        <p:nvGrpSpPr>
          <p:cNvPr id="64" name="Group 63">
            <a:extLst>
              <a:ext uri="{FF2B5EF4-FFF2-40B4-BE49-F238E27FC236}">
                <a16:creationId xmlns:a16="http://schemas.microsoft.com/office/drawing/2014/main" id="{BC82375A-47D6-2105-87AD-57604735329D}"/>
              </a:ext>
            </a:extLst>
          </p:cNvPr>
          <p:cNvGrpSpPr/>
          <p:nvPr/>
        </p:nvGrpSpPr>
        <p:grpSpPr>
          <a:xfrm>
            <a:off x="3374217" y="3186844"/>
            <a:ext cx="4659489" cy="626024"/>
            <a:chOff x="3725335" y="4891875"/>
            <a:chExt cx="4652377" cy="637229"/>
          </a:xfrm>
        </p:grpSpPr>
        <p:sp>
          <p:nvSpPr>
            <p:cNvPr id="65" name="OTLSHAPE_T_5a934a26f311425e8ebaa0f45e6533ad_Shape">
              <a:extLst>
                <a:ext uri="{FF2B5EF4-FFF2-40B4-BE49-F238E27FC236}">
                  <a16:creationId xmlns:a16="http://schemas.microsoft.com/office/drawing/2014/main" id="{E1CD7819-EA99-39C4-6CF2-B50488F28504}"/>
                </a:ext>
              </a:extLst>
            </p:cNvPr>
            <p:cNvSpPr/>
            <p:nvPr/>
          </p:nvSpPr>
          <p:spPr bwMode="auto">
            <a:xfrm>
              <a:off x="5336770" y="5038580"/>
              <a:ext cx="3040942" cy="239930"/>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2"/>
                  </a:solidFill>
                  <a:latin typeface="+mn-ea"/>
                  <a:cs typeface="Calibri" panose="020F0502020204030204" pitchFamily="34" charset="0"/>
                </a:rPr>
                <a:t>AIRTIVITY 1397-0014 Phase 3</a:t>
              </a:r>
            </a:p>
          </p:txBody>
        </p:sp>
        <p:sp>
          <p:nvSpPr>
            <p:cNvPr id="66" name="OTLSHAPE_T_e17f3958430f4cff8650518c93c7635e_Shape">
              <a:extLst>
                <a:ext uri="{FF2B5EF4-FFF2-40B4-BE49-F238E27FC236}">
                  <a16:creationId xmlns:a16="http://schemas.microsoft.com/office/drawing/2014/main" id="{F0D40A89-894F-89C1-B7F8-6AB80C9EAE91}"/>
                </a:ext>
              </a:extLst>
            </p:cNvPr>
            <p:cNvSpPr/>
            <p:nvPr>
              <p:custDataLst>
                <p:tags r:id="rId1"/>
              </p:custDataLst>
            </p:nvPr>
          </p:nvSpPr>
          <p:spPr bwMode="auto">
            <a:xfrm>
              <a:off x="4531854" y="5059679"/>
              <a:ext cx="804916" cy="20160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9" rIns="51435" bIns="25719"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450" b="1">
                  <a:solidFill>
                    <a:schemeClr val="bg2"/>
                  </a:solidFill>
                  <a:latin typeface="+mn-ea"/>
                </a:rPr>
                <a:t>CTA Review + EC + HGRAC + 1</a:t>
              </a:r>
              <a:r>
                <a:rPr lang="en-US" altLang="zh-CN" sz="450" b="1" baseline="30000">
                  <a:solidFill>
                    <a:schemeClr val="bg2"/>
                  </a:solidFill>
                  <a:latin typeface="+mn-ea"/>
                </a:rPr>
                <a:t>st</a:t>
              </a:r>
              <a:r>
                <a:rPr lang="en-US" altLang="zh-CN" sz="450" b="1">
                  <a:solidFill>
                    <a:schemeClr val="bg2"/>
                  </a:solidFill>
                  <a:latin typeface="+mn-ea"/>
                </a:rPr>
                <a:t> SIV (6m) *</a:t>
              </a:r>
              <a:endParaRPr lang="zh-CN" altLang="en-US" sz="450" b="1">
                <a:solidFill>
                  <a:schemeClr val="bg2"/>
                </a:solidFill>
                <a:latin typeface="+mn-ea"/>
              </a:endParaRPr>
            </a:p>
          </p:txBody>
        </p:sp>
        <p:grpSp>
          <p:nvGrpSpPr>
            <p:cNvPr id="67" name="Group 66">
              <a:extLst>
                <a:ext uri="{FF2B5EF4-FFF2-40B4-BE49-F238E27FC236}">
                  <a16:creationId xmlns:a16="http://schemas.microsoft.com/office/drawing/2014/main" id="{02615AC4-5B68-D93B-FBFE-FD9E930DB883}"/>
                </a:ext>
              </a:extLst>
            </p:cNvPr>
            <p:cNvGrpSpPr/>
            <p:nvPr/>
          </p:nvGrpSpPr>
          <p:grpSpPr>
            <a:xfrm>
              <a:off x="4296262" y="4891875"/>
              <a:ext cx="402354" cy="483993"/>
              <a:chOff x="3007621" y="5554699"/>
              <a:chExt cx="402354" cy="483993"/>
            </a:xfrm>
          </p:grpSpPr>
          <p:sp>
            <p:nvSpPr>
              <p:cNvPr id="76" name="Star: 5 Points 75">
                <a:extLst>
                  <a:ext uri="{FF2B5EF4-FFF2-40B4-BE49-F238E27FC236}">
                    <a16:creationId xmlns:a16="http://schemas.microsoft.com/office/drawing/2014/main" id="{F14953E0-EFDA-6E29-EE6C-7C6D3ABD705A}"/>
                  </a:ext>
                </a:extLst>
              </p:cNvPr>
              <p:cNvSpPr/>
              <p:nvPr/>
            </p:nvSpPr>
            <p:spPr bwMode="gray">
              <a:xfrm>
                <a:off x="3149008"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7" name="TextBox 76">
                <a:extLst>
                  <a:ext uri="{FF2B5EF4-FFF2-40B4-BE49-F238E27FC236}">
                    <a16:creationId xmlns:a16="http://schemas.microsoft.com/office/drawing/2014/main" id="{7F145F92-5B55-8F57-AE19-716694DFE4D5}"/>
                  </a:ext>
                </a:extLst>
              </p:cNvPr>
              <p:cNvSpPr txBox="1"/>
              <p:nvPr/>
            </p:nvSpPr>
            <p:spPr bwMode="gray">
              <a:xfrm>
                <a:off x="3113418" y="5900449"/>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78" name="TextBox 77">
                <a:extLst>
                  <a:ext uri="{FF2B5EF4-FFF2-40B4-BE49-F238E27FC236}">
                    <a16:creationId xmlns:a16="http://schemas.microsoft.com/office/drawing/2014/main" id="{A3A7B43A-F53B-8575-2018-6BE0164B11EB}"/>
                  </a:ext>
                </a:extLst>
              </p:cNvPr>
              <p:cNvSpPr txBox="1"/>
              <p:nvPr/>
            </p:nvSpPr>
            <p:spPr bwMode="gray">
              <a:xfrm>
                <a:off x="3007621" y="5554699"/>
                <a:ext cx="402354" cy="138243"/>
              </a:xfrm>
              <a:prstGeom prst="rect">
                <a:avLst/>
              </a:prstGeom>
              <a:noFill/>
            </p:spPr>
            <p:txBody>
              <a:bodyPr wrap="none" lIns="0" tIns="0" rIns="0" bIns="0" rtlCol="0">
                <a:spAutoFit/>
              </a:bodyPr>
              <a:lstStyle/>
              <a:p>
                <a:pPr algn="ctr">
                  <a:lnSpc>
                    <a:spcPct val="140000"/>
                  </a:lnSpc>
                </a:pPr>
                <a:r>
                  <a:rPr lang="en-US" altLang="zh-CN" sz="700" b="1">
                    <a:solidFill>
                      <a:schemeClr val="bg2"/>
                    </a:solidFill>
                  </a:rPr>
                  <a:t>Feb</a:t>
                </a:r>
                <a:r>
                  <a:rPr lang="en-US" sz="700" b="1">
                    <a:solidFill>
                      <a:schemeClr val="bg2"/>
                    </a:solidFill>
                  </a:rPr>
                  <a:t> 2025</a:t>
                </a:r>
              </a:p>
            </p:txBody>
          </p:sp>
        </p:grpSp>
        <p:grpSp>
          <p:nvGrpSpPr>
            <p:cNvPr id="68" name="Group 67">
              <a:extLst>
                <a:ext uri="{FF2B5EF4-FFF2-40B4-BE49-F238E27FC236}">
                  <a16:creationId xmlns:a16="http://schemas.microsoft.com/office/drawing/2014/main" id="{1E772F7D-50B1-686A-1539-7DC6A1B0B7F9}"/>
                </a:ext>
              </a:extLst>
            </p:cNvPr>
            <p:cNvGrpSpPr/>
            <p:nvPr/>
          </p:nvGrpSpPr>
          <p:grpSpPr>
            <a:xfrm>
              <a:off x="5144206" y="4903011"/>
              <a:ext cx="379912" cy="596819"/>
              <a:chOff x="5144206" y="4903011"/>
              <a:chExt cx="379912" cy="596819"/>
            </a:xfrm>
          </p:grpSpPr>
          <p:sp>
            <p:nvSpPr>
              <p:cNvPr id="73" name="TextBox 72">
                <a:extLst>
                  <a:ext uri="{FF2B5EF4-FFF2-40B4-BE49-F238E27FC236}">
                    <a16:creationId xmlns:a16="http://schemas.microsoft.com/office/drawing/2014/main" id="{353A22AD-F351-A44E-E72F-C9F9D13F69E7}"/>
                  </a:ext>
                </a:extLst>
              </p:cNvPr>
              <p:cNvSpPr txBox="1"/>
              <p:nvPr/>
            </p:nvSpPr>
            <p:spPr bwMode="gray">
              <a:xfrm>
                <a:off x="5144206" y="4903011"/>
                <a:ext cx="379912" cy="138243"/>
              </a:xfrm>
              <a:prstGeom prst="rect">
                <a:avLst/>
              </a:prstGeom>
              <a:noFill/>
            </p:spPr>
            <p:txBody>
              <a:bodyPr wrap="none" lIns="0" tIns="0" rIns="0" bIns="0" rtlCol="0">
                <a:spAutoFit/>
              </a:bodyPr>
              <a:lstStyle/>
              <a:p>
                <a:pPr algn="ctr">
                  <a:lnSpc>
                    <a:spcPct val="140000"/>
                  </a:lnSpc>
                </a:pPr>
                <a:r>
                  <a:rPr lang="en-US" sz="700" b="1">
                    <a:solidFill>
                      <a:schemeClr val="bg2"/>
                    </a:solidFill>
                  </a:rPr>
                  <a:t>Jul 2025</a:t>
                </a:r>
              </a:p>
            </p:txBody>
          </p:sp>
          <p:sp>
            <p:nvSpPr>
              <p:cNvPr id="74" name="Star: 4 Points 73">
                <a:extLst>
                  <a:ext uri="{FF2B5EF4-FFF2-40B4-BE49-F238E27FC236}">
                    <a16:creationId xmlns:a16="http://schemas.microsoft.com/office/drawing/2014/main" id="{931CE8AB-E3F4-0A17-4968-1FA872218027}"/>
                  </a:ext>
                </a:extLst>
              </p:cNvPr>
              <p:cNvSpPr/>
              <p:nvPr/>
            </p:nvSpPr>
            <p:spPr bwMode="gray">
              <a:xfrm>
                <a:off x="5258062" y="5184288"/>
                <a:ext cx="164900" cy="164900"/>
              </a:xfrm>
              <a:prstGeom prst="star4">
                <a:avLst/>
              </a:prstGeom>
              <a:solidFill>
                <a:srgbClr val="EE6541"/>
              </a:solidFill>
              <a:ln w="635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75" name="TextBox 74">
                <a:extLst>
                  <a:ext uri="{FF2B5EF4-FFF2-40B4-BE49-F238E27FC236}">
                    <a16:creationId xmlns:a16="http://schemas.microsoft.com/office/drawing/2014/main" id="{2F65CC5E-E021-D3B7-C317-AFC8E2B74E90}"/>
                  </a:ext>
                </a:extLst>
              </p:cNvPr>
              <p:cNvSpPr txBox="1"/>
              <p:nvPr/>
            </p:nvSpPr>
            <p:spPr bwMode="gray">
              <a:xfrm>
                <a:off x="5199447" y="5361587"/>
                <a:ext cx="282130" cy="138243"/>
              </a:xfrm>
              <a:prstGeom prst="rect">
                <a:avLst/>
              </a:prstGeom>
              <a:noFill/>
            </p:spPr>
            <p:txBody>
              <a:bodyPr wrap="none" lIns="0" tIns="0" rIns="0" bIns="0" rtlCol="0">
                <a:spAutoFit/>
              </a:bodyPr>
              <a:lstStyle/>
              <a:p>
                <a:pPr algn="ctr">
                  <a:lnSpc>
                    <a:spcPct val="140000"/>
                  </a:lnSpc>
                </a:pPr>
                <a:r>
                  <a:rPr lang="en-US" sz="700" b="1">
                    <a:solidFill>
                      <a:schemeClr val="bg2"/>
                    </a:solidFill>
                  </a:rPr>
                  <a:t>1</a:t>
                </a:r>
                <a:r>
                  <a:rPr lang="en-US" sz="700" b="1" baseline="30000">
                    <a:solidFill>
                      <a:schemeClr val="bg2"/>
                    </a:solidFill>
                  </a:rPr>
                  <a:t>st</a:t>
                </a:r>
                <a:r>
                  <a:rPr lang="en-US" sz="700" b="1">
                    <a:solidFill>
                      <a:schemeClr val="bg2"/>
                    </a:solidFill>
                  </a:rPr>
                  <a:t> SIV</a:t>
                </a:r>
              </a:p>
            </p:txBody>
          </p:sp>
        </p:grpSp>
        <p:grpSp>
          <p:nvGrpSpPr>
            <p:cNvPr id="69" name="Group 68">
              <a:extLst>
                <a:ext uri="{FF2B5EF4-FFF2-40B4-BE49-F238E27FC236}">
                  <a16:creationId xmlns:a16="http://schemas.microsoft.com/office/drawing/2014/main" id="{94A9B389-94DD-13A9-FBF3-5A0CD686CFFC}"/>
                </a:ext>
              </a:extLst>
            </p:cNvPr>
            <p:cNvGrpSpPr/>
            <p:nvPr/>
          </p:nvGrpSpPr>
          <p:grpSpPr>
            <a:xfrm>
              <a:off x="3725335" y="4903010"/>
              <a:ext cx="487313" cy="626094"/>
              <a:chOff x="2213536" y="5563408"/>
              <a:chExt cx="487313" cy="626094"/>
            </a:xfrm>
          </p:grpSpPr>
          <p:sp>
            <p:nvSpPr>
              <p:cNvPr id="70" name="Star: 5 Points 69">
                <a:extLst>
                  <a:ext uri="{FF2B5EF4-FFF2-40B4-BE49-F238E27FC236}">
                    <a16:creationId xmlns:a16="http://schemas.microsoft.com/office/drawing/2014/main" id="{F4ABE51B-DB5E-65B3-1D12-E2326D053987}"/>
                  </a:ext>
                </a:extLst>
              </p:cNvPr>
              <p:cNvSpPr/>
              <p:nvPr/>
            </p:nvSpPr>
            <p:spPr bwMode="gray">
              <a:xfrm>
                <a:off x="2397403"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1" name="TextBox 70">
                <a:extLst>
                  <a:ext uri="{FF2B5EF4-FFF2-40B4-BE49-F238E27FC236}">
                    <a16:creationId xmlns:a16="http://schemas.microsoft.com/office/drawing/2014/main" id="{295D38AA-83F8-6C0E-A12E-4B55B8F29E6B}"/>
                  </a:ext>
                </a:extLst>
              </p:cNvPr>
              <p:cNvSpPr txBox="1"/>
              <p:nvPr/>
            </p:nvSpPr>
            <p:spPr bwMode="gray">
              <a:xfrm>
                <a:off x="2213536" y="5900449"/>
                <a:ext cx="487313" cy="289053"/>
              </a:xfrm>
              <a:prstGeom prst="rect">
                <a:avLst/>
              </a:prstGeom>
              <a:noFill/>
            </p:spPr>
            <p:txBody>
              <a:bodyPr wrap="none" lIns="0" tIns="0" rIns="0" bIns="0" rtlCol="0">
                <a:spAutoFit/>
              </a:bodyPr>
              <a:lstStyle/>
              <a:p>
                <a:pPr algn="ctr">
                  <a:lnSpc>
                    <a:spcPct val="140000"/>
                  </a:lnSpc>
                </a:pPr>
                <a:r>
                  <a:rPr lang="en-US" sz="700" b="1">
                    <a:solidFill>
                      <a:schemeClr val="bg2"/>
                    </a:solidFill>
                  </a:rPr>
                  <a:t>EoP2 HAI</a:t>
                </a:r>
              </a:p>
              <a:p>
                <a:pPr algn="ctr">
                  <a:lnSpc>
                    <a:spcPct val="140000"/>
                  </a:lnSpc>
                </a:pPr>
                <a:r>
                  <a:rPr lang="en-US" sz="700" b="1">
                    <a:solidFill>
                      <a:schemeClr val="bg2"/>
                    </a:solidFill>
                  </a:rPr>
                  <a:t>Req. </a:t>
                </a:r>
                <a:r>
                  <a:rPr lang="en-US" sz="700" b="1" err="1">
                    <a:solidFill>
                      <a:schemeClr val="bg2"/>
                    </a:solidFill>
                  </a:rPr>
                  <a:t>Subm</a:t>
                </a:r>
                <a:r>
                  <a:rPr lang="en-US" sz="700" b="1">
                    <a:solidFill>
                      <a:schemeClr val="bg2"/>
                    </a:solidFill>
                  </a:rPr>
                  <a:t>.</a:t>
                </a:r>
              </a:p>
            </p:txBody>
          </p:sp>
          <p:sp>
            <p:nvSpPr>
              <p:cNvPr id="72" name="TextBox 71">
                <a:extLst>
                  <a:ext uri="{FF2B5EF4-FFF2-40B4-BE49-F238E27FC236}">
                    <a16:creationId xmlns:a16="http://schemas.microsoft.com/office/drawing/2014/main" id="{EE363F73-0097-3957-780E-9BF6C8BF76B5}"/>
                  </a:ext>
                </a:extLst>
              </p:cNvPr>
              <p:cNvSpPr txBox="1"/>
              <p:nvPr/>
            </p:nvSpPr>
            <p:spPr bwMode="gray">
              <a:xfrm>
                <a:off x="2250406" y="5563408"/>
                <a:ext cx="413575" cy="138243"/>
              </a:xfrm>
              <a:prstGeom prst="rect">
                <a:avLst/>
              </a:prstGeom>
              <a:noFill/>
            </p:spPr>
            <p:txBody>
              <a:bodyPr wrap="none" lIns="0" tIns="0" rIns="0" bIns="0" rtlCol="0">
                <a:spAutoFit/>
              </a:bodyPr>
              <a:lstStyle/>
              <a:p>
                <a:pPr algn="ctr">
                  <a:lnSpc>
                    <a:spcPct val="140000"/>
                  </a:lnSpc>
                </a:pPr>
                <a:r>
                  <a:rPr lang="en-US" sz="700" b="1">
                    <a:solidFill>
                      <a:schemeClr val="bg2"/>
                    </a:solidFill>
                  </a:rPr>
                  <a:t>Sep 2024</a:t>
                </a:r>
              </a:p>
            </p:txBody>
          </p:sp>
        </p:grpSp>
      </p:grpSp>
      <p:grpSp>
        <p:nvGrpSpPr>
          <p:cNvPr id="79" name="Group 78">
            <a:extLst>
              <a:ext uri="{FF2B5EF4-FFF2-40B4-BE49-F238E27FC236}">
                <a16:creationId xmlns:a16="http://schemas.microsoft.com/office/drawing/2014/main" id="{CFB3E0FB-D184-E4ED-E7BA-B4E91C0AE34E}"/>
              </a:ext>
            </a:extLst>
          </p:cNvPr>
          <p:cNvGrpSpPr/>
          <p:nvPr/>
        </p:nvGrpSpPr>
        <p:grpSpPr>
          <a:xfrm>
            <a:off x="9816766" y="3206005"/>
            <a:ext cx="670915" cy="529188"/>
            <a:chOff x="9873696" y="4894914"/>
            <a:chExt cx="670915" cy="529188"/>
          </a:xfrm>
        </p:grpSpPr>
        <p:sp>
          <p:nvSpPr>
            <p:cNvPr id="81" name="TextBox 80">
              <a:extLst>
                <a:ext uri="{FF2B5EF4-FFF2-40B4-BE49-F238E27FC236}">
                  <a16:creationId xmlns:a16="http://schemas.microsoft.com/office/drawing/2014/main" id="{AB41A3C3-08FD-9BBE-5EC9-A66920D228FA}"/>
                </a:ext>
              </a:extLst>
            </p:cNvPr>
            <p:cNvSpPr txBox="1"/>
            <p:nvPr/>
          </p:nvSpPr>
          <p:spPr bwMode="gray">
            <a:xfrm>
              <a:off x="9874556" y="5285859"/>
              <a:ext cx="6700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China Approval</a:t>
              </a:r>
            </a:p>
          </p:txBody>
        </p:sp>
        <p:sp>
          <p:nvSpPr>
            <p:cNvPr id="82" name="TextBox 81">
              <a:extLst>
                <a:ext uri="{FF2B5EF4-FFF2-40B4-BE49-F238E27FC236}">
                  <a16:creationId xmlns:a16="http://schemas.microsoft.com/office/drawing/2014/main" id="{F2A7F510-F862-8847-4C17-70CD8119D9CB}"/>
                </a:ext>
              </a:extLst>
            </p:cNvPr>
            <p:cNvSpPr txBox="1"/>
            <p:nvPr/>
          </p:nvSpPr>
          <p:spPr bwMode="gray">
            <a:xfrm>
              <a:off x="9873696" y="4894914"/>
              <a:ext cx="629980"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Best: Dec 2028</a:t>
              </a:r>
            </a:p>
          </p:txBody>
        </p:sp>
      </p:grpSp>
      <p:sp>
        <p:nvSpPr>
          <p:cNvPr id="83" name="TextBox 82">
            <a:extLst>
              <a:ext uri="{FF2B5EF4-FFF2-40B4-BE49-F238E27FC236}">
                <a16:creationId xmlns:a16="http://schemas.microsoft.com/office/drawing/2014/main" id="{DA954F20-A30E-906C-9815-E8BB639D7126}"/>
              </a:ext>
            </a:extLst>
          </p:cNvPr>
          <p:cNvSpPr txBox="1"/>
          <p:nvPr/>
        </p:nvSpPr>
        <p:spPr>
          <a:xfrm>
            <a:off x="-127107" y="2212963"/>
            <a:ext cx="1817823" cy="123111"/>
          </a:xfrm>
          <a:prstGeom prst="rect">
            <a:avLst/>
          </a:prstGeom>
          <a:noFill/>
          <a:ln>
            <a:noFill/>
          </a:ln>
        </p:spPr>
        <p:txBody>
          <a:bodyPr wrap="square" lIns="0" tIns="0" rIns="0" bIns="0" rtlCol="0" anchor="t">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cs typeface="Calibri"/>
              </a:rPr>
              <a:t>Phase 3 1397-0014</a:t>
            </a:r>
            <a:endParaRPr lang="en-US"/>
          </a:p>
        </p:txBody>
      </p:sp>
      <p:pic>
        <p:nvPicPr>
          <p:cNvPr id="102" name="Picture 101">
            <a:extLst>
              <a:ext uri="{FF2B5EF4-FFF2-40B4-BE49-F238E27FC236}">
                <a16:creationId xmlns:a16="http://schemas.microsoft.com/office/drawing/2014/main" id="{EBCB071F-643D-9C12-4AEF-AFC93DF83EBB}"/>
              </a:ext>
            </a:extLst>
          </p:cNvPr>
          <p:cNvPicPr>
            <a:picLocks noChangeAspect="1"/>
          </p:cNvPicPr>
          <p:nvPr/>
        </p:nvPicPr>
        <p:blipFill>
          <a:blip r:embed="rId8"/>
          <a:srcRect t="992" b="4795"/>
          <a:stretch/>
        </p:blipFill>
        <p:spPr>
          <a:xfrm>
            <a:off x="150027" y="1749814"/>
            <a:ext cx="1225456" cy="479136"/>
          </a:xfrm>
          <a:prstGeom prst="rect">
            <a:avLst/>
          </a:prstGeom>
          <a:noFill/>
        </p:spPr>
      </p:pic>
      <p:pic>
        <p:nvPicPr>
          <p:cNvPr id="8" name="Graphic 7" descr="Flag with solid fill">
            <a:extLst>
              <a:ext uri="{FF2B5EF4-FFF2-40B4-BE49-F238E27FC236}">
                <a16:creationId xmlns:a16="http://schemas.microsoft.com/office/drawing/2014/main" id="{B264EBB6-B28A-CEFA-6C3F-3FD0C57A1E8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982811" y="3407674"/>
            <a:ext cx="197742" cy="197742"/>
          </a:xfrm>
          <a:prstGeom prst="rect">
            <a:avLst/>
          </a:prstGeom>
        </p:spPr>
      </p:pic>
      <p:sp>
        <p:nvSpPr>
          <p:cNvPr id="85" name="Star: 5 Points 54">
            <a:extLst>
              <a:ext uri="{FF2B5EF4-FFF2-40B4-BE49-F238E27FC236}">
                <a16:creationId xmlns:a16="http://schemas.microsoft.com/office/drawing/2014/main" id="{799F98E5-005C-64FD-3842-85E02EAC5E3E}"/>
              </a:ext>
            </a:extLst>
          </p:cNvPr>
          <p:cNvSpPr/>
          <p:nvPr/>
        </p:nvSpPr>
        <p:spPr bwMode="gray">
          <a:xfrm>
            <a:off x="8617688" y="3440844"/>
            <a:ext cx="119578" cy="119578"/>
          </a:xfrm>
          <a:prstGeom prst="star5">
            <a:avLst/>
          </a:prstGeom>
          <a:solidFill>
            <a:srgbClr val="EE654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106" name="TextBox 55">
            <a:extLst>
              <a:ext uri="{FF2B5EF4-FFF2-40B4-BE49-F238E27FC236}">
                <a16:creationId xmlns:a16="http://schemas.microsoft.com/office/drawing/2014/main" id="{5F86AB7B-FA8E-527D-1126-82FADD9765DE}"/>
              </a:ext>
            </a:extLst>
          </p:cNvPr>
          <p:cNvSpPr txBox="1"/>
          <p:nvPr/>
        </p:nvSpPr>
        <p:spPr bwMode="gray">
          <a:xfrm>
            <a:off x="8505153" y="3595880"/>
            <a:ext cx="344646"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CN NDA</a:t>
            </a:r>
          </a:p>
        </p:txBody>
      </p:sp>
      <p:sp>
        <p:nvSpPr>
          <p:cNvPr id="108" name="TextBox 56">
            <a:extLst>
              <a:ext uri="{FF2B5EF4-FFF2-40B4-BE49-F238E27FC236}">
                <a16:creationId xmlns:a16="http://schemas.microsoft.com/office/drawing/2014/main" id="{8470312D-DEA1-2887-D9CC-96D068E964B5}"/>
              </a:ext>
            </a:extLst>
          </p:cNvPr>
          <p:cNvSpPr txBox="1"/>
          <p:nvPr/>
        </p:nvSpPr>
        <p:spPr bwMode="gray">
          <a:xfrm>
            <a:off x="8473895" y="3204319"/>
            <a:ext cx="407163"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Dec 2027</a:t>
            </a:r>
          </a:p>
        </p:txBody>
      </p:sp>
      <p:grpSp>
        <p:nvGrpSpPr>
          <p:cNvPr id="109" name="Group 78">
            <a:extLst>
              <a:ext uri="{FF2B5EF4-FFF2-40B4-BE49-F238E27FC236}">
                <a16:creationId xmlns:a16="http://schemas.microsoft.com/office/drawing/2014/main" id="{EDEA0541-DA10-8735-7889-2A65B2A0BA2B}"/>
              </a:ext>
            </a:extLst>
          </p:cNvPr>
          <p:cNvGrpSpPr/>
          <p:nvPr/>
        </p:nvGrpSpPr>
        <p:grpSpPr>
          <a:xfrm>
            <a:off x="10568059" y="3198534"/>
            <a:ext cx="696563" cy="529188"/>
            <a:chOff x="9848048" y="4894914"/>
            <a:chExt cx="696563" cy="529188"/>
          </a:xfrm>
        </p:grpSpPr>
        <p:sp>
          <p:nvSpPr>
            <p:cNvPr id="110" name="TextBox 80">
              <a:extLst>
                <a:ext uri="{FF2B5EF4-FFF2-40B4-BE49-F238E27FC236}">
                  <a16:creationId xmlns:a16="http://schemas.microsoft.com/office/drawing/2014/main" id="{A938721B-7D7C-222F-C571-D4B643C56321}"/>
                </a:ext>
              </a:extLst>
            </p:cNvPr>
            <p:cNvSpPr txBox="1"/>
            <p:nvPr/>
          </p:nvSpPr>
          <p:spPr bwMode="gray">
            <a:xfrm>
              <a:off x="9874556" y="5285859"/>
              <a:ext cx="6700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China Approval</a:t>
              </a:r>
            </a:p>
          </p:txBody>
        </p:sp>
        <p:sp>
          <p:nvSpPr>
            <p:cNvPr id="111" name="TextBox 81">
              <a:extLst>
                <a:ext uri="{FF2B5EF4-FFF2-40B4-BE49-F238E27FC236}">
                  <a16:creationId xmlns:a16="http://schemas.microsoft.com/office/drawing/2014/main" id="{99CE4D90-BA78-44CF-8F5C-C7EFAB884E51}"/>
                </a:ext>
              </a:extLst>
            </p:cNvPr>
            <p:cNvSpPr txBox="1"/>
            <p:nvPr/>
          </p:nvSpPr>
          <p:spPr bwMode="gray">
            <a:xfrm>
              <a:off x="9848048" y="4894914"/>
              <a:ext cx="681277"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Base: June 2029</a:t>
              </a:r>
            </a:p>
          </p:txBody>
        </p:sp>
      </p:grpSp>
      <p:pic>
        <p:nvPicPr>
          <p:cNvPr id="112" name="Graphic 7" descr="Flag with solid fill">
            <a:extLst>
              <a:ext uri="{FF2B5EF4-FFF2-40B4-BE49-F238E27FC236}">
                <a16:creationId xmlns:a16="http://schemas.microsoft.com/office/drawing/2014/main" id="{923FC242-EC78-B656-A93D-39EEBED6F82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759752" y="3400203"/>
            <a:ext cx="197742" cy="197742"/>
          </a:xfrm>
          <a:prstGeom prst="rect">
            <a:avLst/>
          </a:prstGeom>
        </p:spPr>
      </p:pic>
      <p:cxnSp>
        <p:nvCxnSpPr>
          <p:cNvPr id="2" name="直接箭头连接符 1">
            <a:extLst>
              <a:ext uri="{FF2B5EF4-FFF2-40B4-BE49-F238E27FC236}">
                <a16:creationId xmlns:a16="http://schemas.microsoft.com/office/drawing/2014/main" id="{E1E35147-49F1-C0F0-A87C-DAF4F49F2A16}"/>
              </a:ext>
            </a:extLst>
          </p:cNvPr>
          <p:cNvCxnSpPr/>
          <p:nvPr/>
        </p:nvCxnSpPr>
        <p:spPr bwMode="gray">
          <a:xfrm>
            <a:off x="8032738" y="1576119"/>
            <a:ext cx="15632" cy="230163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48">
            <a:extLst>
              <a:ext uri="{FF2B5EF4-FFF2-40B4-BE49-F238E27FC236}">
                <a16:creationId xmlns:a16="http://schemas.microsoft.com/office/drawing/2014/main" id="{990BC8EA-F4E8-E7B8-2983-C6562FC5C504}"/>
              </a:ext>
            </a:extLst>
          </p:cNvPr>
          <p:cNvSpPr txBox="1"/>
          <p:nvPr/>
        </p:nvSpPr>
        <p:spPr bwMode="gray">
          <a:xfrm>
            <a:off x="5571295" y="2904004"/>
            <a:ext cx="603786" cy="136832"/>
          </a:xfrm>
          <a:prstGeom prst="rect">
            <a:avLst/>
          </a:prstGeom>
          <a:noFill/>
        </p:spPr>
        <p:txBody>
          <a:bodyPr wrap="square" lIns="0" tIns="0" rIns="0" bIns="0" rtlCol="0" anchor="t">
            <a:spAutoFit/>
          </a:bodyPr>
          <a:lstStyle/>
          <a:p>
            <a:pPr algn="ctr">
              <a:lnSpc>
                <a:spcPct val="140000"/>
              </a:lnSpc>
            </a:pPr>
            <a:r>
              <a:rPr lang="en-US" sz="700" b="1">
                <a:solidFill>
                  <a:schemeClr val="bg2"/>
                </a:solidFill>
              </a:rPr>
              <a:t>LPI (adults)</a:t>
            </a:r>
          </a:p>
        </p:txBody>
      </p:sp>
      <p:sp>
        <p:nvSpPr>
          <p:cNvPr id="3" name="等腰三角形 2">
            <a:extLst>
              <a:ext uri="{FF2B5EF4-FFF2-40B4-BE49-F238E27FC236}">
                <a16:creationId xmlns:a16="http://schemas.microsoft.com/office/drawing/2014/main" id="{A5A781D4-8248-9CFC-E78F-B81CA39404D1}"/>
              </a:ext>
            </a:extLst>
          </p:cNvPr>
          <p:cNvSpPr/>
          <p:nvPr/>
        </p:nvSpPr>
        <p:spPr bwMode="gray">
          <a:xfrm>
            <a:off x="6154244" y="2857011"/>
            <a:ext cx="210780" cy="132862"/>
          </a:xfrm>
          <a:prstGeom prst="triangle">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 name="等腰三角形 3">
            <a:extLst>
              <a:ext uri="{FF2B5EF4-FFF2-40B4-BE49-F238E27FC236}">
                <a16:creationId xmlns:a16="http://schemas.microsoft.com/office/drawing/2014/main" id="{095C40C2-06DF-82EF-DC2F-3C23867BF48C}"/>
              </a:ext>
            </a:extLst>
          </p:cNvPr>
          <p:cNvSpPr/>
          <p:nvPr/>
        </p:nvSpPr>
        <p:spPr bwMode="gray">
          <a:xfrm>
            <a:off x="6154244" y="3579933"/>
            <a:ext cx="210780" cy="132862"/>
          </a:xfrm>
          <a:prstGeom prst="triangle">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4" name="等腰三角形 13">
            <a:extLst>
              <a:ext uri="{FF2B5EF4-FFF2-40B4-BE49-F238E27FC236}">
                <a16:creationId xmlns:a16="http://schemas.microsoft.com/office/drawing/2014/main" id="{02ADE21C-35BA-5319-A2F4-626F84638129}"/>
              </a:ext>
            </a:extLst>
          </p:cNvPr>
          <p:cNvSpPr/>
          <p:nvPr/>
        </p:nvSpPr>
        <p:spPr bwMode="gray">
          <a:xfrm>
            <a:off x="7062782" y="2837472"/>
            <a:ext cx="210780" cy="132862"/>
          </a:xfrm>
          <a:prstGeom prst="triangle">
            <a:avLst/>
          </a:prstGeom>
          <a:solidFill>
            <a:schemeClr val="accent3"/>
          </a:solid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5" name="等腰三角形 14">
            <a:extLst>
              <a:ext uri="{FF2B5EF4-FFF2-40B4-BE49-F238E27FC236}">
                <a16:creationId xmlns:a16="http://schemas.microsoft.com/office/drawing/2014/main" id="{92BE8E4B-BE5A-2719-4833-D1F5D614F20D}"/>
              </a:ext>
            </a:extLst>
          </p:cNvPr>
          <p:cNvSpPr/>
          <p:nvPr/>
        </p:nvSpPr>
        <p:spPr bwMode="gray">
          <a:xfrm>
            <a:off x="7062782" y="3599472"/>
            <a:ext cx="210780" cy="132862"/>
          </a:xfrm>
          <a:prstGeom prst="triangle">
            <a:avLst/>
          </a:prstGeom>
          <a:solidFill>
            <a:schemeClr val="accent3"/>
          </a:solid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6" name="箭头: 虚尾 15">
            <a:extLst>
              <a:ext uri="{FF2B5EF4-FFF2-40B4-BE49-F238E27FC236}">
                <a16:creationId xmlns:a16="http://schemas.microsoft.com/office/drawing/2014/main" id="{C6C77E91-5FAD-C70D-0DF1-3830F679C1F6}"/>
              </a:ext>
            </a:extLst>
          </p:cNvPr>
          <p:cNvSpPr/>
          <p:nvPr/>
        </p:nvSpPr>
        <p:spPr bwMode="gray">
          <a:xfrm>
            <a:off x="4775190" y="4015848"/>
            <a:ext cx="1486407" cy="347863"/>
          </a:xfrm>
          <a:prstGeom prst="stripedRigh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8" name="文本框 17">
            <a:extLst>
              <a:ext uri="{FF2B5EF4-FFF2-40B4-BE49-F238E27FC236}">
                <a16:creationId xmlns:a16="http://schemas.microsoft.com/office/drawing/2014/main" id="{CDDF23BD-1DD6-006E-6792-172A3CBD30DD}"/>
              </a:ext>
            </a:extLst>
          </p:cNvPr>
          <p:cNvSpPr txBox="1"/>
          <p:nvPr/>
        </p:nvSpPr>
        <p:spPr bwMode="gray">
          <a:xfrm>
            <a:off x="4778375" y="4156907"/>
            <a:ext cx="1097205" cy="27360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700"/>
              <a:t>Ready to recruit </a:t>
            </a:r>
            <a:r>
              <a:rPr lang="zh-CN" altLang="en-US" sz="700" b="1"/>
              <a:t>adult</a:t>
            </a:r>
            <a:r>
              <a:rPr lang="zh-CN" altLang="en-US" sz="700"/>
              <a:t> pts</a:t>
            </a:r>
            <a:r>
              <a:rPr lang="zh-CN" altLang="en-US" sz="1400"/>
              <a:t> </a:t>
            </a:r>
          </a:p>
        </p:txBody>
      </p:sp>
      <p:sp>
        <p:nvSpPr>
          <p:cNvPr id="19" name="文本框 18">
            <a:extLst>
              <a:ext uri="{FF2B5EF4-FFF2-40B4-BE49-F238E27FC236}">
                <a16:creationId xmlns:a16="http://schemas.microsoft.com/office/drawing/2014/main" id="{96C1EC9F-80B8-3665-A462-D5D53DDEEC99}"/>
              </a:ext>
            </a:extLst>
          </p:cNvPr>
          <p:cNvSpPr txBox="1"/>
          <p:nvPr/>
        </p:nvSpPr>
        <p:spPr bwMode="gray">
          <a:xfrm>
            <a:off x="5594393" y="4605716"/>
            <a:ext cx="1123351" cy="276422"/>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nSpc>
                <a:spcPct val="140000"/>
              </a:lnSpc>
            </a:pPr>
            <a:r>
              <a:rPr lang="zh-CN" altLang="en-US" sz="700"/>
              <a:t>Ready to recruit </a:t>
            </a:r>
            <a:r>
              <a:rPr lang="zh-CN" altLang="en-US" sz="700" b="1"/>
              <a:t>adol. </a:t>
            </a:r>
            <a:r>
              <a:rPr lang="zh-CN" altLang="en-US" sz="700"/>
              <a:t>pts</a:t>
            </a:r>
            <a:r>
              <a:rPr lang="zh-CN" altLang="en-US" sz="1400"/>
              <a:t> </a:t>
            </a:r>
          </a:p>
        </p:txBody>
      </p:sp>
      <p:sp>
        <p:nvSpPr>
          <p:cNvPr id="21" name="TextBox 48">
            <a:extLst>
              <a:ext uri="{FF2B5EF4-FFF2-40B4-BE49-F238E27FC236}">
                <a16:creationId xmlns:a16="http://schemas.microsoft.com/office/drawing/2014/main" id="{64FAA735-966A-5B37-8AA3-B871775289C5}"/>
              </a:ext>
            </a:extLst>
          </p:cNvPr>
          <p:cNvSpPr txBox="1"/>
          <p:nvPr/>
        </p:nvSpPr>
        <p:spPr bwMode="gray">
          <a:xfrm>
            <a:off x="5600603" y="3626683"/>
            <a:ext cx="603786" cy="136832"/>
          </a:xfrm>
          <a:prstGeom prst="rect">
            <a:avLst/>
          </a:prstGeom>
          <a:noFill/>
        </p:spPr>
        <p:txBody>
          <a:bodyPr wrap="square" lIns="0" tIns="0" rIns="0" bIns="0" rtlCol="0" anchor="t">
            <a:spAutoFit/>
          </a:bodyPr>
          <a:lstStyle/>
          <a:p>
            <a:pPr algn="ctr">
              <a:lnSpc>
                <a:spcPct val="140000"/>
              </a:lnSpc>
            </a:pPr>
            <a:r>
              <a:rPr lang="en-US" sz="700" b="1">
                <a:solidFill>
                  <a:schemeClr val="bg2"/>
                </a:solidFill>
              </a:rPr>
              <a:t>LPI (adults)</a:t>
            </a:r>
          </a:p>
        </p:txBody>
      </p:sp>
      <p:sp>
        <p:nvSpPr>
          <p:cNvPr id="22" name="TextBox 48">
            <a:extLst>
              <a:ext uri="{FF2B5EF4-FFF2-40B4-BE49-F238E27FC236}">
                <a16:creationId xmlns:a16="http://schemas.microsoft.com/office/drawing/2014/main" id="{990BC8EA-F4E8-E7B8-2983-C6562FC5C504}"/>
              </a:ext>
            </a:extLst>
          </p:cNvPr>
          <p:cNvSpPr txBox="1"/>
          <p:nvPr/>
        </p:nvSpPr>
        <p:spPr bwMode="gray">
          <a:xfrm>
            <a:off x="6888921" y="3740983"/>
            <a:ext cx="603786" cy="136832"/>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pPr>
            <a:r>
              <a:rPr lang="en-US" sz="700" b="1">
                <a:solidFill>
                  <a:schemeClr val="bg2"/>
                </a:solidFill>
              </a:rPr>
              <a:t>LPI (</a:t>
            </a:r>
            <a:r>
              <a:rPr lang="en-US" sz="700" b="1" err="1">
                <a:solidFill>
                  <a:schemeClr val="bg2"/>
                </a:solidFill>
              </a:rPr>
              <a:t>adols</a:t>
            </a:r>
            <a:r>
              <a:rPr lang="en-US" sz="700" b="1">
                <a:solidFill>
                  <a:schemeClr val="bg2"/>
                </a:solidFill>
              </a:rPr>
              <a:t>.)</a:t>
            </a:r>
          </a:p>
        </p:txBody>
      </p:sp>
      <p:sp>
        <p:nvSpPr>
          <p:cNvPr id="23" name="TextBox 48">
            <a:extLst>
              <a:ext uri="{FF2B5EF4-FFF2-40B4-BE49-F238E27FC236}">
                <a16:creationId xmlns:a16="http://schemas.microsoft.com/office/drawing/2014/main" id="{EE584530-D5F4-29DE-0EEE-D0694C011AED}"/>
              </a:ext>
            </a:extLst>
          </p:cNvPr>
          <p:cNvSpPr txBox="1"/>
          <p:nvPr/>
        </p:nvSpPr>
        <p:spPr bwMode="gray">
          <a:xfrm>
            <a:off x="6976843" y="3066906"/>
            <a:ext cx="603786" cy="136832"/>
          </a:xfrm>
          <a:prstGeom prst="rect">
            <a:avLst/>
          </a:prstGeom>
          <a:noFill/>
        </p:spPr>
        <p:txBody>
          <a:bodyPr wrap="square" lIns="0" tIns="0" rIns="0" bIns="0" rtlCol="0" anchor="t">
            <a:spAutoFit/>
          </a:bodyPr>
          <a:lstStyle/>
          <a:p>
            <a:pPr algn="ctr">
              <a:lnSpc>
                <a:spcPct val="140000"/>
              </a:lnSpc>
            </a:pPr>
            <a:r>
              <a:rPr lang="en-US" sz="700" b="1">
                <a:solidFill>
                  <a:schemeClr val="bg2"/>
                </a:solidFill>
              </a:rPr>
              <a:t>LPI (</a:t>
            </a:r>
            <a:r>
              <a:rPr lang="en-US" sz="700" b="1" err="1">
                <a:solidFill>
                  <a:schemeClr val="bg2"/>
                </a:solidFill>
              </a:rPr>
              <a:t>adols</a:t>
            </a:r>
            <a:r>
              <a:rPr lang="en-US" sz="700" b="1">
                <a:solidFill>
                  <a:schemeClr val="bg2"/>
                </a:solidFill>
              </a:rPr>
              <a:t>.)</a:t>
            </a:r>
          </a:p>
        </p:txBody>
      </p:sp>
      <p:sp>
        <p:nvSpPr>
          <p:cNvPr id="20" name="矩形 19">
            <a:extLst>
              <a:ext uri="{FF2B5EF4-FFF2-40B4-BE49-F238E27FC236}">
                <a16:creationId xmlns:a16="http://schemas.microsoft.com/office/drawing/2014/main" id="{D17BCF43-D36A-9F1A-6F92-48E90F96FBCD}"/>
              </a:ext>
            </a:extLst>
          </p:cNvPr>
          <p:cNvSpPr/>
          <p:nvPr/>
        </p:nvSpPr>
        <p:spPr bwMode="gray">
          <a:xfrm>
            <a:off x="5590241" y="4551829"/>
            <a:ext cx="1037665" cy="159871"/>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4" name="箭头: 虚尾 23">
            <a:extLst>
              <a:ext uri="{FF2B5EF4-FFF2-40B4-BE49-F238E27FC236}">
                <a16:creationId xmlns:a16="http://schemas.microsoft.com/office/drawing/2014/main" id="{0FBE746E-E988-1EE8-49E1-E0FB0517D217}"/>
              </a:ext>
            </a:extLst>
          </p:cNvPr>
          <p:cNvSpPr/>
          <p:nvPr/>
        </p:nvSpPr>
        <p:spPr bwMode="gray">
          <a:xfrm>
            <a:off x="6252355" y="4466669"/>
            <a:ext cx="894508" cy="336657"/>
          </a:xfrm>
          <a:prstGeom prst="stripedRigh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cxnSp>
        <p:nvCxnSpPr>
          <p:cNvPr id="25" name="直接箭头连接符 24">
            <a:extLst>
              <a:ext uri="{FF2B5EF4-FFF2-40B4-BE49-F238E27FC236}">
                <a16:creationId xmlns:a16="http://schemas.microsoft.com/office/drawing/2014/main" id="{94BA113F-6308-E0E6-EBCA-249F15F03F2E}"/>
              </a:ext>
            </a:extLst>
          </p:cNvPr>
          <p:cNvCxnSpPr>
            <a:cxnSpLocks/>
          </p:cNvCxnSpPr>
          <p:nvPr/>
        </p:nvCxnSpPr>
        <p:spPr bwMode="gray">
          <a:xfrm>
            <a:off x="6262208" y="3906943"/>
            <a:ext cx="15632" cy="643160"/>
          </a:xfrm>
          <a:prstGeom prst="straightConnector1">
            <a:avLst/>
          </a:prstGeom>
          <a:ln w="12700">
            <a:solidFill>
              <a:srgbClr val="FF0000"/>
            </a:solidFill>
            <a:prstDash val="dash"/>
            <a:tailEnd type="triangle"/>
          </a:ln>
        </p:spPr>
        <p:style>
          <a:lnRef idx="3">
            <a:schemeClr val="accent5"/>
          </a:lnRef>
          <a:fillRef idx="0">
            <a:schemeClr val="accent5"/>
          </a:fillRef>
          <a:effectRef idx="2">
            <a:schemeClr val="accent5"/>
          </a:effectRef>
          <a:fontRef idx="minor">
            <a:schemeClr val="tx1"/>
          </a:fontRef>
        </p:style>
      </p:cxnSp>
      <p:sp>
        <p:nvSpPr>
          <p:cNvPr id="27" name="等腰三角形 26">
            <a:extLst>
              <a:ext uri="{FF2B5EF4-FFF2-40B4-BE49-F238E27FC236}">
                <a16:creationId xmlns:a16="http://schemas.microsoft.com/office/drawing/2014/main" id="{1E8D4F01-E72C-8F76-4DCD-FF870BB466BE}"/>
              </a:ext>
            </a:extLst>
          </p:cNvPr>
          <p:cNvSpPr/>
          <p:nvPr/>
        </p:nvSpPr>
        <p:spPr bwMode="gray">
          <a:xfrm rot="5400000">
            <a:off x="4566744" y="4270963"/>
            <a:ext cx="210780" cy="132862"/>
          </a:xfrm>
          <a:prstGeom prst="triangle">
            <a:avLst/>
          </a:prstGeom>
          <a:solidFill>
            <a:srgbClr val="00B05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8" name="等腰三角形 27">
            <a:extLst>
              <a:ext uri="{FF2B5EF4-FFF2-40B4-BE49-F238E27FC236}">
                <a16:creationId xmlns:a16="http://schemas.microsoft.com/office/drawing/2014/main" id="{A9292BDD-3FEB-A2F0-9CF2-0CE553A9985D}"/>
              </a:ext>
            </a:extLst>
          </p:cNvPr>
          <p:cNvSpPr/>
          <p:nvPr/>
        </p:nvSpPr>
        <p:spPr bwMode="gray">
          <a:xfrm rot="5400000">
            <a:off x="5377302" y="4726668"/>
            <a:ext cx="210780" cy="132862"/>
          </a:xfrm>
          <a:prstGeom prst="triangle">
            <a:avLst/>
          </a:prstGeom>
          <a:solidFill>
            <a:srgbClr val="00B05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0" name="TextBox 53">
            <a:extLst>
              <a:ext uri="{FF2B5EF4-FFF2-40B4-BE49-F238E27FC236}">
                <a16:creationId xmlns:a16="http://schemas.microsoft.com/office/drawing/2014/main" id="{17320E82-0D47-9DBF-AE8B-3195DDA9BECB}"/>
              </a:ext>
            </a:extLst>
          </p:cNvPr>
          <p:cNvSpPr txBox="1"/>
          <p:nvPr/>
        </p:nvSpPr>
        <p:spPr bwMode="gray">
          <a:xfrm>
            <a:off x="177508" y="4493440"/>
            <a:ext cx="1787711" cy="731546"/>
          </a:xfrm>
          <a:prstGeom prst="rect">
            <a:avLst/>
          </a:prstGeom>
          <a:noFill/>
          <a:ln>
            <a:solidFill>
              <a:srgbClr val="7030A0"/>
            </a:solidFill>
            <a:prstDash val="dash"/>
          </a:ln>
        </p:spPr>
        <p:txBody>
          <a:bodyPr wrap="square" lIns="91440" tIns="45720" rIns="91440" bIns="45720" anchor="t">
            <a:spAutoFit/>
          </a:bodyPr>
          <a:lstStyle/>
          <a:p>
            <a:pPr>
              <a:lnSpc>
                <a:spcPct val="120000"/>
              </a:lnSpc>
              <a:spcAft>
                <a:spcPts val="300"/>
              </a:spcAft>
            </a:pPr>
            <a:r>
              <a:rPr lang="en-US" altLang="zh-CN" sz="700" b="1">
                <a:latin typeface="Arial"/>
                <a:ea typeface="微软雅黑"/>
                <a:cs typeface="Arial"/>
              </a:rPr>
              <a:t>CTP v1</a:t>
            </a:r>
          </a:p>
          <a:p>
            <a:pPr>
              <a:lnSpc>
                <a:spcPct val="120000"/>
              </a:lnSpc>
              <a:spcAft>
                <a:spcPts val="300"/>
              </a:spcAft>
            </a:pPr>
            <a:r>
              <a:rPr lang="en-US" altLang="zh-CN" sz="700" b="1">
                <a:latin typeface="Arial"/>
                <a:ea typeface="微软雅黑"/>
                <a:cs typeface="Arial"/>
              </a:rPr>
              <a:t>1680 (only enroll adults)</a:t>
            </a:r>
            <a:endParaRPr lang="en-US"/>
          </a:p>
          <a:p>
            <a:pPr marL="171450" indent="-171450">
              <a:lnSpc>
                <a:spcPct val="120000"/>
              </a:lnSpc>
              <a:spcAft>
                <a:spcPts val="300"/>
              </a:spcAft>
              <a:buFont typeface="Arial"/>
              <a:buChar char="•"/>
            </a:pPr>
            <a:r>
              <a:rPr lang="en-US" altLang="zh-CN" sz="700">
                <a:latin typeface="Arial"/>
                <a:ea typeface="微软雅黑"/>
                <a:cs typeface="Arial"/>
              </a:rPr>
              <a:t>1440</a:t>
            </a:r>
            <a:r>
              <a:rPr lang="zh-CN" altLang="en-US" sz="700">
                <a:latin typeface="Arial"/>
                <a:ea typeface="微软雅黑"/>
                <a:cs typeface="Arial"/>
              </a:rPr>
              <a:t> </a:t>
            </a:r>
            <a:r>
              <a:rPr lang="en-US" altLang="zh-CN" sz="700">
                <a:latin typeface="Arial"/>
                <a:ea typeface="微软雅黑"/>
                <a:cs typeface="Arial"/>
              </a:rPr>
              <a:t>NCFBE</a:t>
            </a:r>
          </a:p>
          <a:p>
            <a:pPr marL="171450" indent="-171450">
              <a:lnSpc>
                <a:spcPct val="120000"/>
              </a:lnSpc>
              <a:spcAft>
                <a:spcPts val="300"/>
              </a:spcAft>
              <a:buFont typeface="Arial"/>
              <a:buChar char="•"/>
            </a:pPr>
            <a:r>
              <a:rPr lang="en-US" altLang="zh-CN" sz="700">
                <a:latin typeface="Arial"/>
                <a:ea typeface="微软雅黑"/>
                <a:cs typeface="Arial"/>
              </a:rPr>
              <a:t>240</a:t>
            </a:r>
            <a:r>
              <a:rPr lang="zh-CN" altLang="en-US" sz="700">
                <a:latin typeface="Arial"/>
                <a:ea typeface="微软雅黑"/>
                <a:cs typeface="Arial"/>
              </a:rPr>
              <a:t> </a:t>
            </a:r>
            <a:r>
              <a:rPr lang="en-US" altLang="zh-CN" sz="700">
                <a:latin typeface="Arial"/>
                <a:ea typeface="微软雅黑"/>
                <a:cs typeface="Arial"/>
              </a:rPr>
              <a:t>CFBE</a:t>
            </a:r>
            <a:endParaRPr lang="zh-CN" altLang="en-US" sz="700">
              <a:latin typeface="Arial"/>
              <a:ea typeface="微软雅黑"/>
              <a:cs typeface="Arial"/>
            </a:endParaRPr>
          </a:p>
        </p:txBody>
      </p:sp>
      <p:sp>
        <p:nvSpPr>
          <p:cNvPr id="31" name="TextBox 53">
            <a:extLst>
              <a:ext uri="{FF2B5EF4-FFF2-40B4-BE49-F238E27FC236}">
                <a16:creationId xmlns:a16="http://schemas.microsoft.com/office/drawing/2014/main" id="{0E234BB2-77D7-C8CE-2367-54DB21E7A051}"/>
              </a:ext>
            </a:extLst>
          </p:cNvPr>
          <p:cNvSpPr txBox="1"/>
          <p:nvPr/>
        </p:nvSpPr>
        <p:spPr bwMode="gray">
          <a:xfrm>
            <a:off x="166302" y="5651378"/>
            <a:ext cx="1791445" cy="381130"/>
          </a:xfrm>
          <a:prstGeom prst="rect">
            <a:avLst/>
          </a:prstGeom>
          <a:noFill/>
          <a:ln>
            <a:solidFill>
              <a:schemeClr val="accent5">
                <a:lumMod val="75000"/>
              </a:schemeClr>
            </a:solidFill>
            <a:prstDash val="dash"/>
          </a:ln>
        </p:spPr>
        <p:txBody>
          <a:bodyPr wrap="square" lIns="91440" tIns="45720" rIns="91440" bIns="45720" anchor="t">
            <a:spAutoFit/>
          </a:bodyPr>
          <a:lstStyle/>
          <a:p>
            <a:pPr>
              <a:lnSpc>
                <a:spcPct val="120000"/>
              </a:lnSpc>
              <a:spcAft>
                <a:spcPts val="300"/>
              </a:spcAft>
            </a:pPr>
            <a:r>
              <a:rPr lang="en-US" altLang="zh-CN" sz="700" b="1">
                <a:latin typeface="Arial"/>
                <a:ea typeface="微软雅黑"/>
                <a:cs typeface="Arial"/>
              </a:rPr>
              <a:t>CTP v2</a:t>
            </a:r>
          </a:p>
          <a:p>
            <a:pPr>
              <a:lnSpc>
                <a:spcPct val="120000"/>
              </a:lnSpc>
              <a:spcAft>
                <a:spcPts val="300"/>
              </a:spcAft>
            </a:pPr>
            <a:r>
              <a:rPr lang="en-US" altLang="zh-CN" sz="700" b="1">
                <a:latin typeface="Arial"/>
                <a:ea typeface="微软雅黑"/>
                <a:cs typeface="Arial"/>
              </a:rPr>
              <a:t>1755 (1680 adults + </a:t>
            </a:r>
            <a:r>
              <a:rPr lang="en-US" altLang="zh-CN" sz="700" b="1">
                <a:solidFill>
                  <a:srgbClr val="7030A0"/>
                </a:solidFill>
                <a:latin typeface="Arial"/>
                <a:ea typeface="微软雅黑"/>
                <a:cs typeface="Arial"/>
              </a:rPr>
              <a:t>75 </a:t>
            </a:r>
            <a:r>
              <a:rPr lang="en-US" altLang="zh-CN" sz="700" b="1" err="1">
                <a:solidFill>
                  <a:srgbClr val="7030A0"/>
                </a:solidFill>
                <a:latin typeface="Arial"/>
                <a:ea typeface="微软雅黑"/>
                <a:cs typeface="Arial"/>
              </a:rPr>
              <a:t>adols</a:t>
            </a:r>
            <a:r>
              <a:rPr lang="en-US" altLang="zh-CN" sz="700" b="1">
                <a:latin typeface="Arial"/>
                <a:ea typeface="微软雅黑"/>
                <a:cs typeface="Arial"/>
              </a:rPr>
              <a:t>)</a:t>
            </a:r>
            <a:endParaRPr lang="zh-CN" altLang="en-US">
              <a:latin typeface="Boehringer Forward Text"/>
              <a:ea typeface="微软雅黑"/>
              <a:cs typeface="Arial"/>
            </a:endParaRPr>
          </a:p>
        </p:txBody>
      </p:sp>
      <p:sp>
        <p:nvSpPr>
          <p:cNvPr id="34" name="TextBox 53">
            <a:extLst>
              <a:ext uri="{FF2B5EF4-FFF2-40B4-BE49-F238E27FC236}">
                <a16:creationId xmlns:a16="http://schemas.microsoft.com/office/drawing/2014/main" id="{34751C8F-E2F0-C8F6-2739-731AD285DF38}"/>
              </a:ext>
            </a:extLst>
          </p:cNvPr>
          <p:cNvSpPr txBox="1"/>
          <p:nvPr/>
        </p:nvSpPr>
        <p:spPr bwMode="gray">
          <a:xfrm>
            <a:off x="2198301" y="5184466"/>
            <a:ext cx="973416" cy="548868"/>
          </a:xfrm>
          <a:prstGeom prst="rect">
            <a:avLst/>
          </a:prstGeom>
          <a:noFill/>
          <a:ln>
            <a:solidFill>
              <a:schemeClr val="accent5">
                <a:lumMod val="75000"/>
              </a:schemeClr>
            </a:solidFill>
            <a:prstDash val="dash"/>
          </a:ln>
        </p:spPr>
        <p:txBody>
          <a:bodyPr wrap="square" lIns="91440" tIns="45720" rIns="91440" bIns="45720" anchor="t">
            <a:spAutoFit/>
          </a:bodyPr>
          <a:lstStyle/>
          <a:p>
            <a:pPr>
              <a:lnSpc>
                <a:spcPct val="120000"/>
              </a:lnSpc>
              <a:spcAft>
                <a:spcPts val="300"/>
              </a:spcAft>
            </a:pPr>
            <a:r>
              <a:rPr lang="en-US" altLang="zh-CN" sz="700" b="1">
                <a:latin typeface="Arial"/>
                <a:ea typeface="微软雅黑"/>
                <a:cs typeface="Arial"/>
              </a:rPr>
              <a:t>1680 adults</a:t>
            </a:r>
            <a:endParaRPr lang="zh-CN" altLang="en-US"/>
          </a:p>
          <a:p>
            <a:pPr marL="171450" indent="-171450">
              <a:lnSpc>
                <a:spcPct val="120000"/>
              </a:lnSpc>
              <a:spcAft>
                <a:spcPts val="300"/>
              </a:spcAft>
              <a:buFont typeface="Arial"/>
              <a:buChar char="•"/>
            </a:pPr>
            <a:r>
              <a:rPr lang="en-US" altLang="zh-CN" sz="700">
                <a:latin typeface="Arial"/>
                <a:ea typeface="微软雅黑"/>
                <a:cs typeface="Arial"/>
              </a:rPr>
              <a:t>1440</a:t>
            </a:r>
            <a:r>
              <a:rPr lang="zh-CN" altLang="en-US" sz="700">
                <a:latin typeface="Arial"/>
                <a:ea typeface="微软雅黑"/>
                <a:cs typeface="Arial"/>
              </a:rPr>
              <a:t> </a:t>
            </a:r>
            <a:r>
              <a:rPr lang="en-US" altLang="zh-CN" sz="700">
                <a:latin typeface="Arial"/>
                <a:ea typeface="微软雅黑"/>
                <a:cs typeface="Arial"/>
              </a:rPr>
              <a:t>NCFBE</a:t>
            </a:r>
          </a:p>
          <a:p>
            <a:pPr marL="171450" indent="-171450">
              <a:lnSpc>
                <a:spcPct val="120000"/>
              </a:lnSpc>
              <a:spcAft>
                <a:spcPts val="300"/>
              </a:spcAft>
              <a:buFont typeface="Arial"/>
              <a:buChar char="•"/>
            </a:pPr>
            <a:r>
              <a:rPr lang="en-US" altLang="zh-CN" sz="700">
                <a:latin typeface="Arial"/>
                <a:ea typeface="微软雅黑"/>
                <a:cs typeface="Arial"/>
              </a:rPr>
              <a:t>240</a:t>
            </a:r>
            <a:r>
              <a:rPr lang="zh-CN" altLang="en-US" sz="700">
                <a:latin typeface="Arial"/>
                <a:ea typeface="微软雅黑"/>
                <a:cs typeface="Arial"/>
              </a:rPr>
              <a:t> </a:t>
            </a:r>
            <a:r>
              <a:rPr lang="en-US" altLang="zh-CN" sz="700">
                <a:latin typeface="Arial"/>
                <a:ea typeface="微软雅黑"/>
                <a:cs typeface="Arial"/>
              </a:rPr>
              <a:t>CFBE</a:t>
            </a:r>
            <a:endParaRPr lang="zh-CN" altLang="en-US" sz="700">
              <a:latin typeface="Arial"/>
              <a:ea typeface="微软雅黑"/>
              <a:cs typeface="Arial"/>
            </a:endParaRPr>
          </a:p>
        </p:txBody>
      </p:sp>
      <p:sp>
        <p:nvSpPr>
          <p:cNvPr id="35" name="TextBox 53">
            <a:extLst>
              <a:ext uri="{FF2B5EF4-FFF2-40B4-BE49-F238E27FC236}">
                <a16:creationId xmlns:a16="http://schemas.microsoft.com/office/drawing/2014/main" id="{A13D7B63-8C07-03E7-565E-D8F5F07A62B2}"/>
              </a:ext>
            </a:extLst>
          </p:cNvPr>
          <p:cNvSpPr txBox="1"/>
          <p:nvPr/>
        </p:nvSpPr>
        <p:spPr bwMode="gray">
          <a:xfrm>
            <a:off x="2198302" y="5920319"/>
            <a:ext cx="958475" cy="548868"/>
          </a:xfrm>
          <a:prstGeom prst="rect">
            <a:avLst/>
          </a:prstGeom>
          <a:noFill/>
          <a:ln>
            <a:solidFill>
              <a:schemeClr val="accent5">
                <a:lumMod val="75000"/>
              </a:schemeClr>
            </a:solidFill>
            <a:prstDash val="dash"/>
          </a:ln>
        </p:spPr>
        <p:txBody>
          <a:bodyPr wrap="square" lIns="91440" tIns="45720" rIns="91440" bIns="45720" anchor="t">
            <a:spAutoFit/>
          </a:bodyPr>
          <a:lstStyle/>
          <a:p>
            <a:pPr>
              <a:lnSpc>
                <a:spcPct val="120000"/>
              </a:lnSpc>
              <a:spcAft>
                <a:spcPts val="300"/>
              </a:spcAft>
            </a:pPr>
            <a:r>
              <a:rPr lang="zh-CN" altLang="en-US" sz="700" b="1">
                <a:latin typeface="Arial"/>
                <a:ea typeface="微软雅黑"/>
                <a:cs typeface="Arial"/>
              </a:rPr>
              <a:t>75 adolescents </a:t>
            </a:r>
            <a:endParaRPr lang="zh-CN"/>
          </a:p>
          <a:p>
            <a:pPr marL="171450" indent="-171450">
              <a:lnSpc>
                <a:spcPct val="120000"/>
              </a:lnSpc>
              <a:spcAft>
                <a:spcPts val="300"/>
              </a:spcAft>
              <a:buFont typeface="Arial"/>
              <a:buChar char="•"/>
            </a:pPr>
            <a:r>
              <a:rPr lang="zh-CN" altLang="en-US" sz="700">
                <a:latin typeface="Arial"/>
                <a:ea typeface="微软雅黑"/>
                <a:cs typeface="Arial"/>
              </a:rPr>
              <a:t>≥70% NCFBE</a:t>
            </a:r>
          </a:p>
          <a:p>
            <a:pPr marL="171450" indent="-171450">
              <a:lnSpc>
                <a:spcPct val="120000"/>
              </a:lnSpc>
              <a:spcAft>
                <a:spcPts val="300"/>
              </a:spcAft>
              <a:buFont typeface="Arial"/>
              <a:buChar char="•"/>
            </a:pPr>
            <a:r>
              <a:rPr lang="zh-CN" altLang="en-US" sz="700">
                <a:latin typeface="Arial"/>
                <a:ea typeface="微软雅黑"/>
                <a:cs typeface="Arial"/>
              </a:rPr>
              <a:t>≤30%CFBE</a:t>
            </a:r>
            <a:endParaRPr lang="zh-CN"/>
          </a:p>
        </p:txBody>
      </p:sp>
      <p:sp>
        <p:nvSpPr>
          <p:cNvPr id="37" name="文本框 36">
            <a:extLst>
              <a:ext uri="{FF2B5EF4-FFF2-40B4-BE49-F238E27FC236}">
                <a16:creationId xmlns:a16="http://schemas.microsoft.com/office/drawing/2014/main" id="{42E54068-7454-8090-6BBB-9727AAB5C186}"/>
              </a:ext>
            </a:extLst>
          </p:cNvPr>
          <p:cNvSpPr txBox="1"/>
          <p:nvPr/>
        </p:nvSpPr>
        <p:spPr bwMode="gray">
          <a:xfrm>
            <a:off x="5233147" y="4941795"/>
            <a:ext cx="366058" cy="10772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700" b="1" baseline="0">
                <a:latin typeface="Arial"/>
              </a:rPr>
              <a:t>CTP v2</a:t>
            </a:r>
            <a:endParaRPr lang="zh-CN" altLang="en-US"/>
          </a:p>
        </p:txBody>
      </p:sp>
      <p:sp>
        <p:nvSpPr>
          <p:cNvPr id="38" name="文本框 37">
            <a:extLst>
              <a:ext uri="{FF2B5EF4-FFF2-40B4-BE49-F238E27FC236}">
                <a16:creationId xmlns:a16="http://schemas.microsoft.com/office/drawing/2014/main" id="{CA79F9CF-151B-7A20-090C-DF2F1B90D455}"/>
              </a:ext>
            </a:extLst>
          </p:cNvPr>
          <p:cNvSpPr txBox="1"/>
          <p:nvPr/>
        </p:nvSpPr>
        <p:spPr bwMode="gray">
          <a:xfrm>
            <a:off x="4422588" y="4474882"/>
            <a:ext cx="362323" cy="42364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700" b="1" baseline="0">
                <a:latin typeface="Arial"/>
              </a:rPr>
              <a:t>CTP </a:t>
            </a:r>
            <a:r>
              <a:rPr lang="en-US" sz="700" b="1">
                <a:latin typeface="Arial"/>
              </a:rPr>
              <a:t>v1</a:t>
            </a:r>
            <a:endParaRPr lang="zh-CN" altLang="en-US"/>
          </a:p>
          <a:p>
            <a:pPr marL="179705" indent="-179705" algn="l">
              <a:lnSpc>
                <a:spcPct val="140000"/>
              </a:lnSpc>
              <a:buFont typeface="Arial" panose="020B0604020202020204" pitchFamily="34" charset="0"/>
              <a:buChar char="•"/>
            </a:pPr>
            <a:endParaRPr lang="zh-CN" altLang="en-US" sz="1600"/>
          </a:p>
        </p:txBody>
      </p:sp>
      <p:cxnSp>
        <p:nvCxnSpPr>
          <p:cNvPr id="39" name="直接箭头连接符 38">
            <a:extLst>
              <a:ext uri="{FF2B5EF4-FFF2-40B4-BE49-F238E27FC236}">
                <a16:creationId xmlns:a16="http://schemas.microsoft.com/office/drawing/2014/main" id="{165B45E4-C6E1-4FC0-BAE2-83402EF7A4D7}"/>
              </a:ext>
            </a:extLst>
          </p:cNvPr>
          <p:cNvCxnSpPr/>
          <p:nvPr/>
        </p:nvCxnSpPr>
        <p:spPr bwMode="gray">
          <a:xfrm flipV="1">
            <a:off x="1964205" y="5448487"/>
            <a:ext cx="215900" cy="40042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BAC255F6-ABCA-61AF-DA94-E2BBCC02860B}"/>
              </a:ext>
            </a:extLst>
          </p:cNvPr>
          <p:cNvCxnSpPr>
            <a:cxnSpLocks/>
          </p:cNvCxnSpPr>
          <p:nvPr/>
        </p:nvCxnSpPr>
        <p:spPr bwMode="gray">
          <a:xfrm>
            <a:off x="1975411" y="5845175"/>
            <a:ext cx="219635" cy="398929"/>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CF76B03D-506A-08E2-FE4C-F34AE0C6C6E1}"/>
              </a:ext>
            </a:extLst>
          </p:cNvPr>
          <p:cNvCxnSpPr>
            <a:cxnSpLocks/>
          </p:cNvCxnSpPr>
          <p:nvPr/>
        </p:nvCxnSpPr>
        <p:spPr bwMode="gray">
          <a:xfrm>
            <a:off x="7177355" y="3921885"/>
            <a:ext cx="8162" cy="766424"/>
          </a:xfrm>
          <a:prstGeom prst="straightConnector1">
            <a:avLst/>
          </a:prstGeom>
          <a:ln w="12700">
            <a:solidFill>
              <a:srgbClr val="7030A0"/>
            </a:solidFill>
            <a:prstDash val="dash"/>
            <a:tailEnd type="triangle"/>
          </a:ln>
        </p:spPr>
        <p:style>
          <a:lnRef idx="3">
            <a:schemeClr val="accent5"/>
          </a:lnRef>
          <a:fillRef idx="0">
            <a:schemeClr val="accent5"/>
          </a:fillRef>
          <a:effectRef idx="2">
            <a:schemeClr val="accent5"/>
          </a:effectRef>
          <a:fontRef idx="minor">
            <a:schemeClr val="tx1"/>
          </a:fontRef>
        </p:style>
      </p:cxnSp>
      <p:sp>
        <p:nvSpPr>
          <p:cNvPr id="43" name="TextBox 48">
            <a:extLst>
              <a:ext uri="{FF2B5EF4-FFF2-40B4-BE49-F238E27FC236}">
                <a16:creationId xmlns:a16="http://schemas.microsoft.com/office/drawing/2014/main" id="{E7ED5608-D8EB-2537-689D-047212AD20DA}"/>
              </a:ext>
            </a:extLst>
          </p:cNvPr>
          <p:cNvSpPr txBox="1"/>
          <p:nvPr/>
        </p:nvSpPr>
        <p:spPr bwMode="gray">
          <a:xfrm>
            <a:off x="8984561" y="3949594"/>
            <a:ext cx="1082479" cy="289053"/>
          </a:xfrm>
          <a:prstGeom prst="rect">
            <a:avLst/>
          </a:prstGeom>
          <a:noFill/>
        </p:spPr>
        <p:txBody>
          <a:bodyPr wrap="square" lIns="0" tIns="0" rIns="0" bIns="0" rtlCol="0" anchor="t">
            <a:spAutoFit/>
          </a:bodyPr>
          <a:lstStyle/>
          <a:p>
            <a:pPr>
              <a:lnSpc>
                <a:spcPct val="140000"/>
              </a:lnSpc>
            </a:pPr>
            <a:r>
              <a:rPr lang="en-US" sz="700" b="1">
                <a:solidFill>
                  <a:srgbClr val="F75605"/>
                </a:solidFill>
              </a:rPr>
              <a:t>DBL-2</a:t>
            </a:r>
            <a:endParaRPr lang="en-US" b="1">
              <a:solidFill>
                <a:srgbClr val="F75605"/>
              </a:solidFill>
            </a:endParaRPr>
          </a:p>
          <a:p>
            <a:pPr>
              <a:lnSpc>
                <a:spcPct val="140000"/>
              </a:lnSpc>
            </a:pPr>
            <a:r>
              <a:rPr lang="en-US" sz="700" b="1">
                <a:solidFill>
                  <a:srgbClr val="F75605"/>
                </a:solidFill>
              </a:rPr>
              <a:t>Mar/Apr 2028</a:t>
            </a:r>
            <a:endParaRPr lang="en-US" b="1">
              <a:solidFill>
                <a:srgbClr val="F75605"/>
              </a:solidFill>
            </a:endParaRPr>
          </a:p>
        </p:txBody>
      </p:sp>
      <p:sp>
        <p:nvSpPr>
          <p:cNvPr id="17" name="文本框 16">
            <a:extLst>
              <a:ext uri="{FF2B5EF4-FFF2-40B4-BE49-F238E27FC236}">
                <a16:creationId xmlns:a16="http://schemas.microsoft.com/office/drawing/2014/main" id="{706FA5EE-C14E-0800-6DB4-3F48471113DE}"/>
              </a:ext>
            </a:extLst>
          </p:cNvPr>
          <p:cNvSpPr txBox="1"/>
          <p:nvPr/>
        </p:nvSpPr>
        <p:spPr bwMode="gray">
          <a:xfrm>
            <a:off x="7892208" y="4254966"/>
            <a:ext cx="988920" cy="5906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700">
                <a:solidFill>
                  <a:srgbClr val="052EFC"/>
                </a:solidFill>
              </a:rPr>
              <a:t>NDA with Data from all adult pts &amp; Data from partial of the planned adolescent pts</a:t>
            </a:r>
            <a:endParaRPr lang="zh-CN" sz="700">
              <a:solidFill>
                <a:srgbClr val="052EFC"/>
              </a:solidFill>
            </a:endParaRPr>
          </a:p>
        </p:txBody>
      </p:sp>
      <p:sp>
        <p:nvSpPr>
          <p:cNvPr id="26" name="文本框 25">
            <a:extLst>
              <a:ext uri="{FF2B5EF4-FFF2-40B4-BE49-F238E27FC236}">
                <a16:creationId xmlns:a16="http://schemas.microsoft.com/office/drawing/2014/main" id="{2F27F014-3680-2834-C59F-D7A7E0937C22}"/>
              </a:ext>
            </a:extLst>
          </p:cNvPr>
          <p:cNvSpPr txBox="1"/>
          <p:nvPr/>
        </p:nvSpPr>
        <p:spPr bwMode="gray">
          <a:xfrm>
            <a:off x="8982913" y="4292318"/>
            <a:ext cx="1284008" cy="2890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700">
                <a:solidFill>
                  <a:srgbClr val="F75605"/>
                </a:solidFill>
              </a:rPr>
              <a:t>SNDA with data from all  adolescent pts</a:t>
            </a:r>
          </a:p>
        </p:txBody>
      </p:sp>
      <p:cxnSp>
        <p:nvCxnSpPr>
          <p:cNvPr id="29" name="直接箭头连接符 28">
            <a:extLst>
              <a:ext uri="{FF2B5EF4-FFF2-40B4-BE49-F238E27FC236}">
                <a16:creationId xmlns:a16="http://schemas.microsoft.com/office/drawing/2014/main" id="{7CA118D6-C8FD-F08B-2B55-1875CD6BE8BB}"/>
              </a:ext>
            </a:extLst>
          </p:cNvPr>
          <p:cNvCxnSpPr>
            <a:cxnSpLocks/>
          </p:cNvCxnSpPr>
          <p:nvPr/>
        </p:nvCxnSpPr>
        <p:spPr bwMode="gray">
          <a:xfrm>
            <a:off x="8959091" y="1620942"/>
            <a:ext cx="15632" cy="230163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等腰三角形 31">
            <a:extLst>
              <a:ext uri="{FF2B5EF4-FFF2-40B4-BE49-F238E27FC236}">
                <a16:creationId xmlns:a16="http://schemas.microsoft.com/office/drawing/2014/main" id="{0514B4A9-7164-247D-20C5-36CF7AF207EE}"/>
              </a:ext>
            </a:extLst>
          </p:cNvPr>
          <p:cNvSpPr/>
          <p:nvPr/>
        </p:nvSpPr>
        <p:spPr bwMode="gray">
          <a:xfrm>
            <a:off x="6367456" y="2856521"/>
            <a:ext cx="210780" cy="132862"/>
          </a:xfrm>
          <a:prstGeom prst="triangle">
            <a:avLst/>
          </a:prstGeom>
          <a:solidFill>
            <a:srgbClr val="7030A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3" name="TextBox 48">
            <a:extLst>
              <a:ext uri="{FF2B5EF4-FFF2-40B4-BE49-F238E27FC236}">
                <a16:creationId xmlns:a16="http://schemas.microsoft.com/office/drawing/2014/main" id="{29401BEB-56E3-8D93-49CD-F5007A876D76}"/>
              </a:ext>
            </a:extLst>
          </p:cNvPr>
          <p:cNvSpPr txBox="1"/>
          <p:nvPr/>
        </p:nvSpPr>
        <p:spPr bwMode="gray">
          <a:xfrm>
            <a:off x="6252943" y="3019280"/>
            <a:ext cx="603786" cy="136832"/>
          </a:xfrm>
          <a:prstGeom prst="rect">
            <a:avLst/>
          </a:prstGeom>
          <a:noFill/>
        </p:spPr>
        <p:txBody>
          <a:bodyPr wrap="square" lIns="0" tIns="0" rIns="0" bIns="0" rtlCol="0" anchor="t">
            <a:spAutoFit/>
          </a:bodyPr>
          <a:lstStyle/>
          <a:p>
            <a:pPr algn="ctr">
              <a:lnSpc>
                <a:spcPct val="140000"/>
              </a:lnSpc>
            </a:pPr>
            <a:r>
              <a:rPr lang="en-US" sz="700" b="1">
                <a:solidFill>
                  <a:schemeClr val="bg2"/>
                </a:solidFill>
              </a:rPr>
              <a:t>LPI (</a:t>
            </a:r>
            <a:r>
              <a:rPr lang="en-US" sz="700" b="1" err="1">
                <a:solidFill>
                  <a:schemeClr val="bg2"/>
                </a:solidFill>
              </a:rPr>
              <a:t>adols</a:t>
            </a:r>
            <a:r>
              <a:rPr lang="en-US" sz="700" b="1">
                <a:solidFill>
                  <a:schemeClr val="bg2"/>
                </a:solidFill>
              </a:rPr>
              <a:t>.)</a:t>
            </a:r>
          </a:p>
        </p:txBody>
      </p:sp>
      <p:sp>
        <p:nvSpPr>
          <p:cNvPr id="36" name="等腰三角形 35">
            <a:extLst>
              <a:ext uri="{FF2B5EF4-FFF2-40B4-BE49-F238E27FC236}">
                <a16:creationId xmlns:a16="http://schemas.microsoft.com/office/drawing/2014/main" id="{2219D044-036F-B95E-C570-32281AFC1374}"/>
              </a:ext>
            </a:extLst>
          </p:cNvPr>
          <p:cNvSpPr/>
          <p:nvPr/>
        </p:nvSpPr>
        <p:spPr bwMode="gray">
          <a:xfrm>
            <a:off x="6376982" y="3628047"/>
            <a:ext cx="210780" cy="132862"/>
          </a:xfrm>
          <a:prstGeom prst="triangle">
            <a:avLst/>
          </a:prstGeom>
          <a:solidFill>
            <a:srgbClr val="7030A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2" name="TextBox 48">
            <a:extLst>
              <a:ext uri="{FF2B5EF4-FFF2-40B4-BE49-F238E27FC236}">
                <a16:creationId xmlns:a16="http://schemas.microsoft.com/office/drawing/2014/main" id="{886288C5-9415-E479-5BFA-C942146E23B2}"/>
              </a:ext>
            </a:extLst>
          </p:cNvPr>
          <p:cNvSpPr txBox="1"/>
          <p:nvPr/>
        </p:nvSpPr>
        <p:spPr bwMode="gray">
          <a:xfrm>
            <a:off x="6252943" y="3771756"/>
            <a:ext cx="603786" cy="136832"/>
          </a:xfrm>
          <a:prstGeom prst="rect">
            <a:avLst/>
          </a:prstGeom>
          <a:noFill/>
        </p:spPr>
        <p:txBody>
          <a:bodyPr wrap="square" lIns="0" tIns="0" rIns="0" bIns="0" rtlCol="0" anchor="t">
            <a:spAutoFit/>
          </a:bodyPr>
          <a:lstStyle/>
          <a:p>
            <a:pPr algn="ctr">
              <a:lnSpc>
                <a:spcPct val="140000"/>
              </a:lnSpc>
            </a:pPr>
            <a:r>
              <a:rPr lang="en-US" sz="700" b="1">
                <a:solidFill>
                  <a:schemeClr val="bg2"/>
                </a:solidFill>
              </a:rPr>
              <a:t>LPI (</a:t>
            </a:r>
            <a:r>
              <a:rPr lang="en-US" sz="700" b="1" err="1">
                <a:solidFill>
                  <a:schemeClr val="bg2"/>
                </a:solidFill>
              </a:rPr>
              <a:t>adols</a:t>
            </a:r>
            <a:r>
              <a:rPr lang="en-US" sz="700" b="1">
                <a:solidFill>
                  <a:schemeClr val="bg2"/>
                </a:solidFill>
              </a:rPr>
              <a:t>.)</a:t>
            </a:r>
          </a:p>
        </p:txBody>
      </p:sp>
      <p:cxnSp>
        <p:nvCxnSpPr>
          <p:cNvPr id="46" name="直接箭头连接符 45">
            <a:extLst>
              <a:ext uri="{FF2B5EF4-FFF2-40B4-BE49-F238E27FC236}">
                <a16:creationId xmlns:a16="http://schemas.microsoft.com/office/drawing/2014/main" id="{96778AB3-2387-E76E-31FB-8F0E6E4C3816}"/>
              </a:ext>
            </a:extLst>
          </p:cNvPr>
          <p:cNvCxnSpPr>
            <a:cxnSpLocks/>
          </p:cNvCxnSpPr>
          <p:nvPr/>
        </p:nvCxnSpPr>
        <p:spPr bwMode="gray">
          <a:xfrm flipH="1" flipV="1">
            <a:off x="6617443" y="2944401"/>
            <a:ext cx="432043" cy="12944"/>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01321F15-CF92-F2D6-9178-C6B74F5A01F5}"/>
              </a:ext>
            </a:extLst>
          </p:cNvPr>
          <p:cNvCxnSpPr>
            <a:cxnSpLocks/>
          </p:cNvCxnSpPr>
          <p:nvPr/>
        </p:nvCxnSpPr>
        <p:spPr bwMode="gray">
          <a:xfrm flipH="1" flipV="1">
            <a:off x="6588868" y="3677826"/>
            <a:ext cx="432043" cy="12944"/>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0" name="文本框 79">
            <a:extLst>
              <a:ext uri="{FF2B5EF4-FFF2-40B4-BE49-F238E27FC236}">
                <a16:creationId xmlns:a16="http://schemas.microsoft.com/office/drawing/2014/main" id="{0B771654-3DAD-06BD-07F2-E96EF485D2D8}"/>
              </a:ext>
            </a:extLst>
          </p:cNvPr>
          <p:cNvSpPr txBox="1"/>
          <p:nvPr/>
        </p:nvSpPr>
        <p:spPr bwMode="gray">
          <a:xfrm>
            <a:off x="4188722" y="5533087"/>
            <a:ext cx="6306741" cy="8768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lnSpc>
                <a:spcPct val="140000"/>
              </a:lnSpc>
              <a:buFont typeface="Arial" panose="020B0604020202020204" pitchFamily="34" charset="0"/>
              <a:buChar char="•"/>
            </a:pPr>
            <a:r>
              <a:rPr lang="zh-CN" altLang="en-US" sz="1400" b="1"/>
              <a:t>Global challenge:</a:t>
            </a:r>
            <a:r>
              <a:rPr lang="zh-CN" altLang="en-US" sz="1400"/>
              <a:t> to</a:t>
            </a:r>
            <a:r>
              <a:rPr lang="zh-CN" altLang="en-US" sz="1400" b="1"/>
              <a:t> </a:t>
            </a:r>
            <a:r>
              <a:rPr lang="zh-CN" sz="1400" b="1"/>
              <a:t>simultaneously </a:t>
            </a:r>
            <a:r>
              <a:rPr lang="zh-CN" altLang="en-US" sz="1400" b="1"/>
              <a:t>complete  adol. recruitment with adults recruitment</a:t>
            </a:r>
          </a:p>
          <a:p>
            <a:pPr marL="171450" indent="-171450">
              <a:lnSpc>
                <a:spcPct val="140000"/>
              </a:lnSpc>
              <a:buFont typeface="Arial" panose="020B0604020202020204" pitchFamily="34" charset="0"/>
              <a:buChar char="•"/>
            </a:pPr>
            <a:r>
              <a:rPr lang="zh-CN" altLang="en-US" sz="1400" b="1"/>
              <a:t>5 months</a:t>
            </a:r>
            <a:r>
              <a:rPr lang="zh-CN" altLang="en-US" sz="1400"/>
              <a:t> recruitment window for adolescent pts. (</a:t>
            </a:r>
            <a:r>
              <a:rPr lang="zh-CN" altLang="en-US" sz="1400">
                <a:solidFill>
                  <a:srgbClr val="FF0000"/>
                </a:solidFill>
              </a:rPr>
              <a:t>critical path</a:t>
            </a:r>
            <a:r>
              <a:rPr lang="zh-CN" altLang="en-US" sz="1400"/>
              <a:t>)</a:t>
            </a:r>
            <a:endParaRPr lang="zh-CN"/>
          </a:p>
        </p:txBody>
      </p:sp>
      <p:cxnSp>
        <p:nvCxnSpPr>
          <p:cNvPr id="84" name="直接箭头连接符 83">
            <a:extLst>
              <a:ext uri="{FF2B5EF4-FFF2-40B4-BE49-F238E27FC236}">
                <a16:creationId xmlns:a16="http://schemas.microsoft.com/office/drawing/2014/main" id="{88B7E47E-E0EF-92BC-60D1-74719EE07117}"/>
              </a:ext>
            </a:extLst>
          </p:cNvPr>
          <p:cNvCxnSpPr>
            <a:cxnSpLocks/>
          </p:cNvCxnSpPr>
          <p:nvPr/>
        </p:nvCxnSpPr>
        <p:spPr bwMode="gray">
          <a:xfrm flipH="1">
            <a:off x="6298197" y="4942480"/>
            <a:ext cx="3418" cy="58713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53">
            <a:extLst>
              <a:ext uri="{FF2B5EF4-FFF2-40B4-BE49-F238E27FC236}">
                <a16:creationId xmlns:a16="http://schemas.microsoft.com/office/drawing/2014/main" id="{13FA461B-6262-1627-6C5E-A684536DA92B}"/>
              </a:ext>
            </a:extLst>
          </p:cNvPr>
          <p:cNvSpPr txBox="1"/>
          <p:nvPr/>
        </p:nvSpPr>
        <p:spPr bwMode="gray">
          <a:xfrm>
            <a:off x="8881677" y="3927353"/>
            <a:ext cx="1143745" cy="752662"/>
          </a:xfrm>
          <a:prstGeom prst="rect">
            <a:avLst/>
          </a:prstGeom>
          <a:noFill/>
          <a:ln>
            <a:solidFill>
              <a:schemeClr val="accent5">
                <a:lumMod val="75000"/>
              </a:schemeClr>
            </a:solidFill>
            <a:prstDash val="dash"/>
          </a:ln>
        </p:spPr>
        <p:txBody>
          <a:bodyPr wrap="square" lIns="91440" tIns="45720" rIns="91440" bIns="45720" anchor="t">
            <a:spAutoFit/>
          </a:bodyPr>
          <a:lstStyle/>
          <a:p>
            <a:pPr>
              <a:lnSpc>
                <a:spcPct val="120000"/>
              </a:lnSpc>
              <a:spcAft>
                <a:spcPts val="300"/>
              </a:spcAft>
            </a:pPr>
            <a:endParaRPr lang="en-US" altLang="zh-CN" sz="700" b="1">
              <a:latin typeface="Arial"/>
              <a:ea typeface="微软雅黑"/>
              <a:cs typeface="Arial"/>
            </a:endParaRPr>
          </a:p>
        </p:txBody>
      </p:sp>
    </p:spTree>
    <p:extLst>
      <p:ext uri="{BB962C8B-B14F-4D97-AF65-F5344CB8AC3E}">
        <p14:creationId xmlns:p14="http://schemas.microsoft.com/office/powerpoint/2010/main" val="1217884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7E843B9-F730-B8FD-C7EB-7B8AA84755B0}"/>
            </a:ext>
          </a:extLst>
        </p:cNvPr>
        <p:cNvGrpSpPr/>
        <p:nvPr/>
      </p:nvGrpSpPr>
      <p:grpSpPr>
        <a:xfrm>
          <a:off x="0" y="0"/>
          <a:ext cx="0" cy="0"/>
          <a:chOff x="0" y="0"/>
          <a:chExt cx="0" cy="0"/>
        </a:xfrm>
      </p:grpSpPr>
      <p:sp>
        <p:nvSpPr>
          <p:cNvPr id="191" name="Rectangle: Rounded Corners 190">
            <a:extLst>
              <a:ext uri="{FF2B5EF4-FFF2-40B4-BE49-F238E27FC236}">
                <a16:creationId xmlns:a16="http://schemas.microsoft.com/office/drawing/2014/main" id="{42824959-FDC7-46BE-E494-60E8DBDF988D}"/>
              </a:ext>
            </a:extLst>
          </p:cNvPr>
          <p:cNvSpPr/>
          <p:nvPr/>
        </p:nvSpPr>
        <p:spPr bwMode="gray">
          <a:xfrm>
            <a:off x="4413648" y="4610100"/>
            <a:ext cx="7738247" cy="1787707"/>
          </a:xfrm>
          <a:prstGeom prst="roundRect">
            <a:avLst/>
          </a:prstGeom>
          <a:solidFill>
            <a:schemeClr val="accent6">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5" name="Slide Number Placeholder 4">
            <a:extLst>
              <a:ext uri="{FF2B5EF4-FFF2-40B4-BE49-F238E27FC236}">
                <a16:creationId xmlns:a16="http://schemas.microsoft.com/office/drawing/2014/main" id="{73C8A6FE-6364-6B1B-3C76-95DA9B7B0B7E}"/>
              </a:ext>
            </a:extLst>
          </p:cNvPr>
          <p:cNvSpPr>
            <a:spLocks noGrp="1"/>
          </p:cNvSpPr>
          <p:nvPr>
            <p:ph type="sldNum" sz="quarter" idx="20"/>
          </p:nvPr>
        </p:nvSpPr>
        <p:spPr/>
        <p:txBody>
          <a:bodyPr/>
          <a:lstStyle/>
          <a:p>
            <a:fld id="{DF4E8F9F-5B1F-4F5B-BE49-3245D8C18D9F}" type="slidenum">
              <a:rPr lang="en-US" smtClean="0"/>
              <a:pPr/>
              <a:t>22</a:t>
            </a:fld>
            <a:endParaRPr lang="en-US"/>
          </a:p>
        </p:txBody>
      </p:sp>
      <p:pic>
        <p:nvPicPr>
          <p:cNvPr id="6" name="Picture 5" descr="Traffic light - Simple English Wikipedia, the free ...">
            <a:extLst>
              <a:ext uri="{FF2B5EF4-FFF2-40B4-BE49-F238E27FC236}">
                <a16:creationId xmlns:a16="http://schemas.microsoft.com/office/drawing/2014/main" id="{6BE84FC9-6A4C-CAA1-36DB-04CA03C49FE2}"/>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rot="16200000" flipV="1">
            <a:off x="10850096" y="-476913"/>
            <a:ext cx="698504" cy="1726513"/>
          </a:xfrm>
          <a:prstGeom prst="rect">
            <a:avLst/>
          </a:prstGeom>
        </p:spPr>
      </p:pic>
      <p:sp>
        <p:nvSpPr>
          <p:cNvPr id="7" name="标题 1">
            <a:extLst>
              <a:ext uri="{FF2B5EF4-FFF2-40B4-BE49-F238E27FC236}">
                <a16:creationId xmlns:a16="http://schemas.microsoft.com/office/drawing/2014/main" id="{C0A2F109-D542-FBA3-B9E7-7A64C2E72B91}"/>
              </a:ext>
            </a:extLst>
          </p:cNvPr>
          <p:cNvSpPr>
            <a:spLocks noGrp="1"/>
          </p:cNvSpPr>
          <p:nvPr>
            <p:ph type="title"/>
          </p:nvPr>
        </p:nvSpPr>
        <p:spPr>
          <a:xfrm>
            <a:off x="413621" y="260435"/>
            <a:ext cx="11233150" cy="451108"/>
          </a:xfrm>
        </p:spPr>
        <p:txBody>
          <a:bodyPr vert="horz" lIns="0" tIns="0" rIns="0" bIns="0" rtlCol="0" anchor="t">
            <a:noAutofit/>
          </a:bodyPr>
          <a:lstStyle/>
          <a:p>
            <a:r>
              <a:rPr lang="it-IT" altLang="zh-CN"/>
              <a:t>BI 1291583/verducatib </a:t>
            </a:r>
            <a:r>
              <a:rPr lang="en-US"/>
              <a:t>(</a:t>
            </a:r>
            <a:r>
              <a:rPr lang="en-US" err="1"/>
              <a:t>CatC</a:t>
            </a:r>
            <a:r>
              <a:rPr lang="en-US"/>
              <a:t>/DPP-1 inhibitor): </a:t>
            </a:r>
            <a:r>
              <a:rPr lang="it-IT" altLang="zh-CN"/>
              <a:t>Bronchiectasis</a:t>
            </a:r>
            <a:endParaRPr lang="en-US"/>
          </a:p>
        </p:txBody>
      </p:sp>
      <p:graphicFrame>
        <p:nvGraphicFramePr>
          <p:cNvPr id="9" name="Table 8">
            <a:extLst>
              <a:ext uri="{FF2B5EF4-FFF2-40B4-BE49-F238E27FC236}">
                <a16:creationId xmlns:a16="http://schemas.microsoft.com/office/drawing/2014/main" id="{F457FE0C-FE8F-B55F-1D87-F6F22F97B862}"/>
              </a:ext>
            </a:extLst>
          </p:cNvPr>
          <p:cNvGraphicFramePr>
            <a:graphicFrameLocks noGrp="1"/>
          </p:cNvGraphicFramePr>
          <p:nvPr/>
        </p:nvGraphicFramePr>
        <p:xfrm>
          <a:off x="479425" y="957820"/>
          <a:ext cx="11583180" cy="526534"/>
        </p:xfrm>
        <a:graphic>
          <a:graphicData uri="http://schemas.openxmlformats.org/drawingml/2006/table">
            <a:tbl>
              <a:tblPr firstRow="1" bandRow="1"/>
              <a:tblGrid>
                <a:gridCol w="386106">
                  <a:extLst>
                    <a:ext uri="{9D8B030D-6E8A-4147-A177-3AD203B41FA5}">
                      <a16:colId xmlns:a16="http://schemas.microsoft.com/office/drawing/2014/main" val="3091663135"/>
                    </a:ext>
                  </a:extLst>
                </a:gridCol>
                <a:gridCol w="386106">
                  <a:extLst>
                    <a:ext uri="{9D8B030D-6E8A-4147-A177-3AD203B41FA5}">
                      <a16:colId xmlns:a16="http://schemas.microsoft.com/office/drawing/2014/main" val="2003423086"/>
                    </a:ext>
                  </a:extLst>
                </a:gridCol>
                <a:gridCol w="386106">
                  <a:extLst>
                    <a:ext uri="{9D8B030D-6E8A-4147-A177-3AD203B41FA5}">
                      <a16:colId xmlns:a16="http://schemas.microsoft.com/office/drawing/2014/main" val="2466911814"/>
                    </a:ext>
                  </a:extLst>
                </a:gridCol>
                <a:gridCol w="386106">
                  <a:extLst>
                    <a:ext uri="{9D8B030D-6E8A-4147-A177-3AD203B41FA5}">
                      <a16:colId xmlns:a16="http://schemas.microsoft.com/office/drawing/2014/main" val="3023231563"/>
                    </a:ext>
                  </a:extLst>
                </a:gridCol>
                <a:gridCol w="386106">
                  <a:extLst>
                    <a:ext uri="{9D8B030D-6E8A-4147-A177-3AD203B41FA5}">
                      <a16:colId xmlns:a16="http://schemas.microsoft.com/office/drawing/2014/main" val="3411862845"/>
                    </a:ext>
                  </a:extLst>
                </a:gridCol>
                <a:gridCol w="386106">
                  <a:extLst>
                    <a:ext uri="{9D8B030D-6E8A-4147-A177-3AD203B41FA5}">
                      <a16:colId xmlns:a16="http://schemas.microsoft.com/office/drawing/2014/main" val="2851474774"/>
                    </a:ext>
                  </a:extLst>
                </a:gridCol>
                <a:gridCol w="386106">
                  <a:extLst>
                    <a:ext uri="{9D8B030D-6E8A-4147-A177-3AD203B41FA5}">
                      <a16:colId xmlns:a16="http://schemas.microsoft.com/office/drawing/2014/main" val="107595344"/>
                    </a:ext>
                  </a:extLst>
                </a:gridCol>
                <a:gridCol w="386106">
                  <a:extLst>
                    <a:ext uri="{9D8B030D-6E8A-4147-A177-3AD203B41FA5}">
                      <a16:colId xmlns:a16="http://schemas.microsoft.com/office/drawing/2014/main" val="1666999431"/>
                    </a:ext>
                  </a:extLst>
                </a:gridCol>
                <a:gridCol w="386106">
                  <a:extLst>
                    <a:ext uri="{9D8B030D-6E8A-4147-A177-3AD203B41FA5}">
                      <a16:colId xmlns:a16="http://schemas.microsoft.com/office/drawing/2014/main" val="3696607442"/>
                    </a:ext>
                  </a:extLst>
                </a:gridCol>
                <a:gridCol w="386106">
                  <a:extLst>
                    <a:ext uri="{9D8B030D-6E8A-4147-A177-3AD203B41FA5}">
                      <a16:colId xmlns:a16="http://schemas.microsoft.com/office/drawing/2014/main" val="223989776"/>
                    </a:ext>
                  </a:extLst>
                </a:gridCol>
                <a:gridCol w="386106">
                  <a:extLst>
                    <a:ext uri="{9D8B030D-6E8A-4147-A177-3AD203B41FA5}">
                      <a16:colId xmlns:a16="http://schemas.microsoft.com/office/drawing/2014/main" val="124731204"/>
                    </a:ext>
                  </a:extLst>
                </a:gridCol>
                <a:gridCol w="386106">
                  <a:extLst>
                    <a:ext uri="{9D8B030D-6E8A-4147-A177-3AD203B41FA5}">
                      <a16:colId xmlns:a16="http://schemas.microsoft.com/office/drawing/2014/main" val="3066978585"/>
                    </a:ext>
                  </a:extLst>
                </a:gridCol>
                <a:gridCol w="386106">
                  <a:extLst>
                    <a:ext uri="{9D8B030D-6E8A-4147-A177-3AD203B41FA5}">
                      <a16:colId xmlns:a16="http://schemas.microsoft.com/office/drawing/2014/main" val="1064917641"/>
                    </a:ext>
                  </a:extLst>
                </a:gridCol>
                <a:gridCol w="386106">
                  <a:extLst>
                    <a:ext uri="{9D8B030D-6E8A-4147-A177-3AD203B41FA5}">
                      <a16:colId xmlns:a16="http://schemas.microsoft.com/office/drawing/2014/main" val="4221117315"/>
                    </a:ext>
                  </a:extLst>
                </a:gridCol>
                <a:gridCol w="386106">
                  <a:extLst>
                    <a:ext uri="{9D8B030D-6E8A-4147-A177-3AD203B41FA5}">
                      <a16:colId xmlns:a16="http://schemas.microsoft.com/office/drawing/2014/main" val="3266065341"/>
                    </a:ext>
                  </a:extLst>
                </a:gridCol>
                <a:gridCol w="386106">
                  <a:extLst>
                    <a:ext uri="{9D8B030D-6E8A-4147-A177-3AD203B41FA5}">
                      <a16:colId xmlns:a16="http://schemas.microsoft.com/office/drawing/2014/main" val="2374051224"/>
                    </a:ext>
                  </a:extLst>
                </a:gridCol>
                <a:gridCol w="386106">
                  <a:extLst>
                    <a:ext uri="{9D8B030D-6E8A-4147-A177-3AD203B41FA5}">
                      <a16:colId xmlns:a16="http://schemas.microsoft.com/office/drawing/2014/main" val="1840388365"/>
                    </a:ext>
                  </a:extLst>
                </a:gridCol>
                <a:gridCol w="386106">
                  <a:extLst>
                    <a:ext uri="{9D8B030D-6E8A-4147-A177-3AD203B41FA5}">
                      <a16:colId xmlns:a16="http://schemas.microsoft.com/office/drawing/2014/main" val="267750830"/>
                    </a:ext>
                  </a:extLst>
                </a:gridCol>
                <a:gridCol w="386106">
                  <a:extLst>
                    <a:ext uri="{9D8B030D-6E8A-4147-A177-3AD203B41FA5}">
                      <a16:colId xmlns:a16="http://schemas.microsoft.com/office/drawing/2014/main" val="3966469970"/>
                    </a:ext>
                  </a:extLst>
                </a:gridCol>
                <a:gridCol w="386106">
                  <a:extLst>
                    <a:ext uri="{9D8B030D-6E8A-4147-A177-3AD203B41FA5}">
                      <a16:colId xmlns:a16="http://schemas.microsoft.com/office/drawing/2014/main" val="2522973146"/>
                    </a:ext>
                  </a:extLst>
                </a:gridCol>
                <a:gridCol w="386106">
                  <a:extLst>
                    <a:ext uri="{9D8B030D-6E8A-4147-A177-3AD203B41FA5}">
                      <a16:colId xmlns:a16="http://schemas.microsoft.com/office/drawing/2014/main" val="309019048"/>
                    </a:ext>
                  </a:extLst>
                </a:gridCol>
                <a:gridCol w="386106">
                  <a:extLst>
                    <a:ext uri="{9D8B030D-6E8A-4147-A177-3AD203B41FA5}">
                      <a16:colId xmlns:a16="http://schemas.microsoft.com/office/drawing/2014/main" val="4088660355"/>
                    </a:ext>
                  </a:extLst>
                </a:gridCol>
                <a:gridCol w="386106">
                  <a:extLst>
                    <a:ext uri="{9D8B030D-6E8A-4147-A177-3AD203B41FA5}">
                      <a16:colId xmlns:a16="http://schemas.microsoft.com/office/drawing/2014/main" val="4101055617"/>
                    </a:ext>
                  </a:extLst>
                </a:gridCol>
                <a:gridCol w="386106">
                  <a:extLst>
                    <a:ext uri="{9D8B030D-6E8A-4147-A177-3AD203B41FA5}">
                      <a16:colId xmlns:a16="http://schemas.microsoft.com/office/drawing/2014/main" val="1497634779"/>
                    </a:ext>
                  </a:extLst>
                </a:gridCol>
                <a:gridCol w="386106">
                  <a:extLst>
                    <a:ext uri="{9D8B030D-6E8A-4147-A177-3AD203B41FA5}">
                      <a16:colId xmlns:a16="http://schemas.microsoft.com/office/drawing/2014/main" val="1313870339"/>
                    </a:ext>
                  </a:extLst>
                </a:gridCol>
                <a:gridCol w="386106">
                  <a:extLst>
                    <a:ext uri="{9D8B030D-6E8A-4147-A177-3AD203B41FA5}">
                      <a16:colId xmlns:a16="http://schemas.microsoft.com/office/drawing/2014/main" val="380966906"/>
                    </a:ext>
                  </a:extLst>
                </a:gridCol>
                <a:gridCol w="386106">
                  <a:extLst>
                    <a:ext uri="{9D8B030D-6E8A-4147-A177-3AD203B41FA5}">
                      <a16:colId xmlns:a16="http://schemas.microsoft.com/office/drawing/2014/main" val="370559516"/>
                    </a:ext>
                  </a:extLst>
                </a:gridCol>
                <a:gridCol w="386106">
                  <a:extLst>
                    <a:ext uri="{9D8B030D-6E8A-4147-A177-3AD203B41FA5}">
                      <a16:colId xmlns:a16="http://schemas.microsoft.com/office/drawing/2014/main" val="2085800570"/>
                    </a:ext>
                  </a:extLst>
                </a:gridCol>
                <a:gridCol w="386106">
                  <a:extLst>
                    <a:ext uri="{9D8B030D-6E8A-4147-A177-3AD203B41FA5}">
                      <a16:colId xmlns:a16="http://schemas.microsoft.com/office/drawing/2014/main" val="2866958328"/>
                    </a:ext>
                  </a:extLst>
                </a:gridCol>
                <a:gridCol w="386106">
                  <a:extLst>
                    <a:ext uri="{9D8B030D-6E8A-4147-A177-3AD203B41FA5}">
                      <a16:colId xmlns:a16="http://schemas.microsoft.com/office/drawing/2014/main" val="2742855301"/>
                    </a:ext>
                  </a:extLst>
                </a:gridCol>
              </a:tblGrid>
              <a:tr h="225779">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mn-ea"/>
                          <a:ea typeface="+mn-ea"/>
                          <a:cs typeface="Arial" panose="020B0604020202020204" pitchFamily="34" charset="0"/>
                        </a:rPr>
                        <a:t>2022</a:t>
                      </a:r>
                      <a:endParaRPr lang="zh-CN" altLang="en-US" sz="1100" b="1">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2023</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2024</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2025</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2026</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bg1"/>
                          </a:solidFill>
                          <a:latin typeface="+mn-ea"/>
                          <a:ea typeface="+mn-ea"/>
                          <a:cs typeface="Arial"/>
                        </a:rPr>
                        <a:t>2027</a:t>
                      </a:r>
                      <a:endParaRPr lang="zh-CN" altLang="en-US" sz="1100" b="1" kern="1200">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mn-ea"/>
                          <a:ea typeface="+mn-ea"/>
                          <a:cs typeface="Arial"/>
                        </a:rPr>
                        <a:t>2028</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mn-ea"/>
                          <a:ea typeface="+mn-ea"/>
                          <a:cs typeface="Arial"/>
                        </a:rPr>
                        <a:t>2029</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mn-ea"/>
                          <a:ea typeface="+mn-ea"/>
                          <a:cs typeface="Arial"/>
                        </a:rPr>
                        <a:t>2030</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67454">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Q1</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panose="020B0604020202020204" pitchFamily="34" charset="0"/>
                        </a:rPr>
                        <a:t>Q2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Q4</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Q1</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a:rPr>
                        <a:t>Q3</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Q4</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panose="020B0604020202020204" pitchFamily="34" charset="0"/>
                        </a:rPr>
                        <a:t>Q2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a:rPr>
                        <a:t>H2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extLst>
                  <a:ext uri="{0D108BD9-81ED-4DB2-BD59-A6C34878D82A}">
                    <a16:rowId xmlns:a16="http://schemas.microsoft.com/office/drawing/2014/main" val="2722476245"/>
                  </a:ext>
                </a:extLst>
              </a:tr>
            </a:tbl>
          </a:graphicData>
        </a:graphic>
      </p:graphicFrame>
      <p:sp>
        <p:nvSpPr>
          <p:cNvPr id="10" name="Isosceles Triangle 9">
            <a:extLst>
              <a:ext uri="{FF2B5EF4-FFF2-40B4-BE49-F238E27FC236}">
                <a16:creationId xmlns:a16="http://schemas.microsoft.com/office/drawing/2014/main" id="{9A8264AC-C8A4-C5A7-68F0-D51E152DEFE9}"/>
              </a:ext>
            </a:extLst>
          </p:cNvPr>
          <p:cNvSpPr/>
          <p:nvPr/>
        </p:nvSpPr>
        <p:spPr>
          <a:xfrm rot="16200000" flipH="1">
            <a:off x="163925" y="1137035"/>
            <a:ext cx="487802" cy="129376"/>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sp>
        <p:nvSpPr>
          <p:cNvPr id="11" name="Isosceles Triangle 10">
            <a:extLst>
              <a:ext uri="{FF2B5EF4-FFF2-40B4-BE49-F238E27FC236}">
                <a16:creationId xmlns:a16="http://schemas.microsoft.com/office/drawing/2014/main" id="{FBA1D080-21CC-7F52-7FAD-AF784363B9E7}"/>
              </a:ext>
            </a:extLst>
          </p:cNvPr>
          <p:cNvSpPr/>
          <p:nvPr/>
        </p:nvSpPr>
        <p:spPr>
          <a:xfrm rot="5400000">
            <a:off x="11883408" y="1137033"/>
            <a:ext cx="487801" cy="129375"/>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sp>
        <p:nvSpPr>
          <p:cNvPr id="43" name="TextBox 42">
            <a:extLst>
              <a:ext uri="{FF2B5EF4-FFF2-40B4-BE49-F238E27FC236}">
                <a16:creationId xmlns:a16="http://schemas.microsoft.com/office/drawing/2014/main" id="{7F02616D-6178-5C73-D383-2EB9E3734035}"/>
              </a:ext>
            </a:extLst>
          </p:cNvPr>
          <p:cNvSpPr txBox="1"/>
          <p:nvPr/>
        </p:nvSpPr>
        <p:spPr>
          <a:xfrm>
            <a:off x="56497" y="1862174"/>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1397-0014</a:t>
            </a:r>
          </a:p>
        </p:txBody>
      </p:sp>
      <p:grpSp>
        <p:nvGrpSpPr>
          <p:cNvPr id="44" name="Group 43">
            <a:extLst>
              <a:ext uri="{FF2B5EF4-FFF2-40B4-BE49-F238E27FC236}">
                <a16:creationId xmlns:a16="http://schemas.microsoft.com/office/drawing/2014/main" id="{C9A47E6D-896F-470A-EE76-649EF3F98D47}"/>
              </a:ext>
            </a:extLst>
          </p:cNvPr>
          <p:cNvGrpSpPr/>
          <p:nvPr/>
        </p:nvGrpSpPr>
        <p:grpSpPr>
          <a:xfrm>
            <a:off x="4291310" y="1660040"/>
            <a:ext cx="7771294" cy="877059"/>
            <a:chOff x="4291310" y="3688459"/>
            <a:chExt cx="7771294" cy="877059"/>
          </a:xfrm>
        </p:grpSpPr>
        <p:sp>
          <p:nvSpPr>
            <p:cNvPr id="45" name="OTLSHAPE_T_5a934a26f311425e8ebaa0f45e6533ad_Shape">
              <a:extLst>
                <a:ext uri="{FF2B5EF4-FFF2-40B4-BE49-F238E27FC236}">
                  <a16:creationId xmlns:a16="http://schemas.microsoft.com/office/drawing/2014/main" id="{E97B6AB5-F7B5-EC1D-6D27-B58C6558BC0B}"/>
                </a:ext>
              </a:extLst>
            </p:cNvPr>
            <p:cNvSpPr/>
            <p:nvPr/>
          </p:nvSpPr>
          <p:spPr bwMode="auto">
            <a:xfrm>
              <a:off x="5022851" y="3954514"/>
              <a:ext cx="5410310" cy="215338"/>
            </a:xfrm>
            <a:prstGeom prst="roundRect">
              <a:avLst/>
            </a:prstGeom>
            <a:solidFill>
              <a:schemeClr val="tx2"/>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2"/>
                  </a:solidFill>
                  <a:latin typeface="+mn-ea"/>
                  <a:cs typeface="Calibri" panose="020F0502020204030204" pitchFamily="34" charset="0"/>
                </a:rPr>
                <a:t>AIRTIVITY 1397-0014 Phase 3</a:t>
              </a:r>
            </a:p>
          </p:txBody>
        </p:sp>
        <p:sp>
          <p:nvSpPr>
            <p:cNvPr id="46" name="OTLSHAPE_T_5a934a26f311425e8ebaa0f45e6533ad_Shape">
              <a:extLst>
                <a:ext uri="{FF2B5EF4-FFF2-40B4-BE49-F238E27FC236}">
                  <a16:creationId xmlns:a16="http://schemas.microsoft.com/office/drawing/2014/main" id="{E19ED968-0A1B-5188-E9E9-77AB73037559}"/>
                </a:ext>
              </a:extLst>
            </p:cNvPr>
            <p:cNvSpPr/>
            <p:nvPr/>
          </p:nvSpPr>
          <p:spPr bwMode="auto">
            <a:xfrm>
              <a:off x="7549815" y="4341942"/>
              <a:ext cx="4512789" cy="223576"/>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33" b="1">
                  <a:solidFill>
                    <a:srgbClr val="000000"/>
                  </a:solidFill>
                  <a:latin typeface="Calibri" panose="020F0502020204030204" pitchFamily="34" charset="0"/>
                  <a:cs typeface="Calibri" panose="020F0502020204030204" pitchFamily="34" charset="0"/>
                </a:rPr>
                <a:t>1397-0018 Phase 3 </a:t>
              </a:r>
              <a:r>
                <a:rPr lang="en-US" altLang="zh-CN" sz="933" b="1" err="1">
                  <a:solidFill>
                    <a:srgbClr val="000000"/>
                  </a:solidFill>
                  <a:latin typeface="Calibri" panose="020F0502020204030204" pitchFamily="34" charset="0"/>
                  <a:cs typeface="Calibri" panose="020F0502020204030204" pitchFamily="34" charset="0"/>
                </a:rPr>
                <a:t>nCFB</a:t>
              </a:r>
              <a:r>
                <a:rPr lang="en-US" altLang="zh-CN" sz="933" b="1">
                  <a:solidFill>
                    <a:srgbClr val="000000"/>
                  </a:solidFill>
                  <a:latin typeface="Calibri" panose="020F0502020204030204" pitchFamily="34" charset="0"/>
                  <a:cs typeface="Calibri" panose="020F0502020204030204" pitchFamily="34" charset="0"/>
                </a:rPr>
                <a:t>+/- CFB roll-over study </a:t>
              </a:r>
            </a:p>
          </p:txBody>
        </p:sp>
        <p:grpSp>
          <p:nvGrpSpPr>
            <p:cNvPr id="47" name="Group 46">
              <a:extLst>
                <a:ext uri="{FF2B5EF4-FFF2-40B4-BE49-F238E27FC236}">
                  <a16:creationId xmlns:a16="http://schemas.microsoft.com/office/drawing/2014/main" id="{899B01AE-D87C-F2A1-67D0-E7C8ABBA33A8}"/>
                </a:ext>
              </a:extLst>
            </p:cNvPr>
            <p:cNvGrpSpPr/>
            <p:nvPr/>
          </p:nvGrpSpPr>
          <p:grpSpPr>
            <a:xfrm>
              <a:off x="4291310" y="3688459"/>
              <a:ext cx="402354" cy="590994"/>
              <a:chOff x="3273356" y="3891293"/>
              <a:chExt cx="402354" cy="590994"/>
            </a:xfrm>
          </p:grpSpPr>
          <p:sp>
            <p:nvSpPr>
              <p:cNvPr id="58" name="Star: 5 Points 57">
                <a:extLst>
                  <a:ext uri="{FF2B5EF4-FFF2-40B4-BE49-F238E27FC236}">
                    <a16:creationId xmlns:a16="http://schemas.microsoft.com/office/drawing/2014/main" id="{586673E5-6010-8F7D-34F8-814DF1A2B146}"/>
                  </a:ext>
                </a:extLst>
              </p:cNvPr>
              <p:cNvSpPr/>
              <p:nvPr/>
            </p:nvSpPr>
            <p:spPr bwMode="gray">
              <a:xfrm>
                <a:off x="3414744" y="4189008"/>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59" name="TextBox 58">
                <a:extLst>
                  <a:ext uri="{FF2B5EF4-FFF2-40B4-BE49-F238E27FC236}">
                    <a16:creationId xmlns:a16="http://schemas.microsoft.com/office/drawing/2014/main" id="{46004642-3B50-A25D-B7C8-50EFEA73A24C}"/>
                  </a:ext>
                </a:extLst>
              </p:cNvPr>
              <p:cNvSpPr txBox="1"/>
              <p:nvPr/>
            </p:nvSpPr>
            <p:spPr bwMode="gray">
              <a:xfrm>
                <a:off x="3379154" y="4344044"/>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60" name="TextBox 59">
                <a:extLst>
                  <a:ext uri="{FF2B5EF4-FFF2-40B4-BE49-F238E27FC236}">
                    <a16:creationId xmlns:a16="http://schemas.microsoft.com/office/drawing/2014/main" id="{3D23DCB5-70A0-F45E-24FD-548A0BB82448}"/>
                  </a:ext>
                </a:extLst>
              </p:cNvPr>
              <p:cNvSpPr txBox="1"/>
              <p:nvPr/>
            </p:nvSpPr>
            <p:spPr bwMode="gray">
              <a:xfrm>
                <a:off x="3273356" y="3891293"/>
                <a:ext cx="402354" cy="138243"/>
              </a:xfrm>
              <a:prstGeom prst="rect">
                <a:avLst/>
              </a:prstGeom>
              <a:noFill/>
            </p:spPr>
            <p:txBody>
              <a:bodyPr wrap="none" lIns="0" tIns="0" rIns="0" bIns="0" rtlCol="0">
                <a:spAutoFit/>
              </a:bodyPr>
              <a:lstStyle/>
              <a:p>
                <a:pPr algn="ctr">
                  <a:lnSpc>
                    <a:spcPct val="140000"/>
                  </a:lnSpc>
                </a:pPr>
                <a:r>
                  <a:rPr lang="en-US" sz="700" b="1">
                    <a:solidFill>
                      <a:schemeClr val="bg2"/>
                    </a:solidFill>
                  </a:rPr>
                  <a:t>Feb 2025</a:t>
                </a:r>
              </a:p>
            </p:txBody>
          </p:sp>
        </p:grpSp>
        <p:sp>
          <p:nvSpPr>
            <p:cNvPr id="48" name="TextBox 47">
              <a:extLst>
                <a:ext uri="{FF2B5EF4-FFF2-40B4-BE49-F238E27FC236}">
                  <a16:creationId xmlns:a16="http://schemas.microsoft.com/office/drawing/2014/main" id="{25EC6433-49EC-858B-42BD-A57CE39EDEB2}"/>
                </a:ext>
              </a:extLst>
            </p:cNvPr>
            <p:cNvSpPr txBox="1"/>
            <p:nvPr/>
          </p:nvSpPr>
          <p:spPr bwMode="gray">
            <a:xfrm>
              <a:off x="4673118" y="3802479"/>
              <a:ext cx="7229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16 Jun 2025 </a:t>
              </a:r>
              <a:r>
                <a:rPr lang="en-US" altLang="zh-CN" sz="700" b="1">
                  <a:solidFill>
                    <a:schemeClr val="bg2"/>
                  </a:solidFill>
                </a:rPr>
                <a:t>FSS</a:t>
              </a:r>
              <a:endParaRPr lang="en-US" sz="700" b="1">
                <a:solidFill>
                  <a:schemeClr val="bg2"/>
                </a:solidFill>
              </a:endParaRPr>
            </a:p>
          </p:txBody>
        </p:sp>
        <p:sp>
          <p:nvSpPr>
            <p:cNvPr id="49" name="TextBox 48">
              <a:extLst>
                <a:ext uri="{FF2B5EF4-FFF2-40B4-BE49-F238E27FC236}">
                  <a16:creationId xmlns:a16="http://schemas.microsoft.com/office/drawing/2014/main" id="{E295BE86-521F-F470-0F1A-A66827995230}"/>
                </a:ext>
              </a:extLst>
            </p:cNvPr>
            <p:cNvSpPr txBox="1"/>
            <p:nvPr/>
          </p:nvSpPr>
          <p:spPr bwMode="gray">
            <a:xfrm>
              <a:off x="9773057" y="3802479"/>
              <a:ext cx="764633" cy="138243"/>
            </a:xfrm>
            <a:prstGeom prst="rect">
              <a:avLst/>
            </a:prstGeom>
            <a:noFill/>
          </p:spPr>
          <p:txBody>
            <a:bodyPr wrap="none" lIns="0" tIns="0" rIns="0" bIns="0" rtlCol="0">
              <a:spAutoFit/>
            </a:bodyPr>
            <a:lstStyle/>
            <a:p>
              <a:pPr algn="ctr">
                <a:lnSpc>
                  <a:spcPct val="140000"/>
                </a:lnSpc>
              </a:pPr>
              <a:r>
                <a:rPr lang="en-US" sz="700" b="1">
                  <a:solidFill>
                    <a:schemeClr val="bg2"/>
                  </a:solidFill>
                </a:rPr>
                <a:t>19 Dec 2028, DBL</a:t>
              </a:r>
            </a:p>
          </p:txBody>
        </p:sp>
        <p:grpSp>
          <p:nvGrpSpPr>
            <p:cNvPr id="50" name="Group 49">
              <a:extLst>
                <a:ext uri="{FF2B5EF4-FFF2-40B4-BE49-F238E27FC236}">
                  <a16:creationId xmlns:a16="http://schemas.microsoft.com/office/drawing/2014/main" id="{7730E64D-24D6-00BC-C71D-0D18C723CD0C}"/>
                </a:ext>
              </a:extLst>
            </p:cNvPr>
            <p:cNvGrpSpPr/>
            <p:nvPr/>
          </p:nvGrpSpPr>
          <p:grpSpPr>
            <a:xfrm>
              <a:off x="10634701" y="3747959"/>
              <a:ext cx="419987" cy="529804"/>
              <a:chOff x="4061850" y="3952483"/>
              <a:chExt cx="419987" cy="529804"/>
            </a:xfrm>
          </p:grpSpPr>
          <p:sp>
            <p:nvSpPr>
              <p:cNvPr id="55" name="Star: 5 Points 54">
                <a:extLst>
                  <a:ext uri="{FF2B5EF4-FFF2-40B4-BE49-F238E27FC236}">
                    <a16:creationId xmlns:a16="http://schemas.microsoft.com/office/drawing/2014/main" id="{0AC3F144-32A7-F620-C937-3C608281B42A}"/>
                  </a:ext>
                </a:extLst>
              </p:cNvPr>
              <p:cNvSpPr/>
              <p:nvPr/>
            </p:nvSpPr>
            <p:spPr bwMode="gray">
              <a:xfrm>
                <a:off x="4212055" y="4189008"/>
                <a:ext cx="119578" cy="119578"/>
              </a:xfrm>
              <a:prstGeom prst="star5">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56" name="TextBox 55">
                <a:extLst>
                  <a:ext uri="{FF2B5EF4-FFF2-40B4-BE49-F238E27FC236}">
                    <a16:creationId xmlns:a16="http://schemas.microsoft.com/office/drawing/2014/main" id="{B997D7A7-CC28-3E4D-F181-705E1CFA7C98}"/>
                  </a:ext>
                </a:extLst>
              </p:cNvPr>
              <p:cNvSpPr txBox="1"/>
              <p:nvPr/>
            </p:nvSpPr>
            <p:spPr bwMode="gray">
              <a:xfrm>
                <a:off x="4097918" y="4344044"/>
                <a:ext cx="347852" cy="138243"/>
              </a:xfrm>
              <a:prstGeom prst="rect">
                <a:avLst/>
              </a:prstGeom>
              <a:noFill/>
            </p:spPr>
            <p:txBody>
              <a:bodyPr wrap="none" lIns="0" tIns="0" rIns="0" bIns="0" rtlCol="0">
                <a:spAutoFit/>
              </a:bodyPr>
              <a:lstStyle/>
              <a:p>
                <a:pPr algn="ctr">
                  <a:lnSpc>
                    <a:spcPct val="140000"/>
                  </a:lnSpc>
                </a:pPr>
                <a:r>
                  <a:rPr lang="en-US" sz="700" b="1">
                    <a:solidFill>
                      <a:schemeClr val="bg2"/>
                    </a:solidFill>
                  </a:rPr>
                  <a:t>US NDA</a:t>
                </a:r>
              </a:p>
            </p:txBody>
          </p:sp>
          <p:sp>
            <p:nvSpPr>
              <p:cNvPr id="57" name="TextBox 56">
                <a:extLst>
                  <a:ext uri="{FF2B5EF4-FFF2-40B4-BE49-F238E27FC236}">
                    <a16:creationId xmlns:a16="http://schemas.microsoft.com/office/drawing/2014/main" id="{E480334A-7A74-D4A9-DB78-8FE47ACC712B}"/>
                  </a:ext>
                </a:extLst>
              </p:cNvPr>
              <p:cNvSpPr txBox="1"/>
              <p:nvPr/>
            </p:nvSpPr>
            <p:spPr bwMode="gray">
              <a:xfrm>
                <a:off x="4061850" y="3952483"/>
                <a:ext cx="419987" cy="138243"/>
              </a:xfrm>
              <a:prstGeom prst="rect">
                <a:avLst/>
              </a:prstGeom>
              <a:noFill/>
            </p:spPr>
            <p:txBody>
              <a:bodyPr wrap="none" lIns="0" tIns="0" rIns="0" bIns="0" rtlCol="0">
                <a:spAutoFit/>
              </a:bodyPr>
              <a:lstStyle/>
              <a:p>
                <a:pPr algn="ctr">
                  <a:lnSpc>
                    <a:spcPct val="140000"/>
                  </a:lnSpc>
                </a:pPr>
                <a:r>
                  <a:rPr lang="en-US" sz="700" b="1">
                    <a:solidFill>
                      <a:schemeClr val="bg2"/>
                    </a:solidFill>
                  </a:rPr>
                  <a:t>Mar 2029</a:t>
                </a:r>
              </a:p>
            </p:txBody>
          </p:sp>
        </p:grpSp>
        <p:grpSp>
          <p:nvGrpSpPr>
            <p:cNvPr id="51" name="Group 50">
              <a:extLst>
                <a:ext uri="{FF2B5EF4-FFF2-40B4-BE49-F238E27FC236}">
                  <a16:creationId xmlns:a16="http://schemas.microsoft.com/office/drawing/2014/main" id="{F8A41A95-1309-2C63-5448-79AF9081A1C1}"/>
                </a:ext>
              </a:extLst>
            </p:cNvPr>
            <p:cNvGrpSpPr/>
            <p:nvPr/>
          </p:nvGrpSpPr>
          <p:grpSpPr>
            <a:xfrm>
              <a:off x="11139707" y="3747959"/>
              <a:ext cx="541816" cy="533956"/>
              <a:chOff x="11375732" y="3100407"/>
              <a:chExt cx="541816" cy="533956"/>
            </a:xfrm>
          </p:grpSpPr>
          <p:pic>
            <p:nvPicPr>
              <p:cNvPr id="52" name="Graphic 51" descr="Flag with solid fill">
                <a:extLst>
                  <a:ext uri="{FF2B5EF4-FFF2-40B4-BE49-F238E27FC236}">
                    <a16:creationId xmlns:a16="http://schemas.microsoft.com/office/drawing/2014/main" id="{60D90B89-598C-3D7C-2C5C-933100EA1A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47769" y="3297850"/>
                <a:ext cx="197742" cy="197742"/>
              </a:xfrm>
              <a:prstGeom prst="rect">
                <a:avLst/>
              </a:prstGeom>
            </p:spPr>
          </p:pic>
          <p:sp>
            <p:nvSpPr>
              <p:cNvPr id="53" name="TextBox 52">
                <a:extLst>
                  <a:ext uri="{FF2B5EF4-FFF2-40B4-BE49-F238E27FC236}">
                    <a16:creationId xmlns:a16="http://schemas.microsoft.com/office/drawing/2014/main" id="{1417281D-17BE-C2E5-E960-78EB3F6A8044}"/>
                  </a:ext>
                </a:extLst>
              </p:cNvPr>
              <p:cNvSpPr txBox="1"/>
              <p:nvPr/>
            </p:nvSpPr>
            <p:spPr bwMode="gray">
              <a:xfrm>
                <a:off x="11375732" y="3496120"/>
                <a:ext cx="541816" cy="138243"/>
              </a:xfrm>
              <a:prstGeom prst="rect">
                <a:avLst/>
              </a:prstGeom>
              <a:noFill/>
            </p:spPr>
            <p:txBody>
              <a:bodyPr wrap="none" lIns="0" tIns="0" rIns="0" bIns="0" rtlCol="0">
                <a:spAutoFit/>
              </a:bodyPr>
              <a:lstStyle/>
              <a:p>
                <a:pPr algn="ctr">
                  <a:lnSpc>
                    <a:spcPct val="140000"/>
                  </a:lnSpc>
                </a:pPr>
                <a:r>
                  <a:rPr lang="en-US" sz="700" b="1">
                    <a:solidFill>
                      <a:schemeClr val="bg2"/>
                    </a:solidFill>
                  </a:rPr>
                  <a:t>US Approval</a:t>
                </a:r>
              </a:p>
            </p:txBody>
          </p:sp>
          <p:sp>
            <p:nvSpPr>
              <p:cNvPr id="54" name="TextBox 53">
                <a:extLst>
                  <a:ext uri="{FF2B5EF4-FFF2-40B4-BE49-F238E27FC236}">
                    <a16:creationId xmlns:a16="http://schemas.microsoft.com/office/drawing/2014/main" id="{E8152449-89E0-22AE-960D-0D323C408181}"/>
                  </a:ext>
                </a:extLst>
              </p:cNvPr>
              <p:cNvSpPr txBox="1"/>
              <p:nvPr/>
            </p:nvSpPr>
            <p:spPr bwMode="gray">
              <a:xfrm>
                <a:off x="11415809" y="3100407"/>
                <a:ext cx="445635" cy="138243"/>
              </a:xfrm>
              <a:prstGeom prst="rect">
                <a:avLst/>
              </a:prstGeom>
              <a:noFill/>
            </p:spPr>
            <p:txBody>
              <a:bodyPr wrap="none" lIns="0" tIns="0" rIns="0" bIns="0" rtlCol="0">
                <a:spAutoFit/>
              </a:bodyPr>
              <a:lstStyle/>
              <a:p>
                <a:pPr algn="ctr">
                  <a:lnSpc>
                    <a:spcPct val="140000"/>
                  </a:lnSpc>
                </a:pPr>
                <a:r>
                  <a:rPr lang="en-US" altLang="zh-CN" sz="700" b="1">
                    <a:solidFill>
                      <a:schemeClr val="bg2"/>
                    </a:solidFill>
                  </a:rPr>
                  <a:t>Nov</a:t>
                </a:r>
                <a:r>
                  <a:rPr lang="en-US" sz="700" b="1">
                    <a:solidFill>
                      <a:schemeClr val="bg2"/>
                    </a:solidFill>
                  </a:rPr>
                  <a:t> 2029 </a:t>
                </a:r>
              </a:p>
            </p:txBody>
          </p:sp>
        </p:grpSp>
      </p:grpSp>
      <p:sp>
        <p:nvSpPr>
          <p:cNvPr id="61" name="TextBox 9">
            <a:extLst>
              <a:ext uri="{FF2B5EF4-FFF2-40B4-BE49-F238E27FC236}">
                <a16:creationId xmlns:a16="http://schemas.microsoft.com/office/drawing/2014/main" id="{777AB029-17C7-6DAE-FD12-4EB6E6631C00}"/>
              </a:ext>
            </a:extLst>
          </p:cNvPr>
          <p:cNvSpPr txBox="1"/>
          <p:nvPr/>
        </p:nvSpPr>
        <p:spPr>
          <a:xfrm>
            <a:off x="56497" y="2278649"/>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1397-0018</a:t>
            </a:r>
          </a:p>
        </p:txBody>
      </p:sp>
      <p:pic>
        <p:nvPicPr>
          <p:cNvPr id="62" name="Picture 61">
            <a:extLst>
              <a:ext uri="{FF2B5EF4-FFF2-40B4-BE49-F238E27FC236}">
                <a16:creationId xmlns:a16="http://schemas.microsoft.com/office/drawing/2014/main" id="{AFDEB32B-654F-C12E-8A90-6C38C235A68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78" y="2648558"/>
            <a:ext cx="730437" cy="360000"/>
          </a:xfrm>
          <a:prstGeom prst="rect">
            <a:avLst/>
          </a:prstGeom>
        </p:spPr>
      </p:pic>
      <p:cxnSp>
        <p:nvCxnSpPr>
          <p:cNvPr id="63" name="Straight Connector 62">
            <a:extLst>
              <a:ext uri="{FF2B5EF4-FFF2-40B4-BE49-F238E27FC236}">
                <a16:creationId xmlns:a16="http://schemas.microsoft.com/office/drawing/2014/main" id="{A0A58259-ED8C-5559-8B78-A455998DF4A4}"/>
              </a:ext>
            </a:extLst>
          </p:cNvPr>
          <p:cNvCxnSpPr/>
          <p:nvPr/>
        </p:nvCxnSpPr>
        <p:spPr bwMode="gray">
          <a:xfrm>
            <a:off x="802742" y="2750178"/>
            <a:ext cx="11241211" cy="0"/>
          </a:xfrm>
          <a:prstGeom prst="line">
            <a:avLst/>
          </a:prstGeom>
          <a:ln w="19050">
            <a:solidFill>
              <a:schemeClr val="bg2"/>
            </a:solidFill>
            <a:prstDash val="lgDashDot"/>
          </a:ln>
        </p:spPr>
        <p:style>
          <a:lnRef idx="2">
            <a:schemeClr val="accent2"/>
          </a:lnRef>
          <a:fillRef idx="0">
            <a:schemeClr val="accent2"/>
          </a:fillRef>
          <a:effectRef idx="1">
            <a:schemeClr val="accent2"/>
          </a:effectRef>
          <a:fontRef idx="minor">
            <a:schemeClr val="tx1"/>
          </a:fontRef>
        </p:style>
      </p:cxnSp>
      <p:grpSp>
        <p:nvGrpSpPr>
          <p:cNvPr id="64" name="Group 63">
            <a:extLst>
              <a:ext uri="{FF2B5EF4-FFF2-40B4-BE49-F238E27FC236}">
                <a16:creationId xmlns:a16="http://schemas.microsoft.com/office/drawing/2014/main" id="{66BD4B96-1978-58E4-219D-DCD2BC133C8D}"/>
              </a:ext>
            </a:extLst>
          </p:cNvPr>
          <p:cNvGrpSpPr/>
          <p:nvPr/>
        </p:nvGrpSpPr>
        <p:grpSpPr>
          <a:xfrm>
            <a:off x="3725335" y="2773348"/>
            <a:ext cx="6707826" cy="637229"/>
            <a:chOff x="3725335" y="4891875"/>
            <a:chExt cx="6707826" cy="637229"/>
          </a:xfrm>
        </p:grpSpPr>
        <p:sp>
          <p:nvSpPr>
            <p:cNvPr id="65" name="OTLSHAPE_T_5a934a26f311425e8ebaa0f45e6533ad_Shape">
              <a:extLst>
                <a:ext uri="{FF2B5EF4-FFF2-40B4-BE49-F238E27FC236}">
                  <a16:creationId xmlns:a16="http://schemas.microsoft.com/office/drawing/2014/main" id="{1FC2999A-07DD-CC88-238E-9081B21BC7AD}"/>
                </a:ext>
              </a:extLst>
            </p:cNvPr>
            <p:cNvSpPr/>
            <p:nvPr/>
          </p:nvSpPr>
          <p:spPr bwMode="auto">
            <a:xfrm>
              <a:off x="5336770" y="5081785"/>
              <a:ext cx="5096391" cy="178049"/>
            </a:xfrm>
            <a:prstGeom prst="roundRect">
              <a:avLst/>
            </a:prstGeom>
            <a:solidFill>
              <a:schemeClr val="tx2"/>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2"/>
                  </a:solidFill>
                  <a:latin typeface="+mn-ea"/>
                  <a:cs typeface="Calibri" panose="020F0502020204030204" pitchFamily="34" charset="0"/>
                </a:rPr>
                <a:t>AIRTIVITY 1397-0014 Phase 3</a:t>
              </a:r>
            </a:p>
          </p:txBody>
        </p:sp>
        <p:sp>
          <p:nvSpPr>
            <p:cNvPr id="66" name="OTLSHAPE_T_e17f3958430f4cff8650518c93c7635e_Shape">
              <a:extLst>
                <a:ext uri="{FF2B5EF4-FFF2-40B4-BE49-F238E27FC236}">
                  <a16:creationId xmlns:a16="http://schemas.microsoft.com/office/drawing/2014/main" id="{81FFCF76-A1C8-23D7-BAA5-486825DAFDF7}"/>
                </a:ext>
              </a:extLst>
            </p:cNvPr>
            <p:cNvSpPr/>
            <p:nvPr>
              <p:custDataLst>
                <p:tags r:id="rId1"/>
              </p:custDataLst>
            </p:nvPr>
          </p:nvSpPr>
          <p:spPr bwMode="auto">
            <a:xfrm>
              <a:off x="4531854" y="5059679"/>
              <a:ext cx="804916" cy="20160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9" rIns="51435" bIns="25719"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450" b="1">
                  <a:solidFill>
                    <a:schemeClr val="bg2"/>
                  </a:solidFill>
                  <a:latin typeface="+mn-ea"/>
                </a:rPr>
                <a:t>CTA Review + EC + HGRAC + 1</a:t>
              </a:r>
              <a:r>
                <a:rPr lang="en-US" altLang="zh-CN" sz="450" b="1" baseline="30000">
                  <a:solidFill>
                    <a:schemeClr val="bg2"/>
                  </a:solidFill>
                  <a:latin typeface="+mn-ea"/>
                </a:rPr>
                <a:t>st</a:t>
              </a:r>
              <a:r>
                <a:rPr lang="en-US" altLang="zh-CN" sz="450" b="1">
                  <a:solidFill>
                    <a:schemeClr val="bg2"/>
                  </a:solidFill>
                  <a:latin typeface="+mn-ea"/>
                </a:rPr>
                <a:t> SIV (6m) *</a:t>
              </a:r>
              <a:endParaRPr lang="zh-CN" altLang="en-US" sz="450" b="1">
                <a:solidFill>
                  <a:schemeClr val="bg2"/>
                </a:solidFill>
                <a:latin typeface="+mn-ea"/>
              </a:endParaRPr>
            </a:p>
          </p:txBody>
        </p:sp>
        <p:grpSp>
          <p:nvGrpSpPr>
            <p:cNvPr id="67" name="Group 66">
              <a:extLst>
                <a:ext uri="{FF2B5EF4-FFF2-40B4-BE49-F238E27FC236}">
                  <a16:creationId xmlns:a16="http://schemas.microsoft.com/office/drawing/2014/main" id="{4CECF917-BBA7-4276-4F0F-08C7BC6AAEB0}"/>
                </a:ext>
              </a:extLst>
            </p:cNvPr>
            <p:cNvGrpSpPr/>
            <p:nvPr/>
          </p:nvGrpSpPr>
          <p:grpSpPr>
            <a:xfrm>
              <a:off x="4296262" y="4891875"/>
              <a:ext cx="402354" cy="483993"/>
              <a:chOff x="3007621" y="5554699"/>
              <a:chExt cx="402354" cy="483993"/>
            </a:xfrm>
          </p:grpSpPr>
          <p:sp>
            <p:nvSpPr>
              <p:cNvPr id="76" name="Star: 5 Points 75">
                <a:extLst>
                  <a:ext uri="{FF2B5EF4-FFF2-40B4-BE49-F238E27FC236}">
                    <a16:creationId xmlns:a16="http://schemas.microsoft.com/office/drawing/2014/main" id="{AB82CD94-FF23-2A6F-0074-26DA4E708240}"/>
                  </a:ext>
                </a:extLst>
              </p:cNvPr>
              <p:cNvSpPr/>
              <p:nvPr/>
            </p:nvSpPr>
            <p:spPr bwMode="gray">
              <a:xfrm>
                <a:off x="3149008"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7" name="TextBox 76">
                <a:extLst>
                  <a:ext uri="{FF2B5EF4-FFF2-40B4-BE49-F238E27FC236}">
                    <a16:creationId xmlns:a16="http://schemas.microsoft.com/office/drawing/2014/main" id="{06ABEE1D-9944-C7DF-09E6-E4FD90A0DA4B}"/>
                  </a:ext>
                </a:extLst>
              </p:cNvPr>
              <p:cNvSpPr txBox="1"/>
              <p:nvPr/>
            </p:nvSpPr>
            <p:spPr bwMode="gray">
              <a:xfrm>
                <a:off x="3113418" y="5900449"/>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78" name="TextBox 77">
                <a:extLst>
                  <a:ext uri="{FF2B5EF4-FFF2-40B4-BE49-F238E27FC236}">
                    <a16:creationId xmlns:a16="http://schemas.microsoft.com/office/drawing/2014/main" id="{2203CDFD-0B53-1801-A3A3-78E6728E733A}"/>
                  </a:ext>
                </a:extLst>
              </p:cNvPr>
              <p:cNvSpPr txBox="1"/>
              <p:nvPr/>
            </p:nvSpPr>
            <p:spPr bwMode="gray">
              <a:xfrm>
                <a:off x="3007621" y="5554699"/>
                <a:ext cx="402354" cy="138243"/>
              </a:xfrm>
              <a:prstGeom prst="rect">
                <a:avLst/>
              </a:prstGeom>
              <a:noFill/>
            </p:spPr>
            <p:txBody>
              <a:bodyPr wrap="none" lIns="0" tIns="0" rIns="0" bIns="0" rtlCol="0">
                <a:spAutoFit/>
              </a:bodyPr>
              <a:lstStyle/>
              <a:p>
                <a:pPr algn="ctr">
                  <a:lnSpc>
                    <a:spcPct val="140000"/>
                  </a:lnSpc>
                </a:pPr>
                <a:r>
                  <a:rPr lang="en-US" altLang="zh-CN" sz="700" b="1">
                    <a:solidFill>
                      <a:schemeClr val="bg2"/>
                    </a:solidFill>
                  </a:rPr>
                  <a:t>Feb</a:t>
                </a:r>
                <a:r>
                  <a:rPr lang="en-US" sz="700" b="1">
                    <a:solidFill>
                      <a:schemeClr val="bg2"/>
                    </a:solidFill>
                  </a:rPr>
                  <a:t> 2025</a:t>
                </a:r>
              </a:p>
            </p:txBody>
          </p:sp>
        </p:grpSp>
        <p:grpSp>
          <p:nvGrpSpPr>
            <p:cNvPr id="68" name="Group 67">
              <a:extLst>
                <a:ext uri="{FF2B5EF4-FFF2-40B4-BE49-F238E27FC236}">
                  <a16:creationId xmlns:a16="http://schemas.microsoft.com/office/drawing/2014/main" id="{51B47BD0-236D-3EA7-0B11-2BAF93B0D180}"/>
                </a:ext>
              </a:extLst>
            </p:cNvPr>
            <p:cNvGrpSpPr/>
            <p:nvPr/>
          </p:nvGrpSpPr>
          <p:grpSpPr>
            <a:xfrm>
              <a:off x="5144206" y="4903011"/>
              <a:ext cx="379912" cy="596819"/>
              <a:chOff x="5144206" y="4903011"/>
              <a:chExt cx="379912" cy="596819"/>
            </a:xfrm>
          </p:grpSpPr>
          <p:sp>
            <p:nvSpPr>
              <p:cNvPr id="73" name="TextBox 72">
                <a:extLst>
                  <a:ext uri="{FF2B5EF4-FFF2-40B4-BE49-F238E27FC236}">
                    <a16:creationId xmlns:a16="http://schemas.microsoft.com/office/drawing/2014/main" id="{7E9D2EB1-584E-6481-53F9-0B3C4ACF792B}"/>
                  </a:ext>
                </a:extLst>
              </p:cNvPr>
              <p:cNvSpPr txBox="1"/>
              <p:nvPr/>
            </p:nvSpPr>
            <p:spPr bwMode="gray">
              <a:xfrm>
                <a:off x="5144206" y="4903011"/>
                <a:ext cx="379912" cy="138243"/>
              </a:xfrm>
              <a:prstGeom prst="rect">
                <a:avLst/>
              </a:prstGeom>
              <a:noFill/>
            </p:spPr>
            <p:txBody>
              <a:bodyPr wrap="none" lIns="0" tIns="0" rIns="0" bIns="0" rtlCol="0">
                <a:spAutoFit/>
              </a:bodyPr>
              <a:lstStyle/>
              <a:p>
                <a:pPr algn="ctr">
                  <a:lnSpc>
                    <a:spcPct val="140000"/>
                  </a:lnSpc>
                </a:pPr>
                <a:r>
                  <a:rPr lang="en-US" sz="700" b="1">
                    <a:solidFill>
                      <a:schemeClr val="bg2"/>
                    </a:solidFill>
                  </a:rPr>
                  <a:t>Jul 2025</a:t>
                </a:r>
              </a:p>
            </p:txBody>
          </p:sp>
          <p:sp>
            <p:nvSpPr>
              <p:cNvPr id="74" name="Star: 4 Points 73">
                <a:extLst>
                  <a:ext uri="{FF2B5EF4-FFF2-40B4-BE49-F238E27FC236}">
                    <a16:creationId xmlns:a16="http://schemas.microsoft.com/office/drawing/2014/main" id="{5613930B-B2B1-F3CC-72B7-6013A65C0DE2}"/>
                  </a:ext>
                </a:extLst>
              </p:cNvPr>
              <p:cNvSpPr/>
              <p:nvPr/>
            </p:nvSpPr>
            <p:spPr bwMode="gray">
              <a:xfrm>
                <a:off x="5258062" y="5184288"/>
                <a:ext cx="164900" cy="164900"/>
              </a:xfrm>
              <a:prstGeom prst="star4">
                <a:avLst/>
              </a:prstGeom>
              <a:solidFill>
                <a:srgbClr val="EE6541"/>
              </a:solidFill>
              <a:ln w="635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75" name="TextBox 74">
                <a:extLst>
                  <a:ext uri="{FF2B5EF4-FFF2-40B4-BE49-F238E27FC236}">
                    <a16:creationId xmlns:a16="http://schemas.microsoft.com/office/drawing/2014/main" id="{4F7959D9-37CD-EC03-9975-5BB7C8199799}"/>
                  </a:ext>
                </a:extLst>
              </p:cNvPr>
              <p:cNvSpPr txBox="1"/>
              <p:nvPr/>
            </p:nvSpPr>
            <p:spPr bwMode="gray">
              <a:xfrm>
                <a:off x="5199447" y="5361587"/>
                <a:ext cx="282130" cy="138243"/>
              </a:xfrm>
              <a:prstGeom prst="rect">
                <a:avLst/>
              </a:prstGeom>
              <a:noFill/>
            </p:spPr>
            <p:txBody>
              <a:bodyPr wrap="none" lIns="0" tIns="0" rIns="0" bIns="0" rtlCol="0">
                <a:spAutoFit/>
              </a:bodyPr>
              <a:lstStyle/>
              <a:p>
                <a:pPr algn="ctr">
                  <a:lnSpc>
                    <a:spcPct val="140000"/>
                  </a:lnSpc>
                </a:pPr>
                <a:r>
                  <a:rPr lang="en-US" sz="700" b="1">
                    <a:solidFill>
                      <a:schemeClr val="bg2"/>
                    </a:solidFill>
                  </a:rPr>
                  <a:t>1</a:t>
                </a:r>
                <a:r>
                  <a:rPr lang="en-US" sz="700" b="1" baseline="30000">
                    <a:solidFill>
                      <a:schemeClr val="bg2"/>
                    </a:solidFill>
                  </a:rPr>
                  <a:t>st</a:t>
                </a:r>
                <a:r>
                  <a:rPr lang="en-US" sz="700" b="1">
                    <a:solidFill>
                      <a:schemeClr val="bg2"/>
                    </a:solidFill>
                  </a:rPr>
                  <a:t> SIV</a:t>
                </a:r>
              </a:p>
            </p:txBody>
          </p:sp>
        </p:grpSp>
        <p:grpSp>
          <p:nvGrpSpPr>
            <p:cNvPr id="69" name="Group 68">
              <a:extLst>
                <a:ext uri="{FF2B5EF4-FFF2-40B4-BE49-F238E27FC236}">
                  <a16:creationId xmlns:a16="http://schemas.microsoft.com/office/drawing/2014/main" id="{E17F8E34-DDAB-90E5-C899-72684B6F3AE6}"/>
                </a:ext>
              </a:extLst>
            </p:cNvPr>
            <p:cNvGrpSpPr/>
            <p:nvPr/>
          </p:nvGrpSpPr>
          <p:grpSpPr>
            <a:xfrm>
              <a:off x="3725335" y="4903010"/>
              <a:ext cx="487313" cy="626094"/>
              <a:chOff x="2213536" y="5563408"/>
              <a:chExt cx="487313" cy="626094"/>
            </a:xfrm>
          </p:grpSpPr>
          <p:sp>
            <p:nvSpPr>
              <p:cNvPr id="70" name="Star: 5 Points 69">
                <a:extLst>
                  <a:ext uri="{FF2B5EF4-FFF2-40B4-BE49-F238E27FC236}">
                    <a16:creationId xmlns:a16="http://schemas.microsoft.com/office/drawing/2014/main" id="{EFA564E2-147B-FE2B-0F78-9D5D312B8E73}"/>
                  </a:ext>
                </a:extLst>
              </p:cNvPr>
              <p:cNvSpPr/>
              <p:nvPr/>
            </p:nvSpPr>
            <p:spPr bwMode="gray">
              <a:xfrm>
                <a:off x="2397403"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1" name="TextBox 70">
                <a:extLst>
                  <a:ext uri="{FF2B5EF4-FFF2-40B4-BE49-F238E27FC236}">
                    <a16:creationId xmlns:a16="http://schemas.microsoft.com/office/drawing/2014/main" id="{F161F5E7-7717-B8E1-E85E-5DC030CE11FF}"/>
                  </a:ext>
                </a:extLst>
              </p:cNvPr>
              <p:cNvSpPr txBox="1"/>
              <p:nvPr/>
            </p:nvSpPr>
            <p:spPr bwMode="gray">
              <a:xfrm>
                <a:off x="2213536" y="5900449"/>
                <a:ext cx="487313" cy="289053"/>
              </a:xfrm>
              <a:prstGeom prst="rect">
                <a:avLst/>
              </a:prstGeom>
              <a:noFill/>
            </p:spPr>
            <p:txBody>
              <a:bodyPr wrap="none" lIns="0" tIns="0" rIns="0" bIns="0" rtlCol="0">
                <a:spAutoFit/>
              </a:bodyPr>
              <a:lstStyle/>
              <a:p>
                <a:pPr algn="ctr">
                  <a:lnSpc>
                    <a:spcPct val="140000"/>
                  </a:lnSpc>
                </a:pPr>
                <a:r>
                  <a:rPr lang="en-US" sz="700" b="1">
                    <a:solidFill>
                      <a:schemeClr val="bg2"/>
                    </a:solidFill>
                  </a:rPr>
                  <a:t>EoP2 HAI</a:t>
                </a:r>
              </a:p>
              <a:p>
                <a:pPr algn="ctr">
                  <a:lnSpc>
                    <a:spcPct val="140000"/>
                  </a:lnSpc>
                </a:pPr>
                <a:r>
                  <a:rPr lang="en-US" sz="700" b="1">
                    <a:solidFill>
                      <a:schemeClr val="bg2"/>
                    </a:solidFill>
                  </a:rPr>
                  <a:t>Req. </a:t>
                </a:r>
                <a:r>
                  <a:rPr lang="en-US" sz="700" b="1" err="1">
                    <a:solidFill>
                      <a:schemeClr val="bg2"/>
                    </a:solidFill>
                  </a:rPr>
                  <a:t>Subm</a:t>
                </a:r>
                <a:r>
                  <a:rPr lang="en-US" sz="700" b="1">
                    <a:solidFill>
                      <a:schemeClr val="bg2"/>
                    </a:solidFill>
                  </a:rPr>
                  <a:t>.</a:t>
                </a:r>
              </a:p>
            </p:txBody>
          </p:sp>
          <p:sp>
            <p:nvSpPr>
              <p:cNvPr id="72" name="TextBox 71">
                <a:extLst>
                  <a:ext uri="{FF2B5EF4-FFF2-40B4-BE49-F238E27FC236}">
                    <a16:creationId xmlns:a16="http://schemas.microsoft.com/office/drawing/2014/main" id="{1D6952B5-46B2-420C-8221-EB844D1E5B8C}"/>
                  </a:ext>
                </a:extLst>
              </p:cNvPr>
              <p:cNvSpPr txBox="1"/>
              <p:nvPr/>
            </p:nvSpPr>
            <p:spPr bwMode="gray">
              <a:xfrm>
                <a:off x="2250406" y="5563408"/>
                <a:ext cx="413575" cy="138243"/>
              </a:xfrm>
              <a:prstGeom prst="rect">
                <a:avLst/>
              </a:prstGeom>
              <a:noFill/>
            </p:spPr>
            <p:txBody>
              <a:bodyPr wrap="none" lIns="0" tIns="0" rIns="0" bIns="0" rtlCol="0">
                <a:spAutoFit/>
              </a:bodyPr>
              <a:lstStyle/>
              <a:p>
                <a:pPr algn="ctr">
                  <a:lnSpc>
                    <a:spcPct val="140000"/>
                  </a:lnSpc>
                </a:pPr>
                <a:r>
                  <a:rPr lang="en-US" sz="700" b="1">
                    <a:solidFill>
                      <a:schemeClr val="bg2"/>
                    </a:solidFill>
                  </a:rPr>
                  <a:t>Sep 2024</a:t>
                </a:r>
              </a:p>
            </p:txBody>
          </p:sp>
        </p:grpSp>
      </p:grpSp>
      <p:grpSp>
        <p:nvGrpSpPr>
          <p:cNvPr id="79" name="Group 78">
            <a:extLst>
              <a:ext uri="{FF2B5EF4-FFF2-40B4-BE49-F238E27FC236}">
                <a16:creationId xmlns:a16="http://schemas.microsoft.com/office/drawing/2014/main" id="{C98B4AA0-AC11-164B-F8EA-E3BB9ED9AA28}"/>
              </a:ext>
            </a:extLst>
          </p:cNvPr>
          <p:cNvGrpSpPr/>
          <p:nvPr/>
        </p:nvGrpSpPr>
        <p:grpSpPr>
          <a:xfrm>
            <a:off x="11311744" y="2983008"/>
            <a:ext cx="670055" cy="693541"/>
            <a:chOff x="11017556" y="5074208"/>
            <a:chExt cx="670055" cy="693541"/>
          </a:xfrm>
        </p:grpSpPr>
        <p:sp>
          <p:nvSpPr>
            <p:cNvPr id="81" name="TextBox 80">
              <a:extLst>
                <a:ext uri="{FF2B5EF4-FFF2-40B4-BE49-F238E27FC236}">
                  <a16:creationId xmlns:a16="http://schemas.microsoft.com/office/drawing/2014/main" id="{680D149B-AD54-4992-E8E9-1A3BF7C3984F}"/>
                </a:ext>
              </a:extLst>
            </p:cNvPr>
            <p:cNvSpPr txBox="1"/>
            <p:nvPr/>
          </p:nvSpPr>
          <p:spPr bwMode="gray">
            <a:xfrm>
              <a:off x="11017556" y="5629506"/>
              <a:ext cx="6700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China Approval</a:t>
              </a:r>
            </a:p>
          </p:txBody>
        </p:sp>
        <p:sp>
          <p:nvSpPr>
            <p:cNvPr id="82" name="TextBox 81">
              <a:extLst>
                <a:ext uri="{FF2B5EF4-FFF2-40B4-BE49-F238E27FC236}">
                  <a16:creationId xmlns:a16="http://schemas.microsoft.com/office/drawing/2014/main" id="{AFB4A9D1-ECC0-B7F7-6D55-3EFBC71C64A5}"/>
                </a:ext>
              </a:extLst>
            </p:cNvPr>
            <p:cNvSpPr txBox="1"/>
            <p:nvPr/>
          </p:nvSpPr>
          <p:spPr bwMode="gray">
            <a:xfrm>
              <a:off x="11030292" y="5074208"/>
              <a:ext cx="647614" cy="289053"/>
            </a:xfrm>
            <a:prstGeom prst="rect">
              <a:avLst/>
            </a:prstGeom>
            <a:noFill/>
          </p:spPr>
          <p:txBody>
            <a:bodyPr wrap="none" lIns="0" tIns="0" rIns="0" bIns="0" rtlCol="0">
              <a:spAutoFit/>
            </a:bodyPr>
            <a:lstStyle/>
            <a:p>
              <a:pPr algn="ctr">
                <a:lnSpc>
                  <a:spcPct val="140000"/>
                </a:lnSpc>
              </a:pPr>
              <a:r>
                <a:rPr lang="en-US" sz="700" b="1">
                  <a:solidFill>
                    <a:schemeClr val="bg2"/>
                  </a:solidFill>
                </a:rPr>
                <a:t>Best: Mar2030</a:t>
              </a:r>
            </a:p>
            <a:p>
              <a:pPr algn="ctr">
                <a:lnSpc>
                  <a:spcPct val="140000"/>
                </a:lnSpc>
              </a:pPr>
              <a:r>
                <a:rPr lang="en-US" sz="700" b="1">
                  <a:solidFill>
                    <a:schemeClr val="bg2"/>
                  </a:solidFill>
                </a:rPr>
                <a:t>Base: Sep2030</a:t>
              </a:r>
            </a:p>
          </p:txBody>
        </p:sp>
      </p:grpSp>
      <p:sp>
        <p:nvSpPr>
          <p:cNvPr id="83" name="TextBox 82">
            <a:extLst>
              <a:ext uri="{FF2B5EF4-FFF2-40B4-BE49-F238E27FC236}">
                <a16:creationId xmlns:a16="http://schemas.microsoft.com/office/drawing/2014/main" id="{3A80898D-5599-B6C3-BFBC-231BEE842938}"/>
              </a:ext>
            </a:extLst>
          </p:cNvPr>
          <p:cNvSpPr txBox="1"/>
          <p:nvPr/>
        </p:nvSpPr>
        <p:spPr>
          <a:xfrm>
            <a:off x="56497" y="3047629"/>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1397-0014</a:t>
            </a:r>
          </a:p>
        </p:txBody>
      </p:sp>
      <p:cxnSp>
        <p:nvCxnSpPr>
          <p:cNvPr id="88" name="Straight Connector 87">
            <a:extLst>
              <a:ext uri="{FF2B5EF4-FFF2-40B4-BE49-F238E27FC236}">
                <a16:creationId xmlns:a16="http://schemas.microsoft.com/office/drawing/2014/main" id="{B4D89F61-5570-990C-6A3E-8BC4D9552BB5}"/>
              </a:ext>
            </a:extLst>
          </p:cNvPr>
          <p:cNvCxnSpPr>
            <a:cxnSpLocks/>
          </p:cNvCxnSpPr>
          <p:nvPr/>
        </p:nvCxnSpPr>
        <p:spPr bwMode="auto">
          <a:xfrm flipV="1">
            <a:off x="5715288" y="1474828"/>
            <a:ext cx="0" cy="4877818"/>
          </a:xfrm>
          <a:prstGeom prst="line">
            <a:avLst/>
          </a:prstGeom>
          <a:solidFill>
            <a:schemeClr val="accent1"/>
          </a:solidFill>
          <a:ln w="12700" cap="flat" cmpd="sng" algn="ctr">
            <a:solidFill>
              <a:srgbClr val="FF0000"/>
            </a:solidFill>
            <a:prstDash val="lgDashDotDot"/>
            <a:round/>
            <a:headEnd type="none" w="med" len="med"/>
            <a:tailEnd type="none" w="med" len="med"/>
          </a:ln>
          <a:effectLst/>
        </p:spPr>
      </p:cxnSp>
      <p:sp>
        <p:nvSpPr>
          <p:cNvPr id="89" name="TextBox 88">
            <a:extLst>
              <a:ext uri="{FF2B5EF4-FFF2-40B4-BE49-F238E27FC236}">
                <a16:creationId xmlns:a16="http://schemas.microsoft.com/office/drawing/2014/main" id="{98E690C4-81B7-74A9-65B8-7F21698F4661}"/>
              </a:ext>
            </a:extLst>
          </p:cNvPr>
          <p:cNvSpPr txBox="1"/>
          <p:nvPr/>
        </p:nvSpPr>
        <p:spPr bwMode="gray">
          <a:xfrm>
            <a:off x="5352867" y="6396486"/>
            <a:ext cx="764632" cy="207301"/>
          </a:xfrm>
          <a:prstGeom prst="rect">
            <a:avLst/>
          </a:prstGeom>
          <a:noFill/>
        </p:spPr>
        <p:txBody>
          <a:bodyPr wrap="none" lIns="0" tIns="0" rIns="0" bIns="0" rtlCol="0">
            <a:spAutoFit/>
          </a:bodyPr>
          <a:lstStyle/>
          <a:p>
            <a:pPr algn="ctr">
              <a:lnSpc>
                <a:spcPct val="140000"/>
              </a:lnSpc>
            </a:pPr>
            <a:r>
              <a:rPr lang="en-US" sz="1050" b="1">
                <a:solidFill>
                  <a:srgbClr val="FF0000"/>
                </a:solidFill>
              </a:rPr>
              <a:t>we are here</a:t>
            </a:r>
          </a:p>
        </p:txBody>
      </p:sp>
      <p:pic>
        <p:nvPicPr>
          <p:cNvPr id="102" name="Picture 101">
            <a:extLst>
              <a:ext uri="{FF2B5EF4-FFF2-40B4-BE49-F238E27FC236}">
                <a16:creationId xmlns:a16="http://schemas.microsoft.com/office/drawing/2014/main" id="{376FE3C3-2095-A942-47DB-0C09FE22371C}"/>
              </a:ext>
            </a:extLst>
          </p:cNvPr>
          <p:cNvPicPr>
            <a:picLocks noChangeAspect="1"/>
          </p:cNvPicPr>
          <p:nvPr/>
        </p:nvPicPr>
        <p:blipFill>
          <a:blip r:embed="rId8"/>
          <a:srcRect t="992" b="4795"/>
          <a:stretch/>
        </p:blipFill>
        <p:spPr>
          <a:xfrm>
            <a:off x="2358161" y="2845950"/>
            <a:ext cx="1225456" cy="479136"/>
          </a:xfrm>
          <a:prstGeom prst="rect">
            <a:avLst/>
          </a:prstGeom>
          <a:noFill/>
        </p:spPr>
      </p:pic>
      <p:sp>
        <p:nvSpPr>
          <p:cNvPr id="103" name="OTLSHAPE_T_5a934a26f311425e8ebaa0f45e6533ad_Shape">
            <a:extLst>
              <a:ext uri="{FF2B5EF4-FFF2-40B4-BE49-F238E27FC236}">
                <a16:creationId xmlns:a16="http://schemas.microsoft.com/office/drawing/2014/main" id="{7DA0F9E1-ECD4-7433-013C-D106541A2718}"/>
              </a:ext>
            </a:extLst>
          </p:cNvPr>
          <p:cNvSpPr/>
          <p:nvPr/>
        </p:nvSpPr>
        <p:spPr bwMode="auto">
          <a:xfrm>
            <a:off x="7549815" y="3334929"/>
            <a:ext cx="4512789" cy="223576"/>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33" b="1">
                <a:solidFill>
                  <a:srgbClr val="000000"/>
                </a:solidFill>
                <a:latin typeface="Calibri" panose="020F0502020204030204" pitchFamily="34" charset="0"/>
                <a:cs typeface="Calibri" panose="020F0502020204030204" pitchFamily="34" charset="0"/>
              </a:rPr>
              <a:t>1397-0018 Phase 3 </a:t>
            </a:r>
            <a:r>
              <a:rPr lang="en-US" altLang="zh-CN" sz="933" b="1" err="1">
                <a:solidFill>
                  <a:srgbClr val="000000"/>
                </a:solidFill>
                <a:latin typeface="Calibri" panose="020F0502020204030204" pitchFamily="34" charset="0"/>
                <a:cs typeface="Calibri" panose="020F0502020204030204" pitchFamily="34" charset="0"/>
              </a:rPr>
              <a:t>nCFB</a:t>
            </a:r>
            <a:r>
              <a:rPr lang="en-US" altLang="zh-CN" sz="933" b="1">
                <a:solidFill>
                  <a:srgbClr val="000000"/>
                </a:solidFill>
                <a:latin typeface="Calibri" panose="020F0502020204030204" pitchFamily="34" charset="0"/>
                <a:cs typeface="Calibri" panose="020F0502020204030204" pitchFamily="34" charset="0"/>
              </a:rPr>
              <a:t>+/- CFB roll-over study </a:t>
            </a:r>
          </a:p>
        </p:txBody>
      </p:sp>
      <p:sp>
        <p:nvSpPr>
          <p:cNvPr id="104" name="TextBox 9">
            <a:extLst>
              <a:ext uri="{FF2B5EF4-FFF2-40B4-BE49-F238E27FC236}">
                <a16:creationId xmlns:a16="http://schemas.microsoft.com/office/drawing/2014/main" id="{6AEDFEFE-ECF0-FC63-4C28-48DF70843339}"/>
              </a:ext>
            </a:extLst>
          </p:cNvPr>
          <p:cNvSpPr txBox="1"/>
          <p:nvPr/>
        </p:nvSpPr>
        <p:spPr>
          <a:xfrm>
            <a:off x="56497" y="3398600"/>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1397-0018</a:t>
            </a:r>
          </a:p>
        </p:txBody>
      </p:sp>
      <p:pic>
        <p:nvPicPr>
          <p:cNvPr id="8" name="Graphic 7" descr="Flag with solid fill">
            <a:extLst>
              <a:ext uri="{FF2B5EF4-FFF2-40B4-BE49-F238E27FC236}">
                <a16:creationId xmlns:a16="http://schemas.microsoft.com/office/drawing/2014/main" id="{66734390-A9BA-FB59-C317-CF893C21F6E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47900" y="3356501"/>
            <a:ext cx="197742" cy="197742"/>
          </a:xfrm>
          <a:prstGeom prst="rect">
            <a:avLst/>
          </a:prstGeom>
        </p:spPr>
      </p:pic>
      <p:sp>
        <p:nvSpPr>
          <p:cNvPr id="80" name="TextBox 11">
            <a:extLst>
              <a:ext uri="{FF2B5EF4-FFF2-40B4-BE49-F238E27FC236}">
                <a16:creationId xmlns:a16="http://schemas.microsoft.com/office/drawing/2014/main" id="{B6C7F547-8890-2FDF-C13F-2EBB60DE629C}"/>
              </a:ext>
            </a:extLst>
          </p:cNvPr>
          <p:cNvSpPr txBox="1"/>
          <p:nvPr/>
        </p:nvSpPr>
        <p:spPr bwMode="gray">
          <a:xfrm>
            <a:off x="5070636" y="6610299"/>
            <a:ext cx="1289304" cy="217175"/>
          </a:xfrm>
          <a:prstGeom prst="rect">
            <a:avLst/>
          </a:prstGeom>
          <a:noFill/>
          <a:ln>
            <a:noFill/>
          </a:ln>
        </p:spPr>
        <p:txBody>
          <a:bodyPr wrap="square" lIns="0" tIns="0" rIns="0" bIns="0" rtlCol="0" anchor="ctr">
            <a:spAutoFit/>
          </a:bodyPr>
          <a:lstStyle/>
          <a:p>
            <a:pPr algn="ctr">
              <a:lnSpc>
                <a:spcPct val="140000"/>
              </a:lnSpc>
            </a:pPr>
            <a:r>
              <a:rPr lang="en-US" altLang="zh-CN" sz="1100" b="1"/>
              <a:t>Nov </a:t>
            </a:r>
            <a:r>
              <a:rPr lang="en-US" sz="1100" b="1"/>
              <a:t>17, 2025</a:t>
            </a:r>
          </a:p>
        </p:txBody>
      </p:sp>
      <p:sp>
        <p:nvSpPr>
          <p:cNvPr id="85" name="OTLSHAPE_T_5a934a26f311425e8ebaa0f45e6533ad_Shape">
            <a:extLst>
              <a:ext uri="{FF2B5EF4-FFF2-40B4-BE49-F238E27FC236}">
                <a16:creationId xmlns:a16="http://schemas.microsoft.com/office/drawing/2014/main" id="{8B6C2B33-53AC-4E95-A90C-663320EB81A8}"/>
              </a:ext>
            </a:extLst>
          </p:cNvPr>
          <p:cNvSpPr/>
          <p:nvPr/>
        </p:nvSpPr>
        <p:spPr bwMode="auto">
          <a:xfrm>
            <a:off x="5022850" y="4175309"/>
            <a:ext cx="3472005" cy="217176"/>
          </a:xfrm>
          <a:prstGeom prst="roundRect">
            <a:avLst/>
          </a:prstGeom>
          <a:solidFill>
            <a:srgbClr val="07407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1"/>
                </a:solidFill>
                <a:latin typeface="+mn-ea"/>
                <a:cs typeface="Calibri" panose="020F0502020204030204" pitchFamily="34" charset="0"/>
              </a:rPr>
              <a:t>AIRTIVITY 1397-0014 Phase 3</a:t>
            </a:r>
          </a:p>
        </p:txBody>
      </p:sp>
      <p:sp>
        <p:nvSpPr>
          <p:cNvPr id="107" name="TextBox 106">
            <a:extLst>
              <a:ext uri="{FF2B5EF4-FFF2-40B4-BE49-F238E27FC236}">
                <a16:creationId xmlns:a16="http://schemas.microsoft.com/office/drawing/2014/main" id="{2D6BB6FC-59EA-3EA3-2279-6AF710146BB6}"/>
              </a:ext>
            </a:extLst>
          </p:cNvPr>
          <p:cNvSpPr txBox="1"/>
          <p:nvPr/>
        </p:nvSpPr>
        <p:spPr bwMode="gray">
          <a:xfrm>
            <a:off x="4673003" y="4021960"/>
            <a:ext cx="7229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16 Jun 2025 </a:t>
            </a:r>
            <a:r>
              <a:rPr lang="en-US" altLang="zh-CN" sz="700" b="1">
                <a:solidFill>
                  <a:schemeClr val="bg2"/>
                </a:solidFill>
              </a:rPr>
              <a:t>FSS</a:t>
            </a:r>
            <a:endParaRPr lang="en-US" sz="700" b="1">
              <a:solidFill>
                <a:schemeClr val="bg2"/>
              </a:solidFill>
            </a:endParaRPr>
          </a:p>
        </p:txBody>
      </p:sp>
      <p:sp>
        <p:nvSpPr>
          <p:cNvPr id="108" name="TextBox 107">
            <a:extLst>
              <a:ext uri="{FF2B5EF4-FFF2-40B4-BE49-F238E27FC236}">
                <a16:creationId xmlns:a16="http://schemas.microsoft.com/office/drawing/2014/main" id="{2A7BB4D9-92EF-C52E-9C56-7FB2867C262A}"/>
              </a:ext>
            </a:extLst>
          </p:cNvPr>
          <p:cNvSpPr txBox="1"/>
          <p:nvPr/>
        </p:nvSpPr>
        <p:spPr bwMode="gray">
          <a:xfrm>
            <a:off x="7954583" y="4021960"/>
            <a:ext cx="763030" cy="138243"/>
          </a:xfrm>
          <a:prstGeom prst="rect">
            <a:avLst/>
          </a:prstGeom>
          <a:noFill/>
        </p:spPr>
        <p:txBody>
          <a:bodyPr wrap="none" lIns="0" tIns="0" rIns="0" bIns="0" rtlCol="0">
            <a:spAutoFit/>
          </a:bodyPr>
          <a:lstStyle/>
          <a:p>
            <a:pPr algn="ctr">
              <a:lnSpc>
                <a:spcPct val="140000"/>
              </a:lnSpc>
            </a:pPr>
            <a:r>
              <a:rPr lang="en-US" sz="700" b="1">
                <a:solidFill>
                  <a:schemeClr val="bg2"/>
                </a:solidFill>
              </a:rPr>
              <a:t>20 Sep 2027, DBL</a:t>
            </a:r>
          </a:p>
        </p:txBody>
      </p:sp>
      <p:sp>
        <p:nvSpPr>
          <p:cNvPr id="109" name="Star: 5 Points 108">
            <a:extLst>
              <a:ext uri="{FF2B5EF4-FFF2-40B4-BE49-F238E27FC236}">
                <a16:creationId xmlns:a16="http://schemas.microsoft.com/office/drawing/2014/main" id="{B1A620C9-28E8-2022-95A8-1574E5694C83}"/>
              </a:ext>
            </a:extLst>
          </p:cNvPr>
          <p:cNvSpPr/>
          <p:nvPr/>
        </p:nvSpPr>
        <p:spPr bwMode="gray">
          <a:xfrm>
            <a:off x="8965631" y="4175390"/>
            <a:ext cx="119578" cy="119578"/>
          </a:xfrm>
          <a:prstGeom prst="star5">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110" name="TextBox 109">
            <a:extLst>
              <a:ext uri="{FF2B5EF4-FFF2-40B4-BE49-F238E27FC236}">
                <a16:creationId xmlns:a16="http://schemas.microsoft.com/office/drawing/2014/main" id="{F329A954-B91C-A596-6B6A-49A7E66FF2ED}"/>
              </a:ext>
            </a:extLst>
          </p:cNvPr>
          <p:cNvSpPr txBox="1"/>
          <p:nvPr/>
        </p:nvSpPr>
        <p:spPr bwMode="gray">
          <a:xfrm>
            <a:off x="8988915" y="4358220"/>
            <a:ext cx="559449" cy="138243"/>
          </a:xfrm>
          <a:prstGeom prst="rect">
            <a:avLst/>
          </a:prstGeom>
          <a:noFill/>
        </p:spPr>
        <p:txBody>
          <a:bodyPr wrap="none" lIns="0" tIns="0" rIns="0" bIns="0" rtlCol="0">
            <a:spAutoFit/>
          </a:bodyPr>
          <a:lstStyle/>
          <a:p>
            <a:pPr algn="ctr">
              <a:lnSpc>
                <a:spcPct val="140000"/>
              </a:lnSpc>
            </a:pPr>
            <a:r>
              <a:rPr lang="en-US" sz="700" b="1">
                <a:solidFill>
                  <a:schemeClr val="bg2"/>
                </a:solidFill>
              </a:rPr>
              <a:t>US NDA </a:t>
            </a:r>
            <a:r>
              <a:rPr lang="en-US" altLang="zh-CN" sz="700" b="1">
                <a:solidFill>
                  <a:schemeClr val="bg2"/>
                </a:solidFill>
              </a:rPr>
              <a:t>Sub.</a:t>
            </a:r>
            <a:endParaRPr lang="en-US" sz="700" b="1">
              <a:solidFill>
                <a:schemeClr val="bg2"/>
              </a:solidFill>
            </a:endParaRPr>
          </a:p>
        </p:txBody>
      </p:sp>
      <p:sp>
        <p:nvSpPr>
          <p:cNvPr id="111" name="TextBox 110">
            <a:extLst>
              <a:ext uri="{FF2B5EF4-FFF2-40B4-BE49-F238E27FC236}">
                <a16:creationId xmlns:a16="http://schemas.microsoft.com/office/drawing/2014/main" id="{376382DE-501F-E6FA-8733-3DC0DEB7831D}"/>
              </a:ext>
            </a:extLst>
          </p:cNvPr>
          <p:cNvSpPr txBox="1"/>
          <p:nvPr/>
        </p:nvSpPr>
        <p:spPr bwMode="gray">
          <a:xfrm>
            <a:off x="8824242" y="3967440"/>
            <a:ext cx="402354" cy="138243"/>
          </a:xfrm>
          <a:prstGeom prst="rect">
            <a:avLst/>
          </a:prstGeom>
          <a:noFill/>
        </p:spPr>
        <p:txBody>
          <a:bodyPr wrap="none" lIns="0" tIns="0" rIns="0" bIns="0" rtlCol="0">
            <a:spAutoFit/>
          </a:bodyPr>
          <a:lstStyle/>
          <a:p>
            <a:pPr algn="ctr">
              <a:lnSpc>
                <a:spcPct val="140000"/>
              </a:lnSpc>
            </a:pPr>
            <a:r>
              <a:rPr lang="en-US" sz="700" b="1">
                <a:solidFill>
                  <a:schemeClr val="bg2"/>
                </a:solidFill>
              </a:rPr>
              <a:t>Feb 2028</a:t>
            </a:r>
          </a:p>
        </p:txBody>
      </p:sp>
      <p:pic>
        <p:nvPicPr>
          <p:cNvPr id="112" name="Graphic 111" descr="Flag with solid fill">
            <a:extLst>
              <a:ext uri="{FF2B5EF4-FFF2-40B4-BE49-F238E27FC236}">
                <a16:creationId xmlns:a16="http://schemas.microsoft.com/office/drawing/2014/main" id="{82741519-3AE8-5657-A41A-BA7D05E51A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35419" y="4164883"/>
            <a:ext cx="197742" cy="197742"/>
          </a:xfrm>
          <a:prstGeom prst="rect">
            <a:avLst/>
          </a:prstGeom>
        </p:spPr>
      </p:pic>
      <p:sp>
        <p:nvSpPr>
          <p:cNvPr id="113" name="TextBox 112">
            <a:extLst>
              <a:ext uri="{FF2B5EF4-FFF2-40B4-BE49-F238E27FC236}">
                <a16:creationId xmlns:a16="http://schemas.microsoft.com/office/drawing/2014/main" id="{93E2D533-37C6-04F5-5529-54FB0B783494}"/>
              </a:ext>
            </a:extLst>
          </p:cNvPr>
          <p:cNvSpPr txBox="1"/>
          <p:nvPr/>
        </p:nvSpPr>
        <p:spPr bwMode="gray">
          <a:xfrm>
            <a:off x="10032966" y="4342625"/>
            <a:ext cx="1040704" cy="138243"/>
          </a:xfrm>
          <a:prstGeom prst="rect">
            <a:avLst/>
          </a:prstGeom>
          <a:noFill/>
        </p:spPr>
        <p:txBody>
          <a:bodyPr wrap="square" lIns="0" tIns="0" rIns="0" bIns="0" rtlCol="0">
            <a:spAutoFit/>
          </a:bodyPr>
          <a:lstStyle/>
          <a:p>
            <a:pPr algn="ctr">
              <a:lnSpc>
                <a:spcPct val="140000"/>
              </a:lnSpc>
            </a:pPr>
            <a:r>
              <a:rPr lang="en-US" sz="700" b="1">
                <a:solidFill>
                  <a:schemeClr val="bg2"/>
                </a:solidFill>
              </a:rPr>
              <a:t>US Approval</a:t>
            </a:r>
          </a:p>
        </p:txBody>
      </p:sp>
      <p:sp>
        <p:nvSpPr>
          <p:cNvPr id="114" name="TextBox 113">
            <a:extLst>
              <a:ext uri="{FF2B5EF4-FFF2-40B4-BE49-F238E27FC236}">
                <a16:creationId xmlns:a16="http://schemas.microsoft.com/office/drawing/2014/main" id="{5AAEBB38-6F79-F983-6D09-66155DFB48B5}"/>
              </a:ext>
            </a:extLst>
          </p:cNvPr>
          <p:cNvSpPr txBox="1"/>
          <p:nvPr/>
        </p:nvSpPr>
        <p:spPr bwMode="gray">
          <a:xfrm>
            <a:off x="10266338" y="3985579"/>
            <a:ext cx="424796" cy="138243"/>
          </a:xfrm>
          <a:prstGeom prst="rect">
            <a:avLst/>
          </a:prstGeom>
          <a:noFill/>
        </p:spPr>
        <p:txBody>
          <a:bodyPr wrap="none" lIns="0" tIns="0" rIns="0" bIns="0" rtlCol="0">
            <a:spAutoFit/>
          </a:bodyPr>
          <a:lstStyle/>
          <a:p>
            <a:pPr algn="ctr">
              <a:lnSpc>
                <a:spcPct val="140000"/>
              </a:lnSpc>
            </a:pPr>
            <a:r>
              <a:rPr lang="en-US" sz="700" b="1">
                <a:solidFill>
                  <a:schemeClr val="bg2"/>
                </a:solidFill>
              </a:rPr>
              <a:t>Oct 2028 </a:t>
            </a:r>
          </a:p>
        </p:txBody>
      </p:sp>
      <p:sp>
        <p:nvSpPr>
          <p:cNvPr id="117" name="Star: 5 Points 116">
            <a:extLst>
              <a:ext uri="{FF2B5EF4-FFF2-40B4-BE49-F238E27FC236}">
                <a16:creationId xmlns:a16="http://schemas.microsoft.com/office/drawing/2014/main" id="{555076F9-DE62-3040-30D4-F458A5C1CCF1}"/>
              </a:ext>
            </a:extLst>
          </p:cNvPr>
          <p:cNvSpPr/>
          <p:nvPr/>
        </p:nvSpPr>
        <p:spPr bwMode="gray">
          <a:xfrm>
            <a:off x="8975156" y="4937390"/>
            <a:ext cx="119578" cy="119578"/>
          </a:xfrm>
          <a:prstGeom prst="star5">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118" name="TextBox 117">
            <a:extLst>
              <a:ext uri="{FF2B5EF4-FFF2-40B4-BE49-F238E27FC236}">
                <a16:creationId xmlns:a16="http://schemas.microsoft.com/office/drawing/2014/main" id="{4271CE1D-7DE1-D7F6-9E1D-5B7221299075}"/>
              </a:ext>
            </a:extLst>
          </p:cNvPr>
          <p:cNvSpPr txBox="1"/>
          <p:nvPr/>
        </p:nvSpPr>
        <p:spPr bwMode="gray">
          <a:xfrm>
            <a:off x="8994491" y="5100593"/>
            <a:ext cx="687689" cy="138243"/>
          </a:xfrm>
          <a:prstGeom prst="rect">
            <a:avLst/>
          </a:prstGeom>
          <a:noFill/>
        </p:spPr>
        <p:txBody>
          <a:bodyPr wrap="none" lIns="0" tIns="0" rIns="0" bIns="0" rtlCol="0">
            <a:spAutoFit/>
          </a:bodyPr>
          <a:lstStyle/>
          <a:p>
            <a:pPr algn="ctr">
              <a:lnSpc>
                <a:spcPct val="140000"/>
              </a:lnSpc>
            </a:pPr>
            <a:r>
              <a:rPr lang="en-US" sz="700" b="1">
                <a:solidFill>
                  <a:schemeClr val="bg2"/>
                </a:solidFill>
              </a:rPr>
              <a:t>China NDA Sub.</a:t>
            </a:r>
          </a:p>
        </p:txBody>
      </p:sp>
      <p:sp>
        <p:nvSpPr>
          <p:cNvPr id="119" name="TextBox 118">
            <a:extLst>
              <a:ext uri="{FF2B5EF4-FFF2-40B4-BE49-F238E27FC236}">
                <a16:creationId xmlns:a16="http://schemas.microsoft.com/office/drawing/2014/main" id="{84D55971-548C-1DD9-0F01-490F6585A167}"/>
              </a:ext>
            </a:extLst>
          </p:cNvPr>
          <p:cNvSpPr txBox="1"/>
          <p:nvPr/>
        </p:nvSpPr>
        <p:spPr bwMode="gray">
          <a:xfrm>
            <a:off x="8833767" y="4700865"/>
            <a:ext cx="402354" cy="138243"/>
          </a:xfrm>
          <a:prstGeom prst="rect">
            <a:avLst/>
          </a:prstGeom>
          <a:noFill/>
        </p:spPr>
        <p:txBody>
          <a:bodyPr wrap="none" lIns="0" tIns="0" rIns="0" bIns="0" rtlCol="0">
            <a:spAutoFit/>
          </a:bodyPr>
          <a:lstStyle/>
          <a:p>
            <a:pPr algn="ctr">
              <a:lnSpc>
                <a:spcPct val="140000"/>
              </a:lnSpc>
            </a:pPr>
            <a:r>
              <a:rPr lang="en-US" sz="700" b="1">
                <a:solidFill>
                  <a:schemeClr val="bg2"/>
                </a:solidFill>
              </a:rPr>
              <a:t>Feb 2028</a:t>
            </a:r>
          </a:p>
        </p:txBody>
      </p:sp>
      <p:pic>
        <p:nvPicPr>
          <p:cNvPr id="120" name="Graphic 119" descr="Flag with solid fill">
            <a:extLst>
              <a:ext uri="{FF2B5EF4-FFF2-40B4-BE49-F238E27FC236}">
                <a16:creationId xmlns:a16="http://schemas.microsoft.com/office/drawing/2014/main" id="{64A69A1F-BBE8-A611-DDCE-E202A0D9BF8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92619" y="4898308"/>
            <a:ext cx="197742" cy="197742"/>
          </a:xfrm>
          <a:prstGeom prst="rect">
            <a:avLst/>
          </a:prstGeom>
        </p:spPr>
      </p:pic>
      <p:sp>
        <p:nvSpPr>
          <p:cNvPr id="121" name="TextBox 120">
            <a:extLst>
              <a:ext uri="{FF2B5EF4-FFF2-40B4-BE49-F238E27FC236}">
                <a16:creationId xmlns:a16="http://schemas.microsoft.com/office/drawing/2014/main" id="{50FB93C4-9F54-238E-366B-32EFAE122101}"/>
              </a:ext>
            </a:extLst>
          </p:cNvPr>
          <p:cNvSpPr txBox="1"/>
          <p:nvPr/>
        </p:nvSpPr>
        <p:spPr bwMode="gray">
          <a:xfrm>
            <a:off x="10552470" y="5121001"/>
            <a:ext cx="1422938" cy="138243"/>
          </a:xfrm>
          <a:prstGeom prst="rect">
            <a:avLst/>
          </a:prstGeom>
          <a:noFill/>
        </p:spPr>
        <p:txBody>
          <a:bodyPr wrap="square" lIns="0" tIns="0" rIns="0" bIns="0" rtlCol="0">
            <a:spAutoFit/>
          </a:bodyPr>
          <a:lstStyle/>
          <a:p>
            <a:pPr algn="ctr">
              <a:lnSpc>
                <a:spcPct val="140000"/>
              </a:lnSpc>
            </a:pPr>
            <a:r>
              <a:rPr lang="en-US" sz="700" b="1">
                <a:solidFill>
                  <a:schemeClr val="bg2"/>
                </a:solidFill>
              </a:rPr>
              <a:t>CN Approval (best case)</a:t>
            </a:r>
          </a:p>
        </p:txBody>
      </p:sp>
      <p:sp>
        <p:nvSpPr>
          <p:cNvPr id="122" name="TextBox 121">
            <a:extLst>
              <a:ext uri="{FF2B5EF4-FFF2-40B4-BE49-F238E27FC236}">
                <a16:creationId xmlns:a16="http://schemas.microsoft.com/office/drawing/2014/main" id="{29BE7AEC-3623-C280-2CCF-6045108A1637}"/>
              </a:ext>
            </a:extLst>
          </p:cNvPr>
          <p:cNvSpPr txBox="1"/>
          <p:nvPr/>
        </p:nvSpPr>
        <p:spPr bwMode="gray">
          <a:xfrm>
            <a:off x="10715624" y="4747589"/>
            <a:ext cx="421590" cy="138243"/>
          </a:xfrm>
          <a:prstGeom prst="rect">
            <a:avLst/>
          </a:prstGeom>
          <a:noFill/>
        </p:spPr>
        <p:txBody>
          <a:bodyPr wrap="none" lIns="0" tIns="0" rIns="0" bIns="0" rtlCol="0">
            <a:spAutoFit/>
          </a:bodyPr>
          <a:lstStyle/>
          <a:p>
            <a:pPr algn="ctr">
              <a:lnSpc>
                <a:spcPct val="140000"/>
              </a:lnSpc>
            </a:pPr>
            <a:r>
              <a:rPr lang="en-US" altLang="zh-CN" sz="700" b="1">
                <a:solidFill>
                  <a:srgbClr val="0000FF"/>
                </a:solidFill>
              </a:rPr>
              <a:t>Feb</a:t>
            </a:r>
            <a:r>
              <a:rPr lang="en-US" sz="700" b="1">
                <a:solidFill>
                  <a:srgbClr val="0000FF"/>
                </a:solidFill>
              </a:rPr>
              <a:t> 2029 </a:t>
            </a:r>
          </a:p>
        </p:txBody>
      </p:sp>
      <p:pic>
        <p:nvPicPr>
          <p:cNvPr id="131" name="Graphic 130" descr="Flag with solid fill">
            <a:extLst>
              <a:ext uri="{FF2B5EF4-FFF2-40B4-BE49-F238E27FC236}">
                <a16:creationId xmlns:a16="http://schemas.microsoft.com/office/drawing/2014/main" id="{C8994362-1009-4E95-9E31-7EF03219EC9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035933" y="5434336"/>
            <a:ext cx="197742" cy="197742"/>
          </a:xfrm>
          <a:prstGeom prst="rect">
            <a:avLst/>
          </a:prstGeom>
        </p:spPr>
      </p:pic>
      <p:sp>
        <p:nvSpPr>
          <p:cNvPr id="132" name="TextBox 131">
            <a:extLst>
              <a:ext uri="{FF2B5EF4-FFF2-40B4-BE49-F238E27FC236}">
                <a16:creationId xmlns:a16="http://schemas.microsoft.com/office/drawing/2014/main" id="{99368D9B-28F1-8C98-D742-928B392E7338}"/>
              </a:ext>
            </a:extLst>
          </p:cNvPr>
          <p:cNvSpPr txBox="1"/>
          <p:nvPr/>
        </p:nvSpPr>
        <p:spPr bwMode="gray">
          <a:xfrm>
            <a:off x="11074397" y="5596442"/>
            <a:ext cx="1106073" cy="138243"/>
          </a:xfrm>
          <a:prstGeom prst="rect">
            <a:avLst/>
          </a:prstGeom>
          <a:noFill/>
        </p:spPr>
        <p:txBody>
          <a:bodyPr wrap="none" lIns="0" tIns="0" rIns="0" bIns="0" rtlCol="0">
            <a:spAutoFit/>
          </a:bodyPr>
          <a:lstStyle/>
          <a:p>
            <a:pPr algn="ctr">
              <a:lnSpc>
                <a:spcPct val="140000"/>
              </a:lnSpc>
            </a:pPr>
            <a:r>
              <a:rPr lang="en-US" altLang="zh-CN" sz="700" b="1">
                <a:solidFill>
                  <a:schemeClr val="bg2"/>
                </a:solidFill>
              </a:rPr>
              <a:t>CN Approval </a:t>
            </a:r>
            <a:r>
              <a:rPr lang="en-US" sz="700" b="1">
                <a:solidFill>
                  <a:schemeClr val="bg2"/>
                </a:solidFill>
              </a:rPr>
              <a:t>(base case) </a:t>
            </a:r>
          </a:p>
        </p:txBody>
      </p:sp>
      <p:sp>
        <p:nvSpPr>
          <p:cNvPr id="138" name="TextBox 137">
            <a:extLst>
              <a:ext uri="{FF2B5EF4-FFF2-40B4-BE49-F238E27FC236}">
                <a16:creationId xmlns:a16="http://schemas.microsoft.com/office/drawing/2014/main" id="{8FA60232-3AA4-76D0-39CF-402BBBC92184}"/>
              </a:ext>
            </a:extLst>
          </p:cNvPr>
          <p:cNvSpPr txBox="1"/>
          <p:nvPr/>
        </p:nvSpPr>
        <p:spPr bwMode="gray">
          <a:xfrm>
            <a:off x="11065484" y="5294139"/>
            <a:ext cx="437619" cy="138243"/>
          </a:xfrm>
          <a:prstGeom prst="rect">
            <a:avLst/>
          </a:prstGeom>
          <a:noFill/>
        </p:spPr>
        <p:txBody>
          <a:bodyPr wrap="none" lIns="0" tIns="0" rIns="0" bIns="0" rtlCol="0">
            <a:spAutoFit/>
          </a:bodyPr>
          <a:lstStyle/>
          <a:p>
            <a:pPr algn="ctr">
              <a:lnSpc>
                <a:spcPct val="140000"/>
              </a:lnSpc>
            </a:pPr>
            <a:r>
              <a:rPr lang="en-US" altLang="zh-CN" sz="700" b="1">
                <a:solidFill>
                  <a:srgbClr val="0000FF"/>
                </a:solidFill>
              </a:rPr>
              <a:t>Aug</a:t>
            </a:r>
            <a:r>
              <a:rPr lang="en-US" sz="700" b="1">
                <a:solidFill>
                  <a:srgbClr val="0000FF"/>
                </a:solidFill>
              </a:rPr>
              <a:t> 2029 </a:t>
            </a:r>
          </a:p>
        </p:txBody>
      </p:sp>
      <p:sp>
        <p:nvSpPr>
          <p:cNvPr id="139" name="OTLSHAPE_T_5a934a26f311425e8ebaa0f45e6533ad_Shape">
            <a:extLst>
              <a:ext uri="{FF2B5EF4-FFF2-40B4-BE49-F238E27FC236}">
                <a16:creationId xmlns:a16="http://schemas.microsoft.com/office/drawing/2014/main" id="{F72040B9-8E25-1797-1911-69FEAD821855}"/>
              </a:ext>
            </a:extLst>
          </p:cNvPr>
          <p:cNvSpPr/>
          <p:nvPr/>
        </p:nvSpPr>
        <p:spPr bwMode="auto">
          <a:xfrm>
            <a:off x="5336770" y="5069495"/>
            <a:ext cx="3158079" cy="223762"/>
          </a:xfrm>
          <a:prstGeom prst="roundRect">
            <a:avLst/>
          </a:prstGeom>
          <a:solidFill>
            <a:srgbClr val="FF0000"/>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1"/>
                </a:solidFill>
                <a:latin typeface="+mn-ea"/>
                <a:cs typeface="Calibri" panose="020F0502020204030204" pitchFamily="34" charset="0"/>
              </a:rPr>
              <a:t>AIRTIVITY 1397-0014 Phase 3</a:t>
            </a:r>
          </a:p>
        </p:txBody>
      </p:sp>
      <p:sp>
        <p:nvSpPr>
          <p:cNvPr id="140" name="TextBox 139">
            <a:extLst>
              <a:ext uri="{FF2B5EF4-FFF2-40B4-BE49-F238E27FC236}">
                <a16:creationId xmlns:a16="http://schemas.microsoft.com/office/drawing/2014/main" id="{26648149-1B41-0423-A2CC-AD1DE4D8EC1D}"/>
              </a:ext>
            </a:extLst>
          </p:cNvPr>
          <p:cNvSpPr txBox="1"/>
          <p:nvPr/>
        </p:nvSpPr>
        <p:spPr bwMode="gray">
          <a:xfrm>
            <a:off x="7954583" y="4897759"/>
            <a:ext cx="763030" cy="138243"/>
          </a:xfrm>
          <a:prstGeom prst="rect">
            <a:avLst/>
          </a:prstGeom>
          <a:noFill/>
        </p:spPr>
        <p:txBody>
          <a:bodyPr wrap="none" lIns="0" tIns="0" rIns="0" bIns="0" rtlCol="0">
            <a:spAutoFit/>
          </a:bodyPr>
          <a:lstStyle/>
          <a:p>
            <a:pPr algn="ctr">
              <a:lnSpc>
                <a:spcPct val="140000"/>
              </a:lnSpc>
            </a:pPr>
            <a:r>
              <a:rPr lang="en-US" sz="700" b="1">
                <a:solidFill>
                  <a:schemeClr val="bg2"/>
                </a:solidFill>
              </a:rPr>
              <a:t>20 Sep 2027, DBL</a:t>
            </a:r>
          </a:p>
        </p:txBody>
      </p:sp>
      <p:cxnSp>
        <p:nvCxnSpPr>
          <p:cNvPr id="142" name="Straight Connector 141">
            <a:extLst>
              <a:ext uri="{FF2B5EF4-FFF2-40B4-BE49-F238E27FC236}">
                <a16:creationId xmlns:a16="http://schemas.microsoft.com/office/drawing/2014/main" id="{229B20B3-C7A0-5B28-8612-C0CDB3823D8D}"/>
              </a:ext>
            </a:extLst>
          </p:cNvPr>
          <p:cNvCxnSpPr>
            <a:cxnSpLocks/>
            <a:endCxn id="85" idx="1"/>
          </p:cNvCxnSpPr>
          <p:nvPr/>
        </p:nvCxnSpPr>
        <p:spPr bwMode="gray">
          <a:xfrm flipH="1">
            <a:off x="5022850" y="2033764"/>
            <a:ext cx="1" cy="2250133"/>
          </a:xfrm>
          <a:prstGeom prst="line">
            <a:avLst/>
          </a:prstGeom>
          <a:ln w="6350">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7F9F2315-1245-3EB5-0A95-61740DFA0799}"/>
              </a:ext>
            </a:extLst>
          </p:cNvPr>
          <p:cNvCxnSpPr>
            <a:cxnSpLocks/>
            <a:stCxn id="66" idx="3"/>
            <a:endCxn id="139" idx="1"/>
          </p:cNvCxnSpPr>
          <p:nvPr/>
        </p:nvCxnSpPr>
        <p:spPr bwMode="gray">
          <a:xfrm>
            <a:off x="5336770" y="3041952"/>
            <a:ext cx="0" cy="2139424"/>
          </a:xfrm>
          <a:prstGeom prst="line">
            <a:avLst/>
          </a:prstGeom>
          <a:ln w="6350">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1AC460CC-CFB1-6D6D-D2AA-3631EDA045B6}"/>
              </a:ext>
            </a:extLst>
          </p:cNvPr>
          <p:cNvCxnSpPr>
            <a:cxnSpLocks/>
          </p:cNvCxnSpPr>
          <p:nvPr/>
        </p:nvCxnSpPr>
        <p:spPr bwMode="gray">
          <a:xfrm>
            <a:off x="10433161" y="1912303"/>
            <a:ext cx="0" cy="3465571"/>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FD15B816-654F-DBCA-B40E-4EDB6F59D58B}"/>
              </a:ext>
            </a:extLst>
          </p:cNvPr>
          <p:cNvCxnSpPr>
            <a:cxnSpLocks/>
          </p:cNvCxnSpPr>
          <p:nvPr/>
        </p:nvCxnSpPr>
        <p:spPr bwMode="gray">
          <a:xfrm>
            <a:off x="8494855" y="4175309"/>
            <a:ext cx="0" cy="1187266"/>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F25E0B25-3E49-2E4A-8546-A525AEF26647}"/>
              </a:ext>
            </a:extLst>
          </p:cNvPr>
          <p:cNvCxnSpPr/>
          <p:nvPr/>
        </p:nvCxnSpPr>
        <p:spPr bwMode="gray">
          <a:xfrm>
            <a:off x="8494849" y="5362575"/>
            <a:ext cx="1938312" cy="0"/>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3" name="TextBox 162">
            <a:extLst>
              <a:ext uri="{FF2B5EF4-FFF2-40B4-BE49-F238E27FC236}">
                <a16:creationId xmlns:a16="http://schemas.microsoft.com/office/drawing/2014/main" id="{0C48B583-D9B3-6177-26C9-881B1EAC6244}"/>
              </a:ext>
            </a:extLst>
          </p:cNvPr>
          <p:cNvSpPr txBox="1"/>
          <p:nvPr/>
        </p:nvSpPr>
        <p:spPr bwMode="gray">
          <a:xfrm>
            <a:off x="8886618" y="5407319"/>
            <a:ext cx="1067335" cy="157992"/>
          </a:xfrm>
          <a:prstGeom prst="rect">
            <a:avLst/>
          </a:prstGeom>
          <a:noFill/>
        </p:spPr>
        <p:txBody>
          <a:bodyPr wrap="square" lIns="0" tIns="0" rIns="0" bIns="0" rtlCol="0">
            <a:spAutoFit/>
          </a:bodyPr>
          <a:lstStyle/>
          <a:p>
            <a:pPr algn="ctr">
              <a:lnSpc>
                <a:spcPct val="140000"/>
              </a:lnSpc>
            </a:pPr>
            <a:r>
              <a:rPr lang="en-US" sz="800" b="1">
                <a:solidFill>
                  <a:srgbClr val="0000FF"/>
                </a:solidFill>
              </a:rPr>
              <a:t>DBL: - 14.7 months</a:t>
            </a:r>
          </a:p>
        </p:txBody>
      </p:sp>
      <p:cxnSp>
        <p:nvCxnSpPr>
          <p:cNvPr id="164" name="Straight Arrow Connector 163">
            <a:extLst>
              <a:ext uri="{FF2B5EF4-FFF2-40B4-BE49-F238E27FC236}">
                <a16:creationId xmlns:a16="http://schemas.microsoft.com/office/drawing/2014/main" id="{81361379-3A15-89D3-098B-73515E21A585}"/>
              </a:ext>
            </a:extLst>
          </p:cNvPr>
          <p:cNvCxnSpPr>
            <a:cxnSpLocks/>
          </p:cNvCxnSpPr>
          <p:nvPr/>
        </p:nvCxnSpPr>
        <p:spPr bwMode="gray">
          <a:xfrm>
            <a:off x="10715624" y="5905196"/>
            <a:ext cx="852968" cy="0"/>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5" name="TextBox 164">
            <a:extLst>
              <a:ext uri="{FF2B5EF4-FFF2-40B4-BE49-F238E27FC236}">
                <a16:creationId xmlns:a16="http://schemas.microsoft.com/office/drawing/2014/main" id="{B4115EBE-B3B8-0117-41B6-F71BFDCBFE40}"/>
              </a:ext>
            </a:extLst>
          </p:cNvPr>
          <p:cNvSpPr txBox="1"/>
          <p:nvPr/>
        </p:nvSpPr>
        <p:spPr bwMode="gray">
          <a:xfrm>
            <a:off x="10567762" y="6022299"/>
            <a:ext cx="1398121" cy="330347"/>
          </a:xfrm>
          <a:prstGeom prst="rect">
            <a:avLst/>
          </a:prstGeom>
          <a:noFill/>
        </p:spPr>
        <p:txBody>
          <a:bodyPr wrap="square" lIns="0" tIns="0" rIns="0" bIns="0" rtlCol="0">
            <a:spAutoFit/>
          </a:bodyPr>
          <a:lstStyle>
            <a:defPPr>
              <a:defRPr lang="zh-CN"/>
            </a:defPPr>
            <a:lvl1pPr algn="ctr">
              <a:lnSpc>
                <a:spcPct val="140000"/>
              </a:lnSpc>
              <a:defRPr sz="800" b="1">
                <a:solidFill>
                  <a:srgbClr val="0000FF"/>
                </a:solidFill>
              </a:defRPr>
            </a:lvl1pPr>
          </a:lstStyle>
          <a:p>
            <a:r>
              <a:rPr lang="en-US"/>
              <a:t>CN Approval: - 13 months </a:t>
            </a:r>
          </a:p>
          <a:p>
            <a:r>
              <a:rPr lang="en-US"/>
              <a:t>(best or base case)</a:t>
            </a:r>
          </a:p>
        </p:txBody>
      </p:sp>
      <p:cxnSp>
        <p:nvCxnSpPr>
          <p:cNvPr id="171" name="Straight Connector 170">
            <a:extLst>
              <a:ext uri="{FF2B5EF4-FFF2-40B4-BE49-F238E27FC236}">
                <a16:creationId xmlns:a16="http://schemas.microsoft.com/office/drawing/2014/main" id="{0E2C1B6D-91DD-C6A1-7C78-D055DB656D18}"/>
              </a:ext>
            </a:extLst>
          </p:cNvPr>
          <p:cNvCxnSpPr>
            <a:cxnSpLocks/>
          </p:cNvCxnSpPr>
          <p:nvPr/>
        </p:nvCxnSpPr>
        <p:spPr bwMode="gray">
          <a:xfrm>
            <a:off x="10715624" y="4935563"/>
            <a:ext cx="0" cy="969633"/>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73080937-B697-142D-9ED5-D6ED9BD297A2}"/>
              </a:ext>
            </a:extLst>
          </p:cNvPr>
          <p:cNvCxnSpPr>
            <a:cxnSpLocks/>
          </p:cNvCxnSpPr>
          <p:nvPr/>
        </p:nvCxnSpPr>
        <p:spPr bwMode="gray">
          <a:xfrm>
            <a:off x="11568592" y="3381303"/>
            <a:ext cx="0" cy="2523893"/>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186" name="Picture 185">
            <a:extLst>
              <a:ext uri="{FF2B5EF4-FFF2-40B4-BE49-F238E27FC236}">
                <a16:creationId xmlns:a16="http://schemas.microsoft.com/office/drawing/2014/main" id="{2DF03D1B-36C8-290E-3A7B-F89FB63721E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78" y="1427764"/>
            <a:ext cx="730436" cy="360000"/>
          </a:xfrm>
          <a:prstGeom prst="rect">
            <a:avLst/>
          </a:prstGeom>
        </p:spPr>
      </p:pic>
      <p:pic>
        <p:nvPicPr>
          <p:cNvPr id="187" name="Picture 186">
            <a:extLst>
              <a:ext uri="{FF2B5EF4-FFF2-40B4-BE49-F238E27FC236}">
                <a16:creationId xmlns:a16="http://schemas.microsoft.com/office/drawing/2014/main" id="{6DBEE9F2-6AE1-C00C-3556-89098635805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96061" y="5000373"/>
            <a:ext cx="730437" cy="360000"/>
          </a:xfrm>
          <a:prstGeom prst="rect">
            <a:avLst/>
          </a:prstGeom>
        </p:spPr>
      </p:pic>
      <p:pic>
        <p:nvPicPr>
          <p:cNvPr id="188" name="Picture 187">
            <a:extLst>
              <a:ext uri="{FF2B5EF4-FFF2-40B4-BE49-F238E27FC236}">
                <a16:creationId xmlns:a16="http://schemas.microsoft.com/office/drawing/2014/main" id="{87606B0F-EACD-DCD2-9B63-957DE195351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82142" y="4093239"/>
            <a:ext cx="730436" cy="360000"/>
          </a:xfrm>
          <a:prstGeom prst="rect">
            <a:avLst/>
          </a:prstGeom>
        </p:spPr>
      </p:pic>
      <p:cxnSp>
        <p:nvCxnSpPr>
          <p:cNvPr id="194" name="Straight Connector 193">
            <a:extLst>
              <a:ext uri="{FF2B5EF4-FFF2-40B4-BE49-F238E27FC236}">
                <a16:creationId xmlns:a16="http://schemas.microsoft.com/office/drawing/2014/main" id="{8578323F-748F-F880-50D1-70E2B09E6705}"/>
              </a:ext>
            </a:extLst>
          </p:cNvPr>
          <p:cNvCxnSpPr/>
          <p:nvPr/>
        </p:nvCxnSpPr>
        <p:spPr bwMode="gray">
          <a:xfrm>
            <a:off x="-2278" y="3891737"/>
            <a:ext cx="12194274" cy="0"/>
          </a:xfrm>
          <a:prstGeom prst="line">
            <a:avLst/>
          </a:prstGeom>
          <a:ln w="19050">
            <a:solidFill>
              <a:srgbClr val="5D4495"/>
            </a:solidFill>
            <a:prstDash val="dash"/>
          </a:ln>
        </p:spPr>
        <p:style>
          <a:lnRef idx="1">
            <a:schemeClr val="dk1"/>
          </a:lnRef>
          <a:fillRef idx="0">
            <a:schemeClr val="dk1"/>
          </a:fillRef>
          <a:effectRef idx="0">
            <a:schemeClr val="dk1"/>
          </a:effectRef>
          <a:fontRef idx="minor">
            <a:schemeClr val="tx1"/>
          </a:fontRef>
        </p:style>
      </p:cxnSp>
      <p:cxnSp>
        <p:nvCxnSpPr>
          <p:cNvPr id="196" name="Straight Arrow Connector 195">
            <a:extLst>
              <a:ext uri="{FF2B5EF4-FFF2-40B4-BE49-F238E27FC236}">
                <a16:creationId xmlns:a16="http://schemas.microsoft.com/office/drawing/2014/main" id="{9267918E-EF70-F243-245A-697EDDC6B5DD}"/>
              </a:ext>
            </a:extLst>
          </p:cNvPr>
          <p:cNvCxnSpPr>
            <a:cxnSpLocks/>
          </p:cNvCxnSpPr>
          <p:nvPr/>
        </p:nvCxnSpPr>
        <p:spPr bwMode="gray">
          <a:xfrm>
            <a:off x="2152650" y="3891737"/>
            <a:ext cx="0" cy="232085"/>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86278A74-570E-E17F-3FE8-B97EBD09E96B}"/>
              </a:ext>
            </a:extLst>
          </p:cNvPr>
          <p:cNvCxnSpPr>
            <a:cxnSpLocks/>
          </p:cNvCxnSpPr>
          <p:nvPr/>
        </p:nvCxnSpPr>
        <p:spPr bwMode="gray">
          <a:xfrm flipV="1">
            <a:off x="1485900" y="3618266"/>
            <a:ext cx="0" cy="27347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6" name="TextBox 205">
            <a:extLst>
              <a:ext uri="{FF2B5EF4-FFF2-40B4-BE49-F238E27FC236}">
                <a16:creationId xmlns:a16="http://schemas.microsoft.com/office/drawing/2014/main" id="{EC6CCE23-E19B-EE39-487C-37B162EC9111}"/>
              </a:ext>
            </a:extLst>
          </p:cNvPr>
          <p:cNvSpPr txBox="1"/>
          <p:nvPr/>
        </p:nvSpPr>
        <p:spPr bwMode="gray">
          <a:xfrm>
            <a:off x="2152651" y="4135324"/>
            <a:ext cx="1259408" cy="207301"/>
          </a:xfrm>
          <a:prstGeom prst="rect">
            <a:avLst/>
          </a:prstGeom>
          <a:noFill/>
        </p:spPr>
        <p:txBody>
          <a:bodyPr wrap="square" lIns="0" tIns="0" rIns="0" bIns="0" rtlCol="0">
            <a:spAutoFit/>
          </a:bodyPr>
          <a:lstStyle/>
          <a:p>
            <a:pPr algn="l">
              <a:lnSpc>
                <a:spcPct val="140000"/>
              </a:lnSpc>
            </a:pPr>
            <a:r>
              <a:rPr lang="en-US" altLang="zh-CN" sz="1050" b="1">
                <a:solidFill>
                  <a:srgbClr val="164C7F"/>
                </a:solidFill>
              </a:rPr>
              <a:t>Updated timeline</a:t>
            </a:r>
            <a:endParaRPr lang="en-US" sz="1050" b="1">
              <a:solidFill>
                <a:srgbClr val="164C7F"/>
              </a:solidFill>
            </a:endParaRPr>
          </a:p>
        </p:txBody>
      </p:sp>
      <p:sp>
        <p:nvSpPr>
          <p:cNvPr id="207" name="TextBox 206">
            <a:extLst>
              <a:ext uri="{FF2B5EF4-FFF2-40B4-BE49-F238E27FC236}">
                <a16:creationId xmlns:a16="http://schemas.microsoft.com/office/drawing/2014/main" id="{1AD7B4E0-D43C-C2DA-7395-92682BE51DEF}"/>
              </a:ext>
            </a:extLst>
          </p:cNvPr>
          <p:cNvSpPr txBox="1"/>
          <p:nvPr/>
        </p:nvSpPr>
        <p:spPr bwMode="gray">
          <a:xfrm>
            <a:off x="1525433" y="3429264"/>
            <a:ext cx="1035674" cy="207301"/>
          </a:xfrm>
          <a:prstGeom prst="rect">
            <a:avLst/>
          </a:prstGeom>
          <a:noFill/>
        </p:spPr>
        <p:txBody>
          <a:bodyPr wrap="square" lIns="0" tIns="0" rIns="0" bIns="0" rtlCol="0">
            <a:spAutoFit/>
          </a:bodyPr>
          <a:lstStyle/>
          <a:p>
            <a:pPr algn="l">
              <a:lnSpc>
                <a:spcPct val="140000"/>
              </a:lnSpc>
            </a:pPr>
            <a:r>
              <a:rPr lang="en-US" altLang="zh-CN" sz="1050" b="1">
                <a:solidFill>
                  <a:schemeClr val="accent2">
                    <a:lumMod val="50000"/>
                  </a:schemeClr>
                </a:solidFill>
              </a:rPr>
              <a:t>Initial timeline</a:t>
            </a:r>
            <a:endParaRPr lang="en-US" sz="1050" b="1">
              <a:solidFill>
                <a:schemeClr val="accent2">
                  <a:lumMod val="50000"/>
                </a:schemeClr>
              </a:solidFill>
            </a:endParaRPr>
          </a:p>
        </p:txBody>
      </p:sp>
      <p:cxnSp>
        <p:nvCxnSpPr>
          <p:cNvPr id="208" name="Straight Connector 207">
            <a:extLst>
              <a:ext uri="{FF2B5EF4-FFF2-40B4-BE49-F238E27FC236}">
                <a16:creationId xmlns:a16="http://schemas.microsoft.com/office/drawing/2014/main" id="{4BE487B3-65D4-40DA-8DD1-500CCD6F8A17}"/>
              </a:ext>
            </a:extLst>
          </p:cNvPr>
          <p:cNvCxnSpPr>
            <a:cxnSpLocks/>
          </p:cNvCxnSpPr>
          <p:nvPr/>
        </p:nvCxnSpPr>
        <p:spPr bwMode="gray">
          <a:xfrm>
            <a:off x="11064872" y="5430236"/>
            <a:ext cx="0" cy="333024"/>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E5780DC-DE01-A6EC-2B99-C2501A800BDA}"/>
              </a:ext>
            </a:extLst>
          </p:cNvPr>
          <p:cNvCxnSpPr>
            <a:cxnSpLocks/>
          </p:cNvCxnSpPr>
          <p:nvPr/>
        </p:nvCxnSpPr>
        <p:spPr bwMode="gray">
          <a:xfrm>
            <a:off x="11913975" y="3381303"/>
            <a:ext cx="0" cy="2381957"/>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11" name="Straight Arrow Connector 210">
            <a:extLst>
              <a:ext uri="{FF2B5EF4-FFF2-40B4-BE49-F238E27FC236}">
                <a16:creationId xmlns:a16="http://schemas.microsoft.com/office/drawing/2014/main" id="{F9725DCD-5EC6-E677-6383-3F3456A3A4EF}"/>
              </a:ext>
            </a:extLst>
          </p:cNvPr>
          <p:cNvCxnSpPr>
            <a:cxnSpLocks/>
          </p:cNvCxnSpPr>
          <p:nvPr/>
        </p:nvCxnSpPr>
        <p:spPr bwMode="gray">
          <a:xfrm>
            <a:off x="11054241" y="5763260"/>
            <a:ext cx="852968" cy="0"/>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15" name="Graphic 214" descr="Flag with solid fill">
            <a:extLst>
              <a:ext uri="{FF2B5EF4-FFF2-40B4-BE49-F238E27FC236}">
                <a16:creationId xmlns:a16="http://schemas.microsoft.com/office/drawing/2014/main" id="{D0B8BE65-44A0-4D0E-8B71-8E9FD2218C2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901100" y="3356501"/>
            <a:ext cx="197742" cy="197742"/>
          </a:xfrm>
          <a:prstGeom prst="rect">
            <a:avLst/>
          </a:prstGeom>
        </p:spPr>
      </p:pic>
      <p:graphicFrame>
        <p:nvGraphicFramePr>
          <p:cNvPr id="3" name="表格 2">
            <a:extLst>
              <a:ext uri="{FF2B5EF4-FFF2-40B4-BE49-F238E27FC236}">
                <a16:creationId xmlns:a16="http://schemas.microsoft.com/office/drawing/2014/main" id="{25EA3BD7-B3FB-1827-A401-D45FC509F448}"/>
              </a:ext>
            </a:extLst>
          </p:cNvPr>
          <p:cNvGraphicFramePr>
            <a:graphicFrameLocks noGrp="1"/>
          </p:cNvGraphicFramePr>
          <p:nvPr>
            <p:extLst>
              <p:ext uri="{D42A27DB-BD31-4B8C-83A1-F6EECF244321}">
                <p14:modId xmlns:p14="http://schemas.microsoft.com/office/powerpoint/2010/main" val="2188153167"/>
              </p:ext>
            </p:extLst>
          </p:nvPr>
        </p:nvGraphicFramePr>
        <p:xfrm>
          <a:off x="336186" y="4882706"/>
          <a:ext cx="3495675" cy="807720"/>
        </p:xfrm>
        <a:graphic>
          <a:graphicData uri="http://schemas.openxmlformats.org/drawingml/2006/table">
            <a:tbl>
              <a:tblPr bandRow="1">
                <a:tableStyleId>{5C22544A-7EE6-4342-B048-85BDC9FD1C3A}</a:tableStyleId>
              </a:tblPr>
              <a:tblGrid>
                <a:gridCol w="1562100">
                  <a:extLst>
                    <a:ext uri="{9D8B030D-6E8A-4147-A177-3AD203B41FA5}">
                      <a16:colId xmlns:a16="http://schemas.microsoft.com/office/drawing/2014/main" val="2272756960"/>
                    </a:ext>
                  </a:extLst>
                </a:gridCol>
                <a:gridCol w="952500">
                  <a:extLst>
                    <a:ext uri="{9D8B030D-6E8A-4147-A177-3AD203B41FA5}">
                      <a16:colId xmlns:a16="http://schemas.microsoft.com/office/drawing/2014/main" val="924270403"/>
                    </a:ext>
                  </a:extLst>
                </a:gridCol>
                <a:gridCol w="981075">
                  <a:extLst>
                    <a:ext uri="{9D8B030D-6E8A-4147-A177-3AD203B41FA5}">
                      <a16:colId xmlns:a16="http://schemas.microsoft.com/office/drawing/2014/main" val="615418042"/>
                    </a:ext>
                  </a:extLst>
                </a:gridCol>
              </a:tblGrid>
              <a:tr h="0">
                <a:tc>
                  <a:txBody>
                    <a:bodyPr/>
                    <a:lstStyle/>
                    <a:p>
                      <a:pPr algn="ctr" fontAlgn="base">
                        <a:lnSpc>
                          <a:spcPts val="1425"/>
                        </a:lnSpc>
                        <a:buNone/>
                      </a:pPr>
                      <a:r>
                        <a:rPr lang="en-US" sz="1200" b="1">
                          <a:solidFill>
                            <a:srgbClr val="FFFFFF"/>
                          </a:solidFill>
                          <a:effectLst/>
                          <a:latin typeface="Boehringer Forward Text" panose="02000500000000020000"/>
                        </a:rPr>
                        <a:t>CN NDA Approval</a:t>
                      </a:r>
                      <a:endParaRPr lang="en-US" b="1">
                        <a:solidFill>
                          <a:srgbClr val="FFFFFF"/>
                        </a:solidFill>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8312A"/>
                    </a:solidFill>
                  </a:tcPr>
                </a:tc>
                <a:tc>
                  <a:txBody>
                    <a:bodyPr/>
                    <a:lstStyle/>
                    <a:p>
                      <a:pPr algn="ctr" fontAlgn="base">
                        <a:lnSpc>
                          <a:spcPts val="1425"/>
                        </a:lnSpc>
                        <a:buNone/>
                      </a:pPr>
                      <a:r>
                        <a:rPr lang="en-US" sz="1200" b="1">
                          <a:solidFill>
                            <a:srgbClr val="FFFFFF"/>
                          </a:solidFill>
                          <a:effectLst/>
                          <a:latin typeface="Boehringer Forward Text" panose="02000500000000020000"/>
                        </a:rPr>
                        <a:t>Best Case</a:t>
                      </a:r>
                      <a:endParaRPr lang="en-US" b="1">
                        <a:solidFill>
                          <a:srgbClr val="FFFFFF"/>
                        </a:solidFill>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8312A"/>
                    </a:solidFill>
                  </a:tcPr>
                </a:tc>
                <a:tc>
                  <a:txBody>
                    <a:bodyPr/>
                    <a:lstStyle/>
                    <a:p>
                      <a:pPr algn="ctr" fontAlgn="base">
                        <a:lnSpc>
                          <a:spcPts val="1425"/>
                        </a:lnSpc>
                        <a:buNone/>
                      </a:pPr>
                      <a:r>
                        <a:rPr lang="en-US" sz="1200" b="1">
                          <a:solidFill>
                            <a:srgbClr val="FFFFFF"/>
                          </a:solidFill>
                          <a:effectLst/>
                          <a:latin typeface="Boehringer Forward Text" panose="02000500000000020000"/>
                        </a:rPr>
                        <a:t>Base Case</a:t>
                      </a:r>
                      <a:endParaRPr lang="en-US" b="1">
                        <a:solidFill>
                          <a:srgbClr val="FFFFFF"/>
                        </a:solidFill>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8312A"/>
                    </a:solidFill>
                  </a:tcPr>
                </a:tc>
                <a:extLst>
                  <a:ext uri="{0D108BD9-81ED-4DB2-BD59-A6C34878D82A}">
                    <a16:rowId xmlns:a16="http://schemas.microsoft.com/office/drawing/2014/main" val="3607507994"/>
                  </a:ext>
                </a:extLst>
              </a:tr>
              <a:tr h="0">
                <a:tc>
                  <a:txBody>
                    <a:bodyPr/>
                    <a:lstStyle/>
                    <a:p>
                      <a:pPr algn="ctr" fontAlgn="base">
                        <a:lnSpc>
                          <a:spcPts val="1425"/>
                        </a:lnSpc>
                        <a:buNone/>
                      </a:pPr>
                      <a:r>
                        <a:rPr lang="en-US" sz="1200" b="1" kern="1200">
                          <a:solidFill>
                            <a:schemeClr val="accent2">
                              <a:lumMod val="50000"/>
                            </a:schemeClr>
                          </a:solidFill>
                          <a:latin typeface="+mn-lt"/>
                          <a:ea typeface="+mn-ea"/>
                          <a:cs typeface="+mn-cs"/>
                        </a:rPr>
                        <a:t>Initial timeline</a:t>
                      </a: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CDCD"/>
                    </a:solidFill>
                  </a:tcPr>
                </a:tc>
                <a:tc>
                  <a:txBody>
                    <a:bodyPr/>
                    <a:lstStyle/>
                    <a:p>
                      <a:pPr algn="ctr" fontAlgn="base">
                        <a:lnSpc>
                          <a:spcPts val="1425"/>
                        </a:lnSpc>
                        <a:buNone/>
                      </a:pPr>
                      <a:r>
                        <a:rPr lang="en-US" sz="1200">
                          <a:effectLst/>
                          <a:latin typeface="Boehringer Forward Text" panose="02000500000000020000"/>
                        </a:rPr>
                        <a:t>Mar 2030</a:t>
                      </a:r>
                      <a:endParaRPr lang="en-US">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CDCD"/>
                    </a:solidFill>
                  </a:tcPr>
                </a:tc>
                <a:tc>
                  <a:txBody>
                    <a:bodyPr/>
                    <a:lstStyle/>
                    <a:p>
                      <a:pPr algn="ctr" fontAlgn="base">
                        <a:lnSpc>
                          <a:spcPts val="1425"/>
                        </a:lnSpc>
                        <a:buNone/>
                      </a:pPr>
                      <a:r>
                        <a:rPr lang="en-US" sz="1200">
                          <a:effectLst/>
                          <a:latin typeface="Boehringer Forward Text" panose="02000500000000020000"/>
                        </a:rPr>
                        <a:t>Sep 2030</a:t>
                      </a:r>
                      <a:endParaRPr lang="en-US">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CCCDCD"/>
                    </a:solidFill>
                  </a:tcPr>
                </a:tc>
                <a:extLst>
                  <a:ext uri="{0D108BD9-81ED-4DB2-BD59-A6C34878D82A}">
                    <a16:rowId xmlns:a16="http://schemas.microsoft.com/office/drawing/2014/main" val="573060258"/>
                  </a:ext>
                </a:extLst>
              </a:tr>
              <a:tr h="0">
                <a:tc>
                  <a:txBody>
                    <a:bodyPr/>
                    <a:lstStyle/>
                    <a:p>
                      <a:pPr algn="ctr" fontAlgn="base">
                        <a:lnSpc>
                          <a:spcPts val="1425"/>
                        </a:lnSpc>
                        <a:buNone/>
                      </a:pPr>
                      <a:r>
                        <a:rPr lang="en-US" sz="1100" b="1" kern="1200">
                          <a:solidFill>
                            <a:srgbClr val="164C7F"/>
                          </a:solidFill>
                          <a:latin typeface="+mn-lt"/>
                          <a:ea typeface="+mn-ea"/>
                          <a:cs typeface="+mn-cs"/>
                        </a:rPr>
                        <a:t>Updated timeline</a:t>
                      </a: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E7E8E8"/>
                    </a:solidFill>
                  </a:tcPr>
                </a:tc>
                <a:tc>
                  <a:txBody>
                    <a:bodyPr/>
                    <a:lstStyle/>
                    <a:p>
                      <a:pPr algn="ctr" fontAlgn="base">
                        <a:lnSpc>
                          <a:spcPts val="1425"/>
                        </a:lnSpc>
                        <a:buNone/>
                      </a:pPr>
                      <a:r>
                        <a:rPr lang="en-US" sz="1200">
                          <a:effectLst/>
                          <a:highlight>
                            <a:srgbClr val="00FF00"/>
                          </a:highlight>
                          <a:latin typeface="Boehringer Forward Text" panose="02000500000000020000"/>
                        </a:rPr>
                        <a:t>Feb 2029</a:t>
                      </a:r>
                      <a:endParaRPr lang="en-US">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E7E8E8"/>
                    </a:solidFill>
                  </a:tcPr>
                </a:tc>
                <a:tc>
                  <a:txBody>
                    <a:bodyPr/>
                    <a:lstStyle/>
                    <a:p>
                      <a:pPr algn="ctr" fontAlgn="base">
                        <a:lnSpc>
                          <a:spcPts val="1425"/>
                        </a:lnSpc>
                        <a:buNone/>
                      </a:pPr>
                      <a:r>
                        <a:rPr lang="en-US" sz="1200">
                          <a:effectLst/>
                          <a:highlight>
                            <a:srgbClr val="00FF00"/>
                          </a:highlight>
                          <a:latin typeface="Boehringer Forward Text" panose="02000500000000020000"/>
                        </a:rPr>
                        <a:t>Aug 2029</a:t>
                      </a:r>
                      <a:endParaRPr lang="en-US">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E7E8E8"/>
                    </a:solidFill>
                  </a:tcPr>
                </a:tc>
                <a:extLst>
                  <a:ext uri="{0D108BD9-81ED-4DB2-BD59-A6C34878D82A}">
                    <a16:rowId xmlns:a16="http://schemas.microsoft.com/office/drawing/2014/main" val="3443255917"/>
                  </a:ext>
                </a:extLst>
              </a:tr>
            </a:tbl>
          </a:graphicData>
        </a:graphic>
      </p:graphicFrame>
    </p:spTree>
    <p:extLst>
      <p:ext uri="{BB962C8B-B14F-4D97-AF65-F5344CB8AC3E}">
        <p14:creationId xmlns:p14="http://schemas.microsoft.com/office/powerpoint/2010/main" val="3229126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a:extLst>
              <a:ext uri="{FF2B5EF4-FFF2-40B4-BE49-F238E27FC236}">
                <a16:creationId xmlns:a16="http://schemas.microsoft.com/office/drawing/2014/main" id="{18AE44EA-72BE-CC46-6700-4CDAA24C5A8A}"/>
              </a:ext>
            </a:extLst>
          </p:cNvPr>
          <p:cNvGraphicFramePr>
            <a:graphicFrameLocks noGrp="1"/>
          </p:cNvGraphicFramePr>
          <p:nvPr>
            <p:extLst>
              <p:ext uri="{D42A27DB-BD31-4B8C-83A1-F6EECF244321}">
                <p14:modId xmlns:p14="http://schemas.microsoft.com/office/powerpoint/2010/main" val="1129923675"/>
              </p:ext>
            </p:extLst>
          </p:nvPr>
        </p:nvGraphicFramePr>
        <p:xfrm>
          <a:off x="254000" y="1367692"/>
          <a:ext cx="11499190" cy="4776921"/>
        </p:xfrm>
        <a:graphic>
          <a:graphicData uri="http://schemas.openxmlformats.org/drawingml/2006/table">
            <a:tbl>
              <a:tblPr bandRow="1">
                <a:tableStyleId>{5C22544A-7EE6-4342-B048-85BDC9FD1C3A}</a:tableStyleId>
              </a:tblPr>
              <a:tblGrid>
                <a:gridCol w="1028596">
                  <a:extLst>
                    <a:ext uri="{9D8B030D-6E8A-4147-A177-3AD203B41FA5}">
                      <a16:colId xmlns:a16="http://schemas.microsoft.com/office/drawing/2014/main" val="177404507"/>
                    </a:ext>
                  </a:extLst>
                </a:gridCol>
                <a:gridCol w="323031">
                  <a:extLst>
                    <a:ext uri="{9D8B030D-6E8A-4147-A177-3AD203B41FA5}">
                      <a16:colId xmlns:a16="http://schemas.microsoft.com/office/drawing/2014/main" val="2852922863"/>
                    </a:ext>
                  </a:extLst>
                </a:gridCol>
                <a:gridCol w="375273">
                  <a:extLst>
                    <a:ext uri="{9D8B030D-6E8A-4147-A177-3AD203B41FA5}">
                      <a16:colId xmlns:a16="http://schemas.microsoft.com/office/drawing/2014/main" val="3915197354"/>
                    </a:ext>
                  </a:extLst>
                </a:gridCol>
                <a:gridCol w="375273">
                  <a:extLst>
                    <a:ext uri="{9D8B030D-6E8A-4147-A177-3AD203B41FA5}">
                      <a16:colId xmlns:a16="http://schemas.microsoft.com/office/drawing/2014/main" val="794278796"/>
                    </a:ext>
                  </a:extLst>
                </a:gridCol>
                <a:gridCol w="375273">
                  <a:extLst>
                    <a:ext uri="{9D8B030D-6E8A-4147-A177-3AD203B41FA5}">
                      <a16:colId xmlns:a16="http://schemas.microsoft.com/office/drawing/2014/main" val="3937961855"/>
                    </a:ext>
                  </a:extLst>
                </a:gridCol>
                <a:gridCol w="375273">
                  <a:extLst>
                    <a:ext uri="{9D8B030D-6E8A-4147-A177-3AD203B41FA5}">
                      <a16:colId xmlns:a16="http://schemas.microsoft.com/office/drawing/2014/main" val="3461427949"/>
                    </a:ext>
                  </a:extLst>
                </a:gridCol>
                <a:gridCol w="375273">
                  <a:extLst>
                    <a:ext uri="{9D8B030D-6E8A-4147-A177-3AD203B41FA5}">
                      <a16:colId xmlns:a16="http://schemas.microsoft.com/office/drawing/2014/main" val="3470052157"/>
                    </a:ext>
                  </a:extLst>
                </a:gridCol>
                <a:gridCol w="375273">
                  <a:extLst>
                    <a:ext uri="{9D8B030D-6E8A-4147-A177-3AD203B41FA5}">
                      <a16:colId xmlns:a16="http://schemas.microsoft.com/office/drawing/2014/main" val="2255373395"/>
                    </a:ext>
                  </a:extLst>
                </a:gridCol>
                <a:gridCol w="375273">
                  <a:extLst>
                    <a:ext uri="{9D8B030D-6E8A-4147-A177-3AD203B41FA5}">
                      <a16:colId xmlns:a16="http://schemas.microsoft.com/office/drawing/2014/main" val="3732673608"/>
                    </a:ext>
                  </a:extLst>
                </a:gridCol>
                <a:gridCol w="375273">
                  <a:extLst>
                    <a:ext uri="{9D8B030D-6E8A-4147-A177-3AD203B41FA5}">
                      <a16:colId xmlns:a16="http://schemas.microsoft.com/office/drawing/2014/main" val="1582306584"/>
                    </a:ext>
                  </a:extLst>
                </a:gridCol>
                <a:gridCol w="375273">
                  <a:extLst>
                    <a:ext uri="{9D8B030D-6E8A-4147-A177-3AD203B41FA5}">
                      <a16:colId xmlns:a16="http://schemas.microsoft.com/office/drawing/2014/main" val="2947391478"/>
                    </a:ext>
                  </a:extLst>
                </a:gridCol>
                <a:gridCol w="422818">
                  <a:extLst>
                    <a:ext uri="{9D8B030D-6E8A-4147-A177-3AD203B41FA5}">
                      <a16:colId xmlns:a16="http://schemas.microsoft.com/office/drawing/2014/main" val="2817950917"/>
                    </a:ext>
                  </a:extLst>
                </a:gridCol>
                <a:gridCol w="327722">
                  <a:extLst>
                    <a:ext uri="{9D8B030D-6E8A-4147-A177-3AD203B41FA5}">
                      <a16:colId xmlns:a16="http://schemas.microsoft.com/office/drawing/2014/main" val="619635164"/>
                    </a:ext>
                  </a:extLst>
                </a:gridCol>
                <a:gridCol w="375273">
                  <a:extLst>
                    <a:ext uri="{9D8B030D-6E8A-4147-A177-3AD203B41FA5}">
                      <a16:colId xmlns:a16="http://schemas.microsoft.com/office/drawing/2014/main" val="1672524877"/>
                    </a:ext>
                  </a:extLst>
                </a:gridCol>
                <a:gridCol w="375273">
                  <a:extLst>
                    <a:ext uri="{9D8B030D-6E8A-4147-A177-3AD203B41FA5}">
                      <a16:colId xmlns:a16="http://schemas.microsoft.com/office/drawing/2014/main" val="2256772075"/>
                    </a:ext>
                  </a:extLst>
                </a:gridCol>
                <a:gridCol w="375273">
                  <a:extLst>
                    <a:ext uri="{9D8B030D-6E8A-4147-A177-3AD203B41FA5}">
                      <a16:colId xmlns:a16="http://schemas.microsoft.com/office/drawing/2014/main" val="995299607"/>
                    </a:ext>
                  </a:extLst>
                </a:gridCol>
                <a:gridCol w="431626">
                  <a:extLst>
                    <a:ext uri="{9D8B030D-6E8A-4147-A177-3AD203B41FA5}">
                      <a16:colId xmlns:a16="http://schemas.microsoft.com/office/drawing/2014/main" val="4276427018"/>
                    </a:ext>
                  </a:extLst>
                </a:gridCol>
                <a:gridCol w="369965">
                  <a:extLst>
                    <a:ext uri="{9D8B030D-6E8A-4147-A177-3AD203B41FA5}">
                      <a16:colId xmlns:a16="http://schemas.microsoft.com/office/drawing/2014/main" val="2655179064"/>
                    </a:ext>
                  </a:extLst>
                </a:gridCol>
                <a:gridCol w="339426">
                  <a:extLst>
                    <a:ext uri="{9D8B030D-6E8A-4147-A177-3AD203B41FA5}">
                      <a16:colId xmlns:a16="http://schemas.microsoft.com/office/drawing/2014/main" val="1698692556"/>
                    </a:ext>
                  </a:extLst>
                </a:gridCol>
                <a:gridCol w="375273">
                  <a:extLst>
                    <a:ext uri="{9D8B030D-6E8A-4147-A177-3AD203B41FA5}">
                      <a16:colId xmlns:a16="http://schemas.microsoft.com/office/drawing/2014/main" val="3701245824"/>
                    </a:ext>
                  </a:extLst>
                </a:gridCol>
                <a:gridCol w="375273">
                  <a:extLst>
                    <a:ext uri="{9D8B030D-6E8A-4147-A177-3AD203B41FA5}">
                      <a16:colId xmlns:a16="http://schemas.microsoft.com/office/drawing/2014/main" val="1379581659"/>
                    </a:ext>
                  </a:extLst>
                </a:gridCol>
                <a:gridCol w="375273">
                  <a:extLst>
                    <a:ext uri="{9D8B030D-6E8A-4147-A177-3AD203B41FA5}">
                      <a16:colId xmlns:a16="http://schemas.microsoft.com/office/drawing/2014/main" val="2447417914"/>
                    </a:ext>
                  </a:extLst>
                </a:gridCol>
                <a:gridCol w="375273">
                  <a:extLst>
                    <a:ext uri="{9D8B030D-6E8A-4147-A177-3AD203B41FA5}">
                      <a16:colId xmlns:a16="http://schemas.microsoft.com/office/drawing/2014/main" val="2876960549"/>
                    </a:ext>
                  </a:extLst>
                </a:gridCol>
                <a:gridCol w="375273">
                  <a:extLst>
                    <a:ext uri="{9D8B030D-6E8A-4147-A177-3AD203B41FA5}">
                      <a16:colId xmlns:a16="http://schemas.microsoft.com/office/drawing/2014/main" val="867431328"/>
                    </a:ext>
                  </a:extLst>
                </a:gridCol>
                <a:gridCol w="375273">
                  <a:extLst>
                    <a:ext uri="{9D8B030D-6E8A-4147-A177-3AD203B41FA5}">
                      <a16:colId xmlns:a16="http://schemas.microsoft.com/office/drawing/2014/main" val="2331603929"/>
                    </a:ext>
                  </a:extLst>
                </a:gridCol>
                <a:gridCol w="375273">
                  <a:extLst>
                    <a:ext uri="{9D8B030D-6E8A-4147-A177-3AD203B41FA5}">
                      <a16:colId xmlns:a16="http://schemas.microsoft.com/office/drawing/2014/main" val="2545782055"/>
                    </a:ext>
                  </a:extLst>
                </a:gridCol>
                <a:gridCol w="375273">
                  <a:extLst>
                    <a:ext uri="{9D8B030D-6E8A-4147-A177-3AD203B41FA5}">
                      <a16:colId xmlns:a16="http://schemas.microsoft.com/office/drawing/2014/main" val="4122037168"/>
                    </a:ext>
                  </a:extLst>
                </a:gridCol>
                <a:gridCol w="375273">
                  <a:extLst>
                    <a:ext uri="{9D8B030D-6E8A-4147-A177-3AD203B41FA5}">
                      <a16:colId xmlns:a16="http://schemas.microsoft.com/office/drawing/2014/main" val="3887998541"/>
                    </a:ext>
                  </a:extLst>
                </a:gridCol>
                <a:gridCol w="375273">
                  <a:extLst>
                    <a:ext uri="{9D8B030D-6E8A-4147-A177-3AD203B41FA5}">
                      <a16:colId xmlns:a16="http://schemas.microsoft.com/office/drawing/2014/main" val="1852625327"/>
                    </a:ext>
                  </a:extLst>
                </a:gridCol>
              </a:tblGrid>
              <a:tr h="298593">
                <a:tc>
                  <a:txBody>
                    <a:bodyPr/>
                    <a:lstStyle/>
                    <a:p>
                      <a:pPr algn="ctr" rtl="0" fontAlgn="base">
                        <a:lnSpc>
                          <a:spcPts val="1275"/>
                        </a:lnSpc>
                        <a:buNone/>
                      </a:pPr>
                      <a:endParaRPr lang="en-US" altLang="zh-CN" sz="1200">
                        <a:solidFill>
                          <a:schemeClr val="bg1"/>
                        </a:solidFill>
                      </a:endParaRP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62520"/>
                    </a:solidFill>
                  </a:tcPr>
                </a:tc>
                <a:tc gridSpan="4">
                  <a:txBody>
                    <a:bodyPr/>
                    <a:lstStyle/>
                    <a:p>
                      <a:pPr lvl="0" algn="ctr">
                        <a:lnSpc>
                          <a:spcPts val="1275"/>
                        </a:lnSpc>
                        <a:buNone/>
                      </a:pPr>
                      <a:r>
                        <a:rPr lang="en-US" sz="1200" b="1" i="0" u="none" strike="noStrike" noProof="0">
                          <a:solidFill>
                            <a:schemeClr val="bg1"/>
                          </a:solidFill>
                          <a:latin typeface="Boehringer Forward Text"/>
                        </a:rPr>
                        <a:t>2027</a:t>
                      </a:r>
                      <a:endParaRPr lang="zh-CN"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6252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12">
                  <a:txBody>
                    <a:bodyPr/>
                    <a:lstStyle/>
                    <a:p>
                      <a:pPr lvl="0" algn="ctr">
                        <a:lnSpc>
                          <a:spcPts val="1275"/>
                        </a:lnSpc>
                        <a:buNone/>
                      </a:pPr>
                      <a:r>
                        <a:rPr lang="en-US" sz="1200" b="1" i="0" u="none" strike="noStrike" noProof="0">
                          <a:solidFill>
                            <a:schemeClr val="bg1"/>
                          </a:solidFill>
                          <a:latin typeface="Boehringer Forward Text"/>
                        </a:rPr>
                        <a:t>2028</a:t>
                      </a:r>
                      <a:endParaRPr lang="zh-CN" altLang="en-US"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6252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6252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6252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12">
                  <a:txBody>
                    <a:bodyPr/>
                    <a:lstStyle/>
                    <a:p>
                      <a:pPr algn="ctr" rtl="0" fontAlgn="base">
                        <a:lnSpc>
                          <a:spcPts val="1275"/>
                        </a:lnSpc>
                        <a:buNone/>
                      </a:pPr>
                      <a:r>
                        <a:rPr lang="en-US" altLang="zh-CN" sz="1200" b="1">
                          <a:solidFill>
                            <a:schemeClr val="bg1"/>
                          </a:solidFill>
                        </a:rPr>
                        <a:t>2029</a:t>
                      </a:r>
                    </a:p>
                  </a:txBody>
                  <a:tcPr marL="86868" marR="86868" marT="43434" marB="43434" anchor="ctr">
                    <a:lnL w="12059" cap="flat" cmpd="sng" algn="ctr">
                      <a:solidFill>
                        <a:srgbClr val="FFFFFF"/>
                      </a:solidFill>
                      <a:prstDash val="solid"/>
                      <a:round/>
                      <a:headEnd type="none" w="med" len="med"/>
                      <a:tailEnd type="none" w="med" len="med"/>
                    </a:lnL>
                    <a:lnR w="12058">
                      <a:solidFill>
                        <a:srgbClr val="FFFFFF"/>
                      </a:solidFill>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extLst>
                  <a:ext uri="{0D108BD9-81ED-4DB2-BD59-A6C34878D82A}">
                    <a16:rowId xmlns:a16="http://schemas.microsoft.com/office/drawing/2014/main" val="2145936266"/>
                  </a:ext>
                </a:extLst>
              </a:tr>
              <a:tr h="308546">
                <a:tc>
                  <a:txBody>
                    <a:bodyPr/>
                    <a:lstStyle/>
                    <a:p>
                      <a:pPr algn="ctr" rtl="0" fontAlgn="base">
                        <a:lnSpc>
                          <a:spcPts val="1275"/>
                        </a:lnSpc>
                        <a:buNone/>
                      </a:pPr>
                      <a:endParaRPr lang="en-US" sz="1200"/>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lvl="0" algn="ctr">
                        <a:lnSpc>
                          <a:spcPts val="1275"/>
                        </a:lnSpc>
                        <a:buNone/>
                      </a:pPr>
                      <a:r>
                        <a:rPr lang="en-US" sz="1200"/>
                        <a:t>9</a:t>
                      </a:r>
                      <a:endParaRPr lang="zh-CN"/>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10</a:t>
                      </a:r>
                      <a:endParaRPr 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lvl="0" algn="ctr">
                        <a:lnSpc>
                          <a:spcPts val="1275"/>
                        </a:lnSpc>
                        <a:buNone/>
                      </a:pPr>
                      <a:r>
                        <a:rPr lang="en-US" sz="1200" b="1"/>
                        <a:t>11</a:t>
                      </a:r>
                      <a:endParaRPr lang="zh-CN"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12</a:t>
                      </a:r>
                      <a:endParaRPr 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1</a:t>
                      </a:r>
                      <a:endParaRPr 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2</a:t>
                      </a:r>
                      <a:endParaRPr 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3</a:t>
                      </a:r>
                      <a:endParaRPr 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4</a:t>
                      </a:r>
                      <a:endParaRPr 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5</a:t>
                      </a:r>
                      <a:endParaRPr lang="en-US" alt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6</a:t>
                      </a:r>
                      <a:endParaRPr lang="en-US" alt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7</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8</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9</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10</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11</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12</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1</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lvl="0" algn="ctr">
                        <a:lnSpc>
                          <a:spcPts val="1275"/>
                        </a:lnSpc>
                        <a:buNone/>
                      </a:pPr>
                      <a:r>
                        <a:rPr lang="zh-CN" altLang="en-US" sz="1200" b="1"/>
                        <a:t>2</a:t>
                      </a:r>
                    </a:p>
                  </a:txBody>
                  <a:tcPr marL="86868" marR="86868" marT="43434" marB="43434" anchor="ctr">
                    <a:lnL w="12059" cap="flat" cmpd="sng" algn="ctr">
                      <a:solidFill>
                        <a:srgbClr val="FFFFFF"/>
                      </a:solidFill>
                      <a:prstDash val="solid"/>
                      <a:round/>
                      <a:headEnd type="none" w="med" len="med"/>
                      <a:tailEnd type="none" w="med" len="med"/>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sz="1200" b="1"/>
                        <a:t>3</a:t>
                      </a:r>
                      <a:endParaRPr lang="zh-CN" altLang="en-US" sz="1200" b="1"/>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sz="1200" b="1"/>
                        <a:t>4</a:t>
                      </a:r>
                      <a:endParaRPr lang="zh-CN" altLang="en-US" sz="1200" b="1"/>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sz="1200" b="1"/>
                        <a:t>5</a:t>
                      </a:r>
                      <a:endParaRPr lang="zh-CN" altLang="en-US" sz="1200" b="1"/>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sz="1200" b="1"/>
                        <a:t>6</a:t>
                      </a:r>
                      <a:endParaRPr lang="zh-CN" altLang="en-US" sz="1200" b="1"/>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sz="1200" b="1"/>
                        <a:t>7</a:t>
                      </a:r>
                      <a:endParaRPr lang="zh-CN" altLang="en-US" sz="1200" b="1"/>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sz="1200" b="1"/>
                        <a:t>8</a:t>
                      </a:r>
                      <a:endParaRPr lang="zh-CN" altLang="en-US" sz="1200" b="1"/>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altLang="zh-CN" sz="1200" b="1"/>
                        <a:t>9</a:t>
                      </a:r>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altLang="zh-CN" sz="1200" b="1"/>
                        <a:t>10</a:t>
                      </a:r>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altLang="zh-CN" sz="1200" b="1"/>
                        <a:t>11</a:t>
                      </a:r>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altLang="zh-CN" sz="1200" b="1"/>
                        <a:t>12</a:t>
                      </a:r>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extLst>
                  <a:ext uri="{0D108BD9-81ED-4DB2-BD59-A6C34878D82A}">
                    <a16:rowId xmlns:a16="http://schemas.microsoft.com/office/drawing/2014/main" val="1010893703"/>
                  </a:ext>
                </a:extLst>
              </a:tr>
              <a:tr h="565169">
                <a:tc>
                  <a:txBody>
                    <a:bodyPr/>
                    <a:lstStyle/>
                    <a:p>
                      <a:pPr lvl="0" algn="ctr">
                        <a:lnSpc>
                          <a:spcPts val="1275"/>
                        </a:lnSpc>
                        <a:buNone/>
                      </a:pPr>
                      <a:r>
                        <a:rPr lang="en-US" sz="1200" b="1"/>
                        <a:t>Milestone</a:t>
                      </a:r>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cap="flat" cmpd="sng" algn="ctr">
                      <a:solidFill>
                        <a:srgbClr val="FFFFFF"/>
                      </a:solidFill>
                      <a:prstDash val="solid"/>
                      <a:round/>
                      <a:headEnd type="none" w="med" len="med"/>
                      <a:tailEnd type="none" w="med" len="med"/>
                    </a:lnL>
                    <a:lnR w="12058">
                      <a:solidFill>
                        <a:srgbClr val="FFFFFF"/>
                      </a:solidFill>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zh-CN" alt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extLst>
                  <a:ext uri="{0D108BD9-81ED-4DB2-BD59-A6C34878D82A}">
                    <a16:rowId xmlns:a16="http://schemas.microsoft.com/office/drawing/2014/main" val="868396186"/>
                  </a:ext>
                </a:extLst>
              </a:tr>
              <a:tr h="1849120">
                <a:tc>
                  <a:txBody>
                    <a:bodyPr/>
                    <a:lstStyle/>
                    <a:p>
                      <a:pPr lvl="0" algn="ctr">
                        <a:lnSpc>
                          <a:spcPts val="1275"/>
                        </a:lnSpc>
                        <a:buNone/>
                      </a:pPr>
                      <a:r>
                        <a:rPr lang="en-US" sz="1200" b="1"/>
                        <a:t>Best Submission</a:t>
                      </a:r>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cap="flat" cmpd="sng" algn="ctr">
                      <a:solidFill>
                        <a:srgbClr val="FFFFFF"/>
                      </a:solidFill>
                      <a:prstDash val="solid"/>
                      <a:round/>
                      <a:headEnd type="none" w="med" len="med"/>
                      <a:tailEnd type="none" w="med" len="med"/>
                    </a:lnL>
                    <a:lnR w="12058">
                      <a:solidFill>
                        <a:srgbClr val="FFFFFF"/>
                      </a:solidFill>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zh-CN" alt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extLst>
                  <a:ext uri="{0D108BD9-81ED-4DB2-BD59-A6C34878D82A}">
                    <a16:rowId xmlns:a16="http://schemas.microsoft.com/office/drawing/2014/main" val="2811603814"/>
                  </a:ext>
                </a:extLst>
              </a:tr>
              <a:tr h="1755493">
                <a:tc>
                  <a:txBody>
                    <a:bodyPr/>
                    <a:lstStyle/>
                    <a:p>
                      <a:pPr lvl="0" algn="ctr">
                        <a:lnSpc>
                          <a:spcPts val="1275"/>
                        </a:lnSpc>
                        <a:buNone/>
                      </a:pPr>
                      <a:r>
                        <a:rPr lang="en-US" sz="1200" b="1"/>
                        <a:t>Base Submission</a:t>
                      </a:r>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cap="flat" cmpd="sng" algn="ctr">
                      <a:solidFill>
                        <a:srgbClr val="FFFFFF"/>
                      </a:solidFill>
                      <a:prstDash val="solid"/>
                      <a:round/>
                      <a:headEnd type="none" w="med" len="med"/>
                      <a:tailEnd type="none" w="med" len="med"/>
                    </a:lnL>
                    <a:lnR w="12058">
                      <a:solidFill>
                        <a:srgbClr val="FFFFFF"/>
                      </a:solidFill>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zh-CN" alt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extLst>
                  <a:ext uri="{0D108BD9-81ED-4DB2-BD59-A6C34878D82A}">
                    <a16:rowId xmlns:a16="http://schemas.microsoft.com/office/drawing/2014/main" val="157023489"/>
                  </a:ext>
                </a:extLst>
              </a:tr>
            </a:tbl>
          </a:graphicData>
        </a:graphic>
      </p:graphicFrame>
      <p:sp>
        <p:nvSpPr>
          <p:cNvPr id="2" name="标题 1">
            <a:extLst>
              <a:ext uri="{FF2B5EF4-FFF2-40B4-BE49-F238E27FC236}">
                <a16:creationId xmlns:a16="http://schemas.microsoft.com/office/drawing/2014/main" id="{4C6E436C-26DC-D12A-C036-B7CFC26C3AE5}"/>
              </a:ext>
            </a:extLst>
          </p:cNvPr>
          <p:cNvSpPr>
            <a:spLocks noGrp="1"/>
          </p:cNvSpPr>
          <p:nvPr>
            <p:ph type="title"/>
          </p:nvPr>
        </p:nvSpPr>
        <p:spPr>
          <a:xfrm>
            <a:off x="321236" y="297358"/>
            <a:ext cx="11233151" cy="720000"/>
          </a:xfrm>
        </p:spPr>
        <p:txBody>
          <a:bodyPr/>
          <a:lstStyle/>
          <a:p>
            <a:r>
              <a:rPr lang="en-US" altLang="zh-CN"/>
              <a:t>Verducatib – Approval timeline in focus countries (adults + adols)</a:t>
            </a:r>
            <a:br>
              <a:rPr lang="en-US" altLang="zh-CN"/>
            </a:br>
            <a:r>
              <a:rPr lang="en-US" altLang="zh-CN"/>
              <a:t>(</a:t>
            </a:r>
            <a:r>
              <a:rPr lang="en-US" altLang="zh-CN" b="0">
                <a:solidFill>
                  <a:srgbClr val="FF0000"/>
                </a:solidFill>
              </a:rPr>
              <a:t>not finalized for socialization</a:t>
            </a:r>
            <a:r>
              <a:rPr lang="en-US" altLang="zh-CN"/>
              <a:t>)</a:t>
            </a:r>
            <a:endParaRPr lang="zh-CN" altLang="en-US"/>
          </a:p>
        </p:txBody>
      </p:sp>
      <p:sp>
        <p:nvSpPr>
          <p:cNvPr id="5" name="页脚占位符 4">
            <a:extLst>
              <a:ext uri="{FF2B5EF4-FFF2-40B4-BE49-F238E27FC236}">
                <a16:creationId xmlns:a16="http://schemas.microsoft.com/office/drawing/2014/main" id="{222BD855-6E46-F9B7-9BD1-061D528E2A9A}"/>
              </a:ext>
            </a:extLst>
          </p:cNvPr>
          <p:cNvSpPr>
            <a:spLocks noGrp="1"/>
          </p:cNvSpPr>
          <p:nvPr>
            <p:ph type="ftr" sz="quarter" idx="19"/>
          </p:nvPr>
        </p:nvSpPr>
        <p:spPr/>
        <p:txBody>
          <a:bodyPr/>
          <a:lstStyle/>
          <a:p>
            <a:r>
              <a:rPr lang="en-US" altLang="zh-CN"/>
              <a:t>TA PEC  Update|    ONLY FOR INTERNAL USE</a:t>
            </a:r>
          </a:p>
        </p:txBody>
      </p:sp>
      <p:sp>
        <p:nvSpPr>
          <p:cNvPr id="6" name="灯片编号占位符 5">
            <a:extLst>
              <a:ext uri="{FF2B5EF4-FFF2-40B4-BE49-F238E27FC236}">
                <a16:creationId xmlns:a16="http://schemas.microsoft.com/office/drawing/2014/main" id="{49EB683F-3C98-3A2C-6FD9-1C01B3FBA8F9}"/>
              </a:ext>
            </a:extLst>
          </p:cNvPr>
          <p:cNvSpPr>
            <a:spLocks noGrp="1"/>
          </p:cNvSpPr>
          <p:nvPr>
            <p:ph type="sldNum" sz="quarter" idx="20"/>
          </p:nvPr>
        </p:nvSpPr>
        <p:spPr/>
        <p:txBody>
          <a:bodyPr/>
          <a:lstStyle/>
          <a:p>
            <a:fld id="{DF4E8F9F-5B1F-4F5B-BE49-3245D8C18D9F}" type="slidenum">
              <a:rPr lang="en-US" smtClean="0"/>
              <a:pPr/>
              <a:t>23</a:t>
            </a:fld>
            <a:endParaRPr lang="en-US"/>
          </a:p>
        </p:txBody>
      </p:sp>
      <p:sp>
        <p:nvSpPr>
          <p:cNvPr id="9" name="星形: 五角 8">
            <a:extLst>
              <a:ext uri="{FF2B5EF4-FFF2-40B4-BE49-F238E27FC236}">
                <a16:creationId xmlns:a16="http://schemas.microsoft.com/office/drawing/2014/main" id="{E47EC088-63F3-844C-73F4-3AD83D6CA6D6}"/>
              </a:ext>
            </a:extLst>
          </p:cNvPr>
          <p:cNvSpPr/>
          <p:nvPr/>
        </p:nvSpPr>
        <p:spPr bwMode="gray">
          <a:xfrm>
            <a:off x="1291493" y="2141415"/>
            <a:ext cx="289170" cy="298939"/>
          </a:xfrm>
          <a:prstGeom prst="star5">
            <a:avLst/>
          </a:prstGeom>
          <a:solidFill>
            <a:schemeClr val="accent4">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0" name="文本框 9">
            <a:extLst>
              <a:ext uri="{FF2B5EF4-FFF2-40B4-BE49-F238E27FC236}">
                <a16:creationId xmlns:a16="http://schemas.microsoft.com/office/drawing/2014/main" id="{E4632A17-E743-9279-4FFF-48190B1DC986}"/>
              </a:ext>
            </a:extLst>
          </p:cNvPr>
          <p:cNvSpPr txBox="1"/>
          <p:nvPr/>
        </p:nvSpPr>
        <p:spPr bwMode="gray">
          <a:xfrm>
            <a:off x="1580663" y="2345715"/>
            <a:ext cx="1162538" cy="12311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800" b="1" baseline="0">
                <a:solidFill>
                  <a:srgbClr val="08312A"/>
                </a:solidFill>
                <a:latin typeface="Boehringer Forward Text"/>
              </a:rPr>
              <a:t>DBL</a:t>
            </a:r>
            <a:r>
              <a:rPr lang="en-US" sz="800" b="1">
                <a:solidFill>
                  <a:srgbClr val="08312A"/>
                </a:solidFill>
                <a:latin typeface="Boehringer Forward Text"/>
              </a:rPr>
              <a:t>, 20 Sep 2027</a:t>
            </a:r>
            <a:r>
              <a:rPr sz="800">
                <a:latin typeface="Boehringer Forward Text"/>
                <a:ea typeface="Boehringer Forward Text"/>
                <a:cs typeface="Boehringer Forward Text"/>
              </a:rPr>
              <a:t>​</a:t>
            </a:r>
            <a:endParaRPr lang="zh-CN" altLang="en-US" sz="2000"/>
          </a:p>
        </p:txBody>
      </p:sp>
      <p:sp>
        <p:nvSpPr>
          <p:cNvPr id="11" name="等腰三角形 10">
            <a:extLst>
              <a:ext uri="{FF2B5EF4-FFF2-40B4-BE49-F238E27FC236}">
                <a16:creationId xmlns:a16="http://schemas.microsoft.com/office/drawing/2014/main" id="{66603E9E-C9EF-979B-1B0C-86A6C9B77160}"/>
              </a:ext>
            </a:extLst>
          </p:cNvPr>
          <p:cNvSpPr/>
          <p:nvPr/>
        </p:nvSpPr>
        <p:spPr bwMode="gray">
          <a:xfrm>
            <a:off x="2312494" y="2697871"/>
            <a:ext cx="288934" cy="240324"/>
          </a:xfrm>
          <a:prstGeom prst="triangle">
            <a:avLst/>
          </a:prstGeom>
          <a:solidFill>
            <a:srgbClr val="1E359F"/>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2" name="等腰三角形 11">
            <a:extLst>
              <a:ext uri="{FF2B5EF4-FFF2-40B4-BE49-F238E27FC236}">
                <a16:creationId xmlns:a16="http://schemas.microsoft.com/office/drawing/2014/main" id="{CBB05ED4-AECE-F97B-DAB1-3CD57EA99D10}"/>
              </a:ext>
            </a:extLst>
          </p:cNvPr>
          <p:cNvSpPr/>
          <p:nvPr/>
        </p:nvSpPr>
        <p:spPr bwMode="gray">
          <a:xfrm>
            <a:off x="3259231" y="3424926"/>
            <a:ext cx="288934" cy="240324"/>
          </a:xfrm>
          <a:prstGeom prst="triangle">
            <a:avLst/>
          </a:prstGeom>
          <a:solidFill>
            <a:srgbClr val="346AA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4" name="等腰三角形 13">
            <a:extLst>
              <a:ext uri="{FF2B5EF4-FFF2-40B4-BE49-F238E27FC236}">
                <a16:creationId xmlns:a16="http://schemas.microsoft.com/office/drawing/2014/main" id="{2678011B-0178-0AC7-8641-335DFE288110}"/>
              </a:ext>
            </a:extLst>
          </p:cNvPr>
          <p:cNvSpPr/>
          <p:nvPr/>
        </p:nvSpPr>
        <p:spPr bwMode="gray">
          <a:xfrm>
            <a:off x="2312494" y="3985944"/>
            <a:ext cx="288934" cy="240324"/>
          </a:xfrm>
          <a:prstGeom prst="triangle">
            <a:avLst/>
          </a:prstGeom>
          <a:solidFill>
            <a:srgbClr val="D80B0C"/>
          </a:solidFill>
          <a:ln w="6350">
            <a:solidFill>
              <a:srgbClr val="E1B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pic>
        <p:nvPicPr>
          <p:cNvPr id="15" name="图片 14" descr="徽标, 公司名称&#10;&#10;AI 生成的内容可能不正确。">
            <a:extLst>
              <a:ext uri="{FF2B5EF4-FFF2-40B4-BE49-F238E27FC236}">
                <a16:creationId xmlns:a16="http://schemas.microsoft.com/office/drawing/2014/main" id="{33DB51BB-596A-2E13-5A50-F134BB0AC3FB}"/>
              </a:ext>
            </a:extLst>
          </p:cNvPr>
          <p:cNvPicPr>
            <a:picLocks noChangeAspect="1"/>
          </p:cNvPicPr>
          <p:nvPr/>
        </p:nvPicPr>
        <p:blipFill>
          <a:blip r:embed="rId2"/>
          <a:srcRect l="-48" t="-242" r="80574" b="-821"/>
          <a:stretch>
            <a:fillRect/>
          </a:stretch>
        </p:blipFill>
        <p:spPr>
          <a:xfrm>
            <a:off x="1317884" y="2637790"/>
            <a:ext cx="459477" cy="353906"/>
          </a:xfrm>
          <a:prstGeom prst="rect">
            <a:avLst/>
          </a:prstGeom>
        </p:spPr>
      </p:pic>
      <p:pic>
        <p:nvPicPr>
          <p:cNvPr id="16" name="图片 15" descr="图标&#10;&#10;AI 生成的内容可能不正确。">
            <a:extLst>
              <a:ext uri="{FF2B5EF4-FFF2-40B4-BE49-F238E27FC236}">
                <a16:creationId xmlns:a16="http://schemas.microsoft.com/office/drawing/2014/main" id="{EA47EDE1-744C-BA55-6036-EDE1642FDE3F}"/>
              </a:ext>
            </a:extLst>
          </p:cNvPr>
          <p:cNvPicPr>
            <a:picLocks noChangeAspect="1"/>
          </p:cNvPicPr>
          <p:nvPr/>
        </p:nvPicPr>
        <p:blipFill>
          <a:blip r:embed="rId3"/>
          <a:stretch>
            <a:fillRect/>
          </a:stretch>
        </p:blipFill>
        <p:spPr>
          <a:xfrm>
            <a:off x="1321970" y="3446848"/>
            <a:ext cx="795088" cy="234116"/>
          </a:xfrm>
          <a:prstGeom prst="rect">
            <a:avLst/>
          </a:prstGeom>
        </p:spPr>
      </p:pic>
      <p:pic>
        <p:nvPicPr>
          <p:cNvPr id="17" name="图片 16">
            <a:extLst>
              <a:ext uri="{FF2B5EF4-FFF2-40B4-BE49-F238E27FC236}">
                <a16:creationId xmlns:a16="http://schemas.microsoft.com/office/drawing/2014/main" id="{D8918C55-7F21-18BE-A330-57796735C39D}"/>
              </a:ext>
            </a:extLst>
          </p:cNvPr>
          <p:cNvPicPr>
            <a:picLocks noChangeAspect="1"/>
          </p:cNvPicPr>
          <p:nvPr/>
        </p:nvPicPr>
        <p:blipFill>
          <a:blip r:embed="rId4"/>
          <a:srcRect l="690" t="2417" r="-1913" b="4401"/>
          <a:stretch>
            <a:fillRect/>
          </a:stretch>
        </p:blipFill>
        <p:spPr>
          <a:xfrm>
            <a:off x="1780221" y="2629228"/>
            <a:ext cx="347549" cy="354325"/>
          </a:xfrm>
          <a:prstGeom prst="rect">
            <a:avLst/>
          </a:prstGeom>
        </p:spPr>
      </p:pic>
      <p:pic>
        <p:nvPicPr>
          <p:cNvPr id="18" name="图片 17" descr="卡通人物&#10;&#10;AI 生成的内容可能不正确。">
            <a:extLst>
              <a:ext uri="{FF2B5EF4-FFF2-40B4-BE49-F238E27FC236}">
                <a16:creationId xmlns:a16="http://schemas.microsoft.com/office/drawing/2014/main" id="{EBEA8400-A316-4041-FD5E-4C4B4734430F}"/>
              </a:ext>
            </a:extLst>
          </p:cNvPr>
          <p:cNvPicPr>
            <a:picLocks noChangeAspect="1"/>
          </p:cNvPicPr>
          <p:nvPr/>
        </p:nvPicPr>
        <p:blipFill>
          <a:blip r:embed="rId5"/>
          <a:srcRect l="5953" r="-4965" b="-993"/>
          <a:stretch>
            <a:fillRect/>
          </a:stretch>
        </p:blipFill>
        <p:spPr>
          <a:xfrm>
            <a:off x="1336717" y="3852687"/>
            <a:ext cx="381141" cy="379309"/>
          </a:xfrm>
          <a:prstGeom prst="rect">
            <a:avLst/>
          </a:prstGeom>
        </p:spPr>
      </p:pic>
      <p:pic>
        <p:nvPicPr>
          <p:cNvPr id="19" name="图片 18" descr="徽标, 公司名称&#10;&#10;AI 生成的内容可能不正确。">
            <a:extLst>
              <a:ext uri="{FF2B5EF4-FFF2-40B4-BE49-F238E27FC236}">
                <a16:creationId xmlns:a16="http://schemas.microsoft.com/office/drawing/2014/main" id="{16E15394-2E4C-3E68-F339-E773CAA1A6FE}"/>
              </a:ext>
            </a:extLst>
          </p:cNvPr>
          <p:cNvPicPr>
            <a:picLocks noChangeAspect="1"/>
          </p:cNvPicPr>
          <p:nvPr/>
        </p:nvPicPr>
        <p:blipFill>
          <a:blip r:embed="rId2"/>
          <a:srcRect l="-48" t="-242" r="80574" b="-821"/>
          <a:stretch>
            <a:fillRect/>
          </a:stretch>
        </p:blipFill>
        <p:spPr>
          <a:xfrm>
            <a:off x="1335007" y="4511567"/>
            <a:ext cx="459477" cy="353906"/>
          </a:xfrm>
          <a:prstGeom prst="rect">
            <a:avLst/>
          </a:prstGeom>
        </p:spPr>
      </p:pic>
      <p:pic>
        <p:nvPicPr>
          <p:cNvPr id="20" name="图片 19" descr="图标&#10;&#10;AI 生成的内容可能不正确。">
            <a:extLst>
              <a:ext uri="{FF2B5EF4-FFF2-40B4-BE49-F238E27FC236}">
                <a16:creationId xmlns:a16="http://schemas.microsoft.com/office/drawing/2014/main" id="{67D31D60-5483-1344-CCB1-FCD6FAF574E4}"/>
              </a:ext>
            </a:extLst>
          </p:cNvPr>
          <p:cNvPicPr>
            <a:picLocks noChangeAspect="1"/>
          </p:cNvPicPr>
          <p:nvPr/>
        </p:nvPicPr>
        <p:blipFill>
          <a:blip r:embed="rId3"/>
          <a:stretch>
            <a:fillRect/>
          </a:stretch>
        </p:blipFill>
        <p:spPr>
          <a:xfrm>
            <a:off x="1339093" y="5056465"/>
            <a:ext cx="795088" cy="234116"/>
          </a:xfrm>
          <a:prstGeom prst="rect">
            <a:avLst/>
          </a:prstGeom>
        </p:spPr>
      </p:pic>
      <p:pic>
        <p:nvPicPr>
          <p:cNvPr id="21" name="图片 20">
            <a:extLst>
              <a:ext uri="{FF2B5EF4-FFF2-40B4-BE49-F238E27FC236}">
                <a16:creationId xmlns:a16="http://schemas.microsoft.com/office/drawing/2014/main" id="{4537B673-7DBD-3300-ABB8-C9D9296DC694}"/>
              </a:ext>
            </a:extLst>
          </p:cNvPr>
          <p:cNvPicPr>
            <a:picLocks noChangeAspect="1"/>
          </p:cNvPicPr>
          <p:nvPr/>
        </p:nvPicPr>
        <p:blipFill>
          <a:blip r:embed="rId4"/>
          <a:srcRect l="690" t="2417" r="-1913" b="4401"/>
          <a:stretch>
            <a:fillRect/>
          </a:stretch>
        </p:blipFill>
        <p:spPr>
          <a:xfrm>
            <a:off x="1797344" y="4503005"/>
            <a:ext cx="347549" cy="354325"/>
          </a:xfrm>
          <a:prstGeom prst="rect">
            <a:avLst/>
          </a:prstGeom>
        </p:spPr>
      </p:pic>
      <p:pic>
        <p:nvPicPr>
          <p:cNvPr id="23" name="图形 22" descr="标志 纯色填充">
            <a:extLst>
              <a:ext uri="{FF2B5EF4-FFF2-40B4-BE49-F238E27FC236}">
                <a16:creationId xmlns:a16="http://schemas.microsoft.com/office/drawing/2014/main" id="{A2326CCA-D1C5-7488-6A0E-AC944BFCA66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24755" y="2630584"/>
            <a:ext cx="332198" cy="306514"/>
          </a:xfrm>
          <a:prstGeom prst="rect">
            <a:avLst/>
          </a:prstGeom>
        </p:spPr>
      </p:pic>
      <p:pic>
        <p:nvPicPr>
          <p:cNvPr id="24" name="图形 23" descr="标志 纯色填充">
            <a:extLst>
              <a:ext uri="{FF2B5EF4-FFF2-40B4-BE49-F238E27FC236}">
                <a16:creationId xmlns:a16="http://schemas.microsoft.com/office/drawing/2014/main" id="{1E29DC47-97D7-957F-0ED0-F232733D91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46013" y="2601667"/>
            <a:ext cx="332198" cy="306514"/>
          </a:xfrm>
          <a:prstGeom prst="rect">
            <a:avLst/>
          </a:prstGeom>
        </p:spPr>
      </p:pic>
      <p:pic>
        <p:nvPicPr>
          <p:cNvPr id="25" name="图形 24" descr="标志 纯色填充">
            <a:extLst>
              <a:ext uri="{FF2B5EF4-FFF2-40B4-BE49-F238E27FC236}">
                <a16:creationId xmlns:a16="http://schemas.microsoft.com/office/drawing/2014/main" id="{951FDC6B-5F5A-2FE8-BBB1-7792DA98E1C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94305" y="3357081"/>
            <a:ext cx="332198" cy="306514"/>
          </a:xfrm>
          <a:prstGeom prst="rect">
            <a:avLst/>
          </a:prstGeom>
        </p:spPr>
      </p:pic>
      <p:pic>
        <p:nvPicPr>
          <p:cNvPr id="26" name="图形 25" descr="标志 纯色填充">
            <a:extLst>
              <a:ext uri="{FF2B5EF4-FFF2-40B4-BE49-F238E27FC236}">
                <a16:creationId xmlns:a16="http://schemas.microsoft.com/office/drawing/2014/main" id="{00B79986-A206-76AB-EDC1-E721B61AC8B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04934" y="3357081"/>
            <a:ext cx="332198" cy="306514"/>
          </a:xfrm>
          <a:prstGeom prst="rect">
            <a:avLst/>
          </a:prstGeom>
        </p:spPr>
      </p:pic>
      <p:pic>
        <p:nvPicPr>
          <p:cNvPr id="27" name="图形 26" descr="标志 纯色填充">
            <a:extLst>
              <a:ext uri="{FF2B5EF4-FFF2-40B4-BE49-F238E27FC236}">
                <a16:creationId xmlns:a16="http://schemas.microsoft.com/office/drawing/2014/main" id="{E3E442BD-260C-D143-C496-50EDFF77892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83339" y="3947845"/>
            <a:ext cx="332198" cy="306514"/>
          </a:xfrm>
          <a:prstGeom prst="rect">
            <a:avLst/>
          </a:prstGeom>
        </p:spPr>
      </p:pic>
      <p:pic>
        <p:nvPicPr>
          <p:cNvPr id="28" name="图形 27" descr="标志 纯色填充">
            <a:extLst>
              <a:ext uri="{FF2B5EF4-FFF2-40B4-BE49-F238E27FC236}">
                <a16:creationId xmlns:a16="http://schemas.microsoft.com/office/drawing/2014/main" id="{449B3218-3777-03A7-469A-2B07E186C2B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089204" y="3898999"/>
            <a:ext cx="332198" cy="306514"/>
          </a:xfrm>
          <a:prstGeom prst="rect">
            <a:avLst/>
          </a:prstGeom>
        </p:spPr>
      </p:pic>
      <p:sp>
        <p:nvSpPr>
          <p:cNvPr id="29" name="等腰三角形 28">
            <a:extLst>
              <a:ext uri="{FF2B5EF4-FFF2-40B4-BE49-F238E27FC236}">
                <a16:creationId xmlns:a16="http://schemas.microsoft.com/office/drawing/2014/main" id="{D24A21D3-D29A-254F-ADB0-7457627B3537}"/>
              </a:ext>
            </a:extLst>
          </p:cNvPr>
          <p:cNvSpPr/>
          <p:nvPr/>
        </p:nvSpPr>
        <p:spPr bwMode="gray">
          <a:xfrm>
            <a:off x="3271415" y="4528839"/>
            <a:ext cx="288934" cy="240324"/>
          </a:xfrm>
          <a:prstGeom prst="triangle">
            <a:avLst/>
          </a:prstGeom>
          <a:solidFill>
            <a:srgbClr val="1E359F"/>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0" name="等腰三角形 29">
            <a:extLst>
              <a:ext uri="{FF2B5EF4-FFF2-40B4-BE49-F238E27FC236}">
                <a16:creationId xmlns:a16="http://schemas.microsoft.com/office/drawing/2014/main" id="{0C5575B6-48EE-B06D-55CB-FBC81BF0D7A9}"/>
              </a:ext>
            </a:extLst>
          </p:cNvPr>
          <p:cNvSpPr/>
          <p:nvPr/>
        </p:nvSpPr>
        <p:spPr bwMode="gray">
          <a:xfrm>
            <a:off x="4012669" y="5051667"/>
            <a:ext cx="288934" cy="240324"/>
          </a:xfrm>
          <a:prstGeom prst="triangle">
            <a:avLst/>
          </a:prstGeom>
          <a:solidFill>
            <a:srgbClr val="346AA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1" name="等腰三角形 30">
            <a:extLst>
              <a:ext uri="{FF2B5EF4-FFF2-40B4-BE49-F238E27FC236}">
                <a16:creationId xmlns:a16="http://schemas.microsoft.com/office/drawing/2014/main" id="{E3457BBB-43C6-F47D-CC26-19623DB21C3E}"/>
              </a:ext>
            </a:extLst>
          </p:cNvPr>
          <p:cNvSpPr/>
          <p:nvPr/>
        </p:nvSpPr>
        <p:spPr bwMode="gray">
          <a:xfrm>
            <a:off x="3271415" y="5552752"/>
            <a:ext cx="288934" cy="240324"/>
          </a:xfrm>
          <a:prstGeom prst="triangle">
            <a:avLst/>
          </a:prstGeom>
          <a:solidFill>
            <a:srgbClr val="D80B0C"/>
          </a:solidFill>
          <a:ln w="6350">
            <a:solidFill>
              <a:srgbClr val="E1B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pic>
        <p:nvPicPr>
          <p:cNvPr id="32" name="图形 31" descr="标志 纯色填充">
            <a:extLst>
              <a:ext uri="{FF2B5EF4-FFF2-40B4-BE49-F238E27FC236}">
                <a16:creationId xmlns:a16="http://schemas.microsoft.com/office/drawing/2014/main" id="{C3901EC6-7FA7-B533-6B27-759B3DDE10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38126" y="4470115"/>
            <a:ext cx="332198" cy="306514"/>
          </a:xfrm>
          <a:prstGeom prst="rect">
            <a:avLst/>
          </a:prstGeom>
        </p:spPr>
      </p:pic>
      <p:pic>
        <p:nvPicPr>
          <p:cNvPr id="35" name="图形 34" descr="标志 纯色填充">
            <a:extLst>
              <a:ext uri="{FF2B5EF4-FFF2-40B4-BE49-F238E27FC236}">
                <a16:creationId xmlns:a16="http://schemas.microsoft.com/office/drawing/2014/main" id="{48D979A0-E5C2-90D8-409C-DDA0D25CFE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60058" y="4932452"/>
            <a:ext cx="332198" cy="306514"/>
          </a:xfrm>
          <a:prstGeom prst="rect">
            <a:avLst/>
          </a:prstGeom>
        </p:spPr>
      </p:pic>
      <p:pic>
        <p:nvPicPr>
          <p:cNvPr id="36" name="图形 35" descr="标志 纯色填充">
            <a:extLst>
              <a:ext uri="{FF2B5EF4-FFF2-40B4-BE49-F238E27FC236}">
                <a16:creationId xmlns:a16="http://schemas.microsoft.com/office/drawing/2014/main" id="{E2FF1962-1E5B-E8F0-82DC-5AC22226C18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70687" y="4932452"/>
            <a:ext cx="332198" cy="306514"/>
          </a:xfrm>
          <a:prstGeom prst="rect">
            <a:avLst/>
          </a:prstGeom>
        </p:spPr>
      </p:pic>
      <p:pic>
        <p:nvPicPr>
          <p:cNvPr id="37" name="图形 36" descr="标志 纯色填充">
            <a:extLst>
              <a:ext uri="{FF2B5EF4-FFF2-40B4-BE49-F238E27FC236}">
                <a16:creationId xmlns:a16="http://schemas.microsoft.com/office/drawing/2014/main" id="{C496937A-B22B-CCF1-8DE1-8AC097DE9C9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787810" y="5540339"/>
            <a:ext cx="332198" cy="306514"/>
          </a:xfrm>
          <a:prstGeom prst="rect">
            <a:avLst/>
          </a:prstGeom>
        </p:spPr>
      </p:pic>
      <p:pic>
        <p:nvPicPr>
          <p:cNvPr id="38" name="图形 37" descr="标志 纯色填充">
            <a:extLst>
              <a:ext uri="{FF2B5EF4-FFF2-40B4-BE49-F238E27FC236}">
                <a16:creationId xmlns:a16="http://schemas.microsoft.com/office/drawing/2014/main" id="{BF5D15EA-8C6B-FFBB-581B-E8E2CEC2E2B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193675" y="5540339"/>
            <a:ext cx="332198" cy="306514"/>
          </a:xfrm>
          <a:prstGeom prst="rect">
            <a:avLst/>
          </a:prstGeom>
        </p:spPr>
      </p:pic>
      <p:sp>
        <p:nvSpPr>
          <p:cNvPr id="39" name="文本框 38">
            <a:extLst>
              <a:ext uri="{FF2B5EF4-FFF2-40B4-BE49-F238E27FC236}">
                <a16:creationId xmlns:a16="http://schemas.microsoft.com/office/drawing/2014/main" id="{54322711-0B34-A873-166E-649A3D1A5E4A}"/>
              </a:ext>
            </a:extLst>
          </p:cNvPr>
          <p:cNvSpPr txBox="1"/>
          <p:nvPr/>
        </p:nvSpPr>
        <p:spPr bwMode="gray">
          <a:xfrm>
            <a:off x="2621202" y="2762055"/>
            <a:ext cx="157536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t>US/EU NDA Subm</a:t>
            </a:r>
          </a:p>
        </p:txBody>
      </p:sp>
      <p:sp>
        <p:nvSpPr>
          <p:cNvPr id="3" name="文本框 38">
            <a:extLst>
              <a:ext uri="{FF2B5EF4-FFF2-40B4-BE49-F238E27FC236}">
                <a16:creationId xmlns:a16="http://schemas.microsoft.com/office/drawing/2014/main" id="{31E74352-0C26-138B-C14B-9974D50C75DA}"/>
              </a:ext>
            </a:extLst>
          </p:cNvPr>
          <p:cNvSpPr txBox="1"/>
          <p:nvPr/>
        </p:nvSpPr>
        <p:spPr bwMode="gray">
          <a:xfrm>
            <a:off x="3599382" y="3463789"/>
            <a:ext cx="157536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JP </a:t>
            </a:r>
            <a:r>
              <a:rPr lang="zh-CN" altLang="en-US" sz="1100"/>
              <a:t>NDA Subm</a:t>
            </a:r>
          </a:p>
        </p:txBody>
      </p:sp>
      <p:sp>
        <p:nvSpPr>
          <p:cNvPr id="4" name="文本框 38">
            <a:extLst>
              <a:ext uri="{FF2B5EF4-FFF2-40B4-BE49-F238E27FC236}">
                <a16:creationId xmlns:a16="http://schemas.microsoft.com/office/drawing/2014/main" id="{DEE39779-EC8B-36A3-2B3A-01DFC6063B12}"/>
              </a:ext>
            </a:extLst>
          </p:cNvPr>
          <p:cNvSpPr txBox="1"/>
          <p:nvPr/>
        </p:nvSpPr>
        <p:spPr bwMode="gray">
          <a:xfrm>
            <a:off x="2621202" y="4028321"/>
            <a:ext cx="157536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CN </a:t>
            </a:r>
            <a:r>
              <a:rPr lang="zh-CN" altLang="en-US" sz="1100"/>
              <a:t>NDA Subm</a:t>
            </a:r>
          </a:p>
        </p:txBody>
      </p:sp>
      <p:sp>
        <p:nvSpPr>
          <p:cNvPr id="7" name="文本框 38">
            <a:extLst>
              <a:ext uri="{FF2B5EF4-FFF2-40B4-BE49-F238E27FC236}">
                <a16:creationId xmlns:a16="http://schemas.microsoft.com/office/drawing/2014/main" id="{CFE8389C-B78B-513F-3C3D-3E69D51E33C6}"/>
              </a:ext>
            </a:extLst>
          </p:cNvPr>
          <p:cNvSpPr txBox="1"/>
          <p:nvPr/>
        </p:nvSpPr>
        <p:spPr bwMode="gray">
          <a:xfrm>
            <a:off x="4784357" y="2975447"/>
            <a:ext cx="1855983"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t>US </a:t>
            </a:r>
            <a:r>
              <a:rPr lang="en-US" altLang="zh-CN" sz="1100"/>
              <a:t>approval &amp; launch (best)</a:t>
            </a:r>
            <a:endParaRPr lang="zh-CN" altLang="en-US" sz="1100"/>
          </a:p>
        </p:txBody>
      </p:sp>
      <p:sp>
        <p:nvSpPr>
          <p:cNvPr id="13" name="文本框 38">
            <a:extLst>
              <a:ext uri="{FF2B5EF4-FFF2-40B4-BE49-F238E27FC236}">
                <a16:creationId xmlns:a16="http://schemas.microsoft.com/office/drawing/2014/main" id="{8CDE808B-73E4-C81F-8B4F-38F7A1A2CABE}"/>
              </a:ext>
            </a:extLst>
          </p:cNvPr>
          <p:cNvSpPr txBox="1"/>
          <p:nvPr/>
        </p:nvSpPr>
        <p:spPr bwMode="gray">
          <a:xfrm>
            <a:off x="3619085" y="4592853"/>
            <a:ext cx="157536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t>US/EU NDA Subm</a:t>
            </a:r>
          </a:p>
        </p:txBody>
      </p:sp>
      <p:sp>
        <p:nvSpPr>
          <p:cNvPr id="33" name="文本框 38">
            <a:extLst>
              <a:ext uri="{FF2B5EF4-FFF2-40B4-BE49-F238E27FC236}">
                <a16:creationId xmlns:a16="http://schemas.microsoft.com/office/drawing/2014/main" id="{1305030D-894D-77F4-7F15-BE9EEA4460C3}"/>
              </a:ext>
            </a:extLst>
          </p:cNvPr>
          <p:cNvSpPr txBox="1"/>
          <p:nvPr/>
        </p:nvSpPr>
        <p:spPr bwMode="gray">
          <a:xfrm>
            <a:off x="4362443" y="5104500"/>
            <a:ext cx="157536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JP </a:t>
            </a:r>
            <a:r>
              <a:rPr lang="zh-CN" altLang="en-US" sz="1100"/>
              <a:t>NDA Subm</a:t>
            </a:r>
          </a:p>
        </p:txBody>
      </p:sp>
      <p:sp>
        <p:nvSpPr>
          <p:cNvPr id="34" name="文本框 38">
            <a:extLst>
              <a:ext uri="{FF2B5EF4-FFF2-40B4-BE49-F238E27FC236}">
                <a16:creationId xmlns:a16="http://schemas.microsoft.com/office/drawing/2014/main" id="{AE95A460-364D-7317-A985-70AF95C7F5AC}"/>
              </a:ext>
            </a:extLst>
          </p:cNvPr>
          <p:cNvSpPr txBox="1"/>
          <p:nvPr/>
        </p:nvSpPr>
        <p:spPr bwMode="gray">
          <a:xfrm>
            <a:off x="3616506" y="5629678"/>
            <a:ext cx="157536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CN </a:t>
            </a:r>
            <a:r>
              <a:rPr lang="zh-CN" altLang="en-US" sz="1100"/>
              <a:t>NDA Subm</a:t>
            </a:r>
          </a:p>
        </p:txBody>
      </p:sp>
      <p:pic>
        <p:nvPicPr>
          <p:cNvPr id="41" name="Graphic 40" descr="Rocket outline">
            <a:extLst>
              <a:ext uri="{FF2B5EF4-FFF2-40B4-BE49-F238E27FC236}">
                <a16:creationId xmlns:a16="http://schemas.microsoft.com/office/drawing/2014/main" id="{F00E2B77-35D7-A522-E947-7F6D02457ED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502362" y="2797991"/>
            <a:ext cx="254220" cy="194456"/>
          </a:xfrm>
          <a:prstGeom prst="rect">
            <a:avLst/>
          </a:prstGeom>
        </p:spPr>
      </p:pic>
      <p:pic>
        <p:nvPicPr>
          <p:cNvPr id="42" name="Graphic 41" descr="Rocket outline">
            <a:extLst>
              <a:ext uri="{FF2B5EF4-FFF2-40B4-BE49-F238E27FC236}">
                <a16:creationId xmlns:a16="http://schemas.microsoft.com/office/drawing/2014/main" id="{90DAD6C9-6A40-7A75-2302-1477C0CAA0F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027013" y="2720284"/>
            <a:ext cx="198191" cy="220603"/>
          </a:xfrm>
          <a:prstGeom prst="rect">
            <a:avLst/>
          </a:prstGeom>
        </p:spPr>
      </p:pic>
      <p:pic>
        <p:nvPicPr>
          <p:cNvPr id="43" name="Graphic 42" descr="Rocket outline">
            <a:extLst>
              <a:ext uri="{FF2B5EF4-FFF2-40B4-BE49-F238E27FC236}">
                <a16:creationId xmlns:a16="http://schemas.microsoft.com/office/drawing/2014/main" id="{50D341D0-35AD-6CDC-27EC-4AF7F1BB3C5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062732" y="3343889"/>
            <a:ext cx="306514" cy="306514"/>
          </a:xfrm>
          <a:prstGeom prst="rect">
            <a:avLst/>
          </a:prstGeom>
        </p:spPr>
      </p:pic>
      <p:pic>
        <p:nvPicPr>
          <p:cNvPr id="44" name="Graphic 43" descr="Rocket outline">
            <a:extLst>
              <a:ext uri="{FF2B5EF4-FFF2-40B4-BE49-F238E27FC236}">
                <a16:creationId xmlns:a16="http://schemas.microsoft.com/office/drawing/2014/main" id="{5D130AF5-2FD3-D2FE-C52D-5B750BE90A6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762855" y="3368324"/>
            <a:ext cx="263109" cy="287223"/>
          </a:xfrm>
          <a:prstGeom prst="rect">
            <a:avLst/>
          </a:prstGeom>
        </p:spPr>
      </p:pic>
      <p:pic>
        <p:nvPicPr>
          <p:cNvPr id="45" name="Graphic 44" descr="Rocket outline">
            <a:extLst>
              <a:ext uri="{FF2B5EF4-FFF2-40B4-BE49-F238E27FC236}">
                <a16:creationId xmlns:a16="http://schemas.microsoft.com/office/drawing/2014/main" id="{5A1EF79C-26C2-B099-AF98-4CC8DA28DD8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763767" y="3938318"/>
            <a:ext cx="234173" cy="263109"/>
          </a:xfrm>
          <a:prstGeom prst="rect">
            <a:avLst/>
          </a:prstGeom>
        </p:spPr>
      </p:pic>
      <p:pic>
        <p:nvPicPr>
          <p:cNvPr id="46" name="Graphic 45" descr="Rocket outline">
            <a:extLst>
              <a:ext uri="{FF2B5EF4-FFF2-40B4-BE49-F238E27FC236}">
                <a16:creationId xmlns:a16="http://schemas.microsoft.com/office/drawing/2014/main" id="{6D8B81D0-FF3C-74C8-A21B-72889D20C02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322860" y="3938695"/>
            <a:ext cx="235544" cy="265427"/>
          </a:xfrm>
          <a:prstGeom prst="rect">
            <a:avLst/>
          </a:prstGeom>
        </p:spPr>
      </p:pic>
      <p:sp>
        <p:nvSpPr>
          <p:cNvPr id="50" name="文本框 38">
            <a:extLst>
              <a:ext uri="{FF2B5EF4-FFF2-40B4-BE49-F238E27FC236}">
                <a16:creationId xmlns:a16="http://schemas.microsoft.com/office/drawing/2014/main" id="{1615B826-9670-F765-3968-47722E59F8F5}"/>
              </a:ext>
            </a:extLst>
          </p:cNvPr>
          <p:cNvSpPr txBox="1"/>
          <p:nvPr/>
        </p:nvSpPr>
        <p:spPr bwMode="gray">
          <a:xfrm>
            <a:off x="6934619" y="2940909"/>
            <a:ext cx="2084798"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t>US </a:t>
            </a:r>
            <a:r>
              <a:rPr lang="en-US" altLang="zh-CN" sz="1100"/>
              <a:t>approval &amp; launch (base)</a:t>
            </a:r>
            <a:endParaRPr lang="zh-CN" altLang="en-US" sz="1100"/>
          </a:p>
        </p:txBody>
      </p:sp>
      <p:sp>
        <p:nvSpPr>
          <p:cNvPr id="51" name="文本框 38">
            <a:extLst>
              <a:ext uri="{FF2B5EF4-FFF2-40B4-BE49-F238E27FC236}">
                <a16:creationId xmlns:a16="http://schemas.microsoft.com/office/drawing/2014/main" id="{04ED1945-AD40-05FE-8426-D72DF8319A8B}"/>
              </a:ext>
            </a:extLst>
          </p:cNvPr>
          <p:cNvSpPr txBox="1"/>
          <p:nvPr/>
        </p:nvSpPr>
        <p:spPr bwMode="gray">
          <a:xfrm>
            <a:off x="6251375" y="3624364"/>
            <a:ext cx="1334543"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JP approval (best)</a:t>
            </a:r>
            <a:endParaRPr lang="zh-CN" altLang="en-US" sz="1100"/>
          </a:p>
        </p:txBody>
      </p:sp>
      <p:sp>
        <p:nvSpPr>
          <p:cNvPr id="52" name="文本框 38">
            <a:extLst>
              <a:ext uri="{FF2B5EF4-FFF2-40B4-BE49-F238E27FC236}">
                <a16:creationId xmlns:a16="http://schemas.microsoft.com/office/drawing/2014/main" id="{C9E6F8A6-3146-868F-AA2B-59CD232A288A}"/>
              </a:ext>
            </a:extLst>
          </p:cNvPr>
          <p:cNvSpPr txBox="1"/>
          <p:nvPr/>
        </p:nvSpPr>
        <p:spPr bwMode="gray">
          <a:xfrm>
            <a:off x="7667739" y="3654926"/>
            <a:ext cx="1334543"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JP approval (base)</a:t>
            </a:r>
            <a:endParaRPr lang="zh-CN" altLang="en-US" sz="1100"/>
          </a:p>
        </p:txBody>
      </p:sp>
      <p:sp>
        <p:nvSpPr>
          <p:cNvPr id="53" name="文本框 38">
            <a:extLst>
              <a:ext uri="{FF2B5EF4-FFF2-40B4-BE49-F238E27FC236}">
                <a16:creationId xmlns:a16="http://schemas.microsoft.com/office/drawing/2014/main" id="{9C81ECC6-9394-405C-E23F-898C1C6C0AC7}"/>
              </a:ext>
            </a:extLst>
          </p:cNvPr>
          <p:cNvSpPr txBox="1"/>
          <p:nvPr/>
        </p:nvSpPr>
        <p:spPr bwMode="gray">
          <a:xfrm>
            <a:off x="6232521" y="4133171"/>
            <a:ext cx="1901158"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CN approval &amp; Lanuch (best)</a:t>
            </a:r>
            <a:endParaRPr lang="zh-CN" altLang="en-US" sz="1100"/>
          </a:p>
        </p:txBody>
      </p:sp>
      <p:sp>
        <p:nvSpPr>
          <p:cNvPr id="54" name="文本框 38">
            <a:extLst>
              <a:ext uri="{FF2B5EF4-FFF2-40B4-BE49-F238E27FC236}">
                <a16:creationId xmlns:a16="http://schemas.microsoft.com/office/drawing/2014/main" id="{476AFB3A-48DF-EC01-5AF0-8CD19AC5A32E}"/>
              </a:ext>
            </a:extLst>
          </p:cNvPr>
          <p:cNvSpPr txBox="1"/>
          <p:nvPr/>
        </p:nvSpPr>
        <p:spPr bwMode="gray">
          <a:xfrm>
            <a:off x="8758299" y="4188359"/>
            <a:ext cx="191092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CN approval &amp; Launch (base)</a:t>
            </a:r>
            <a:endParaRPr lang="zh-CN" altLang="en-US" sz="1100"/>
          </a:p>
        </p:txBody>
      </p:sp>
      <p:sp>
        <p:nvSpPr>
          <p:cNvPr id="55" name="文本框 38">
            <a:extLst>
              <a:ext uri="{FF2B5EF4-FFF2-40B4-BE49-F238E27FC236}">
                <a16:creationId xmlns:a16="http://schemas.microsoft.com/office/drawing/2014/main" id="{C29D4D93-0285-F922-A53F-E2FBC410FDB3}"/>
              </a:ext>
            </a:extLst>
          </p:cNvPr>
          <p:cNvSpPr txBox="1"/>
          <p:nvPr/>
        </p:nvSpPr>
        <p:spPr bwMode="gray">
          <a:xfrm>
            <a:off x="5932872" y="4707897"/>
            <a:ext cx="1885291"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t>US </a:t>
            </a:r>
            <a:r>
              <a:rPr lang="en-US" altLang="zh-CN" sz="1100"/>
              <a:t>approval &amp; launch (best)</a:t>
            </a:r>
            <a:endParaRPr lang="zh-CN" altLang="en-US" sz="1100"/>
          </a:p>
        </p:txBody>
      </p:sp>
      <p:cxnSp>
        <p:nvCxnSpPr>
          <p:cNvPr id="40" name="直接箭头连接符 39">
            <a:extLst>
              <a:ext uri="{FF2B5EF4-FFF2-40B4-BE49-F238E27FC236}">
                <a16:creationId xmlns:a16="http://schemas.microsoft.com/office/drawing/2014/main" id="{DA1DD2C6-9195-4DCC-9B51-741FAC545324}"/>
              </a:ext>
            </a:extLst>
          </p:cNvPr>
          <p:cNvCxnSpPr/>
          <p:nvPr/>
        </p:nvCxnSpPr>
        <p:spPr bwMode="gray">
          <a:xfrm flipV="1">
            <a:off x="1271954" y="3280508"/>
            <a:ext cx="10468706" cy="3907"/>
          </a:xfrm>
          <a:prstGeom prst="straightConnector1">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27448E82-8A94-BBB2-3DB9-3439CCD7B3FD}"/>
              </a:ext>
            </a:extLst>
          </p:cNvPr>
          <p:cNvCxnSpPr>
            <a:cxnSpLocks/>
          </p:cNvCxnSpPr>
          <p:nvPr/>
        </p:nvCxnSpPr>
        <p:spPr bwMode="gray">
          <a:xfrm flipV="1">
            <a:off x="1301262" y="4921739"/>
            <a:ext cx="10468706" cy="3907"/>
          </a:xfrm>
          <a:prstGeom prst="straightConnector1">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3F15C2C-424C-F059-CE9E-3E9A425F586D}"/>
              </a:ext>
            </a:extLst>
          </p:cNvPr>
          <p:cNvCxnSpPr>
            <a:cxnSpLocks/>
          </p:cNvCxnSpPr>
          <p:nvPr/>
        </p:nvCxnSpPr>
        <p:spPr bwMode="gray">
          <a:xfrm flipV="1">
            <a:off x="1281723" y="5390662"/>
            <a:ext cx="10468706" cy="3907"/>
          </a:xfrm>
          <a:prstGeom prst="straightConnector1">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57" name="Graphic 40" descr="Rocket outline">
            <a:extLst>
              <a:ext uri="{FF2B5EF4-FFF2-40B4-BE49-F238E27FC236}">
                <a16:creationId xmlns:a16="http://schemas.microsoft.com/office/drawing/2014/main" id="{A35913D4-5225-CB18-A814-6827BBA8654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487617" y="4436428"/>
            <a:ext cx="306514" cy="306514"/>
          </a:xfrm>
          <a:prstGeom prst="rect">
            <a:avLst/>
          </a:prstGeom>
        </p:spPr>
      </p:pic>
      <p:pic>
        <p:nvPicPr>
          <p:cNvPr id="58" name="Graphic 42" descr="Rocket outline">
            <a:extLst>
              <a:ext uri="{FF2B5EF4-FFF2-40B4-BE49-F238E27FC236}">
                <a16:creationId xmlns:a16="http://schemas.microsoft.com/office/drawing/2014/main" id="{29B9A33A-E817-E9A0-091E-FBA73940D87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062732" y="4936273"/>
            <a:ext cx="306514" cy="306514"/>
          </a:xfrm>
          <a:prstGeom prst="rect">
            <a:avLst/>
          </a:prstGeom>
        </p:spPr>
      </p:pic>
      <p:pic>
        <p:nvPicPr>
          <p:cNvPr id="59" name="Graphic 43" descr="Rocket outline">
            <a:extLst>
              <a:ext uri="{FF2B5EF4-FFF2-40B4-BE49-F238E27FC236}">
                <a16:creationId xmlns:a16="http://schemas.microsoft.com/office/drawing/2014/main" id="{C1D1F22F-42C6-2FEC-8959-170850FACBD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762855" y="4921507"/>
            <a:ext cx="306514" cy="306514"/>
          </a:xfrm>
          <a:prstGeom prst="rect">
            <a:avLst/>
          </a:prstGeom>
        </p:spPr>
      </p:pic>
      <p:sp>
        <p:nvSpPr>
          <p:cNvPr id="60" name="文本框 38">
            <a:extLst>
              <a:ext uri="{FF2B5EF4-FFF2-40B4-BE49-F238E27FC236}">
                <a16:creationId xmlns:a16="http://schemas.microsoft.com/office/drawing/2014/main" id="{B1250529-B4C3-41FA-2FD8-5BAF5F733CA1}"/>
              </a:ext>
            </a:extLst>
          </p:cNvPr>
          <p:cNvSpPr txBox="1"/>
          <p:nvPr/>
        </p:nvSpPr>
        <p:spPr bwMode="gray">
          <a:xfrm>
            <a:off x="6095067" y="5187440"/>
            <a:ext cx="1334543"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JP approval (best)</a:t>
            </a:r>
            <a:endParaRPr lang="zh-CN" altLang="en-US" sz="1100"/>
          </a:p>
        </p:txBody>
      </p:sp>
      <p:sp>
        <p:nvSpPr>
          <p:cNvPr id="61" name="文本框 38">
            <a:extLst>
              <a:ext uri="{FF2B5EF4-FFF2-40B4-BE49-F238E27FC236}">
                <a16:creationId xmlns:a16="http://schemas.microsoft.com/office/drawing/2014/main" id="{4ACFA8E5-9835-DDAA-229A-11D9354D2C17}"/>
              </a:ext>
            </a:extLst>
          </p:cNvPr>
          <p:cNvSpPr txBox="1"/>
          <p:nvPr/>
        </p:nvSpPr>
        <p:spPr bwMode="gray">
          <a:xfrm>
            <a:off x="7658143" y="5187440"/>
            <a:ext cx="1334543"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JP approval (base)</a:t>
            </a:r>
            <a:endParaRPr lang="zh-CN" altLang="en-US" sz="1100"/>
          </a:p>
        </p:txBody>
      </p:sp>
      <p:sp>
        <p:nvSpPr>
          <p:cNvPr id="62" name="文本框 38">
            <a:extLst>
              <a:ext uri="{FF2B5EF4-FFF2-40B4-BE49-F238E27FC236}">
                <a16:creationId xmlns:a16="http://schemas.microsoft.com/office/drawing/2014/main" id="{43B31B63-0A87-DCCD-669D-AC76261BFFBC}"/>
              </a:ext>
            </a:extLst>
          </p:cNvPr>
          <p:cNvSpPr txBox="1"/>
          <p:nvPr/>
        </p:nvSpPr>
        <p:spPr bwMode="gray">
          <a:xfrm>
            <a:off x="7443905" y="5920940"/>
            <a:ext cx="1901158"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CN approval &amp; Launch (best)</a:t>
            </a:r>
            <a:endParaRPr lang="zh-CN" altLang="en-US" sz="1100"/>
          </a:p>
        </p:txBody>
      </p:sp>
      <p:sp>
        <p:nvSpPr>
          <p:cNvPr id="63" name="文本框 38">
            <a:extLst>
              <a:ext uri="{FF2B5EF4-FFF2-40B4-BE49-F238E27FC236}">
                <a16:creationId xmlns:a16="http://schemas.microsoft.com/office/drawing/2014/main" id="{2894BA0F-4117-7583-E65A-67B598D7AEB2}"/>
              </a:ext>
            </a:extLst>
          </p:cNvPr>
          <p:cNvSpPr txBox="1"/>
          <p:nvPr/>
        </p:nvSpPr>
        <p:spPr bwMode="gray">
          <a:xfrm>
            <a:off x="9832914" y="5897975"/>
            <a:ext cx="2125851"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CN approval &amp; Launch (base)</a:t>
            </a:r>
            <a:endParaRPr lang="zh-CN" altLang="en-US" sz="1100"/>
          </a:p>
        </p:txBody>
      </p:sp>
      <p:pic>
        <p:nvPicPr>
          <p:cNvPr id="64" name="Graphic 45" descr="Rocket outline">
            <a:extLst>
              <a:ext uri="{FF2B5EF4-FFF2-40B4-BE49-F238E27FC236}">
                <a16:creationId xmlns:a16="http://schemas.microsoft.com/office/drawing/2014/main" id="{5C4A8EEA-923D-E222-59E8-4CE16316A8F9}"/>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1351789" y="5531366"/>
            <a:ext cx="306514" cy="306514"/>
          </a:xfrm>
          <a:prstGeom prst="rect">
            <a:avLst/>
          </a:prstGeom>
        </p:spPr>
      </p:pic>
      <p:pic>
        <p:nvPicPr>
          <p:cNvPr id="65" name="Graphic 45" descr="Rocket outline">
            <a:extLst>
              <a:ext uri="{FF2B5EF4-FFF2-40B4-BE49-F238E27FC236}">
                <a16:creationId xmlns:a16="http://schemas.microsoft.com/office/drawing/2014/main" id="{5277B494-296A-E134-D98E-C8A2767B664E}"/>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782481" y="5550904"/>
            <a:ext cx="306514" cy="306514"/>
          </a:xfrm>
          <a:prstGeom prst="rect">
            <a:avLst/>
          </a:prstGeom>
        </p:spPr>
      </p:pic>
      <p:sp>
        <p:nvSpPr>
          <p:cNvPr id="66" name="矩形 65">
            <a:extLst>
              <a:ext uri="{FF2B5EF4-FFF2-40B4-BE49-F238E27FC236}">
                <a16:creationId xmlns:a16="http://schemas.microsoft.com/office/drawing/2014/main" id="{6D2872D3-C2C7-E5D3-40F4-F3CC6893F265}"/>
              </a:ext>
            </a:extLst>
          </p:cNvPr>
          <p:cNvSpPr/>
          <p:nvPr/>
        </p:nvSpPr>
        <p:spPr bwMode="gray">
          <a:xfrm>
            <a:off x="144828" y="2474852"/>
            <a:ext cx="11720159" cy="1935221"/>
          </a:xfrm>
          <a:prstGeom prst="rect">
            <a:avLst/>
          </a:prstGeom>
          <a:no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pic>
        <p:nvPicPr>
          <p:cNvPr id="56" name="图形 55" descr="燃料 纯色填充">
            <a:extLst>
              <a:ext uri="{FF2B5EF4-FFF2-40B4-BE49-F238E27FC236}">
                <a16:creationId xmlns:a16="http://schemas.microsoft.com/office/drawing/2014/main" id="{6EBD6BA4-863F-06A5-E56A-CA4801B8FE0C}"/>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91565" y="2605741"/>
            <a:ext cx="619312" cy="604372"/>
          </a:xfrm>
          <a:prstGeom prst="rect">
            <a:avLst/>
          </a:prstGeom>
        </p:spPr>
      </p:pic>
      <p:grpSp>
        <p:nvGrpSpPr>
          <p:cNvPr id="71" name="组合 70">
            <a:extLst>
              <a:ext uri="{FF2B5EF4-FFF2-40B4-BE49-F238E27FC236}">
                <a16:creationId xmlns:a16="http://schemas.microsoft.com/office/drawing/2014/main" id="{CD3E1A06-A58A-FA71-6473-A718C3DA45DC}"/>
              </a:ext>
            </a:extLst>
          </p:cNvPr>
          <p:cNvGrpSpPr/>
          <p:nvPr/>
        </p:nvGrpSpPr>
        <p:grpSpPr>
          <a:xfrm>
            <a:off x="1306512" y="5501381"/>
            <a:ext cx="942975" cy="616479"/>
            <a:chOff x="1306512" y="5501381"/>
            <a:chExt cx="942975" cy="616479"/>
          </a:xfrm>
        </p:grpSpPr>
        <p:pic>
          <p:nvPicPr>
            <p:cNvPr id="22" name="图片 21" descr="卡通人物&#10;&#10;AI 生成的内容可能不正确。">
              <a:extLst>
                <a:ext uri="{FF2B5EF4-FFF2-40B4-BE49-F238E27FC236}">
                  <a16:creationId xmlns:a16="http://schemas.microsoft.com/office/drawing/2014/main" id="{2AE3B4CD-1F4D-80C3-2361-927FF6ACEF7E}"/>
                </a:ext>
              </a:extLst>
            </p:cNvPr>
            <p:cNvPicPr>
              <a:picLocks noChangeAspect="1"/>
            </p:cNvPicPr>
            <p:nvPr/>
          </p:nvPicPr>
          <p:blipFill>
            <a:blip r:embed="rId5"/>
            <a:srcRect l="5953" r="-4965" b="-993"/>
            <a:stretch>
              <a:fillRect/>
            </a:stretch>
          </p:blipFill>
          <p:spPr>
            <a:xfrm>
              <a:off x="1334302" y="5501381"/>
              <a:ext cx="429986" cy="428155"/>
            </a:xfrm>
            <a:prstGeom prst="rect">
              <a:avLst/>
            </a:prstGeom>
          </p:spPr>
        </p:pic>
        <p:pic>
          <p:nvPicPr>
            <p:cNvPr id="68" name="图片 67" descr="文本&#10;&#10;AI 生成的内容可能不正确。">
              <a:extLst>
                <a:ext uri="{FF2B5EF4-FFF2-40B4-BE49-F238E27FC236}">
                  <a16:creationId xmlns:a16="http://schemas.microsoft.com/office/drawing/2014/main" id="{5E991057-7AEF-A07E-7628-9E70C8BE35F2}"/>
                </a:ext>
              </a:extLst>
            </p:cNvPr>
            <p:cNvPicPr>
              <a:picLocks noChangeAspect="1"/>
            </p:cNvPicPr>
            <p:nvPr/>
          </p:nvPicPr>
          <p:blipFill>
            <a:blip r:embed="rId20"/>
            <a:stretch>
              <a:fillRect/>
            </a:stretch>
          </p:blipFill>
          <p:spPr>
            <a:xfrm>
              <a:off x="1306512" y="5908065"/>
              <a:ext cx="942975" cy="209795"/>
            </a:xfrm>
            <a:prstGeom prst="rect">
              <a:avLst/>
            </a:prstGeom>
          </p:spPr>
        </p:pic>
      </p:grpSp>
      <p:grpSp>
        <p:nvGrpSpPr>
          <p:cNvPr id="70" name="组合 69">
            <a:extLst>
              <a:ext uri="{FF2B5EF4-FFF2-40B4-BE49-F238E27FC236}">
                <a16:creationId xmlns:a16="http://schemas.microsoft.com/office/drawing/2014/main" id="{9120C37E-112A-3883-2BBE-64F22DACC1E9}"/>
              </a:ext>
            </a:extLst>
          </p:cNvPr>
          <p:cNvGrpSpPr/>
          <p:nvPr/>
        </p:nvGrpSpPr>
        <p:grpSpPr>
          <a:xfrm>
            <a:off x="1232877" y="3876430"/>
            <a:ext cx="10468706" cy="522045"/>
            <a:chOff x="1232877" y="3876430"/>
            <a:chExt cx="10468706" cy="522045"/>
          </a:xfrm>
        </p:grpSpPr>
        <p:cxnSp>
          <p:nvCxnSpPr>
            <p:cNvPr id="47" name="直接箭头连接符 46">
              <a:extLst>
                <a:ext uri="{FF2B5EF4-FFF2-40B4-BE49-F238E27FC236}">
                  <a16:creationId xmlns:a16="http://schemas.microsoft.com/office/drawing/2014/main" id="{B35C39C0-99E1-A12A-487A-6D9656C57934}"/>
                </a:ext>
              </a:extLst>
            </p:cNvPr>
            <p:cNvCxnSpPr>
              <a:cxnSpLocks/>
            </p:cNvCxnSpPr>
            <p:nvPr/>
          </p:nvCxnSpPr>
          <p:spPr bwMode="gray">
            <a:xfrm flipV="1">
              <a:off x="1232877" y="3876430"/>
              <a:ext cx="10468706" cy="3907"/>
            </a:xfrm>
            <a:prstGeom prst="straightConnector1">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69" name="图片 68" descr="文本&#10;&#10;AI 生成的内容可能不正确。">
              <a:extLst>
                <a:ext uri="{FF2B5EF4-FFF2-40B4-BE49-F238E27FC236}">
                  <a16:creationId xmlns:a16="http://schemas.microsoft.com/office/drawing/2014/main" id="{4F4BBAC2-7CA5-EEEB-A146-D3BDAC8E35C7}"/>
                </a:ext>
              </a:extLst>
            </p:cNvPr>
            <p:cNvPicPr>
              <a:picLocks noChangeAspect="1"/>
            </p:cNvPicPr>
            <p:nvPr/>
          </p:nvPicPr>
          <p:blipFill>
            <a:blip r:embed="rId20"/>
            <a:stretch>
              <a:fillRect/>
            </a:stretch>
          </p:blipFill>
          <p:spPr>
            <a:xfrm>
              <a:off x="1277204" y="4188680"/>
              <a:ext cx="942975" cy="209795"/>
            </a:xfrm>
            <a:prstGeom prst="rect">
              <a:avLst/>
            </a:prstGeom>
          </p:spPr>
        </p:pic>
      </p:grpSp>
    </p:spTree>
    <p:extLst>
      <p:ext uri="{BB962C8B-B14F-4D97-AF65-F5344CB8AC3E}">
        <p14:creationId xmlns:p14="http://schemas.microsoft.com/office/powerpoint/2010/main" val="603056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17422407-A496-C3A1-A831-00C194B95F96}"/>
              </a:ext>
            </a:extLst>
          </p:cNvPr>
          <p:cNvGraphicFramePr>
            <a:graphicFrameLocks/>
          </p:cNvGraphicFramePr>
          <p:nvPr>
            <p:extLst>
              <p:ext uri="{D42A27DB-BD31-4B8C-83A1-F6EECF244321}">
                <p14:modId xmlns:p14="http://schemas.microsoft.com/office/powerpoint/2010/main" val="2105812139"/>
              </p:ext>
            </p:extLst>
          </p:nvPr>
        </p:nvGraphicFramePr>
        <p:xfrm>
          <a:off x="754940" y="848558"/>
          <a:ext cx="11437060" cy="545621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FF2B5EF4-FFF2-40B4-BE49-F238E27FC236}">
                <a16:creationId xmlns:a16="http://schemas.microsoft.com/office/drawing/2014/main" id="{9BD6F35B-A17C-2BE4-A429-1E8C500F3DF2}"/>
              </a:ext>
            </a:extLst>
          </p:cNvPr>
          <p:cNvSpPr/>
          <p:nvPr/>
        </p:nvSpPr>
        <p:spPr>
          <a:xfrm>
            <a:off x="1969002" y="1788405"/>
            <a:ext cx="2260211" cy="1326854"/>
          </a:xfrm>
          <a:prstGeom prst="rect">
            <a:avLst/>
          </a:prstGeom>
          <a:solidFill>
            <a:schemeClr val="accent2">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defPPr>
              <a:defRPr lang="zh-CN"/>
            </a:defPPr>
            <a:lvl1pPr marL="0" indent="0" algn="l" defTabSz="914400" rtl="0" eaLnBrk="1" latinLnBrk="0" hangingPunct="1">
              <a:defRPr sz="1100" kern="1200">
                <a:solidFill>
                  <a:schemeClr val="lt1"/>
                </a:solidFill>
                <a:latin typeface="+mn-lt"/>
                <a:ea typeface="+mn-ea"/>
                <a:cs typeface="+mn-cs"/>
              </a:defRPr>
            </a:lvl1pPr>
            <a:lvl2pPr marL="457200" indent="0" algn="l" defTabSz="914400" rtl="0" eaLnBrk="1" latinLnBrk="0" hangingPunct="1">
              <a:defRPr sz="1100" kern="1200">
                <a:solidFill>
                  <a:schemeClr val="lt1"/>
                </a:solidFill>
                <a:latin typeface="+mn-lt"/>
                <a:ea typeface="+mn-ea"/>
                <a:cs typeface="+mn-cs"/>
              </a:defRPr>
            </a:lvl2pPr>
            <a:lvl3pPr marL="914400" indent="0" algn="l" defTabSz="914400" rtl="0" eaLnBrk="1" latinLnBrk="0" hangingPunct="1">
              <a:defRPr sz="1100" kern="1200">
                <a:solidFill>
                  <a:schemeClr val="lt1"/>
                </a:solidFill>
                <a:latin typeface="+mn-lt"/>
                <a:ea typeface="+mn-ea"/>
                <a:cs typeface="+mn-cs"/>
              </a:defRPr>
            </a:lvl3pPr>
            <a:lvl4pPr marL="1371600" indent="0" algn="l" defTabSz="914400" rtl="0" eaLnBrk="1" latinLnBrk="0" hangingPunct="1">
              <a:defRPr sz="1100" kern="1200">
                <a:solidFill>
                  <a:schemeClr val="lt1"/>
                </a:solidFill>
                <a:latin typeface="+mn-lt"/>
                <a:ea typeface="+mn-ea"/>
                <a:cs typeface="+mn-cs"/>
              </a:defRPr>
            </a:lvl4pPr>
            <a:lvl5pPr marL="1828800" indent="0" algn="l" defTabSz="914400" rtl="0" eaLnBrk="1" latinLnBrk="0" hangingPunct="1">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marL="171450" indent="-171450" fontAlgn="t">
              <a:lnSpc>
                <a:spcPts val="1500"/>
              </a:lnSpc>
              <a:buFont typeface="Arial" panose="020B0604020202020204" pitchFamily="34" charset="0"/>
              <a:buChar char="•"/>
            </a:pPr>
            <a:r>
              <a:rPr lang="zh-CN" altLang="en-US" sz="1050">
                <a:latin typeface="Microsoft YaHei"/>
                <a:ea typeface="Microsoft YaHei"/>
              </a:rPr>
              <a:t>Total screening：</a:t>
            </a:r>
            <a:r>
              <a:rPr lang="en-US" altLang="zh-CN" sz="1050">
                <a:latin typeface="Microsoft YaHei"/>
                <a:ea typeface="Microsoft YaHei"/>
              </a:rPr>
              <a:t>716</a:t>
            </a:r>
          </a:p>
          <a:p>
            <a:pPr marL="171450" indent="-171450" fontAlgn="t">
              <a:lnSpc>
                <a:spcPts val="1500"/>
              </a:lnSpc>
              <a:buFont typeface="Arial" panose="020B0604020202020204" pitchFamily="34" charset="0"/>
              <a:buChar char="•"/>
            </a:pPr>
            <a:r>
              <a:rPr lang="zh-CN" altLang="en-US" sz="1050">
                <a:latin typeface="Microsoft YaHei"/>
                <a:ea typeface="Microsoft YaHei"/>
              </a:rPr>
              <a:t>Total randomization：</a:t>
            </a:r>
            <a:r>
              <a:rPr lang="en-US" altLang="zh-CN" sz="1050">
                <a:latin typeface="Microsoft YaHei"/>
                <a:ea typeface="Microsoft YaHei"/>
              </a:rPr>
              <a:t>368</a:t>
            </a:r>
          </a:p>
          <a:p>
            <a:pPr marL="171450" indent="-171450" fontAlgn="t">
              <a:lnSpc>
                <a:spcPts val="1500"/>
              </a:lnSpc>
              <a:buFont typeface="Arial" panose="020B0604020202020204" pitchFamily="34" charset="0"/>
              <a:buChar char="•"/>
            </a:pPr>
            <a:r>
              <a:rPr lang="zh-CN" altLang="en-US" sz="1050">
                <a:latin typeface="Microsoft YaHei"/>
                <a:ea typeface="Microsoft YaHei"/>
              </a:rPr>
              <a:t>SF：</a:t>
            </a:r>
            <a:r>
              <a:rPr lang="en-US" altLang="zh-CN" sz="1050">
                <a:latin typeface="Microsoft YaHei"/>
                <a:ea typeface="Microsoft YaHei"/>
              </a:rPr>
              <a:t>78</a:t>
            </a:r>
          </a:p>
          <a:p>
            <a:pPr marL="171450" indent="-171450" fontAlgn="t">
              <a:lnSpc>
                <a:spcPts val="1500"/>
              </a:lnSpc>
              <a:buFont typeface="Arial" panose="020B0604020202020204" pitchFamily="34" charset="0"/>
              <a:buChar char="•"/>
            </a:pPr>
            <a:r>
              <a:rPr lang="zh-CN" altLang="en-US" sz="1050">
                <a:latin typeface="Microsoft YaHei"/>
                <a:ea typeface="Microsoft YaHei"/>
              </a:rPr>
              <a:t>In screening：</a:t>
            </a:r>
            <a:r>
              <a:rPr lang="en-US" altLang="zh-CN" sz="1050">
                <a:latin typeface="Microsoft YaHei"/>
                <a:ea typeface="Microsoft YaHei"/>
              </a:rPr>
              <a:t>266</a:t>
            </a:r>
          </a:p>
          <a:p>
            <a:pPr marL="171450" indent="-171450" fontAlgn="t">
              <a:lnSpc>
                <a:spcPts val="1500"/>
              </a:lnSpc>
              <a:buFont typeface="Arial" panose="020B0604020202020204" pitchFamily="34" charset="0"/>
              <a:buChar char="•"/>
            </a:pPr>
            <a:r>
              <a:rPr lang="zh-CN" altLang="en-US" sz="1050">
                <a:latin typeface="Microsoft YaHei"/>
                <a:ea typeface="Microsoft YaHei"/>
              </a:rPr>
              <a:t>Withdrawal：</a:t>
            </a:r>
            <a:r>
              <a:rPr lang="en-US" altLang="zh-CN" sz="1050">
                <a:latin typeface="Microsoft YaHei"/>
                <a:ea typeface="Microsoft YaHei"/>
              </a:rPr>
              <a:t>4</a:t>
            </a:r>
          </a:p>
          <a:p>
            <a:pPr marL="171450" indent="-171450" fontAlgn="t">
              <a:lnSpc>
                <a:spcPts val="1500"/>
              </a:lnSpc>
              <a:buFont typeface="Arial" panose="020B0604020202020204" pitchFamily="34" charset="0"/>
              <a:buChar char="•"/>
            </a:pPr>
            <a:r>
              <a:rPr lang="zh-CN" altLang="en-US" sz="1050">
                <a:latin typeface="Microsoft YaHei"/>
                <a:ea typeface="Microsoft YaHei"/>
              </a:rPr>
              <a:t>SF ：</a:t>
            </a:r>
            <a:r>
              <a:rPr lang="en-US" altLang="zh-CN" sz="1050">
                <a:latin typeface="Microsoft YaHei"/>
                <a:ea typeface="Microsoft YaHei"/>
              </a:rPr>
              <a:t>10.8%</a:t>
            </a:r>
          </a:p>
        </p:txBody>
      </p:sp>
      <p:sp>
        <p:nvSpPr>
          <p:cNvPr id="8" name="Title 7">
            <a:extLst>
              <a:ext uri="{FF2B5EF4-FFF2-40B4-BE49-F238E27FC236}">
                <a16:creationId xmlns:a16="http://schemas.microsoft.com/office/drawing/2014/main" id="{58E794B0-D3DA-3138-FC6D-271F592E37A0}"/>
              </a:ext>
            </a:extLst>
          </p:cNvPr>
          <p:cNvSpPr txBox="1">
            <a:spLocks/>
          </p:cNvSpPr>
          <p:nvPr/>
        </p:nvSpPr>
        <p:spPr bwMode="gray">
          <a:xfrm>
            <a:off x="479424" y="369085"/>
            <a:ext cx="11407776" cy="493117"/>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r>
              <a:rPr lang="zh-CN" altLang="en-US"/>
              <a:t>Global recruitment Status – by </a:t>
            </a:r>
            <a:r>
              <a:rPr lang="en-US" altLang="zh-CN"/>
              <a:t>12</a:t>
            </a:r>
            <a:r>
              <a:rPr lang="zh-CN" altLang="en-US"/>
              <a:t> Dec 2025</a:t>
            </a:r>
            <a:endParaRPr lang="zh-CN" altLang="en-US" sz="3200">
              <a:solidFill>
                <a:srgbClr val="076D7E"/>
              </a:solidFill>
              <a:effectLst>
                <a:outerShdw blurRad="38100" dist="38100" dir="2700000" algn="tl">
                  <a:srgbClr val="000000">
                    <a:alpha val="43137"/>
                  </a:srgbClr>
                </a:outerShdw>
              </a:effectLst>
              <a:ea typeface="黑体"/>
              <a:cs typeface="Arial"/>
            </a:endParaRPr>
          </a:p>
        </p:txBody>
      </p:sp>
      <p:sp>
        <p:nvSpPr>
          <p:cNvPr id="3" name="矩形: 圆角 2">
            <a:extLst>
              <a:ext uri="{FF2B5EF4-FFF2-40B4-BE49-F238E27FC236}">
                <a16:creationId xmlns:a16="http://schemas.microsoft.com/office/drawing/2014/main" id="{AE44FC51-9237-A486-7BCA-821836B02A8F}"/>
              </a:ext>
            </a:extLst>
          </p:cNvPr>
          <p:cNvSpPr/>
          <p:nvPr/>
        </p:nvSpPr>
        <p:spPr bwMode="gray">
          <a:xfrm>
            <a:off x="3756634" y="5092209"/>
            <a:ext cx="464213" cy="78445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3504837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B719B7-A310-E82C-3F27-69030468D138}"/>
              </a:ext>
            </a:extLst>
          </p:cNvPr>
          <p:cNvSpPr>
            <a:spLocks noGrp="1"/>
          </p:cNvSpPr>
          <p:nvPr>
            <p:ph type="title"/>
          </p:nvPr>
        </p:nvSpPr>
        <p:spPr/>
        <p:txBody>
          <a:bodyPr/>
          <a:lstStyle/>
          <a:p>
            <a:endParaRPr lang="zh-CN" altLang="en-US"/>
          </a:p>
        </p:txBody>
      </p:sp>
      <p:sp>
        <p:nvSpPr>
          <p:cNvPr id="4" name="页脚占位符 3">
            <a:extLst>
              <a:ext uri="{FF2B5EF4-FFF2-40B4-BE49-F238E27FC236}">
                <a16:creationId xmlns:a16="http://schemas.microsoft.com/office/drawing/2014/main" id="{9E035487-9B40-1223-BC49-20BBCE5086EC}"/>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15C4453F-A393-1D40-C5A3-F6E2235D42AD}"/>
              </a:ext>
            </a:extLst>
          </p:cNvPr>
          <p:cNvSpPr>
            <a:spLocks noGrp="1"/>
          </p:cNvSpPr>
          <p:nvPr>
            <p:ph type="sldNum" sz="quarter" idx="12"/>
          </p:nvPr>
        </p:nvSpPr>
        <p:spPr/>
        <p:txBody>
          <a:bodyPr/>
          <a:lstStyle/>
          <a:p>
            <a:fld id="{AF225C8E-132A-4293-BF1D-E348182D543A}" type="slidenum">
              <a:rPr lang="en-US" smtClean="0"/>
              <a:t>25</a:t>
            </a:fld>
            <a:endParaRPr lang="en-US"/>
          </a:p>
        </p:txBody>
      </p:sp>
      <p:pic>
        <p:nvPicPr>
          <p:cNvPr id="6" name="图片 5" descr="图形用户界面&#10;&#10;AI 生成的内容可能不正确。">
            <a:extLst>
              <a:ext uri="{FF2B5EF4-FFF2-40B4-BE49-F238E27FC236}">
                <a16:creationId xmlns:a16="http://schemas.microsoft.com/office/drawing/2014/main" id="{FC95D172-6D77-9B7C-5F91-E90D5785BCE6}"/>
              </a:ext>
            </a:extLst>
          </p:cNvPr>
          <p:cNvPicPr>
            <a:picLocks noChangeAspect="1"/>
          </p:cNvPicPr>
          <p:nvPr/>
        </p:nvPicPr>
        <p:blipFill>
          <a:blip r:embed="rId2"/>
          <a:stretch>
            <a:fillRect/>
          </a:stretch>
        </p:blipFill>
        <p:spPr>
          <a:xfrm>
            <a:off x="0" y="98670"/>
            <a:ext cx="12020550" cy="6755910"/>
          </a:xfrm>
          <a:prstGeom prst="rect">
            <a:avLst/>
          </a:prstGeom>
        </p:spPr>
      </p:pic>
    </p:spTree>
    <p:extLst>
      <p:ext uri="{BB962C8B-B14F-4D97-AF65-F5344CB8AC3E}">
        <p14:creationId xmlns:p14="http://schemas.microsoft.com/office/powerpoint/2010/main" val="36526960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0A489292-D2D8-2E59-3925-B32DD8086DA8}"/>
              </a:ext>
              <a:ext uri="{147F2762-F138-4A5C-976F-8EAC2B608ADB}">
                <a16:predDERef xmlns:a16="http://schemas.microsoft.com/office/drawing/2014/main" pred="{511935BA-FFFC-49D7-B012-11D5E7C317AF}"/>
              </a:ext>
            </a:extLst>
          </p:cNvPr>
          <p:cNvGraphicFramePr>
            <a:graphicFrameLocks/>
          </p:cNvGraphicFramePr>
          <p:nvPr/>
        </p:nvGraphicFramePr>
        <p:xfrm>
          <a:off x="242816" y="549378"/>
          <a:ext cx="11936362" cy="6001335"/>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48EA2897-7ABA-2293-4AC6-8BEF9F8BCD54}"/>
              </a:ext>
            </a:extLst>
          </p:cNvPr>
          <p:cNvSpPr/>
          <p:nvPr/>
        </p:nvSpPr>
        <p:spPr>
          <a:xfrm>
            <a:off x="1898492" y="817817"/>
            <a:ext cx="2238052" cy="1334880"/>
          </a:xfrm>
          <a:prstGeom prst="rect">
            <a:avLst/>
          </a:prstGeom>
          <a:solidFill>
            <a:schemeClr val="accent2">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defPPr>
              <a:defRPr lang="zh-CN"/>
            </a:defPPr>
            <a:lvl1pPr marL="0" indent="0" algn="l" defTabSz="914400" rtl="0" eaLnBrk="1" latinLnBrk="0" hangingPunct="1">
              <a:defRPr sz="1100" kern="1200">
                <a:solidFill>
                  <a:schemeClr val="lt1"/>
                </a:solidFill>
                <a:latin typeface="+mn-lt"/>
                <a:ea typeface="+mn-ea"/>
                <a:cs typeface="+mn-cs"/>
              </a:defRPr>
            </a:lvl1pPr>
            <a:lvl2pPr marL="457200" indent="0" algn="l" defTabSz="914400" rtl="0" eaLnBrk="1" latinLnBrk="0" hangingPunct="1">
              <a:defRPr sz="1100" kern="1200">
                <a:solidFill>
                  <a:schemeClr val="lt1"/>
                </a:solidFill>
                <a:latin typeface="+mn-lt"/>
                <a:ea typeface="+mn-ea"/>
                <a:cs typeface="+mn-cs"/>
              </a:defRPr>
            </a:lvl2pPr>
            <a:lvl3pPr marL="914400" indent="0" algn="l" defTabSz="914400" rtl="0" eaLnBrk="1" latinLnBrk="0" hangingPunct="1">
              <a:defRPr sz="1100" kern="1200">
                <a:solidFill>
                  <a:schemeClr val="lt1"/>
                </a:solidFill>
                <a:latin typeface="+mn-lt"/>
                <a:ea typeface="+mn-ea"/>
                <a:cs typeface="+mn-cs"/>
              </a:defRPr>
            </a:lvl3pPr>
            <a:lvl4pPr marL="1371600" indent="0" algn="l" defTabSz="914400" rtl="0" eaLnBrk="1" latinLnBrk="0" hangingPunct="1">
              <a:defRPr sz="1100" kern="1200">
                <a:solidFill>
                  <a:schemeClr val="lt1"/>
                </a:solidFill>
                <a:latin typeface="+mn-lt"/>
                <a:ea typeface="+mn-ea"/>
                <a:cs typeface="+mn-cs"/>
              </a:defRPr>
            </a:lvl4pPr>
            <a:lvl5pPr marL="1828800" indent="0" algn="l" defTabSz="914400" rtl="0" eaLnBrk="1" latinLnBrk="0" hangingPunct="1">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marL="171450" indent="-171450" fontAlgn="t">
              <a:lnSpc>
                <a:spcPts val="1500"/>
              </a:lnSpc>
              <a:buFont typeface="Arial" panose="020B0604020202020204" pitchFamily="34" charset="0"/>
              <a:buChar char="•"/>
            </a:pPr>
            <a:r>
              <a:rPr lang="zh-CN" altLang="en-US" sz="1050">
                <a:latin typeface="Microsoft YaHei"/>
                <a:ea typeface="Microsoft YaHei"/>
              </a:rPr>
              <a:t>Total screening：</a:t>
            </a:r>
            <a:r>
              <a:rPr lang="en-US" altLang="zh-CN" sz="1050">
                <a:latin typeface="Microsoft YaHei"/>
                <a:ea typeface="Microsoft YaHei"/>
              </a:rPr>
              <a:t>134</a:t>
            </a:r>
          </a:p>
          <a:p>
            <a:pPr marL="171450" indent="-171450" fontAlgn="t">
              <a:lnSpc>
                <a:spcPts val="1500"/>
              </a:lnSpc>
              <a:buFont typeface="Arial" panose="020B0604020202020204" pitchFamily="34" charset="0"/>
              <a:buChar char="•"/>
            </a:pPr>
            <a:r>
              <a:rPr lang="zh-CN" altLang="en-US" sz="1050">
                <a:latin typeface="Microsoft YaHei"/>
                <a:ea typeface="Microsoft YaHei"/>
              </a:rPr>
              <a:t>Total randomization：</a:t>
            </a:r>
            <a:r>
              <a:rPr lang="en-US" altLang="zh-CN" sz="1050">
                <a:latin typeface="Microsoft YaHei"/>
                <a:ea typeface="Microsoft YaHei"/>
              </a:rPr>
              <a:t>80</a:t>
            </a:r>
          </a:p>
          <a:p>
            <a:pPr marL="171450" indent="-171450" fontAlgn="t">
              <a:lnSpc>
                <a:spcPts val="1500"/>
              </a:lnSpc>
              <a:buFont typeface="Arial" panose="020B0604020202020204" pitchFamily="34" charset="0"/>
              <a:buChar char="•"/>
            </a:pPr>
            <a:r>
              <a:rPr lang="zh-CN" altLang="en-US" sz="1050">
                <a:latin typeface="Microsoft YaHei"/>
                <a:ea typeface="Microsoft YaHei"/>
              </a:rPr>
              <a:t>SF：</a:t>
            </a:r>
            <a:r>
              <a:rPr lang="en-US" altLang="zh-CN" sz="1050">
                <a:latin typeface="Microsoft YaHei"/>
                <a:ea typeface="Microsoft YaHei"/>
              </a:rPr>
              <a:t>21</a:t>
            </a:r>
          </a:p>
          <a:p>
            <a:pPr marL="171450" indent="-171450" fontAlgn="t">
              <a:lnSpc>
                <a:spcPts val="1500"/>
              </a:lnSpc>
              <a:buFont typeface="Arial" panose="020B0604020202020204" pitchFamily="34" charset="0"/>
              <a:buChar char="•"/>
            </a:pPr>
            <a:r>
              <a:rPr lang="zh-CN" altLang="en-US" sz="1050">
                <a:latin typeface="Microsoft YaHei"/>
                <a:ea typeface="Microsoft YaHei"/>
              </a:rPr>
              <a:t>In screening：</a:t>
            </a:r>
            <a:r>
              <a:rPr lang="en-US" altLang="zh-CN" sz="1050">
                <a:latin typeface="Microsoft YaHei"/>
                <a:ea typeface="Microsoft YaHei"/>
              </a:rPr>
              <a:t>33</a:t>
            </a:r>
          </a:p>
          <a:p>
            <a:pPr marL="171450" indent="-171450" fontAlgn="t">
              <a:lnSpc>
                <a:spcPts val="1500"/>
              </a:lnSpc>
              <a:buFont typeface="Arial" panose="020B0604020202020204" pitchFamily="34" charset="0"/>
              <a:buChar char="•"/>
            </a:pPr>
            <a:r>
              <a:rPr lang="zh-CN" altLang="en-US" sz="1050">
                <a:latin typeface="Microsoft YaHei"/>
                <a:ea typeface="Microsoft YaHei"/>
              </a:rPr>
              <a:t>withdrawal：</a:t>
            </a:r>
            <a:r>
              <a:rPr lang="en-US" altLang="zh-CN" sz="1050">
                <a:latin typeface="Microsoft YaHei"/>
                <a:ea typeface="Microsoft YaHei"/>
              </a:rPr>
              <a:t>1 </a:t>
            </a:r>
          </a:p>
          <a:p>
            <a:pPr marL="171450" indent="-171450" fontAlgn="t">
              <a:lnSpc>
                <a:spcPts val="1500"/>
              </a:lnSpc>
              <a:buFont typeface="Arial" panose="020B0604020202020204" pitchFamily="34" charset="0"/>
              <a:buChar char="•"/>
            </a:pPr>
            <a:r>
              <a:rPr lang="zh-CN" altLang="en-US" sz="1050">
                <a:latin typeface="Microsoft YaHei"/>
                <a:ea typeface="Microsoft YaHei"/>
              </a:rPr>
              <a:t>SF%：</a:t>
            </a:r>
            <a:r>
              <a:rPr lang="en-US" altLang="zh-CN" sz="1050">
                <a:latin typeface="Microsoft YaHei"/>
                <a:ea typeface="Microsoft YaHei"/>
              </a:rPr>
              <a:t>15.6%</a:t>
            </a:r>
          </a:p>
        </p:txBody>
      </p:sp>
      <p:sp>
        <p:nvSpPr>
          <p:cNvPr id="5" name="Title 7">
            <a:extLst>
              <a:ext uri="{FF2B5EF4-FFF2-40B4-BE49-F238E27FC236}">
                <a16:creationId xmlns:a16="http://schemas.microsoft.com/office/drawing/2014/main" id="{AC7D25D6-F504-349C-E235-8646815A87E0}"/>
              </a:ext>
            </a:extLst>
          </p:cNvPr>
          <p:cNvSpPr txBox="1">
            <a:spLocks/>
          </p:cNvSpPr>
          <p:nvPr/>
        </p:nvSpPr>
        <p:spPr bwMode="gray">
          <a:xfrm>
            <a:off x="508732" y="76008"/>
            <a:ext cx="11407776" cy="493117"/>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r>
              <a:rPr lang="zh-CN" altLang="en-US"/>
              <a:t>China recruitment Status – by </a:t>
            </a:r>
            <a:r>
              <a:rPr lang="en-US" altLang="zh-CN"/>
              <a:t>12</a:t>
            </a:r>
            <a:r>
              <a:rPr lang="zh-CN" altLang="en-US"/>
              <a:t> Dec 2025 (initial projection)</a:t>
            </a:r>
            <a:endParaRPr lang="zh-CN" altLang="en-US" sz="3200">
              <a:solidFill>
                <a:srgbClr val="076D7E"/>
              </a:solidFill>
              <a:effectLst>
                <a:outerShdw blurRad="38100" dist="38100" dir="2700000" algn="tl">
                  <a:srgbClr val="000000">
                    <a:alpha val="43137"/>
                  </a:srgbClr>
                </a:outerShdw>
              </a:effectLst>
              <a:ea typeface="黑体"/>
              <a:cs typeface="Arial"/>
            </a:endParaRPr>
          </a:p>
        </p:txBody>
      </p:sp>
      <p:sp>
        <p:nvSpPr>
          <p:cNvPr id="4" name="矩形: 圆角 3">
            <a:extLst>
              <a:ext uri="{FF2B5EF4-FFF2-40B4-BE49-F238E27FC236}">
                <a16:creationId xmlns:a16="http://schemas.microsoft.com/office/drawing/2014/main" id="{F077E851-F9A5-2998-07D6-FF2A22E29356}"/>
              </a:ext>
            </a:extLst>
          </p:cNvPr>
          <p:cNvSpPr/>
          <p:nvPr/>
        </p:nvSpPr>
        <p:spPr bwMode="gray">
          <a:xfrm>
            <a:off x="3632712" y="5160593"/>
            <a:ext cx="455113" cy="1112729"/>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3340652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94B904FB-41C2-43DA-9F7B-6165AF248ECA}"/>
              </a:ext>
            </a:extLst>
          </p:cNvPr>
          <p:cNvGraphicFramePr>
            <a:graphicFrameLocks/>
          </p:cNvGraphicFramePr>
          <p:nvPr/>
        </p:nvGraphicFramePr>
        <p:xfrm>
          <a:off x="410308" y="697276"/>
          <a:ext cx="11621654" cy="5826840"/>
        </p:xfrm>
        <a:graphic>
          <a:graphicData uri="http://schemas.openxmlformats.org/drawingml/2006/chart">
            <c:chart xmlns:c="http://schemas.openxmlformats.org/drawingml/2006/chart" xmlns:r="http://schemas.openxmlformats.org/officeDocument/2006/relationships" r:id="rId2"/>
          </a:graphicData>
        </a:graphic>
      </p:graphicFrame>
      <p:sp>
        <p:nvSpPr>
          <p:cNvPr id="5" name="Title 7">
            <a:extLst>
              <a:ext uri="{FF2B5EF4-FFF2-40B4-BE49-F238E27FC236}">
                <a16:creationId xmlns:a16="http://schemas.microsoft.com/office/drawing/2014/main" id="{4DCE0D4F-8A6F-2842-7D42-3C29B9FBD0B8}"/>
              </a:ext>
            </a:extLst>
          </p:cNvPr>
          <p:cNvSpPr txBox="1">
            <a:spLocks/>
          </p:cNvSpPr>
          <p:nvPr/>
        </p:nvSpPr>
        <p:spPr bwMode="gray">
          <a:xfrm>
            <a:off x="411040" y="212778"/>
            <a:ext cx="11407776" cy="493117"/>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r>
              <a:rPr lang="zh-CN" altLang="en-US"/>
              <a:t>China recruitment Status – by </a:t>
            </a:r>
            <a:r>
              <a:rPr lang="en-US" altLang="zh-CN"/>
              <a:t>12</a:t>
            </a:r>
            <a:r>
              <a:rPr lang="zh-CN" altLang="en-US"/>
              <a:t> Dec 202</a:t>
            </a:r>
            <a:r>
              <a:rPr lang="en-US" altLang="zh-CN"/>
              <a:t>5</a:t>
            </a:r>
            <a:r>
              <a:rPr lang="zh-CN" altLang="en-US"/>
              <a:t> (</a:t>
            </a:r>
            <a:r>
              <a:rPr lang="en-US" altLang="zh-CN"/>
              <a:t>accelerated</a:t>
            </a:r>
            <a:r>
              <a:rPr lang="zh-CN" altLang="en-US"/>
              <a:t> projection)</a:t>
            </a:r>
            <a:endParaRPr lang="zh-CN" altLang="en-US" sz="3200">
              <a:solidFill>
                <a:srgbClr val="076D7E"/>
              </a:solidFill>
              <a:effectLst>
                <a:outerShdw blurRad="38100" dist="38100" dir="2700000" algn="tl">
                  <a:srgbClr val="000000">
                    <a:alpha val="43137"/>
                  </a:srgbClr>
                </a:outerShdw>
              </a:effectLst>
              <a:ea typeface="黑体"/>
              <a:cs typeface="Arial"/>
            </a:endParaRPr>
          </a:p>
        </p:txBody>
      </p:sp>
      <p:sp>
        <p:nvSpPr>
          <p:cNvPr id="4" name="矩形: 圆角 3">
            <a:extLst>
              <a:ext uri="{FF2B5EF4-FFF2-40B4-BE49-F238E27FC236}">
                <a16:creationId xmlns:a16="http://schemas.microsoft.com/office/drawing/2014/main" id="{59617C9D-6A05-EE0F-FB86-B8B8B5AAC683}"/>
              </a:ext>
            </a:extLst>
          </p:cNvPr>
          <p:cNvSpPr/>
          <p:nvPr/>
        </p:nvSpPr>
        <p:spPr bwMode="gray">
          <a:xfrm>
            <a:off x="5654327" y="5160593"/>
            <a:ext cx="769438" cy="1017479"/>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1057953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BE4D670-4A43-9382-56AC-4F5635F45B0D}"/>
              </a:ext>
            </a:extLst>
          </p:cNvPr>
          <p:cNvSpPr>
            <a:spLocks noGrp="1"/>
          </p:cNvSpPr>
          <p:nvPr>
            <p:ph type="title"/>
          </p:nvPr>
        </p:nvSpPr>
        <p:spPr>
          <a:xfrm>
            <a:off x="479424" y="369085"/>
            <a:ext cx="11407776" cy="522424"/>
          </a:xfrm>
        </p:spPr>
        <p:txBody>
          <a:bodyPr/>
          <a:lstStyle/>
          <a:p>
            <a:r>
              <a:rPr lang="zh-CN" altLang="en-US"/>
              <a:t>Recruitment Status – by 12 Dec 2025</a:t>
            </a:r>
            <a:endParaRPr lang="zh-CN" altLang="en-US" sz="3200">
              <a:solidFill>
                <a:srgbClr val="076D7E"/>
              </a:solidFill>
              <a:effectLst>
                <a:outerShdw blurRad="38100" dist="38100" dir="2700000" algn="tl">
                  <a:srgbClr val="000000">
                    <a:alpha val="43137"/>
                  </a:srgbClr>
                </a:outerShdw>
              </a:effectLst>
              <a:ea typeface="黑体"/>
              <a:cs typeface="Arial"/>
            </a:endParaRPr>
          </a:p>
        </p:txBody>
      </p:sp>
      <p:sp>
        <p:nvSpPr>
          <p:cNvPr id="6" name="Slide Number Placeholder 5">
            <a:extLst>
              <a:ext uri="{FF2B5EF4-FFF2-40B4-BE49-F238E27FC236}">
                <a16:creationId xmlns:a16="http://schemas.microsoft.com/office/drawing/2014/main" id="{670964C7-E01F-3100-6128-5E6B2BB15013}"/>
              </a:ext>
            </a:extLst>
          </p:cNvPr>
          <p:cNvSpPr>
            <a:spLocks noGrp="1"/>
          </p:cNvSpPr>
          <p:nvPr>
            <p:ph type="sldNum" sz="quarter" idx="15"/>
          </p:nvPr>
        </p:nvSpPr>
        <p:spPr/>
        <p:txBody>
          <a:bodyPr/>
          <a:lstStyle/>
          <a:p>
            <a:fld id="{8FF9B0DE-3FEB-4AA0-B465-B80EF7C1333D}" type="slidenum">
              <a:rPr lang="en-US" smtClean="0"/>
              <a:pPr/>
              <a:t>28</a:t>
            </a:fld>
            <a:endParaRPr lang="en-US"/>
          </a:p>
        </p:txBody>
      </p:sp>
      <p:sp>
        <p:nvSpPr>
          <p:cNvPr id="7" name="Footer Placeholder 6">
            <a:extLst>
              <a:ext uri="{FF2B5EF4-FFF2-40B4-BE49-F238E27FC236}">
                <a16:creationId xmlns:a16="http://schemas.microsoft.com/office/drawing/2014/main" id="{BA55A9E5-FDC1-CA6C-DF27-54F40BADBEAB}"/>
              </a:ext>
            </a:extLst>
          </p:cNvPr>
          <p:cNvSpPr>
            <a:spLocks noGrp="1"/>
          </p:cNvSpPr>
          <p:nvPr>
            <p:ph type="ftr" sz="quarter" idx="21"/>
          </p:nvPr>
        </p:nvSpPr>
        <p:spPr/>
        <p:txBody>
          <a:bodyPr/>
          <a:lstStyle/>
          <a:p>
            <a:r>
              <a:rPr lang="en-US" sz="800"/>
              <a:t>Presentation Title    |     ONLY FOR INTERNAL USE</a:t>
            </a:r>
            <a:endParaRPr lang="en-US"/>
          </a:p>
        </p:txBody>
      </p:sp>
      <p:graphicFrame>
        <p:nvGraphicFramePr>
          <p:cNvPr id="19" name="Table 18">
            <a:extLst>
              <a:ext uri="{FF2B5EF4-FFF2-40B4-BE49-F238E27FC236}">
                <a16:creationId xmlns:a16="http://schemas.microsoft.com/office/drawing/2014/main" id="{02D1E30C-1E5C-AFEE-8B01-667413FA2D84}"/>
              </a:ext>
            </a:extLst>
          </p:cNvPr>
          <p:cNvGraphicFramePr>
            <a:graphicFrameLocks noGrp="1"/>
          </p:cNvGraphicFramePr>
          <p:nvPr>
            <p:extLst>
              <p:ext uri="{D42A27DB-BD31-4B8C-83A1-F6EECF244321}">
                <p14:modId xmlns:p14="http://schemas.microsoft.com/office/powerpoint/2010/main" val="3719695259"/>
              </p:ext>
            </p:extLst>
          </p:nvPr>
        </p:nvGraphicFramePr>
        <p:xfrm>
          <a:off x="479424" y="1242342"/>
          <a:ext cx="11305810" cy="1717127"/>
        </p:xfrm>
        <a:graphic>
          <a:graphicData uri="http://schemas.openxmlformats.org/drawingml/2006/table">
            <a:tbl>
              <a:tblPr firstRow="1" bandRow="1">
                <a:tableStyleId>{10A1B5D5-9B99-4C35-A422-299274C87663}</a:tableStyleId>
              </a:tblPr>
              <a:tblGrid>
                <a:gridCol w="1728787">
                  <a:extLst>
                    <a:ext uri="{9D8B030D-6E8A-4147-A177-3AD203B41FA5}">
                      <a16:colId xmlns:a16="http://schemas.microsoft.com/office/drawing/2014/main" val="1651620603"/>
                    </a:ext>
                  </a:extLst>
                </a:gridCol>
                <a:gridCol w="1471364">
                  <a:extLst>
                    <a:ext uri="{9D8B030D-6E8A-4147-A177-3AD203B41FA5}">
                      <a16:colId xmlns:a16="http://schemas.microsoft.com/office/drawing/2014/main" val="2036775040"/>
                    </a:ext>
                  </a:extLst>
                </a:gridCol>
                <a:gridCol w="1621132">
                  <a:extLst>
                    <a:ext uri="{9D8B030D-6E8A-4147-A177-3AD203B41FA5}">
                      <a16:colId xmlns:a16="http://schemas.microsoft.com/office/drawing/2014/main" val="1632895918"/>
                    </a:ext>
                  </a:extLst>
                </a:gridCol>
                <a:gridCol w="1876351">
                  <a:extLst>
                    <a:ext uri="{9D8B030D-6E8A-4147-A177-3AD203B41FA5}">
                      <a16:colId xmlns:a16="http://schemas.microsoft.com/office/drawing/2014/main" val="1710769622"/>
                    </a:ext>
                  </a:extLst>
                </a:gridCol>
                <a:gridCol w="1365912">
                  <a:extLst>
                    <a:ext uri="{9D8B030D-6E8A-4147-A177-3AD203B41FA5}">
                      <a16:colId xmlns:a16="http://schemas.microsoft.com/office/drawing/2014/main" val="1064956682"/>
                    </a:ext>
                  </a:extLst>
                </a:gridCol>
                <a:gridCol w="1621132">
                  <a:extLst>
                    <a:ext uri="{9D8B030D-6E8A-4147-A177-3AD203B41FA5}">
                      <a16:colId xmlns:a16="http://schemas.microsoft.com/office/drawing/2014/main" val="3154099937"/>
                    </a:ext>
                  </a:extLst>
                </a:gridCol>
                <a:gridCol w="1621132">
                  <a:extLst>
                    <a:ext uri="{9D8B030D-6E8A-4147-A177-3AD203B41FA5}">
                      <a16:colId xmlns:a16="http://schemas.microsoft.com/office/drawing/2014/main" val="1523664679"/>
                    </a:ext>
                  </a:extLst>
                </a:gridCol>
              </a:tblGrid>
              <a:tr h="381178">
                <a:tc>
                  <a:txBody>
                    <a:bodyPr/>
                    <a:lstStyle/>
                    <a:p>
                      <a:pPr algn="ctr"/>
                      <a:endParaRPr lang="en-US" sz="1600">
                        <a:latin typeface="Segoe UI"/>
                        <a:ea typeface="Microsoft YaHei"/>
                      </a:endParaRPr>
                    </a:p>
                  </a:txBody>
                  <a:tcPr>
                    <a:solidFill>
                      <a:schemeClr val="accent2"/>
                    </a:solidFill>
                  </a:tcPr>
                </a:tc>
                <a:tc gridSpan="3">
                  <a:txBody>
                    <a:bodyPr/>
                    <a:lstStyle/>
                    <a:p>
                      <a:pPr algn="ctr"/>
                      <a:r>
                        <a:rPr lang="zh-TW" altLang="en-US" sz="1600" b="1" kern="1200">
                          <a:solidFill>
                            <a:schemeClr val="bg1"/>
                          </a:solidFill>
                          <a:effectLst>
                            <a:outerShdw blurRad="38100" dist="38100" dir="2700000" algn="tl">
                              <a:srgbClr val="000000">
                                <a:alpha val="43137"/>
                              </a:srgbClr>
                            </a:outerShdw>
                          </a:effectLst>
                          <a:latin typeface="Segoe UI"/>
                          <a:ea typeface="黑体"/>
                          <a:cs typeface="Arial"/>
                        </a:rPr>
                        <a:t>Global</a:t>
                      </a:r>
                      <a:endParaRPr lang="en-US" sz="1600" b="1" kern="1200">
                        <a:solidFill>
                          <a:schemeClr val="bg1"/>
                        </a:solidFill>
                        <a:effectLst>
                          <a:outerShdw blurRad="38100" dist="38100" dir="2700000" algn="tl">
                            <a:srgbClr val="000000">
                              <a:alpha val="43137"/>
                            </a:srgbClr>
                          </a:outerShdw>
                        </a:effectLst>
                        <a:latin typeface="Segoe UI"/>
                        <a:ea typeface="黑体"/>
                        <a:cs typeface="Arial"/>
                      </a:endParaRPr>
                    </a:p>
                  </a:txBody>
                  <a:tcPr>
                    <a:solidFill>
                      <a:schemeClr val="accent2"/>
                    </a:solidFill>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a:effectLst/>
                        <a:latin typeface="Boehringer Forward Text" panose="02000500000000020000" pitchFamily="2" charset="0"/>
                        <a:ea typeface="DengXian" panose="02010600030101010101" pitchFamily="2" charset="-122"/>
                        <a:cs typeface="Aptos" panose="020B0004020202020204" pitchFamily="34" charset="0"/>
                      </a:endParaRPr>
                    </a:p>
                  </a:txBody>
                  <a:tcPr/>
                </a:tc>
                <a:tc gridSpan="3">
                  <a:txBody>
                    <a:bodyPr/>
                    <a:lstStyle/>
                    <a:p>
                      <a:pPr algn="ctr"/>
                      <a:r>
                        <a:rPr lang="zh-TW" altLang="en-US" sz="1600" b="1" kern="1200">
                          <a:solidFill>
                            <a:srgbClr val="FF0000"/>
                          </a:solidFill>
                          <a:effectLst>
                            <a:outerShdw blurRad="38100" dist="38100" dir="2700000" algn="tl">
                              <a:srgbClr val="000000">
                                <a:alpha val="43137"/>
                              </a:srgbClr>
                            </a:outerShdw>
                          </a:effectLst>
                          <a:latin typeface="Segoe UI"/>
                          <a:ea typeface="黑体"/>
                          <a:cs typeface="Arial"/>
                        </a:rPr>
                        <a:t>Mainland China</a:t>
                      </a:r>
                      <a:endParaRPr lang="en-US" sz="1600" b="1" kern="1200">
                        <a:solidFill>
                          <a:srgbClr val="FF0000"/>
                        </a:solidFill>
                        <a:effectLst>
                          <a:outerShdw blurRad="38100" dist="38100" dir="2700000" algn="tl">
                            <a:srgbClr val="000000">
                              <a:alpha val="43137"/>
                            </a:srgbClr>
                          </a:outerShdw>
                        </a:effectLst>
                        <a:latin typeface="Segoe UI"/>
                        <a:ea typeface="黑体"/>
                        <a:cs typeface="Arial"/>
                      </a:endParaRPr>
                    </a:p>
                  </a:txBody>
                  <a:tcPr>
                    <a:solidFill>
                      <a:schemeClr val="accent2"/>
                    </a:solidFill>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a:effectLst/>
                        <a:latin typeface="Boehringer Forward Text" panose="02000500000000020000" pitchFamily="2" charset="0"/>
                        <a:ea typeface="DengXian" panose="02010600030101010101" pitchFamily="2" charset="-122"/>
                        <a:cs typeface="Aptos" panose="020B0004020202020204" pitchFamily="34" charset="0"/>
                      </a:endParaRPr>
                    </a:p>
                  </a:txBody>
                  <a:tcPr/>
                </a:tc>
                <a:extLst>
                  <a:ext uri="{0D108BD9-81ED-4DB2-BD59-A6C34878D82A}">
                    <a16:rowId xmlns:a16="http://schemas.microsoft.com/office/drawing/2014/main" val="4172120959"/>
                  </a:ext>
                </a:extLst>
              </a:tr>
              <a:tr h="471949">
                <a:tc>
                  <a:txBody>
                    <a:bodyPr/>
                    <a:lstStyle/>
                    <a:p>
                      <a:pPr algn="ctr">
                        <a:buNone/>
                      </a:pPr>
                      <a:endParaRPr lang="en-US" sz="1600">
                        <a:solidFill>
                          <a:schemeClr val="tx1"/>
                        </a:solidFill>
                        <a:effectLst/>
                        <a:latin typeface="Segoe UI"/>
                        <a:ea typeface="Microsoft YaHei"/>
                      </a:endParaRPr>
                    </a:p>
                  </a:txBody>
                  <a:tcPr anchor="ctr"/>
                </a:tc>
                <a:tc>
                  <a:txBody>
                    <a:bodyPr/>
                    <a:lstStyle/>
                    <a:p>
                      <a:pPr lvl="0" algn="ctr">
                        <a:buNone/>
                      </a:pPr>
                      <a:r>
                        <a:rPr lang="zh-TW" altLang="en-US" sz="1600" b="1">
                          <a:solidFill>
                            <a:schemeClr val="tx1"/>
                          </a:solidFill>
                          <a:effectLst/>
                          <a:latin typeface="Segoe UI"/>
                          <a:ea typeface="Microsoft YaHei"/>
                        </a:rPr>
                        <a:t>Planned</a:t>
                      </a:r>
                    </a:p>
                  </a:txBody>
                  <a:tcPr anchor="ctr">
                    <a:solidFill>
                      <a:schemeClr val="accent2">
                        <a:lumMod val="20000"/>
                        <a:lumOff val="80000"/>
                      </a:schemeClr>
                    </a:solidFill>
                  </a:tcPr>
                </a:tc>
                <a:tc>
                  <a:txBody>
                    <a:bodyPr/>
                    <a:lstStyle/>
                    <a:p>
                      <a:pPr algn="ctr">
                        <a:buNone/>
                      </a:pPr>
                      <a:r>
                        <a:rPr lang="zh-TW" altLang="en-US" sz="1600" b="1">
                          <a:solidFill>
                            <a:schemeClr val="tx1"/>
                          </a:solidFill>
                          <a:effectLst/>
                          <a:latin typeface="Segoe UI"/>
                          <a:ea typeface="Microsoft YaHei"/>
                        </a:rPr>
                        <a:t>Actual</a:t>
                      </a:r>
                    </a:p>
                  </a:txBody>
                  <a:tcPr anchor="ctr">
                    <a:solidFill>
                      <a:schemeClr val="accent2">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zh-CN" altLang="en-US" sz="1600" b="1" i="1">
                          <a:solidFill>
                            <a:schemeClr val="tx1"/>
                          </a:solidFill>
                          <a:effectLst/>
                          <a:latin typeface="Segoe UI"/>
                          <a:ea typeface="Microsoft YaHei"/>
                        </a:rPr>
                        <a:t>Completion %</a:t>
                      </a:r>
                      <a:endParaRPr lang="en-US" sz="1600" b="1" i="1">
                        <a:solidFill>
                          <a:schemeClr val="tx1"/>
                        </a:solidFill>
                        <a:effectLst/>
                        <a:latin typeface="Segoe UI"/>
                        <a:ea typeface="Microsoft YaHei"/>
                        <a:cs typeface="Aptos" panose="020B0004020202020204" pitchFamily="34" charset="0"/>
                      </a:endParaRPr>
                    </a:p>
                  </a:txBody>
                  <a:tcPr anchor="ctr">
                    <a:solidFill>
                      <a:schemeClr val="accent2">
                        <a:lumMod val="20000"/>
                        <a:lumOff val="80000"/>
                      </a:schemeClr>
                    </a:solidFill>
                  </a:tcPr>
                </a:tc>
                <a:tc>
                  <a:txBody>
                    <a:bodyPr/>
                    <a:lstStyle/>
                    <a:p>
                      <a:pPr algn="ctr">
                        <a:buNone/>
                      </a:pPr>
                      <a:r>
                        <a:rPr lang="zh-TW" altLang="en-US" sz="1600" b="1">
                          <a:solidFill>
                            <a:schemeClr val="tx1"/>
                          </a:solidFill>
                          <a:effectLst/>
                          <a:latin typeface="Segoe UI"/>
                          <a:ea typeface="Microsoft YaHei"/>
                        </a:rPr>
                        <a:t>Planned</a:t>
                      </a:r>
                    </a:p>
                  </a:txBody>
                  <a:tcPr anchor="ctr">
                    <a:solidFill>
                      <a:schemeClr val="accent5">
                        <a:lumMod val="20000"/>
                        <a:lumOff val="80000"/>
                      </a:schemeClr>
                    </a:solidFill>
                  </a:tcPr>
                </a:tc>
                <a:tc>
                  <a:txBody>
                    <a:bodyPr/>
                    <a:lstStyle/>
                    <a:p>
                      <a:pPr algn="ctr">
                        <a:buNone/>
                      </a:pPr>
                      <a:r>
                        <a:rPr lang="zh-TW" altLang="en-US" sz="1600" b="1">
                          <a:solidFill>
                            <a:schemeClr val="tx1"/>
                          </a:solidFill>
                          <a:effectLst/>
                          <a:latin typeface="Segoe UI"/>
                          <a:ea typeface="Microsoft YaHei"/>
                        </a:rPr>
                        <a:t>Actual</a:t>
                      </a:r>
                    </a:p>
                  </a:txBody>
                  <a:tcPr anchor="ctr">
                    <a:solidFill>
                      <a:schemeClr val="accent5">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zh-CN" altLang="en-US" sz="1600" b="1" i="1" kern="1200">
                          <a:solidFill>
                            <a:schemeClr val="tx1"/>
                          </a:solidFill>
                          <a:effectLst/>
                          <a:latin typeface="Segoe UI"/>
                          <a:ea typeface="Microsoft YaHei"/>
                          <a:cs typeface="+mn-cs"/>
                        </a:rPr>
                        <a:t>Completion %</a:t>
                      </a:r>
                    </a:p>
                  </a:txBody>
                  <a:tcPr anchor="ctr">
                    <a:solidFill>
                      <a:schemeClr val="accent5">
                        <a:lumMod val="20000"/>
                        <a:lumOff val="80000"/>
                      </a:schemeClr>
                    </a:solidFill>
                  </a:tcPr>
                </a:tc>
                <a:extLst>
                  <a:ext uri="{0D108BD9-81ED-4DB2-BD59-A6C34878D82A}">
                    <a16:rowId xmlns:a16="http://schemas.microsoft.com/office/drawing/2014/main" val="4246563171"/>
                  </a:ext>
                </a:extLst>
              </a:tr>
              <a:tr h="432000">
                <a:tc>
                  <a:txBody>
                    <a:bodyPr/>
                    <a:lstStyle/>
                    <a:p>
                      <a:pPr marL="0" algn="ctr" defTabSz="914400" rtl="0" eaLnBrk="1" latinLnBrk="0" hangingPunct="1">
                        <a:buNone/>
                      </a:pPr>
                      <a:r>
                        <a:rPr lang="zh-TW" altLang="en-US" sz="1600" b="1" kern="1200">
                          <a:solidFill>
                            <a:schemeClr val="tx1"/>
                          </a:solidFill>
                          <a:effectLst>
                            <a:outerShdw blurRad="38100" dist="38100" dir="2700000" algn="tl">
                              <a:srgbClr val="000000">
                                <a:alpha val="43137"/>
                              </a:srgbClr>
                            </a:outerShdw>
                          </a:effectLst>
                          <a:latin typeface="Segoe UI"/>
                          <a:ea typeface="黑体"/>
                          <a:cs typeface="Arial"/>
                        </a:rPr>
                        <a:t>Screening</a:t>
                      </a:r>
                    </a:p>
                  </a:txBody>
                  <a:tcPr anchor="ctr"/>
                </a:tc>
                <a:tc>
                  <a:txBody>
                    <a:bodyPr/>
                    <a:lstStyle/>
                    <a:p>
                      <a:pPr algn="ctr">
                        <a:buNone/>
                      </a:pPr>
                      <a:r>
                        <a:rPr lang="en-US" sz="1600">
                          <a:solidFill>
                            <a:schemeClr val="tx1"/>
                          </a:solidFill>
                          <a:effectLst/>
                          <a:latin typeface="Segoe UI"/>
                        </a:rPr>
                        <a:t>2400</a:t>
                      </a:r>
                      <a:endParaRPr lang="en-US" sz="1600">
                        <a:solidFill>
                          <a:schemeClr val="tx1"/>
                        </a:solidFill>
                        <a:effectLst/>
                        <a:latin typeface="Segoe UI"/>
                        <a:ea typeface="Microsoft YaHei"/>
                      </a:endParaRPr>
                    </a:p>
                  </a:txBody>
                  <a:tcPr anchor="ctr">
                    <a:solidFill>
                      <a:schemeClr val="accent2">
                        <a:lumMod val="20000"/>
                        <a:lumOff val="80000"/>
                      </a:schemeClr>
                    </a:solidFill>
                  </a:tcPr>
                </a:tc>
                <a:tc>
                  <a:txBody>
                    <a:bodyPr/>
                    <a:lstStyle/>
                    <a:p>
                      <a:pPr algn="ctr">
                        <a:buNone/>
                      </a:pPr>
                      <a:r>
                        <a:rPr lang="en-US" sz="1600">
                          <a:solidFill>
                            <a:schemeClr val="tx1"/>
                          </a:solidFill>
                          <a:effectLst/>
                          <a:latin typeface="Segoe UI"/>
                          <a:ea typeface="Microsoft YaHei"/>
                        </a:rPr>
                        <a:t>716</a:t>
                      </a:r>
                    </a:p>
                  </a:txBody>
                  <a:tcPr anchor="ctr">
                    <a:solidFill>
                      <a:schemeClr val="accent2">
                        <a:lumMod val="20000"/>
                        <a:lumOff val="80000"/>
                      </a:schemeClr>
                    </a:solidFill>
                  </a:tcPr>
                </a:tc>
                <a:tc>
                  <a:txBody>
                    <a:bodyPr/>
                    <a:lstStyle/>
                    <a:p>
                      <a:pPr algn="ctr">
                        <a:buNone/>
                      </a:pPr>
                      <a:r>
                        <a:rPr lang="en-US" sz="1600" b="1">
                          <a:solidFill>
                            <a:schemeClr val="tx1"/>
                          </a:solidFill>
                          <a:effectLst>
                            <a:outerShdw blurRad="38100" dist="38100" dir="2700000" algn="tl">
                              <a:srgbClr val="000000">
                                <a:alpha val="43137"/>
                              </a:srgbClr>
                            </a:outerShdw>
                          </a:effectLst>
                          <a:latin typeface="Segoe UI"/>
                          <a:ea typeface="Microsoft YaHei"/>
                        </a:rPr>
                        <a:t>29.8%</a:t>
                      </a:r>
                    </a:p>
                  </a:txBody>
                  <a:tcPr anchor="ctr">
                    <a:solidFill>
                      <a:schemeClr val="accent2">
                        <a:lumMod val="20000"/>
                        <a:lumOff val="80000"/>
                      </a:schemeClr>
                    </a:solidFill>
                  </a:tcPr>
                </a:tc>
                <a:tc>
                  <a:txBody>
                    <a:bodyPr/>
                    <a:lstStyle/>
                    <a:p>
                      <a:pPr algn="ctr">
                        <a:buNone/>
                      </a:pPr>
                      <a:r>
                        <a:rPr lang="en-US" sz="1600">
                          <a:solidFill>
                            <a:schemeClr val="tx1"/>
                          </a:solidFill>
                          <a:effectLst/>
                          <a:latin typeface="Segoe UI"/>
                          <a:ea typeface="Microsoft YaHei"/>
                        </a:rPr>
                        <a:t>309</a:t>
                      </a:r>
                    </a:p>
                  </a:txBody>
                  <a:tcPr anchor="ctr">
                    <a:solidFill>
                      <a:schemeClr val="accent5">
                        <a:lumMod val="20000"/>
                        <a:lumOff val="80000"/>
                      </a:schemeClr>
                    </a:solidFill>
                  </a:tcPr>
                </a:tc>
                <a:tc>
                  <a:txBody>
                    <a:bodyPr/>
                    <a:lstStyle/>
                    <a:p>
                      <a:pPr algn="ctr">
                        <a:buNone/>
                      </a:pPr>
                      <a:r>
                        <a:rPr lang="en-US" sz="1600">
                          <a:solidFill>
                            <a:schemeClr val="tx1"/>
                          </a:solidFill>
                          <a:effectLst/>
                          <a:latin typeface="Segoe UI"/>
                          <a:ea typeface="Microsoft YaHei"/>
                        </a:rPr>
                        <a:t>134</a:t>
                      </a:r>
                    </a:p>
                  </a:txBody>
                  <a:tcPr anchor="ctr">
                    <a:solidFill>
                      <a:schemeClr val="accent5">
                        <a:lumMod val="20000"/>
                        <a:lumOff val="80000"/>
                      </a:schemeClr>
                    </a:solidFill>
                  </a:tcPr>
                </a:tc>
                <a:tc>
                  <a:txBody>
                    <a:bodyPr/>
                    <a:lstStyle/>
                    <a:p>
                      <a:pPr marL="0" algn="ctr" defTabSz="914400" rtl="0" eaLnBrk="1" latinLnBrk="0" hangingPunct="1">
                        <a:buNone/>
                      </a:pPr>
                      <a:r>
                        <a:rPr lang="en-US" sz="1600" b="1" kern="1200">
                          <a:solidFill>
                            <a:schemeClr val="tx1"/>
                          </a:solidFill>
                          <a:effectLst>
                            <a:outerShdw blurRad="38100" dist="38100" dir="2700000" algn="tl">
                              <a:srgbClr val="000000">
                                <a:alpha val="43137"/>
                              </a:srgbClr>
                            </a:outerShdw>
                          </a:effectLst>
                          <a:latin typeface="Segoe UI"/>
                          <a:ea typeface="Microsoft YaHei"/>
                          <a:cs typeface="+mn-cs"/>
                        </a:rPr>
                        <a:t>43.3%</a:t>
                      </a:r>
                    </a:p>
                  </a:txBody>
                  <a:tcPr anchor="ctr">
                    <a:solidFill>
                      <a:schemeClr val="accent5">
                        <a:lumMod val="20000"/>
                        <a:lumOff val="80000"/>
                      </a:schemeClr>
                    </a:solidFill>
                  </a:tcPr>
                </a:tc>
                <a:extLst>
                  <a:ext uri="{0D108BD9-81ED-4DB2-BD59-A6C34878D82A}">
                    <a16:rowId xmlns:a16="http://schemas.microsoft.com/office/drawing/2014/main" val="3286998524"/>
                  </a:ext>
                </a:extLst>
              </a:tr>
              <a:tr h="432000">
                <a:tc>
                  <a:txBody>
                    <a:bodyPr/>
                    <a:lstStyle/>
                    <a:p>
                      <a:pPr marL="0" algn="ctr" defTabSz="914400" rtl="0" eaLnBrk="1" latinLnBrk="0" hangingPunct="1">
                        <a:buNone/>
                      </a:pPr>
                      <a:r>
                        <a:rPr lang="zh-TW" altLang="en-US" sz="1600" b="1" kern="1200">
                          <a:solidFill>
                            <a:schemeClr val="tx1"/>
                          </a:solidFill>
                          <a:effectLst>
                            <a:outerShdw blurRad="38100" dist="38100" dir="2700000" algn="tl">
                              <a:srgbClr val="000000">
                                <a:alpha val="43137"/>
                              </a:srgbClr>
                            </a:outerShdw>
                          </a:effectLst>
                          <a:latin typeface="Segoe UI"/>
                          <a:ea typeface="黑体"/>
                          <a:cs typeface="Arial"/>
                        </a:rPr>
                        <a:t>Randomization</a:t>
                      </a:r>
                    </a:p>
                  </a:txBody>
                  <a:tcPr anchor="ctr"/>
                </a:tc>
                <a:tc>
                  <a:txBody>
                    <a:bodyPr/>
                    <a:lstStyle/>
                    <a:p>
                      <a:pPr algn="ctr">
                        <a:buNone/>
                      </a:pPr>
                      <a:r>
                        <a:rPr lang="en-US" sz="1600">
                          <a:solidFill>
                            <a:schemeClr val="tx1"/>
                          </a:solidFill>
                          <a:effectLst/>
                          <a:latin typeface="Segoe UI"/>
                        </a:rPr>
                        <a:t>1680</a:t>
                      </a:r>
                      <a:endParaRPr lang="en-US" sz="1600">
                        <a:solidFill>
                          <a:schemeClr val="tx1"/>
                        </a:solidFill>
                        <a:effectLst/>
                        <a:latin typeface="Segoe UI"/>
                        <a:ea typeface="Microsoft YaHei"/>
                      </a:endParaRPr>
                    </a:p>
                  </a:txBody>
                  <a:tcPr anchor="ctr">
                    <a:solidFill>
                      <a:schemeClr val="accent2">
                        <a:lumMod val="20000"/>
                        <a:lumOff val="80000"/>
                      </a:schemeClr>
                    </a:solidFill>
                  </a:tcPr>
                </a:tc>
                <a:tc>
                  <a:txBody>
                    <a:bodyPr/>
                    <a:lstStyle/>
                    <a:p>
                      <a:pPr algn="ctr">
                        <a:buNone/>
                      </a:pPr>
                      <a:r>
                        <a:rPr lang="en-US" sz="1600" b="1">
                          <a:solidFill>
                            <a:schemeClr val="tx1"/>
                          </a:solidFill>
                          <a:effectLst/>
                          <a:latin typeface="Segoe UI"/>
                          <a:ea typeface="Microsoft YaHei"/>
                        </a:rPr>
                        <a:t>368</a:t>
                      </a:r>
                    </a:p>
                  </a:txBody>
                  <a:tcPr anchor="ctr">
                    <a:solidFill>
                      <a:schemeClr val="accent2">
                        <a:lumMod val="20000"/>
                        <a:lumOff val="80000"/>
                      </a:schemeClr>
                    </a:solidFill>
                  </a:tcPr>
                </a:tc>
                <a:tc>
                  <a:txBody>
                    <a:bodyPr/>
                    <a:lstStyle/>
                    <a:p>
                      <a:pPr algn="ctr">
                        <a:buNone/>
                      </a:pPr>
                      <a:r>
                        <a:rPr lang="en-US" sz="1600" b="1">
                          <a:solidFill>
                            <a:schemeClr val="accent3">
                              <a:lumMod val="49000"/>
                            </a:schemeClr>
                          </a:solidFill>
                          <a:effectLst>
                            <a:outerShdw blurRad="38100" dist="38100" dir="2700000" algn="tl">
                              <a:srgbClr val="000000">
                                <a:alpha val="43137"/>
                              </a:srgbClr>
                            </a:outerShdw>
                          </a:effectLst>
                          <a:latin typeface="Segoe UI"/>
                          <a:ea typeface="Microsoft YaHei"/>
                        </a:rPr>
                        <a:t>21.9%</a:t>
                      </a:r>
                    </a:p>
                  </a:txBody>
                  <a:tcPr anchor="ctr">
                    <a:solidFill>
                      <a:schemeClr val="accent2">
                        <a:lumMod val="20000"/>
                        <a:lumOff val="80000"/>
                      </a:schemeClr>
                    </a:solidFill>
                  </a:tcPr>
                </a:tc>
                <a:tc>
                  <a:txBody>
                    <a:bodyPr/>
                    <a:lstStyle/>
                    <a:p>
                      <a:pPr algn="ctr">
                        <a:buNone/>
                      </a:pPr>
                      <a:r>
                        <a:rPr lang="en-US" sz="1600">
                          <a:solidFill>
                            <a:schemeClr val="tx1"/>
                          </a:solidFill>
                          <a:effectLst/>
                          <a:latin typeface="Segoe UI"/>
                        </a:rPr>
                        <a:t>201</a:t>
                      </a:r>
                      <a:endParaRPr lang="en-US" sz="1600">
                        <a:solidFill>
                          <a:schemeClr val="tx1"/>
                        </a:solidFill>
                        <a:effectLst/>
                        <a:latin typeface="Segoe UI"/>
                        <a:ea typeface="Microsoft YaHei"/>
                      </a:endParaRPr>
                    </a:p>
                  </a:txBody>
                  <a:tcPr anchor="ctr">
                    <a:solidFill>
                      <a:schemeClr val="accent5">
                        <a:lumMod val="20000"/>
                        <a:lumOff val="80000"/>
                      </a:schemeClr>
                    </a:solidFill>
                  </a:tcPr>
                </a:tc>
                <a:tc>
                  <a:txBody>
                    <a:bodyPr/>
                    <a:lstStyle/>
                    <a:p>
                      <a:pPr algn="ctr" fontAlgn="t">
                        <a:lnSpc>
                          <a:spcPts val="1500"/>
                        </a:lnSpc>
                        <a:buNone/>
                      </a:pPr>
                      <a:r>
                        <a:rPr lang="en-US" altLang="zh-CN" sz="1600" b="1" i="0">
                          <a:solidFill>
                            <a:schemeClr val="tx1"/>
                          </a:solidFill>
                          <a:effectLst/>
                          <a:latin typeface="Segoe UI"/>
                          <a:ea typeface="Microsoft YaHei"/>
                        </a:rPr>
                        <a:t>80</a:t>
                      </a:r>
                      <a:endParaRPr lang="zh-CN" altLang="en-US" sz="1600">
                        <a:latin typeface="Segoe UI"/>
                      </a:endParaRPr>
                    </a:p>
                  </a:txBody>
                  <a:tcPr anchor="ctr">
                    <a:solidFill>
                      <a:schemeClr val="accent5">
                        <a:lumMod val="20000"/>
                        <a:lumOff val="80000"/>
                      </a:schemeClr>
                    </a:solidFill>
                  </a:tcPr>
                </a:tc>
                <a:tc>
                  <a:txBody>
                    <a:bodyPr/>
                    <a:lstStyle/>
                    <a:p>
                      <a:pPr marL="0" algn="ctr" defTabSz="914400" rtl="0" eaLnBrk="1" fontAlgn="t" latinLnBrk="0" hangingPunct="1">
                        <a:lnSpc>
                          <a:spcPts val="1500"/>
                        </a:lnSpc>
                        <a:buNone/>
                      </a:pPr>
                      <a:r>
                        <a:rPr lang="en-US" sz="1600" b="1" kern="1200">
                          <a:solidFill>
                            <a:schemeClr val="accent3">
                              <a:lumMod val="49000"/>
                            </a:schemeClr>
                          </a:solidFill>
                          <a:effectLst>
                            <a:outerShdw blurRad="38100" dist="38100" dir="2700000" algn="tl">
                              <a:srgbClr val="000000">
                                <a:alpha val="43137"/>
                              </a:srgbClr>
                            </a:outerShdw>
                          </a:effectLst>
                          <a:latin typeface="Segoe UI"/>
                          <a:ea typeface="Microsoft YaHei"/>
                          <a:cs typeface="+mn-cs"/>
                        </a:rPr>
                        <a:t>39.8%</a:t>
                      </a:r>
                    </a:p>
                  </a:txBody>
                  <a:tcPr anchor="ctr">
                    <a:solidFill>
                      <a:schemeClr val="accent5">
                        <a:lumMod val="20000"/>
                        <a:lumOff val="80000"/>
                      </a:schemeClr>
                    </a:solidFill>
                  </a:tcPr>
                </a:tc>
                <a:extLst>
                  <a:ext uri="{0D108BD9-81ED-4DB2-BD59-A6C34878D82A}">
                    <a16:rowId xmlns:a16="http://schemas.microsoft.com/office/drawing/2014/main" val="2302744421"/>
                  </a:ext>
                </a:extLst>
              </a:tr>
            </a:tbl>
          </a:graphicData>
        </a:graphic>
      </p:graphicFrame>
      <p:graphicFrame>
        <p:nvGraphicFramePr>
          <p:cNvPr id="1849" name="表格 1848">
            <a:extLst>
              <a:ext uri="{FF2B5EF4-FFF2-40B4-BE49-F238E27FC236}">
                <a16:creationId xmlns:a16="http://schemas.microsoft.com/office/drawing/2014/main" id="{EB6236BF-BAF5-DAFC-B318-4DC6CCF63370}"/>
              </a:ext>
            </a:extLst>
          </p:cNvPr>
          <p:cNvGraphicFramePr>
            <a:graphicFrameLocks noGrp="1"/>
          </p:cNvGraphicFramePr>
          <p:nvPr>
            <p:extLst>
              <p:ext uri="{D42A27DB-BD31-4B8C-83A1-F6EECF244321}">
                <p14:modId xmlns:p14="http://schemas.microsoft.com/office/powerpoint/2010/main" val="4207083029"/>
              </p:ext>
            </p:extLst>
          </p:nvPr>
        </p:nvGraphicFramePr>
        <p:xfrm>
          <a:off x="478692" y="3458307"/>
          <a:ext cx="6539206" cy="1814624"/>
        </p:xfrm>
        <a:graphic>
          <a:graphicData uri="http://schemas.openxmlformats.org/drawingml/2006/table">
            <a:tbl>
              <a:tblPr firstRow="1" bandRow="1">
                <a:tableStyleId>{5C22544A-7EE6-4342-B048-85BDC9FD1C3A}</a:tableStyleId>
              </a:tblPr>
              <a:tblGrid>
                <a:gridCol w="3269603">
                  <a:extLst>
                    <a:ext uri="{9D8B030D-6E8A-4147-A177-3AD203B41FA5}">
                      <a16:colId xmlns:a16="http://schemas.microsoft.com/office/drawing/2014/main" val="2141236160"/>
                    </a:ext>
                  </a:extLst>
                </a:gridCol>
                <a:gridCol w="3269603">
                  <a:extLst>
                    <a:ext uri="{9D8B030D-6E8A-4147-A177-3AD203B41FA5}">
                      <a16:colId xmlns:a16="http://schemas.microsoft.com/office/drawing/2014/main" val="486846502"/>
                    </a:ext>
                  </a:extLst>
                </a:gridCol>
              </a:tblGrid>
              <a:tr h="453656">
                <a:tc>
                  <a:txBody>
                    <a:bodyPr/>
                    <a:lstStyle/>
                    <a:p>
                      <a:pPr lvl="0" algn="ctr">
                        <a:buNone/>
                      </a:pPr>
                      <a:r>
                        <a:rPr lang="zh-CN" sz="1800" b="1" i="0" u="none" strike="noStrike" baseline="0" noProof="0">
                          <a:solidFill>
                            <a:srgbClr val="FFFFFF"/>
                          </a:solidFill>
                          <a:latin typeface="Boehringer Forward Text"/>
                        </a:rPr>
                        <a:t>Screening Top 3</a:t>
                      </a:r>
                      <a:endParaRPr lang="zh-CN"/>
                    </a:p>
                  </a:txBody>
                  <a:tcPr>
                    <a:solidFill>
                      <a:schemeClr val="accent2">
                        <a:lumMod val="75000"/>
                      </a:schemeClr>
                    </a:solidFill>
                  </a:tcPr>
                </a:tc>
                <a:tc>
                  <a:txBody>
                    <a:bodyPr/>
                    <a:lstStyle/>
                    <a:p>
                      <a:pPr lvl="0" algn="ctr">
                        <a:buNone/>
                      </a:pPr>
                      <a:r>
                        <a:rPr lang="en-US" altLang="zh-CN" sz="1800" b="1" i="0" u="none" strike="noStrike" baseline="0" noProof="0">
                          <a:solidFill>
                            <a:srgbClr val="FFFFFF"/>
                          </a:solidFill>
                          <a:latin typeface="Boehringer Forward Text"/>
                        </a:rPr>
                        <a:t>Randomization</a:t>
                      </a:r>
                      <a:r>
                        <a:rPr lang="zh-CN" sz="1800" b="1" i="0" u="none" strike="noStrike" baseline="0" noProof="0">
                          <a:solidFill>
                            <a:srgbClr val="FFFFFF"/>
                          </a:solidFill>
                          <a:latin typeface="Boehringer Forward Text"/>
                        </a:rPr>
                        <a:t> </a:t>
                      </a:r>
                      <a:r>
                        <a:rPr lang="en-US" altLang="zh-CN" sz="1800" b="1" i="0" u="none" strike="noStrike" baseline="0" noProof="0">
                          <a:solidFill>
                            <a:srgbClr val="FFFFFF"/>
                          </a:solidFill>
                          <a:latin typeface="Boehringer Forward Text"/>
                        </a:rPr>
                        <a:t>Top</a:t>
                      </a:r>
                      <a:r>
                        <a:rPr lang="zh-CN" sz="1800" b="1" i="0" u="none" strike="noStrike" baseline="0" noProof="0">
                          <a:solidFill>
                            <a:srgbClr val="FFFFFF"/>
                          </a:solidFill>
                          <a:latin typeface="Boehringer Forward Text"/>
                        </a:rPr>
                        <a:t> </a:t>
                      </a:r>
                      <a:r>
                        <a:rPr lang="en-US" altLang="zh-CN" sz="1800" b="1" i="0" u="none" strike="noStrike" baseline="0" noProof="0">
                          <a:solidFill>
                            <a:srgbClr val="FFFFFF"/>
                          </a:solidFill>
                          <a:latin typeface="Boehringer Forward Text"/>
                        </a:rPr>
                        <a:t>3</a:t>
                      </a:r>
                      <a:endParaRPr lang="zh-CN" altLang="en-US"/>
                    </a:p>
                  </a:txBody>
                  <a:tcPr>
                    <a:solidFill>
                      <a:schemeClr val="accent2">
                        <a:lumMod val="75000"/>
                      </a:schemeClr>
                    </a:solidFill>
                  </a:tcPr>
                </a:tc>
                <a:extLst>
                  <a:ext uri="{0D108BD9-81ED-4DB2-BD59-A6C34878D82A}">
                    <a16:rowId xmlns:a16="http://schemas.microsoft.com/office/drawing/2014/main" val="4275185865"/>
                  </a:ext>
                </a:extLst>
              </a:tr>
              <a:tr h="453656">
                <a:tc>
                  <a:txBody>
                    <a:bodyPr/>
                    <a:lstStyle/>
                    <a:p>
                      <a:pPr algn="ctr"/>
                      <a:r>
                        <a:rPr lang="zh-CN" altLang="en-US" b="1">
                          <a:solidFill>
                            <a:srgbClr val="FF0000"/>
                          </a:solidFill>
                        </a:rPr>
                        <a:t>China (1</a:t>
                      </a:r>
                      <a:r>
                        <a:rPr lang="en-US" altLang="zh-CN" b="1">
                          <a:solidFill>
                            <a:srgbClr val="FF0000"/>
                          </a:solidFill>
                        </a:rPr>
                        <a:t>34</a:t>
                      </a:r>
                      <a:r>
                        <a:rPr lang="zh-CN" altLang="en-US" b="1">
                          <a:solidFill>
                            <a:srgbClr val="FF0000"/>
                          </a:solidFill>
                        </a:rPr>
                        <a:t>) </a:t>
                      </a:r>
                      <a:r>
                        <a:rPr lang="zh-CN" sz="2000" b="1" i="0" u="none" strike="noStrike" noProof="0">
                          <a:solidFill>
                            <a:srgbClr val="FF0000"/>
                          </a:solidFill>
                          <a:latin typeface="Boehringer Forward Text"/>
                        </a:rPr>
                        <a:t>🥇</a:t>
                      </a:r>
                      <a:endParaRPr lang="zh-CN" altLang="en-US" sz="900" b="1" i="0" u="none" strike="noStrike" noProof="0">
                        <a:solidFill>
                          <a:srgbClr val="FF0000"/>
                        </a:solidFill>
                        <a:latin typeface="Boehringer Forward Text"/>
                      </a:endParaRP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zh-CN" altLang="en-US" b="1">
                          <a:solidFill>
                            <a:srgbClr val="FF0000"/>
                          </a:solidFill>
                        </a:rPr>
                        <a:t>China (</a:t>
                      </a:r>
                      <a:r>
                        <a:rPr lang="en-US" altLang="zh-CN" b="1">
                          <a:solidFill>
                            <a:srgbClr val="FF0000"/>
                          </a:solidFill>
                        </a:rPr>
                        <a:t>80</a:t>
                      </a:r>
                      <a:r>
                        <a:rPr lang="zh-CN" altLang="en-US" b="1">
                          <a:solidFill>
                            <a:srgbClr val="FF0000"/>
                          </a:solidFill>
                        </a:rPr>
                        <a:t>)</a:t>
                      </a:r>
                      <a:r>
                        <a:rPr lang="zh-CN" altLang="en-US" sz="2000" b="1" i="0" u="none" strike="noStrike" noProof="0">
                          <a:solidFill>
                            <a:srgbClr val="FF0000"/>
                          </a:solidFill>
                          <a:latin typeface="Boehringer Forward Text"/>
                        </a:rPr>
                        <a:t>🥇</a:t>
                      </a:r>
                      <a:endParaRPr lang="zh-CN" altLang="en-US" sz="2000" b="1">
                        <a:solidFill>
                          <a:srgbClr val="FF0000"/>
                        </a:solidFill>
                      </a:endParaRPr>
                    </a:p>
                  </a:txBody>
                  <a:tcPr/>
                </a:tc>
                <a:extLst>
                  <a:ext uri="{0D108BD9-81ED-4DB2-BD59-A6C34878D82A}">
                    <a16:rowId xmlns:a16="http://schemas.microsoft.com/office/drawing/2014/main" val="3490079887"/>
                  </a:ext>
                </a:extLst>
              </a:tr>
              <a:tr h="453656">
                <a:tc>
                  <a:txBody>
                    <a:bodyPr/>
                    <a:lstStyle/>
                    <a:p>
                      <a:pPr algn="ctr"/>
                      <a:r>
                        <a:rPr lang="zh-CN" altLang="en-US"/>
                        <a:t>Germany (1</a:t>
                      </a:r>
                      <a:r>
                        <a:rPr lang="en-US" altLang="zh-CN"/>
                        <a:t>17</a:t>
                      </a:r>
                      <a:r>
                        <a:rPr lang="zh-CN" altLang="en-US"/>
                        <a:t>)</a:t>
                      </a:r>
                    </a:p>
                  </a:txBody>
                  <a:tcPr/>
                </a:tc>
                <a:tc>
                  <a:txBody>
                    <a:bodyPr/>
                    <a:lstStyle/>
                    <a:p>
                      <a:pPr algn="ctr"/>
                      <a:r>
                        <a:rPr lang="zh-CN" altLang="en-US"/>
                        <a:t>Germany (7</a:t>
                      </a:r>
                      <a:r>
                        <a:rPr lang="en-US" altLang="zh-CN"/>
                        <a:t>9</a:t>
                      </a:r>
                      <a:r>
                        <a:rPr lang="zh-CN" altLang="en-US"/>
                        <a:t>) </a:t>
                      </a:r>
                    </a:p>
                  </a:txBody>
                  <a:tcPr/>
                </a:tc>
                <a:extLst>
                  <a:ext uri="{0D108BD9-81ED-4DB2-BD59-A6C34878D82A}">
                    <a16:rowId xmlns:a16="http://schemas.microsoft.com/office/drawing/2014/main" val="3287980572"/>
                  </a:ext>
                </a:extLst>
              </a:tr>
              <a:tr h="453656">
                <a:tc>
                  <a:txBody>
                    <a:bodyPr/>
                    <a:lstStyle/>
                    <a:p>
                      <a:pPr algn="ctr"/>
                      <a:r>
                        <a:rPr lang="zh-CN" altLang="en-US"/>
                        <a:t>US (</a:t>
                      </a:r>
                      <a:r>
                        <a:rPr lang="en-US" altLang="zh-CN"/>
                        <a:t>97</a:t>
                      </a:r>
                      <a:r>
                        <a:rPr lang="zh-CN" altLang="en-US"/>
                        <a:t>)</a:t>
                      </a:r>
                    </a:p>
                  </a:txBody>
                  <a:tcPr/>
                </a:tc>
                <a:tc>
                  <a:txBody>
                    <a:bodyPr/>
                    <a:lstStyle/>
                    <a:p>
                      <a:pPr algn="ctr"/>
                      <a:r>
                        <a:rPr lang="zh-CN" altLang="en-US"/>
                        <a:t>US (</a:t>
                      </a:r>
                      <a:r>
                        <a:rPr lang="en-US" altLang="zh-CN"/>
                        <a:t>52</a:t>
                      </a:r>
                      <a:r>
                        <a:rPr lang="zh-CN" altLang="en-US"/>
                        <a:t>)</a:t>
                      </a:r>
                    </a:p>
                  </a:txBody>
                  <a:tcPr/>
                </a:tc>
                <a:extLst>
                  <a:ext uri="{0D108BD9-81ED-4DB2-BD59-A6C34878D82A}">
                    <a16:rowId xmlns:a16="http://schemas.microsoft.com/office/drawing/2014/main" val="1689656468"/>
                  </a:ext>
                </a:extLst>
              </a:tr>
            </a:tbl>
          </a:graphicData>
        </a:graphic>
      </p:graphicFrame>
      <p:pic>
        <p:nvPicPr>
          <p:cNvPr id="3" name="图片 2" descr="图片包含 橙子, 灯光, 穿着, 关&#10;&#10;AI 生成的内容可能不正确。">
            <a:extLst>
              <a:ext uri="{FF2B5EF4-FFF2-40B4-BE49-F238E27FC236}">
                <a16:creationId xmlns:a16="http://schemas.microsoft.com/office/drawing/2014/main" id="{7EF32C89-F8B3-DD7B-278E-82F393B7D92E}"/>
              </a:ext>
            </a:extLst>
          </p:cNvPr>
          <p:cNvPicPr>
            <a:picLocks noChangeAspect="1"/>
          </p:cNvPicPr>
          <p:nvPr/>
        </p:nvPicPr>
        <p:blipFill>
          <a:blip r:embed="rId2"/>
          <a:srcRect l="18234" t="20228" r="52369" b="13960"/>
          <a:stretch>
            <a:fillRect/>
          </a:stretch>
        </p:blipFill>
        <p:spPr>
          <a:xfrm>
            <a:off x="7135166" y="3458307"/>
            <a:ext cx="1256618" cy="1817080"/>
          </a:xfrm>
          <a:prstGeom prst="rect">
            <a:avLst/>
          </a:prstGeom>
        </p:spPr>
      </p:pic>
      <p:sp>
        <p:nvSpPr>
          <p:cNvPr id="4" name="文本框 3">
            <a:extLst>
              <a:ext uri="{FF2B5EF4-FFF2-40B4-BE49-F238E27FC236}">
                <a16:creationId xmlns:a16="http://schemas.microsoft.com/office/drawing/2014/main" id="{11FDFFB8-02E9-63A1-A75A-86006A6E4672}"/>
              </a:ext>
            </a:extLst>
          </p:cNvPr>
          <p:cNvSpPr txBox="1"/>
          <p:nvPr/>
        </p:nvSpPr>
        <p:spPr bwMode="gray">
          <a:xfrm>
            <a:off x="9032073" y="3458456"/>
            <a:ext cx="2737615" cy="31592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600" b="1"/>
              <a:t>Shout-out</a:t>
            </a:r>
            <a:r>
              <a:rPr lang="zh-CN" altLang="en-US" sz="1600"/>
              <a:t> to CD&amp;O team</a:t>
            </a:r>
          </a:p>
        </p:txBody>
      </p:sp>
      <p:pic>
        <p:nvPicPr>
          <p:cNvPr id="5" name="图形 4" descr="免提电话 纯色填充">
            <a:extLst>
              <a:ext uri="{FF2B5EF4-FFF2-40B4-BE49-F238E27FC236}">
                <a16:creationId xmlns:a16="http://schemas.microsoft.com/office/drawing/2014/main" id="{D7EF9E58-6753-EF3E-4407-A65271C7345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40261" y="3430953"/>
            <a:ext cx="425939" cy="416170"/>
          </a:xfrm>
          <a:prstGeom prst="rect">
            <a:avLst/>
          </a:prstGeom>
        </p:spPr>
      </p:pic>
      <p:sp>
        <p:nvSpPr>
          <p:cNvPr id="9" name="文本框 8">
            <a:extLst>
              <a:ext uri="{FF2B5EF4-FFF2-40B4-BE49-F238E27FC236}">
                <a16:creationId xmlns:a16="http://schemas.microsoft.com/office/drawing/2014/main" id="{A5B0DCF5-6D9A-9E67-D79C-372413014EDD}"/>
              </a:ext>
            </a:extLst>
          </p:cNvPr>
          <p:cNvSpPr txBox="1"/>
          <p:nvPr/>
        </p:nvSpPr>
        <p:spPr bwMode="gray">
          <a:xfrm>
            <a:off x="9032073" y="4073918"/>
            <a:ext cx="2737615" cy="66063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600"/>
              <a:t>THANKS to Cross-functional support</a:t>
            </a:r>
          </a:p>
        </p:txBody>
      </p:sp>
    </p:spTree>
    <p:extLst>
      <p:ext uri="{BB962C8B-B14F-4D97-AF65-F5344CB8AC3E}">
        <p14:creationId xmlns:p14="http://schemas.microsoft.com/office/powerpoint/2010/main" val="3676249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CF5406-4EE7-020F-FCB4-0C2B6C37581E}"/>
              </a:ext>
            </a:extLst>
          </p:cNvPr>
          <p:cNvSpPr>
            <a:spLocks noGrp="1"/>
          </p:cNvSpPr>
          <p:nvPr>
            <p:ph type="title"/>
          </p:nvPr>
        </p:nvSpPr>
        <p:spPr/>
        <p:txBody>
          <a:bodyPr/>
          <a:lstStyle/>
          <a:p>
            <a:r>
              <a:rPr lang="zh-CN" altLang="en-US"/>
              <a:t>Next step actions – trial acceleration</a:t>
            </a:r>
          </a:p>
        </p:txBody>
      </p:sp>
      <p:sp>
        <p:nvSpPr>
          <p:cNvPr id="3" name="内容占位符 2">
            <a:extLst>
              <a:ext uri="{FF2B5EF4-FFF2-40B4-BE49-F238E27FC236}">
                <a16:creationId xmlns:a16="http://schemas.microsoft.com/office/drawing/2014/main" id="{57A6748C-45F6-7374-287E-5DE721C5B32A}"/>
              </a:ext>
            </a:extLst>
          </p:cNvPr>
          <p:cNvSpPr>
            <a:spLocks noGrp="1"/>
          </p:cNvSpPr>
          <p:nvPr>
            <p:ph idx="1"/>
          </p:nvPr>
        </p:nvSpPr>
        <p:spPr>
          <a:xfrm>
            <a:off x="508113" y="1346045"/>
            <a:ext cx="11069372" cy="4250393"/>
          </a:xfrm>
        </p:spPr>
        <p:txBody>
          <a:bodyPr vert="horz" lIns="0" tIns="0" rIns="0" bIns="0" rtlCol="0" anchor="t">
            <a:noAutofit/>
          </a:bodyPr>
          <a:lstStyle/>
          <a:p>
            <a:pPr marL="215900" indent="-215900"/>
            <a:r>
              <a:rPr lang="zh-CN" altLang="en-US" b="1"/>
              <a:t>Trial acceleration strategy implementation:</a:t>
            </a:r>
          </a:p>
          <a:p>
            <a:pPr marL="575945" lvl="2" indent="-215900">
              <a:buFont typeface="Wingdings" panose="020B0604020202020204" pitchFamily="34" charset="0"/>
              <a:buChar char="§"/>
            </a:pPr>
            <a:r>
              <a:rPr lang="zh-CN" altLang="en-US"/>
              <a:t>Virtual IM (done)</a:t>
            </a:r>
          </a:p>
          <a:p>
            <a:pPr marL="575945" lvl="2" indent="-215900">
              <a:buFont typeface="Wingdings" panose="020B0604020202020204" pitchFamily="34" charset="0"/>
              <a:buChar char="§"/>
            </a:pPr>
            <a:r>
              <a:rPr lang="zh-CN" altLang="en-US"/>
              <a:t>Key site/PI engagement/visit...</a:t>
            </a:r>
          </a:p>
          <a:p>
            <a:pPr marL="575945" lvl="2" indent="-215900">
              <a:buFont typeface="Wingdings" panose="020B0604020202020204" pitchFamily="34" charset="0"/>
              <a:buChar char="§"/>
            </a:pPr>
            <a:r>
              <a:rPr lang="zh-CN" altLang="en-US"/>
              <a:t>Trial quality </a:t>
            </a:r>
          </a:p>
          <a:p>
            <a:pPr marL="215900" indent="-215900"/>
            <a:r>
              <a:rPr lang="zh-CN" altLang="en-US" b="1"/>
              <a:t>To ensure adol. recruitment completes simultaneously with adult recruitment (</a:t>
            </a:r>
            <a:r>
              <a:rPr lang="zh-CN" altLang="en-US" b="1">
                <a:solidFill>
                  <a:srgbClr val="7030A0"/>
                </a:solidFill>
              </a:rPr>
              <a:t>one LPI </a:t>
            </a:r>
            <a:r>
              <a:rPr lang="zh-CN" altLang="en-US" b="1"/>
              <a:t>goal)</a:t>
            </a:r>
          </a:p>
          <a:p>
            <a:pPr marL="575945" lvl="2" indent="-215900">
              <a:buFont typeface="Wingdings" panose="020B0604020202020204" pitchFamily="34" charset="0"/>
              <a:buChar char="§"/>
            </a:pPr>
            <a:r>
              <a:rPr lang="zh-CN" altLang="en-US"/>
              <a:t>Shorter recruiment window for adolescent pts (n=75) - critical path to have a broader labeled indication (adults+adols)</a:t>
            </a:r>
          </a:p>
          <a:p>
            <a:pPr marL="575945" lvl="2" indent="-215900">
              <a:buFont typeface="Wingdings" panose="020B0604020202020204" pitchFamily="34" charset="0"/>
              <a:buChar char="§"/>
            </a:pPr>
            <a:r>
              <a:rPr lang="zh-CN" altLang="en-US"/>
              <a:t>Quick SIV for 2 new sites for adols and closely monitor site performance </a:t>
            </a:r>
          </a:p>
          <a:p>
            <a:pPr marL="215900" indent="-215900"/>
            <a:r>
              <a:rPr lang="zh-CN" altLang="en-US" b="1"/>
              <a:t>Launch readiness </a:t>
            </a:r>
            <a:endParaRPr lang="zh-CN"/>
          </a:p>
          <a:p>
            <a:pPr marL="575945" lvl="2" indent="-215900">
              <a:buFont typeface="Wingdings" panose="020B0604020202020204" pitchFamily="34" charset="0"/>
              <a:buChar char="§"/>
            </a:pPr>
            <a:r>
              <a:rPr lang="zh-CN" altLang="en-US"/>
              <a:t>Launch readiness preparations have been planned.</a:t>
            </a:r>
          </a:p>
          <a:p>
            <a:pPr marL="215900" indent="-215900"/>
            <a:endParaRPr lang="zh-CN" altLang="en-US" b="1"/>
          </a:p>
        </p:txBody>
      </p:sp>
      <p:sp>
        <p:nvSpPr>
          <p:cNvPr id="4" name="页脚占位符 3">
            <a:extLst>
              <a:ext uri="{FF2B5EF4-FFF2-40B4-BE49-F238E27FC236}">
                <a16:creationId xmlns:a16="http://schemas.microsoft.com/office/drawing/2014/main" id="{AFF94689-686E-A8E7-20A1-20E2ABFC40DF}"/>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B6517111-1396-B9E1-8E74-F3DE69C7831C}"/>
              </a:ext>
            </a:extLst>
          </p:cNvPr>
          <p:cNvSpPr>
            <a:spLocks noGrp="1"/>
          </p:cNvSpPr>
          <p:nvPr>
            <p:ph type="sldNum" sz="quarter" idx="12"/>
          </p:nvPr>
        </p:nvSpPr>
        <p:spPr/>
        <p:txBody>
          <a:bodyPr/>
          <a:lstStyle/>
          <a:p>
            <a:fld id="{AF225C8E-132A-4293-BF1D-E348182D543A}" type="slidenum">
              <a:rPr lang="en-US" smtClean="0"/>
              <a:t>29</a:t>
            </a:fld>
            <a:endParaRPr lang="en-US"/>
          </a:p>
        </p:txBody>
      </p:sp>
    </p:spTree>
    <p:extLst>
      <p:ext uri="{BB962C8B-B14F-4D97-AF65-F5344CB8AC3E}">
        <p14:creationId xmlns:p14="http://schemas.microsoft.com/office/powerpoint/2010/main" val="1590963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02D27F-D690-1104-E970-987934AE865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2E98CEC-AC02-3EBE-086C-B592A486FE31}"/>
              </a:ext>
            </a:extLst>
          </p:cNvPr>
          <p:cNvSpPr>
            <a:spLocks noGrp="1"/>
          </p:cNvSpPr>
          <p:nvPr>
            <p:ph type="title"/>
          </p:nvPr>
        </p:nvSpPr>
        <p:spPr/>
        <p:txBody>
          <a:bodyPr/>
          <a:lstStyle/>
          <a:p>
            <a:r>
              <a:rPr lang="zh-CN" altLang="en-US"/>
              <a:t>Next step actions</a:t>
            </a:r>
          </a:p>
        </p:txBody>
      </p:sp>
      <p:sp>
        <p:nvSpPr>
          <p:cNvPr id="3" name="内容占位符 2">
            <a:extLst>
              <a:ext uri="{FF2B5EF4-FFF2-40B4-BE49-F238E27FC236}">
                <a16:creationId xmlns:a16="http://schemas.microsoft.com/office/drawing/2014/main" id="{128D88BB-87BF-C03C-AE87-FA35B564BF92}"/>
              </a:ext>
            </a:extLst>
          </p:cNvPr>
          <p:cNvSpPr>
            <a:spLocks noGrp="1"/>
          </p:cNvSpPr>
          <p:nvPr>
            <p:ph idx="1"/>
          </p:nvPr>
        </p:nvSpPr>
        <p:spPr>
          <a:xfrm>
            <a:off x="475739" y="1021074"/>
            <a:ext cx="11479680" cy="3452765"/>
          </a:xfrm>
        </p:spPr>
        <p:txBody>
          <a:bodyPr vert="horz" lIns="0" tIns="0" rIns="0" bIns="0" rtlCol="0" anchor="t">
            <a:noAutofit/>
          </a:bodyPr>
          <a:lstStyle/>
          <a:p>
            <a:pPr marL="215900" indent="-215900"/>
            <a:r>
              <a:rPr lang="zh-CN" altLang="en-US" b="1"/>
              <a:t>Trial acceleration strategy implementation:</a:t>
            </a:r>
          </a:p>
          <a:p>
            <a:pPr marL="575945" lvl="2" indent="-215900">
              <a:buFont typeface="Wingdings" panose="020B0604020202020204" pitchFamily="34" charset="0"/>
              <a:buChar char="§"/>
            </a:pPr>
            <a:r>
              <a:rPr lang="zh-CN" altLang="en-US"/>
              <a:t>Virtual IM (done)</a:t>
            </a:r>
          </a:p>
          <a:p>
            <a:pPr marL="575945" lvl="2" indent="-215900">
              <a:buFont typeface="Wingdings" panose="020B0604020202020204" pitchFamily="34" charset="0"/>
              <a:buChar char="§"/>
            </a:pPr>
            <a:r>
              <a:rPr lang="zh-CN" altLang="en-US"/>
              <a:t>Key site/PI engagement/visit...</a:t>
            </a:r>
          </a:p>
          <a:p>
            <a:pPr marL="215900" indent="-215900"/>
            <a:r>
              <a:rPr lang="zh-CN" altLang="en-US" b="1"/>
              <a:t>To ensure adol. recruitment completes simultaneously with adult recruitment (</a:t>
            </a:r>
            <a:r>
              <a:rPr lang="zh-CN" altLang="en-US" b="1">
                <a:solidFill>
                  <a:srgbClr val="7030A0"/>
                </a:solidFill>
              </a:rPr>
              <a:t>one LPI </a:t>
            </a:r>
            <a:r>
              <a:rPr lang="zh-CN" altLang="en-US" b="1"/>
              <a:t>goal)</a:t>
            </a:r>
          </a:p>
          <a:p>
            <a:pPr marL="575945" lvl="2" indent="-215900">
              <a:buFont typeface="Wingdings" panose="020B0604020202020204" pitchFamily="34" charset="0"/>
              <a:buChar char="§"/>
            </a:pPr>
            <a:r>
              <a:rPr lang="zh-CN" altLang="en-US"/>
              <a:t>Shorter recruiment window for adolescent pts (n=75) - critical path to have a broader labeled indication (adults+adols)</a:t>
            </a:r>
          </a:p>
          <a:p>
            <a:pPr marL="575945" lvl="2" indent="-215900">
              <a:buFont typeface="Wingdings" panose="020B0604020202020204" pitchFamily="34" charset="0"/>
              <a:buChar char="§"/>
            </a:pPr>
            <a:r>
              <a:rPr lang="zh-CN" altLang="en-US"/>
              <a:t>Quickly SIV for 2 new sites for adols and closely monitor site performance </a:t>
            </a:r>
          </a:p>
          <a:p>
            <a:pPr marL="215900" indent="-215900"/>
            <a:r>
              <a:rPr lang="zh-CN" altLang="en-US" b="1"/>
              <a:t>Launch readiness </a:t>
            </a:r>
            <a:endParaRPr lang="zh-CN"/>
          </a:p>
          <a:p>
            <a:pPr marL="575945" lvl="2" indent="-215900">
              <a:buFont typeface="Wingdings" panose="020B0604020202020204" pitchFamily="34" charset="0"/>
              <a:buChar char="§"/>
            </a:pPr>
            <a:r>
              <a:rPr lang="zh-CN" altLang="en-US"/>
              <a:t>Launch readiness preparations have been planned.</a:t>
            </a:r>
          </a:p>
          <a:p>
            <a:pPr marL="215900" indent="-215900"/>
            <a:endParaRPr lang="zh-CN" altLang="en-US" b="1"/>
          </a:p>
        </p:txBody>
      </p:sp>
      <p:sp>
        <p:nvSpPr>
          <p:cNvPr id="4" name="页脚占位符 3">
            <a:extLst>
              <a:ext uri="{FF2B5EF4-FFF2-40B4-BE49-F238E27FC236}">
                <a16:creationId xmlns:a16="http://schemas.microsoft.com/office/drawing/2014/main" id="{EE104805-A289-A30F-9108-84CA895C9AF3}"/>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6149C28B-8BC2-485B-CCA8-8F1993372DC1}"/>
              </a:ext>
            </a:extLst>
          </p:cNvPr>
          <p:cNvSpPr>
            <a:spLocks noGrp="1"/>
          </p:cNvSpPr>
          <p:nvPr>
            <p:ph type="sldNum" sz="quarter" idx="12"/>
          </p:nvPr>
        </p:nvSpPr>
        <p:spPr/>
        <p:txBody>
          <a:bodyPr/>
          <a:lstStyle/>
          <a:p>
            <a:fld id="{AF225C8E-132A-4293-BF1D-E348182D543A}" type="slidenum">
              <a:rPr lang="en-US" smtClean="0"/>
              <a:t>30</a:t>
            </a:fld>
            <a:endParaRPr lang="en-US"/>
          </a:p>
        </p:txBody>
      </p:sp>
      <p:pic>
        <p:nvPicPr>
          <p:cNvPr id="7" name="图片 6">
            <a:extLst>
              <a:ext uri="{FF2B5EF4-FFF2-40B4-BE49-F238E27FC236}">
                <a16:creationId xmlns:a16="http://schemas.microsoft.com/office/drawing/2014/main" id="{90189EF8-326F-0479-382C-678A6AEE8CF3}"/>
              </a:ext>
            </a:extLst>
          </p:cNvPr>
          <p:cNvPicPr>
            <a:picLocks noChangeAspect="1"/>
          </p:cNvPicPr>
          <p:nvPr/>
        </p:nvPicPr>
        <p:blipFill>
          <a:blip r:embed="rId2"/>
          <a:srcRect l="3155" t="16856" r="3155" b="13636"/>
          <a:stretch>
            <a:fillRect/>
          </a:stretch>
        </p:blipFill>
        <p:spPr>
          <a:xfrm>
            <a:off x="481736" y="1022803"/>
            <a:ext cx="9690937" cy="4080844"/>
          </a:xfrm>
          <a:prstGeom prst="rect">
            <a:avLst/>
          </a:prstGeom>
        </p:spPr>
      </p:pic>
    </p:spTree>
    <p:extLst>
      <p:ext uri="{BB962C8B-B14F-4D97-AF65-F5344CB8AC3E}">
        <p14:creationId xmlns:p14="http://schemas.microsoft.com/office/powerpoint/2010/main" val="605368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D070-6A52-E2DB-8554-FC5D8A8D7691}"/>
              </a:ext>
            </a:extLst>
          </p:cNvPr>
          <p:cNvSpPr>
            <a:spLocks noGrp="1"/>
          </p:cNvSpPr>
          <p:nvPr>
            <p:ph type="title"/>
          </p:nvPr>
        </p:nvSpPr>
        <p:spPr/>
        <p:txBody>
          <a:bodyPr/>
          <a:lstStyle/>
          <a:p>
            <a:r>
              <a:rPr lang="en-US" altLang="zh-CN"/>
              <a:t>New Timeline Projection Breakdown</a:t>
            </a:r>
            <a:endParaRPr lang="en-US"/>
          </a:p>
        </p:txBody>
      </p:sp>
      <p:graphicFrame>
        <p:nvGraphicFramePr>
          <p:cNvPr id="7" name="Content Placeholder 6">
            <a:extLst>
              <a:ext uri="{FF2B5EF4-FFF2-40B4-BE49-F238E27FC236}">
                <a16:creationId xmlns:a16="http://schemas.microsoft.com/office/drawing/2014/main" id="{4E21EEFF-4FD9-C324-36CB-F31645C2EE95}"/>
              </a:ext>
            </a:extLst>
          </p:cNvPr>
          <p:cNvGraphicFramePr>
            <a:graphicFrameLocks noGrp="1"/>
          </p:cNvGraphicFramePr>
          <p:nvPr>
            <p:ph idx="1"/>
            <p:extLst>
              <p:ext uri="{D42A27DB-BD31-4B8C-83A1-F6EECF244321}">
                <p14:modId xmlns:p14="http://schemas.microsoft.com/office/powerpoint/2010/main" val="2505188245"/>
              </p:ext>
            </p:extLst>
          </p:nvPr>
        </p:nvGraphicFramePr>
        <p:xfrm>
          <a:off x="356138" y="1452551"/>
          <a:ext cx="5041687" cy="4114800"/>
        </p:xfrm>
        <a:graphic>
          <a:graphicData uri="http://schemas.openxmlformats.org/drawingml/2006/table">
            <a:tbl>
              <a:tblPr firstRow="1" bandRow="1">
                <a:tableStyleId>{5C22544A-7EE6-4342-B048-85BDC9FD1C3A}</a:tableStyleId>
              </a:tblPr>
              <a:tblGrid>
                <a:gridCol w="1872191">
                  <a:extLst>
                    <a:ext uri="{9D8B030D-6E8A-4147-A177-3AD203B41FA5}">
                      <a16:colId xmlns:a16="http://schemas.microsoft.com/office/drawing/2014/main" val="3073697932"/>
                    </a:ext>
                  </a:extLst>
                </a:gridCol>
                <a:gridCol w="1297305">
                  <a:extLst>
                    <a:ext uri="{9D8B030D-6E8A-4147-A177-3AD203B41FA5}">
                      <a16:colId xmlns:a16="http://schemas.microsoft.com/office/drawing/2014/main" val="480162579"/>
                    </a:ext>
                  </a:extLst>
                </a:gridCol>
                <a:gridCol w="1872191">
                  <a:extLst>
                    <a:ext uri="{9D8B030D-6E8A-4147-A177-3AD203B41FA5}">
                      <a16:colId xmlns:a16="http://schemas.microsoft.com/office/drawing/2014/main" val="765692468"/>
                    </a:ext>
                  </a:extLst>
                </a:gridCol>
              </a:tblGrid>
              <a:tr h="267167">
                <a:tc>
                  <a:txBody>
                    <a:bodyPr/>
                    <a:lstStyle/>
                    <a:p>
                      <a:pPr algn="ctr">
                        <a:buNone/>
                      </a:pPr>
                      <a:endParaRPr lang="de-DE" sz="1400">
                        <a:solidFill>
                          <a:schemeClr val="bg1"/>
                        </a:solidFill>
                        <a:effectLst/>
                        <a:latin typeface="Aptos" panose="020B0004020202020204" pitchFamily="34" charset="0"/>
                      </a:endParaRPr>
                    </a:p>
                  </a:txBody>
                  <a:tcPr anchor="ctr"/>
                </a:tc>
                <a:tc>
                  <a:txBody>
                    <a:bodyPr/>
                    <a:lstStyle/>
                    <a:p>
                      <a:pPr algn="ctr">
                        <a:buNone/>
                      </a:pPr>
                      <a:r>
                        <a:rPr lang="de-DE" sz="1400" b="1">
                          <a:solidFill>
                            <a:schemeClr val="bg1"/>
                          </a:solidFill>
                          <a:effectLst/>
                          <a:latin typeface="Boehringer Forward Text" panose="02000500000000020000" pitchFamily="2" charset="0"/>
                        </a:rPr>
                        <a:t>Old</a:t>
                      </a:r>
                      <a:endParaRPr lang="de-DE" sz="1400">
                        <a:solidFill>
                          <a:schemeClr val="bg1"/>
                        </a:solidFill>
                        <a:effectLst/>
                        <a:latin typeface="Aptos" panose="020B0004020202020204" pitchFamily="34" charset="0"/>
                      </a:endParaRPr>
                    </a:p>
                  </a:txBody>
                  <a:tcPr anchor="ctr"/>
                </a:tc>
                <a:tc>
                  <a:txBody>
                    <a:bodyPr/>
                    <a:lstStyle/>
                    <a:p>
                      <a:pPr algn="ctr">
                        <a:buNone/>
                      </a:pPr>
                      <a:r>
                        <a:rPr lang="de-DE" sz="1400" b="1">
                          <a:solidFill>
                            <a:schemeClr val="bg1"/>
                          </a:solidFill>
                          <a:effectLst/>
                          <a:latin typeface="Boehringer Forward Text" panose="02000500000000020000" pitchFamily="2" charset="0"/>
                        </a:rPr>
                        <a:t>New</a:t>
                      </a:r>
                      <a:endParaRPr lang="de-DE" sz="1400">
                        <a:solidFill>
                          <a:schemeClr val="bg1"/>
                        </a:solidFill>
                        <a:effectLst/>
                        <a:latin typeface="Aptos" panose="020B0004020202020204" pitchFamily="34" charset="0"/>
                      </a:endParaRPr>
                    </a:p>
                  </a:txBody>
                  <a:tcPr anchor="ctr"/>
                </a:tc>
                <a:extLst>
                  <a:ext uri="{0D108BD9-81ED-4DB2-BD59-A6C34878D82A}">
                    <a16:rowId xmlns:a16="http://schemas.microsoft.com/office/drawing/2014/main" val="4216778622"/>
                  </a:ext>
                </a:extLst>
              </a:tr>
              <a:tr h="267167">
                <a:tc>
                  <a:txBody>
                    <a:bodyPr/>
                    <a:lstStyle/>
                    <a:p>
                      <a:pPr algn="l">
                        <a:buNone/>
                      </a:pPr>
                      <a:r>
                        <a:rPr lang="de-DE" sz="1400" b="1">
                          <a:solidFill>
                            <a:srgbClr val="000000"/>
                          </a:solidFill>
                          <a:effectLst/>
                          <a:latin typeface="Boehringer Forward Text" panose="02000500000000020000" pitchFamily="2" charset="0"/>
                        </a:rPr>
                        <a:t>75% Sites initiated</a:t>
                      </a:r>
                      <a:endParaRPr lang="de-DE" sz="1400">
                        <a:effectLst/>
                        <a:latin typeface="Aptos" panose="020B0004020202020204" pitchFamily="34" charset="0"/>
                      </a:endParaRPr>
                    </a:p>
                  </a:txBody>
                  <a:tcPr anchor="ctr"/>
                </a:tc>
                <a:tc>
                  <a:txBody>
                    <a:bodyPr/>
                    <a:lstStyle/>
                    <a:p>
                      <a:pPr algn="ctr">
                        <a:buNone/>
                      </a:pPr>
                      <a:r>
                        <a:rPr lang="de-DE" sz="1400">
                          <a:solidFill>
                            <a:srgbClr val="000000"/>
                          </a:solidFill>
                          <a:effectLst/>
                          <a:latin typeface="Boehringer Forward Text" panose="02000500000000020000" pitchFamily="2" charset="0"/>
                        </a:rPr>
                        <a:t>May 2026</a:t>
                      </a:r>
                      <a:endParaRPr lang="de-DE" sz="1400">
                        <a:effectLst/>
                        <a:latin typeface="Aptos" panose="020B0004020202020204" pitchFamily="34" charset="0"/>
                      </a:endParaRPr>
                    </a:p>
                  </a:txBody>
                  <a:tcPr anchor="ctr"/>
                </a:tc>
                <a:tc>
                  <a:txBody>
                    <a:bodyPr/>
                    <a:lstStyle/>
                    <a:p>
                      <a:pPr algn="ctr">
                        <a:buNone/>
                      </a:pPr>
                      <a:r>
                        <a:rPr lang="de-DE" sz="1400" b="1">
                          <a:solidFill>
                            <a:srgbClr val="7030A0"/>
                          </a:solidFill>
                          <a:effectLst/>
                          <a:latin typeface="Boehringer Forward Text"/>
                        </a:rPr>
                        <a:t>24 Nov 2025</a:t>
                      </a:r>
                    </a:p>
                  </a:txBody>
                  <a:tcPr anchor="ctr"/>
                </a:tc>
                <a:extLst>
                  <a:ext uri="{0D108BD9-81ED-4DB2-BD59-A6C34878D82A}">
                    <a16:rowId xmlns:a16="http://schemas.microsoft.com/office/drawing/2014/main" val="3850958870"/>
                  </a:ext>
                </a:extLst>
              </a:tr>
              <a:tr h="267167">
                <a:tc>
                  <a:txBody>
                    <a:bodyPr/>
                    <a:lstStyle/>
                    <a:p>
                      <a:pPr algn="l">
                        <a:buNone/>
                      </a:pPr>
                      <a:r>
                        <a:rPr lang="de-DE" sz="1400" b="1">
                          <a:solidFill>
                            <a:srgbClr val="000000"/>
                          </a:solidFill>
                          <a:effectLst/>
                          <a:latin typeface="Boehringer Forward Text" panose="02000500000000020000" pitchFamily="2" charset="0"/>
                        </a:rPr>
                        <a:t># Sites target</a:t>
                      </a:r>
                      <a:endParaRPr lang="de-DE" sz="1400">
                        <a:effectLst/>
                        <a:latin typeface="Aptos" panose="020B0004020202020204" pitchFamily="34" charset="0"/>
                      </a:endParaRPr>
                    </a:p>
                  </a:txBody>
                  <a:tcPr anchor="ctr"/>
                </a:tc>
                <a:tc>
                  <a:txBody>
                    <a:bodyPr/>
                    <a:lstStyle/>
                    <a:p>
                      <a:pPr algn="ctr">
                        <a:buNone/>
                      </a:pPr>
                      <a:r>
                        <a:rPr lang="de-DE" sz="1400">
                          <a:solidFill>
                            <a:srgbClr val="000000"/>
                          </a:solidFill>
                          <a:effectLst/>
                          <a:latin typeface="Boehringer Forward Text" panose="02000500000000020000" pitchFamily="2" charset="0"/>
                        </a:rPr>
                        <a:t>500</a:t>
                      </a:r>
                      <a:endParaRPr lang="de-DE" sz="1400">
                        <a:effectLst/>
                        <a:latin typeface="Aptos" panose="020B0004020202020204" pitchFamily="34" charset="0"/>
                      </a:endParaRPr>
                    </a:p>
                  </a:txBody>
                  <a:tcPr anchor="ctr"/>
                </a:tc>
                <a:tc>
                  <a:txBody>
                    <a:bodyPr/>
                    <a:lstStyle/>
                    <a:p>
                      <a:pPr algn="ctr">
                        <a:buNone/>
                      </a:pPr>
                      <a:r>
                        <a:rPr lang="de-DE" sz="1400" b="1">
                          <a:solidFill>
                            <a:srgbClr val="7030A0"/>
                          </a:solidFill>
                          <a:effectLst/>
                          <a:latin typeface="Boehringer Forward Text"/>
                        </a:rPr>
                        <a:t>500</a:t>
                      </a:r>
                    </a:p>
                  </a:txBody>
                  <a:tcPr anchor="ctr"/>
                </a:tc>
                <a:extLst>
                  <a:ext uri="{0D108BD9-81ED-4DB2-BD59-A6C34878D82A}">
                    <a16:rowId xmlns:a16="http://schemas.microsoft.com/office/drawing/2014/main" val="271347819"/>
                  </a:ext>
                </a:extLst>
              </a:tr>
              <a:tr h="267167">
                <a:tc>
                  <a:txBody>
                    <a:bodyPr/>
                    <a:lstStyle/>
                    <a:p>
                      <a:pPr algn="l">
                        <a:buNone/>
                      </a:pPr>
                      <a:r>
                        <a:rPr lang="de-DE" sz="1400" b="1">
                          <a:solidFill>
                            <a:srgbClr val="000000"/>
                          </a:solidFill>
                          <a:effectLst/>
                          <a:latin typeface="Boehringer Forward Text" panose="02000500000000020000" pitchFamily="2" charset="0"/>
                        </a:rPr>
                        <a:t># Country Target</a:t>
                      </a:r>
                      <a:endParaRPr lang="de-DE" sz="1400">
                        <a:effectLst/>
                        <a:latin typeface="Aptos" panose="020B0004020202020204" pitchFamily="34" charset="0"/>
                      </a:endParaRPr>
                    </a:p>
                  </a:txBody>
                  <a:tcPr anchor="ctr"/>
                </a:tc>
                <a:tc>
                  <a:txBody>
                    <a:bodyPr/>
                    <a:lstStyle/>
                    <a:p>
                      <a:pPr algn="ctr">
                        <a:buNone/>
                      </a:pPr>
                      <a:r>
                        <a:rPr lang="de-DE" sz="1400">
                          <a:solidFill>
                            <a:srgbClr val="000000"/>
                          </a:solidFill>
                          <a:effectLst/>
                          <a:latin typeface="Boehringer Forward Text" panose="02000500000000020000" pitchFamily="2" charset="0"/>
                        </a:rPr>
                        <a:t>49</a:t>
                      </a:r>
                      <a:endParaRPr lang="de-DE" sz="1400">
                        <a:effectLst/>
                        <a:latin typeface="Aptos" panose="020B0004020202020204" pitchFamily="34" charset="0"/>
                      </a:endParaRPr>
                    </a:p>
                  </a:txBody>
                  <a:tcPr anchor="ctr"/>
                </a:tc>
                <a:tc>
                  <a:txBody>
                    <a:bodyPr/>
                    <a:lstStyle/>
                    <a:p>
                      <a:pPr algn="ctr">
                        <a:buNone/>
                      </a:pPr>
                      <a:r>
                        <a:rPr lang="de-DE" sz="1400" b="1">
                          <a:solidFill>
                            <a:srgbClr val="7030A0"/>
                          </a:solidFill>
                          <a:effectLst/>
                          <a:latin typeface="Boehringer Forward Text"/>
                        </a:rPr>
                        <a:t>46</a:t>
                      </a:r>
                    </a:p>
                  </a:txBody>
                  <a:tcPr anchor="ctr"/>
                </a:tc>
                <a:extLst>
                  <a:ext uri="{0D108BD9-81ED-4DB2-BD59-A6C34878D82A}">
                    <a16:rowId xmlns:a16="http://schemas.microsoft.com/office/drawing/2014/main" val="2983746647"/>
                  </a:ext>
                </a:extLst>
              </a:tr>
              <a:tr h="267167">
                <a:tc>
                  <a:txBody>
                    <a:bodyPr/>
                    <a:lstStyle/>
                    <a:p>
                      <a:pPr algn="l">
                        <a:buNone/>
                      </a:pPr>
                      <a:r>
                        <a:rPr lang="de-DE" sz="1400" b="1">
                          <a:solidFill>
                            <a:srgbClr val="000000"/>
                          </a:solidFill>
                          <a:effectLst/>
                          <a:latin typeface="Boehringer Forward Text" panose="02000500000000020000" pitchFamily="2" charset="0"/>
                        </a:rPr>
                        <a:t>Screening Failure Rate</a:t>
                      </a:r>
                      <a:endParaRPr lang="de-DE" sz="1400">
                        <a:effectLst/>
                        <a:latin typeface="Aptos" panose="020B0004020202020204" pitchFamily="34" charset="0"/>
                      </a:endParaRPr>
                    </a:p>
                  </a:txBody>
                  <a:tcPr anchor="ctr"/>
                </a:tc>
                <a:tc>
                  <a:txBody>
                    <a:bodyPr/>
                    <a:lstStyle/>
                    <a:p>
                      <a:pPr algn="ctr">
                        <a:buNone/>
                      </a:pPr>
                      <a:r>
                        <a:rPr lang="de-DE" sz="1400">
                          <a:solidFill>
                            <a:srgbClr val="000000"/>
                          </a:solidFill>
                          <a:effectLst/>
                          <a:latin typeface="Boehringer Forward Text" panose="02000500000000020000" pitchFamily="2" charset="0"/>
                        </a:rPr>
                        <a:t>30%</a:t>
                      </a:r>
                      <a:endParaRPr lang="de-DE" sz="1400">
                        <a:effectLst/>
                        <a:latin typeface="Aptos" panose="020B0004020202020204" pitchFamily="34" charset="0"/>
                      </a:endParaRPr>
                    </a:p>
                  </a:txBody>
                  <a:tcPr anchor="ctr"/>
                </a:tc>
                <a:tc>
                  <a:txBody>
                    <a:bodyPr/>
                    <a:lstStyle/>
                    <a:p>
                      <a:pPr algn="ctr">
                        <a:buNone/>
                      </a:pPr>
                      <a:r>
                        <a:rPr lang="de-DE" sz="1400" b="1">
                          <a:solidFill>
                            <a:srgbClr val="7030A0"/>
                          </a:solidFill>
                          <a:effectLst/>
                          <a:latin typeface="Boehringer Forward Text"/>
                        </a:rPr>
                        <a:t>24%</a:t>
                      </a:r>
                    </a:p>
                  </a:txBody>
                  <a:tcPr anchor="ctr"/>
                </a:tc>
                <a:extLst>
                  <a:ext uri="{0D108BD9-81ED-4DB2-BD59-A6C34878D82A}">
                    <a16:rowId xmlns:a16="http://schemas.microsoft.com/office/drawing/2014/main" val="1169773629"/>
                  </a:ext>
                </a:extLst>
              </a:tr>
              <a:tr h="267167">
                <a:tc>
                  <a:txBody>
                    <a:bodyPr/>
                    <a:lstStyle/>
                    <a:p>
                      <a:pPr algn="l">
                        <a:buNone/>
                      </a:pPr>
                      <a:r>
                        <a:rPr lang="de-DE" sz="1400" b="1">
                          <a:solidFill>
                            <a:srgbClr val="000000"/>
                          </a:solidFill>
                          <a:effectLst/>
                          <a:latin typeface="Boehringer Forward Text" panose="02000500000000020000" pitchFamily="2" charset="0"/>
                        </a:rPr>
                        <a:t>FSR</a:t>
                      </a:r>
                      <a:endParaRPr lang="de-DE" sz="1400">
                        <a:effectLst/>
                        <a:latin typeface="Aptos" panose="020B0004020202020204" pitchFamily="34" charset="0"/>
                      </a:endParaRPr>
                    </a:p>
                  </a:txBody>
                  <a:tcPr anchor="ctr"/>
                </a:tc>
                <a:tc>
                  <a:txBody>
                    <a:bodyPr/>
                    <a:lstStyle/>
                    <a:p>
                      <a:pPr algn="ctr">
                        <a:buNone/>
                      </a:pPr>
                      <a:r>
                        <a:rPr lang="de-DE" sz="1400">
                          <a:solidFill>
                            <a:srgbClr val="000000"/>
                          </a:solidFill>
                          <a:effectLst/>
                          <a:latin typeface="Boehringer Forward Text" panose="02000500000000020000" pitchFamily="2" charset="0"/>
                        </a:rPr>
                        <a:t>28 Jul 2025</a:t>
                      </a:r>
                      <a:endParaRPr lang="de-DE" sz="1400">
                        <a:effectLst/>
                        <a:latin typeface="Aptos" panose="020B0004020202020204" pitchFamily="34" charset="0"/>
                      </a:endParaRPr>
                    </a:p>
                  </a:txBody>
                  <a:tcPr anchor="ctr"/>
                </a:tc>
                <a:tc>
                  <a:txBody>
                    <a:bodyPr/>
                    <a:lstStyle/>
                    <a:p>
                      <a:pPr algn="ctr">
                        <a:buNone/>
                      </a:pPr>
                      <a:r>
                        <a:rPr lang="de-DE" sz="1400" b="1">
                          <a:solidFill>
                            <a:srgbClr val="7030A0"/>
                          </a:solidFill>
                          <a:effectLst/>
                          <a:latin typeface="Boehringer Forward Text"/>
                        </a:rPr>
                        <a:t>01 Jul 2025</a:t>
                      </a:r>
                    </a:p>
                  </a:txBody>
                  <a:tcPr anchor="ctr"/>
                </a:tc>
                <a:extLst>
                  <a:ext uri="{0D108BD9-81ED-4DB2-BD59-A6C34878D82A}">
                    <a16:rowId xmlns:a16="http://schemas.microsoft.com/office/drawing/2014/main" val="3539645576"/>
                  </a:ext>
                </a:extLst>
              </a:tr>
              <a:tr h="267167">
                <a:tc>
                  <a:txBody>
                    <a:bodyPr/>
                    <a:lstStyle/>
                    <a:p>
                      <a:pPr algn="l">
                        <a:buNone/>
                      </a:pPr>
                      <a:r>
                        <a:rPr lang="de-DE" sz="1400" b="1">
                          <a:solidFill>
                            <a:srgbClr val="000000"/>
                          </a:solidFill>
                          <a:effectLst/>
                          <a:latin typeface="Boehringer Forward Text" panose="02000500000000020000" pitchFamily="2" charset="0"/>
                        </a:rPr>
                        <a:t>LSR</a:t>
                      </a:r>
                      <a:endParaRPr lang="de-DE" sz="1400">
                        <a:effectLst/>
                        <a:latin typeface="Aptos" panose="020B0004020202020204" pitchFamily="34" charset="0"/>
                      </a:endParaRPr>
                    </a:p>
                  </a:txBody>
                  <a:tcPr anchor="ctr"/>
                </a:tc>
                <a:tc>
                  <a:txBody>
                    <a:bodyPr/>
                    <a:lstStyle/>
                    <a:p>
                      <a:pPr algn="ctr">
                        <a:buNone/>
                      </a:pPr>
                      <a:r>
                        <a:rPr lang="de-DE" sz="1400">
                          <a:solidFill>
                            <a:srgbClr val="000000"/>
                          </a:solidFill>
                          <a:effectLst/>
                          <a:latin typeface="Boehringer Forward Text" panose="02000500000000020000" pitchFamily="2" charset="0"/>
                        </a:rPr>
                        <a:t>16 Sep 2027</a:t>
                      </a:r>
                      <a:endParaRPr lang="de-DE" sz="1400">
                        <a:effectLst/>
                        <a:latin typeface="Aptos" panose="020B0004020202020204" pitchFamily="34" charset="0"/>
                      </a:endParaRPr>
                    </a:p>
                  </a:txBody>
                  <a:tcPr anchor="ctr"/>
                </a:tc>
                <a:tc>
                  <a:txBody>
                    <a:bodyPr/>
                    <a:lstStyle/>
                    <a:p>
                      <a:pPr algn="ctr">
                        <a:buNone/>
                      </a:pPr>
                      <a:r>
                        <a:rPr lang="de-DE" sz="1400" b="1">
                          <a:solidFill>
                            <a:srgbClr val="7030A0"/>
                          </a:solidFill>
                          <a:effectLst/>
                          <a:latin typeface="Boehringer Forward Text"/>
                        </a:rPr>
                        <a:t>06 Jul 2026</a:t>
                      </a:r>
                    </a:p>
                  </a:txBody>
                  <a:tcPr anchor="ctr"/>
                </a:tc>
                <a:extLst>
                  <a:ext uri="{0D108BD9-81ED-4DB2-BD59-A6C34878D82A}">
                    <a16:rowId xmlns:a16="http://schemas.microsoft.com/office/drawing/2014/main" val="3737689760"/>
                  </a:ext>
                </a:extLst>
              </a:tr>
              <a:tr h="446721">
                <a:tc>
                  <a:txBody>
                    <a:bodyPr/>
                    <a:lstStyle/>
                    <a:p>
                      <a:pPr algn="l">
                        <a:buNone/>
                      </a:pPr>
                      <a:r>
                        <a:rPr lang="de-DE" sz="1400" b="1">
                          <a:solidFill>
                            <a:srgbClr val="000000"/>
                          </a:solidFill>
                          <a:effectLst/>
                          <a:latin typeface="Boehringer Forward Text" panose="02000500000000020000" pitchFamily="2" charset="0"/>
                        </a:rPr>
                        <a:t>Recruitment Duration (months)</a:t>
                      </a:r>
                      <a:endParaRPr lang="de-DE" sz="1400">
                        <a:effectLst/>
                        <a:latin typeface="Aptos" panose="020B0004020202020204" pitchFamily="34" charset="0"/>
                      </a:endParaRPr>
                    </a:p>
                  </a:txBody>
                  <a:tcPr anchor="ctr"/>
                </a:tc>
                <a:tc>
                  <a:txBody>
                    <a:bodyPr/>
                    <a:lstStyle/>
                    <a:p>
                      <a:pPr algn="ctr">
                        <a:buNone/>
                      </a:pPr>
                      <a:r>
                        <a:rPr lang="de-DE" sz="1400">
                          <a:solidFill>
                            <a:srgbClr val="000000"/>
                          </a:solidFill>
                          <a:effectLst/>
                          <a:latin typeface="Boehringer Forward Text" panose="02000500000000020000" pitchFamily="2" charset="0"/>
                        </a:rPr>
                        <a:t>25.64</a:t>
                      </a:r>
                      <a:endParaRPr lang="de-DE" sz="1400">
                        <a:effectLst/>
                        <a:latin typeface="Aptos" panose="020B0004020202020204" pitchFamily="34" charset="0"/>
                      </a:endParaRPr>
                    </a:p>
                  </a:txBody>
                  <a:tcPr anchor="ctr"/>
                </a:tc>
                <a:tc>
                  <a:txBody>
                    <a:bodyPr/>
                    <a:lstStyle/>
                    <a:p>
                      <a:pPr algn="ctr">
                        <a:buNone/>
                      </a:pPr>
                      <a:r>
                        <a:rPr lang="de-DE" sz="1400" b="1">
                          <a:solidFill>
                            <a:srgbClr val="7030A0"/>
                          </a:solidFill>
                          <a:effectLst/>
                          <a:latin typeface="Boehringer Forward Text"/>
                        </a:rPr>
                        <a:t>12.16</a:t>
                      </a:r>
                    </a:p>
                  </a:txBody>
                  <a:tcPr anchor="ctr"/>
                </a:tc>
                <a:extLst>
                  <a:ext uri="{0D108BD9-81ED-4DB2-BD59-A6C34878D82A}">
                    <a16:rowId xmlns:a16="http://schemas.microsoft.com/office/drawing/2014/main" val="2010987598"/>
                  </a:ext>
                </a:extLst>
              </a:tr>
              <a:tr h="446721">
                <a:tc>
                  <a:txBody>
                    <a:bodyPr/>
                    <a:lstStyle/>
                    <a:p>
                      <a:pPr algn="l">
                        <a:buNone/>
                      </a:pPr>
                      <a:r>
                        <a:rPr lang="en-US" sz="1400" b="1">
                          <a:solidFill>
                            <a:srgbClr val="000000"/>
                          </a:solidFill>
                          <a:effectLst/>
                          <a:latin typeface="Boehringer Forward Text" panose="02000500000000020000" pitchFamily="2" charset="0"/>
                        </a:rPr>
                        <a:t>Last Subject Last Visit (52 weeks)</a:t>
                      </a:r>
                      <a:endParaRPr lang="en-US" sz="1400">
                        <a:effectLst/>
                        <a:latin typeface="Aptos" panose="020B0004020202020204" pitchFamily="34" charset="0"/>
                      </a:endParaRPr>
                    </a:p>
                  </a:txBody>
                  <a:tcPr anchor="ctr"/>
                </a:tc>
                <a:tc>
                  <a:txBody>
                    <a:bodyPr/>
                    <a:lstStyle/>
                    <a:p>
                      <a:pPr algn="ctr">
                        <a:buNone/>
                      </a:pPr>
                      <a:r>
                        <a:rPr lang="de-DE" sz="1400">
                          <a:solidFill>
                            <a:srgbClr val="000000"/>
                          </a:solidFill>
                          <a:effectLst/>
                          <a:latin typeface="Boehringer Forward Text"/>
                        </a:rPr>
                        <a:t>14 Sep 2028</a:t>
                      </a:r>
                      <a:endParaRPr lang="de-DE" sz="1400">
                        <a:effectLst/>
                        <a:latin typeface="Boehringer Forward Text"/>
                      </a:endParaRPr>
                    </a:p>
                  </a:txBody>
                  <a:tcPr anchor="ctr"/>
                </a:tc>
                <a:tc>
                  <a:txBody>
                    <a:bodyPr/>
                    <a:lstStyle/>
                    <a:p>
                      <a:pPr algn="ctr">
                        <a:buNone/>
                      </a:pPr>
                      <a:r>
                        <a:rPr lang="de-DE" sz="1400" b="1">
                          <a:solidFill>
                            <a:srgbClr val="7030A0"/>
                          </a:solidFill>
                          <a:effectLst/>
                          <a:latin typeface="Boehringer Forward Text"/>
                        </a:rPr>
                        <a:t>05 Jul 2027</a:t>
                      </a:r>
                    </a:p>
                  </a:txBody>
                  <a:tcPr anchor="ctr"/>
                </a:tc>
                <a:extLst>
                  <a:ext uri="{0D108BD9-81ED-4DB2-BD59-A6C34878D82A}">
                    <a16:rowId xmlns:a16="http://schemas.microsoft.com/office/drawing/2014/main" val="2764915093"/>
                  </a:ext>
                </a:extLst>
              </a:tr>
              <a:tr h="446721">
                <a:tc>
                  <a:txBody>
                    <a:bodyPr/>
                    <a:lstStyle/>
                    <a:p>
                      <a:pPr algn="l">
                        <a:buNone/>
                      </a:pPr>
                      <a:r>
                        <a:rPr lang="en-US" sz="1400" b="1">
                          <a:solidFill>
                            <a:srgbClr val="000000"/>
                          </a:solidFill>
                          <a:effectLst/>
                          <a:latin typeface="Boehringer Forward Text" panose="02000500000000020000" pitchFamily="2" charset="0"/>
                        </a:rPr>
                        <a:t>Last Subject Completed (incl. FUP)</a:t>
                      </a:r>
                      <a:endParaRPr lang="en-US" sz="1400">
                        <a:effectLst/>
                        <a:latin typeface="Aptos" panose="020B0004020202020204" pitchFamily="34" charset="0"/>
                      </a:endParaRPr>
                    </a:p>
                  </a:txBody>
                  <a:tcPr anchor="ctr"/>
                </a:tc>
                <a:tc>
                  <a:txBody>
                    <a:bodyPr/>
                    <a:lstStyle/>
                    <a:p>
                      <a:pPr algn="ctr">
                        <a:buNone/>
                      </a:pPr>
                      <a:r>
                        <a:rPr lang="de-DE" sz="1400">
                          <a:solidFill>
                            <a:srgbClr val="000000"/>
                          </a:solidFill>
                          <a:effectLst/>
                          <a:latin typeface="Boehringer Forward Text"/>
                        </a:rPr>
                        <a:t>12 </a:t>
                      </a:r>
                      <a:r>
                        <a:rPr lang="de-DE" sz="1400" err="1">
                          <a:solidFill>
                            <a:srgbClr val="000000"/>
                          </a:solidFill>
                          <a:effectLst/>
                          <a:latin typeface="Boehringer Forward Text"/>
                        </a:rPr>
                        <a:t>Oct</a:t>
                      </a:r>
                      <a:r>
                        <a:rPr lang="de-DE" sz="1400">
                          <a:solidFill>
                            <a:srgbClr val="000000"/>
                          </a:solidFill>
                          <a:effectLst/>
                          <a:latin typeface="Boehringer Forward Text"/>
                        </a:rPr>
                        <a:t> 2028</a:t>
                      </a:r>
                      <a:endParaRPr lang="de-DE" sz="1400">
                        <a:effectLst/>
                        <a:latin typeface="Boehringer Forward Text"/>
                      </a:endParaRPr>
                    </a:p>
                  </a:txBody>
                  <a:tcPr anchor="ctr"/>
                </a:tc>
                <a:tc>
                  <a:txBody>
                    <a:bodyPr/>
                    <a:lstStyle/>
                    <a:p>
                      <a:pPr algn="ctr">
                        <a:buNone/>
                      </a:pPr>
                      <a:r>
                        <a:rPr lang="de-DE" sz="1400" b="1">
                          <a:solidFill>
                            <a:srgbClr val="7030A0"/>
                          </a:solidFill>
                          <a:effectLst/>
                          <a:latin typeface="Boehringer Forward Text"/>
                        </a:rPr>
                        <a:t>02 Aug 2027</a:t>
                      </a:r>
                    </a:p>
                  </a:txBody>
                  <a:tcPr anchor="ctr"/>
                </a:tc>
                <a:extLst>
                  <a:ext uri="{0D108BD9-81ED-4DB2-BD59-A6C34878D82A}">
                    <a16:rowId xmlns:a16="http://schemas.microsoft.com/office/drawing/2014/main" val="4070169401"/>
                  </a:ext>
                </a:extLst>
              </a:tr>
            </a:tbl>
          </a:graphicData>
        </a:graphic>
      </p:graphicFrame>
      <p:sp>
        <p:nvSpPr>
          <p:cNvPr id="4" name="Text Placeholder 3">
            <a:extLst>
              <a:ext uri="{FF2B5EF4-FFF2-40B4-BE49-F238E27FC236}">
                <a16:creationId xmlns:a16="http://schemas.microsoft.com/office/drawing/2014/main" id="{477EDFA6-042C-30D4-BDB1-3C16C83A2D6D}"/>
              </a:ext>
            </a:extLst>
          </p:cNvPr>
          <p:cNvSpPr>
            <a:spLocks noGrp="1"/>
          </p:cNvSpPr>
          <p:nvPr>
            <p:ph type="body" sz="quarter" idx="13"/>
          </p:nvPr>
        </p:nvSpPr>
        <p:spPr/>
        <p:txBody>
          <a:bodyPr/>
          <a:lstStyle/>
          <a:p>
            <a:endParaRPr lang="en-US"/>
          </a:p>
        </p:txBody>
      </p:sp>
      <p:sp>
        <p:nvSpPr>
          <p:cNvPr id="5" name="Footer Placeholder 4">
            <a:extLst>
              <a:ext uri="{FF2B5EF4-FFF2-40B4-BE49-F238E27FC236}">
                <a16:creationId xmlns:a16="http://schemas.microsoft.com/office/drawing/2014/main" id="{56E45191-9D78-7F7A-FA5D-921DC66BBE81}"/>
              </a:ext>
            </a:extLst>
          </p:cNvPr>
          <p:cNvSpPr>
            <a:spLocks noGrp="1"/>
          </p:cNvSpPr>
          <p:nvPr>
            <p:ph type="ftr" sz="quarter" idx="19"/>
          </p:nvPr>
        </p:nvSpPr>
        <p:spPr/>
        <p:txBody>
          <a:bodyPr/>
          <a:lstStyle/>
          <a:p>
            <a:r>
              <a:rPr lang="en-US" altLang="zh-CN"/>
              <a:t>TA CEC Portfolio Update|    ONLY FOR INTERNAL USE</a:t>
            </a:r>
          </a:p>
        </p:txBody>
      </p:sp>
      <p:sp>
        <p:nvSpPr>
          <p:cNvPr id="6" name="Slide Number Placeholder 5">
            <a:extLst>
              <a:ext uri="{FF2B5EF4-FFF2-40B4-BE49-F238E27FC236}">
                <a16:creationId xmlns:a16="http://schemas.microsoft.com/office/drawing/2014/main" id="{F3C8E074-FB44-A40E-1B67-5E35F0A29027}"/>
              </a:ext>
            </a:extLst>
          </p:cNvPr>
          <p:cNvSpPr>
            <a:spLocks noGrp="1"/>
          </p:cNvSpPr>
          <p:nvPr>
            <p:ph type="sldNum" sz="quarter" idx="20"/>
          </p:nvPr>
        </p:nvSpPr>
        <p:spPr/>
        <p:txBody>
          <a:bodyPr/>
          <a:lstStyle/>
          <a:p>
            <a:fld id="{DF4E8F9F-5B1F-4F5B-BE49-3245D8C18D9F}" type="slidenum">
              <a:rPr lang="en-US" smtClean="0"/>
              <a:pPr/>
              <a:t>31</a:t>
            </a:fld>
            <a:endParaRPr lang="en-US"/>
          </a:p>
        </p:txBody>
      </p:sp>
      <p:sp>
        <p:nvSpPr>
          <p:cNvPr id="9" name="TextBox 8">
            <a:extLst>
              <a:ext uri="{FF2B5EF4-FFF2-40B4-BE49-F238E27FC236}">
                <a16:creationId xmlns:a16="http://schemas.microsoft.com/office/drawing/2014/main" id="{48228FD9-78DF-7EEC-208C-2685688ADA1A}"/>
              </a:ext>
            </a:extLst>
          </p:cNvPr>
          <p:cNvSpPr txBox="1"/>
          <p:nvPr/>
        </p:nvSpPr>
        <p:spPr bwMode="gray">
          <a:xfrm>
            <a:off x="5711413" y="1455144"/>
            <a:ext cx="6281332" cy="3693319"/>
          </a:xfrm>
          <a:prstGeom prst="rect">
            <a:avLst/>
          </a:prstGeom>
          <a:noFill/>
        </p:spPr>
        <p:txBody>
          <a:bodyPr wrap="square" lIns="91440" tIns="45720" rIns="91440" bIns="45720" anchor="t">
            <a:spAutoFit/>
          </a:bodyPr>
          <a:lstStyle/>
          <a:p>
            <a:pPr marL="285750" indent="-285750">
              <a:buFont typeface="Wingdings" panose="05000000000000000000" pitchFamily="2" charset="2"/>
              <a:buChar char="Ø"/>
            </a:pPr>
            <a:r>
              <a:rPr lang="en-US"/>
              <a:t>To date, almost 75% of the planned sites have been initiated across 38 countries, resulting in strong recruitment performance since July.</a:t>
            </a:r>
          </a:p>
          <a:p>
            <a:pPr marL="285750" indent="-285750">
              <a:buFont typeface="Wingdings" panose="05000000000000000000" pitchFamily="2" charset="2"/>
              <a:buChar char="Ø"/>
            </a:pPr>
            <a:r>
              <a:rPr lang="en-US"/>
              <a:t>Currently, </a:t>
            </a:r>
            <a:r>
              <a:rPr lang="en-US">
                <a:solidFill>
                  <a:srgbClr val="7030A0"/>
                </a:solidFill>
              </a:rPr>
              <a:t>10%</a:t>
            </a:r>
            <a:r>
              <a:rPr lang="en-US"/>
              <a:t> of the planned adult population has been randomized.</a:t>
            </a:r>
          </a:p>
          <a:p>
            <a:pPr marL="285750" indent="-285750">
              <a:buFont typeface="Wingdings" panose="05000000000000000000" pitchFamily="2" charset="2"/>
              <a:buChar char="Ø"/>
            </a:pPr>
            <a:r>
              <a:rPr lang="en-US"/>
              <a:t>Screen failure rate of </a:t>
            </a:r>
            <a:r>
              <a:rPr lang="en-US">
                <a:solidFill>
                  <a:srgbClr val="7030A0"/>
                </a:solidFill>
              </a:rPr>
              <a:t>24%</a:t>
            </a:r>
            <a:endParaRPr lang="zh-CN" altLang="en-US">
              <a:solidFill>
                <a:srgbClr val="7030A0"/>
              </a:solidFill>
            </a:endParaRPr>
          </a:p>
          <a:p>
            <a:pPr marL="285750" indent="-285750">
              <a:buFont typeface="Wingdings" panose="05000000000000000000" pitchFamily="2" charset="2"/>
              <a:buChar char="Ø"/>
            </a:pPr>
            <a:r>
              <a:rPr lang="en-US"/>
              <a:t>Last Randomized adult Subject is projected by 6 July 2026, which is more than a year ahead of the original schedule!</a:t>
            </a:r>
          </a:p>
          <a:p>
            <a:pPr marL="285750" indent="-285750">
              <a:buFont typeface="Wingdings" panose="05000000000000000000" pitchFamily="2" charset="2"/>
              <a:buChar char="Ø"/>
            </a:pPr>
            <a:r>
              <a:rPr lang="en-US">
                <a:highlight>
                  <a:srgbClr val="00FF00"/>
                </a:highlight>
              </a:rPr>
              <a:t>Last Randomized adolescent Subject currently projected for March 2027.</a:t>
            </a:r>
          </a:p>
          <a:p>
            <a:pPr marL="285750" indent="-285750">
              <a:buFont typeface="Wingdings" panose="05000000000000000000" pitchFamily="2" charset="2"/>
              <a:buChar char="Ø"/>
            </a:pPr>
            <a:r>
              <a:rPr lang="en-US" b="1"/>
              <a:t>We will continue to monitor recruitment, including below populations:</a:t>
            </a:r>
          </a:p>
          <a:p>
            <a:pPr marL="742950" lvl="1" indent="-285750">
              <a:buFont typeface="Arial" panose="020B0604020202020204" pitchFamily="34" charset="0"/>
              <a:buChar char="•"/>
            </a:pPr>
            <a:r>
              <a:rPr lang="en-US"/>
              <a:t>240 adult CF patients</a:t>
            </a:r>
          </a:p>
        </p:txBody>
      </p:sp>
      <p:sp>
        <p:nvSpPr>
          <p:cNvPr id="10" name="Rectangle: Rounded Corners 9">
            <a:extLst>
              <a:ext uri="{FF2B5EF4-FFF2-40B4-BE49-F238E27FC236}">
                <a16:creationId xmlns:a16="http://schemas.microsoft.com/office/drawing/2014/main" id="{C631AB3B-14D0-8385-3DD5-5DD2081967C8}"/>
              </a:ext>
            </a:extLst>
          </p:cNvPr>
          <p:cNvSpPr/>
          <p:nvPr/>
        </p:nvSpPr>
        <p:spPr bwMode="gray">
          <a:xfrm>
            <a:off x="10770704" y="8195"/>
            <a:ext cx="1421296" cy="367748"/>
          </a:xfrm>
          <a:prstGeom prst="round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Backup slide</a:t>
            </a:r>
            <a:endParaRPr lang="en-US" sz="1600">
              <a:solidFill>
                <a:schemeClr val="tx1"/>
              </a:solidFill>
            </a:endParaRPr>
          </a:p>
        </p:txBody>
      </p:sp>
    </p:spTree>
    <p:extLst>
      <p:ext uri="{BB962C8B-B14F-4D97-AF65-F5344CB8AC3E}">
        <p14:creationId xmlns:p14="http://schemas.microsoft.com/office/powerpoint/2010/main" val="35798602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56EDD-E6C8-5BBB-FB4E-CAC44513E82C}"/>
              </a:ext>
            </a:extLst>
          </p:cNvPr>
          <p:cNvSpPr>
            <a:spLocks noGrp="1"/>
          </p:cNvSpPr>
          <p:nvPr>
            <p:ph type="title"/>
          </p:nvPr>
        </p:nvSpPr>
        <p:spPr>
          <a:xfrm>
            <a:off x="480189" y="489800"/>
            <a:ext cx="11233151" cy="822961"/>
          </a:xfrm>
        </p:spPr>
        <p:txBody>
          <a:bodyPr/>
          <a:lstStyle/>
          <a:p>
            <a:r>
              <a:rPr lang="en-US"/>
              <a:t>Potential Impact of Trial Timeline Acceleration (by &gt;14 months) on China Activities</a:t>
            </a:r>
          </a:p>
        </p:txBody>
      </p:sp>
      <p:graphicFrame>
        <p:nvGraphicFramePr>
          <p:cNvPr id="7" name="Content Placeholder 6">
            <a:extLst>
              <a:ext uri="{FF2B5EF4-FFF2-40B4-BE49-F238E27FC236}">
                <a16:creationId xmlns:a16="http://schemas.microsoft.com/office/drawing/2014/main" id="{22BAFEB2-267A-E735-41C9-8A59DA69614D}"/>
              </a:ext>
            </a:extLst>
          </p:cNvPr>
          <p:cNvGraphicFramePr>
            <a:graphicFrameLocks noGrp="1"/>
          </p:cNvGraphicFramePr>
          <p:nvPr>
            <p:ph idx="1"/>
            <p:extLst>
              <p:ext uri="{D42A27DB-BD31-4B8C-83A1-F6EECF244321}">
                <p14:modId xmlns:p14="http://schemas.microsoft.com/office/powerpoint/2010/main" val="3348453961"/>
              </p:ext>
            </p:extLst>
          </p:nvPr>
        </p:nvGraphicFramePr>
        <p:xfrm>
          <a:off x="489370" y="1318193"/>
          <a:ext cx="11360151" cy="4229048"/>
        </p:xfrm>
        <a:graphic>
          <a:graphicData uri="http://schemas.openxmlformats.org/drawingml/2006/table">
            <a:tbl>
              <a:tblPr firstRow="1" bandRow="1">
                <a:tableStyleId>{5C22544A-7EE6-4342-B048-85BDC9FD1C3A}</a:tableStyleId>
              </a:tblPr>
              <a:tblGrid>
                <a:gridCol w="4334980">
                  <a:extLst>
                    <a:ext uri="{9D8B030D-6E8A-4147-A177-3AD203B41FA5}">
                      <a16:colId xmlns:a16="http://schemas.microsoft.com/office/drawing/2014/main" val="3612915378"/>
                    </a:ext>
                  </a:extLst>
                </a:gridCol>
                <a:gridCol w="1590261">
                  <a:extLst>
                    <a:ext uri="{9D8B030D-6E8A-4147-A177-3AD203B41FA5}">
                      <a16:colId xmlns:a16="http://schemas.microsoft.com/office/drawing/2014/main" val="3798594934"/>
                    </a:ext>
                  </a:extLst>
                </a:gridCol>
                <a:gridCol w="5434910">
                  <a:extLst>
                    <a:ext uri="{9D8B030D-6E8A-4147-A177-3AD203B41FA5}">
                      <a16:colId xmlns:a16="http://schemas.microsoft.com/office/drawing/2014/main" val="3107582323"/>
                    </a:ext>
                  </a:extLst>
                </a:gridCol>
              </a:tblGrid>
              <a:tr h="282358">
                <a:tc>
                  <a:txBody>
                    <a:bodyPr/>
                    <a:lstStyle/>
                    <a:p>
                      <a:pPr algn="ctr"/>
                      <a:r>
                        <a:rPr lang="en-US" sz="1400"/>
                        <a:t>Impact on China Activities</a:t>
                      </a:r>
                    </a:p>
                  </a:txBody>
                  <a:tcPr anchor="ctr"/>
                </a:tc>
                <a:tc>
                  <a:txBody>
                    <a:bodyPr/>
                    <a:lstStyle/>
                    <a:p>
                      <a:pPr algn="ctr"/>
                      <a:r>
                        <a:rPr lang="en-US" sz="1400"/>
                        <a:t>Grade of impact</a:t>
                      </a:r>
                    </a:p>
                  </a:txBody>
                  <a:tcPr anchor="ctr"/>
                </a:tc>
                <a:tc>
                  <a:txBody>
                    <a:bodyPr/>
                    <a:lstStyle/>
                    <a:p>
                      <a:pPr algn="ctr"/>
                      <a:r>
                        <a:rPr lang="en-US" sz="1400"/>
                        <a:t>Notes</a:t>
                      </a:r>
                    </a:p>
                  </a:txBody>
                  <a:tcPr anchor="ctr"/>
                </a:tc>
                <a:extLst>
                  <a:ext uri="{0D108BD9-81ED-4DB2-BD59-A6C34878D82A}">
                    <a16:rowId xmlns:a16="http://schemas.microsoft.com/office/drawing/2014/main" val="3125967949"/>
                  </a:ext>
                </a:extLst>
              </a:tr>
              <a:tr h="875310">
                <a:tc>
                  <a:txBody>
                    <a:bodyPr/>
                    <a:lstStyle/>
                    <a:p>
                      <a:pPr marL="285750" indent="-285750">
                        <a:buFont typeface="Wingdings" panose="05000000000000000000" pitchFamily="2" charset="2"/>
                        <a:buChar char="q"/>
                      </a:pPr>
                      <a:r>
                        <a:rPr lang="en-US" sz="1400"/>
                        <a:t>Recruitment (</a:t>
                      </a:r>
                      <a:r>
                        <a:rPr lang="en-US" sz="1400" b="1"/>
                        <a:t>with speed and quality</a:t>
                      </a:r>
                      <a:r>
                        <a:rPr lang="en-US" sz="1400"/>
                        <a:t>) within a shortened recruitment window (&gt;2y to 1y)</a:t>
                      </a:r>
                    </a:p>
                  </a:txBody>
                  <a:tcPr anchor="ctr"/>
                </a:tc>
                <a:tc>
                  <a:txBody>
                    <a:bodyPr/>
                    <a:lstStyle/>
                    <a:p>
                      <a:pPr algn="ctr"/>
                      <a:r>
                        <a:rPr lang="en-US" sz="1400">
                          <a:highlight>
                            <a:srgbClr val="FFFF00"/>
                          </a:highlight>
                        </a:rPr>
                        <a:t>Minimal to Moderate</a:t>
                      </a:r>
                    </a:p>
                  </a:txBody>
                  <a:tcPr anchor="ctr"/>
                </a:tc>
                <a:tc>
                  <a:txBody>
                    <a:bodyPr/>
                    <a:lstStyle/>
                    <a:p>
                      <a:pPr marL="285750" indent="-285750">
                        <a:buFont typeface="Arial" panose="020B0604020202020204" pitchFamily="34" charset="0"/>
                        <a:buChar char="•"/>
                      </a:pPr>
                      <a:r>
                        <a:rPr lang="en-US" sz="1400"/>
                        <a:t>Current recruitment is ahead of the planned schedule (globally and locally)</a:t>
                      </a:r>
                    </a:p>
                    <a:p>
                      <a:pPr marL="285750" indent="-285750">
                        <a:buFont typeface="Arial" panose="020B0604020202020204" pitchFamily="34" charset="0"/>
                        <a:buChar char="•"/>
                      </a:pPr>
                      <a:r>
                        <a:rPr lang="en-US" sz="1400"/>
                        <a:t>Next step action would be to further speed up to meet the new timeline requirements</a:t>
                      </a:r>
                    </a:p>
                  </a:txBody>
                  <a:tcPr anchor="ctr"/>
                </a:tc>
                <a:extLst>
                  <a:ext uri="{0D108BD9-81ED-4DB2-BD59-A6C34878D82A}">
                    <a16:rowId xmlns:a16="http://schemas.microsoft.com/office/drawing/2014/main" val="1764767028"/>
                  </a:ext>
                </a:extLst>
              </a:tr>
              <a:tr h="1072960">
                <a:tc>
                  <a:txBody>
                    <a:bodyPr/>
                    <a:lstStyle/>
                    <a:p>
                      <a:pPr marL="285750" indent="-285750">
                        <a:buFont typeface="Wingdings" panose="05000000000000000000" pitchFamily="2" charset="2"/>
                        <a:buChar char="q"/>
                      </a:pPr>
                      <a:r>
                        <a:rPr lang="en-US" sz="1400"/>
                        <a:t>China ph1 PK study timeline</a:t>
                      </a:r>
                    </a:p>
                  </a:txBody>
                  <a:tcPr anchor="ctr"/>
                </a:tc>
                <a:tc>
                  <a:txBody>
                    <a:bodyPr/>
                    <a:lstStyle/>
                    <a:p>
                      <a:pPr algn="ctr"/>
                      <a:r>
                        <a:rPr lang="en-US" sz="1400">
                          <a:highlight>
                            <a:srgbClr val="FFFF00"/>
                          </a:highlight>
                        </a:rPr>
                        <a:t>Minimal</a:t>
                      </a:r>
                    </a:p>
                  </a:txBody>
                  <a:tcPr anchor="ctr"/>
                </a:tc>
                <a:tc>
                  <a:txBody>
                    <a:bodyPr/>
                    <a:lstStyle/>
                    <a:p>
                      <a:r>
                        <a:rPr lang="en-US" sz="1400" b="1"/>
                        <a:t>Currently planned timeline is not on the critical path:</a:t>
                      </a:r>
                    </a:p>
                    <a:p>
                      <a:pPr marL="285750" indent="-285750">
                        <a:buFont typeface="Arial" panose="020B0604020202020204" pitchFamily="34" charset="0"/>
                        <a:buChar char="•"/>
                      </a:pPr>
                      <a:r>
                        <a:rPr lang="en-US" sz="1400" b="1" i="1"/>
                        <a:t>CTA: </a:t>
                      </a:r>
                      <a:r>
                        <a:rPr lang="en-US" sz="1400" i="1"/>
                        <a:t>09 Jan 2026</a:t>
                      </a:r>
                    </a:p>
                    <a:p>
                      <a:pPr marL="285750" indent="-285750">
                        <a:buFont typeface="Arial" panose="020B0604020202020204" pitchFamily="34" charset="0"/>
                        <a:buChar char="•"/>
                      </a:pPr>
                      <a:r>
                        <a:rPr lang="en-US" sz="1400" b="1" i="1"/>
                        <a:t>First Subject Screened: </a:t>
                      </a:r>
                      <a:r>
                        <a:rPr lang="en-US" sz="1400" i="1"/>
                        <a:t>13Jul2026</a:t>
                      </a:r>
                    </a:p>
                    <a:p>
                      <a:pPr marL="285750" indent="-285750">
                        <a:buFont typeface="Arial" panose="020B0604020202020204" pitchFamily="34" charset="0"/>
                        <a:buChar char="•"/>
                      </a:pPr>
                      <a:r>
                        <a:rPr lang="en-US" sz="1400" b="1" i="1"/>
                        <a:t>Last Subject Randomized: </a:t>
                      </a:r>
                      <a:r>
                        <a:rPr lang="en-US" sz="1400" i="1"/>
                        <a:t>3 Aug 2026 </a:t>
                      </a:r>
                    </a:p>
                    <a:p>
                      <a:pPr marL="285750" indent="-285750">
                        <a:buFont typeface="Arial" panose="020B0604020202020204" pitchFamily="34" charset="0"/>
                        <a:buChar char="•"/>
                      </a:pPr>
                      <a:r>
                        <a:rPr lang="en-US" sz="1400" b="1" i="1"/>
                        <a:t>DBL: </a:t>
                      </a:r>
                      <a:r>
                        <a:rPr lang="en-US" sz="1400" i="1"/>
                        <a:t>Jan 2027</a:t>
                      </a:r>
                    </a:p>
                  </a:txBody>
                  <a:tcPr anchor="ctr"/>
                </a:tc>
                <a:extLst>
                  <a:ext uri="{0D108BD9-81ED-4DB2-BD59-A6C34878D82A}">
                    <a16:rowId xmlns:a16="http://schemas.microsoft.com/office/drawing/2014/main" val="76342062"/>
                  </a:ext>
                </a:extLst>
              </a:tr>
              <a:tr h="480008">
                <a:tc>
                  <a:txBody>
                    <a:bodyPr/>
                    <a:lstStyle/>
                    <a:p>
                      <a:pPr marL="285750" indent="-285750">
                        <a:buFont typeface="Wingdings" panose="05000000000000000000" pitchFamily="2" charset="2"/>
                        <a:buChar char="q"/>
                      </a:pPr>
                      <a:r>
                        <a:rPr lang="en-US" sz="1400"/>
                        <a:t>China RWE study timeline</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400">
                          <a:highlight>
                            <a:srgbClr val="FFFF00"/>
                          </a:highlight>
                        </a:rPr>
                        <a:t>Minimal</a:t>
                      </a:r>
                    </a:p>
                  </a:txBody>
                  <a:tcPr anchor="ctr"/>
                </a:tc>
                <a:tc>
                  <a:txBody>
                    <a:bodyPr/>
                    <a:lstStyle/>
                    <a:p>
                      <a:pPr marL="285750" indent="-285750">
                        <a:buFont typeface="Arial" panose="020B0604020202020204" pitchFamily="34" charset="0"/>
                        <a:buChar char="•"/>
                      </a:pPr>
                      <a:r>
                        <a:rPr lang="en-US" sz="1400"/>
                        <a:t>Initial timeline (Start from Q4 2026, completed by Q4 2028) is sufficient to support launch and NRDL.</a:t>
                      </a:r>
                    </a:p>
                  </a:txBody>
                  <a:tcPr anchor="ctr"/>
                </a:tc>
                <a:extLst>
                  <a:ext uri="{0D108BD9-81ED-4DB2-BD59-A6C34878D82A}">
                    <a16:rowId xmlns:a16="http://schemas.microsoft.com/office/drawing/2014/main" val="751301845"/>
                  </a:ext>
                </a:extLst>
              </a:tr>
              <a:tr h="480008">
                <a:tc>
                  <a:txBody>
                    <a:bodyPr/>
                    <a:lstStyle/>
                    <a:p>
                      <a:pPr marL="285750" indent="-285750">
                        <a:buFont typeface="Wingdings" panose="05000000000000000000" pitchFamily="2" charset="2"/>
                        <a:buChar char="q"/>
                      </a:pPr>
                      <a:r>
                        <a:rPr lang="en-US" sz="1400"/>
                        <a:t>OLE study </a:t>
                      </a:r>
                      <a:r>
                        <a:rPr lang="en-US" altLang="zh-CN" sz="1400"/>
                        <a:t>CTA </a:t>
                      </a:r>
                      <a:r>
                        <a:rPr lang="en-US" sz="1400"/>
                        <a:t>submission</a:t>
                      </a:r>
                    </a:p>
                  </a:txBody>
                  <a:tcPr anchor="ctr"/>
                </a:tc>
                <a:tc>
                  <a:txBody>
                    <a:bodyPr/>
                    <a:lstStyle/>
                    <a:p>
                      <a:pPr algn="ctr"/>
                      <a:r>
                        <a:rPr lang="en-US" sz="1400">
                          <a:highlight>
                            <a:srgbClr val="FFFF00"/>
                          </a:highlight>
                        </a:rPr>
                        <a:t>Minimal</a:t>
                      </a:r>
                    </a:p>
                  </a:txBody>
                  <a:tcPr anchor="ctr"/>
                </a:tc>
                <a:tc>
                  <a:txBody>
                    <a:bodyPr/>
                    <a:lstStyle/>
                    <a:p>
                      <a:pPr marL="285750" indent="-285750">
                        <a:buFont typeface="Arial" panose="020B0604020202020204" pitchFamily="34" charset="0"/>
                        <a:buChar char="•"/>
                      </a:pPr>
                      <a:r>
                        <a:rPr lang="en-US" altLang="zh-CN" sz="1400"/>
                        <a:t>CTA timeline for OLE is flexible, not on critical path to acceleration of ph3 trial.</a:t>
                      </a:r>
                      <a:endParaRPr lang="en-US" sz="1400"/>
                    </a:p>
                  </a:txBody>
                  <a:tcPr anchor="ctr"/>
                </a:tc>
                <a:extLst>
                  <a:ext uri="{0D108BD9-81ED-4DB2-BD59-A6C34878D82A}">
                    <a16:rowId xmlns:a16="http://schemas.microsoft.com/office/drawing/2014/main" val="371783646"/>
                  </a:ext>
                </a:extLst>
              </a:tr>
              <a:tr h="282358">
                <a:tc>
                  <a:txBody>
                    <a:bodyPr/>
                    <a:lstStyle/>
                    <a:p>
                      <a:pPr marL="285750" indent="-285750">
                        <a:buFont typeface="Wingdings" panose="05000000000000000000" pitchFamily="2" charset="2"/>
                        <a:buChar char="q"/>
                      </a:pPr>
                      <a:r>
                        <a:rPr lang="en-US" sz="1400"/>
                        <a:t>Pediatric study CTA</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400">
                          <a:highlight>
                            <a:srgbClr val="FFFF00"/>
                          </a:highlight>
                        </a:rPr>
                        <a:t>Minimal</a:t>
                      </a:r>
                    </a:p>
                  </a:txBody>
                  <a:tcPr anchor="ctr"/>
                </a:tc>
                <a:tc>
                  <a:txBody>
                    <a:bodyPr/>
                    <a:lstStyle/>
                    <a:p>
                      <a:pPr marL="285750" indent="-285750">
                        <a:buFont typeface="Arial" panose="020B0604020202020204" pitchFamily="34" charset="0"/>
                        <a:buChar char="•"/>
                      </a:pPr>
                      <a:r>
                        <a:rPr lang="en-US" sz="1400"/>
                        <a:t> Timeline moved up for 6-12y study to 08-Sep-2028.</a:t>
                      </a:r>
                    </a:p>
                  </a:txBody>
                  <a:tcPr anchor="ctr"/>
                </a:tc>
                <a:extLst>
                  <a:ext uri="{0D108BD9-81ED-4DB2-BD59-A6C34878D82A}">
                    <a16:rowId xmlns:a16="http://schemas.microsoft.com/office/drawing/2014/main" val="2622179867"/>
                  </a:ext>
                </a:extLst>
              </a:tr>
              <a:tr h="480008">
                <a:tc>
                  <a:txBody>
                    <a:bodyPr/>
                    <a:lstStyle/>
                    <a:p>
                      <a:pPr marL="285750" indent="-285750">
                        <a:buFont typeface="Wingdings" panose="05000000000000000000" pitchFamily="2" charset="2"/>
                        <a:buChar char="q"/>
                      </a:pPr>
                      <a:r>
                        <a:rPr lang="en-US" sz="1400"/>
                        <a:t>Launch readiness &amp; preparation timeline</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400">
                          <a:highlight>
                            <a:srgbClr val="FFFF00"/>
                          </a:highlight>
                        </a:rPr>
                        <a:t>Moderate</a:t>
                      </a:r>
                    </a:p>
                  </a:txBody>
                  <a:tcPr anchor="ctr"/>
                </a:tc>
                <a:tc>
                  <a:txBody>
                    <a:bodyPr/>
                    <a:lstStyle/>
                    <a:p>
                      <a:pPr marL="285750" indent="-285750">
                        <a:buFont typeface="Arial" panose="020B0604020202020204" pitchFamily="34" charset="0"/>
                        <a:buChar char="•"/>
                      </a:pPr>
                      <a:r>
                        <a:rPr lang="en-US" sz="1400"/>
                        <a:t>Under discussion</a:t>
                      </a:r>
                    </a:p>
                  </a:txBody>
                  <a:tcPr anchor="ctr"/>
                </a:tc>
                <a:extLst>
                  <a:ext uri="{0D108BD9-81ED-4DB2-BD59-A6C34878D82A}">
                    <a16:rowId xmlns:a16="http://schemas.microsoft.com/office/drawing/2014/main" val="4257539742"/>
                  </a:ext>
                </a:extLst>
              </a:tr>
            </a:tbl>
          </a:graphicData>
        </a:graphic>
      </p:graphicFrame>
      <p:sp>
        <p:nvSpPr>
          <p:cNvPr id="4" name="Text Placeholder 3">
            <a:extLst>
              <a:ext uri="{FF2B5EF4-FFF2-40B4-BE49-F238E27FC236}">
                <a16:creationId xmlns:a16="http://schemas.microsoft.com/office/drawing/2014/main" id="{28F9A1B4-A4C6-599F-634C-0E09DD047D73}"/>
              </a:ext>
            </a:extLst>
          </p:cNvPr>
          <p:cNvSpPr>
            <a:spLocks noGrp="1"/>
          </p:cNvSpPr>
          <p:nvPr>
            <p:ph type="body" sz="quarter" idx="13"/>
          </p:nvPr>
        </p:nvSpPr>
        <p:spPr>
          <a:xfrm>
            <a:off x="1889700" y="6246835"/>
            <a:ext cx="6539597" cy="287999"/>
          </a:xfrm>
        </p:spPr>
        <p:txBody>
          <a:bodyPr/>
          <a:lstStyle/>
          <a:p>
            <a:endParaRPr lang="en-US"/>
          </a:p>
        </p:txBody>
      </p:sp>
      <p:sp>
        <p:nvSpPr>
          <p:cNvPr id="5" name="Footer Placeholder 4">
            <a:extLst>
              <a:ext uri="{FF2B5EF4-FFF2-40B4-BE49-F238E27FC236}">
                <a16:creationId xmlns:a16="http://schemas.microsoft.com/office/drawing/2014/main" id="{83DF9E71-1C82-DD83-2F57-F2D2731315C3}"/>
              </a:ext>
            </a:extLst>
          </p:cNvPr>
          <p:cNvSpPr>
            <a:spLocks noGrp="1"/>
          </p:cNvSpPr>
          <p:nvPr>
            <p:ph type="ftr" sz="quarter" idx="19"/>
          </p:nvPr>
        </p:nvSpPr>
        <p:spPr/>
        <p:txBody>
          <a:bodyPr/>
          <a:lstStyle/>
          <a:p>
            <a:r>
              <a:rPr lang="en-US" altLang="zh-CN"/>
              <a:t>TA CEC Portfolio Update|    ONLY FOR INTERNAL USE</a:t>
            </a:r>
          </a:p>
        </p:txBody>
      </p:sp>
      <p:sp>
        <p:nvSpPr>
          <p:cNvPr id="6" name="Slide Number Placeholder 5">
            <a:extLst>
              <a:ext uri="{FF2B5EF4-FFF2-40B4-BE49-F238E27FC236}">
                <a16:creationId xmlns:a16="http://schemas.microsoft.com/office/drawing/2014/main" id="{6F2826C4-9E79-3D15-EFE4-A5A850F193B1}"/>
              </a:ext>
            </a:extLst>
          </p:cNvPr>
          <p:cNvSpPr>
            <a:spLocks noGrp="1"/>
          </p:cNvSpPr>
          <p:nvPr>
            <p:ph type="sldNum" sz="quarter" idx="20"/>
          </p:nvPr>
        </p:nvSpPr>
        <p:spPr/>
        <p:txBody>
          <a:bodyPr/>
          <a:lstStyle/>
          <a:p>
            <a:fld id="{DF4E8F9F-5B1F-4F5B-BE49-3245D8C18D9F}" type="slidenum">
              <a:rPr lang="en-US" smtClean="0"/>
              <a:pPr/>
              <a:t>32</a:t>
            </a:fld>
            <a:endParaRPr lang="en-US"/>
          </a:p>
        </p:txBody>
      </p:sp>
    </p:spTree>
    <p:extLst>
      <p:ext uri="{BB962C8B-B14F-4D97-AF65-F5344CB8AC3E}">
        <p14:creationId xmlns:p14="http://schemas.microsoft.com/office/powerpoint/2010/main" val="18528724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F5C6F-BCE0-0E9A-27C1-82EB92509FAD}"/>
              </a:ext>
            </a:extLst>
          </p:cNvPr>
          <p:cNvSpPr>
            <a:spLocks noGrp="1"/>
          </p:cNvSpPr>
          <p:nvPr>
            <p:ph type="title"/>
          </p:nvPr>
        </p:nvSpPr>
        <p:spPr>
          <a:xfrm>
            <a:off x="525608" y="384636"/>
            <a:ext cx="11233151" cy="720000"/>
          </a:xfrm>
        </p:spPr>
        <p:txBody>
          <a:bodyPr/>
          <a:lstStyle/>
          <a:p>
            <a:r>
              <a:rPr lang="de-DE"/>
              <a:t>Overview: Future Development Activities in China - verducatib</a:t>
            </a:r>
            <a:endParaRPr lang="de-DE">
              <a:solidFill>
                <a:schemeClr val="tx1"/>
              </a:solidFill>
            </a:endParaRPr>
          </a:p>
        </p:txBody>
      </p:sp>
      <p:graphicFrame>
        <p:nvGraphicFramePr>
          <p:cNvPr id="7" name="Content Placeholder 6">
            <a:extLst>
              <a:ext uri="{FF2B5EF4-FFF2-40B4-BE49-F238E27FC236}">
                <a16:creationId xmlns:a16="http://schemas.microsoft.com/office/drawing/2014/main" id="{C79630B1-06F3-D755-821C-E7AF24E547BC}"/>
              </a:ext>
            </a:extLst>
          </p:cNvPr>
          <p:cNvGraphicFramePr>
            <a:graphicFrameLocks noGrp="1"/>
          </p:cNvGraphicFramePr>
          <p:nvPr>
            <p:ph idx="1"/>
            <p:extLst>
              <p:ext uri="{D42A27DB-BD31-4B8C-83A1-F6EECF244321}">
                <p14:modId xmlns:p14="http://schemas.microsoft.com/office/powerpoint/2010/main" val="4077417278"/>
              </p:ext>
            </p:extLst>
          </p:nvPr>
        </p:nvGraphicFramePr>
        <p:xfrm>
          <a:off x="777240" y="937326"/>
          <a:ext cx="11263368" cy="5046042"/>
        </p:xfrm>
        <a:graphic>
          <a:graphicData uri="http://schemas.openxmlformats.org/drawingml/2006/table">
            <a:tbl>
              <a:tblPr firstRow="1" bandRow="1">
                <a:tableStyleId>{5C22544A-7EE6-4342-B048-85BDC9FD1C3A}</a:tableStyleId>
              </a:tblPr>
              <a:tblGrid>
                <a:gridCol w="2749749">
                  <a:extLst>
                    <a:ext uri="{9D8B030D-6E8A-4147-A177-3AD203B41FA5}">
                      <a16:colId xmlns:a16="http://schemas.microsoft.com/office/drawing/2014/main" val="286813749"/>
                    </a:ext>
                  </a:extLst>
                </a:gridCol>
                <a:gridCol w="3413256">
                  <a:extLst>
                    <a:ext uri="{9D8B030D-6E8A-4147-A177-3AD203B41FA5}">
                      <a16:colId xmlns:a16="http://schemas.microsoft.com/office/drawing/2014/main" val="3786991615"/>
                    </a:ext>
                  </a:extLst>
                </a:gridCol>
                <a:gridCol w="3784735">
                  <a:extLst>
                    <a:ext uri="{9D8B030D-6E8A-4147-A177-3AD203B41FA5}">
                      <a16:colId xmlns:a16="http://schemas.microsoft.com/office/drawing/2014/main" val="1283564148"/>
                    </a:ext>
                  </a:extLst>
                </a:gridCol>
                <a:gridCol w="1315628">
                  <a:extLst>
                    <a:ext uri="{9D8B030D-6E8A-4147-A177-3AD203B41FA5}">
                      <a16:colId xmlns:a16="http://schemas.microsoft.com/office/drawing/2014/main" val="1944790202"/>
                    </a:ext>
                  </a:extLst>
                </a:gridCol>
              </a:tblGrid>
              <a:tr h="616012">
                <a:tc>
                  <a:txBody>
                    <a:bodyPr/>
                    <a:lstStyle/>
                    <a:p>
                      <a:pPr algn="ctr"/>
                      <a:r>
                        <a:rPr lang="en-US" sz="1200"/>
                        <a:t>Study ID (name)</a:t>
                      </a:r>
                      <a:endParaRPr lang="en-US" sz="1200" b="1">
                        <a:solidFill>
                          <a:srgbClr val="1EAD1B"/>
                        </a:solidFill>
                      </a:endParaRPr>
                    </a:p>
                    <a:p>
                      <a:pPr algn="ctr"/>
                      <a:r>
                        <a:rPr lang="en-US" sz="1200" b="1">
                          <a:solidFill>
                            <a:schemeClr val="bg1"/>
                          </a:solidFill>
                        </a:rPr>
                        <a:t>Phase </a:t>
                      </a:r>
                      <a:r>
                        <a:rPr lang="en-US" sz="1200" b="1">
                          <a:solidFill>
                            <a:srgbClr val="1EAD1B"/>
                          </a:solidFill>
                        </a:rPr>
                        <a:t>| </a:t>
                      </a:r>
                      <a:r>
                        <a:rPr lang="en-US" altLang="zh-CN" sz="1200" b="1">
                          <a:solidFill>
                            <a:schemeClr val="bg1"/>
                          </a:solidFill>
                        </a:rPr>
                        <a:t>Population </a:t>
                      </a:r>
                      <a:r>
                        <a:rPr lang="en-US" sz="1200" b="1">
                          <a:solidFill>
                            <a:srgbClr val="1EAD1B"/>
                          </a:solidFill>
                        </a:rPr>
                        <a:t>| </a:t>
                      </a:r>
                      <a:r>
                        <a:rPr lang="en-US" altLang="zh-CN" sz="1200" b="1">
                          <a:solidFill>
                            <a:schemeClr val="bg1"/>
                          </a:solidFill>
                        </a:rPr>
                        <a:t>Sample size (CN/Global)</a:t>
                      </a:r>
                      <a:endParaRPr lang="en-US" sz="1200">
                        <a:solidFill>
                          <a:schemeClr val="bg1"/>
                        </a:solidFill>
                      </a:endParaRPr>
                    </a:p>
                  </a:txBody>
                  <a:tcPr anchor="ctr"/>
                </a:tc>
                <a:tc>
                  <a:txBody>
                    <a:bodyPr/>
                    <a:lstStyle/>
                    <a:p>
                      <a:pPr algn="ctr"/>
                      <a:r>
                        <a:rPr lang="en-US" altLang="zh-CN" sz="1200"/>
                        <a:t>Planned </a:t>
                      </a:r>
                      <a:r>
                        <a:rPr lang="en-US" sz="1200"/>
                        <a:t>Activities</a:t>
                      </a:r>
                    </a:p>
                  </a:txBody>
                  <a:tcPr anchor="ctr"/>
                </a:tc>
                <a:tc>
                  <a:txBody>
                    <a:bodyPr/>
                    <a:lstStyle/>
                    <a:p>
                      <a:pPr algn="ctr"/>
                      <a:r>
                        <a:rPr lang="en-US" sz="1200"/>
                        <a:t>Purpose</a:t>
                      </a:r>
                    </a:p>
                  </a:txBody>
                  <a:tcPr anchor="ctr"/>
                </a:tc>
                <a:tc>
                  <a:txBody>
                    <a:bodyPr/>
                    <a:lstStyle/>
                    <a:p>
                      <a:pPr algn="ctr"/>
                      <a:r>
                        <a:rPr lang="en-US" sz="1200"/>
                        <a:t>Timeline</a:t>
                      </a:r>
                    </a:p>
                  </a:txBody>
                  <a:tcPr anchor="ctr"/>
                </a:tc>
                <a:extLst>
                  <a:ext uri="{0D108BD9-81ED-4DB2-BD59-A6C34878D82A}">
                    <a16:rowId xmlns:a16="http://schemas.microsoft.com/office/drawing/2014/main" val="2190815718"/>
                  </a:ext>
                </a:extLst>
              </a:tr>
              <a:tr h="386215">
                <a:tc gridSpan="4">
                  <a:txBody>
                    <a:bodyPr/>
                    <a:lstStyle/>
                    <a:p>
                      <a:pPr algn="l"/>
                      <a:r>
                        <a:rPr lang="en-US" sz="1200" b="1">
                          <a:solidFill>
                            <a:schemeClr val="tx1"/>
                          </a:solidFill>
                        </a:rPr>
                        <a:t>- Already planned/endorsed </a:t>
                      </a:r>
                      <a:r>
                        <a:rPr lang="en-US" sz="1200" b="0">
                          <a:solidFill>
                            <a:schemeClr val="tx1"/>
                          </a:solidFill>
                        </a:rPr>
                        <a:t>(China join-in and China standalone PK study)</a:t>
                      </a:r>
                    </a:p>
                  </a:txBody>
                  <a:tcPr anchor="ctr"/>
                </a:tc>
                <a:tc hMerge="1">
                  <a:txBody>
                    <a:bodyPr/>
                    <a:lstStyle/>
                    <a:p>
                      <a:endParaRPr lang="en-US"/>
                    </a:p>
                  </a:txBody>
                  <a:tcPr/>
                </a:tc>
                <a:tc hMerge="1">
                  <a:txBody>
                    <a:bodyPr/>
                    <a:lstStyle/>
                    <a:p>
                      <a:endParaRPr lang="en-US" sz="1200" b="1">
                        <a:solidFill>
                          <a:schemeClr val="tx1"/>
                        </a:solidFill>
                      </a:endParaRPr>
                    </a:p>
                  </a:txBody>
                  <a:tcPr anchor="ctr"/>
                </a:tc>
                <a:tc hMerge="1">
                  <a:txBody>
                    <a:bodyPr/>
                    <a:lstStyle/>
                    <a:p>
                      <a:pPr algn="ctr"/>
                      <a:endParaRPr lang="en-US" sz="1200" b="1">
                        <a:solidFill>
                          <a:schemeClr val="tx1"/>
                        </a:solidFill>
                      </a:endParaRPr>
                    </a:p>
                  </a:txBody>
                  <a:tcPr anchor="ctr"/>
                </a:tc>
                <a:extLst>
                  <a:ext uri="{0D108BD9-81ED-4DB2-BD59-A6C34878D82A}">
                    <a16:rowId xmlns:a16="http://schemas.microsoft.com/office/drawing/2014/main" val="88971076"/>
                  </a:ext>
                </a:extLst>
              </a:tr>
              <a:tr h="616012">
                <a:tc>
                  <a:txBody>
                    <a:bodyPr/>
                    <a:lstStyle/>
                    <a:p>
                      <a:pPr algn="ctr"/>
                      <a:r>
                        <a:rPr lang="en-US" sz="1200" b="1">
                          <a:solidFill>
                            <a:schemeClr val="accent3">
                              <a:lumMod val="50000"/>
                            </a:schemeClr>
                          </a:solidFill>
                        </a:rPr>
                        <a:t>1397-0014  </a:t>
                      </a:r>
                      <a:r>
                        <a:rPr lang="en-US" sz="1200" b="1" i="1">
                          <a:solidFill>
                            <a:schemeClr val="accent3">
                              <a:lumMod val="50000"/>
                            </a:schemeClr>
                          </a:solidFill>
                        </a:rPr>
                        <a:t>Airtivity </a:t>
                      </a:r>
                      <a:r>
                        <a:rPr lang="en-US" sz="1200" b="1">
                          <a:solidFill>
                            <a:schemeClr val="accent3">
                              <a:lumMod val="50000"/>
                            </a:schemeClr>
                          </a:solidFill>
                        </a:rPr>
                        <a:t>study </a:t>
                      </a:r>
                    </a:p>
                    <a:p>
                      <a:pPr algn="ctr"/>
                      <a:r>
                        <a:rPr lang="en-US" sz="1200"/>
                        <a:t>Phase </a:t>
                      </a:r>
                      <a:r>
                        <a:rPr lang="en-US" sz="1200" b="1"/>
                        <a:t>3</a:t>
                      </a:r>
                      <a:r>
                        <a:rPr lang="en-US" sz="1200"/>
                        <a:t> </a:t>
                      </a:r>
                      <a:r>
                        <a:rPr lang="en-US" sz="1200" b="1">
                          <a:solidFill>
                            <a:srgbClr val="1EAD1B"/>
                          </a:solidFill>
                        </a:rPr>
                        <a:t>| </a:t>
                      </a:r>
                      <a:r>
                        <a:rPr lang="en-US" sz="1200" b="0">
                          <a:solidFill>
                            <a:schemeClr val="tx1"/>
                          </a:solidFill>
                        </a:rPr>
                        <a:t>adult BE pts</a:t>
                      </a:r>
                      <a:r>
                        <a:rPr lang="en-US" sz="1200" b="0">
                          <a:solidFill>
                            <a:srgbClr val="0000FF"/>
                          </a:solidFill>
                        </a:rPr>
                        <a:t> </a:t>
                      </a:r>
                      <a:r>
                        <a:rPr lang="en-US" sz="1200" b="1">
                          <a:solidFill>
                            <a:srgbClr val="1EAD1B"/>
                          </a:solidFill>
                        </a:rPr>
                        <a:t>| </a:t>
                      </a:r>
                      <a:r>
                        <a:rPr lang="en-US" altLang="zh-CN" sz="1200" b="0">
                          <a:solidFill>
                            <a:schemeClr val="tx1"/>
                          </a:solidFill>
                        </a:rPr>
                        <a:t>n</a:t>
                      </a:r>
                      <a:r>
                        <a:rPr lang="en-US" altLang="zh-CN" sz="1200" b="1">
                          <a:solidFill>
                            <a:schemeClr val="tx1"/>
                          </a:solidFill>
                        </a:rPr>
                        <a:t>=</a:t>
                      </a:r>
                      <a:r>
                        <a:rPr lang="en-US" sz="1200" b="0">
                          <a:solidFill>
                            <a:schemeClr val="tx1"/>
                          </a:solidFill>
                        </a:rPr>
                        <a:t>201/1680</a:t>
                      </a:r>
                    </a:p>
                  </a:txBody>
                  <a:tcPr anchor="ctr"/>
                </a:tc>
                <a:tc>
                  <a:txBody>
                    <a:bodyPr/>
                    <a:lstStyle/>
                    <a:p>
                      <a:r>
                        <a:rPr lang="en-US" sz="1200"/>
                        <a:t>HA </a:t>
                      </a:r>
                      <a:r>
                        <a:rPr lang="en-US" sz="1200" kern="1200">
                          <a:solidFill>
                            <a:schemeClr val="dk1"/>
                          </a:solidFill>
                          <a:latin typeface="+mn-lt"/>
                          <a:ea typeface="+mn-ea"/>
                          <a:cs typeface="+mn-cs"/>
                        </a:rPr>
                        <a:t>submission of </a:t>
                      </a:r>
                      <a:r>
                        <a:rPr lang="en-US" sz="1200" b="1" i="1" u="sng">
                          <a:solidFill>
                            <a:srgbClr val="1EAD1B"/>
                          </a:solidFill>
                        </a:rPr>
                        <a:t>protocol amendment (v2) </a:t>
                      </a:r>
                      <a:r>
                        <a:rPr lang="en-US" sz="1200"/>
                        <a:t>for the inclusion of adolescents (12-18y)</a:t>
                      </a:r>
                    </a:p>
                  </a:txBody>
                  <a:tcPr anchor="ctr"/>
                </a:tc>
                <a:tc>
                  <a:txBody>
                    <a:bodyPr/>
                    <a:lstStyle/>
                    <a:p>
                      <a:pPr marL="171450" indent="-171450">
                        <a:buFont typeface="Arial" panose="020B0604020202020204" pitchFamily="34" charset="0"/>
                        <a:buChar char="•"/>
                      </a:pPr>
                      <a:r>
                        <a:rPr lang="en-US" sz="1200"/>
                        <a:t>To support the inclusion of adolescents in future labeled population</a:t>
                      </a:r>
                    </a:p>
                    <a:p>
                      <a:pPr marL="171450" indent="-171450">
                        <a:buFont typeface="Arial" panose="020B0604020202020204" pitchFamily="34" charset="0"/>
                        <a:buChar char="•"/>
                      </a:pPr>
                      <a:r>
                        <a:rPr lang="en-US" altLang="zh-CN" sz="1200"/>
                        <a:t>Approval expected by end of Dec. 2025</a:t>
                      </a:r>
                      <a:endParaRPr lang="en-US" sz="1200"/>
                    </a:p>
                  </a:txBody>
                  <a:tcPr anchor="ctr"/>
                </a:tc>
                <a:tc>
                  <a:txBody>
                    <a:bodyPr/>
                    <a:lstStyle/>
                    <a:p>
                      <a:pPr algn="ctr"/>
                      <a:r>
                        <a:rPr lang="en-US" sz="1200"/>
                        <a:t>Sep 17</a:t>
                      </a:r>
                      <a:r>
                        <a:rPr lang="en-US" sz="1200" baseline="30000"/>
                        <a:t>th</a:t>
                      </a:r>
                      <a:r>
                        <a:rPr lang="en-US" sz="1200"/>
                        <a:t> , 2025</a:t>
                      </a:r>
                    </a:p>
                  </a:txBody>
                  <a:tcPr anchor="ctr"/>
                </a:tc>
                <a:extLst>
                  <a:ext uri="{0D108BD9-81ED-4DB2-BD59-A6C34878D82A}">
                    <a16:rowId xmlns:a16="http://schemas.microsoft.com/office/drawing/2014/main" val="3909382106"/>
                  </a:ext>
                </a:extLst>
              </a:tr>
              <a:tr h="616012">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200" b="1" kern="1200">
                          <a:solidFill>
                            <a:schemeClr val="accent3">
                              <a:lumMod val="50000"/>
                            </a:schemeClr>
                          </a:solidFill>
                          <a:latin typeface="+mn-lt"/>
                          <a:ea typeface="+mn-ea"/>
                          <a:cs typeface="+mn-cs"/>
                        </a:rPr>
                        <a:t>1397-0027</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1200"/>
                        <a:t>Phase 1 China PK study </a:t>
                      </a:r>
                      <a:r>
                        <a:rPr lang="en-US" sz="1200" b="1">
                          <a:solidFill>
                            <a:srgbClr val="1EAD1B"/>
                          </a:solidFill>
                        </a:rPr>
                        <a:t>| </a:t>
                      </a:r>
                      <a:r>
                        <a:rPr lang="en-US" sz="1200" b="0">
                          <a:solidFill>
                            <a:schemeClr val="tx1"/>
                          </a:solidFill>
                        </a:rPr>
                        <a:t>HV</a:t>
                      </a:r>
                      <a:r>
                        <a:rPr lang="en-US" sz="1200" b="0">
                          <a:solidFill>
                            <a:srgbClr val="0000FF"/>
                          </a:solidFill>
                        </a:rPr>
                        <a:t> </a:t>
                      </a:r>
                      <a:r>
                        <a:rPr lang="en-US" altLang="zh-CN" sz="1200" b="1">
                          <a:solidFill>
                            <a:schemeClr val="bg1"/>
                          </a:solidFill>
                        </a:rPr>
                        <a:t> </a:t>
                      </a:r>
                      <a:r>
                        <a:rPr lang="en-US" sz="1200" b="1">
                          <a:solidFill>
                            <a:srgbClr val="1EAD1B"/>
                          </a:solidFill>
                        </a:rPr>
                        <a:t>| </a:t>
                      </a:r>
                      <a:r>
                        <a:rPr lang="en-US" sz="1200" b="0">
                          <a:solidFill>
                            <a:schemeClr val="tx1"/>
                          </a:solidFill>
                        </a:rPr>
                        <a:t>n=12</a:t>
                      </a:r>
                    </a:p>
                  </a:txBody>
                  <a:tcPr anchor="ctr"/>
                </a:tc>
                <a:tc>
                  <a:txBody>
                    <a:bodyPr/>
                    <a:lstStyle/>
                    <a:p>
                      <a:r>
                        <a:rPr lang="en-US" sz="1200"/>
                        <a:t>China </a:t>
                      </a:r>
                      <a:r>
                        <a:rPr lang="en-US" sz="1200" b="1" i="1" u="sng">
                          <a:solidFill>
                            <a:srgbClr val="1EAD1B"/>
                          </a:solidFill>
                        </a:rPr>
                        <a:t>CTA submission </a:t>
                      </a:r>
                      <a:r>
                        <a:rPr lang="en-US" sz="1200"/>
                        <a:t>for China ph1 PK study</a:t>
                      </a:r>
                    </a:p>
                  </a:txBody>
                  <a:tcPr anchor="ctr"/>
                </a:tc>
                <a:tc>
                  <a:txBody>
                    <a:bodyPr/>
                    <a:lstStyle/>
                    <a:p>
                      <a:pPr marL="171450" indent="-171450">
                        <a:buFont typeface="Arial" panose="020B0604020202020204" pitchFamily="34" charset="0"/>
                        <a:buChar char="•"/>
                      </a:pPr>
                      <a:r>
                        <a:rPr lang="en-US" sz="1200"/>
                        <a:t>To collect PK data from Chinese population to support future China NDA</a:t>
                      </a:r>
                    </a:p>
                  </a:txBody>
                  <a:tcPr anchor="ctr"/>
                </a:tc>
                <a:tc>
                  <a:txBody>
                    <a:bodyPr/>
                    <a:lstStyle/>
                    <a:p>
                      <a:pPr algn="ctr"/>
                      <a:r>
                        <a:rPr lang="en-US" altLang="zh-CN" sz="1200"/>
                        <a:t>Jan 2026</a:t>
                      </a:r>
                      <a:endParaRPr lang="en-US" sz="1200"/>
                    </a:p>
                  </a:txBody>
                  <a:tcPr anchor="ctr"/>
                </a:tc>
                <a:extLst>
                  <a:ext uri="{0D108BD9-81ED-4DB2-BD59-A6C34878D82A}">
                    <a16:rowId xmlns:a16="http://schemas.microsoft.com/office/drawing/2014/main" val="3229978621"/>
                  </a:ext>
                </a:extLst>
              </a:tr>
              <a:tr h="640029">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200" b="1" kern="1200">
                          <a:solidFill>
                            <a:schemeClr val="accent3">
                              <a:lumMod val="50000"/>
                            </a:schemeClr>
                          </a:solidFill>
                          <a:latin typeface="+mn-lt"/>
                          <a:ea typeface="+mn-ea"/>
                          <a:cs typeface="+mn-cs"/>
                        </a:rPr>
                        <a:t>1397-0018 Airtivity-on(tbd) study</a:t>
                      </a:r>
                      <a:r>
                        <a:rPr lang="en-US" sz="1200" kern="1200">
                          <a:solidFill>
                            <a:schemeClr val="accent3">
                              <a:lumMod val="50000"/>
                            </a:schemeClr>
                          </a:solidFill>
                          <a:latin typeface="+mn-lt"/>
                          <a:ea typeface="+mn-ea"/>
                          <a:cs typeface="+mn-cs"/>
                        </a:rPr>
                        <a:t> </a:t>
                      </a:r>
                    </a:p>
                    <a:p>
                      <a:pPr algn="ctr"/>
                      <a:r>
                        <a:rPr lang="en-US" sz="1200"/>
                        <a:t>Phase 3 OLE of AIRTIVITY </a:t>
                      </a:r>
                      <a:r>
                        <a:rPr lang="en-US" sz="1200" b="1">
                          <a:solidFill>
                            <a:srgbClr val="1EAD1B"/>
                          </a:solidFill>
                        </a:rPr>
                        <a:t>| </a:t>
                      </a:r>
                      <a:r>
                        <a:rPr lang="en-US" sz="1200" b="0">
                          <a:solidFill>
                            <a:schemeClr val="tx1"/>
                          </a:solidFill>
                        </a:rPr>
                        <a:t>adult BE pts</a:t>
                      </a:r>
                      <a:endParaRPr lang="en-US" sz="1200"/>
                    </a:p>
                  </a:txBody>
                  <a:tcPr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a:t>China </a:t>
                      </a:r>
                      <a:r>
                        <a:rPr lang="en-US" sz="1200" b="1" i="1" u="sng">
                          <a:solidFill>
                            <a:srgbClr val="1EAD1B"/>
                          </a:solidFill>
                        </a:rPr>
                        <a:t>CTA submission </a:t>
                      </a:r>
                      <a:r>
                        <a:rPr lang="en-US" sz="1200"/>
                        <a:t>for ph3 OLE study</a:t>
                      </a:r>
                    </a:p>
                  </a:txBody>
                  <a:tcPr anchor="ctr"/>
                </a:tc>
                <a:tc>
                  <a:txBody>
                    <a:bodyPr/>
                    <a:lstStyle/>
                    <a:p>
                      <a:pPr marL="171450" indent="-171450">
                        <a:buFont typeface="Arial" panose="020B0604020202020204" pitchFamily="34" charset="0"/>
                        <a:buChar char="•"/>
                      </a:pPr>
                      <a:r>
                        <a:rPr lang="en-US" sz="1200"/>
                        <a:t>To collect long-term safety (and efficacy) data from phase 3 Airtivity study population</a:t>
                      </a:r>
                    </a:p>
                  </a:txBody>
                  <a:tcPr anchor="ctr"/>
                </a:tc>
                <a:tc>
                  <a:txBody>
                    <a:bodyPr/>
                    <a:lstStyle/>
                    <a:p>
                      <a:pPr algn="ctr"/>
                      <a:r>
                        <a:rPr lang="en-US" sz="1200"/>
                        <a:t>Tbd, 2026</a:t>
                      </a:r>
                    </a:p>
                  </a:txBody>
                  <a:tcPr anchor="ctr"/>
                </a:tc>
                <a:extLst>
                  <a:ext uri="{0D108BD9-81ED-4DB2-BD59-A6C34878D82A}">
                    <a16:rowId xmlns:a16="http://schemas.microsoft.com/office/drawing/2014/main" val="2181285676"/>
                  </a:ext>
                </a:extLst>
              </a:tr>
              <a:tr h="440009">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200" b="1" kern="1200">
                          <a:solidFill>
                            <a:schemeClr val="accent3">
                              <a:lumMod val="50000"/>
                            </a:schemeClr>
                          </a:solidFill>
                          <a:latin typeface="+mn-lt"/>
                          <a:ea typeface="+mn-ea"/>
                          <a:cs typeface="+mn-cs"/>
                        </a:rPr>
                        <a:t>1397-0019​</a:t>
                      </a:r>
                    </a:p>
                    <a:p>
                      <a:pPr marL="0" marR="0" lvl="0" indent="0" algn="ctr" defTabSz="914377" rtl="0" eaLnBrk="1" fontAlgn="base" latinLnBrk="0" hangingPunct="1">
                        <a:lnSpc>
                          <a:spcPct val="100000"/>
                        </a:lnSpc>
                        <a:spcBef>
                          <a:spcPts val="0"/>
                        </a:spcBef>
                        <a:spcAft>
                          <a:spcPts val="0"/>
                        </a:spcAft>
                        <a:buClrTx/>
                        <a:buSzTx/>
                        <a:buFontTx/>
                        <a:buNone/>
                        <a:tabLst/>
                        <a:defRPr/>
                      </a:pPr>
                      <a:r>
                        <a:rPr lang="en-US" sz="1200"/>
                        <a:t>Phase 3 </a:t>
                      </a:r>
                      <a:r>
                        <a:rPr lang="en-US" sz="1200" b="1">
                          <a:solidFill>
                            <a:srgbClr val="1EAD1B"/>
                          </a:solidFill>
                        </a:rPr>
                        <a:t>| </a:t>
                      </a:r>
                      <a:r>
                        <a:rPr lang="en-US" altLang="zh-CN" sz="1200" b="0">
                          <a:solidFill>
                            <a:schemeClr val="tx1"/>
                          </a:solidFill>
                        </a:rPr>
                        <a:t>peds</a:t>
                      </a:r>
                      <a:r>
                        <a:rPr lang="en-US" sz="1200" b="1">
                          <a:solidFill>
                            <a:srgbClr val="1EAD1B"/>
                          </a:solidFill>
                        </a:rPr>
                        <a:t> </a:t>
                      </a:r>
                      <a:r>
                        <a:rPr lang="en-US" sz="1200" b="0">
                          <a:solidFill>
                            <a:schemeClr val="tx1"/>
                          </a:solidFill>
                        </a:rPr>
                        <a:t>BE pts (6-12y)</a:t>
                      </a:r>
                      <a:endParaRPr lang="en-US" sz="1200" b="0">
                        <a:solidFill>
                          <a:srgbClr val="0000FF"/>
                        </a:solidFill>
                      </a:endParaRPr>
                    </a:p>
                  </a:txBody>
                  <a:tcPr anchor="ctr"/>
                </a:tc>
                <a:tc row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1" i="1" u="sng">
                          <a:solidFill>
                            <a:srgbClr val="1EAD1B"/>
                          </a:solidFill>
                        </a:rPr>
                        <a:t>Completed HA consultation </a:t>
                      </a:r>
                      <a:r>
                        <a:rPr lang="en-US" sz="1200" b="0" i="0" u="none">
                          <a:solidFill>
                            <a:schemeClr val="tx1"/>
                          </a:solidFill>
                        </a:rPr>
                        <a:t>for </a:t>
                      </a:r>
                      <a:r>
                        <a:rPr lang="en-US" sz="1200"/>
                        <a:t>pediatric development plan (1-＜12</a:t>
                      </a:r>
                      <a:r>
                        <a:rPr lang="en-US" altLang="zh-CN" sz="1200"/>
                        <a:t>y</a:t>
                      </a:r>
                      <a:r>
                        <a:rPr lang="en-US" sz="1200"/>
                        <a:t>) with positive feedback received on Sep 02, 2025</a:t>
                      </a:r>
                    </a:p>
                  </a:txBody>
                  <a:tcPr anchor="ctr"/>
                </a:tc>
                <a:tc rowSpan="2">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To support the extension to pediatric population (1-12y) in future labeled population</a:t>
                      </a:r>
                    </a:p>
                  </a:txBody>
                  <a:tcPr anchor="ctr"/>
                </a:tc>
                <a:tc rowSpan="2">
                  <a:txBody>
                    <a:bodyPr/>
                    <a:lstStyle/>
                    <a:p>
                      <a:pPr algn="ctr"/>
                      <a:r>
                        <a:rPr lang="en-US" sz="1200"/>
                        <a:t>CTA: tbd in 2028</a:t>
                      </a:r>
                    </a:p>
                  </a:txBody>
                  <a:tcPr anchor="ctr"/>
                </a:tc>
                <a:extLst>
                  <a:ext uri="{0D108BD9-81ED-4DB2-BD59-A6C34878D82A}">
                    <a16:rowId xmlns:a16="http://schemas.microsoft.com/office/drawing/2014/main" val="3414165837"/>
                  </a:ext>
                </a:extLst>
              </a:tr>
              <a:tr h="440009">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200" b="1" kern="1200">
                          <a:solidFill>
                            <a:schemeClr val="accent3">
                              <a:lumMod val="50000"/>
                            </a:schemeClr>
                          </a:solidFill>
                          <a:latin typeface="+mn-lt"/>
                          <a:ea typeface="+mn-ea"/>
                          <a:cs typeface="+mn-cs"/>
                        </a:rPr>
                        <a:t>1397-0030​</a:t>
                      </a:r>
                    </a:p>
                    <a:p>
                      <a:pPr marL="0" marR="0" lvl="0" indent="0" algn="ctr" defTabSz="914377" rtl="0" eaLnBrk="1" fontAlgn="base" latinLnBrk="0" hangingPunct="1">
                        <a:lnSpc>
                          <a:spcPct val="100000"/>
                        </a:lnSpc>
                        <a:spcBef>
                          <a:spcPts val="0"/>
                        </a:spcBef>
                        <a:spcAft>
                          <a:spcPts val="0"/>
                        </a:spcAft>
                        <a:buClrTx/>
                        <a:buSzTx/>
                        <a:buFontTx/>
                        <a:buNone/>
                        <a:tabLst/>
                        <a:defRPr/>
                      </a:pPr>
                      <a:r>
                        <a:rPr lang="en-US" sz="1200"/>
                        <a:t>Phase 3 </a:t>
                      </a:r>
                      <a:r>
                        <a:rPr lang="en-US" sz="1200" b="1">
                          <a:solidFill>
                            <a:srgbClr val="1EAD1B"/>
                          </a:solidFill>
                        </a:rPr>
                        <a:t>| </a:t>
                      </a:r>
                      <a:r>
                        <a:rPr lang="en-US" sz="1200" b="0">
                          <a:solidFill>
                            <a:schemeClr val="tx1"/>
                          </a:solidFill>
                        </a:rPr>
                        <a:t>p</a:t>
                      </a:r>
                      <a:r>
                        <a:rPr lang="en-US" altLang="zh-CN" sz="1200" b="0">
                          <a:solidFill>
                            <a:schemeClr val="tx1"/>
                          </a:solidFill>
                        </a:rPr>
                        <a:t>eds</a:t>
                      </a:r>
                      <a:r>
                        <a:rPr lang="en-US" sz="1200" b="1">
                          <a:solidFill>
                            <a:srgbClr val="1EAD1B"/>
                          </a:solidFill>
                        </a:rPr>
                        <a:t> </a:t>
                      </a:r>
                      <a:r>
                        <a:rPr lang="en-US" sz="1200" b="0">
                          <a:solidFill>
                            <a:schemeClr val="tx1"/>
                          </a:solidFill>
                        </a:rPr>
                        <a:t>BE pts (1-6y)</a:t>
                      </a:r>
                      <a:endParaRPr lang="en-US" sz="1200" b="0">
                        <a:solidFill>
                          <a:srgbClr val="0000FF"/>
                        </a:solidFill>
                      </a:endParaRPr>
                    </a:p>
                  </a:txBody>
                  <a:tcPr anchor="ctr"/>
                </a:tc>
                <a:tc vMerge="1">
                  <a:txBody>
                    <a:bodyPr/>
                    <a:lstStyle/>
                    <a:p>
                      <a:endParaRPr lang="en-US"/>
                    </a:p>
                  </a:txBody>
                  <a:tcPr/>
                </a:tc>
                <a:tc vMerge="1">
                  <a:txBody>
                    <a:bodyPr/>
                    <a:lstStyle/>
                    <a:p>
                      <a:endParaRPr lang="en-US" sz="1200"/>
                    </a:p>
                  </a:txBody>
                  <a:tcPr anchor="ctr"/>
                </a:tc>
                <a:tc vMerge="1">
                  <a:txBody>
                    <a:bodyPr/>
                    <a:lstStyle/>
                    <a:p>
                      <a:endParaRPr/>
                    </a:p>
                  </a:txBody>
                  <a:tcPr anchor="ctr"/>
                </a:tc>
                <a:extLst>
                  <a:ext uri="{0D108BD9-81ED-4DB2-BD59-A6C34878D82A}">
                    <a16:rowId xmlns:a16="http://schemas.microsoft.com/office/drawing/2014/main" val="945943246"/>
                  </a:ext>
                </a:extLst>
              </a:tr>
              <a:tr h="386215">
                <a:tc gridSpan="4">
                  <a:txBody>
                    <a:bodyPr/>
                    <a:lstStyle/>
                    <a:p>
                      <a:pPr marL="0" marR="0" lvl="0" indent="0" algn="l" defTabSz="914377" rtl="0" eaLnBrk="1" fontAlgn="base" latinLnBrk="0" hangingPunct="1">
                        <a:lnSpc>
                          <a:spcPct val="100000"/>
                        </a:lnSpc>
                        <a:spcBef>
                          <a:spcPts val="0"/>
                        </a:spcBef>
                        <a:spcAft>
                          <a:spcPts val="0"/>
                        </a:spcAft>
                        <a:buClrTx/>
                        <a:buSzTx/>
                        <a:buFontTx/>
                        <a:buNone/>
                        <a:tabLst/>
                        <a:defRPr/>
                      </a:pPr>
                      <a:r>
                        <a:rPr lang="en-US" sz="1200" b="1">
                          <a:solidFill>
                            <a:schemeClr val="tx1">
                              <a:lumMod val="50000"/>
                              <a:lumOff val="50000"/>
                            </a:schemeClr>
                          </a:solidFill>
                        </a:rPr>
                        <a:t>- Tentatively for future discussion</a:t>
                      </a:r>
                    </a:p>
                  </a:txBody>
                  <a:tcPr anchor="ctr"/>
                </a:tc>
                <a:tc hMerge="1">
                  <a:txBody>
                    <a:bodyPr/>
                    <a:lstStyle/>
                    <a:p>
                      <a:endParaRPr lang="en-US"/>
                    </a:p>
                  </a:txBody>
                  <a:tcPr/>
                </a:tc>
                <a:tc hMerge="1">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anchor="ctr"/>
                </a:tc>
                <a:tc hMerge="1">
                  <a:txBody>
                    <a:bodyPr/>
                    <a:lstStyle/>
                    <a:p>
                      <a:pPr algn="ctr"/>
                      <a:endParaRPr lang="en-US" sz="1200"/>
                    </a:p>
                  </a:txBody>
                  <a:tcPr anchor="ctr"/>
                </a:tc>
                <a:extLst>
                  <a:ext uri="{0D108BD9-81ED-4DB2-BD59-A6C34878D82A}">
                    <a16:rowId xmlns:a16="http://schemas.microsoft.com/office/drawing/2014/main" val="631049741"/>
                  </a:ext>
                </a:extLst>
              </a:tr>
              <a:tr h="616012">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a:solidFill>
                            <a:schemeClr val="accent3">
                              <a:lumMod val="90000"/>
                            </a:schemeClr>
                          </a:solidFill>
                          <a:latin typeface="+mn-lt"/>
                          <a:ea typeface="+mn-ea"/>
                          <a:cs typeface="+mn-cs"/>
                        </a:rPr>
                        <a:t>1397-0032 (tbd)</a:t>
                      </a:r>
                    </a:p>
                    <a:p>
                      <a:pPr marL="0" marR="0" lvl="0" indent="0" algn="ctr" defTabSz="914377" rtl="0" eaLnBrk="1" fontAlgn="base" latinLnBrk="0" hangingPunct="1">
                        <a:lnSpc>
                          <a:spcPct val="100000"/>
                        </a:lnSpc>
                        <a:spcBef>
                          <a:spcPts val="0"/>
                        </a:spcBef>
                        <a:spcAft>
                          <a:spcPts val="0"/>
                        </a:spcAft>
                        <a:buClrTx/>
                        <a:buSzTx/>
                        <a:buFontTx/>
                        <a:buNone/>
                        <a:tabLst/>
                        <a:defRPr/>
                      </a:pPr>
                      <a:r>
                        <a:rPr lang="en-US" sz="1200" kern="1200">
                          <a:solidFill>
                            <a:schemeClr val="tx1">
                              <a:lumMod val="50000"/>
                              <a:lumOff val="50000"/>
                            </a:schemeClr>
                          </a:solidFill>
                          <a:latin typeface="+mn-lt"/>
                          <a:ea typeface="+mn-ea"/>
                          <a:cs typeface="+mn-cs"/>
                        </a:rPr>
                        <a:t>Phase 3 </a:t>
                      </a:r>
                      <a:r>
                        <a:rPr lang="en-US" sz="1200" b="1">
                          <a:solidFill>
                            <a:schemeClr val="accent2">
                              <a:lumMod val="50000"/>
                            </a:schemeClr>
                          </a:solidFill>
                        </a:rPr>
                        <a:t>|</a:t>
                      </a:r>
                      <a:r>
                        <a:rPr lang="en-US" sz="1200" b="1">
                          <a:solidFill>
                            <a:schemeClr val="tx1">
                              <a:lumMod val="50000"/>
                              <a:lumOff val="50000"/>
                            </a:schemeClr>
                          </a:solidFill>
                        </a:rPr>
                        <a:t> </a:t>
                      </a:r>
                      <a:r>
                        <a:rPr lang="en-US" sz="1200" b="0" kern="1200">
                          <a:solidFill>
                            <a:schemeClr val="tx1">
                              <a:lumMod val="50000"/>
                              <a:lumOff val="50000"/>
                            </a:schemeClr>
                          </a:solidFill>
                          <a:latin typeface="+mn-lt"/>
                          <a:ea typeface="+mn-ea"/>
                          <a:cs typeface="+mn-cs"/>
                        </a:rPr>
                        <a:t>ANCA-</a:t>
                      </a:r>
                      <a:r>
                        <a:rPr lang="en-US" altLang="zh-CN" sz="1200" b="0" kern="1200">
                          <a:solidFill>
                            <a:schemeClr val="tx1">
                              <a:lumMod val="50000"/>
                              <a:lumOff val="50000"/>
                            </a:schemeClr>
                          </a:solidFill>
                          <a:latin typeface="+mn-lt"/>
                          <a:ea typeface="+mn-ea"/>
                          <a:cs typeface="+mn-cs"/>
                        </a:rPr>
                        <a:t>AV pts</a:t>
                      </a:r>
                    </a:p>
                    <a:p>
                      <a:pPr marL="0" marR="0" lvl="0" indent="0" algn="ctr" defTabSz="914377" rtl="0" eaLnBrk="1" fontAlgn="base" latinLnBrk="0" hangingPunct="1">
                        <a:lnSpc>
                          <a:spcPct val="100000"/>
                        </a:lnSpc>
                        <a:spcBef>
                          <a:spcPts val="0"/>
                        </a:spcBef>
                        <a:spcAft>
                          <a:spcPts val="0"/>
                        </a:spcAft>
                        <a:buClrTx/>
                        <a:buSzTx/>
                        <a:buFontTx/>
                        <a:buNone/>
                        <a:tabLst/>
                        <a:defRPr/>
                      </a:pPr>
                      <a:r>
                        <a:rPr lang="en-US" altLang="zh-CN" sz="1200" b="0" kern="1200">
                          <a:solidFill>
                            <a:schemeClr val="tx1">
                              <a:lumMod val="50000"/>
                              <a:lumOff val="50000"/>
                            </a:schemeClr>
                          </a:solidFill>
                          <a:latin typeface="+mn-lt"/>
                          <a:ea typeface="+mn-ea"/>
                          <a:cs typeface="+mn-cs"/>
                        </a:rPr>
                        <a:t>(</a:t>
                      </a:r>
                      <a:r>
                        <a:rPr lang="en-US" sz="1200" kern="1200">
                          <a:solidFill>
                            <a:schemeClr val="tx1">
                              <a:lumMod val="50000"/>
                              <a:lumOff val="50000"/>
                            </a:schemeClr>
                          </a:solidFill>
                          <a:latin typeface="+mn-lt"/>
                          <a:ea typeface="+mn-ea"/>
                          <a:cs typeface="+mn-cs"/>
                        </a:rPr>
                        <a:t>Discussion ongoing globally</a:t>
                      </a:r>
                      <a:r>
                        <a:rPr lang="en-US" altLang="zh-CN" sz="1200" b="0" kern="1200">
                          <a:solidFill>
                            <a:schemeClr val="tx1">
                              <a:lumMod val="50000"/>
                              <a:lumOff val="50000"/>
                            </a:schemeClr>
                          </a:solidFill>
                          <a:latin typeface="+mn-lt"/>
                          <a:ea typeface="+mn-ea"/>
                          <a:cs typeface="+mn-cs"/>
                        </a:rPr>
                        <a:t>)</a:t>
                      </a:r>
                    </a:p>
                  </a:txBody>
                  <a:tcPr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a:solidFill>
                            <a:schemeClr val="tx1">
                              <a:lumMod val="50000"/>
                              <a:lumOff val="50000"/>
                            </a:schemeClr>
                          </a:solidFill>
                        </a:rPr>
                        <a:t>Development of this indication was terminated in Sep 2024 with timeline mapped</a:t>
                      </a:r>
                    </a:p>
                  </a:txBody>
                  <a:tcPr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a:solidFill>
                            <a:schemeClr val="tx1">
                              <a:lumMod val="50000"/>
                              <a:lumOff val="50000"/>
                            </a:schemeClr>
                          </a:solidFill>
                        </a:rPr>
                        <a:t>To support line extension and extend market exclusivity.</a:t>
                      </a:r>
                    </a:p>
                    <a:p>
                      <a:pPr marL="0" marR="0" lvl="0" indent="0" algn="l">
                        <a:lnSpc>
                          <a:spcPct val="100000"/>
                        </a:lnSpc>
                        <a:spcBef>
                          <a:spcPts val="0"/>
                        </a:spcBef>
                        <a:spcAft>
                          <a:spcPts val="0"/>
                        </a:spcAft>
                        <a:buClrTx/>
                        <a:buSzTx/>
                        <a:buFontTx/>
                        <a:buNone/>
                      </a:pPr>
                      <a:r>
                        <a:rPr lang="en-US" altLang="zh-CN" sz="1200" b="1">
                          <a:solidFill>
                            <a:srgbClr val="3366FF"/>
                          </a:solidFill>
                        </a:rPr>
                        <a:t>Global Go or No-go decision is expected in Q1 2026</a:t>
                      </a:r>
                    </a:p>
                  </a:txBody>
                  <a:tcPr anchor="ctr"/>
                </a:tc>
                <a:tc>
                  <a:txBody>
                    <a:bodyPr/>
                    <a:lstStyle/>
                    <a:p>
                      <a:pPr algn="ctr"/>
                      <a:r>
                        <a:rPr lang="en-US" sz="1200" kern="1200">
                          <a:solidFill>
                            <a:schemeClr val="tx1">
                              <a:lumMod val="50000"/>
                              <a:lumOff val="50000"/>
                            </a:schemeClr>
                          </a:solidFill>
                          <a:latin typeface="+mn-lt"/>
                          <a:ea typeface="+mn-ea"/>
                          <a:cs typeface="+mn-cs"/>
                        </a:rPr>
                        <a:t>tbd</a:t>
                      </a:r>
                    </a:p>
                  </a:txBody>
                  <a:tcPr anchor="ctr"/>
                </a:tc>
                <a:extLst>
                  <a:ext uri="{0D108BD9-81ED-4DB2-BD59-A6C34878D82A}">
                    <a16:rowId xmlns:a16="http://schemas.microsoft.com/office/drawing/2014/main" val="3068784127"/>
                  </a:ext>
                </a:extLst>
              </a:tr>
            </a:tbl>
          </a:graphicData>
        </a:graphic>
      </p:graphicFrame>
      <p:sp>
        <p:nvSpPr>
          <p:cNvPr id="4" name="Text Placeholder 3">
            <a:extLst>
              <a:ext uri="{FF2B5EF4-FFF2-40B4-BE49-F238E27FC236}">
                <a16:creationId xmlns:a16="http://schemas.microsoft.com/office/drawing/2014/main" id="{59FF8A03-0F68-9F49-660C-9A4E9FB6CEB7}"/>
              </a:ext>
            </a:extLst>
          </p:cNvPr>
          <p:cNvSpPr>
            <a:spLocks noGrp="1"/>
          </p:cNvSpPr>
          <p:nvPr>
            <p:ph type="body" sz="quarter" idx="13"/>
          </p:nvPr>
        </p:nvSpPr>
        <p:spPr>
          <a:xfrm>
            <a:off x="774476" y="5923928"/>
            <a:ext cx="11255090" cy="236363"/>
          </a:xfrm>
        </p:spPr>
        <p:txBody>
          <a:bodyPr/>
          <a:lstStyle/>
          <a:p>
            <a:r>
              <a:rPr lang="en-US" sz="800" b="0">
                <a:solidFill>
                  <a:srgbClr val="0000FF"/>
                </a:solidFill>
              </a:rPr>
              <a:t>*</a:t>
            </a:r>
            <a:r>
              <a:rPr lang="en-US" sz="800" b="0"/>
              <a:t> </a:t>
            </a:r>
            <a:r>
              <a:rPr lang="en-US" sz="800" b="1"/>
              <a:t>BE</a:t>
            </a:r>
            <a:r>
              <a:rPr lang="en-US" sz="800" b="0"/>
              <a:t>=bronchiectasis; </a:t>
            </a:r>
            <a:r>
              <a:rPr lang="en-US" b="1"/>
              <a:t>pts</a:t>
            </a:r>
            <a:r>
              <a:rPr lang="en-US"/>
              <a:t>=patients; </a:t>
            </a:r>
            <a:r>
              <a:rPr lang="en-US" b="1"/>
              <a:t>HV</a:t>
            </a:r>
            <a:r>
              <a:rPr lang="en-US"/>
              <a:t>=healthy volunteers; </a:t>
            </a:r>
            <a:r>
              <a:rPr lang="en-US" b="1"/>
              <a:t>Adols.</a:t>
            </a:r>
            <a:r>
              <a:rPr lang="en-US"/>
              <a:t>=adolescents; </a:t>
            </a:r>
            <a:r>
              <a:rPr lang="en-US" b="1"/>
              <a:t>Peds</a:t>
            </a:r>
            <a:r>
              <a:rPr lang="en-US"/>
              <a:t>=pediatrics</a:t>
            </a:r>
          </a:p>
        </p:txBody>
      </p:sp>
      <p:sp>
        <p:nvSpPr>
          <p:cNvPr id="6" name="Slide Number Placeholder 5">
            <a:extLst>
              <a:ext uri="{FF2B5EF4-FFF2-40B4-BE49-F238E27FC236}">
                <a16:creationId xmlns:a16="http://schemas.microsoft.com/office/drawing/2014/main" id="{2BCFF851-8816-451D-712F-7EC1A4531B4E}"/>
              </a:ext>
            </a:extLst>
          </p:cNvPr>
          <p:cNvSpPr>
            <a:spLocks noGrp="1"/>
          </p:cNvSpPr>
          <p:nvPr>
            <p:ph type="sldNum" sz="quarter" idx="20"/>
          </p:nvPr>
        </p:nvSpPr>
        <p:spPr/>
        <p:txBody>
          <a:bodyPr/>
          <a:lstStyle/>
          <a:p>
            <a:fld id="{DF4E8F9F-5B1F-4F5B-BE49-3245D8C18D9F}" type="slidenum">
              <a:rPr lang="en-US" smtClean="0"/>
              <a:pPr/>
              <a:t>33</a:t>
            </a:fld>
            <a:endParaRPr lang="en-US"/>
          </a:p>
        </p:txBody>
      </p:sp>
      <p:sp>
        <p:nvSpPr>
          <p:cNvPr id="3" name="Left Brace 2">
            <a:extLst>
              <a:ext uri="{FF2B5EF4-FFF2-40B4-BE49-F238E27FC236}">
                <a16:creationId xmlns:a16="http://schemas.microsoft.com/office/drawing/2014/main" id="{C29CE0AB-0E39-A5E7-6157-34717E384851}"/>
              </a:ext>
            </a:extLst>
          </p:cNvPr>
          <p:cNvSpPr/>
          <p:nvPr/>
        </p:nvSpPr>
        <p:spPr bwMode="gray">
          <a:xfrm>
            <a:off x="603504" y="1948957"/>
            <a:ext cx="173736" cy="1874520"/>
          </a:xfrm>
          <a:prstGeom prst="leftBrace">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Left Brace 7">
            <a:extLst>
              <a:ext uri="{FF2B5EF4-FFF2-40B4-BE49-F238E27FC236}">
                <a16:creationId xmlns:a16="http://schemas.microsoft.com/office/drawing/2014/main" id="{63625B89-05A6-1FB7-3C77-552ED1F69700}"/>
              </a:ext>
            </a:extLst>
          </p:cNvPr>
          <p:cNvSpPr/>
          <p:nvPr/>
        </p:nvSpPr>
        <p:spPr bwMode="gray">
          <a:xfrm>
            <a:off x="561722" y="3892158"/>
            <a:ext cx="210312" cy="919824"/>
          </a:xfrm>
          <a:prstGeom prst="leftBrace">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A0F804E5-5FD0-B2E7-F4C0-25F7A99CDEC8}"/>
              </a:ext>
            </a:extLst>
          </p:cNvPr>
          <p:cNvSpPr txBox="1"/>
          <p:nvPr/>
        </p:nvSpPr>
        <p:spPr bwMode="gray">
          <a:xfrm>
            <a:off x="45720" y="2507799"/>
            <a:ext cx="658368" cy="573811"/>
          </a:xfrm>
          <a:prstGeom prst="rect">
            <a:avLst/>
          </a:prstGeom>
          <a:noFill/>
        </p:spPr>
        <p:txBody>
          <a:bodyPr wrap="square" lIns="0" tIns="0" rIns="0" bIns="0" rtlCol="0">
            <a:spAutoFit/>
          </a:bodyPr>
          <a:lstStyle/>
          <a:p>
            <a:pPr algn="l">
              <a:lnSpc>
                <a:spcPct val="140000"/>
              </a:lnSpc>
            </a:pPr>
            <a:r>
              <a:rPr lang="en-US" sz="1400" b="1"/>
              <a:t>Adults/Adols.</a:t>
            </a:r>
          </a:p>
        </p:txBody>
      </p:sp>
      <p:sp>
        <p:nvSpPr>
          <p:cNvPr id="10" name="TextBox 9">
            <a:extLst>
              <a:ext uri="{FF2B5EF4-FFF2-40B4-BE49-F238E27FC236}">
                <a16:creationId xmlns:a16="http://schemas.microsoft.com/office/drawing/2014/main" id="{286EACFC-AB7D-9D8B-1FE4-EB1203067B0D}"/>
              </a:ext>
            </a:extLst>
          </p:cNvPr>
          <p:cNvSpPr txBox="1"/>
          <p:nvPr/>
        </p:nvSpPr>
        <p:spPr bwMode="gray">
          <a:xfrm>
            <a:off x="51175" y="4150626"/>
            <a:ext cx="469102" cy="276422"/>
          </a:xfrm>
          <a:prstGeom prst="rect">
            <a:avLst/>
          </a:prstGeom>
          <a:noFill/>
        </p:spPr>
        <p:txBody>
          <a:bodyPr wrap="square" lIns="0" tIns="0" rIns="0" bIns="0" rtlCol="0">
            <a:spAutoFit/>
          </a:bodyPr>
          <a:lstStyle/>
          <a:p>
            <a:pPr algn="l">
              <a:lnSpc>
                <a:spcPct val="140000"/>
              </a:lnSpc>
            </a:pPr>
            <a:r>
              <a:rPr lang="en-US" sz="1400" b="1"/>
              <a:t>Peds.</a:t>
            </a:r>
          </a:p>
        </p:txBody>
      </p:sp>
    </p:spTree>
    <p:extLst>
      <p:ext uri="{BB962C8B-B14F-4D97-AF65-F5344CB8AC3E}">
        <p14:creationId xmlns:p14="http://schemas.microsoft.com/office/powerpoint/2010/main" val="21917413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6E8FD-E5E2-319A-85EB-2628F9844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9DDF9-66F0-AEA9-D682-DC4EE99399D8}"/>
              </a:ext>
            </a:extLst>
          </p:cNvPr>
          <p:cNvSpPr>
            <a:spLocks noGrp="1"/>
          </p:cNvSpPr>
          <p:nvPr>
            <p:ph type="ctrTitle"/>
          </p:nvPr>
        </p:nvSpPr>
        <p:spPr/>
        <p:txBody>
          <a:bodyPr/>
          <a:lstStyle/>
          <a:p>
            <a:r>
              <a:rPr lang="de-DE"/>
              <a:t>Update Spesolimab</a:t>
            </a:r>
            <a:endParaRPr lang="en-US"/>
          </a:p>
        </p:txBody>
      </p:sp>
      <p:sp>
        <p:nvSpPr>
          <p:cNvPr id="4" name="Footer Placeholder 3">
            <a:extLst>
              <a:ext uri="{FF2B5EF4-FFF2-40B4-BE49-F238E27FC236}">
                <a16:creationId xmlns:a16="http://schemas.microsoft.com/office/drawing/2014/main" id="{C27BA026-D7F5-69E3-C6BF-F5631F1F0D1A}"/>
              </a:ext>
            </a:extLst>
          </p:cNvPr>
          <p:cNvSpPr>
            <a:spLocks noGrp="1"/>
          </p:cNvSpPr>
          <p:nvPr>
            <p:ph type="ftr" sz="quarter" idx="19"/>
          </p:nvPr>
        </p:nvSpPr>
        <p:spPr/>
        <p:txBody>
          <a:bodyPr/>
          <a:lstStyle/>
          <a:p>
            <a:r>
              <a:rPr lang="en-US"/>
              <a:t>ONLY FOR INTERNAL USE</a:t>
            </a:r>
          </a:p>
        </p:txBody>
      </p:sp>
    </p:spTree>
    <p:extLst>
      <p:ext uri="{BB962C8B-B14F-4D97-AF65-F5344CB8AC3E}">
        <p14:creationId xmlns:p14="http://schemas.microsoft.com/office/powerpoint/2010/main" val="15412717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C30E6-05C1-1256-DAAC-D10188801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53937-8C23-451E-EE43-ECAC0206F3FD}"/>
              </a:ext>
            </a:extLst>
          </p:cNvPr>
          <p:cNvSpPr>
            <a:spLocks noGrp="1"/>
          </p:cNvSpPr>
          <p:nvPr>
            <p:ph type="title"/>
          </p:nvPr>
        </p:nvSpPr>
        <p:spPr>
          <a:xfrm>
            <a:off x="479422" y="257447"/>
            <a:ext cx="11233151" cy="720000"/>
          </a:xfrm>
        </p:spPr>
        <p:txBody>
          <a:bodyPr/>
          <a:lstStyle/>
          <a:p>
            <a:r>
              <a:rPr lang="de-DE"/>
              <a:t>Overview: China Development Plan - </a:t>
            </a:r>
            <a:r>
              <a:rPr lang="en-US" altLang="zh-CN"/>
              <a:t>Spesolimab</a:t>
            </a:r>
            <a:endParaRPr lang="en-US"/>
          </a:p>
        </p:txBody>
      </p:sp>
      <p:graphicFrame>
        <p:nvGraphicFramePr>
          <p:cNvPr id="7" name="Content Placeholder 6">
            <a:extLst>
              <a:ext uri="{FF2B5EF4-FFF2-40B4-BE49-F238E27FC236}">
                <a16:creationId xmlns:a16="http://schemas.microsoft.com/office/drawing/2014/main" id="{3634ECBB-932E-E4AD-068B-9D07E1D776A6}"/>
              </a:ext>
            </a:extLst>
          </p:cNvPr>
          <p:cNvGraphicFramePr>
            <a:graphicFrameLocks noGrp="1"/>
          </p:cNvGraphicFramePr>
          <p:nvPr>
            <p:ph idx="1"/>
            <p:extLst>
              <p:ext uri="{D42A27DB-BD31-4B8C-83A1-F6EECF244321}">
                <p14:modId xmlns:p14="http://schemas.microsoft.com/office/powerpoint/2010/main" val="2618925025"/>
              </p:ext>
            </p:extLst>
          </p:nvPr>
        </p:nvGraphicFramePr>
        <p:xfrm>
          <a:off x="479422" y="977447"/>
          <a:ext cx="11232000" cy="3108960"/>
        </p:xfrm>
        <a:graphic>
          <a:graphicData uri="http://schemas.openxmlformats.org/drawingml/2006/table">
            <a:tbl>
              <a:tblPr firstRow="1" bandRow="1">
                <a:tableStyleId>{5C22544A-7EE6-4342-B048-85BDC9FD1C3A}</a:tableStyleId>
              </a:tblPr>
              <a:tblGrid>
                <a:gridCol w="2111378">
                  <a:extLst>
                    <a:ext uri="{9D8B030D-6E8A-4147-A177-3AD203B41FA5}">
                      <a16:colId xmlns:a16="http://schemas.microsoft.com/office/drawing/2014/main" val="1992561350"/>
                    </a:ext>
                  </a:extLst>
                </a:gridCol>
                <a:gridCol w="4177732">
                  <a:extLst>
                    <a:ext uri="{9D8B030D-6E8A-4147-A177-3AD203B41FA5}">
                      <a16:colId xmlns:a16="http://schemas.microsoft.com/office/drawing/2014/main" val="286813749"/>
                    </a:ext>
                  </a:extLst>
                </a:gridCol>
                <a:gridCol w="2456748">
                  <a:extLst>
                    <a:ext uri="{9D8B030D-6E8A-4147-A177-3AD203B41FA5}">
                      <a16:colId xmlns:a16="http://schemas.microsoft.com/office/drawing/2014/main" val="3820105433"/>
                    </a:ext>
                  </a:extLst>
                </a:gridCol>
                <a:gridCol w="2486142">
                  <a:extLst>
                    <a:ext uri="{9D8B030D-6E8A-4147-A177-3AD203B41FA5}">
                      <a16:colId xmlns:a16="http://schemas.microsoft.com/office/drawing/2014/main" val="1944790202"/>
                    </a:ext>
                  </a:extLst>
                </a:gridCol>
              </a:tblGrid>
              <a:tr h="414906">
                <a:tc>
                  <a:txBody>
                    <a:bodyPr/>
                    <a:lstStyle/>
                    <a:p>
                      <a:pPr algn="ctr"/>
                      <a:r>
                        <a:rPr lang="en-US" sz="1400">
                          <a:solidFill>
                            <a:schemeClr val="tx1"/>
                          </a:solidFill>
                        </a:rPr>
                        <a:t>Projects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400">
                          <a:solidFill>
                            <a:schemeClr val="tx1"/>
                          </a:solidFill>
                        </a:rPr>
                        <a:t>Study 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400">
                          <a:solidFill>
                            <a:schemeClr val="tx1"/>
                          </a:solidFill>
                        </a:rPr>
                        <a:t>Current 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400">
                          <a:solidFill>
                            <a:schemeClr val="tx1"/>
                          </a:solidFill>
                        </a:rPr>
                        <a:t>Planned start of operational transfer*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190815718"/>
                  </a:ext>
                </a:extLst>
              </a:tr>
              <a:tr h="471957">
                <a:tc rowSpan="2">
                  <a:txBody>
                    <a:bodyPr/>
                    <a:lstStyle/>
                    <a:p>
                      <a:pPr algn="ctr"/>
                      <a:r>
                        <a:rPr lang="en-US" altLang="zh-CN" sz="1400" b="1"/>
                        <a:t>GPP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1368-0025</a:t>
                      </a:r>
                    </a:p>
                    <a:p>
                      <a:pPr algn="ctr"/>
                      <a:r>
                        <a:rPr lang="en-US" altLang="zh-CN" sz="1400" err="1"/>
                        <a:t>Effisayil</a:t>
                      </a:r>
                      <a:r>
                        <a:rPr lang="en-US" altLang="zh-CN" sz="1400"/>
                        <a:t> ON, ph2, Open label </a:t>
                      </a:r>
                      <a:r>
                        <a:rPr lang="en-US" altLang="zh-CN" sz="1400" err="1"/>
                        <a:t>extention</a:t>
                      </a:r>
                      <a:r>
                        <a:rPr lang="en-US" altLang="zh-CN" sz="1400"/>
                        <a:t> study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400"/>
                        <a:t>Recruitment completed, treatment ongoing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a:t>Q1-2026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612170"/>
                  </a:ext>
                </a:extLst>
              </a:tr>
              <a:tr h="471957">
                <a:tc vMerge="1">
                  <a:txBody>
                    <a:bodyPr/>
                    <a:lstStyle/>
                    <a:p>
                      <a:pPr algn="ctr"/>
                      <a:endParaRPr lang="en-US" altLang="zh-CN" sz="14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1368-0120</a:t>
                      </a:r>
                    </a:p>
                    <a:p>
                      <a:pPr algn="ctr"/>
                      <a:r>
                        <a:rPr lang="en-US" altLang="zh-CN" sz="1400" err="1"/>
                        <a:t>Effisayil</a:t>
                      </a:r>
                      <a:r>
                        <a:rPr lang="en-US" altLang="zh-CN" sz="1400"/>
                        <a:t> REP, ph3b/4, GPP flare retreatment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400"/>
                        <a:t>Recruitment completed, treatment ongoing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kern="1200">
                          <a:solidFill>
                            <a:schemeClr val="dk1"/>
                          </a:solidFill>
                          <a:latin typeface="+mn-lt"/>
                          <a:ea typeface="+mn-ea"/>
                          <a:cs typeface="+mn-cs"/>
                        </a:rPr>
                        <a:t>N/A, Completion to Final CTR: Feb 2027</a:t>
                      </a:r>
                      <a:endParaRPr lang="en-US" sz="1400" kern="120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0334655"/>
                  </a:ext>
                </a:extLst>
              </a:tr>
              <a:tr h="471957">
                <a:tc>
                  <a:txBody>
                    <a:bodyPr/>
                    <a:lstStyle/>
                    <a:p>
                      <a:pPr algn="ctr"/>
                      <a:r>
                        <a:rPr lang="en-US" altLang="zh-CN" sz="1400" b="1"/>
                        <a:t>PG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1368-0140</a:t>
                      </a:r>
                    </a:p>
                    <a:p>
                      <a:pPr algn="ctr"/>
                      <a:r>
                        <a:rPr lang="en-US" altLang="zh-CN" sz="1400" err="1"/>
                        <a:t>Capsayil</a:t>
                      </a:r>
                      <a:r>
                        <a:rPr lang="en-US" altLang="zh-CN" sz="1400"/>
                        <a:t>, Ph3, PG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a:t>Recruitment ongoing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kern="1200">
                          <a:solidFill>
                            <a:schemeClr val="dk1"/>
                          </a:solidFill>
                          <a:latin typeface="+mn-lt"/>
                          <a:ea typeface="+mn-ea"/>
                          <a:cs typeface="+mn-cs"/>
                        </a:rPr>
                        <a:t>N/A, Completion to Final DBL: Feb 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230577"/>
                  </a:ext>
                </a:extLst>
              </a:tr>
              <a:tr h="471957">
                <a:tc>
                  <a:txBody>
                    <a:bodyPr/>
                    <a:lstStyle/>
                    <a:p>
                      <a:pPr algn="ctr"/>
                      <a:r>
                        <a:rPr lang="en-US" altLang="zh-CN" sz="1400" b="1"/>
                        <a:t>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1368-0104</a:t>
                      </a:r>
                    </a:p>
                    <a:p>
                      <a:pPr algn="ctr"/>
                      <a:r>
                        <a:rPr lang="en-US" altLang="zh-CN" sz="1400"/>
                        <a:t>Ph2/3, 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ltLang="zh-CN" sz="1400"/>
                        <a:t>Terminated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79713492"/>
                  </a:ext>
                </a:extLst>
              </a:tr>
              <a:tr h="471957">
                <a:tc>
                  <a:txBody>
                    <a:bodyPr/>
                    <a:lstStyle/>
                    <a:p>
                      <a:pPr algn="ctr"/>
                      <a:r>
                        <a:rPr lang="en-US" altLang="zh-CN" sz="1400" b="1"/>
                        <a: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1368-0098</a:t>
                      </a:r>
                    </a:p>
                    <a:p>
                      <a:pPr algn="ctr"/>
                      <a:r>
                        <a:rPr lang="en-US" altLang="zh-CN" sz="1400"/>
                        <a:t>Ph2b/3, 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400"/>
                        <a:t>Terminated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95002728"/>
                  </a:ext>
                </a:extLst>
              </a:tr>
            </a:tbl>
          </a:graphicData>
        </a:graphic>
      </p:graphicFrame>
      <p:sp>
        <p:nvSpPr>
          <p:cNvPr id="4" name="Text Placeholder 3">
            <a:extLst>
              <a:ext uri="{FF2B5EF4-FFF2-40B4-BE49-F238E27FC236}">
                <a16:creationId xmlns:a16="http://schemas.microsoft.com/office/drawing/2014/main" id="{B09DF217-9ADC-8AFC-E11C-8D1F4A67BF2D}"/>
              </a:ext>
            </a:extLst>
          </p:cNvPr>
          <p:cNvSpPr>
            <a:spLocks noGrp="1"/>
          </p:cNvSpPr>
          <p:nvPr>
            <p:ph type="body" sz="quarter" idx="13"/>
          </p:nvPr>
        </p:nvSpPr>
        <p:spPr>
          <a:xfrm>
            <a:off x="479425" y="6170908"/>
            <a:ext cx="11232000" cy="144000"/>
          </a:xfrm>
        </p:spPr>
        <p:txBody>
          <a:bodyPr/>
          <a:lstStyle/>
          <a:p>
            <a:endParaRPr lang="en-US"/>
          </a:p>
        </p:txBody>
      </p:sp>
      <p:sp>
        <p:nvSpPr>
          <p:cNvPr id="6" name="Slide Number Placeholder 5">
            <a:extLst>
              <a:ext uri="{FF2B5EF4-FFF2-40B4-BE49-F238E27FC236}">
                <a16:creationId xmlns:a16="http://schemas.microsoft.com/office/drawing/2014/main" id="{7FC0884B-D091-3694-B2A8-1CD24525C8F3}"/>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3" name="TextBox 2">
            <a:extLst>
              <a:ext uri="{FF2B5EF4-FFF2-40B4-BE49-F238E27FC236}">
                <a16:creationId xmlns:a16="http://schemas.microsoft.com/office/drawing/2014/main" id="{D4985DEC-A8F1-05C7-0284-4CE4F6DD3271}"/>
              </a:ext>
            </a:extLst>
          </p:cNvPr>
          <p:cNvSpPr txBox="1"/>
          <p:nvPr/>
        </p:nvSpPr>
        <p:spPr bwMode="gray">
          <a:xfrm>
            <a:off x="392303" y="4179626"/>
            <a:ext cx="6341006" cy="261610"/>
          </a:xfrm>
          <a:prstGeom prst="rect">
            <a:avLst/>
          </a:prstGeom>
          <a:noFill/>
        </p:spPr>
        <p:txBody>
          <a:bodyPr wrap="square">
            <a:spAutoFit/>
          </a:bodyPr>
          <a:lstStyle/>
          <a:p>
            <a:r>
              <a:rPr lang="en-US" altLang="zh-CN" sz="1100">
                <a:solidFill>
                  <a:srgbClr val="FFFFFF">
                    <a:lumMod val="50000"/>
                  </a:srgbClr>
                </a:solidFill>
                <a:latin typeface="BISansCond"/>
                <a:ea typeface="等线" panose="02010600030101010101" pitchFamily="2" charset="-122"/>
              </a:rPr>
              <a:t>* Source: </a:t>
            </a:r>
            <a:r>
              <a:rPr lang="en-US" altLang="zh-CN" sz="1100" err="1">
                <a:solidFill>
                  <a:srgbClr val="FFFFFF">
                    <a:lumMod val="50000"/>
                  </a:srgbClr>
                </a:solidFill>
                <a:latin typeface="BISansCond"/>
                <a:ea typeface="等线" panose="02010600030101010101" pitchFamily="2" charset="-122"/>
              </a:rPr>
              <a:t>Spevigo</a:t>
            </a:r>
            <a:r>
              <a:rPr lang="en-US" altLang="zh-CN" sz="1100">
                <a:solidFill>
                  <a:srgbClr val="FFFFFF">
                    <a:lumMod val="50000"/>
                  </a:srgbClr>
                </a:solidFill>
                <a:latin typeface="BISansCond"/>
                <a:ea typeface="等线" panose="02010600030101010101" pitchFamily="2" charset="-122"/>
              </a:rPr>
              <a:t> licensing and transfer to Leo Pharma Playbook for Countries, Date: 30 September 2025</a:t>
            </a:r>
          </a:p>
        </p:txBody>
      </p:sp>
    </p:spTree>
    <p:extLst>
      <p:ext uri="{BB962C8B-B14F-4D97-AF65-F5344CB8AC3E}">
        <p14:creationId xmlns:p14="http://schemas.microsoft.com/office/powerpoint/2010/main" val="18392507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723B5D-303F-B8A4-CF15-9CC9500B5833}"/>
            </a:ext>
          </a:extLst>
        </p:cNvPr>
        <p:cNvGrpSpPr/>
        <p:nvPr/>
      </p:nvGrpSpPr>
      <p:grpSpPr>
        <a:xfrm>
          <a:off x="0" y="0"/>
          <a:ext cx="0" cy="0"/>
          <a:chOff x="0" y="0"/>
          <a:chExt cx="0" cy="0"/>
        </a:xfrm>
      </p:grpSpPr>
      <p:sp>
        <p:nvSpPr>
          <p:cNvPr id="6" name="OTLSHAPE_T_e17f3958430f4cff8650518c93c7635e_Shape">
            <a:extLst>
              <a:ext uri="{FF2B5EF4-FFF2-40B4-BE49-F238E27FC236}">
                <a16:creationId xmlns:a16="http://schemas.microsoft.com/office/drawing/2014/main" id="{81A58158-CA56-1726-42D3-1B87652E410E}"/>
              </a:ext>
            </a:extLst>
          </p:cNvPr>
          <p:cNvSpPr/>
          <p:nvPr>
            <p:custDataLst>
              <p:tags r:id="rId1"/>
            </p:custDataLst>
          </p:nvPr>
        </p:nvSpPr>
        <p:spPr bwMode="auto">
          <a:xfrm>
            <a:off x="6090422" y="4578761"/>
            <a:ext cx="4752000" cy="25603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219" name="OTLSHAPE_T_e17f3958430f4cff8650518c93c7635e_Shape">
            <a:extLst>
              <a:ext uri="{FF2B5EF4-FFF2-40B4-BE49-F238E27FC236}">
                <a16:creationId xmlns:a16="http://schemas.microsoft.com/office/drawing/2014/main" id="{B19AA985-31B1-029C-5935-68658D513115}"/>
              </a:ext>
            </a:extLst>
          </p:cNvPr>
          <p:cNvSpPr/>
          <p:nvPr>
            <p:custDataLst>
              <p:tags r:id="rId2"/>
            </p:custDataLst>
          </p:nvPr>
        </p:nvSpPr>
        <p:spPr bwMode="auto">
          <a:xfrm>
            <a:off x="6083708" y="2574099"/>
            <a:ext cx="4752000" cy="25603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14" name="灯片编号占位符 13">
            <a:extLst>
              <a:ext uri="{FF2B5EF4-FFF2-40B4-BE49-F238E27FC236}">
                <a16:creationId xmlns:a16="http://schemas.microsoft.com/office/drawing/2014/main" id="{FA2ABFCC-6A55-DA38-0586-57366227533D}"/>
              </a:ext>
            </a:extLst>
          </p:cNvPr>
          <p:cNvSpPr>
            <a:spLocks noGrp="1"/>
          </p:cNvSpPr>
          <p:nvPr>
            <p:ph type="sldNum" sz="quarter" idx="20"/>
          </p:nvPr>
        </p:nvSpPr>
        <p:spPr/>
        <p:txBody>
          <a:bodyPr/>
          <a:lstStyle/>
          <a:p>
            <a:pPr marL="0" marR="0" lvl="0" indent="0" algn="r" defTabSz="121905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067" b="0" i="0" u="none" strike="noStrike" kern="1200" cap="none" spc="0" normalizeH="0" baseline="0" noProof="0">
                <a:ln>
                  <a:noFill/>
                </a:ln>
                <a:solidFill>
                  <a:srgbClr val="7F7F7F"/>
                </a:solidFill>
                <a:effectLst/>
                <a:uLnTx/>
                <a:uFillTx/>
                <a:latin typeface="BISans" panose="02000503040000020004" pitchFamily="2" charset="0"/>
                <a:ea typeface="+mn-ea"/>
                <a:cs typeface="+mn-cs"/>
              </a:rPr>
              <a:pPr marL="0" marR="0" lvl="0" indent="0" algn="r" defTabSz="1219050" rtl="0" eaLnBrk="1" fontAlgn="auto" latinLnBrk="0" hangingPunct="1">
                <a:lnSpc>
                  <a:spcPct val="100000"/>
                </a:lnSpc>
                <a:spcBef>
                  <a:spcPts val="0"/>
                </a:spcBef>
                <a:spcAft>
                  <a:spcPts val="0"/>
                </a:spcAft>
                <a:buClrTx/>
                <a:buSzTx/>
                <a:buFontTx/>
                <a:buNone/>
                <a:tabLst/>
                <a:defRPr/>
              </a:pPr>
              <a:t>36</a:t>
            </a:fld>
            <a:endParaRPr kumimoji="0" lang="en-GB" sz="1067" b="0" i="0" u="none" strike="noStrike" kern="1200" cap="none" spc="0" normalizeH="0" baseline="0" noProof="0">
              <a:ln>
                <a:noFill/>
              </a:ln>
              <a:solidFill>
                <a:srgbClr val="7F7F7F"/>
              </a:solidFill>
              <a:effectLst/>
              <a:uLnTx/>
              <a:uFillTx/>
              <a:latin typeface="BISans" panose="02000503040000020004" pitchFamily="2" charset="0"/>
              <a:ea typeface="+mn-ea"/>
              <a:cs typeface="+mn-cs"/>
            </a:endParaRPr>
          </a:p>
        </p:txBody>
      </p:sp>
      <p:graphicFrame>
        <p:nvGraphicFramePr>
          <p:cNvPr id="4" name="Table 3">
            <a:extLst>
              <a:ext uri="{FF2B5EF4-FFF2-40B4-BE49-F238E27FC236}">
                <a16:creationId xmlns:a16="http://schemas.microsoft.com/office/drawing/2014/main" id="{B0B4F3E1-5020-87DF-16C5-9499C100818D}"/>
              </a:ext>
            </a:extLst>
          </p:cNvPr>
          <p:cNvGraphicFramePr>
            <a:graphicFrameLocks noGrp="1"/>
          </p:cNvGraphicFramePr>
          <p:nvPr>
            <p:extLst>
              <p:ext uri="{D42A27DB-BD31-4B8C-83A1-F6EECF244321}">
                <p14:modId xmlns:p14="http://schemas.microsoft.com/office/powerpoint/2010/main" val="3520152668"/>
              </p:ext>
            </p:extLst>
          </p:nvPr>
        </p:nvGraphicFramePr>
        <p:xfrm>
          <a:off x="236880" y="1449358"/>
          <a:ext cx="11707392" cy="685800"/>
        </p:xfrm>
        <a:graphic>
          <a:graphicData uri="http://schemas.openxmlformats.org/drawingml/2006/table">
            <a:tbl>
              <a:tblPr firstRow="1" bandRow="1"/>
              <a:tblGrid>
                <a:gridCol w="487808">
                  <a:extLst>
                    <a:ext uri="{9D8B030D-6E8A-4147-A177-3AD203B41FA5}">
                      <a16:colId xmlns:a16="http://schemas.microsoft.com/office/drawing/2014/main" val="3814213346"/>
                    </a:ext>
                  </a:extLst>
                </a:gridCol>
                <a:gridCol w="487808">
                  <a:extLst>
                    <a:ext uri="{9D8B030D-6E8A-4147-A177-3AD203B41FA5}">
                      <a16:colId xmlns:a16="http://schemas.microsoft.com/office/drawing/2014/main" val="1475078696"/>
                    </a:ext>
                  </a:extLst>
                </a:gridCol>
                <a:gridCol w="487808">
                  <a:extLst>
                    <a:ext uri="{9D8B030D-6E8A-4147-A177-3AD203B41FA5}">
                      <a16:colId xmlns:a16="http://schemas.microsoft.com/office/drawing/2014/main" val="1246310367"/>
                    </a:ext>
                  </a:extLst>
                </a:gridCol>
                <a:gridCol w="487808">
                  <a:extLst>
                    <a:ext uri="{9D8B030D-6E8A-4147-A177-3AD203B41FA5}">
                      <a16:colId xmlns:a16="http://schemas.microsoft.com/office/drawing/2014/main" val="1310408403"/>
                    </a:ext>
                  </a:extLst>
                </a:gridCol>
                <a:gridCol w="487808">
                  <a:extLst>
                    <a:ext uri="{9D8B030D-6E8A-4147-A177-3AD203B41FA5}">
                      <a16:colId xmlns:a16="http://schemas.microsoft.com/office/drawing/2014/main" val="3091663135"/>
                    </a:ext>
                  </a:extLst>
                </a:gridCol>
                <a:gridCol w="487808">
                  <a:extLst>
                    <a:ext uri="{9D8B030D-6E8A-4147-A177-3AD203B41FA5}">
                      <a16:colId xmlns:a16="http://schemas.microsoft.com/office/drawing/2014/main" val="2003423086"/>
                    </a:ext>
                  </a:extLst>
                </a:gridCol>
                <a:gridCol w="487808">
                  <a:extLst>
                    <a:ext uri="{9D8B030D-6E8A-4147-A177-3AD203B41FA5}">
                      <a16:colId xmlns:a16="http://schemas.microsoft.com/office/drawing/2014/main" val="2466911814"/>
                    </a:ext>
                  </a:extLst>
                </a:gridCol>
                <a:gridCol w="487808">
                  <a:extLst>
                    <a:ext uri="{9D8B030D-6E8A-4147-A177-3AD203B41FA5}">
                      <a16:colId xmlns:a16="http://schemas.microsoft.com/office/drawing/2014/main" val="3023231563"/>
                    </a:ext>
                  </a:extLst>
                </a:gridCol>
                <a:gridCol w="487808">
                  <a:extLst>
                    <a:ext uri="{9D8B030D-6E8A-4147-A177-3AD203B41FA5}">
                      <a16:colId xmlns:a16="http://schemas.microsoft.com/office/drawing/2014/main" val="3411862845"/>
                    </a:ext>
                  </a:extLst>
                </a:gridCol>
                <a:gridCol w="487808">
                  <a:extLst>
                    <a:ext uri="{9D8B030D-6E8A-4147-A177-3AD203B41FA5}">
                      <a16:colId xmlns:a16="http://schemas.microsoft.com/office/drawing/2014/main" val="2851474774"/>
                    </a:ext>
                  </a:extLst>
                </a:gridCol>
                <a:gridCol w="487808">
                  <a:extLst>
                    <a:ext uri="{9D8B030D-6E8A-4147-A177-3AD203B41FA5}">
                      <a16:colId xmlns:a16="http://schemas.microsoft.com/office/drawing/2014/main" val="107595344"/>
                    </a:ext>
                  </a:extLst>
                </a:gridCol>
                <a:gridCol w="487808">
                  <a:extLst>
                    <a:ext uri="{9D8B030D-6E8A-4147-A177-3AD203B41FA5}">
                      <a16:colId xmlns:a16="http://schemas.microsoft.com/office/drawing/2014/main" val="1666999431"/>
                    </a:ext>
                  </a:extLst>
                </a:gridCol>
                <a:gridCol w="487808">
                  <a:extLst>
                    <a:ext uri="{9D8B030D-6E8A-4147-A177-3AD203B41FA5}">
                      <a16:colId xmlns:a16="http://schemas.microsoft.com/office/drawing/2014/main" val="3696607442"/>
                    </a:ext>
                  </a:extLst>
                </a:gridCol>
                <a:gridCol w="487808">
                  <a:extLst>
                    <a:ext uri="{9D8B030D-6E8A-4147-A177-3AD203B41FA5}">
                      <a16:colId xmlns:a16="http://schemas.microsoft.com/office/drawing/2014/main" val="223989776"/>
                    </a:ext>
                  </a:extLst>
                </a:gridCol>
                <a:gridCol w="487808">
                  <a:extLst>
                    <a:ext uri="{9D8B030D-6E8A-4147-A177-3AD203B41FA5}">
                      <a16:colId xmlns:a16="http://schemas.microsoft.com/office/drawing/2014/main" val="124731204"/>
                    </a:ext>
                  </a:extLst>
                </a:gridCol>
                <a:gridCol w="487808">
                  <a:extLst>
                    <a:ext uri="{9D8B030D-6E8A-4147-A177-3AD203B41FA5}">
                      <a16:colId xmlns:a16="http://schemas.microsoft.com/office/drawing/2014/main" val="3066978585"/>
                    </a:ext>
                  </a:extLst>
                </a:gridCol>
                <a:gridCol w="487808">
                  <a:extLst>
                    <a:ext uri="{9D8B030D-6E8A-4147-A177-3AD203B41FA5}">
                      <a16:colId xmlns:a16="http://schemas.microsoft.com/office/drawing/2014/main" val="1064917641"/>
                    </a:ext>
                  </a:extLst>
                </a:gridCol>
                <a:gridCol w="487808">
                  <a:extLst>
                    <a:ext uri="{9D8B030D-6E8A-4147-A177-3AD203B41FA5}">
                      <a16:colId xmlns:a16="http://schemas.microsoft.com/office/drawing/2014/main" val="4221117315"/>
                    </a:ext>
                  </a:extLst>
                </a:gridCol>
                <a:gridCol w="487808">
                  <a:extLst>
                    <a:ext uri="{9D8B030D-6E8A-4147-A177-3AD203B41FA5}">
                      <a16:colId xmlns:a16="http://schemas.microsoft.com/office/drawing/2014/main" val="3266065341"/>
                    </a:ext>
                  </a:extLst>
                </a:gridCol>
                <a:gridCol w="487808">
                  <a:extLst>
                    <a:ext uri="{9D8B030D-6E8A-4147-A177-3AD203B41FA5}">
                      <a16:colId xmlns:a16="http://schemas.microsoft.com/office/drawing/2014/main" val="2374051224"/>
                    </a:ext>
                  </a:extLst>
                </a:gridCol>
                <a:gridCol w="487808">
                  <a:extLst>
                    <a:ext uri="{9D8B030D-6E8A-4147-A177-3AD203B41FA5}">
                      <a16:colId xmlns:a16="http://schemas.microsoft.com/office/drawing/2014/main" val="1840388365"/>
                    </a:ext>
                  </a:extLst>
                </a:gridCol>
                <a:gridCol w="487808">
                  <a:extLst>
                    <a:ext uri="{9D8B030D-6E8A-4147-A177-3AD203B41FA5}">
                      <a16:colId xmlns:a16="http://schemas.microsoft.com/office/drawing/2014/main" val="267750830"/>
                    </a:ext>
                  </a:extLst>
                </a:gridCol>
                <a:gridCol w="487808">
                  <a:extLst>
                    <a:ext uri="{9D8B030D-6E8A-4147-A177-3AD203B41FA5}">
                      <a16:colId xmlns:a16="http://schemas.microsoft.com/office/drawing/2014/main" val="3966469970"/>
                    </a:ext>
                  </a:extLst>
                </a:gridCol>
                <a:gridCol w="487808">
                  <a:extLst>
                    <a:ext uri="{9D8B030D-6E8A-4147-A177-3AD203B41FA5}">
                      <a16:colId xmlns:a16="http://schemas.microsoft.com/office/drawing/2014/main" val="2522973146"/>
                    </a:ext>
                  </a:extLst>
                </a:gridCol>
              </a:tblGrid>
              <a:tr h="259080">
                <a:tc gridSpan="2">
                  <a:txBody>
                    <a:bodyPr/>
                    <a:lstStyle/>
                    <a:p>
                      <a:pPr algn="ctr"/>
                      <a:r>
                        <a:rPr lang="en-US" altLang="zh-CN" sz="1100" b="1">
                          <a:solidFill>
                            <a:schemeClr val="bg1"/>
                          </a:solidFill>
                          <a:latin typeface="Arial" panose="020B0604020202020204" pitchFamily="34" charset="0"/>
                          <a:cs typeface="Arial" panose="020B0604020202020204" pitchFamily="34" charset="0"/>
                        </a:rPr>
                        <a:t>2020</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1100" b="1">
                          <a:solidFill>
                            <a:schemeClr val="bg1"/>
                          </a:solidFill>
                          <a:latin typeface="Arial" panose="020B0604020202020204" pitchFamily="34" charset="0"/>
                          <a:cs typeface="Arial" panose="020B0604020202020204" pitchFamily="34" charset="0"/>
                        </a:rPr>
                        <a:t>2021</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2022</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2023</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2024</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2025</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2024</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E47C"/>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47" name="OTLSHAPE_T_5a934a26f311425e8ebaa0f45e6533ad_Shape">
            <a:extLst>
              <a:ext uri="{FF2B5EF4-FFF2-40B4-BE49-F238E27FC236}">
                <a16:creationId xmlns:a16="http://schemas.microsoft.com/office/drawing/2014/main" id="{575BD963-0ADF-4A89-AC49-EC1ED679C381}"/>
              </a:ext>
            </a:extLst>
          </p:cNvPr>
          <p:cNvSpPr/>
          <p:nvPr>
            <p:custDataLst>
              <p:tags r:id="rId3"/>
            </p:custDataLst>
          </p:nvPr>
        </p:nvSpPr>
        <p:spPr bwMode="auto">
          <a:xfrm>
            <a:off x="3518221" y="3114353"/>
            <a:ext cx="8470967" cy="25648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65" name="OTLSHAPE_T_e17f3958430f4cff8650518c93c7635e_Shape">
            <a:extLst>
              <a:ext uri="{FF2B5EF4-FFF2-40B4-BE49-F238E27FC236}">
                <a16:creationId xmlns:a16="http://schemas.microsoft.com/office/drawing/2014/main" id="{E82235EE-3A21-A728-F761-2B7238B8EECA}"/>
              </a:ext>
            </a:extLst>
          </p:cNvPr>
          <p:cNvSpPr/>
          <p:nvPr>
            <p:custDataLst>
              <p:tags r:id="rId4"/>
            </p:custDataLst>
          </p:nvPr>
        </p:nvSpPr>
        <p:spPr bwMode="auto">
          <a:xfrm>
            <a:off x="91918" y="3104584"/>
            <a:ext cx="3446721" cy="256032"/>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N=130</a:t>
            </a:r>
          </a:p>
        </p:txBody>
      </p:sp>
      <p:sp>
        <p:nvSpPr>
          <p:cNvPr id="68" name="Rectangle 67">
            <a:extLst>
              <a:ext uri="{FF2B5EF4-FFF2-40B4-BE49-F238E27FC236}">
                <a16:creationId xmlns:a16="http://schemas.microsoft.com/office/drawing/2014/main" id="{FC0B7178-9393-EA92-E796-86BE27070AB8}"/>
              </a:ext>
            </a:extLst>
          </p:cNvPr>
          <p:cNvSpPr/>
          <p:nvPr/>
        </p:nvSpPr>
        <p:spPr>
          <a:xfrm>
            <a:off x="3406273" y="3325235"/>
            <a:ext cx="324127"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69" name="OTLSHAPE_T_e17f3958430f4cff8650518c93c7635e_StartDate">
            <a:extLst>
              <a:ext uri="{FF2B5EF4-FFF2-40B4-BE49-F238E27FC236}">
                <a16:creationId xmlns:a16="http://schemas.microsoft.com/office/drawing/2014/main" id="{507CE4D7-B8D7-7C51-B645-6B733E2BC151}"/>
              </a:ext>
            </a:extLst>
          </p:cNvPr>
          <p:cNvSpPr txBox="1"/>
          <p:nvPr>
            <p:custDataLst>
              <p:tags r:id="rId5"/>
            </p:custDataLst>
          </p:nvPr>
        </p:nvSpPr>
        <p:spPr>
          <a:xfrm>
            <a:off x="3132981" y="2964703"/>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Feb 2023</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78" name="Star: 4 Points 143">
            <a:extLst>
              <a:ext uri="{FF2B5EF4-FFF2-40B4-BE49-F238E27FC236}">
                <a16:creationId xmlns:a16="http://schemas.microsoft.com/office/drawing/2014/main" id="{E49DDC63-CB5F-6DF9-9862-83131DB0A40C}"/>
              </a:ext>
            </a:extLst>
          </p:cNvPr>
          <p:cNvSpPr/>
          <p:nvPr/>
        </p:nvSpPr>
        <p:spPr bwMode="auto">
          <a:xfrm>
            <a:off x="3466885" y="3257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79" name="Star: 4 Points 143">
            <a:extLst>
              <a:ext uri="{FF2B5EF4-FFF2-40B4-BE49-F238E27FC236}">
                <a16:creationId xmlns:a16="http://schemas.microsoft.com/office/drawing/2014/main" id="{6B651897-F9F4-2FAB-D7CB-C764F4EBFCE1}"/>
              </a:ext>
            </a:extLst>
          </p:cNvPr>
          <p:cNvSpPr/>
          <p:nvPr/>
        </p:nvSpPr>
        <p:spPr bwMode="auto">
          <a:xfrm>
            <a:off x="19173" y="328099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99" name="Rectangle 98">
            <a:extLst>
              <a:ext uri="{FF2B5EF4-FFF2-40B4-BE49-F238E27FC236}">
                <a16:creationId xmlns:a16="http://schemas.microsoft.com/office/drawing/2014/main" id="{5D85D3D1-CC1C-847A-3DF6-6204C96FF5FE}"/>
              </a:ext>
            </a:extLst>
          </p:cNvPr>
          <p:cNvSpPr/>
          <p:nvPr/>
        </p:nvSpPr>
        <p:spPr>
          <a:xfrm>
            <a:off x="11704901" y="3325235"/>
            <a:ext cx="330539"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00" name="OTLSHAPE_T_e17f3958430f4cff8650518c93c7635e_StartDate">
            <a:extLst>
              <a:ext uri="{FF2B5EF4-FFF2-40B4-BE49-F238E27FC236}">
                <a16:creationId xmlns:a16="http://schemas.microsoft.com/office/drawing/2014/main" id="{178C2724-936D-4951-1250-DEFCE20085CA}"/>
              </a:ext>
            </a:extLst>
          </p:cNvPr>
          <p:cNvSpPr txBox="1"/>
          <p:nvPr>
            <p:custDataLst>
              <p:tags r:id="rId6"/>
            </p:custDataLst>
          </p:nvPr>
        </p:nvSpPr>
        <p:spPr>
          <a:xfrm>
            <a:off x="11548603" y="2964703"/>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Jan 2028</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01" name="Star: 4 Points 143">
            <a:extLst>
              <a:ext uri="{FF2B5EF4-FFF2-40B4-BE49-F238E27FC236}">
                <a16:creationId xmlns:a16="http://schemas.microsoft.com/office/drawing/2014/main" id="{0A498165-D4E0-2231-C8AF-F0850F55BCFC}"/>
              </a:ext>
            </a:extLst>
          </p:cNvPr>
          <p:cNvSpPr/>
          <p:nvPr/>
        </p:nvSpPr>
        <p:spPr bwMode="auto">
          <a:xfrm>
            <a:off x="11917537" y="324313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52" name="OTLSHAPE_T_e17f3958430f4cff8650518c93c7635e_Shape">
            <a:extLst>
              <a:ext uri="{FF2B5EF4-FFF2-40B4-BE49-F238E27FC236}">
                <a16:creationId xmlns:a16="http://schemas.microsoft.com/office/drawing/2014/main" id="{C0F3E777-91D7-C922-4F47-3A6686FC2972}"/>
              </a:ext>
            </a:extLst>
          </p:cNvPr>
          <p:cNvSpPr/>
          <p:nvPr>
            <p:custDataLst>
              <p:tags r:id="rId7"/>
            </p:custDataLst>
          </p:nvPr>
        </p:nvSpPr>
        <p:spPr bwMode="auto">
          <a:xfrm>
            <a:off x="918560" y="5103983"/>
            <a:ext cx="1974424" cy="256032"/>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a:ea typeface="等线" panose="02010600030101010101" pitchFamily="2" charset="-122"/>
                <a:cs typeface="Calibri"/>
              </a:rPr>
              <a:t>N=14</a:t>
            </a:r>
            <a:endParaRPr kumimoji="0" lang="en-US" altLang="zh-CN" sz="1067" b="1" i="0" u="none" strike="noStrike" kern="1200" cap="none" spc="0" normalizeH="0" baseline="0" noProof="0">
              <a:ln>
                <a:noFill/>
              </a:ln>
              <a:solidFill>
                <a:srgbClr val="C73635"/>
              </a:solidFill>
              <a:effectLst/>
              <a:uLnTx/>
              <a:uFillTx/>
              <a:latin typeface="Calibri"/>
              <a:ea typeface="等线" panose="02010600030101010101" pitchFamily="2" charset="-122"/>
              <a:cs typeface="Calibri"/>
            </a:endParaRPr>
          </a:p>
        </p:txBody>
      </p:sp>
      <p:sp>
        <p:nvSpPr>
          <p:cNvPr id="59" name="OTLSHAPE_T_e17f3958430f4cff8650518c93c7635e_StartDate">
            <a:extLst>
              <a:ext uri="{FF2B5EF4-FFF2-40B4-BE49-F238E27FC236}">
                <a16:creationId xmlns:a16="http://schemas.microsoft.com/office/drawing/2014/main" id="{0ADF20DD-630A-22AB-0544-3D3A60A53759}"/>
              </a:ext>
            </a:extLst>
          </p:cNvPr>
          <p:cNvSpPr txBox="1"/>
          <p:nvPr>
            <p:custDataLst>
              <p:tags r:id="rId8"/>
            </p:custDataLst>
          </p:nvPr>
        </p:nvSpPr>
        <p:spPr>
          <a:xfrm>
            <a:off x="372093" y="4986960"/>
            <a:ext cx="1135987"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Sep 2020</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60" name="Star: 4 Points 143">
            <a:extLst>
              <a:ext uri="{FF2B5EF4-FFF2-40B4-BE49-F238E27FC236}">
                <a16:creationId xmlns:a16="http://schemas.microsoft.com/office/drawing/2014/main" id="{AA3D5288-201F-9366-D59B-1366C1E12621}"/>
              </a:ext>
            </a:extLst>
          </p:cNvPr>
          <p:cNvSpPr/>
          <p:nvPr/>
        </p:nvSpPr>
        <p:spPr bwMode="auto">
          <a:xfrm>
            <a:off x="806433" y="524667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61" name="Rectangle 60">
            <a:extLst>
              <a:ext uri="{FF2B5EF4-FFF2-40B4-BE49-F238E27FC236}">
                <a16:creationId xmlns:a16="http://schemas.microsoft.com/office/drawing/2014/main" id="{1BEC21EF-B2AA-9761-8D2C-ED43D86D0AEA}"/>
              </a:ext>
            </a:extLst>
          </p:cNvPr>
          <p:cNvSpPr/>
          <p:nvPr/>
        </p:nvSpPr>
        <p:spPr>
          <a:xfrm>
            <a:off x="648345" y="5373175"/>
            <a:ext cx="445956"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a:t>
            </a:r>
            <a:r>
              <a:rPr kumimoji="0" lang="en-US" altLang="zh-CN" sz="800" b="1" i="0" u="none" strike="noStrike" kern="1200" cap="none" spc="0" normalizeH="0" baseline="3000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st</a:t>
            </a: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 SIV</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97" name="TextBox 96">
            <a:extLst>
              <a:ext uri="{FF2B5EF4-FFF2-40B4-BE49-F238E27FC236}">
                <a16:creationId xmlns:a16="http://schemas.microsoft.com/office/drawing/2014/main" id="{1FBB906F-E605-EE2C-3332-C383FEF0C4B5}"/>
              </a:ext>
            </a:extLst>
          </p:cNvPr>
          <p:cNvSpPr txBox="1"/>
          <p:nvPr/>
        </p:nvSpPr>
        <p:spPr>
          <a:xfrm>
            <a:off x="9534" y="5014979"/>
            <a:ext cx="644895" cy="328423"/>
          </a:xfrm>
          <a:prstGeom prst="rect">
            <a:avLst/>
          </a:prstGeom>
          <a:noFill/>
          <a:ln>
            <a:solidFill>
              <a:schemeClr val="accent1"/>
            </a:solidFill>
          </a:ln>
        </p:spPr>
        <p:txBody>
          <a:bodyPr wrap="square" lIns="0" tIns="0" rIns="0" bIns="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err="1">
                <a:ln>
                  <a:noFill/>
                </a:ln>
                <a:solidFill>
                  <a:srgbClr val="0066CC"/>
                </a:solidFill>
                <a:effectLst/>
                <a:uLnTx/>
                <a:uFillTx/>
                <a:latin typeface="Calibri" panose="020F0502020204030204" pitchFamily="34" charset="0"/>
                <a:ea typeface="+mn-ea"/>
                <a:cs typeface="Calibri" panose="020F0502020204030204" pitchFamily="34" charset="0"/>
              </a:rPr>
              <a:t>Ph2</a:t>
            </a: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 OLE-1368.25</a:t>
            </a:r>
          </a:p>
        </p:txBody>
      </p:sp>
      <p:sp>
        <p:nvSpPr>
          <p:cNvPr id="146" name="TextBox 145">
            <a:extLst>
              <a:ext uri="{FF2B5EF4-FFF2-40B4-BE49-F238E27FC236}">
                <a16:creationId xmlns:a16="http://schemas.microsoft.com/office/drawing/2014/main" id="{E3A2AC85-15A9-E190-B71C-1E098BD9A46E}"/>
              </a:ext>
            </a:extLst>
          </p:cNvPr>
          <p:cNvSpPr txBox="1"/>
          <p:nvPr/>
        </p:nvSpPr>
        <p:spPr>
          <a:xfrm>
            <a:off x="11020" y="3067587"/>
            <a:ext cx="628501" cy="328423"/>
          </a:xfrm>
          <a:prstGeom prst="rect">
            <a:avLst/>
          </a:prstGeom>
          <a:noFill/>
          <a:ln>
            <a:solidFill>
              <a:schemeClr val="accent1"/>
            </a:solidFill>
          </a:ln>
        </p:spPr>
        <p:txBody>
          <a:bodyPr wrap="square" lIns="0" tIns="0" rIns="0" bIns="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 OLE-1368.25</a:t>
            </a:r>
          </a:p>
        </p:txBody>
      </p:sp>
      <p:cxnSp>
        <p:nvCxnSpPr>
          <p:cNvPr id="148" name="Straight Connector 147">
            <a:extLst>
              <a:ext uri="{FF2B5EF4-FFF2-40B4-BE49-F238E27FC236}">
                <a16:creationId xmlns:a16="http://schemas.microsoft.com/office/drawing/2014/main" id="{5D6DD005-C3D3-1221-2890-6F24219DBB49}"/>
              </a:ext>
            </a:extLst>
          </p:cNvPr>
          <p:cNvCxnSpPr>
            <a:cxnSpLocks/>
          </p:cNvCxnSpPr>
          <p:nvPr/>
        </p:nvCxnSpPr>
        <p:spPr bwMode="auto">
          <a:xfrm flipH="1">
            <a:off x="41887" y="4018955"/>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 name="Isosceles Triangle 1">
            <a:extLst>
              <a:ext uri="{FF2B5EF4-FFF2-40B4-BE49-F238E27FC236}">
                <a16:creationId xmlns:a16="http://schemas.microsoft.com/office/drawing/2014/main" id="{DCD6C6D3-D11A-160D-AE4D-07DE03C26A28}"/>
              </a:ext>
            </a:extLst>
          </p:cNvPr>
          <p:cNvSpPr/>
          <p:nvPr/>
        </p:nvSpPr>
        <p:spPr>
          <a:xfrm rot="16200000" flipH="1">
            <a:off x="-200989" y="1669650"/>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29" name="Isosceles Triangle 128">
            <a:extLst>
              <a:ext uri="{FF2B5EF4-FFF2-40B4-BE49-F238E27FC236}">
                <a16:creationId xmlns:a16="http://schemas.microsoft.com/office/drawing/2014/main" id="{3D2F878D-F849-C806-1B4E-D81DC77310F6}"/>
              </a:ext>
            </a:extLst>
          </p:cNvPr>
          <p:cNvSpPr/>
          <p:nvPr/>
        </p:nvSpPr>
        <p:spPr>
          <a:xfrm rot="5400000">
            <a:off x="11736950" y="1676414"/>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19" name="OTLSHAPE_T_5a934a26f311425e8ebaa0f45e6533ad_Shape">
            <a:extLst>
              <a:ext uri="{FF2B5EF4-FFF2-40B4-BE49-F238E27FC236}">
                <a16:creationId xmlns:a16="http://schemas.microsoft.com/office/drawing/2014/main" id="{2A519C0F-CFF1-36B3-99C5-3390BC5549F6}"/>
              </a:ext>
            </a:extLst>
          </p:cNvPr>
          <p:cNvSpPr/>
          <p:nvPr>
            <p:custDataLst>
              <p:tags r:id="rId9"/>
            </p:custDataLst>
          </p:nvPr>
        </p:nvSpPr>
        <p:spPr bwMode="auto">
          <a:xfrm>
            <a:off x="2901822" y="5118260"/>
            <a:ext cx="9087367" cy="25603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120" name="Rectangle 119">
            <a:extLst>
              <a:ext uri="{FF2B5EF4-FFF2-40B4-BE49-F238E27FC236}">
                <a16:creationId xmlns:a16="http://schemas.microsoft.com/office/drawing/2014/main" id="{AE2891FD-8C4C-BB70-7FD0-1D6398416F22}"/>
              </a:ext>
            </a:extLst>
          </p:cNvPr>
          <p:cNvSpPr/>
          <p:nvPr/>
        </p:nvSpPr>
        <p:spPr>
          <a:xfrm>
            <a:off x="2720669" y="5373175"/>
            <a:ext cx="324127"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21" name="OTLSHAPE_T_e17f3958430f4cff8650518c93c7635e_StartDate">
            <a:extLst>
              <a:ext uri="{FF2B5EF4-FFF2-40B4-BE49-F238E27FC236}">
                <a16:creationId xmlns:a16="http://schemas.microsoft.com/office/drawing/2014/main" id="{EBC6DEB0-00D3-D3B8-3CF4-95DF0C6CB30A}"/>
              </a:ext>
            </a:extLst>
          </p:cNvPr>
          <p:cNvSpPr txBox="1"/>
          <p:nvPr>
            <p:custDataLst>
              <p:tags r:id="rId10"/>
            </p:custDataLst>
          </p:nvPr>
        </p:nvSpPr>
        <p:spPr>
          <a:xfrm>
            <a:off x="2517514" y="4986960"/>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Oct 2022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22" name="Star: 4 Points 143">
            <a:extLst>
              <a:ext uri="{FF2B5EF4-FFF2-40B4-BE49-F238E27FC236}">
                <a16:creationId xmlns:a16="http://schemas.microsoft.com/office/drawing/2014/main" id="{0E5F4F53-DA8B-1566-8465-119659E27EE5}"/>
              </a:ext>
            </a:extLst>
          </p:cNvPr>
          <p:cNvSpPr/>
          <p:nvPr/>
        </p:nvSpPr>
        <p:spPr bwMode="auto">
          <a:xfrm>
            <a:off x="2792081" y="524667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37" name="Rectangle 136">
            <a:extLst>
              <a:ext uri="{FF2B5EF4-FFF2-40B4-BE49-F238E27FC236}">
                <a16:creationId xmlns:a16="http://schemas.microsoft.com/office/drawing/2014/main" id="{A3B0547F-E713-D86C-5F29-5D315F024C4E}"/>
              </a:ext>
            </a:extLst>
          </p:cNvPr>
          <p:cNvSpPr/>
          <p:nvPr/>
        </p:nvSpPr>
        <p:spPr>
          <a:xfrm>
            <a:off x="11779719" y="5373175"/>
            <a:ext cx="330539"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42" name="Star: 4 Points 143">
            <a:extLst>
              <a:ext uri="{FF2B5EF4-FFF2-40B4-BE49-F238E27FC236}">
                <a16:creationId xmlns:a16="http://schemas.microsoft.com/office/drawing/2014/main" id="{296216C5-96C9-BD97-4BE9-6772C292AA71}"/>
              </a:ext>
            </a:extLst>
          </p:cNvPr>
          <p:cNvSpPr/>
          <p:nvPr/>
        </p:nvSpPr>
        <p:spPr bwMode="auto">
          <a:xfrm>
            <a:off x="11892081" y="524667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pic>
        <p:nvPicPr>
          <p:cNvPr id="8" name="Picture 7">
            <a:extLst>
              <a:ext uri="{FF2B5EF4-FFF2-40B4-BE49-F238E27FC236}">
                <a16:creationId xmlns:a16="http://schemas.microsoft.com/office/drawing/2014/main" id="{59DF7034-C55C-E96B-FFBE-9CA59A58C4A3}"/>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5203" y="2078934"/>
            <a:ext cx="772155" cy="380561"/>
          </a:xfrm>
          <a:prstGeom prst="rect">
            <a:avLst/>
          </a:prstGeom>
        </p:spPr>
      </p:pic>
      <p:pic>
        <p:nvPicPr>
          <p:cNvPr id="9" name="Picture 8">
            <a:extLst>
              <a:ext uri="{FF2B5EF4-FFF2-40B4-BE49-F238E27FC236}">
                <a16:creationId xmlns:a16="http://schemas.microsoft.com/office/drawing/2014/main" id="{FF4C864E-2AE9-ED05-F084-2F8A3D46AAC2}"/>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77864" y="4013793"/>
            <a:ext cx="763575" cy="376332"/>
          </a:xfrm>
          <a:prstGeom prst="rect">
            <a:avLst/>
          </a:prstGeom>
        </p:spPr>
      </p:pic>
      <p:sp>
        <p:nvSpPr>
          <p:cNvPr id="141" name="OTLSHAPE_T_e17f3958430f4cff8650518c93c7635e_StartDate">
            <a:extLst>
              <a:ext uri="{FF2B5EF4-FFF2-40B4-BE49-F238E27FC236}">
                <a16:creationId xmlns:a16="http://schemas.microsoft.com/office/drawing/2014/main" id="{B97AEE19-6FB3-FAE6-4BA7-957186E75D6E}"/>
              </a:ext>
            </a:extLst>
          </p:cNvPr>
          <p:cNvSpPr txBox="1"/>
          <p:nvPr>
            <p:custDataLst>
              <p:tags r:id="rId11"/>
            </p:custDataLst>
          </p:nvPr>
        </p:nvSpPr>
        <p:spPr>
          <a:xfrm>
            <a:off x="11560626" y="4986960"/>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Dec 2027</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74" name="TextBox 173">
            <a:extLst>
              <a:ext uri="{FF2B5EF4-FFF2-40B4-BE49-F238E27FC236}">
                <a16:creationId xmlns:a16="http://schemas.microsoft.com/office/drawing/2014/main" id="{6E1B8E5D-5227-CE61-7759-E801BCC93B76}"/>
              </a:ext>
            </a:extLst>
          </p:cNvPr>
          <p:cNvSpPr txBox="1"/>
          <p:nvPr/>
        </p:nvSpPr>
        <p:spPr>
          <a:xfrm>
            <a:off x="11025" y="2532710"/>
            <a:ext cx="619207" cy="328423"/>
          </a:xfrm>
          <a:prstGeom prst="rect">
            <a:avLst/>
          </a:prstGeom>
          <a:noFill/>
          <a:ln>
            <a:solidFill>
              <a:schemeClr val="accent1"/>
            </a:solidFill>
          </a:ln>
        </p:spPr>
        <p:txBody>
          <a:bodyPr wrap="square" lIns="0" tIns="0" rIns="0" bIns="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Ph3b/4-1368.120</a:t>
            </a:r>
          </a:p>
        </p:txBody>
      </p:sp>
      <p:grpSp>
        <p:nvGrpSpPr>
          <p:cNvPr id="155" name="Group 154">
            <a:extLst>
              <a:ext uri="{FF2B5EF4-FFF2-40B4-BE49-F238E27FC236}">
                <a16:creationId xmlns:a16="http://schemas.microsoft.com/office/drawing/2014/main" id="{BE7D4479-2691-EBF6-2704-008996FADD8D}"/>
              </a:ext>
            </a:extLst>
          </p:cNvPr>
          <p:cNvGrpSpPr/>
          <p:nvPr/>
        </p:nvGrpSpPr>
        <p:grpSpPr>
          <a:xfrm>
            <a:off x="8551278" y="1784139"/>
            <a:ext cx="756000" cy="3912905"/>
            <a:chOff x="1707680" y="1331220"/>
            <a:chExt cx="756000" cy="3774973"/>
          </a:xfrm>
        </p:grpSpPr>
        <p:cxnSp>
          <p:nvCxnSpPr>
            <p:cNvPr id="156" name="Straight Connector 155">
              <a:extLst>
                <a:ext uri="{FF2B5EF4-FFF2-40B4-BE49-F238E27FC236}">
                  <a16:creationId xmlns:a16="http://schemas.microsoft.com/office/drawing/2014/main" id="{93FE797F-72C7-97D6-C33A-9A1B5E7DDEFE}"/>
                </a:ext>
              </a:extLst>
            </p:cNvPr>
            <p:cNvCxnSpPr>
              <a:cxnSpLocks/>
            </p:cNvCxnSpPr>
            <p:nvPr/>
          </p:nvCxnSpPr>
          <p:spPr bwMode="auto">
            <a:xfrm flipV="1">
              <a:off x="2085680" y="1331220"/>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66" name="OTLSHAPE_T_e17f3958430f4cff8650518c93c7635e_StartDate">
              <a:extLst>
                <a:ext uri="{FF2B5EF4-FFF2-40B4-BE49-F238E27FC236}">
                  <a16:creationId xmlns:a16="http://schemas.microsoft.com/office/drawing/2014/main" id="{48B7ADA3-D71D-E292-568F-8E175F3C4241}"/>
                </a:ext>
              </a:extLst>
            </p:cNvPr>
            <p:cNvSpPr txBox="1"/>
            <p:nvPr>
              <p:custDataLst>
                <p:tags r:id="rId22"/>
              </p:custDataLst>
            </p:nvPr>
          </p:nvSpPr>
          <p:spPr>
            <a:xfrm>
              <a:off x="1707680" y="1569029"/>
              <a:ext cx="756000" cy="246317"/>
            </a:xfrm>
            <a:prstGeom prst="rect">
              <a:avLst/>
            </a:prstGeom>
            <a:noFill/>
            <a:ln w="12700">
              <a:noFill/>
            </a:ln>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等线" panose="02010600030101010101" pitchFamily="2" charset="-122"/>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sp>
        <p:nvSpPr>
          <p:cNvPr id="160" name="五角星 55">
            <a:extLst>
              <a:ext uri="{FF2B5EF4-FFF2-40B4-BE49-F238E27FC236}">
                <a16:creationId xmlns:a16="http://schemas.microsoft.com/office/drawing/2014/main" id="{C008DE50-AEFD-EBFC-DFA4-628DFF4D2838}"/>
              </a:ext>
            </a:extLst>
          </p:cNvPr>
          <p:cNvSpPr>
            <a:spLocks noChangeAspect="1"/>
          </p:cNvSpPr>
          <p:nvPr/>
        </p:nvSpPr>
        <p:spPr bwMode="auto">
          <a:xfrm>
            <a:off x="2725716" y="2711703"/>
            <a:ext cx="203981" cy="179684"/>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05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等线" panose="02010600030101010101" pitchFamily="2" charset="-122"/>
              <a:cs typeface="+mn-cs"/>
            </a:endParaRPr>
          </a:p>
        </p:txBody>
      </p:sp>
      <p:sp>
        <p:nvSpPr>
          <p:cNvPr id="161" name="Rectangle 160">
            <a:extLst>
              <a:ext uri="{FF2B5EF4-FFF2-40B4-BE49-F238E27FC236}">
                <a16:creationId xmlns:a16="http://schemas.microsoft.com/office/drawing/2014/main" id="{8477A166-06CA-7F0F-F095-C0F2AC02F3DC}"/>
              </a:ext>
            </a:extLst>
          </p:cNvPr>
          <p:cNvSpPr/>
          <p:nvPr/>
        </p:nvSpPr>
        <p:spPr>
          <a:xfrm>
            <a:off x="2058975" y="2323576"/>
            <a:ext cx="1508746" cy="400110"/>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NDA App (US)</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 for GPP Flare  Sep 2022  </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10" name="OTLSHAPE_T_e17f3958430f4cff8650518c93c7635e_Shape">
            <a:extLst>
              <a:ext uri="{FF2B5EF4-FFF2-40B4-BE49-F238E27FC236}">
                <a16:creationId xmlns:a16="http://schemas.microsoft.com/office/drawing/2014/main" id="{75F803DA-3EE6-16BB-1DCA-BBB8F75BB3D3}"/>
              </a:ext>
            </a:extLst>
          </p:cNvPr>
          <p:cNvSpPr/>
          <p:nvPr>
            <p:custDataLst>
              <p:tags r:id="rId12"/>
            </p:custDataLst>
          </p:nvPr>
        </p:nvSpPr>
        <p:spPr bwMode="auto">
          <a:xfrm>
            <a:off x="4703857" y="2569403"/>
            <a:ext cx="1368000" cy="256032"/>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recruitment</a:t>
            </a:r>
            <a:r>
              <a:rPr kumimoji="0" lang="zh-CN" altLang="en-US" sz="1067"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 </a:t>
            </a: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(N=40)</a:t>
            </a:r>
          </a:p>
        </p:txBody>
      </p:sp>
      <p:sp>
        <p:nvSpPr>
          <p:cNvPr id="211" name="OTLSHAPE_T_e17f3958430f4cff8650518c93c7635e_StartDate">
            <a:extLst>
              <a:ext uri="{FF2B5EF4-FFF2-40B4-BE49-F238E27FC236}">
                <a16:creationId xmlns:a16="http://schemas.microsoft.com/office/drawing/2014/main" id="{575CAE4B-8E7F-C472-142B-E04E8175F686}"/>
              </a:ext>
            </a:extLst>
          </p:cNvPr>
          <p:cNvSpPr txBox="1"/>
          <p:nvPr>
            <p:custDataLst>
              <p:tags r:id="rId13"/>
            </p:custDataLst>
          </p:nvPr>
        </p:nvSpPr>
        <p:spPr>
          <a:xfrm>
            <a:off x="4261329" y="2404780"/>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8312A"/>
                </a:solidFill>
                <a:effectLst/>
                <a:uLnTx/>
                <a:uFillTx/>
                <a:latin typeface="Calibri" panose="020F0502020204030204" pitchFamily="34" charset="0"/>
                <a:ea typeface="等线" panose="02010600030101010101" pitchFamily="2" charset="-122"/>
                <a:cs typeface="Calibri" panose="020F0502020204030204" pitchFamily="34" charset="0"/>
              </a:rPr>
              <a:t>Oct 2023</a:t>
            </a:r>
            <a:endParaRPr kumimoji="0" lang="zh-CN" altLang="en-US" sz="800" b="1" i="0" u="none" strike="noStrike" kern="1200" cap="none" spc="0" normalizeH="0" baseline="0" noProof="0">
              <a:ln>
                <a:noFill/>
              </a:ln>
              <a:solidFill>
                <a:srgbClr val="08312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14" name="Star: 4 Points 143">
            <a:extLst>
              <a:ext uri="{FF2B5EF4-FFF2-40B4-BE49-F238E27FC236}">
                <a16:creationId xmlns:a16="http://schemas.microsoft.com/office/drawing/2014/main" id="{5EF9C34D-D457-68A2-9AB3-830E920A123B}"/>
              </a:ext>
            </a:extLst>
          </p:cNvPr>
          <p:cNvSpPr/>
          <p:nvPr/>
        </p:nvSpPr>
        <p:spPr bwMode="auto">
          <a:xfrm>
            <a:off x="4605425" y="270764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15" name="Rectangle 214">
            <a:extLst>
              <a:ext uri="{FF2B5EF4-FFF2-40B4-BE49-F238E27FC236}">
                <a16:creationId xmlns:a16="http://schemas.microsoft.com/office/drawing/2014/main" id="{ABFC31A7-464E-B64A-4A23-D483BE8F5410}"/>
              </a:ext>
            </a:extLst>
          </p:cNvPr>
          <p:cNvSpPr/>
          <p:nvPr/>
        </p:nvSpPr>
        <p:spPr>
          <a:xfrm>
            <a:off x="4536767" y="2828209"/>
            <a:ext cx="327333"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16" name="Rectangle 215">
            <a:extLst>
              <a:ext uri="{FF2B5EF4-FFF2-40B4-BE49-F238E27FC236}">
                <a16:creationId xmlns:a16="http://schemas.microsoft.com/office/drawing/2014/main" id="{0809AE6C-5B94-9125-A07E-FC6753858C0F}"/>
              </a:ext>
            </a:extLst>
          </p:cNvPr>
          <p:cNvSpPr/>
          <p:nvPr/>
        </p:nvSpPr>
        <p:spPr>
          <a:xfrm>
            <a:off x="5882285" y="2798144"/>
            <a:ext cx="324127"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17" name="Star: 4 Points 143">
            <a:extLst>
              <a:ext uri="{FF2B5EF4-FFF2-40B4-BE49-F238E27FC236}">
                <a16:creationId xmlns:a16="http://schemas.microsoft.com/office/drawing/2014/main" id="{3A94AE54-4E05-E3E5-2D17-57ED01E452BD}"/>
              </a:ext>
            </a:extLst>
          </p:cNvPr>
          <p:cNvSpPr/>
          <p:nvPr/>
        </p:nvSpPr>
        <p:spPr bwMode="auto">
          <a:xfrm>
            <a:off x="5985621" y="270764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18" name="OTLSHAPE_T_e17f3958430f4cff8650518c93c7635e_StartDate">
            <a:extLst>
              <a:ext uri="{FF2B5EF4-FFF2-40B4-BE49-F238E27FC236}">
                <a16:creationId xmlns:a16="http://schemas.microsoft.com/office/drawing/2014/main" id="{1BCEBB37-26B8-141C-4C73-A9815F233009}"/>
              </a:ext>
            </a:extLst>
          </p:cNvPr>
          <p:cNvSpPr txBox="1"/>
          <p:nvPr>
            <p:custDataLst>
              <p:tags r:id="rId14"/>
            </p:custDataLst>
          </p:nvPr>
        </p:nvSpPr>
        <p:spPr>
          <a:xfrm>
            <a:off x="5688410" y="2404780"/>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Jun 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20" name="Star: 4 Points 143">
            <a:extLst>
              <a:ext uri="{FF2B5EF4-FFF2-40B4-BE49-F238E27FC236}">
                <a16:creationId xmlns:a16="http://schemas.microsoft.com/office/drawing/2014/main" id="{9DE6A65A-0FF3-29BA-028B-E3E3D033A241}"/>
              </a:ext>
            </a:extLst>
          </p:cNvPr>
          <p:cNvSpPr/>
          <p:nvPr/>
        </p:nvSpPr>
        <p:spPr bwMode="auto">
          <a:xfrm>
            <a:off x="10731207" y="270764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21" name="Rectangle 220">
            <a:extLst>
              <a:ext uri="{FF2B5EF4-FFF2-40B4-BE49-F238E27FC236}">
                <a16:creationId xmlns:a16="http://schemas.microsoft.com/office/drawing/2014/main" id="{07486EF1-6858-6AD8-F0C1-D350EE43BAB7}"/>
              </a:ext>
            </a:extLst>
          </p:cNvPr>
          <p:cNvSpPr/>
          <p:nvPr/>
        </p:nvSpPr>
        <p:spPr>
          <a:xfrm>
            <a:off x="10651695" y="2792075"/>
            <a:ext cx="330539"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22" name="OTLSHAPE_T_e17f3958430f4cff8650518c93c7635e_StartDate">
            <a:extLst>
              <a:ext uri="{FF2B5EF4-FFF2-40B4-BE49-F238E27FC236}">
                <a16:creationId xmlns:a16="http://schemas.microsoft.com/office/drawing/2014/main" id="{DE453432-A999-3C43-02A2-5F38F36CCAF1}"/>
              </a:ext>
            </a:extLst>
          </p:cNvPr>
          <p:cNvSpPr txBox="1"/>
          <p:nvPr>
            <p:custDataLst>
              <p:tags r:id="rId15"/>
            </p:custDataLst>
          </p:nvPr>
        </p:nvSpPr>
        <p:spPr>
          <a:xfrm>
            <a:off x="10474684" y="2404780"/>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Nov 2026</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51" name="OTLSHAPE_T_e17f3958430f4cff8650518c93c7635e_Shape">
            <a:extLst>
              <a:ext uri="{FF2B5EF4-FFF2-40B4-BE49-F238E27FC236}">
                <a16:creationId xmlns:a16="http://schemas.microsoft.com/office/drawing/2014/main" id="{B5CAF492-A807-2055-C836-7D47160BE43E}"/>
              </a:ext>
            </a:extLst>
          </p:cNvPr>
          <p:cNvSpPr/>
          <p:nvPr>
            <p:custDataLst>
              <p:tags r:id="rId16"/>
            </p:custDataLst>
          </p:nvPr>
        </p:nvSpPr>
        <p:spPr bwMode="auto">
          <a:xfrm>
            <a:off x="4943951" y="4560147"/>
            <a:ext cx="1152000" cy="256032"/>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China Mainland: N=5 TW: N=2</a:t>
            </a:r>
          </a:p>
        </p:txBody>
      </p:sp>
      <p:sp>
        <p:nvSpPr>
          <p:cNvPr id="259" name="OTLSHAPE_T_e17f3958430f4cff8650518c93c7635e_StartDate">
            <a:extLst>
              <a:ext uri="{FF2B5EF4-FFF2-40B4-BE49-F238E27FC236}">
                <a16:creationId xmlns:a16="http://schemas.microsoft.com/office/drawing/2014/main" id="{16DFCD66-B187-520F-BD8B-04BD5EBCB16B}"/>
              </a:ext>
            </a:extLst>
          </p:cNvPr>
          <p:cNvSpPr txBox="1"/>
          <p:nvPr>
            <p:custDataLst>
              <p:tags r:id="rId17"/>
            </p:custDataLst>
          </p:nvPr>
        </p:nvSpPr>
        <p:spPr>
          <a:xfrm>
            <a:off x="4342453" y="4402679"/>
            <a:ext cx="1197912"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16Oct2023</a:t>
            </a: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60" name="Star: 4 Points 143">
            <a:extLst>
              <a:ext uri="{FF2B5EF4-FFF2-40B4-BE49-F238E27FC236}">
                <a16:creationId xmlns:a16="http://schemas.microsoft.com/office/drawing/2014/main" id="{123C7C56-159C-47E1-2FB3-31296BDDB6DE}"/>
              </a:ext>
            </a:extLst>
          </p:cNvPr>
          <p:cNvSpPr/>
          <p:nvPr/>
        </p:nvSpPr>
        <p:spPr bwMode="auto">
          <a:xfrm>
            <a:off x="4849289" y="470677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61" name="Rectangle 260">
            <a:extLst>
              <a:ext uri="{FF2B5EF4-FFF2-40B4-BE49-F238E27FC236}">
                <a16:creationId xmlns:a16="http://schemas.microsoft.com/office/drawing/2014/main" id="{6B1A5C42-E1E7-907F-2FF1-0464DFF0D9A5}"/>
              </a:ext>
            </a:extLst>
          </p:cNvPr>
          <p:cNvSpPr/>
          <p:nvPr/>
        </p:nvSpPr>
        <p:spPr>
          <a:xfrm>
            <a:off x="4657067" y="4819539"/>
            <a:ext cx="445956"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a:t>
            </a:r>
            <a:r>
              <a:rPr kumimoji="0" lang="en-US" altLang="zh-CN" sz="800" b="1" i="0" u="none" strike="noStrike" kern="1200" cap="none" spc="0" normalizeH="0" baseline="3000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st</a:t>
            </a: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 SIV</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62" name="Rectangle 261">
            <a:extLst>
              <a:ext uri="{FF2B5EF4-FFF2-40B4-BE49-F238E27FC236}">
                <a16:creationId xmlns:a16="http://schemas.microsoft.com/office/drawing/2014/main" id="{769C84A5-AF06-992E-256E-B2D1E6D2E2F1}"/>
              </a:ext>
            </a:extLst>
          </p:cNvPr>
          <p:cNvSpPr/>
          <p:nvPr/>
        </p:nvSpPr>
        <p:spPr>
          <a:xfrm>
            <a:off x="5937696" y="4819539"/>
            <a:ext cx="324127"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63" name="Star: 4 Points 143">
            <a:extLst>
              <a:ext uri="{FF2B5EF4-FFF2-40B4-BE49-F238E27FC236}">
                <a16:creationId xmlns:a16="http://schemas.microsoft.com/office/drawing/2014/main" id="{C1B01E48-5FF3-8329-1885-9761B1F3D34E}"/>
              </a:ext>
            </a:extLst>
          </p:cNvPr>
          <p:cNvSpPr/>
          <p:nvPr/>
        </p:nvSpPr>
        <p:spPr bwMode="auto">
          <a:xfrm>
            <a:off x="5989127" y="46981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64" name="OTLSHAPE_T_e17f3958430f4cff8650518c93c7635e_StartDate">
            <a:extLst>
              <a:ext uri="{FF2B5EF4-FFF2-40B4-BE49-F238E27FC236}">
                <a16:creationId xmlns:a16="http://schemas.microsoft.com/office/drawing/2014/main" id="{ED181E24-A737-9702-9853-1EE39E7B0345}"/>
              </a:ext>
            </a:extLst>
          </p:cNvPr>
          <p:cNvSpPr txBox="1"/>
          <p:nvPr>
            <p:custDataLst>
              <p:tags r:id="rId18"/>
            </p:custDataLst>
          </p:nvPr>
        </p:nvSpPr>
        <p:spPr>
          <a:xfrm>
            <a:off x="5805127" y="4374956"/>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Jun 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68" name="TextBox 267">
            <a:extLst>
              <a:ext uri="{FF2B5EF4-FFF2-40B4-BE49-F238E27FC236}">
                <a16:creationId xmlns:a16="http://schemas.microsoft.com/office/drawing/2014/main" id="{A5058E4F-0A7F-A510-F26E-9EE41B47B87A}"/>
              </a:ext>
            </a:extLst>
          </p:cNvPr>
          <p:cNvSpPr txBox="1"/>
          <p:nvPr/>
        </p:nvSpPr>
        <p:spPr>
          <a:xfrm>
            <a:off x="19177" y="4505270"/>
            <a:ext cx="619207" cy="328423"/>
          </a:xfrm>
          <a:prstGeom prst="rect">
            <a:avLst/>
          </a:prstGeom>
          <a:noFill/>
          <a:ln>
            <a:solidFill>
              <a:schemeClr val="accent1"/>
            </a:solidFill>
          </a:ln>
        </p:spPr>
        <p:txBody>
          <a:bodyPr wrap="square" lIns="0" tIns="0" rIns="0" bIns="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Ph3b/4-1368.120</a:t>
            </a:r>
          </a:p>
        </p:txBody>
      </p:sp>
      <p:sp>
        <p:nvSpPr>
          <p:cNvPr id="269" name="五角星 55">
            <a:extLst>
              <a:ext uri="{FF2B5EF4-FFF2-40B4-BE49-F238E27FC236}">
                <a16:creationId xmlns:a16="http://schemas.microsoft.com/office/drawing/2014/main" id="{9FC593F6-D760-D8E9-D777-C18411EC3F79}"/>
              </a:ext>
            </a:extLst>
          </p:cNvPr>
          <p:cNvSpPr>
            <a:spLocks noChangeAspect="1"/>
          </p:cNvSpPr>
          <p:nvPr/>
        </p:nvSpPr>
        <p:spPr bwMode="auto">
          <a:xfrm>
            <a:off x="2979368" y="4535743"/>
            <a:ext cx="203981" cy="179684"/>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05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等线" panose="02010600030101010101" pitchFamily="2" charset="-122"/>
              <a:cs typeface="+mn-cs"/>
            </a:endParaRPr>
          </a:p>
        </p:txBody>
      </p:sp>
      <p:sp>
        <p:nvSpPr>
          <p:cNvPr id="270" name="Rectangle 269">
            <a:extLst>
              <a:ext uri="{FF2B5EF4-FFF2-40B4-BE49-F238E27FC236}">
                <a16:creationId xmlns:a16="http://schemas.microsoft.com/office/drawing/2014/main" id="{BF80B8B2-9D07-D26D-50EC-93CCAB066740}"/>
              </a:ext>
            </a:extLst>
          </p:cNvPr>
          <p:cNvSpPr/>
          <p:nvPr/>
        </p:nvSpPr>
        <p:spPr>
          <a:xfrm>
            <a:off x="1394757" y="4366760"/>
            <a:ext cx="2129203" cy="523028"/>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NDA App for GPP Flare</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CN ML: </a:t>
            </a:r>
            <a:r>
              <a:rPr kumimoji="0" lang="en-US" altLang="zh-CN" sz="933" b="1" i="0" u="none" strike="noStrike" kern="1200" cap="none" spc="0" normalizeH="0" baseline="0" noProof="0" err="1">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13Dec2022</a:t>
            </a:r>
            <a:endPar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TW: </a:t>
            </a:r>
            <a:r>
              <a:rPr kumimoji="0" lang="en-US" altLang="zh-CN" sz="933" b="1" i="0" u="none" strike="noStrike" kern="1200" cap="none" spc="0" normalizeH="0" baseline="0" noProof="0" err="1">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6Jan2023</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71" name="OTLSHAPE_T_e17f3958430f4cff8650518c93c7635e_Shape">
            <a:extLst>
              <a:ext uri="{FF2B5EF4-FFF2-40B4-BE49-F238E27FC236}">
                <a16:creationId xmlns:a16="http://schemas.microsoft.com/office/drawing/2014/main" id="{04B3BE4C-6D3C-03DF-FA38-AEA73AB58636}"/>
              </a:ext>
            </a:extLst>
          </p:cNvPr>
          <p:cNvSpPr/>
          <p:nvPr>
            <p:custDataLst>
              <p:tags r:id="rId19"/>
            </p:custDataLst>
          </p:nvPr>
        </p:nvSpPr>
        <p:spPr bwMode="auto">
          <a:xfrm>
            <a:off x="4055929" y="4551668"/>
            <a:ext cx="888019" cy="246889"/>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EC + </a:t>
            </a:r>
            <a:r>
              <a:rPr kumimoji="0" lang="en-US" altLang="zh-CN" sz="933" b="1" i="0" u="none" strike="noStrike" kern="1200" cap="none" spc="0" normalizeH="0" baseline="0" noProof="0" err="1">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HGRAC</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 + 1</a:t>
            </a:r>
            <a:r>
              <a:rPr kumimoji="0" lang="en-US" altLang="zh-CN" sz="933" b="1" i="0" u="none" strike="noStrike" kern="1200" cap="none" spc="0" normalizeH="0" baseline="3000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st</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 SIV </a:t>
            </a:r>
            <a:endParaRPr kumimoji="0" lang="zh-CN" altLang="en-US" sz="933"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7" name="OTLSHAPE_T_e17f3958430f4cff8650518c93c7635e_StartDate">
            <a:extLst>
              <a:ext uri="{FF2B5EF4-FFF2-40B4-BE49-F238E27FC236}">
                <a16:creationId xmlns:a16="http://schemas.microsoft.com/office/drawing/2014/main" id="{9D447218-00A0-C7AA-187E-05BA5CB7DBF7}"/>
              </a:ext>
            </a:extLst>
          </p:cNvPr>
          <p:cNvSpPr txBox="1"/>
          <p:nvPr>
            <p:custDataLst>
              <p:tags r:id="rId20"/>
            </p:custDataLst>
          </p:nvPr>
        </p:nvSpPr>
        <p:spPr>
          <a:xfrm>
            <a:off x="3764865" y="4374956"/>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Jun 2023</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5" name="TextBox 4">
            <a:extLst>
              <a:ext uri="{FF2B5EF4-FFF2-40B4-BE49-F238E27FC236}">
                <a16:creationId xmlns:a16="http://schemas.microsoft.com/office/drawing/2014/main" id="{0FDDF12F-ADAB-B629-0029-F73BD9999D4C}"/>
              </a:ext>
            </a:extLst>
          </p:cNvPr>
          <p:cNvSpPr txBox="1"/>
          <p:nvPr/>
        </p:nvSpPr>
        <p:spPr>
          <a:xfrm>
            <a:off x="10553190" y="5697044"/>
            <a:ext cx="1258892" cy="636008"/>
          </a:xfrm>
          <a:prstGeom prst="rect">
            <a:avLst/>
          </a:prstGeom>
          <a:noFill/>
        </p:spPr>
        <p:txBody>
          <a:bodyPr wrap="square" lIns="0" tIns="0" rIns="0" bIns="0" rtlCol="0">
            <a:spAutoFit/>
          </a:bodyPr>
          <a:lstStyle/>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FSS: First subject screening</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LSS: Last subject screening</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LSC: Last subject complete</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LSR: Last subject randomization</a:t>
            </a:r>
            <a:endParaRPr kumimoji="0" lang="zh-CN" altLang="en-US"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endParaRP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zh-CN" altLang="en-US" sz="933"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endParaRPr>
          </a:p>
        </p:txBody>
      </p:sp>
      <p:sp>
        <p:nvSpPr>
          <p:cNvPr id="10" name="TextBox 9">
            <a:extLst>
              <a:ext uri="{FF2B5EF4-FFF2-40B4-BE49-F238E27FC236}">
                <a16:creationId xmlns:a16="http://schemas.microsoft.com/office/drawing/2014/main" id="{DF498D13-18D9-2422-4A53-20F961244550}"/>
              </a:ext>
            </a:extLst>
          </p:cNvPr>
          <p:cNvSpPr txBox="1"/>
          <p:nvPr/>
        </p:nvSpPr>
        <p:spPr>
          <a:xfrm>
            <a:off x="10553190" y="6304537"/>
            <a:ext cx="1258892" cy="512897"/>
          </a:xfrm>
          <a:prstGeom prst="rect">
            <a:avLst/>
          </a:prstGeom>
          <a:noFill/>
        </p:spPr>
        <p:txBody>
          <a:bodyPr wrap="square" lIns="0" tIns="0" rIns="0" bIns="0" rtlCol="0">
            <a:spAutoFit/>
          </a:bodyPr>
          <a:lstStyle/>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CN ML: China mainland</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TW: Taiwan</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SF:</a:t>
            </a:r>
            <a:r>
              <a:rPr kumimoji="0" lang="zh-CN" altLang="en-US"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 </a:t>
            </a: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Screen failure</a:t>
            </a:r>
            <a:endParaRPr kumimoji="0" lang="zh-CN" altLang="en-US"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endParaRP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zh-CN" altLang="en-US" sz="933"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endParaRPr>
          </a:p>
        </p:txBody>
      </p:sp>
      <p:sp>
        <p:nvSpPr>
          <p:cNvPr id="11" name="Star: 4 Points 143">
            <a:extLst>
              <a:ext uri="{FF2B5EF4-FFF2-40B4-BE49-F238E27FC236}">
                <a16:creationId xmlns:a16="http://schemas.microsoft.com/office/drawing/2014/main" id="{4D7815DD-F3C0-ABC3-C514-4D2B0046E62F}"/>
              </a:ext>
            </a:extLst>
          </p:cNvPr>
          <p:cNvSpPr/>
          <p:nvPr/>
        </p:nvSpPr>
        <p:spPr bwMode="auto">
          <a:xfrm>
            <a:off x="10740486" y="474368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2" name="Rectangle 11">
            <a:extLst>
              <a:ext uri="{FF2B5EF4-FFF2-40B4-BE49-F238E27FC236}">
                <a16:creationId xmlns:a16="http://schemas.microsoft.com/office/drawing/2014/main" id="{A6475AD4-82E8-42F5-56B6-53468D35BC96}"/>
              </a:ext>
            </a:extLst>
          </p:cNvPr>
          <p:cNvSpPr/>
          <p:nvPr/>
        </p:nvSpPr>
        <p:spPr>
          <a:xfrm>
            <a:off x="10660974" y="4828117"/>
            <a:ext cx="330539"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3" name="OTLSHAPE_T_e17f3958430f4cff8650518c93c7635e_StartDate">
            <a:extLst>
              <a:ext uri="{FF2B5EF4-FFF2-40B4-BE49-F238E27FC236}">
                <a16:creationId xmlns:a16="http://schemas.microsoft.com/office/drawing/2014/main" id="{03B22DF8-7284-AB72-3AB4-46FC5DC4440E}"/>
              </a:ext>
            </a:extLst>
          </p:cNvPr>
          <p:cNvSpPr txBox="1"/>
          <p:nvPr>
            <p:custDataLst>
              <p:tags r:id="rId21"/>
            </p:custDataLst>
          </p:nvPr>
        </p:nvSpPr>
        <p:spPr>
          <a:xfrm>
            <a:off x="10483963" y="4440822"/>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Nov 2026</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5" name="标题 1">
            <a:extLst>
              <a:ext uri="{FF2B5EF4-FFF2-40B4-BE49-F238E27FC236}">
                <a16:creationId xmlns:a16="http://schemas.microsoft.com/office/drawing/2014/main" id="{64739AEC-A0B2-3DA4-A579-64A81C509FC7}"/>
              </a:ext>
            </a:extLst>
          </p:cNvPr>
          <p:cNvSpPr txBox="1">
            <a:spLocks/>
          </p:cNvSpPr>
          <p:nvPr/>
        </p:nvSpPr>
        <p:spPr bwMode="gray">
          <a:xfrm>
            <a:off x="347511" y="231781"/>
            <a:ext cx="11557097" cy="984245"/>
          </a:xfrm>
          <a:prstGeom prst="rect">
            <a:avLst/>
          </a:prstGeom>
        </p:spPr>
        <p:txBody>
          <a:bodyPr vert="horz" lIns="0" tIns="0" rIns="0" bIns="0" rtlCol="0" anchor="ctr">
            <a:noAutofit/>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altLang="zh-CN" sz="2800" b="1" i="0" u="none" strike="noStrike" kern="1200" cap="none" spc="0" normalizeH="0" baseline="0" noProof="0" err="1">
                <a:ln>
                  <a:noFill/>
                </a:ln>
                <a:solidFill>
                  <a:srgbClr val="08312A"/>
                </a:solidFill>
                <a:effectLst/>
                <a:uLnTx/>
                <a:uFillTx/>
                <a:latin typeface="Boehringer Forward Head"/>
                <a:ea typeface="+mj-ea"/>
                <a:cs typeface="Calibri" panose="020F0502020204030204" pitchFamily="34" charset="0"/>
              </a:rPr>
              <a:t>Spesolimab</a:t>
            </a:r>
            <a:r>
              <a:rPr kumimoji="0" lang="en-US" altLang="zh-CN" sz="2800" b="1"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 (Anti-IL36R): General Pustular Psoriasis (GPP)</a:t>
            </a:r>
          </a:p>
        </p:txBody>
      </p:sp>
      <p:sp>
        <p:nvSpPr>
          <p:cNvPr id="16" name="TextBox 85">
            <a:extLst>
              <a:ext uri="{FF2B5EF4-FFF2-40B4-BE49-F238E27FC236}">
                <a16:creationId xmlns:a16="http://schemas.microsoft.com/office/drawing/2014/main" id="{8B803755-464C-AC9B-84D6-0E44BB9D65E6}"/>
              </a:ext>
            </a:extLst>
          </p:cNvPr>
          <p:cNvSpPr txBox="1"/>
          <p:nvPr/>
        </p:nvSpPr>
        <p:spPr bwMode="gray">
          <a:xfrm>
            <a:off x="1987406" y="5684791"/>
            <a:ext cx="7996429" cy="1015975"/>
          </a:xfrm>
          <a:prstGeom prst="rect">
            <a:avLst/>
          </a:prstGeom>
        </p:spPr>
        <p:style>
          <a:lnRef idx="2">
            <a:schemeClr val="accent4"/>
          </a:lnRef>
          <a:fillRef idx="1">
            <a:schemeClr val="lt1"/>
          </a:fillRef>
          <a:effectRef idx="0">
            <a:schemeClr val="accent4"/>
          </a:effectRef>
          <a:fontRef idx="minor">
            <a:schemeClr val="dk1"/>
          </a:fontRef>
        </p:style>
        <p:txBody>
          <a:bodyPr wrap="square" lIns="108000" tIns="36000" rIns="108000" bIns="36000" rtlCol="0" anchor="ctr">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lvl="0">
              <a:lnSpc>
                <a:spcPct val="130000"/>
              </a:lnSpc>
              <a:defRPr/>
            </a:pPr>
            <a:r>
              <a:rPr kumimoji="0" lang="en-US" altLang="zh-CN" sz="1200" i="0" u="none" strike="noStrike" kern="1200" cap="none" spc="0" normalizeH="0" baseline="0" noProof="0">
                <a:ln>
                  <a:noFill/>
                </a:ln>
                <a:solidFill>
                  <a:prstClr val="black"/>
                </a:solidFill>
                <a:effectLst/>
                <a:uLnTx/>
                <a:uFillTx/>
                <a:ea typeface="Calibri" panose="020F0502020204030204" pitchFamily="34" charset="0"/>
                <a:cs typeface="Calibri" panose="020F0502020204030204" pitchFamily="34" charset="0"/>
              </a:rPr>
              <a:t>1368-0025 OLE study</a:t>
            </a:r>
            <a:r>
              <a:rPr lang="en-US" altLang="zh-CN" sz="1200">
                <a:solidFill>
                  <a:prstClr val="black"/>
                </a:solidFill>
                <a:ea typeface="Calibri" panose="020F0502020204030204" pitchFamily="34" charset="0"/>
                <a:cs typeface="Calibri" panose="020F0502020204030204" pitchFamily="34" charset="0"/>
              </a:rPr>
              <a:t> </a:t>
            </a:r>
            <a:r>
              <a:rPr lang="en-US" altLang="zh-CN" sz="1200" b="1">
                <a:solidFill>
                  <a:prstClr val="black"/>
                </a:solidFill>
                <a:ea typeface="Calibri" panose="020F0502020204030204" pitchFamily="34" charset="0"/>
                <a:cs typeface="Calibri" panose="020F0502020204030204" pitchFamily="34" charset="0"/>
              </a:rPr>
              <a:t>[No updates since last meeting] </a:t>
            </a:r>
            <a:r>
              <a:rPr kumimoji="0" lang="en-US" altLang="zh-CN" sz="1200" i="0" u="none" strike="noStrike" kern="1200" cap="none" spc="0" normalizeH="0" baseline="0" noProof="0">
                <a:ln>
                  <a:noFill/>
                </a:ln>
                <a:solidFill>
                  <a:prstClr val="black"/>
                </a:solidFill>
                <a:effectLst/>
                <a:uLnTx/>
                <a:uFillTx/>
                <a:ea typeface="Calibri" panose="020F0502020204030204" pitchFamily="34" charset="0"/>
                <a:cs typeface="Calibri" panose="020F0502020204030204" pitchFamily="34" charset="0"/>
              </a:rPr>
              <a:t>: Planned start of operational transfer in Q1 2026*</a:t>
            </a:r>
          </a:p>
          <a:p>
            <a:pPr lvl="0">
              <a:lnSpc>
                <a:spcPct val="130000"/>
              </a:lnSpc>
              <a:defRPr/>
            </a:pPr>
            <a:r>
              <a:rPr kumimoji="0" lang="en-US" altLang="zh-CN" sz="1200" i="0" u="none" strike="noStrike" kern="1200" cap="none" spc="0" normalizeH="0" baseline="0" noProof="0">
                <a:ln>
                  <a:noFill/>
                </a:ln>
                <a:solidFill>
                  <a:prstClr val="black"/>
                </a:solidFill>
                <a:effectLst/>
                <a:uLnTx/>
                <a:uFillTx/>
                <a:ea typeface="Calibri" panose="020F0502020204030204" pitchFamily="34" charset="0"/>
                <a:cs typeface="Calibri" panose="020F0502020204030204" pitchFamily="34" charset="0"/>
              </a:rPr>
              <a:t>1368-0120 Flare retreatment study</a:t>
            </a:r>
            <a:r>
              <a:rPr lang="en-US" altLang="zh-CN" sz="1200">
                <a:solidFill>
                  <a:prstClr val="black"/>
                </a:solidFill>
                <a:ea typeface="Calibri" panose="020F0502020204030204" pitchFamily="34" charset="0"/>
                <a:cs typeface="Calibri" panose="020F0502020204030204" pitchFamily="34" charset="0"/>
              </a:rPr>
              <a:t> </a:t>
            </a:r>
            <a:r>
              <a:rPr lang="en-US" altLang="zh-CN" sz="1200" b="1">
                <a:solidFill>
                  <a:prstClr val="black"/>
                </a:solidFill>
                <a:ea typeface="Calibri" panose="020F0502020204030204" pitchFamily="34" charset="0"/>
                <a:cs typeface="Calibri" panose="020F0502020204030204" pitchFamily="34" charset="0"/>
              </a:rPr>
              <a:t>[No updates since last meeting] </a:t>
            </a:r>
            <a:r>
              <a:rPr kumimoji="0" lang="en-US" altLang="zh-CN" sz="1200" i="0" u="none" strike="noStrike" kern="1200" cap="none" spc="0" normalizeH="0" baseline="0" noProof="0">
                <a:ln>
                  <a:noFill/>
                </a:ln>
                <a:solidFill>
                  <a:prstClr val="black"/>
                </a:solidFill>
                <a:effectLst/>
                <a:uLnTx/>
                <a:uFillTx/>
                <a:ea typeface="Calibri" panose="020F0502020204030204" pitchFamily="34" charset="0"/>
                <a:cs typeface="Calibri" panose="020F0502020204030204" pitchFamily="34" charset="0"/>
              </a:rPr>
              <a:t>: </a:t>
            </a:r>
          </a:p>
          <a:p>
            <a:pPr marL="285750" marR="0" lvl="0" indent="-285750" algn="l" defTabSz="914400" rtl="0" eaLnBrk="1" fontAlgn="auto" latinLnBrk="0" hangingPunct="1">
              <a:lnSpc>
                <a:spcPct val="130000"/>
              </a:lnSpc>
              <a:buClrTx/>
              <a:buSzTx/>
              <a:buFont typeface="Arial" panose="020B0604020202020204" pitchFamily="34" charset="0"/>
              <a:buChar char="•"/>
              <a:tabLst/>
              <a:defRPr/>
            </a:pPr>
            <a:r>
              <a:rPr kumimoji="0" lang="en-US" altLang="zh-CN" sz="1200" i="0" u="none" strike="noStrike" kern="1200" cap="none" spc="0" normalizeH="0" baseline="0" noProof="0">
                <a:ln>
                  <a:noFill/>
                </a:ln>
                <a:solidFill>
                  <a:prstClr val="black"/>
                </a:solidFill>
                <a:effectLst/>
                <a:uLnTx/>
                <a:uFillTx/>
                <a:ea typeface="Calibri" panose="020F0502020204030204" pitchFamily="34" charset="0"/>
                <a:cs typeface="Calibri" panose="020F0502020204030204" pitchFamily="34" charset="0"/>
              </a:rPr>
              <a:t>DBL for planned interim analysis on 29Aug2025</a:t>
            </a:r>
          </a:p>
          <a:p>
            <a:pPr marL="285750" indent="-285750">
              <a:lnSpc>
                <a:spcPct val="130000"/>
              </a:lnSpc>
              <a:buFont typeface="Arial" panose="020B0604020202020204" pitchFamily="34" charset="0"/>
              <a:buChar char="•"/>
              <a:defRPr/>
            </a:pPr>
            <a:r>
              <a:rPr lang="en-US" altLang="zh-CN" sz="1200">
                <a:solidFill>
                  <a:prstClr val="black"/>
                </a:solidFill>
                <a:ea typeface="Calibri" panose="020F0502020204030204" pitchFamily="34" charset="0"/>
                <a:cs typeface="Calibri" panose="020F0502020204030204" pitchFamily="34" charset="0"/>
              </a:rPr>
              <a:t>Completion to final CTR* in Feb 2027</a:t>
            </a:r>
            <a:endParaRPr kumimoji="0" lang="zh-CN" altLang="zh-CN" sz="1200" i="0" u="sng" strike="noStrike" kern="1200" cap="none" spc="0" normalizeH="0" baseline="0" noProof="0">
              <a:ln>
                <a:noFill/>
              </a:ln>
              <a:solidFill>
                <a:prstClr val="black"/>
              </a:solidFill>
              <a:effectLst/>
              <a:uLnTx/>
              <a:uFillTx/>
              <a:ea typeface="SimSun" panose="02010600030101010101" pitchFamily="2" charset="-122"/>
              <a:cs typeface="Calibri" panose="020F0502020204030204" pitchFamily="34" charset="0"/>
            </a:endParaRPr>
          </a:p>
        </p:txBody>
      </p:sp>
      <p:sp>
        <p:nvSpPr>
          <p:cNvPr id="17" name="TextBox 16">
            <a:extLst>
              <a:ext uri="{FF2B5EF4-FFF2-40B4-BE49-F238E27FC236}">
                <a16:creationId xmlns:a16="http://schemas.microsoft.com/office/drawing/2014/main" id="{A0A8625F-DE77-87F0-8448-E0766E9A49E5}"/>
              </a:ext>
            </a:extLst>
          </p:cNvPr>
          <p:cNvSpPr txBox="1"/>
          <p:nvPr/>
        </p:nvSpPr>
        <p:spPr bwMode="gray">
          <a:xfrm>
            <a:off x="5780683" y="6529535"/>
            <a:ext cx="5127170" cy="215444"/>
          </a:xfrm>
          <a:prstGeom prst="rect">
            <a:avLst/>
          </a:prstGeom>
          <a:noFill/>
        </p:spPr>
        <p:txBody>
          <a:bodyPr wrap="square">
            <a:spAutoFit/>
          </a:bodyPr>
          <a:lstStyle/>
          <a:p>
            <a:r>
              <a:rPr lang="en-US" altLang="zh-CN" sz="800">
                <a:solidFill>
                  <a:srgbClr val="FFFFFF">
                    <a:lumMod val="50000"/>
                  </a:srgbClr>
                </a:solidFill>
                <a:latin typeface="BISansCond"/>
                <a:ea typeface="等线" panose="02010600030101010101" pitchFamily="2" charset="-122"/>
              </a:rPr>
              <a:t>* Source: </a:t>
            </a:r>
            <a:r>
              <a:rPr lang="en-US" altLang="zh-CN" sz="800" err="1">
                <a:solidFill>
                  <a:srgbClr val="FFFFFF">
                    <a:lumMod val="50000"/>
                  </a:srgbClr>
                </a:solidFill>
                <a:latin typeface="BISansCond"/>
                <a:ea typeface="等线" panose="02010600030101010101" pitchFamily="2" charset="-122"/>
              </a:rPr>
              <a:t>Spevigo</a:t>
            </a:r>
            <a:r>
              <a:rPr lang="en-US" altLang="zh-CN" sz="800">
                <a:solidFill>
                  <a:srgbClr val="FFFFFF">
                    <a:lumMod val="50000"/>
                  </a:srgbClr>
                </a:solidFill>
                <a:latin typeface="BISansCond"/>
                <a:ea typeface="等线" panose="02010600030101010101" pitchFamily="2" charset="-122"/>
              </a:rPr>
              <a:t> licensing and transfer to Leo Pharma Playbook for Countries, Date: 30 September  2025</a:t>
            </a:r>
          </a:p>
        </p:txBody>
      </p:sp>
    </p:spTree>
    <p:extLst>
      <p:ext uri="{BB962C8B-B14F-4D97-AF65-F5344CB8AC3E}">
        <p14:creationId xmlns:p14="http://schemas.microsoft.com/office/powerpoint/2010/main" val="3637797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D37480-6733-1290-B9A0-FBDFFB9834D7}"/>
            </a:ext>
          </a:extLst>
        </p:cNvPr>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AE2A2DF-A446-9F07-3208-F5688181A881}"/>
              </a:ext>
            </a:extLst>
          </p:cNvPr>
          <p:cNvSpPr>
            <a:spLocks noGrp="1"/>
          </p:cNvSpPr>
          <p:nvPr>
            <p:ph type="sldNum" sz="quarter" idx="11"/>
          </p:nvPr>
        </p:nvSpPr>
        <p:spPr>
          <a:xfrm>
            <a:off x="11522135" y="6246836"/>
            <a:ext cx="288000" cy="288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6" name="标题 1">
            <a:extLst>
              <a:ext uri="{FF2B5EF4-FFF2-40B4-BE49-F238E27FC236}">
                <a16:creationId xmlns:a16="http://schemas.microsoft.com/office/drawing/2014/main" id="{016B0551-D1D7-2C4A-F3A5-0B6F47E4874E}"/>
              </a:ext>
            </a:extLst>
          </p:cNvPr>
          <p:cNvSpPr>
            <a:spLocks noGrp="1"/>
          </p:cNvSpPr>
          <p:nvPr>
            <p:ph type="title"/>
          </p:nvPr>
        </p:nvSpPr>
        <p:spPr>
          <a:xfrm>
            <a:off x="347511" y="231782"/>
            <a:ext cx="11557097" cy="720000"/>
          </a:xfrm>
        </p:spPr>
        <p:txBody>
          <a:bodyPr/>
          <a:lstStyle/>
          <a:p>
            <a:r>
              <a:rPr lang="en-US" altLang="zh-CN" sz="2800" err="1">
                <a:latin typeface="+mj-ea"/>
                <a:cs typeface="Calibri" panose="020F0502020204030204" pitchFamily="34" charset="0"/>
              </a:rPr>
              <a:t>Spesolimab</a:t>
            </a:r>
            <a:r>
              <a:rPr lang="en-US" altLang="zh-CN" sz="2800">
                <a:latin typeface="+mj-ea"/>
                <a:cs typeface="Calibri" panose="020F0502020204030204" pitchFamily="34" charset="0"/>
              </a:rPr>
              <a:t> (Anti-IL36R): Pyoderma Gangrenosum (PG)</a:t>
            </a:r>
            <a:br>
              <a:rPr lang="en-US" altLang="zh-CN" sz="2400">
                <a:latin typeface="+mj-ea"/>
                <a:cs typeface="Calibri" panose="020F0502020204030204" pitchFamily="34" charset="0"/>
              </a:rPr>
            </a:br>
            <a:endParaRPr lang="zh-CN" altLang="en-US" sz="2400"/>
          </a:p>
        </p:txBody>
      </p:sp>
      <p:graphicFrame>
        <p:nvGraphicFramePr>
          <p:cNvPr id="8" name="Table 115">
            <a:extLst>
              <a:ext uri="{FF2B5EF4-FFF2-40B4-BE49-F238E27FC236}">
                <a16:creationId xmlns:a16="http://schemas.microsoft.com/office/drawing/2014/main" id="{2391D526-91DE-C8B0-510D-744EEF25B6F2}"/>
              </a:ext>
            </a:extLst>
          </p:cNvPr>
          <p:cNvGraphicFramePr>
            <a:graphicFrameLocks noGrp="1"/>
          </p:cNvGraphicFramePr>
          <p:nvPr/>
        </p:nvGraphicFramePr>
        <p:xfrm>
          <a:off x="352310" y="1338104"/>
          <a:ext cx="11713170" cy="615903"/>
        </p:xfrm>
        <a:graphic>
          <a:graphicData uri="http://schemas.openxmlformats.org/drawingml/2006/table">
            <a:tbl>
              <a:tblPr firstRow="1" bandRow="1"/>
              <a:tblGrid>
                <a:gridCol w="689010">
                  <a:extLst>
                    <a:ext uri="{9D8B030D-6E8A-4147-A177-3AD203B41FA5}">
                      <a16:colId xmlns:a16="http://schemas.microsoft.com/office/drawing/2014/main" val="2466911814"/>
                    </a:ext>
                  </a:extLst>
                </a:gridCol>
                <a:gridCol w="689010">
                  <a:extLst>
                    <a:ext uri="{9D8B030D-6E8A-4147-A177-3AD203B41FA5}">
                      <a16:colId xmlns:a16="http://schemas.microsoft.com/office/drawing/2014/main" val="3023231563"/>
                    </a:ext>
                  </a:extLst>
                </a:gridCol>
                <a:gridCol w="689010">
                  <a:extLst>
                    <a:ext uri="{9D8B030D-6E8A-4147-A177-3AD203B41FA5}">
                      <a16:colId xmlns:a16="http://schemas.microsoft.com/office/drawing/2014/main" val="3411862845"/>
                    </a:ext>
                  </a:extLst>
                </a:gridCol>
                <a:gridCol w="689010">
                  <a:extLst>
                    <a:ext uri="{9D8B030D-6E8A-4147-A177-3AD203B41FA5}">
                      <a16:colId xmlns:a16="http://schemas.microsoft.com/office/drawing/2014/main" val="2851474774"/>
                    </a:ext>
                  </a:extLst>
                </a:gridCol>
                <a:gridCol w="689010">
                  <a:extLst>
                    <a:ext uri="{9D8B030D-6E8A-4147-A177-3AD203B41FA5}">
                      <a16:colId xmlns:a16="http://schemas.microsoft.com/office/drawing/2014/main" val="107595344"/>
                    </a:ext>
                  </a:extLst>
                </a:gridCol>
                <a:gridCol w="689010">
                  <a:extLst>
                    <a:ext uri="{9D8B030D-6E8A-4147-A177-3AD203B41FA5}">
                      <a16:colId xmlns:a16="http://schemas.microsoft.com/office/drawing/2014/main" val="1666999431"/>
                    </a:ext>
                  </a:extLst>
                </a:gridCol>
                <a:gridCol w="689010">
                  <a:extLst>
                    <a:ext uri="{9D8B030D-6E8A-4147-A177-3AD203B41FA5}">
                      <a16:colId xmlns:a16="http://schemas.microsoft.com/office/drawing/2014/main" val="3696607442"/>
                    </a:ext>
                  </a:extLst>
                </a:gridCol>
                <a:gridCol w="689010">
                  <a:extLst>
                    <a:ext uri="{9D8B030D-6E8A-4147-A177-3AD203B41FA5}">
                      <a16:colId xmlns:a16="http://schemas.microsoft.com/office/drawing/2014/main" val="223989776"/>
                    </a:ext>
                  </a:extLst>
                </a:gridCol>
                <a:gridCol w="689010">
                  <a:extLst>
                    <a:ext uri="{9D8B030D-6E8A-4147-A177-3AD203B41FA5}">
                      <a16:colId xmlns:a16="http://schemas.microsoft.com/office/drawing/2014/main" val="124731204"/>
                    </a:ext>
                  </a:extLst>
                </a:gridCol>
                <a:gridCol w="689010">
                  <a:extLst>
                    <a:ext uri="{9D8B030D-6E8A-4147-A177-3AD203B41FA5}">
                      <a16:colId xmlns:a16="http://schemas.microsoft.com/office/drawing/2014/main" val="3066978585"/>
                    </a:ext>
                  </a:extLst>
                </a:gridCol>
                <a:gridCol w="689010">
                  <a:extLst>
                    <a:ext uri="{9D8B030D-6E8A-4147-A177-3AD203B41FA5}">
                      <a16:colId xmlns:a16="http://schemas.microsoft.com/office/drawing/2014/main" val="1064917641"/>
                    </a:ext>
                  </a:extLst>
                </a:gridCol>
                <a:gridCol w="689010">
                  <a:extLst>
                    <a:ext uri="{9D8B030D-6E8A-4147-A177-3AD203B41FA5}">
                      <a16:colId xmlns:a16="http://schemas.microsoft.com/office/drawing/2014/main" val="4221117315"/>
                    </a:ext>
                  </a:extLst>
                </a:gridCol>
                <a:gridCol w="689010">
                  <a:extLst>
                    <a:ext uri="{9D8B030D-6E8A-4147-A177-3AD203B41FA5}">
                      <a16:colId xmlns:a16="http://schemas.microsoft.com/office/drawing/2014/main" val="3266065341"/>
                    </a:ext>
                  </a:extLst>
                </a:gridCol>
                <a:gridCol w="689010">
                  <a:extLst>
                    <a:ext uri="{9D8B030D-6E8A-4147-A177-3AD203B41FA5}">
                      <a16:colId xmlns:a16="http://schemas.microsoft.com/office/drawing/2014/main" val="2374051224"/>
                    </a:ext>
                  </a:extLst>
                </a:gridCol>
                <a:gridCol w="689010">
                  <a:extLst>
                    <a:ext uri="{9D8B030D-6E8A-4147-A177-3AD203B41FA5}">
                      <a16:colId xmlns:a16="http://schemas.microsoft.com/office/drawing/2014/main" val="1840388365"/>
                    </a:ext>
                  </a:extLst>
                </a:gridCol>
                <a:gridCol w="689010">
                  <a:extLst>
                    <a:ext uri="{9D8B030D-6E8A-4147-A177-3AD203B41FA5}">
                      <a16:colId xmlns:a16="http://schemas.microsoft.com/office/drawing/2014/main" val="267750830"/>
                    </a:ext>
                  </a:extLst>
                </a:gridCol>
                <a:gridCol w="689010">
                  <a:extLst>
                    <a:ext uri="{9D8B030D-6E8A-4147-A177-3AD203B41FA5}">
                      <a16:colId xmlns:a16="http://schemas.microsoft.com/office/drawing/2014/main" val="1677810427"/>
                    </a:ext>
                  </a:extLst>
                </a:gridCol>
              </a:tblGrid>
              <a:tr h="259080">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2024</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2025</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2026</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2027</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r>
                        <a:rPr lang="en-US" altLang="zh-CN" sz="1100" b="1">
                          <a:solidFill>
                            <a:schemeClr val="bg1"/>
                          </a:solidFill>
                          <a:latin typeface="Arial" panose="020B0604020202020204" pitchFamily="34" charset="0"/>
                          <a:cs typeface="Arial" panose="020B0604020202020204" pitchFamily="34" charset="0"/>
                        </a:rPr>
                        <a:t>2028</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56823">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9" name="OTLSHAPE_T_e17f3958430f4cff8650518c93c7635e_StartDate">
            <a:extLst>
              <a:ext uri="{FF2B5EF4-FFF2-40B4-BE49-F238E27FC236}">
                <a16:creationId xmlns:a16="http://schemas.microsoft.com/office/drawing/2014/main" id="{13CA10D4-6B92-E3AA-C676-9987563E860C}"/>
              </a:ext>
            </a:extLst>
          </p:cNvPr>
          <p:cNvSpPr txBox="1"/>
          <p:nvPr>
            <p:custDataLst>
              <p:tags r:id="rId1"/>
            </p:custDataLst>
          </p:nvPr>
        </p:nvSpPr>
        <p:spPr>
          <a:xfrm>
            <a:off x="1758572" y="3698578"/>
            <a:ext cx="723959" cy="123111"/>
          </a:xfrm>
          <a:prstGeom prst="rect">
            <a:avLst/>
          </a:prstGeom>
          <a:noFill/>
        </p:spPr>
        <p:txBody>
          <a:bodyPr vert="horz" wrap="square" lIns="0" tIns="0" rIns="0" bIns="0" rtlCol="0" anchor="ctr" anchorCtr="0">
            <a:spAutoFit/>
          </a:bodyPr>
          <a:lstStyle>
            <a:defPPr>
              <a:defRPr lang="de-DE"/>
            </a:defPPr>
            <a:lvl1pPr algn="ctr" defTabSz="914378">
              <a:defRPr sz="600" b="1">
                <a:solidFill>
                  <a:srgbClr val="44546A"/>
                </a:solidFill>
                <a:latin typeface="Calibri"/>
                <a:cs typeface="Calibri"/>
              </a:defRPr>
            </a:lvl1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CTA Jul2024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1" name="OTLSHAPE_T_5a934a26f311425e8ebaa0f45e6533ad_Shape">
            <a:extLst>
              <a:ext uri="{FF2B5EF4-FFF2-40B4-BE49-F238E27FC236}">
                <a16:creationId xmlns:a16="http://schemas.microsoft.com/office/drawing/2014/main" id="{F7BB66EB-1806-6D47-6465-82EE166D5483}"/>
              </a:ext>
            </a:extLst>
          </p:cNvPr>
          <p:cNvSpPr/>
          <p:nvPr/>
        </p:nvSpPr>
        <p:spPr bwMode="auto">
          <a:xfrm>
            <a:off x="385706" y="3288416"/>
            <a:ext cx="1512000" cy="303360"/>
          </a:xfrm>
          <a:prstGeom prst="roundRect">
            <a:avLst/>
          </a:prstGeom>
          <a:solidFill>
            <a:schemeClr val="accent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Pre-IND</a:t>
            </a:r>
          </a:p>
        </p:txBody>
      </p:sp>
      <p:sp>
        <p:nvSpPr>
          <p:cNvPr id="12" name="Rectangle 76">
            <a:extLst>
              <a:ext uri="{FF2B5EF4-FFF2-40B4-BE49-F238E27FC236}">
                <a16:creationId xmlns:a16="http://schemas.microsoft.com/office/drawing/2014/main" id="{6551806D-94E3-90BD-9171-A24F14A23C94}"/>
              </a:ext>
            </a:extLst>
          </p:cNvPr>
          <p:cNvSpPr/>
          <p:nvPr/>
        </p:nvSpPr>
        <p:spPr>
          <a:xfrm>
            <a:off x="347511" y="3698578"/>
            <a:ext cx="756000" cy="246221"/>
          </a:xfrm>
          <a:prstGeom prst="rect">
            <a:avLst/>
          </a:prstGeom>
          <a:noFill/>
        </p:spPr>
        <p:txBody>
          <a:bodyPr vert="horz" wrap="square" lIns="0" tIns="0" rIns="0" bIns="0" rtlCol="0" anchor="ctr" anchorCtr="0">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Meeting request</a:t>
            </a:r>
          </a:p>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Jan2024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3" name="Star: 4 Points 143">
            <a:extLst>
              <a:ext uri="{FF2B5EF4-FFF2-40B4-BE49-F238E27FC236}">
                <a16:creationId xmlns:a16="http://schemas.microsoft.com/office/drawing/2014/main" id="{F75929DB-90CC-F2C5-4A6A-FE1085491A51}"/>
              </a:ext>
            </a:extLst>
          </p:cNvPr>
          <p:cNvSpPr/>
          <p:nvPr/>
        </p:nvSpPr>
        <p:spPr bwMode="auto">
          <a:xfrm>
            <a:off x="309503" y="355735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5" name="TextBox 5">
            <a:extLst>
              <a:ext uri="{FF2B5EF4-FFF2-40B4-BE49-F238E27FC236}">
                <a16:creationId xmlns:a16="http://schemas.microsoft.com/office/drawing/2014/main" id="{7A1BEBF8-F969-6FE6-173F-11E0059FCAF8}"/>
              </a:ext>
            </a:extLst>
          </p:cNvPr>
          <p:cNvSpPr txBox="1"/>
          <p:nvPr/>
        </p:nvSpPr>
        <p:spPr>
          <a:xfrm>
            <a:off x="10807122" y="3997162"/>
            <a:ext cx="1258358" cy="636008"/>
          </a:xfrm>
          <a:prstGeom prst="rect">
            <a:avLst/>
          </a:prstGeom>
          <a:noFill/>
        </p:spPr>
        <p:txBody>
          <a:bodyPr wrap="square" lIns="0" tIns="0" rIns="0" bIns="0" rtlCol="0">
            <a:spAutoFit/>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FSS: First subject screening</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LSS: Last subject screening</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LSC: Last subject complete</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LSR: Last subject randomization</a:t>
            </a:r>
            <a:endParaRPr kumimoji="0" lang="zh-CN" altLang="en-US" sz="800" b="0" i="0" u="none" strike="noStrike" kern="1200" cap="none" spc="0" normalizeH="0" baseline="0" noProof="0">
              <a:ln>
                <a:noFill/>
              </a:ln>
              <a:solidFill>
                <a:srgbClr val="FFFFFF">
                  <a:lumMod val="50000"/>
                </a:srgbClr>
              </a:solidFill>
              <a:effectLst/>
              <a:uLnTx/>
              <a:uFillTx/>
              <a:latin typeface="BISansCond"/>
              <a:ea typeface="+mn-ea"/>
              <a:cs typeface="+mn-cs"/>
            </a:endParaRPr>
          </a:p>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zh-CN" altLang="en-US" sz="933" b="0" i="0" u="none" strike="noStrike" kern="1200" cap="none" spc="0" normalizeH="0" baseline="0" noProof="0">
              <a:ln>
                <a:noFill/>
              </a:ln>
              <a:solidFill>
                <a:srgbClr val="FFFFFF">
                  <a:lumMod val="50000"/>
                </a:srgbClr>
              </a:solidFill>
              <a:effectLst/>
              <a:uLnTx/>
              <a:uFillTx/>
              <a:latin typeface="BISansCond"/>
              <a:ea typeface="+mn-ea"/>
              <a:cs typeface="+mn-cs"/>
            </a:endParaRPr>
          </a:p>
        </p:txBody>
      </p:sp>
      <p:sp>
        <p:nvSpPr>
          <p:cNvPr id="16" name="Star: 4 Points 143">
            <a:extLst>
              <a:ext uri="{FF2B5EF4-FFF2-40B4-BE49-F238E27FC236}">
                <a16:creationId xmlns:a16="http://schemas.microsoft.com/office/drawing/2014/main" id="{F5A32F48-FC0B-1CC3-B278-A7AA5F589FAB}"/>
              </a:ext>
            </a:extLst>
          </p:cNvPr>
          <p:cNvSpPr/>
          <p:nvPr/>
        </p:nvSpPr>
        <p:spPr bwMode="auto">
          <a:xfrm>
            <a:off x="1824214" y="355735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9" name="Star: 4 Points 143">
            <a:extLst>
              <a:ext uri="{FF2B5EF4-FFF2-40B4-BE49-F238E27FC236}">
                <a16:creationId xmlns:a16="http://schemas.microsoft.com/office/drawing/2014/main" id="{6F3F2038-DD5A-FBF2-535D-F669880E88B6}"/>
              </a:ext>
            </a:extLst>
          </p:cNvPr>
          <p:cNvSpPr/>
          <p:nvPr/>
        </p:nvSpPr>
        <p:spPr bwMode="auto">
          <a:xfrm>
            <a:off x="1792857" y="2229884"/>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1" name="TextBox 12">
            <a:extLst>
              <a:ext uri="{FF2B5EF4-FFF2-40B4-BE49-F238E27FC236}">
                <a16:creationId xmlns:a16="http://schemas.microsoft.com/office/drawing/2014/main" id="{F66C8813-4BAF-198C-4E8B-C5C67671C079}"/>
              </a:ext>
            </a:extLst>
          </p:cNvPr>
          <p:cNvSpPr txBox="1"/>
          <p:nvPr/>
        </p:nvSpPr>
        <p:spPr bwMode="gray">
          <a:xfrm>
            <a:off x="1520431" y="2390757"/>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CTA Jul 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3" name="TextBox 14">
            <a:extLst>
              <a:ext uri="{FF2B5EF4-FFF2-40B4-BE49-F238E27FC236}">
                <a16:creationId xmlns:a16="http://schemas.microsoft.com/office/drawing/2014/main" id="{8130C601-32C9-6F3A-12CA-552A1EA97AB3}"/>
              </a:ext>
            </a:extLst>
          </p:cNvPr>
          <p:cNvSpPr txBox="1"/>
          <p:nvPr/>
        </p:nvSpPr>
        <p:spPr bwMode="gray">
          <a:xfrm>
            <a:off x="11057623" y="2192885"/>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a:ea typeface="+mn-ea"/>
                <a:cs typeface="Calibri"/>
              </a:rPr>
              <a:t>Feb  2028</a:t>
            </a:r>
            <a:endParaRPr kumimoji="0" lang="zh-CN" altLang="en-US" sz="800" b="1" i="0" u="none" strike="noStrike" kern="1200" cap="none" spc="0" normalizeH="0" baseline="0" noProof="0">
              <a:ln>
                <a:noFill/>
              </a:ln>
              <a:solidFill>
                <a:srgbClr val="FF0000"/>
              </a:solidFill>
              <a:effectLst/>
              <a:uLnTx/>
              <a:uFillTx/>
              <a:latin typeface="Calibri"/>
              <a:ea typeface="+mn-ea"/>
              <a:cs typeface="Calibri"/>
            </a:endParaRPr>
          </a:p>
        </p:txBody>
      </p:sp>
      <p:sp>
        <p:nvSpPr>
          <p:cNvPr id="26" name="OTLSHAPE_T_5a934a26f311425e8ebaa0f45e6533ad_Shape">
            <a:extLst>
              <a:ext uri="{FF2B5EF4-FFF2-40B4-BE49-F238E27FC236}">
                <a16:creationId xmlns:a16="http://schemas.microsoft.com/office/drawing/2014/main" id="{8BEDEA0F-56A5-2B6E-A7B7-FC3346903609}"/>
              </a:ext>
            </a:extLst>
          </p:cNvPr>
          <p:cNvSpPr/>
          <p:nvPr/>
        </p:nvSpPr>
        <p:spPr bwMode="auto">
          <a:xfrm>
            <a:off x="8028777" y="2408329"/>
            <a:ext cx="3528000" cy="279466"/>
          </a:xfrm>
          <a:prstGeom prst="round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LSR-LSC</a:t>
            </a:r>
          </a:p>
        </p:txBody>
      </p:sp>
      <p:sp>
        <p:nvSpPr>
          <p:cNvPr id="27" name="TextBox 17">
            <a:extLst>
              <a:ext uri="{FF2B5EF4-FFF2-40B4-BE49-F238E27FC236}">
                <a16:creationId xmlns:a16="http://schemas.microsoft.com/office/drawing/2014/main" id="{C8009AE2-FAF1-F0F0-A916-B38D4DF44C6D}"/>
              </a:ext>
            </a:extLst>
          </p:cNvPr>
          <p:cNvSpPr txBox="1"/>
          <p:nvPr/>
        </p:nvSpPr>
        <p:spPr bwMode="gray">
          <a:xfrm>
            <a:off x="7885012" y="2227090"/>
            <a:ext cx="911661" cy="21544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a:ea typeface="+mn-ea"/>
                <a:cs typeface="Calibri"/>
              </a:rPr>
              <a:t>Oot2026</a:t>
            </a:r>
            <a:endParaRPr kumimoji="0" lang="zh-CN" altLang="en-US" sz="800" b="1" i="0" u="none" strike="noStrike" kern="1200" cap="none" spc="0" normalizeH="0" baseline="0" noProof="0">
              <a:ln>
                <a:noFill/>
              </a:ln>
              <a:solidFill>
                <a:srgbClr val="FF0000"/>
              </a:solidFill>
              <a:effectLst/>
              <a:uLnTx/>
              <a:uFillTx/>
              <a:latin typeface="Calibri"/>
              <a:ea typeface="+mn-ea"/>
              <a:cs typeface="Calibri"/>
            </a:endParaRPr>
          </a:p>
        </p:txBody>
      </p:sp>
      <p:sp>
        <p:nvSpPr>
          <p:cNvPr id="28" name="OTLSHAPE_T_5a934a26f311425e8ebaa0f45e6533ad_Shape">
            <a:extLst>
              <a:ext uri="{FF2B5EF4-FFF2-40B4-BE49-F238E27FC236}">
                <a16:creationId xmlns:a16="http://schemas.microsoft.com/office/drawing/2014/main" id="{9515B9DC-C94D-79B2-71C4-86C470D40606}"/>
              </a:ext>
            </a:extLst>
          </p:cNvPr>
          <p:cNvSpPr/>
          <p:nvPr/>
        </p:nvSpPr>
        <p:spPr bwMode="auto">
          <a:xfrm>
            <a:off x="7755848" y="3301142"/>
            <a:ext cx="3528000" cy="304620"/>
          </a:xfrm>
          <a:prstGeom prst="round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LSR-LSC</a:t>
            </a:r>
          </a:p>
        </p:txBody>
      </p:sp>
      <p:sp>
        <p:nvSpPr>
          <p:cNvPr id="32" name="TextBox 17">
            <a:extLst>
              <a:ext uri="{FF2B5EF4-FFF2-40B4-BE49-F238E27FC236}">
                <a16:creationId xmlns:a16="http://schemas.microsoft.com/office/drawing/2014/main" id="{6D266DA0-A9B9-C729-0A73-0CAD419D89FD}"/>
              </a:ext>
            </a:extLst>
          </p:cNvPr>
          <p:cNvSpPr txBox="1"/>
          <p:nvPr/>
        </p:nvSpPr>
        <p:spPr bwMode="gray">
          <a:xfrm>
            <a:off x="7629336" y="3681129"/>
            <a:ext cx="911661" cy="21544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a:ea typeface="+mn-ea"/>
                <a:cs typeface="Calibri"/>
              </a:rPr>
              <a:t>Aug2026</a:t>
            </a:r>
            <a:endParaRPr kumimoji="0" lang="zh-CN" altLang="en-US" sz="800" b="1" i="0" u="none" strike="noStrike" kern="1200" cap="none" spc="0" normalizeH="0" baseline="0" noProof="0">
              <a:ln>
                <a:noFill/>
              </a:ln>
              <a:solidFill>
                <a:srgbClr val="FF0000"/>
              </a:solidFill>
              <a:effectLst/>
              <a:uLnTx/>
              <a:uFillTx/>
              <a:latin typeface="Calibri"/>
              <a:ea typeface="+mn-ea"/>
              <a:cs typeface="Calibri"/>
            </a:endParaRPr>
          </a:p>
        </p:txBody>
      </p:sp>
      <p:sp>
        <p:nvSpPr>
          <p:cNvPr id="33" name="TextBox 14">
            <a:extLst>
              <a:ext uri="{FF2B5EF4-FFF2-40B4-BE49-F238E27FC236}">
                <a16:creationId xmlns:a16="http://schemas.microsoft.com/office/drawing/2014/main" id="{91C9B0FB-315E-C0D8-85F3-47F7426B3856}"/>
              </a:ext>
            </a:extLst>
          </p:cNvPr>
          <p:cNvSpPr txBox="1"/>
          <p:nvPr/>
        </p:nvSpPr>
        <p:spPr bwMode="gray">
          <a:xfrm>
            <a:off x="10694728" y="3652411"/>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a:ea typeface="+mn-ea"/>
                <a:cs typeface="Calibri"/>
              </a:rPr>
              <a:t>Dec  2027</a:t>
            </a:r>
            <a:endParaRPr kumimoji="0" lang="zh-CN" altLang="en-US" sz="800" b="1" i="0" u="none" strike="noStrike" kern="1200" cap="none" spc="0" normalizeH="0" baseline="0" noProof="0">
              <a:ln>
                <a:noFill/>
              </a:ln>
              <a:solidFill>
                <a:srgbClr val="FF0000"/>
              </a:solidFill>
              <a:effectLst/>
              <a:uLnTx/>
              <a:uFillTx/>
              <a:latin typeface="Calibri"/>
              <a:ea typeface="+mn-ea"/>
              <a:cs typeface="Calibri"/>
            </a:endParaRPr>
          </a:p>
        </p:txBody>
      </p:sp>
      <p:sp>
        <p:nvSpPr>
          <p:cNvPr id="34" name="Star: 4 Points 143">
            <a:extLst>
              <a:ext uri="{FF2B5EF4-FFF2-40B4-BE49-F238E27FC236}">
                <a16:creationId xmlns:a16="http://schemas.microsoft.com/office/drawing/2014/main" id="{F9227291-EDEA-3F40-3576-98975749DA3C}"/>
              </a:ext>
            </a:extLst>
          </p:cNvPr>
          <p:cNvSpPr/>
          <p:nvPr/>
        </p:nvSpPr>
        <p:spPr bwMode="auto">
          <a:xfrm>
            <a:off x="3047282" y="2229884"/>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8" name="TextBox 13">
            <a:extLst>
              <a:ext uri="{FF2B5EF4-FFF2-40B4-BE49-F238E27FC236}">
                <a16:creationId xmlns:a16="http://schemas.microsoft.com/office/drawing/2014/main" id="{8B2107A1-53BB-DD05-F845-4B5ECAD5CB3F}"/>
              </a:ext>
            </a:extLst>
          </p:cNvPr>
          <p:cNvSpPr txBox="1"/>
          <p:nvPr/>
        </p:nvSpPr>
        <p:spPr bwMode="gray">
          <a:xfrm>
            <a:off x="3239957" y="3681129"/>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FSS: 20Feb2025</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39" name="Picture 1">
            <a:extLst>
              <a:ext uri="{FF2B5EF4-FFF2-40B4-BE49-F238E27FC236}">
                <a16:creationId xmlns:a16="http://schemas.microsoft.com/office/drawing/2014/main" id="{4F8DDDE3-F367-A0FE-17DB-FAF752C07F5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787" y="1932881"/>
            <a:ext cx="843380" cy="415665"/>
          </a:xfrm>
          <a:prstGeom prst="rect">
            <a:avLst/>
          </a:prstGeom>
        </p:spPr>
      </p:pic>
      <p:pic>
        <p:nvPicPr>
          <p:cNvPr id="40" name="Picture 3">
            <a:extLst>
              <a:ext uri="{FF2B5EF4-FFF2-40B4-BE49-F238E27FC236}">
                <a16:creationId xmlns:a16="http://schemas.microsoft.com/office/drawing/2014/main" id="{2F7584AB-C60A-1E61-9EF3-89F5FA22E3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576" y="2917518"/>
            <a:ext cx="843592" cy="391737"/>
          </a:xfrm>
          <a:prstGeom prst="rect">
            <a:avLst/>
          </a:prstGeom>
        </p:spPr>
      </p:pic>
      <p:sp>
        <p:nvSpPr>
          <p:cNvPr id="43" name="Content Placeholder 2">
            <a:extLst>
              <a:ext uri="{FF2B5EF4-FFF2-40B4-BE49-F238E27FC236}">
                <a16:creationId xmlns:a16="http://schemas.microsoft.com/office/drawing/2014/main" id="{13B523C1-DCEE-4020-72A7-64E016A3380E}"/>
              </a:ext>
            </a:extLst>
          </p:cNvPr>
          <p:cNvSpPr txBox="1">
            <a:spLocks/>
          </p:cNvSpPr>
          <p:nvPr/>
        </p:nvSpPr>
        <p:spPr>
          <a:xfrm>
            <a:off x="1011105" y="4189486"/>
            <a:ext cx="9683623" cy="1987581"/>
          </a:xfrm>
          <a:prstGeom prst="rect">
            <a:avLst/>
          </a:prstGeom>
        </p:spPr>
        <p:style>
          <a:lnRef idx="2">
            <a:schemeClr val="accent4"/>
          </a:lnRef>
          <a:fillRef idx="1">
            <a:schemeClr val="lt1"/>
          </a:fillRef>
          <a:effectRef idx="0">
            <a:schemeClr val="accent4"/>
          </a:effectRef>
          <a:fontRef idx="minor">
            <a:schemeClr val="dk1"/>
          </a:fontRef>
        </p:style>
        <p:txBody>
          <a:bodyPr/>
          <a:lst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215995" marR="0" lvl="0" indent="-215995"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Recruitment timeline extended for ~4 months on 4Sep:</a:t>
            </a:r>
          </a:p>
          <a:p>
            <a:pPr marL="431989" marR="0" lvl="1" indent="-215995"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prstClr val="black"/>
                </a:solidFill>
                <a:effectLst/>
                <a:uLnTx/>
                <a:uFillTx/>
                <a:latin typeface="Calibri" panose="020F0502020204030204" pitchFamily="34" charset="0"/>
                <a:ea typeface="SimSun" panose="02010600030101010101" pitchFamily="2" charset="-122"/>
                <a:cs typeface="Calibri" panose="020F0502020204030204" pitchFamily="34" charset="0"/>
              </a:rPr>
              <a:t>Changed Total Screened to </a:t>
            </a:r>
            <a:r>
              <a:rPr kumimoji="0" lang="en-US" altLang="zh-CN" sz="1600" b="1" i="0" u="sng" strike="noStrike" kern="1200" cap="none" spc="0" normalizeH="0" baseline="0" noProof="0">
                <a:ln>
                  <a:noFill/>
                </a:ln>
                <a:solidFill>
                  <a:prstClr val="black"/>
                </a:solidFill>
                <a:effectLst/>
                <a:uLnTx/>
                <a:uFillTx/>
                <a:latin typeface="Calibri" panose="020F0502020204030204" pitchFamily="34" charset="0"/>
                <a:ea typeface="SimSun" panose="02010600030101010101" pitchFamily="2" charset="-122"/>
                <a:cs typeface="Calibri" panose="020F0502020204030204" pitchFamily="34" charset="0"/>
              </a:rPr>
              <a:t>206</a:t>
            </a:r>
            <a:r>
              <a:rPr kumimoji="0" lang="en-US" altLang="zh-CN" sz="1600" b="0" i="0" u="none" strike="noStrike" kern="1200" cap="none" spc="0" normalizeH="0" baseline="0" noProof="0">
                <a:ln>
                  <a:noFill/>
                </a:ln>
                <a:solidFill>
                  <a:prstClr val="black"/>
                </a:solidFill>
                <a:effectLst/>
                <a:uLnTx/>
                <a:uFillTx/>
                <a:latin typeface="Calibri" panose="020F0502020204030204" pitchFamily="34" charset="0"/>
                <a:ea typeface="SimSun" panose="02010600030101010101" pitchFamily="2" charset="-122"/>
                <a:cs typeface="Calibri" panose="020F0502020204030204" pitchFamily="34" charset="0"/>
              </a:rPr>
              <a:t> from </a:t>
            </a:r>
            <a:r>
              <a:rPr kumimoji="0" lang="en-US" altLang="zh-CN" sz="1600" b="1" i="0" u="sng" strike="noStrike" kern="1200" cap="none" spc="0" normalizeH="0" baseline="0" noProof="0">
                <a:ln>
                  <a:noFill/>
                </a:ln>
                <a:solidFill>
                  <a:prstClr val="black"/>
                </a:solidFill>
                <a:effectLst/>
                <a:uLnTx/>
                <a:uFillTx/>
                <a:latin typeface="Calibri" panose="020F0502020204030204" pitchFamily="34" charset="0"/>
                <a:ea typeface="SimSun" panose="02010600030101010101" pitchFamily="2" charset="-122"/>
                <a:cs typeface="Calibri" panose="020F0502020204030204" pitchFamily="34" charset="0"/>
              </a:rPr>
              <a:t>134</a:t>
            </a:r>
          </a:p>
          <a:p>
            <a:pPr marL="431989" marR="0" lvl="1" indent="-215995"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Changed Last Subject Randomized to </a:t>
            </a:r>
            <a:r>
              <a:rPr kumimoji="0" lang="en-US" altLang="zh-CN" sz="1600" b="1" i="0" u="sng"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Oct 2026 </a:t>
            </a:r>
            <a:r>
              <a:rPr kumimoji="0" lang="en-US" altLang="zh-CN"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from </a:t>
            </a:r>
            <a:r>
              <a:rPr kumimoji="0" lang="en-US" altLang="zh-CN" sz="1600" b="1" i="0" u="sng"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Jun 2026</a:t>
            </a:r>
          </a:p>
          <a:p>
            <a:pPr marL="791980" marR="0" lvl="3" indent="-215995" algn="l" defTabSz="914377"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altLang="zh-CN" sz="1600" b="0" i="1"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China mainland: changed to </a:t>
            </a:r>
            <a:r>
              <a:rPr kumimoji="0" lang="en-US" altLang="zh-CN" sz="1600" b="1" i="1" u="sng"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Aug 2026 </a:t>
            </a:r>
            <a:r>
              <a:rPr kumimoji="0" lang="en-US" altLang="zh-CN" sz="1600" b="0" i="1"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from </a:t>
            </a:r>
            <a:r>
              <a:rPr kumimoji="0" lang="en-US" altLang="zh-CN" sz="1600" b="1" i="1" u="sng"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Apr 2026</a:t>
            </a:r>
            <a:endParaRPr kumimoji="0" lang="en-US" altLang="zh-CN" sz="1600" b="1" i="1" u="sng" strike="noStrike" kern="1200" cap="none" spc="0" normalizeH="0" baseline="0" noProof="0">
              <a:ln>
                <a:noFill/>
              </a:ln>
              <a:solidFill>
                <a:prstClr val="black"/>
              </a:solidFill>
              <a:effectLst/>
              <a:uLnTx/>
              <a:uFillTx/>
              <a:latin typeface="Calibri" panose="020F0502020204030204" pitchFamily="34" charset="0"/>
              <a:ea typeface="SimSun" panose="02010600030101010101" pitchFamily="2" charset="-122"/>
              <a:cs typeface="Calibri" panose="020F0502020204030204" pitchFamily="34" charset="0"/>
            </a:endParaRPr>
          </a:p>
          <a:p>
            <a:pPr marL="431989" marR="0" lvl="1" indent="-215995"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Changed DBL date to </a:t>
            </a:r>
            <a:r>
              <a:rPr kumimoji="0" lang="en-US" altLang="zh-CN" sz="1600" b="1" i="0" u="sng"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Feb 2028</a:t>
            </a:r>
            <a:r>
              <a:rPr kumimoji="0" lang="en-US" altLang="zh-CN"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from </a:t>
            </a:r>
            <a:r>
              <a:rPr kumimoji="0" lang="en-US" altLang="zh-CN" sz="1600" b="1" i="0" u="sng"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Oct 2027</a:t>
            </a:r>
            <a:endParaRPr kumimoji="0" lang="zh-CN" altLang="zh-CN" sz="1800" b="1" i="0" u="sng" strike="noStrike" kern="1200" cap="none" spc="0" normalizeH="0" baseline="0" noProof="0">
              <a:ln>
                <a:noFill/>
              </a:ln>
              <a:solidFill>
                <a:prstClr val="black"/>
              </a:solidFill>
              <a:effectLst/>
              <a:uLnTx/>
              <a:uFillTx/>
              <a:latin typeface="Calibri" panose="020F0502020204030204" pitchFamily="34" charset="0"/>
              <a:ea typeface="SimSun" panose="02010600030101010101" pitchFamily="2" charset="-122"/>
              <a:cs typeface="Calibri" panose="020F0502020204030204" pitchFamily="34" charset="0"/>
            </a:endParaRPr>
          </a:p>
        </p:txBody>
      </p:sp>
      <p:sp>
        <p:nvSpPr>
          <p:cNvPr id="17" name="OTLSHAPE_T_5a934a26f311425e8ebaa0f45e6533ad_Shape">
            <a:extLst>
              <a:ext uri="{FF2B5EF4-FFF2-40B4-BE49-F238E27FC236}">
                <a16:creationId xmlns:a16="http://schemas.microsoft.com/office/drawing/2014/main" id="{8019053A-DE23-C023-9496-9372F45711D7}"/>
              </a:ext>
            </a:extLst>
          </p:cNvPr>
          <p:cNvSpPr/>
          <p:nvPr/>
        </p:nvSpPr>
        <p:spPr bwMode="auto">
          <a:xfrm>
            <a:off x="3403190" y="2414948"/>
            <a:ext cx="4608000" cy="272847"/>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FSS-LSR n=90,</a:t>
            </a:r>
            <a:r>
              <a:rPr kumimoji="0" lang="zh-CN" altLang="en-US"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recruit. Window: ~21m,</a:t>
            </a:r>
          </a:p>
        </p:txBody>
      </p:sp>
      <p:sp>
        <p:nvSpPr>
          <p:cNvPr id="20" name="OTLSHAPE_T_5a934a26f311425e8ebaa0f45e6533ad_Shape">
            <a:extLst>
              <a:ext uri="{FF2B5EF4-FFF2-40B4-BE49-F238E27FC236}">
                <a16:creationId xmlns:a16="http://schemas.microsoft.com/office/drawing/2014/main" id="{1C975A8C-DEA6-8090-5B9B-0A8A6A9B057B}"/>
              </a:ext>
            </a:extLst>
          </p:cNvPr>
          <p:cNvSpPr/>
          <p:nvPr/>
        </p:nvSpPr>
        <p:spPr bwMode="auto">
          <a:xfrm>
            <a:off x="3419225" y="3303584"/>
            <a:ext cx="4320000" cy="289187"/>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FSS-LSR n=14, recruit. window: ~18m</a:t>
            </a:r>
          </a:p>
        </p:txBody>
      </p:sp>
      <p:sp>
        <p:nvSpPr>
          <p:cNvPr id="22" name="TextBox 13">
            <a:extLst>
              <a:ext uri="{FF2B5EF4-FFF2-40B4-BE49-F238E27FC236}">
                <a16:creationId xmlns:a16="http://schemas.microsoft.com/office/drawing/2014/main" id="{A9E66B2C-EBED-0E52-E5B3-776F67150EA5}"/>
              </a:ext>
            </a:extLst>
          </p:cNvPr>
          <p:cNvSpPr txBox="1"/>
          <p:nvPr/>
        </p:nvSpPr>
        <p:spPr bwMode="gray">
          <a:xfrm>
            <a:off x="2831146" y="2390757"/>
            <a:ext cx="626150" cy="33855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a:t>
            </a:r>
            <a:r>
              <a:rPr kumimoji="0" lang="en-US" altLang="zh-CN" sz="800" b="1" i="0" u="none" strike="noStrike" kern="1200" cap="none" spc="0" normalizeH="0" baseline="3000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a:t>
            </a: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SIV: 14Jan2025</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5" name="TextBox 16">
            <a:extLst>
              <a:ext uri="{FF2B5EF4-FFF2-40B4-BE49-F238E27FC236}">
                <a16:creationId xmlns:a16="http://schemas.microsoft.com/office/drawing/2014/main" id="{6C3ED191-F09E-FFB4-DEF3-134FEA7E3967}"/>
              </a:ext>
            </a:extLst>
          </p:cNvPr>
          <p:cNvSpPr txBox="1"/>
          <p:nvPr/>
        </p:nvSpPr>
        <p:spPr bwMode="gray">
          <a:xfrm>
            <a:off x="2785674" y="3681129"/>
            <a:ext cx="659848" cy="33855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1</a:t>
            </a:r>
            <a:r>
              <a:rPr kumimoji="0" lang="en-US" altLang="zh-CN" sz="800" b="1" i="0" u="none" strike="noStrike" kern="1200" cap="none" spc="0" normalizeH="0" baseline="3000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st</a:t>
            </a: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 SIV: 15Jan 2025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41" name="Star: 4 Points 143">
            <a:extLst>
              <a:ext uri="{FF2B5EF4-FFF2-40B4-BE49-F238E27FC236}">
                <a16:creationId xmlns:a16="http://schemas.microsoft.com/office/drawing/2014/main" id="{A528CDD2-6A53-D621-7D3A-0C55CB66370A}"/>
              </a:ext>
            </a:extLst>
          </p:cNvPr>
          <p:cNvSpPr/>
          <p:nvPr/>
        </p:nvSpPr>
        <p:spPr bwMode="auto">
          <a:xfrm>
            <a:off x="3043701" y="355735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35" name="Star: 4 Points 143">
            <a:extLst>
              <a:ext uri="{FF2B5EF4-FFF2-40B4-BE49-F238E27FC236}">
                <a16:creationId xmlns:a16="http://schemas.microsoft.com/office/drawing/2014/main" id="{FD4B585F-B467-262F-E2F1-0D79FA52CC17}"/>
              </a:ext>
            </a:extLst>
          </p:cNvPr>
          <p:cNvSpPr/>
          <p:nvPr/>
        </p:nvSpPr>
        <p:spPr bwMode="auto">
          <a:xfrm>
            <a:off x="3398467" y="2229884"/>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6" name="TextBox 13">
            <a:extLst>
              <a:ext uri="{FF2B5EF4-FFF2-40B4-BE49-F238E27FC236}">
                <a16:creationId xmlns:a16="http://schemas.microsoft.com/office/drawing/2014/main" id="{793F68DF-6E79-1D15-BE77-446759A79F7E}"/>
              </a:ext>
            </a:extLst>
          </p:cNvPr>
          <p:cNvSpPr txBox="1"/>
          <p:nvPr/>
        </p:nvSpPr>
        <p:spPr bwMode="gray">
          <a:xfrm>
            <a:off x="3461178" y="2227090"/>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FSS: 4Feb2025</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7" name="Star: 4 Points 143">
            <a:extLst>
              <a:ext uri="{FF2B5EF4-FFF2-40B4-BE49-F238E27FC236}">
                <a16:creationId xmlns:a16="http://schemas.microsoft.com/office/drawing/2014/main" id="{61B8F1EB-CE26-8515-9F3B-0C9DBCD96320}"/>
              </a:ext>
            </a:extLst>
          </p:cNvPr>
          <p:cNvSpPr/>
          <p:nvPr/>
        </p:nvSpPr>
        <p:spPr bwMode="auto">
          <a:xfrm>
            <a:off x="3365475" y="3557357"/>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0" name="OTLSHAPE_T_e17f3958430f4cff8650518c93c7635e_Shape">
            <a:extLst>
              <a:ext uri="{FF2B5EF4-FFF2-40B4-BE49-F238E27FC236}">
                <a16:creationId xmlns:a16="http://schemas.microsoft.com/office/drawing/2014/main" id="{1FA27E43-B33A-8136-30CD-D90D7CA51C4C}"/>
              </a:ext>
            </a:extLst>
          </p:cNvPr>
          <p:cNvSpPr/>
          <p:nvPr>
            <p:custDataLst>
              <p:tags r:id="rId2"/>
            </p:custDataLst>
          </p:nvPr>
        </p:nvSpPr>
        <p:spPr bwMode="auto">
          <a:xfrm>
            <a:off x="1908238" y="3288995"/>
            <a:ext cx="1512000" cy="296429"/>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1" rIns="68580" bIns="34291" numCol="1" rtlCol="0" anchor="ctr" anchorCtr="0" compatLnSpc="1">
            <a:prstTxWarp prst="textNoShape">
              <a:avLst/>
            </a:prstTxWarp>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nvGrpSpPr>
          <p:cNvPr id="29" name="Group 25">
            <a:extLst>
              <a:ext uri="{FF2B5EF4-FFF2-40B4-BE49-F238E27FC236}">
                <a16:creationId xmlns:a16="http://schemas.microsoft.com/office/drawing/2014/main" id="{EF824981-866E-2C35-C1A5-DED04972C99F}"/>
              </a:ext>
            </a:extLst>
          </p:cNvPr>
          <p:cNvGrpSpPr/>
          <p:nvPr/>
        </p:nvGrpSpPr>
        <p:grpSpPr>
          <a:xfrm>
            <a:off x="5404033" y="1646056"/>
            <a:ext cx="728996" cy="2349073"/>
            <a:chOff x="2049323" y="1793847"/>
            <a:chExt cx="728996" cy="3507100"/>
          </a:xfrm>
        </p:grpSpPr>
        <p:sp>
          <p:nvSpPr>
            <p:cNvPr id="30" name="OTLSHAPE_T_e17f3958430f4cff8650518c93c7635e_StartDate">
              <a:extLst>
                <a:ext uri="{FF2B5EF4-FFF2-40B4-BE49-F238E27FC236}">
                  <a16:creationId xmlns:a16="http://schemas.microsoft.com/office/drawing/2014/main" id="{09F2716F-6A73-79BE-135B-30B0A047B81C}"/>
                </a:ext>
              </a:extLst>
            </p:cNvPr>
            <p:cNvSpPr txBox="1"/>
            <p:nvPr>
              <p:custDataLst>
                <p:tags r:id="rId3"/>
              </p:custDataLst>
            </p:nvPr>
          </p:nvSpPr>
          <p:spPr>
            <a:xfrm>
              <a:off x="2049323" y="2342455"/>
              <a:ext cx="728996" cy="164212"/>
            </a:xfrm>
            <a:prstGeom prst="rect">
              <a:avLst/>
            </a:prstGeom>
            <a:noFill/>
            <a:ln w="12700">
              <a:noFill/>
            </a:ln>
          </p:spPr>
          <p:txBody>
            <a:bodyPr vert="horz" wrap="square" lIns="0" tIns="0" rIns="0" bIns="0" rtlCol="0" anchor="ctr" anchorCtr="0">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cxnSp>
          <p:nvCxnSpPr>
            <p:cNvPr id="31" name="Straight Connector 22">
              <a:extLst>
                <a:ext uri="{FF2B5EF4-FFF2-40B4-BE49-F238E27FC236}">
                  <a16:creationId xmlns:a16="http://schemas.microsoft.com/office/drawing/2014/main" id="{7F5FAD3F-4F08-F8EC-5B86-4C884DCA46B0}"/>
                </a:ext>
              </a:extLst>
            </p:cNvPr>
            <p:cNvCxnSpPr>
              <a:cxnSpLocks/>
            </p:cNvCxnSpPr>
            <p:nvPr/>
          </p:nvCxnSpPr>
          <p:spPr bwMode="auto">
            <a:xfrm flipV="1">
              <a:off x="2435308" y="1793847"/>
              <a:ext cx="0" cy="3507100"/>
            </a:xfrm>
            <a:prstGeom prst="line">
              <a:avLst/>
            </a:prstGeom>
            <a:solidFill>
              <a:schemeClr val="accent1"/>
            </a:solidFill>
            <a:ln w="6350" cap="flat" cmpd="sng" algn="ctr">
              <a:solidFill>
                <a:srgbClr val="FF0000"/>
              </a:solidFill>
              <a:prstDash val="sysDot"/>
              <a:round/>
              <a:headEnd type="none" w="med" len="med"/>
              <a:tailEnd type="none" w="med" len="med"/>
            </a:ln>
            <a:effectLst/>
          </p:spPr>
        </p:cxnSp>
      </p:grpSp>
      <p:cxnSp>
        <p:nvCxnSpPr>
          <p:cNvPr id="148" name="Straight Connector 147">
            <a:extLst>
              <a:ext uri="{FF2B5EF4-FFF2-40B4-BE49-F238E27FC236}">
                <a16:creationId xmlns:a16="http://schemas.microsoft.com/office/drawing/2014/main" id="{25E4D83B-EE57-671F-C565-DB7501238347}"/>
              </a:ext>
            </a:extLst>
          </p:cNvPr>
          <p:cNvCxnSpPr>
            <a:cxnSpLocks/>
          </p:cNvCxnSpPr>
          <p:nvPr/>
        </p:nvCxnSpPr>
        <p:spPr bwMode="auto">
          <a:xfrm flipH="1">
            <a:off x="-96040" y="2917518"/>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Tree>
    <p:extLst>
      <p:ext uri="{BB962C8B-B14F-4D97-AF65-F5344CB8AC3E}">
        <p14:creationId xmlns:p14="http://schemas.microsoft.com/office/powerpoint/2010/main" val="4200092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4E99C-820B-96AD-A65A-6CB46FCFE851}"/>
            </a:ext>
          </a:extLst>
        </p:cNvPr>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EBC86C9E-76A5-D6E2-90C7-DEC16A7AC776}"/>
              </a:ext>
            </a:extLst>
          </p:cNvPr>
          <p:cNvSpPr>
            <a:spLocks noGrp="1"/>
          </p:cNvSpPr>
          <p:nvPr>
            <p:ph type="sldNum" sz="quarter" idx="11"/>
          </p:nvPr>
        </p:nvSpPr>
        <p:spPr>
          <a:xfrm>
            <a:off x="11522135" y="6246836"/>
            <a:ext cx="288000" cy="288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6" name="标题 1">
            <a:extLst>
              <a:ext uri="{FF2B5EF4-FFF2-40B4-BE49-F238E27FC236}">
                <a16:creationId xmlns:a16="http://schemas.microsoft.com/office/drawing/2014/main" id="{F44F60DD-0405-883F-F5FE-C594926C66A8}"/>
              </a:ext>
            </a:extLst>
          </p:cNvPr>
          <p:cNvSpPr>
            <a:spLocks noGrp="1"/>
          </p:cNvSpPr>
          <p:nvPr>
            <p:ph type="title"/>
          </p:nvPr>
        </p:nvSpPr>
        <p:spPr>
          <a:xfrm>
            <a:off x="347511" y="231782"/>
            <a:ext cx="11557097" cy="720000"/>
          </a:xfrm>
        </p:spPr>
        <p:txBody>
          <a:bodyPr/>
          <a:lstStyle/>
          <a:p>
            <a:r>
              <a:rPr lang="en-US" altLang="zh-CN" sz="2800" err="1">
                <a:latin typeface="+mj-ea"/>
                <a:cs typeface="Calibri" panose="020F0502020204030204" pitchFamily="34" charset="0"/>
              </a:rPr>
              <a:t>Spesolimab</a:t>
            </a:r>
            <a:r>
              <a:rPr lang="en-US" altLang="zh-CN" sz="2800">
                <a:latin typeface="+mj-ea"/>
                <a:cs typeface="Calibri" panose="020F0502020204030204" pitchFamily="34" charset="0"/>
              </a:rPr>
              <a:t> (Anti-IL36R): Pyoderma Gangrenosum (PG)</a:t>
            </a:r>
            <a:br>
              <a:rPr lang="en-US" altLang="zh-CN" sz="2400">
                <a:latin typeface="+mj-ea"/>
                <a:cs typeface="Calibri" panose="020F0502020204030204" pitchFamily="34" charset="0"/>
              </a:rPr>
            </a:br>
            <a:endParaRPr lang="zh-CN" altLang="en-US" sz="2400"/>
          </a:p>
        </p:txBody>
      </p:sp>
      <p:graphicFrame>
        <p:nvGraphicFramePr>
          <p:cNvPr id="8" name="Table 115">
            <a:extLst>
              <a:ext uri="{FF2B5EF4-FFF2-40B4-BE49-F238E27FC236}">
                <a16:creationId xmlns:a16="http://schemas.microsoft.com/office/drawing/2014/main" id="{866532FB-22C1-8D32-A0A6-81B83FE33363}"/>
              </a:ext>
            </a:extLst>
          </p:cNvPr>
          <p:cNvGraphicFramePr>
            <a:graphicFrameLocks noGrp="1"/>
          </p:cNvGraphicFramePr>
          <p:nvPr/>
        </p:nvGraphicFramePr>
        <p:xfrm>
          <a:off x="352310" y="1338104"/>
          <a:ext cx="11713170" cy="615903"/>
        </p:xfrm>
        <a:graphic>
          <a:graphicData uri="http://schemas.openxmlformats.org/drawingml/2006/table">
            <a:tbl>
              <a:tblPr firstRow="1" bandRow="1"/>
              <a:tblGrid>
                <a:gridCol w="689010">
                  <a:extLst>
                    <a:ext uri="{9D8B030D-6E8A-4147-A177-3AD203B41FA5}">
                      <a16:colId xmlns:a16="http://schemas.microsoft.com/office/drawing/2014/main" val="2466911814"/>
                    </a:ext>
                  </a:extLst>
                </a:gridCol>
                <a:gridCol w="689010">
                  <a:extLst>
                    <a:ext uri="{9D8B030D-6E8A-4147-A177-3AD203B41FA5}">
                      <a16:colId xmlns:a16="http://schemas.microsoft.com/office/drawing/2014/main" val="3023231563"/>
                    </a:ext>
                  </a:extLst>
                </a:gridCol>
                <a:gridCol w="689010">
                  <a:extLst>
                    <a:ext uri="{9D8B030D-6E8A-4147-A177-3AD203B41FA5}">
                      <a16:colId xmlns:a16="http://schemas.microsoft.com/office/drawing/2014/main" val="3411862845"/>
                    </a:ext>
                  </a:extLst>
                </a:gridCol>
                <a:gridCol w="689010">
                  <a:extLst>
                    <a:ext uri="{9D8B030D-6E8A-4147-A177-3AD203B41FA5}">
                      <a16:colId xmlns:a16="http://schemas.microsoft.com/office/drawing/2014/main" val="2851474774"/>
                    </a:ext>
                  </a:extLst>
                </a:gridCol>
                <a:gridCol w="689010">
                  <a:extLst>
                    <a:ext uri="{9D8B030D-6E8A-4147-A177-3AD203B41FA5}">
                      <a16:colId xmlns:a16="http://schemas.microsoft.com/office/drawing/2014/main" val="107595344"/>
                    </a:ext>
                  </a:extLst>
                </a:gridCol>
                <a:gridCol w="689010">
                  <a:extLst>
                    <a:ext uri="{9D8B030D-6E8A-4147-A177-3AD203B41FA5}">
                      <a16:colId xmlns:a16="http://schemas.microsoft.com/office/drawing/2014/main" val="1666999431"/>
                    </a:ext>
                  </a:extLst>
                </a:gridCol>
                <a:gridCol w="689010">
                  <a:extLst>
                    <a:ext uri="{9D8B030D-6E8A-4147-A177-3AD203B41FA5}">
                      <a16:colId xmlns:a16="http://schemas.microsoft.com/office/drawing/2014/main" val="3696607442"/>
                    </a:ext>
                  </a:extLst>
                </a:gridCol>
                <a:gridCol w="689010">
                  <a:extLst>
                    <a:ext uri="{9D8B030D-6E8A-4147-A177-3AD203B41FA5}">
                      <a16:colId xmlns:a16="http://schemas.microsoft.com/office/drawing/2014/main" val="223989776"/>
                    </a:ext>
                  </a:extLst>
                </a:gridCol>
                <a:gridCol w="689010">
                  <a:extLst>
                    <a:ext uri="{9D8B030D-6E8A-4147-A177-3AD203B41FA5}">
                      <a16:colId xmlns:a16="http://schemas.microsoft.com/office/drawing/2014/main" val="124731204"/>
                    </a:ext>
                  </a:extLst>
                </a:gridCol>
                <a:gridCol w="689010">
                  <a:extLst>
                    <a:ext uri="{9D8B030D-6E8A-4147-A177-3AD203B41FA5}">
                      <a16:colId xmlns:a16="http://schemas.microsoft.com/office/drawing/2014/main" val="3066978585"/>
                    </a:ext>
                  </a:extLst>
                </a:gridCol>
                <a:gridCol w="689010">
                  <a:extLst>
                    <a:ext uri="{9D8B030D-6E8A-4147-A177-3AD203B41FA5}">
                      <a16:colId xmlns:a16="http://schemas.microsoft.com/office/drawing/2014/main" val="1064917641"/>
                    </a:ext>
                  </a:extLst>
                </a:gridCol>
                <a:gridCol w="689010">
                  <a:extLst>
                    <a:ext uri="{9D8B030D-6E8A-4147-A177-3AD203B41FA5}">
                      <a16:colId xmlns:a16="http://schemas.microsoft.com/office/drawing/2014/main" val="4221117315"/>
                    </a:ext>
                  </a:extLst>
                </a:gridCol>
                <a:gridCol w="689010">
                  <a:extLst>
                    <a:ext uri="{9D8B030D-6E8A-4147-A177-3AD203B41FA5}">
                      <a16:colId xmlns:a16="http://schemas.microsoft.com/office/drawing/2014/main" val="3266065341"/>
                    </a:ext>
                  </a:extLst>
                </a:gridCol>
                <a:gridCol w="689010">
                  <a:extLst>
                    <a:ext uri="{9D8B030D-6E8A-4147-A177-3AD203B41FA5}">
                      <a16:colId xmlns:a16="http://schemas.microsoft.com/office/drawing/2014/main" val="2374051224"/>
                    </a:ext>
                  </a:extLst>
                </a:gridCol>
                <a:gridCol w="689010">
                  <a:extLst>
                    <a:ext uri="{9D8B030D-6E8A-4147-A177-3AD203B41FA5}">
                      <a16:colId xmlns:a16="http://schemas.microsoft.com/office/drawing/2014/main" val="1840388365"/>
                    </a:ext>
                  </a:extLst>
                </a:gridCol>
                <a:gridCol w="689010">
                  <a:extLst>
                    <a:ext uri="{9D8B030D-6E8A-4147-A177-3AD203B41FA5}">
                      <a16:colId xmlns:a16="http://schemas.microsoft.com/office/drawing/2014/main" val="267750830"/>
                    </a:ext>
                  </a:extLst>
                </a:gridCol>
                <a:gridCol w="689010">
                  <a:extLst>
                    <a:ext uri="{9D8B030D-6E8A-4147-A177-3AD203B41FA5}">
                      <a16:colId xmlns:a16="http://schemas.microsoft.com/office/drawing/2014/main" val="1677810427"/>
                    </a:ext>
                  </a:extLst>
                </a:gridCol>
              </a:tblGrid>
              <a:tr h="259080">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2024</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2025</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2026</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2027</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r>
                        <a:rPr lang="en-US" altLang="zh-CN" sz="1100" b="1">
                          <a:solidFill>
                            <a:schemeClr val="bg1"/>
                          </a:solidFill>
                          <a:latin typeface="Arial" panose="020B0604020202020204" pitchFamily="34" charset="0"/>
                          <a:cs typeface="Arial" panose="020B0604020202020204" pitchFamily="34" charset="0"/>
                        </a:rPr>
                        <a:t>2028</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56823">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9" name="OTLSHAPE_T_e17f3958430f4cff8650518c93c7635e_StartDate">
            <a:extLst>
              <a:ext uri="{FF2B5EF4-FFF2-40B4-BE49-F238E27FC236}">
                <a16:creationId xmlns:a16="http://schemas.microsoft.com/office/drawing/2014/main" id="{C7442609-F415-710B-A9B3-5055D03B2CC1}"/>
              </a:ext>
            </a:extLst>
          </p:cNvPr>
          <p:cNvSpPr txBox="1"/>
          <p:nvPr>
            <p:custDataLst>
              <p:tags r:id="rId1"/>
            </p:custDataLst>
          </p:nvPr>
        </p:nvSpPr>
        <p:spPr>
          <a:xfrm>
            <a:off x="1758572" y="3698578"/>
            <a:ext cx="723959" cy="123111"/>
          </a:xfrm>
          <a:prstGeom prst="rect">
            <a:avLst/>
          </a:prstGeom>
          <a:noFill/>
        </p:spPr>
        <p:txBody>
          <a:bodyPr vert="horz" wrap="square" lIns="0" tIns="0" rIns="0" bIns="0" rtlCol="0" anchor="ctr" anchorCtr="0">
            <a:spAutoFit/>
          </a:bodyPr>
          <a:lstStyle>
            <a:defPPr>
              <a:defRPr lang="de-DE"/>
            </a:defPPr>
            <a:lvl1pPr algn="ctr" defTabSz="914378">
              <a:defRPr sz="600" b="1">
                <a:solidFill>
                  <a:srgbClr val="44546A"/>
                </a:solidFill>
                <a:latin typeface="Calibri"/>
                <a:cs typeface="Calibri"/>
              </a:defRPr>
            </a:lvl1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CTA Jul2024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1" name="OTLSHAPE_T_5a934a26f311425e8ebaa0f45e6533ad_Shape">
            <a:extLst>
              <a:ext uri="{FF2B5EF4-FFF2-40B4-BE49-F238E27FC236}">
                <a16:creationId xmlns:a16="http://schemas.microsoft.com/office/drawing/2014/main" id="{6293A920-51FC-B4B5-64E0-0104914C4D31}"/>
              </a:ext>
            </a:extLst>
          </p:cNvPr>
          <p:cNvSpPr/>
          <p:nvPr/>
        </p:nvSpPr>
        <p:spPr bwMode="auto">
          <a:xfrm>
            <a:off x="385706" y="3288416"/>
            <a:ext cx="1512000" cy="303360"/>
          </a:xfrm>
          <a:prstGeom prst="roundRect">
            <a:avLst/>
          </a:prstGeom>
          <a:solidFill>
            <a:schemeClr val="accent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Pre-IND</a:t>
            </a:r>
          </a:p>
        </p:txBody>
      </p:sp>
      <p:sp>
        <p:nvSpPr>
          <p:cNvPr id="12" name="Rectangle 76">
            <a:extLst>
              <a:ext uri="{FF2B5EF4-FFF2-40B4-BE49-F238E27FC236}">
                <a16:creationId xmlns:a16="http://schemas.microsoft.com/office/drawing/2014/main" id="{47A1E127-9B87-FC20-A66C-785453A3A36F}"/>
              </a:ext>
            </a:extLst>
          </p:cNvPr>
          <p:cNvSpPr/>
          <p:nvPr/>
        </p:nvSpPr>
        <p:spPr>
          <a:xfrm>
            <a:off x="347511" y="3698578"/>
            <a:ext cx="756000" cy="246221"/>
          </a:xfrm>
          <a:prstGeom prst="rect">
            <a:avLst/>
          </a:prstGeom>
          <a:noFill/>
        </p:spPr>
        <p:txBody>
          <a:bodyPr vert="horz" wrap="square" lIns="0" tIns="0" rIns="0" bIns="0" rtlCol="0" anchor="ctr" anchorCtr="0">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Meeting request</a:t>
            </a:r>
          </a:p>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Jan2024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3" name="Star: 4 Points 143">
            <a:extLst>
              <a:ext uri="{FF2B5EF4-FFF2-40B4-BE49-F238E27FC236}">
                <a16:creationId xmlns:a16="http://schemas.microsoft.com/office/drawing/2014/main" id="{7CBB1B60-64C7-6F5B-C511-9EC0F1CECBBD}"/>
              </a:ext>
            </a:extLst>
          </p:cNvPr>
          <p:cNvSpPr/>
          <p:nvPr/>
        </p:nvSpPr>
        <p:spPr bwMode="auto">
          <a:xfrm>
            <a:off x="309503" y="355735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5" name="TextBox 5">
            <a:extLst>
              <a:ext uri="{FF2B5EF4-FFF2-40B4-BE49-F238E27FC236}">
                <a16:creationId xmlns:a16="http://schemas.microsoft.com/office/drawing/2014/main" id="{CE90C376-72A7-F1A2-43EF-129EF3797C78}"/>
              </a:ext>
            </a:extLst>
          </p:cNvPr>
          <p:cNvSpPr txBox="1"/>
          <p:nvPr/>
        </p:nvSpPr>
        <p:spPr>
          <a:xfrm>
            <a:off x="10807122" y="3997162"/>
            <a:ext cx="1258358" cy="636008"/>
          </a:xfrm>
          <a:prstGeom prst="rect">
            <a:avLst/>
          </a:prstGeom>
          <a:noFill/>
        </p:spPr>
        <p:txBody>
          <a:bodyPr wrap="square" lIns="0" tIns="0" rIns="0" bIns="0" rtlCol="0">
            <a:spAutoFit/>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FSS: First subject screening</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LSS: Last subject screening</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LSC: Last subject complete</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LSR: Last subject randomization</a:t>
            </a:r>
            <a:endParaRPr kumimoji="0" lang="zh-CN" altLang="en-US" sz="800" b="0" i="0" u="none" strike="noStrike" kern="1200" cap="none" spc="0" normalizeH="0" baseline="0" noProof="0">
              <a:ln>
                <a:noFill/>
              </a:ln>
              <a:solidFill>
                <a:srgbClr val="FFFFFF">
                  <a:lumMod val="50000"/>
                </a:srgbClr>
              </a:solidFill>
              <a:effectLst/>
              <a:uLnTx/>
              <a:uFillTx/>
              <a:latin typeface="BISansCond"/>
              <a:ea typeface="+mn-ea"/>
              <a:cs typeface="+mn-cs"/>
            </a:endParaRPr>
          </a:p>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zh-CN" altLang="en-US" sz="933" b="0" i="0" u="none" strike="noStrike" kern="1200" cap="none" spc="0" normalizeH="0" baseline="0" noProof="0">
              <a:ln>
                <a:noFill/>
              </a:ln>
              <a:solidFill>
                <a:srgbClr val="FFFFFF">
                  <a:lumMod val="50000"/>
                </a:srgbClr>
              </a:solidFill>
              <a:effectLst/>
              <a:uLnTx/>
              <a:uFillTx/>
              <a:latin typeface="BISansCond"/>
              <a:ea typeface="+mn-ea"/>
              <a:cs typeface="+mn-cs"/>
            </a:endParaRPr>
          </a:p>
        </p:txBody>
      </p:sp>
      <p:sp>
        <p:nvSpPr>
          <p:cNvPr id="16" name="Star: 4 Points 143">
            <a:extLst>
              <a:ext uri="{FF2B5EF4-FFF2-40B4-BE49-F238E27FC236}">
                <a16:creationId xmlns:a16="http://schemas.microsoft.com/office/drawing/2014/main" id="{1FCF1966-362C-A1BB-30E7-8175B369089C}"/>
              </a:ext>
            </a:extLst>
          </p:cNvPr>
          <p:cNvSpPr/>
          <p:nvPr/>
        </p:nvSpPr>
        <p:spPr bwMode="auto">
          <a:xfrm>
            <a:off x="1824214" y="355735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9" name="Star: 4 Points 143">
            <a:extLst>
              <a:ext uri="{FF2B5EF4-FFF2-40B4-BE49-F238E27FC236}">
                <a16:creationId xmlns:a16="http://schemas.microsoft.com/office/drawing/2014/main" id="{3898D41E-6640-50DB-3064-D5A936236DD6}"/>
              </a:ext>
            </a:extLst>
          </p:cNvPr>
          <p:cNvSpPr/>
          <p:nvPr/>
        </p:nvSpPr>
        <p:spPr bwMode="auto">
          <a:xfrm>
            <a:off x="1792857" y="2229884"/>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1" name="TextBox 12">
            <a:extLst>
              <a:ext uri="{FF2B5EF4-FFF2-40B4-BE49-F238E27FC236}">
                <a16:creationId xmlns:a16="http://schemas.microsoft.com/office/drawing/2014/main" id="{BE7C9E27-871A-6777-33DB-4F01502299F1}"/>
              </a:ext>
            </a:extLst>
          </p:cNvPr>
          <p:cNvSpPr txBox="1"/>
          <p:nvPr/>
        </p:nvSpPr>
        <p:spPr bwMode="gray">
          <a:xfrm>
            <a:off x="1520431" y="2390757"/>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CTA Jul 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3" name="TextBox 14">
            <a:extLst>
              <a:ext uri="{FF2B5EF4-FFF2-40B4-BE49-F238E27FC236}">
                <a16:creationId xmlns:a16="http://schemas.microsoft.com/office/drawing/2014/main" id="{B808DE17-DB26-4E78-91F0-5734C29655A3}"/>
              </a:ext>
            </a:extLst>
          </p:cNvPr>
          <p:cNvSpPr txBox="1"/>
          <p:nvPr/>
        </p:nvSpPr>
        <p:spPr bwMode="gray">
          <a:xfrm>
            <a:off x="11057623" y="2192885"/>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effectLst/>
                <a:uLnTx/>
                <a:uFillTx/>
                <a:latin typeface="Calibri"/>
                <a:ea typeface="+mn-ea"/>
                <a:cs typeface="Calibri"/>
              </a:rPr>
              <a:t>Feb  2028</a:t>
            </a:r>
            <a:endParaRPr kumimoji="0" lang="zh-CN" altLang="en-US" sz="800" b="1" i="0" u="none" strike="noStrike" kern="1200" cap="none" spc="0" normalizeH="0" baseline="0" noProof="0">
              <a:ln>
                <a:noFill/>
              </a:ln>
              <a:effectLst/>
              <a:uLnTx/>
              <a:uFillTx/>
              <a:latin typeface="Calibri"/>
              <a:ea typeface="+mn-ea"/>
              <a:cs typeface="Calibri"/>
            </a:endParaRPr>
          </a:p>
        </p:txBody>
      </p:sp>
      <p:sp>
        <p:nvSpPr>
          <p:cNvPr id="26" name="OTLSHAPE_T_5a934a26f311425e8ebaa0f45e6533ad_Shape">
            <a:extLst>
              <a:ext uri="{FF2B5EF4-FFF2-40B4-BE49-F238E27FC236}">
                <a16:creationId xmlns:a16="http://schemas.microsoft.com/office/drawing/2014/main" id="{8FCB3698-FC5D-A2E7-C741-4468DF95535F}"/>
              </a:ext>
            </a:extLst>
          </p:cNvPr>
          <p:cNvSpPr/>
          <p:nvPr/>
        </p:nvSpPr>
        <p:spPr bwMode="auto">
          <a:xfrm>
            <a:off x="8028777" y="2408329"/>
            <a:ext cx="3528000" cy="279466"/>
          </a:xfrm>
          <a:prstGeom prst="round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LSR-LSC</a:t>
            </a:r>
          </a:p>
        </p:txBody>
      </p:sp>
      <p:sp>
        <p:nvSpPr>
          <p:cNvPr id="27" name="TextBox 17">
            <a:extLst>
              <a:ext uri="{FF2B5EF4-FFF2-40B4-BE49-F238E27FC236}">
                <a16:creationId xmlns:a16="http://schemas.microsoft.com/office/drawing/2014/main" id="{13874210-EAE2-AB4B-B120-61EA810B39A2}"/>
              </a:ext>
            </a:extLst>
          </p:cNvPr>
          <p:cNvSpPr txBox="1"/>
          <p:nvPr/>
        </p:nvSpPr>
        <p:spPr bwMode="gray">
          <a:xfrm>
            <a:off x="7885012" y="2227090"/>
            <a:ext cx="911661" cy="21544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effectLst/>
                <a:uLnTx/>
                <a:uFillTx/>
                <a:latin typeface="Calibri"/>
                <a:ea typeface="+mn-ea"/>
                <a:cs typeface="Calibri"/>
              </a:rPr>
              <a:t>Oot2026</a:t>
            </a:r>
            <a:endParaRPr kumimoji="0" lang="zh-CN" altLang="en-US" sz="800" b="1" i="0" u="none" strike="noStrike" kern="1200" cap="none" spc="0" normalizeH="0" baseline="0" noProof="0">
              <a:ln>
                <a:noFill/>
              </a:ln>
              <a:effectLst/>
              <a:uLnTx/>
              <a:uFillTx/>
              <a:latin typeface="Calibri"/>
              <a:ea typeface="+mn-ea"/>
              <a:cs typeface="Calibri"/>
            </a:endParaRPr>
          </a:p>
        </p:txBody>
      </p:sp>
      <p:sp>
        <p:nvSpPr>
          <p:cNvPr id="28" name="OTLSHAPE_T_5a934a26f311425e8ebaa0f45e6533ad_Shape">
            <a:extLst>
              <a:ext uri="{FF2B5EF4-FFF2-40B4-BE49-F238E27FC236}">
                <a16:creationId xmlns:a16="http://schemas.microsoft.com/office/drawing/2014/main" id="{A554A8A0-09CB-80A8-D2CE-BE85A0BDE1F6}"/>
              </a:ext>
            </a:extLst>
          </p:cNvPr>
          <p:cNvSpPr/>
          <p:nvPr/>
        </p:nvSpPr>
        <p:spPr bwMode="auto">
          <a:xfrm>
            <a:off x="7755848" y="3301142"/>
            <a:ext cx="3528000" cy="304620"/>
          </a:xfrm>
          <a:prstGeom prst="round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LSR-LSC</a:t>
            </a:r>
          </a:p>
        </p:txBody>
      </p:sp>
      <p:sp>
        <p:nvSpPr>
          <p:cNvPr id="32" name="TextBox 17">
            <a:extLst>
              <a:ext uri="{FF2B5EF4-FFF2-40B4-BE49-F238E27FC236}">
                <a16:creationId xmlns:a16="http://schemas.microsoft.com/office/drawing/2014/main" id="{F8D74634-A664-953F-2E61-67722143EC91}"/>
              </a:ext>
            </a:extLst>
          </p:cNvPr>
          <p:cNvSpPr txBox="1"/>
          <p:nvPr/>
        </p:nvSpPr>
        <p:spPr bwMode="gray">
          <a:xfrm>
            <a:off x="7629336" y="3681129"/>
            <a:ext cx="911661" cy="21544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effectLst/>
                <a:uLnTx/>
                <a:uFillTx/>
                <a:latin typeface="Calibri"/>
                <a:ea typeface="+mn-ea"/>
                <a:cs typeface="Calibri"/>
              </a:rPr>
              <a:t>Aug2026</a:t>
            </a:r>
            <a:endParaRPr kumimoji="0" lang="zh-CN" altLang="en-US" sz="800" b="1" i="0" u="none" strike="noStrike" kern="1200" cap="none" spc="0" normalizeH="0" baseline="0" noProof="0">
              <a:ln>
                <a:noFill/>
              </a:ln>
              <a:effectLst/>
              <a:uLnTx/>
              <a:uFillTx/>
              <a:latin typeface="Calibri"/>
              <a:ea typeface="+mn-ea"/>
              <a:cs typeface="Calibri"/>
            </a:endParaRPr>
          </a:p>
        </p:txBody>
      </p:sp>
      <p:sp>
        <p:nvSpPr>
          <p:cNvPr id="33" name="TextBox 14">
            <a:extLst>
              <a:ext uri="{FF2B5EF4-FFF2-40B4-BE49-F238E27FC236}">
                <a16:creationId xmlns:a16="http://schemas.microsoft.com/office/drawing/2014/main" id="{750EF03D-426B-5B0C-F453-61E3C02DB6FD}"/>
              </a:ext>
            </a:extLst>
          </p:cNvPr>
          <p:cNvSpPr txBox="1"/>
          <p:nvPr/>
        </p:nvSpPr>
        <p:spPr bwMode="gray">
          <a:xfrm>
            <a:off x="10694728" y="3652411"/>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effectLst/>
                <a:uLnTx/>
                <a:uFillTx/>
                <a:latin typeface="Calibri"/>
                <a:ea typeface="+mn-ea"/>
                <a:cs typeface="Calibri"/>
              </a:rPr>
              <a:t>Dec  2027</a:t>
            </a:r>
            <a:endParaRPr kumimoji="0" lang="zh-CN" altLang="en-US" sz="800" b="1" i="0" u="none" strike="noStrike" kern="1200" cap="none" spc="0" normalizeH="0" baseline="0" noProof="0">
              <a:ln>
                <a:noFill/>
              </a:ln>
              <a:effectLst/>
              <a:uLnTx/>
              <a:uFillTx/>
              <a:latin typeface="Calibri"/>
              <a:ea typeface="+mn-ea"/>
              <a:cs typeface="Calibri"/>
            </a:endParaRPr>
          </a:p>
        </p:txBody>
      </p:sp>
      <p:sp>
        <p:nvSpPr>
          <p:cNvPr id="34" name="Star: 4 Points 143">
            <a:extLst>
              <a:ext uri="{FF2B5EF4-FFF2-40B4-BE49-F238E27FC236}">
                <a16:creationId xmlns:a16="http://schemas.microsoft.com/office/drawing/2014/main" id="{1D6C436F-95B9-020A-B2E5-37EDCB62ACA2}"/>
              </a:ext>
            </a:extLst>
          </p:cNvPr>
          <p:cNvSpPr/>
          <p:nvPr/>
        </p:nvSpPr>
        <p:spPr bwMode="auto">
          <a:xfrm>
            <a:off x="3047282" y="2229884"/>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8" name="TextBox 13">
            <a:extLst>
              <a:ext uri="{FF2B5EF4-FFF2-40B4-BE49-F238E27FC236}">
                <a16:creationId xmlns:a16="http://schemas.microsoft.com/office/drawing/2014/main" id="{51470691-65CB-5457-8A58-32AB11A61ED3}"/>
              </a:ext>
            </a:extLst>
          </p:cNvPr>
          <p:cNvSpPr txBox="1"/>
          <p:nvPr/>
        </p:nvSpPr>
        <p:spPr bwMode="gray">
          <a:xfrm>
            <a:off x="3239957" y="3681129"/>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FSS: 20Feb2025</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39" name="Picture 1">
            <a:extLst>
              <a:ext uri="{FF2B5EF4-FFF2-40B4-BE49-F238E27FC236}">
                <a16:creationId xmlns:a16="http://schemas.microsoft.com/office/drawing/2014/main" id="{6BD163B2-0D12-2DAD-AB84-8FF5BB6E66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787" y="1932881"/>
            <a:ext cx="843380" cy="415665"/>
          </a:xfrm>
          <a:prstGeom prst="rect">
            <a:avLst/>
          </a:prstGeom>
        </p:spPr>
      </p:pic>
      <p:pic>
        <p:nvPicPr>
          <p:cNvPr id="40" name="Picture 3">
            <a:extLst>
              <a:ext uri="{FF2B5EF4-FFF2-40B4-BE49-F238E27FC236}">
                <a16:creationId xmlns:a16="http://schemas.microsoft.com/office/drawing/2014/main" id="{988BFCD7-3E7B-068E-5F2C-29968F062DD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576" y="2917518"/>
            <a:ext cx="843592" cy="391737"/>
          </a:xfrm>
          <a:prstGeom prst="rect">
            <a:avLst/>
          </a:prstGeom>
        </p:spPr>
      </p:pic>
      <p:sp>
        <p:nvSpPr>
          <p:cNvPr id="43" name="Content Placeholder 2">
            <a:extLst>
              <a:ext uri="{FF2B5EF4-FFF2-40B4-BE49-F238E27FC236}">
                <a16:creationId xmlns:a16="http://schemas.microsoft.com/office/drawing/2014/main" id="{0827F773-78DF-ED21-F45D-5B3A1A212D8D}"/>
              </a:ext>
            </a:extLst>
          </p:cNvPr>
          <p:cNvSpPr txBox="1">
            <a:spLocks/>
          </p:cNvSpPr>
          <p:nvPr/>
        </p:nvSpPr>
        <p:spPr>
          <a:xfrm>
            <a:off x="1011105" y="4310672"/>
            <a:ext cx="9683623" cy="2042376"/>
          </a:xfrm>
          <a:prstGeom prst="rect">
            <a:avLst/>
          </a:prstGeom>
        </p:spPr>
        <p:style>
          <a:lnRef idx="2">
            <a:schemeClr val="accent4"/>
          </a:lnRef>
          <a:fillRef idx="1">
            <a:schemeClr val="lt1"/>
          </a:fillRef>
          <a:effectRef idx="0">
            <a:schemeClr val="accent4"/>
          </a:effectRef>
          <a:fontRef idx="minor">
            <a:schemeClr val="dk1"/>
          </a:fontRef>
        </p:style>
        <p:txBody>
          <a:bodyPr lIns="91440" tIns="45720" rIns="91440" bIns="45720" anchor="t"/>
          <a:lst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215900" marR="0" lvl="0" indent="-215900" algn="l" defTabSz="914377"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en-US" altLang="zh-CN" b="1" i="0" u="none" strike="noStrike" kern="1200" cap="none" spc="0" normalizeH="0" baseline="0" noProof="0">
                <a:ln>
                  <a:noFill/>
                </a:ln>
                <a:solidFill>
                  <a:prstClr val="black"/>
                </a:solidFill>
                <a:effectLst/>
                <a:uLnTx/>
                <a:uFillTx/>
                <a:latin typeface="Calibri"/>
                <a:ea typeface="Calibri"/>
                <a:cs typeface="Calibri"/>
              </a:rPr>
              <a:t>Recruitment status as of 5Dec:</a:t>
            </a:r>
            <a:endParaRPr lang="zh-CN" altLang="en-US">
              <a:solidFill>
                <a:prstClr val="black"/>
              </a:solidFill>
              <a:latin typeface="Calibri"/>
              <a:cs typeface="Calibri"/>
            </a:endParaRPr>
          </a:p>
          <a:p>
            <a:pPr marL="431800" lvl="1" indent="-215900">
              <a:lnSpc>
                <a:spcPct val="130000"/>
              </a:lnSpc>
              <a:spcAft>
                <a:spcPts val="0"/>
              </a:spcAft>
              <a:defRPr/>
            </a:pPr>
            <a:r>
              <a:rPr kumimoji="0" lang="en-US" altLang="zh-CN" sz="1400" b="1" i="0" u="none" strike="noStrike" kern="1200" cap="none" spc="0" normalizeH="0" baseline="0" noProof="0">
                <a:ln>
                  <a:noFill/>
                </a:ln>
                <a:solidFill>
                  <a:prstClr val="black"/>
                </a:solidFill>
                <a:effectLst/>
                <a:uLnTx/>
                <a:uFillTx/>
                <a:latin typeface="Calibri"/>
                <a:ea typeface="SimSun"/>
                <a:cs typeface="Calibri"/>
              </a:rPr>
              <a:t>Global: </a:t>
            </a:r>
            <a:r>
              <a:rPr kumimoji="0" lang="en-US" altLang="zh-CN" sz="1400" b="0" i="0" u="none" strike="noStrike" kern="1200" cap="none" spc="0" normalizeH="0" baseline="0" noProof="0">
                <a:ln>
                  <a:noFill/>
                </a:ln>
                <a:solidFill>
                  <a:prstClr val="black"/>
                </a:solidFill>
                <a:effectLst/>
                <a:uLnTx/>
                <a:uFillTx/>
                <a:latin typeface="Calibri"/>
                <a:ea typeface="SimSun"/>
                <a:cs typeface="Calibri"/>
              </a:rPr>
              <a:t>98 </a:t>
            </a:r>
            <a:r>
              <a:rPr kumimoji="0" lang="en-US" altLang="zh-CN" sz="1400" b="0" i="0" u="none" strike="noStrike" kern="1200" cap="none" spc="0" normalizeH="0" baseline="0" noProof="0">
                <a:ln>
                  <a:noFill/>
                </a:ln>
                <a:solidFill>
                  <a:srgbClr val="FF0000"/>
                </a:solidFill>
                <a:effectLst/>
                <a:uLnTx/>
                <a:uFillTx/>
                <a:latin typeface="Calibri"/>
                <a:ea typeface="SimSun"/>
                <a:cs typeface="Calibri"/>
              </a:rPr>
              <a:t>(+4)</a:t>
            </a:r>
            <a:r>
              <a:rPr kumimoji="0" lang="en-US" altLang="zh-CN" sz="1400" b="0" i="0" u="none" strike="noStrike" kern="1200" cap="none" spc="0" normalizeH="0" baseline="0" noProof="0">
                <a:ln>
                  <a:noFill/>
                </a:ln>
                <a:solidFill>
                  <a:prstClr val="black"/>
                </a:solidFill>
                <a:effectLst/>
                <a:uLnTx/>
                <a:uFillTx/>
                <a:latin typeface="Calibri"/>
                <a:ea typeface="SimSun"/>
                <a:cs typeface="Calibri"/>
              </a:rPr>
              <a:t> patients screened, 29 randomized</a:t>
            </a:r>
            <a:r>
              <a:rPr lang="en-US" altLang="zh-CN" sz="1400">
                <a:solidFill>
                  <a:srgbClr val="FF0000"/>
                </a:solidFill>
                <a:latin typeface="Calibri"/>
                <a:ea typeface="SimSun"/>
                <a:cs typeface="Calibri"/>
              </a:rPr>
              <a:t> (+4)</a:t>
            </a:r>
            <a:r>
              <a:rPr kumimoji="0" lang="en-US" altLang="zh-CN" sz="1400" b="0" i="0" u="none" strike="noStrike" kern="1200" cap="none" spc="0" normalizeH="0" baseline="0" noProof="0">
                <a:ln>
                  <a:noFill/>
                </a:ln>
                <a:solidFill>
                  <a:prstClr val="black"/>
                </a:solidFill>
                <a:effectLst/>
                <a:uLnTx/>
                <a:uFillTx/>
                <a:latin typeface="Calibri"/>
                <a:ea typeface="SimSun"/>
                <a:cs typeface="Calibri"/>
              </a:rPr>
              <a:t>, </a:t>
            </a:r>
            <a:r>
              <a:rPr lang="en-US" altLang="zh-CN" sz="1400">
                <a:solidFill>
                  <a:prstClr val="black"/>
                </a:solidFill>
                <a:latin typeface="Calibri"/>
                <a:ea typeface="SimSun"/>
                <a:cs typeface="Calibri"/>
              </a:rPr>
              <a:t>65</a:t>
            </a:r>
            <a:r>
              <a:rPr kumimoji="0" lang="en-US" altLang="zh-CN" sz="1400" b="0" i="0" u="none" strike="noStrike" kern="1200" cap="none" spc="0" normalizeH="0" baseline="0" noProof="0">
                <a:ln>
                  <a:noFill/>
                </a:ln>
                <a:solidFill>
                  <a:prstClr val="black"/>
                </a:solidFill>
                <a:effectLst/>
                <a:uLnTx/>
                <a:uFillTx/>
                <a:latin typeface="Calibri"/>
                <a:ea typeface="SimSun"/>
                <a:cs typeface="Calibri"/>
              </a:rPr>
              <a:t> </a:t>
            </a:r>
            <a:r>
              <a:rPr lang="en-US" altLang="zh-CN" sz="1400">
                <a:solidFill>
                  <a:prstClr val="black"/>
                </a:solidFill>
                <a:latin typeface="Calibri"/>
                <a:ea typeface="SimSun"/>
                <a:cs typeface="Calibri"/>
              </a:rPr>
              <a:t>screen failed, 4</a:t>
            </a:r>
            <a:r>
              <a:rPr kumimoji="0" lang="en-US" altLang="zh-CN" sz="1400" b="0" i="0" u="none" strike="noStrike" kern="1200" cap="none" spc="0" normalizeH="0" baseline="0" noProof="0">
                <a:ln>
                  <a:noFill/>
                </a:ln>
                <a:solidFill>
                  <a:prstClr val="black"/>
                </a:solidFill>
                <a:effectLst/>
                <a:uLnTx/>
                <a:uFillTx/>
                <a:latin typeface="Calibri"/>
                <a:ea typeface="SimSun"/>
                <a:cs typeface="Calibri"/>
              </a:rPr>
              <a:t> in screening.</a:t>
            </a:r>
            <a:endParaRPr lang="en-US" altLang="zh-CN" sz="1400" b="0" i="0" u="none" strike="noStrike" kern="1200" cap="none" spc="0" normalizeH="0" baseline="0" noProof="0">
              <a:ln>
                <a:noFill/>
              </a:ln>
              <a:solidFill>
                <a:prstClr val="black"/>
              </a:solidFill>
              <a:effectLst/>
              <a:uLnTx/>
              <a:uFillTx/>
              <a:latin typeface="Calibri"/>
              <a:ea typeface="SimSun"/>
              <a:cs typeface="Calibri"/>
            </a:endParaRPr>
          </a:p>
          <a:p>
            <a:pPr marL="431800" lvl="1" indent="-215900">
              <a:lnSpc>
                <a:spcPct val="130000"/>
              </a:lnSpc>
              <a:spcAft>
                <a:spcPts val="0"/>
              </a:spcAft>
              <a:defRPr/>
            </a:pPr>
            <a:r>
              <a:rPr kumimoji="0" lang="en-US" altLang="zh-CN" sz="1400" b="1" i="0" u="none" strike="noStrike" kern="1200" cap="none" spc="0" normalizeH="0" baseline="0" noProof="0">
                <a:ln>
                  <a:noFill/>
                </a:ln>
                <a:solidFill>
                  <a:prstClr val="black"/>
                </a:solidFill>
                <a:effectLst/>
                <a:uLnTx/>
                <a:uFillTx/>
                <a:latin typeface="Calibri"/>
                <a:ea typeface="SimSun"/>
                <a:cs typeface="Calibri"/>
              </a:rPr>
              <a:t>China: </a:t>
            </a:r>
            <a:r>
              <a:rPr kumimoji="0" lang="en-US" altLang="zh-CN" sz="1400" b="0" i="0" u="none" strike="noStrike" kern="1200" cap="none" spc="0" normalizeH="0" baseline="0" noProof="0">
                <a:ln>
                  <a:noFill/>
                </a:ln>
                <a:solidFill>
                  <a:prstClr val="black"/>
                </a:solidFill>
                <a:effectLst/>
                <a:uLnTx/>
                <a:uFillTx/>
                <a:latin typeface="Calibri"/>
                <a:ea typeface="SimSun"/>
                <a:cs typeface="Calibri"/>
              </a:rPr>
              <a:t>20 </a:t>
            </a:r>
            <a:r>
              <a:rPr kumimoji="0" lang="en-US" altLang="zh-CN" sz="1400" b="0" i="0" u="none" strike="noStrike" kern="1200" cap="none" spc="0" normalizeH="0" baseline="0" noProof="0">
                <a:ln>
                  <a:noFill/>
                </a:ln>
                <a:solidFill>
                  <a:srgbClr val="FF0000"/>
                </a:solidFill>
                <a:effectLst/>
                <a:uLnTx/>
                <a:uFillTx/>
                <a:latin typeface="Calibri"/>
                <a:ea typeface="SimSun"/>
                <a:cs typeface="Calibri"/>
              </a:rPr>
              <a:t> </a:t>
            </a:r>
            <a:r>
              <a:rPr kumimoji="0" lang="en-US" altLang="zh-CN" sz="1400" b="0" i="0" u="none" strike="noStrike" kern="1200" cap="none" spc="0" normalizeH="0" baseline="0" noProof="0">
                <a:ln>
                  <a:noFill/>
                </a:ln>
                <a:solidFill>
                  <a:prstClr val="black"/>
                </a:solidFill>
                <a:effectLst/>
                <a:uLnTx/>
                <a:uFillTx/>
                <a:latin typeface="Calibri"/>
                <a:ea typeface="SimSun"/>
                <a:cs typeface="Calibri"/>
              </a:rPr>
              <a:t>patients screened</a:t>
            </a:r>
            <a:r>
              <a:rPr lang="en-US" altLang="zh-CN" sz="1400">
                <a:solidFill>
                  <a:prstClr val="black"/>
                </a:solidFill>
                <a:latin typeface="Calibri"/>
                <a:ea typeface="SimSun"/>
                <a:cs typeface="Calibri"/>
              </a:rPr>
              <a:t>,</a:t>
            </a:r>
            <a:r>
              <a:rPr kumimoji="0" lang="en-US" altLang="zh-CN" sz="1400" b="0" i="0" u="none" strike="noStrike" kern="1200" cap="none" spc="0" normalizeH="0" baseline="0" noProof="0">
                <a:ln>
                  <a:noFill/>
                </a:ln>
                <a:solidFill>
                  <a:prstClr val="black"/>
                </a:solidFill>
                <a:effectLst/>
                <a:uLnTx/>
                <a:uFillTx/>
                <a:latin typeface="Calibri"/>
                <a:ea typeface="SimSun"/>
                <a:cs typeface="Calibri"/>
              </a:rPr>
              <a:t> 5 randomized</a:t>
            </a:r>
            <a:r>
              <a:rPr lang="en-US" altLang="zh-CN" sz="1400">
                <a:solidFill>
                  <a:srgbClr val="FF0000"/>
                </a:solidFill>
                <a:latin typeface="Calibri"/>
                <a:ea typeface="SimSun"/>
                <a:cs typeface="Calibri"/>
              </a:rPr>
              <a:t> (+1)</a:t>
            </a:r>
            <a:r>
              <a:rPr kumimoji="0" lang="en-US" altLang="zh-CN" sz="1400" b="0" i="0" u="none" strike="noStrike" kern="1200" cap="none" spc="0" normalizeH="0" baseline="0" noProof="0">
                <a:ln>
                  <a:noFill/>
                </a:ln>
                <a:solidFill>
                  <a:prstClr val="black"/>
                </a:solidFill>
                <a:effectLst/>
                <a:uLnTx/>
                <a:uFillTx/>
                <a:latin typeface="Calibri"/>
                <a:ea typeface="SimSun"/>
                <a:cs typeface="Calibri"/>
              </a:rPr>
              <a:t>, </a:t>
            </a:r>
            <a:r>
              <a:rPr lang="en-US" altLang="zh-CN" sz="1400">
                <a:solidFill>
                  <a:prstClr val="black"/>
                </a:solidFill>
                <a:latin typeface="Calibri"/>
                <a:ea typeface="SimSun"/>
                <a:cs typeface="Calibri"/>
              </a:rPr>
              <a:t>15</a:t>
            </a:r>
            <a:r>
              <a:rPr kumimoji="0" lang="en-US" altLang="zh-CN" sz="1400" b="0" i="0" u="none" strike="noStrike" kern="1200" cap="none" spc="0" normalizeH="0" baseline="0" noProof="0">
                <a:ln>
                  <a:noFill/>
                </a:ln>
                <a:solidFill>
                  <a:prstClr val="black"/>
                </a:solidFill>
                <a:effectLst/>
                <a:uLnTx/>
                <a:uFillTx/>
                <a:latin typeface="Calibri"/>
                <a:ea typeface="SimSun"/>
                <a:cs typeface="Calibri"/>
              </a:rPr>
              <a:t> </a:t>
            </a:r>
            <a:r>
              <a:rPr lang="en-US" altLang="zh-CN" sz="1400">
                <a:solidFill>
                  <a:prstClr val="black"/>
                </a:solidFill>
                <a:latin typeface="Calibri"/>
                <a:ea typeface="SimSun"/>
                <a:cs typeface="Calibri"/>
              </a:rPr>
              <a:t>screen failed,</a:t>
            </a:r>
            <a:r>
              <a:rPr kumimoji="0" lang="en-US" altLang="zh-CN" sz="1400" b="0" i="0" u="none" strike="noStrike" kern="1200" cap="none" spc="0" normalizeH="0" baseline="0" noProof="0">
                <a:ln>
                  <a:noFill/>
                </a:ln>
                <a:solidFill>
                  <a:prstClr val="black"/>
                </a:solidFill>
                <a:effectLst/>
                <a:uLnTx/>
                <a:uFillTx/>
                <a:latin typeface="Calibri"/>
                <a:ea typeface="SimSun"/>
                <a:cs typeface="Calibri"/>
              </a:rPr>
              <a:t> </a:t>
            </a:r>
            <a:r>
              <a:rPr kumimoji="0" lang="en-US" altLang="zh-CN" sz="1400" b="0" i="0" u="none" strike="noStrike" kern="1200" cap="none" spc="0" normalizeH="0" baseline="0" noProof="0">
                <a:ln>
                  <a:noFill/>
                </a:ln>
                <a:solidFill>
                  <a:schemeClr val="tx1">
                    <a:lumMod val="95000"/>
                    <a:lumOff val="5000"/>
                  </a:schemeClr>
                </a:solidFill>
                <a:effectLst/>
                <a:uLnTx/>
                <a:uFillTx/>
                <a:latin typeface="Calibri"/>
                <a:ea typeface="SimSun"/>
                <a:cs typeface="Calibri"/>
              </a:rPr>
              <a:t>0</a:t>
            </a:r>
            <a:r>
              <a:rPr kumimoji="0" lang="en-US" altLang="zh-CN" sz="1400" b="0" i="0" u="none" strike="noStrike" kern="1200" cap="none" spc="0" normalizeH="0" baseline="0" noProof="0">
                <a:ln>
                  <a:noFill/>
                </a:ln>
                <a:solidFill>
                  <a:prstClr val="black"/>
                </a:solidFill>
                <a:effectLst/>
                <a:uLnTx/>
                <a:uFillTx/>
                <a:latin typeface="Calibri"/>
                <a:ea typeface="SimSun"/>
                <a:cs typeface="Calibri"/>
              </a:rPr>
              <a:t> in screening.</a:t>
            </a:r>
            <a:endParaRPr lang="en-US" altLang="zh-CN" sz="1400" b="0" i="0" u="none" strike="noStrike" kern="1200" cap="none" spc="0" normalizeH="0" baseline="0" noProof="0">
              <a:ln>
                <a:noFill/>
              </a:ln>
              <a:solidFill>
                <a:prstClr val="black"/>
              </a:solidFill>
              <a:effectLst/>
              <a:uLnTx/>
              <a:uFillTx/>
              <a:latin typeface="Calibri"/>
              <a:ea typeface="SimSun"/>
              <a:cs typeface="Calibri"/>
            </a:endParaRPr>
          </a:p>
          <a:p>
            <a:pPr marL="215900" indent="-215900">
              <a:lnSpc>
                <a:spcPct val="130000"/>
              </a:lnSpc>
              <a:spcAft>
                <a:spcPts val="0"/>
              </a:spcAft>
              <a:defRPr/>
            </a:pPr>
            <a:r>
              <a:rPr lang="en-US" altLang="zh-CN" b="1">
                <a:solidFill>
                  <a:prstClr val="black"/>
                </a:solidFill>
                <a:latin typeface="Calibri"/>
                <a:ea typeface="Calibri"/>
                <a:cs typeface="Calibri"/>
              </a:rPr>
              <a:t>Activities to boost recruitment:</a:t>
            </a:r>
          </a:p>
          <a:p>
            <a:pPr marL="431800" lvl="1" indent="-215900">
              <a:lnSpc>
                <a:spcPct val="130000"/>
              </a:lnSpc>
              <a:spcAft>
                <a:spcPts val="0"/>
              </a:spcAft>
              <a:defRPr/>
            </a:pPr>
            <a:r>
              <a:rPr lang="en-US" altLang="zh-CN" sz="1400">
                <a:solidFill>
                  <a:prstClr val="black"/>
                </a:solidFill>
                <a:latin typeface="Calibri"/>
                <a:ea typeface="SimSun"/>
                <a:cs typeface="Calibri"/>
              </a:rPr>
              <a:t>Leading site/PI on-site visit 2Dec2025. </a:t>
            </a:r>
          </a:p>
          <a:p>
            <a:pPr marL="431800" lvl="1" indent="-215900">
              <a:lnSpc>
                <a:spcPct val="130000"/>
              </a:lnSpc>
              <a:spcAft>
                <a:spcPts val="0"/>
              </a:spcAft>
              <a:defRPr/>
            </a:pPr>
            <a:r>
              <a:rPr lang="en-US" altLang="zh-CN" sz="1400">
                <a:solidFill>
                  <a:prstClr val="black"/>
                </a:solidFill>
                <a:latin typeface="Calibri"/>
                <a:ea typeface="SimSun"/>
                <a:cs typeface="Calibri"/>
              </a:rPr>
              <a:t>On-site visit to CHN2 on10Nov2025, On-site visit to CHN10 on 14Nov2025.</a:t>
            </a:r>
          </a:p>
          <a:p>
            <a:pPr marL="431800" lvl="1" indent="-215900">
              <a:lnSpc>
                <a:spcPct val="130000"/>
              </a:lnSpc>
              <a:spcAft>
                <a:spcPts val="0"/>
              </a:spcAft>
              <a:defRPr/>
            </a:pPr>
            <a:r>
              <a:rPr lang="en-US" altLang="zh-CN" sz="1400">
                <a:solidFill>
                  <a:prstClr val="black"/>
                </a:solidFill>
                <a:latin typeface="Calibri"/>
                <a:ea typeface="SimSun"/>
                <a:cs typeface="Calibri"/>
              </a:rPr>
              <a:t>2</a:t>
            </a:r>
            <a:r>
              <a:rPr lang="en-US" altLang="zh-CN" sz="1400" baseline="30000">
                <a:solidFill>
                  <a:prstClr val="black"/>
                </a:solidFill>
                <a:latin typeface="Calibri"/>
                <a:ea typeface="SimSun"/>
                <a:cs typeface="Calibri"/>
              </a:rPr>
              <a:t>nd</a:t>
            </a:r>
            <a:r>
              <a:rPr lang="en-US" altLang="zh-CN" sz="1400">
                <a:solidFill>
                  <a:prstClr val="black"/>
                </a:solidFill>
                <a:latin typeface="Calibri"/>
                <a:ea typeface="SimSun"/>
                <a:cs typeface="Calibri"/>
              </a:rPr>
              <a:t> round CRA workshop on 3Nov2025</a:t>
            </a:r>
            <a:endParaRPr lang="en-US" altLang="zh-CN" sz="1400" b="0" i="0" u="none" strike="noStrike" kern="1200" cap="none" spc="0" normalizeH="0" baseline="0" noProof="0">
              <a:ln>
                <a:noFill/>
              </a:ln>
              <a:solidFill>
                <a:prstClr val="black"/>
              </a:solidFill>
              <a:effectLst/>
              <a:uLnTx/>
              <a:uFillTx/>
              <a:latin typeface="Calibri" panose="020F0502020204030204" pitchFamily="34" charset="0"/>
              <a:ea typeface="SimSun" panose="02010600030101010101" pitchFamily="2" charset="-122"/>
              <a:cs typeface="Calibri" panose="020F0502020204030204" pitchFamily="34" charset="0"/>
            </a:endParaRPr>
          </a:p>
        </p:txBody>
      </p:sp>
      <p:sp>
        <p:nvSpPr>
          <p:cNvPr id="17" name="OTLSHAPE_T_5a934a26f311425e8ebaa0f45e6533ad_Shape">
            <a:extLst>
              <a:ext uri="{FF2B5EF4-FFF2-40B4-BE49-F238E27FC236}">
                <a16:creationId xmlns:a16="http://schemas.microsoft.com/office/drawing/2014/main" id="{C9CF2CF2-8986-6951-51C5-2C3206DAECB6}"/>
              </a:ext>
            </a:extLst>
          </p:cNvPr>
          <p:cNvSpPr/>
          <p:nvPr/>
        </p:nvSpPr>
        <p:spPr bwMode="auto">
          <a:xfrm>
            <a:off x="3403190" y="2414948"/>
            <a:ext cx="4608000" cy="272847"/>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FSS-LSR n=90,</a:t>
            </a:r>
            <a:r>
              <a:rPr kumimoji="0" lang="zh-CN" altLang="en-US"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recruit. Window: ~21m,</a:t>
            </a:r>
          </a:p>
        </p:txBody>
      </p:sp>
      <p:sp>
        <p:nvSpPr>
          <p:cNvPr id="20" name="OTLSHAPE_T_5a934a26f311425e8ebaa0f45e6533ad_Shape">
            <a:extLst>
              <a:ext uri="{FF2B5EF4-FFF2-40B4-BE49-F238E27FC236}">
                <a16:creationId xmlns:a16="http://schemas.microsoft.com/office/drawing/2014/main" id="{29EAAD05-5559-AD51-7D34-9202553AE04B}"/>
              </a:ext>
            </a:extLst>
          </p:cNvPr>
          <p:cNvSpPr/>
          <p:nvPr/>
        </p:nvSpPr>
        <p:spPr bwMode="auto">
          <a:xfrm>
            <a:off x="3419225" y="3303584"/>
            <a:ext cx="4320000" cy="289187"/>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FSS-LSR n=14, recruit. window: ~19m</a:t>
            </a:r>
          </a:p>
        </p:txBody>
      </p:sp>
      <p:sp>
        <p:nvSpPr>
          <p:cNvPr id="22" name="TextBox 13">
            <a:extLst>
              <a:ext uri="{FF2B5EF4-FFF2-40B4-BE49-F238E27FC236}">
                <a16:creationId xmlns:a16="http://schemas.microsoft.com/office/drawing/2014/main" id="{4CBED72A-9533-B1B7-B858-3AACF2008606}"/>
              </a:ext>
            </a:extLst>
          </p:cNvPr>
          <p:cNvSpPr txBox="1"/>
          <p:nvPr/>
        </p:nvSpPr>
        <p:spPr bwMode="gray">
          <a:xfrm>
            <a:off x="2831146" y="2390757"/>
            <a:ext cx="626150" cy="33855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a:t>
            </a:r>
            <a:r>
              <a:rPr kumimoji="0" lang="en-US" altLang="zh-CN" sz="800" b="1" i="0" u="none" strike="noStrike" kern="1200" cap="none" spc="0" normalizeH="0" baseline="3000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a:t>
            </a: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SIV: 14Jan2025</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5" name="TextBox 16">
            <a:extLst>
              <a:ext uri="{FF2B5EF4-FFF2-40B4-BE49-F238E27FC236}">
                <a16:creationId xmlns:a16="http://schemas.microsoft.com/office/drawing/2014/main" id="{0A043A91-5AAF-6759-094F-838CD0B8A12A}"/>
              </a:ext>
            </a:extLst>
          </p:cNvPr>
          <p:cNvSpPr txBox="1"/>
          <p:nvPr/>
        </p:nvSpPr>
        <p:spPr bwMode="gray">
          <a:xfrm>
            <a:off x="2785674" y="3681129"/>
            <a:ext cx="659848" cy="33855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1</a:t>
            </a:r>
            <a:r>
              <a:rPr kumimoji="0" lang="en-US" altLang="zh-CN" sz="800" b="1" i="0" u="none" strike="noStrike" kern="1200" cap="none" spc="0" normalizeH="0" baseline="3000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st</a:t>
            </a: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 SIV: 15Jan 2025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41" name="Star: 4 Points 143">
            <a:extLst>
              <a:ext uri="{FF2B5EF4-FFF2-40B4-BE49-F238E27FC236}">
                <a16:creationId xmlns:a16="http://schemas.microsoft.com/office/drawing/2014/main" id="{F0751ABB-93CB-EC47-935B-2CA9BC52BCE6}"/>
              </a:ext>
            </a:extLst>
          </p:cNvPr>
          <p:cNvSpPr/>
          <p:nvPr/>
        </p:nvSpPr>
        <p:spPr bwMode="auto">
          <a:xfrm>
            <a:off x="3043701" y="355735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35" name="Star: 4 Points 143">
            <a:extLst>
              <a:ext uri="{FF2B5EF4-FFF2-40B4-BE49-F238E27FC236}">
                <a16:creationId xmlns:a16="http://schemas.microsoft.com/office/drawing/2014/main" id="{ED902BF0-F8C4-7B64-AB8F-A819C0CD8BD5}"/>
              </a:ext>
            </a:extLst>
          </p:cNvPr>
          <p:cNvSpPr/>
          <p:nvPr/>
        </p:nvSpPr>
        <p:spPr bwMode="auto">
          <a:xfrm>
            <a:off x="3398467" y="2229884"/>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6" name="TextBox 13">
            <a:extLst>
              <a:ext uri="{FF2B5EF4-FFF2-40B4-BE49-F238E27FC236}">
                <a16:creationId xmlns:a16="http://schemas.microsoft.com/office/drawing/2014/main" id="{03444BB4-77FC-2E1F-5BAE-264D52F805F2}"/>
              </a:ext>
            </a:extLst>
          </p:cNvPr>
          <p:cNvSpPr txBox="1"/>
          <p:nvPr/>
        </p:nvSpPr>
        <p:spPr bwMode="gray">
          <a:xfrm>
            <a:off x="3461178" y="2227090"/>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FSS: 4Feb2025</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7" name="Star: 4 Points 143">
            <a:extLst>
              <a:ext uri="{FF2B5EF4-FFF2-40B4-BE49-F238E27FC236}">
                <a16:creationId xmlns:a16="http://schemas.microsoft.com/office/drawing/2014/main" id="{0C6D1DF2-8372-7361-9E6C-663F40B33E89}"/>
              </a:ext>
            </a:extLst>
          </p:cNvPr>
          <p:cNvSpPr/>
          <p:nvPr/>
        </p:nvSpPr>
        <p:spPr bwMode="auto">
          <a:xfrm>
            <a:off x="3365475" y="3557357"/>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0" name="OTLSHAPE_T_e17f3958430f4cff8650518c93c7635e_Shape">
            <a:extLst>
              <a:ext uri="{FF2B5EF4-FFF2-40B4-BE49-F238E27FC236}">
                <a16:creationId xmlns:a16="http://schemas.microsoft.com/office/drawing/2014/main" id="{0A72ACF3-EE79-9C07-00D1-5090F8A1B072}"/>
              </a:ext>
            </a:extLst>
          </p:cNvPr>
          <p:cNvSpPr/>
          <p:nvPr>
            <p:custDataLst>
              <p:tags r:id="rId2"/>
            </p:custDataLst>
          </p:nvPr>
        </p:nvSpPr>
        <p:spPr bwMode="auto">
          <a:xfrm>
            <a:off x="1908238" y="3288995"/>
            <a:ext cx="1512000" cy="296429"/>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1" rIns="68580" bIns="34291" numCol="1" rtlCol="0" anchor="ctr" anchorCtr="0" compatLnSpc="1">
            <a:prstTxWarp prst="textNoShape">
              <a:avLst/>
            </a:prstTxWarp>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nvGrpSpPr>
          <p:cNvPr id="29" name="Group 25">
            <a:extLst>
              <a:ext uri="{FF2B5EF4-FFF2-40B4-BE49-F238E27FC236}">
                <a16:creationId xmlns:a16="http://schemas.microsoft.com/office/drawing/2014/main" id="{6F432042-09A7-101C-E6EE-7FF38DB32F21}"/>
              </a:ext>
            </a:extLst>
          </p:cNvPr>
          <p:cNvGrpSpPr/>
          <p:nvPr/>
        </p:nvGrpSpPr>
        <p:grpSpPr>
          <a:xfrm>
            <a:off x="5400508" y="1670836"/>
            <a:ext cx="728996" cy="2349073"/>
            <a:chOff x="2049323" y="1793847"/>
            <a:chExt cx="728996" cy="3507100"/>
          </a:xfrm>
        </p:grpSpPr>
        <p:sp>
          <p:nvSpPr>
            <p:cNvPr id="30" name="OTLSHAPE_T_e17f3958430f4cff8650518c93c7635e_StartDate">
              <a:extLst>
                <a:ext uri="{FF2B5EF4-FFF2-40B4-BE49-F238E27FC236}">
                  <a16:creationId xmlns:a16="http://schemas.microsoft.com/office/drawing/2014/main" id="{5BDE5285-142C-F023-80B5-B8B628F91CCD}"/>
                </a:ext>
              </a:extLst>
            </p:cNvPr>
            <p:cNvSpPr txBox="1"/>
            <p:nvPr>
              <p:custDataLst>
                <p:tags r:id="rId3"/>
              </p:custDataLst>
            </p:nvPr>
          </p:nvSpPr>
          <p:spPr>
            <a:xfrm>
              <a:off x="2049323" y="2342455"/>
              <a:ext cx="728996" cy="164212"/>
            </a:xfrm>
            <a:prstGeom prst="rect">
              <a:avLst/>
            </a:prstGeom>
            <a:noFill/>
            <a:ln w="12700">
              <a:noFill/>
            </a:ln>
          </p:spPr>
          <p:txBody>
            <a:bodyPr vert="horz" wrap="square" lIns="0" tIns="0" rIns="0" bIns="0" rtlCol="0" anchor="ctr" anchorCtr="0">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cxnSp>
          <p:nvCxnSpPr>
            <p:cNvPr id="31" name="Straight Connector 22">
              <a:extLst>
                <a:ext uri="{FF2B5EF4-FFF2-40B4-BE49-F238E27FC236}">
                  <a16:creationId xmlns:a16="http://schemas.microsoft.com/office/drawing/2014/main" id="{E5E2EBBA-8736-5391-3408-9F991E1D2E5C}"/>
                </a:ext>
              </a:extLst>
            </p:cNvPr>
            <p:cNvCxnSpPr>
              <a:cxnSpLocks/>
            </p:cNvCxnSpPr>
            <p:nvPr/>
          </p:nvCxnSpPr>
          <p:spPr bwMode="auto">
            <a:xfrm flipV="1">
              <a:off x="2435308" y="1793847"/>
              <a:ext cx="0" cy="3507100"/>
            </a:xfrm>
            <a:prstGeom prst="line">
              <a:avLst/>
            </a:prstGeom>
            <a:solidFill>
              <a:schemeClr val="accent1"/>
            </a:solidFill>
            <a:ln w="6350" cap="flat" cmpd="sng" algn="ctr">
              <a:solidFill>
                <a:srgbClr val="FF0000"/>
              </a:solidFill>
              <a:prstDash val="sysDot"/>
              <a:round/>
              <a:headEnd type="none" w="med" len="med"/>
              <a:tailEnd type="none" w="med" len="med"/>
            </a:ln>
            <a:effectLst/>
          </p:spPr>
        </p:cxnSp>
      </p:grpSp>
      <p:cxnSp>
        <p:nvCxnSpPr>
          <p:cNvPr id="148" name="Straight Connector 147">
            <a:extLst>
              <a:ext uri="{FF2B5EF4-FFF2-40B4-BE49-F238E27FC236}">
                <a16:creationId xmlns:a16="http://schemas.microsoft.com/office/drawing/2014/main" id="{903CD763-B112-1DCC-C010-53DCF9FACA90}"/>
              </a:ext>
            </a:extLst>
          </p:cNvPr>
          <p:cNvCxnSpPr>
            <a:cxnSpLocks/>
          </p:cNvCxnSpPr>
          <p:nvPr/>
        </p:nvCxnSpPr>
        <p:spPr bwMode="auto">
          <a:xfrm flipH="1">
            <a:off x="-96040" y="2917518"/>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Tree>
    <p:extLst>
      <p:ext uri="{BB962C8B-B14F-4D97-AF65-F5344CB8AC3E}">
        <p14:creationId xmlns:p14="http://schemas.microsoft.com/office/powerpoint/2010/main" val="16653904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7976-3801-38BB-CB50-8A4C000EA181}"/>
              </a:ext>
            </a:extLst>
          </p:cNvPr>
          <p:cNvSpPr>
            <a:spLocks noGrp="1"/>
          </p:cNvSpPr>
          <p:nvPr>
            <p:ph type="title"/>
          </p:nvPr>
        </p:nvSpPr>
        <p:spPr>
          <a:xfrm>
            <a:off x="479426" y="477000"/>
            <a:ext cx="11233151" cy="720000"/>
          </a:xfrm>
        </p:spPr>
        <p:txBody>
          <a:bodyPr anchor="t">
            <a:normAutofit/>
          </a:bodyPr>
          <a:lstStyle/>
          <a:p>
            <a:r>
              <a:rPr lang="en-US" altLang="zh-CN"/>
              <a:t>Global Recruitment Curve</a:t>
            </a:r>
          </a:p>
        </p:txBody>
      </p:sp>
      <p:sp>
        <p:nvSpPr>
          <p:cNvPr id="28" name="Text Placeholder 3">
            <a:extLst>
              <a:ext uri="{FF2B5EF4-FFF2-40B4-BE49-F238E27FC236}">
                <a16:creationId xmlns:a16="http://schemas.microsoft.com/office/drawing/2014/main" id="{80948451-F35B-D7B3-C59B-FE74C9D21DE7}"/>
              </a:ext>
            </a:extLst>
          </p:cNvPr>
          <p:cNvSpPr>
            <a:spLocks noGrp="1"/>
          </p:cNvSpPr>
          <p:nvPr>
            <p:ph type="body" sz="quarter" idx="13"/>
          </p:nvPr>
        </p:nvSpPr>
        <p:spPr>
          <a:xfrm>
            <a:off x="480000" y="5805264"/>
            <a:ext cx="11232000" cy="144000"/>
          </a:xfrm>
        </p:spPr>
        <p:txBody>
          <a:bodyPr/>
          <a:lstStyle/>
          <a:p>
            <a:endParaRPr lang="en-US"/>
          </a:p>
        </p:txBody>
      </p:sp>
      <p:sp>
        <p:nvSpPr>
          <p:cNvPr id="19" name="Footer Placeholder 4">
            <a:extLst>
              <a:ext uri="{FF2B5EF4-FFF2-40B4-BE49-F238E27FC236}">
                <a16:creationId xmlns:a16="http://schemas.microsoft.com/office/drawing/2014/main" id="{45ED9672-801D-8868-1F8D-C1114A923119}"/>
              </a:ext>
            </a:extLst>
          </p:cNvPr>
          <p:cNvSpPr>
            <a:spLocks noGrp="1"/>
          </p:cNvSpPr>
          <p:nvPr>
            <p:ph type="ftr" sz="quarter" idx="19"/>
          </p:nvPr>
        </p:nvSpPr>
        <p:spPr>
          <a:xfrm>
            <a:off x="6312024" y="6246836"/>
            <a:ext cx="5040560" cy="288000"/>
          </a:xfrm>
        </p:spPr>
        <p:txBody>
          <a:bodyPr anchor="b">
            <a:normAutofit/>
          </a:bodyPr>
          <a:lstStyle/>
          <a:p>
            <a:r>
              <a:rPr lang="en-US" altLang="zh-CN"/>
              <a:t>TA CEC Portfolio Update|    ONLY FOR INTERNAL USE</a:t>
            </a:r>
          </a:p>
        </p:txBody>
      </p:sp>
      <p:sp>
        <p:nvSpPr>
          <p:cNvPr id="6" name="Slide Number Placeholder 5">
            <a:extLst>
              <a:ext uri="{FF2B5EF4-FFF2-40B4-BE49-F238E27FC236}">
                <a16:creationId xmlns:a16="http://schemas.microsoft.com/office/drawing/2014/main" id="{26A3ACC1-8969-C35E-B87F-B6ACEA270C58}"/>
              </a:ext>
            </a:extLst>
          </p:cNvPr>
          <p:cNvSpPr>
            <a:spLocks noGrp="1"/>
          </p:cNvSpPr>
          <p:nvPr>
            <p:ph type="sldNum" sz="quarter" idx="20"/>
          </p:nvPr>
        </p:nvSpPr>
        <p:spPr>
          <a:xfrm>
            <a:off x="11424592" y="6246836"/>
            <a:ext cx="288000" cy="288000"/>
          </a:xfrm>
        </p:spPr>
        <p:txBody>
          <a:bodyPr anchor="b">
            <a:normAutofit/>
          </a:bodyPr>
          <a:lstStyle/>
          <a:p>
            <a:pPr marL="0" marR="0" lvl="0" indent="0" defTabSz="914400" rtl="0" eaLnBrk="1" fontAlgn="auto" latinLnBrk="0" hangingPunct="1">
              <a:spcBef>
                <a:spcPts val="0"/>
              </a:spcBef>
              <a:spcAft>
                <a:spcPts val="600"/>
              </a:spcAft>
              <a:buClrTx/>
              <a:buSzTx/>
              <a:buFontTx/>
              <a:buNone/>
              <a:tabLst/>
              <a:defRPr/>
            </a:pPr>
            <a:fld id="{DF4E8F9F-5B1F-4F5B-BE49-3245D8C18D9F}" type="slidenum">
              <a:rPr kumimoji="0" lang="en-US" b="0" i="0" u="none" strike="noStrike" kern="1200" cap="none" spc="0" normalizeH="0" baseline="0" noProof="0" smtClean="0">
                <a:ln>
                  <a:noFill/>
                </a:ln>
                <a:effectLst/>
                <a:uLnTx/>
                <a:uFillTx/>
              </a:rPr>
              <a:pPr marL="0" marR="0" lvl="0" indent="0" defTabSz="914400" rtl="0" eaLnBrk="1" fontAlgn="auto" latinLnBrk="0" hangingPunct="1">
                <a:spcBef>
                  <a:spcPts val="0"/>
                </a:spcBef>
                <a:spcAft>
                  <a:spcPts val="600"/>
                </a:spcAft>
                <a:buClrTx/>
                <a:buSzTx/>
                <a:buFontTx/>
                <a:buNone/>
                <a:tabLst/>
                <a:defRPr/>
              </a:pPr>
              <a:t>39</a:t>
            </a:fld>
            <a:endParaRPr kumimoji="0" lang="en-US" b="0" i="0" u="none" strike="noStrike" kern="1200" cap="none" spc="0" normalizeH="0" baseline="0" noProof="0">
              <a:ln>
                <a:noFill/>
              </a:ln>
              <a:effectLst/>
              <a:uLnTx/>
              <a:uFillTx/>
            </a:endParaRPr>
          </a:p>
        </p:txBody>
      </p:sp>
      <p:pic>
        <p:nvPicPr>
          <p:cNvPr id="11" name="图片 10" descr="图表&#10;&#10;AI 生成的内容可能不正确。">
            <a:extLst>
              <a:ext uri="{FF2B5EF4-FFF2-40B4-BE49-F238E27FC236}">
                <a16:creationId xmlns:a16="http://schemas.microsoft.com/office/drawing/2014/main" id="{315D963C-470D-C94A-57D2-D42C35B9FF4A}"/>
              </a:ext>
            </a:extLst>
          </p:cNvPr>
          <p:cNvPicPr>
            <a:picLocks noChangeAspect="1"/>
          </p:cNvPicPr>
          <p:nvPr/>
        </p:nvPicPr>
        <p:blipFill>
          <a:blip r:embed="rId2"/>
          <a:stretch>
            <a:fillRect/>
          </a:stretch>
        </p:blipFill>
        <p:spPr>
          <a:xfrm>
            <a:off x="329513" y="753882"/>
            <a:ext cx="11862487" cy="5494397"/>
          </a:xfrm>
          <a:prstGeom prst="rect">
            <a:avLst/>
          </a:prstGeom>
        </p:spPr>
      </p:pic>
    </p:spTree>
    <p:extLst>
      <p:ext uri="{BB962C8B-B14F-4D97-AF65-F5344CB8AC3E}">
        <p14:creationId xmlns:p14="http://schemas.microsoft.com/office/powerpoint/2010/main" val="19368661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EB94F-5B0C-0061-C656-96BE74606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E9755-986C-D735-9CC0-7BD57BA3C3F0}"/>
              </a:ext>
            </a:extLst>
          </p:cNvPr>
          <p:cNvSpPr>
            <a:spLocks noGrp="1"/>
          </p:cNvSpPr>
          <p:nvPr>
            <p:ph type="title"/>
          </p:nvPr>
        </p:nvSpPr>
        <p:spPr>
          <a:xfrm>
            <a:off x="479426" y="477000"/>
            <a:ext cx="11233151" cy="720000"/>
          </a:xfrm>
        </p:spPr>
        <p:txBody>
          <a:bodyPr anchor="t">
            <a:normAutofit/>
          </a:bodyPr>
          <a:lstStyle/>
          <a:p>
            <a:r>
              <a:rPr lang="en-US" altLang="zh-CN"/>
              <a:t>China Recruitment Curve</a:t>
            </a:r>
          </a:p>
        </p:txBody>
      </p:sp>
      <p:sp>
        <p:nvSpPr>
          <p:cNvPr id="28" name="Text Placeholder 3">
            <a:extLst>
              <a:ext uri="{FF2B5EF4-FFF2-40B4-BE49-F238E27FC236}">
                <a16:creationId xmlns:a16="http://schemas.microsoft.com/office/drawing/2014/main" id="{AC5271C7-BF2D-CD6F-97AD-E13A18B22776}"/>
              </a:ext>
            </a:extLst>
          </p:cNvPr>
          <p:cNvSpPr>
            <a:spLocks noGrp="1"/>
          </p:cNvSpPr>
          <p:nvPr>
            <p:ph type="body" sz="quarter" idx="13"/>
          </p:nvPr>
        </p:nvSpPr>
        <p:spPr>
          <a:xfrm>
            <a:off x="480000" y="5805264"/>
            <a:ext cx="11232000" cy="144000"/>
          </a:xfrm>
        </p:spPr>
        <p:txBody>
          <a:bodyPr/>
          <a:lstStyle/>
          <a:p>
            <a:endParaRPr lang="en-US"/>
          </a:p>
        </p:txBody>
      </p:sp>
      <p:sp>
        <p:nvSpPr>
          <p:cNvPr id="19" name="Footer Placeholder 4">
            <a:extLst>
              <a:ext uri="{FF2B5EF4-FFF2-40B4-BE49-F238E27FC236}">
                <a16:creationId xmlns:a16="http://schemas.microsoft.com/office/drawing/2014/main" id="{0AA8E37D-A2B7-B187-E5E3-71F80881885E}"/>
              </a:ext>
            </a:extLst>
          </p:cNvPr>
          <p:cNvSpPr>
            <a:spLocks noGrp="1"/>
          </p:cNvSpPr>
          <p:nvPr>
            <p:ph type="ftr" sz="quarter" idx="19"/>
          </p:nvPr>
        </p:nvSpPr>
        <p:spPr>
          <a:xfrm>
            <a:off x="6312024" y="6246836"/>
            <a:ext cx="5040560" cy="288000"/>
          </a:xfrm>
        </p:spPr>
        <p:txBody>
          <a:bodyPr anchor="b">
            <a:normAutofit/>
          </a:bodyPr>
          <a:lstStyle/>
          <a:p>
            <a:r>
              <a:rPr lang="en-US" altLang="zh-CN"/>
              <a:t>TA CEC Portfolio Update|    ONLY FOR INTERNAL USE</a:t>
            </a:r>
          </a:p>
        </p:txBody>
      </p:sp>
      <p:sp>
        <p:nvSpPr>
          <p:cNvPr id="6" name="Slide Number Placeholder 5">
            <a:extLst>
              <a:ext uri="{FF2B5EF4-FFF2-40B4-BE49-F238E27FC236}">
                <a16:creationId xmlns:a16="http://schemas.microsoft.com/office/drawing/2014/main" id="{EC02DF23-6D5D-A862-B55B-DC2003E75B99}"/>
              </a:ext>
            </a:extLst>
          </p:cNvPr>
          <p:cNvSpPr>
            <a:spLocks noGrp="1"/>
          </p:cNvSpPr>
          <p:nvPr>
            <p:ph type="sldNum" sz="quarter" idx="20"/>
          </p:nvPr>
        </p:nvSpPr>
        <p:spPr>
          <a:xfrm>
            <a:off x="11424592" y="6246836"/>
            <a:ext cx="288000" cy="288000"/>
          </a:xfrm>
        </p:spPr>
        <p:txBody>
          <a:bodyPr anchor="b">
            <a:normAutofit/>
          </a:bodyPr>
          <a:lstStyle/>
          <a:p>
            <a:pPr marL="0" marR="0" lvl="0" indent="0" defTabSz="914400" rtl="0" eaLnBrk="1" fontAlgn="auto" latinLnBrk="0" hangingPunct="1">
              <a:spcBef>
                <a:spcPts val="0"/>
              </a:spcBef>
              <a:spcAft>
                <a:spcPts val="600"/>
              </a:spcAft>
              <a:buClrTx/>
              <a:buSzTx/>
              <a:buFontTx/>
              <a:buNone/>
              <a:tabLst/>
              <a:defRPr/>
            </a:pPr>
            <a:fld id="{DF4E8F9F-5B1F-4F5B-BE49-3245D8C18D9F}" type="slidenum">
              <a:rPr kumimoji="0" lang="en-US" b="0" i="0" u="none" strike="noStrike" kern="1200" cap="none" spc="0" normalizeH="0" baseline="0" noProof="0" smtClean="0">
                <a:ln>
                  <a:noFill/>
                </a:ln>
                <a:effectLst/>
                <a:uLnTx/>
                <a:uFillTx/>
              </a:rPr>
              <a:pPr marL="0" marR="0" lvl="0" indent="0" defTabSz="914400" rtl="0" eaLnBrk="1" fontAlgn="auto" latinLnBrk="0" hangingPunct="1">
                <a:spcBef>
                  <a:spcPts val="0"/>
                </a:spcBef>
                <a:spcAft>
                  <a:spcPts val="600"/>
                </a:spcAft>
                <a:buClrTx/>
                <a:buSzTx/>
                <a:buFontTx/>
                <a:buNone/>
                <a:tabLst/>
                <a:defRPr/>
              </a:pPr>
              <a:t>40</a:t>
            </a:fld>
            <a:endParaRPr kumimoji="0" lang="en-US" b="0" i="0" u="none" strike="noStrike" kern="1200" cap="none" spc="0" normalizeH="0" baseline="0" noProof="0">
              <a:ln>
                <a:noFill/>
              </a:ln>
              <a:effectLst/>
              <a:uLnTx/>
              <a:uFillTx/>
            </a:endParaRPr>
          </a:p>
        </p:txBody>
      </p:sp>
      <p:pic>
        <p:nvPicPr>
          <p:cNvPr id="3" name="图片 2" descr="图表&#10;&#10;AI 生成的内容可能不正确。">
            <a:extLst>
              <a:ext uri="{FF2B5EF4-FFF2-40B4-BE49-F238E27FC236}">
                <a16:creationId xmlns:a16="http://schemas.microsoft.com/office/drawing/2014/main" id="{90CE365D-89D9-84D6-572C-E0090990D2B0}"/>
              </a:ext>
            </a:extLst>
          </p:cNvPr>
          <p:cNvPicPr>
            <a:picLocks noChangeAspect="1"/>
          </p:cNvPicPr>
          <p:nvPr/>
        </p:nvPicPr>
        <p:blipFill>
          <a:blip r:embed="rId2"/>
          <a:stretch>
            <a:fillRect/>
          </a:stretch>
        </p:blipFill>
        <p:spPr>
          <a:xfrm>
            <a:off x="381000" y="1002096"/>
            <a:ext cx="11430000" cy="4951449"/>
          </a:xfrm>
          <a:prstGeom prst="rect">
            <a:avLst/>
          </a:prstGeom>
        </p:spPr>
      </p:pic>
    </p:spTree>
    <p:extLst>
      <p:ext uri="{BB962C8B-B14F-4D97-AF65-F5344CB8AC3E}">
        <p14:creationId xmlns:p14="http://schemas.microsoft.com/office/powerpoint/2010/main" val="31443684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A65965-2C35-4730-9D8A-AF54B0C59C4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BB25CEC-0CEE-7EF4-3633-ED57E17DB401}"/>
              </a:ext>
            </a:extLst>
          </p:cNvPr>
          <p:cNvSpPr>
            <a:spLocks noGrp="1"/>
          </p:cNvSpPr>
          <p:nvPr>
            <p:ph type="title"/>
          </p:nvPr>
        </p:nvSpPr>
        <p:spPr/>
        <p:txBody>
          <a:bodyPr/>
          <a:lstStyle/>
          <a:p>
            <a:r>
              <a:rPr lang="en-US" altLang="zh-CN"/>
              <a:t>Challenges and actions for PG Ph III study enrollment </a:t>
            </a:r>
            <a:endParaRPr lang="zh-CN" altLang="en-US"/>
          </a:p>
        </p:txBody>
      </p:sp>
      <p:sp>
        <p:nvSpPr>
          <p:cNvPr id="4" name="页脚占位符 3">
            <a:extLst>
              <a:ext uri="{FF2B5EF4-FFF2-40B4-BE49-F238E27FC236}">
                <a16:creationId xmlns:a16="http://schemas.microsoft.com/office/drawing/2014/main" id="{D8F72393-E86D-0F56-87DA-E220BA50E08F}"/>
              </a:ext>
            </a:extLst>
          </p:cNvPr>
          <p:cNvSpPr>
            <a:spLocks noGrp="1"/>
          </p:cNvSpPr>
          <p:nvPr>
            <p:ph type="ftr" sz="quarter" idx="16"/>
          </p:nvPr>
        </p:nvSpPr>
        <p:spPr bwMode="gray">
          <a:xfrm>
            <a:off x="9929722" y="6197580"/>
            <a:ext cx="2374839" cy="337256"/>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7F7F7F"/>
                </a:solidFill>
                <a:effectLst/>
                <a:uLnTx/>
                <a:uFillTx/>
                <a:latin typeface="Boehringer Forward Text"/>
                <a:ea typeface="+mn-ea"/>
                <a:cs typeface="+mn-cs"/>
              </a:rPr>
              <a:t>CFT: Customer Facing Team</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7F7F7F"/>
                </a:solidFill>
                <a:effectLst/>
                <a:uLnTx/>
                <a:uFillTx/>
                <a:latin typeface="Boehringer Forward Text"/>
                <a:ea typeface="+mn-ea"/>
                <a:cs typeface="+mn-cs"/>
              </a:rPr>
              <a:t>PAG: : Patient Advisory Group</a:t>
            </a:r>
          </a:p>
        </p:txBody>
      </p:sp>
      <p:sp>
        <p:nvSpPr>
          <p:cNvPr id="5" name="灯片编号占位符 4">
            <a:extLst>
              <a:ext uri="{FF2B5EF4-FFF2-40B4-BE49-F238E27FC236}">
                <a16:creationId xmlns:a16="http://schemas.microsoft.com/office/drawing/2014/main" id="{E3FDDF75-D760-E994-5A1D-A4758E0FEA15}"/>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7" name="矩形 6">
            <a:extLst>
              <a:ext uri="{FF2B5EF4-FFF2-40B4-BE49-F238E27FC236}">
                <a16:creationId xmlns:a16="http://schemas.microsoft.com/office/drawing/2014/main" id="{AC7E0029-6F8B-0A1D-CE4C-531CF2FC1848}"/>
              </a:ext>
            </a:extLst>
          </p:cNvPr>
          <p:cNvSpPr/>
          <p:nvPr/>
        </p:nvSpPr>
        <p:spPr bwMode="gray">
          <a:xfrm>
            <a:off x="347980" y="955075"/>
            <a:ext cx="1713502" cy="1210501"/>
          </a:xfrm>
          <a:prstGeom prst="rect">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Recruitment Challenges</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9" name="矩形 8">
            <a:extLst>
              <a:ext uri="{FF2B5EF4-FFF2-40B4-BE49-F238E27FC236}">
                <a16:creationId xmlns:a16="http://schemas.microsoft.com/office/drawing/2014/main" id="{08F641AB-F4C3-78FD-20FB-95FC1224A205}"/>
              </a:ext>
            </a:extLst>
          </p:cNvPr>
          <p:cNvSpPr/>
          <p:nvPr/>
        </p:nvSpPr>
        <p:spPr bwMode="gray">
          <a:xfrm>
            <a:off x="347980" y="2285407"/>
            <a:ext cx="1708099" cy="3815215"/>
          </a:xfrm>
          <a:prstGeom prst="rect">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Actions</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0" name="矩形 9">
            <a:extLst>
              <a:ext uri="{FF2B5EF4-FFF2-40B4-BE49-F238E27FC236}">
                <a16:creationId xmlns:a16="http://schemas.microsoft.com/office/drawing/2014/main" id="{2404FD54-EEFC-A48C-2104-5D4AF0977201}"/>
              </a:ext>
            </a:extLst>
          </p:cNvPr>
          <p:cNvSpPr/>
          <p:nvPr/>
        </p:nvSpPr>
        <p:spPr bwMode="gray">
          <a:xfrm>
            <a:off x="2271423" y="2882152"/>
            <a:ext cx="1024597" cy="1602138"/>
          </a:xfrm>
          <a:prstGeom prst="rect">
            <a:avLst/>
          </a:pr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CDO</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&amp;CD</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矩形 10">
            <a:extLst>
              <a:ext uri="{FF2B5EF4-FFF2-40B4-BE49-F238E27FC236}">
                <a16:creationId xmlns:a16="http://schemas.microsoft.com/office/drawing/2014/main" id="{588257AA-5000-08A2-BAE0-138E797A4259}"/>
              </a:ext>
            </a:extLst>
          </p:cNvPr>
          <p:cNvSpPr/>
          <p:nvPr/>
        </p:nvSpPr>
        <p:spPr bwMode="gray">
          <a:xfrm>
            <a:off x="2271423" y="4577786"/>
            <a:ext cx="1024597" cy="1048805"/>
          </a:xfrm>
          <a:prstGeom prst="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MSLs</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13" name="表格 12">
            <a:extLst>
              <a:ext uri="{FF2B5EF4-FFF2-40B4-BE49-F238E27FC236}">
                <a16:creationId xmlns:a16="http://schemas.microsoft.com/office/drawing/2014/main" id="{BF91417B-AADF-0000-05E4-4CD4EBFCF37A}"/>
              </a:ext>
            </a:extLst>
          </p:cNvPr>
          <p:cNvGraphicFramePr>
            <a:graphicFrameLocks noGrp="1"/>
          </p:cNvGraphicFramePr>
          <p:nvPr>
            <p:extLst>
              <p:ext uri="{D42A27DB-BD31-4B8C-83A1-F6EECF244321}">
                <p14:modId xmlns:p14="http://schemas.microsoft.com/office/powerpoint/2010/main" val="4045581997"/>
              </p:ext>
            </p:extLst>
          </p:nvPr>
        </p:nvGraphicFramePr>
        <p:xfrm>
          <a:off x="3152775" y="2284567"/>
          <a:ext cx="8559797" cy="518160"/>
        </p:xfrm>
        <a:graphic>
          <a:graphicData uri="http://schemas.openxmlformats.org/drawingml/2006/table">
            <a:tbl>
              <a:tblPr firstRow="1" bandRow="1"/>
              <a:tblGrid>
                <a:gridCol w="1838325">
                  <a:extLst>
                    <a:ext uri="{9D8B030D-6E8A-4147-A177-3AD203B41FA5}">
                      <a16:colId xmlns:a16="http://schemas.microsoft.com/office/drawing/2014/main" val="2615096010"/>
                    </a:ext>
                  </a:extLst>
                </a:gridCol>
                <a:gridCol w="1495425">
                  <a:extLst>
                    <a:ext uri="{9D8B030D-6E8A-4147-A177-3AD203B41FA5}">
                      <a16:colId xmlns:a16="http://schemas.microsoft.com/office/drawing/2014/main" val="1234757955"/>
                    </a:ext>
                  </a:extLst>
                </a:gridCol>
                <a:gridCol w="1333500">
                  <a:extLst>
                    <a:ext uri="{9D8B030D-6E8A-4147-A177-3AD203B41FA5}">
                      <a16:colId xmlns:a16="http://schemas.microsoft.com/office/drawing/2014/main" val="2450483387"/>
                    </a:ext>
                  </a:extLst>
                </a:gridCol>
                <a:gridCol w="1504950">
                  <a:extLst>
                    <a:ext uri="{9D8B030D-6E8A-4147-A177-3AD203B41FA5}">
                      <a16:colId xmlns:a16="http://schemas.microsoft.com/office/drawing/2014/main" val="3263481852"/>
                    </a:ext>
                  </a:extLst>
                </a:gridCol>
                <a:gridCol w="583113">
                  <a:extLst>
                    <a:ext uri="{9D8B030D-6E8A-4147-A177-3AD203B41FA5}">
                      <a16:colId xmlns:a16="http://schemas.microsoft.com/office/drawing/2014/main" val="2504198361"/>
                    </a:ext>
                  </a:extLst>
                </a:gridCol>
                <a:gridCol w="601249">
                  <a:extLst>
                    <a:ext uri="{9D8B030D-6E8A-4147-A177-3AD203B41FA5}">
                      <a16:colId xmlns:a16="http://schemas.microsoft.com/office/drawing/2014/main" val="22178602"/>
                    </a:ext>
                  </a:extLst>
                </a:gridCol>
                <a:gridCol w="576197">
                  <a:extLst>
                    <a:ext uri="{9D8B030D-6E8A-4147-A177-3AD203B41FA5}">
                      <a16:colId xmlns:a16="http://schemas.microsoft.com/office/drawing/2014/main" val="932190696"/>
                    </a:ext>
                  </a:extLst>
                </a:gridCol>
                <a:gridCol w="627038">
                  <a:extLst>
                    <a:ext uri="{9D8B030D-6E8A-4147-A177-3AD203B41FA5}">
                      <a16:colId xmlns:a16="http://schemas.microsoft.com/office/drawing/2014/main" val="4094170398"/>
                    </a:ext>
                  </a:extLst>
                </a:gridCol>
              </a:tblGrid>
              <a:tr h="164872">
                <a:tc gridSpan="4">
                  <a:txBody>
                    <a:bodyPr/>
                    <a:lstStyle/>
                    <a:p>
                      <a:pPr algn="ctr"/>
                      <a:r>
                        <a:rPr lang="en-US" altLang="zh-CN" sz="1100" b="1">
                          <a:solidFill>
                            <a:schemeClr val="bg1"/>
                          </a:solidFill>
                          <a:latin typeface="Arial"/>
                          <a:cs typeface="Arial"/>
                        </a:rPr>
                        <a:t>2025</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2026</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extLst>
                  <a:ext uri="{0D108BD9-81ED-4DB2-BD59-A6C34878D82A}">
                    <a16:rowId xmlns:a16="http://schemas.microsoft.com/office/drawing/2014/main" val="1220473755"/>
                  </a:ext>
                </a:extLst>
              </a:tr>
              <a:tr h="2323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94957182"/>
                  </a:ext>
                </a:extLst>
              </a:tr>
            </a:tbl>
          </a:graphicData>
        </a:graphic>
      </p:graphicFrame>
      <p:sp>
        <p:nvSpPr>
          <p:cNvPr id="14" name="矩形 13">
            <a:extLst>
              <a:ext uri="{FF2B5EF4-FFF2-40B4-BE49-F238E27FC236}">
                <a16:creationId xmlns:a16="http://schemas.microsoft.com/office/drawing/2014/main" id="{919C5EAF-9B80-4FE1-E508-94F17ADF76F5}"/>
              </a:ext>
            </a:extLst>
          </p:cNvPr>
          <p:cNvSpPr/>
          <p:nvPr/>
        </p:nvSpPr>
        <p:spPr bwMode="gray">
          <a:xfrm>
            <a:off x="2271673" y="953639"/>
            <a:ext cx="9440898" cy="1211937"/>
          </a:xfrm>
          <a:prstGeom prst="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 </a:t>
            </a:r>
          </a:p>
        </p:txBody>
      </p:sp>
      <p:sp>
        <p:nvSpPr>
          <p:cNvPr id="18" name="TextBox 17">
            <a:extLst>
              <a:ext uri="{FF2B5EF4-FFF2-40B4-BE49-F238E27FC236}">
                <a16:creationId xmlns:a16="http://schemas.microsoft.com/office/drawing/2014/main" id="{822B80D3-F7D1-83A9-D818-57620C61852B}"/>
              </a:ext>
            </a:extLst>
          </p:cNvPr>
          <p:cNvSpPr txBox="1"/>
          <p:nvPr/>
        </p:nvSpPr>
        <p:spPr bwMode="gray">
          <a:xfrm>
            <a:off x="10527695" y="3584775"/>
            <a:ext cx="1506392" cy="338554"/>
          </a:xfrm>
          <a:prstGeom prst="rect">
            <a:avLst/>
          </a:prstGeom>
          <a:noFill/>
        </p:spPr>
        <p:txBody>
          <a:bodyPr wrap="square" lIns="91440" tIns="45720" rIns="91440" bIns="45720" anchor="t">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546A"/>
                </a:solidFill>
                <a:effectLst/>
                <a:uLnTx/>
                <a:uFillTx/>
                <a:latin typeface="Calibri"/>
                <a:ea typeface="+mn-ea"/>
                <a:cs typeface="Calibri"/>
              </a:rPr>
              <a:t>Last patient Randomization </a:t>
            </a:r>
            <a:r>
              <a:rPr lang="en-US" altLang="zh-CN" sz="800">
                <a:solidFill>
                  <a:srgbClr val="44546A"/>
                </a:solidFill>
                <a:latin typeface="Calibri"/>
                <a:cs typeface="Calibri"/>
              </a:rPr>
              <a:t>Oct</a:t>
            </a:r>
            <a:r>
              <a:rPr kumimoji="0" lang="en-US" altLang="zh-CN" sz="800" b="0" i="0" u="none" strike="noStrike" kern="1200" cap="none" spc="0" normalizeH="0" baseline="0" noProof="0">
                <a:ln>
                  <a:noFill/>
                </a:ln>
                <a:solidFill>
                  <a:srgbClr val="44546A"/>
                </a:solidFill>
                <a:effectLst/>
                <a:uLnTx/>
                <a:uFillTx/>
                <a:latin typeface="Calibri"/>
                <a:ea typeface="+mn-ea"/>
                <a:cs typeface="Calibri"/>
              </a:rPr>
              <a:t>2026 </a:t>
            </a:r>
            <a:endParaRPr kumimoji="0" lang="zh-CN" altLang="en-US" sz="800" b="0" i="0" u="none" strike="noStrike" kern="1200" cap="none" spc="0" normalizeH="0" baseline="0" noProof="0">
              <a:ln>
                <a:noFill/>
              </a:ln>
              <a:solidFill>
                <a:srgbClr val="44546A"/>
              </a:solidFill>
              <a:effectLst/>
              <a:uLnTx/>
              <a:uFillTx/>
              <a:latin typeface="Calibri"/>
              <a:ea typeface="+mn-ea"/>
              <a:cs typeface="Calibri"/>
            </a:endParaRPr>
          </a:p>
        </p:txBody>
      </p:sp>
      <p:sp>
        <p:nvSpPr>
          <p:cNvPr id="20" name="矩形: 圆角 19">
            <a:extLst>
              <a:ext uri="{FF2B5EF4-FFF2-40B4-BE49-F238E27FC236}">
                <a16:creationId xmlns:a16="http://schemas.microsoft.com/office/drawing/2014/main" id="{FAB05DC8-268B-AD23-FF55-CC0A99824905}"/>
              </a:ext>
            </a:extLst>
          </p:cNvPr>
          <p:cNvSpPr/>
          <p:nvPr/>
        </p:nvSpPr>
        <p:spPr>
          <a:xfrm>
            <a:off x="3462939" y="2878636"/>
            <a:ext cx="2928336" cy="12417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Co-visit for SIVs</a:t>
            </a:r>
          </a:p>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 (by CTM and Local Physician)</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3" name="矩形: 圆角 22">
            <a:extLst>
              <a:ext uri="{FF2B5EF4-FFF2-40B4-BE49-F238E27FC236}">
                <a16:creationId xmlns:a16="http://schemas.microsoft.com/office/drawing/2014/main" id="{49E5869B-A285-6ABB-973A-6814B70DF15C}"/>
              </a:ext>
            </a:extLst>
          </p:cNvPr>
          <p:cNvSpPr/>
          <p:nvPr/>
        </p:nvSpPr>
        <p:spPr>
          <a:xfrm>
            <a:off x="4027971" y="5322863"/>
            <a:ext cx="3570053" cy="140548"/>
          </a:xfrm>
          <a:prstGeom prst="roundRect">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800" b="1" i="0" u="none" strike="noStrike" kern="0" cap="none" spc="0" normalizeH="0" baseline="0" noProof="0">
                <a:ln>
                  <a:noFill/>
                </a:ln>
                <a:solidFill>
                  <a:prstClr val="black"/>
                </a:solidFill>
                <a:effectLst/>
                <a:uLnTx/>
                <a:uFillTx/>
                <a:latin typeface="Boehringer Forward Text"/>
                <a:ea typeface="黑体"/>
                <a:cs typeface="+mn-cs"/>
              </a:rPr>
              <a:t>Co-visit for sites </a:t>
            </a:r>
            <a:endParaRPr kumimoji="0" lang="en-US" altLang="zh-CN" sz="8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4" name="矩形: 圆角 23">
            <a:extLst>
              <a:ext uri="{FF2B5EF4-FFF2-40B4-BE49-F238E27FC236}">
                <a16:creationId xmlns:a16="http://schemas.microsoft.com/office/drawing/2014/main" id="{F4D5D5A2-28E3-F5B4-0D13-959F80C5C36A}"/>
              </a:ext>
            </a:extLst>
          </p:cNvPr>
          <p:cNvSpPr/>
          <p:nvPr/>
        </p:nvSpPr>
        <p:spPr>
          <a:xfrm>
            <a:off x="4259563" y="3320330"/>
            <a:ext cx="7453008" cy="118016"/>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Weekly Newsletter delivery </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5" name="矩形: 圆角 24">
            <a:extLst>
              <a:ext uri="{FF2B5EF4-FFF2-40B4-BE49-F238E27FC236}">
                <a16:creationId xmlns:a16="http://schemas.microsoft.com/office/drawing/2014/main" id="{DE107D5B-241D-64AA-40A8-EB7918FA9147}"/>
              </a:ext>
            </a:extLst>
          </p:cNvPr>
          <p:cNvSpPr/>
          <p:nvPr/>
        </p:nvSpPr>
        <p:spPr>
          <a:xfrm>
            <a:off x="3362467" y="4700982"/>
            <a:ext cx="670209" cy="131471"/>
          </a:xfrm>
          <a:prstGeom prst="roundRect">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900" b="1" i="0" u="none" strike="noStrike" kern="0" cap="none" spc="0" normalizeH="0" baseline="0" noProof="0">
                <a:ln>
                  <a:noFill/>
                </a:ln>
                <a:solidFill>
                  <a:prstClr val="black"/>
                </a:solidFill>
                <a:effectLst/>
                <a:uLnTx/>
                <a:uFillTx/>
                <a:latin typeface="Boehringer Forward Text"/>
                <a:ea typeface="黑体"/>
                <a:cs typeface="+mn-cs"/>
              </a:rPr>
              <a:t>MSL Training </a:t>
            </a:r>
            <a:endParaRPr kumimoji="0" lang="en-US" altLang="zh-CN" sz="9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7" name="矩形: 圆角 26">
            <a:extLst>
              <a:ext uri="{FF2B5EF4-FFF2-40B4-BE49-F238E27FC236}">
                <a16:creationId xmlns:a16="http://schemas.microsoft.com/office/drawing/2014/main" id="{7EAC97C5-D956-35E9-EAD7-81DF4F5A2F8C}"/>
              </a:ext>
            </a:extLst>
          </p:cNvPr>
          <p:cNvSpPr/>
          <p:nvPr/>
        </p:nvSpPr>
        <p:spPr>
          <a:xfrm>
            <a:off x="4462772" y="3855546"/>
            <a:ext cx="1190866" cy="14301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CRA Workshop</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8" name="矩形: 圆角 27">
            <a:extLst>
              <a:ext uri="{FF2B5EF4-FFF2-40B4-BE49-F238E27FC236}">
                <a16:creationId xmlns:a16="http://schemas.microsoft.com/office/drawing/2014/main" id="{3D99CDED-1089-3085-0F6C-73878324D810}"/>
              </a:ext>
            </a:extLst>
          </p:cNvPr>
          <p:cNvSpPr/>
          <p:nvPr/>
        </p:nvSpPr>
        <p:spPr>
          <a:xfrm>
            <a:off x="4714164" y="3678071"/>
            <a:ext cx="933816" cy="112869"/>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Interim  IM</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8" name="文本框 7">
            <a:extLst>
              <a:ext uri="{FF2B5EF4-FFF2-40B4-BE49-F238E27FC236}">
                <a16:creationId xmlns:a16="http://schemas.microsoft.com/office/drawing/2014/main" id="{B32A1A93-1C5F-CAD9-5FC2-39247CFCBC24}"/>
              </a:ext>
            </a:extLst>
          </p:cNvPr>
          <p:cNvSpPr txBox="1"/>
          <p:nvPr/>
        </p:nvSpPr>
        <p:spPr bwMode="gray">
          <a:xfrm>
            <a:off x="7058051" y="996823"/>
            <a:ext cx="4584718" cy="769441"/>
          </a:xfrm>
          <a:prstGeom prst="rect">
            <a:avLst/>
          </a:prstGeom>
          <a:noFill/>
        </p:spPr>
        <p:txBody>
          <a:bodyPr wrap="square" lIns="0" tIns="0" rIns="0" bIns="0" rtlCol="0">
            <a:spAutoFit/>
          </a:bodyPr>
          <a:lstStyle/>
          <a:p>
            <a:pPr marL="228600" marR="0" lvl="0" indent="-228600" algn="l" defTabSz="914400" rtl="0" eaLnBrk="1" fontAlgn="base" latinLnBrk="0" hangingPunct="1">
              <a:lnSpc>
                <a:spcPct val="100000"/>
              </a:lnSpc>
              <a:spcBef>
                <a:spcPts val="0"/>
              </a:spcBef>
              <a:spcAft>
                <a:spcPts val="0"/>
              </a:spcAft>
              <a:buClrTx/>
              <a:buSzTx/>
              <a:buFont typeface="Arial"/>
              <a:buChar char="•"/>
              <a:tabLst/>
              <a:defRPr/>
            </a:pPr>
            <a:r>
              <a:rPr kumimoji="0" lang="en-US" altLang="zh-CN" sz="1000" b="1" i="0" u="none" strike="noStrike" kern="1200" cap="none" spc="0" normalizeH="0" baseline="0" noProof="0">
                <a:ln>
                  <a:noFill/>
                </a:ln>
                <a:solidFill>
                  <a:prstClr val="black"/>
                </a:solidFill>
                <a:effectLst/>
                <a:uLnTx/>
                <a:uFillTx/>
                <a:latin typeface="Boehringer Forward Text"/>
                <a:ea typeface="+mn-ea"/>
                <a:cs typeface="+mn-cs"/>
              </a:rPr>
              <a:t>Low patient willingness for clinical trials​</a:t>
            </a:r>
          </a:p>
          <a:p>
            <a:pPr marL="468000" marR="0" lvl="1" indent="-228600" algn="l" defTabSz="914400" rtl="0" eaLnBrk="1" fontAlgn="base"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Low awareness ​</a:t>
            </a:r>
          </a:p>
          <a:p>
            <a:pPr marL="468000" marR="0" lvl="1" indent="-228600" algn="l" defTabSz="914400" rtl="0" eaLnBrk="1" fontAlgn="base"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Potential patients with disease controlled with current treatments</a:t>
            </a:r>
          </a:p>
          <a:p>
            <a:pPr marL="468000" marR="0" lvl="1" indent="-228600" algn="l" defTabSz="914400" rtl="0" eaLnBrk="1" fontAlgn="base"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Placebo trial design : patients with high disease burden with high need for timely and effective treatments​​</a:t>
            </a:r>
          </a:p>
        </p:txBody>
      </p:sp>
      <p:sp>
        <p:nvSpPr>
          <p:cNvPr id="12" name="文本框 11">
            <a:extLst>
              <a:ext uri="{FF2B5EF4-FFF2-40B4-BE49-F238E27FC236}">
                <a16:creationId xmlns:a16="http://schemas.microsoft.com/office/drawing/2014/main" id="{2C1FEF3C-DD7B-D777-0B2F-E9560BDDB636}"/>
              </a:ext>
            </a:extLst>
          </p:cNvPr>
          <p:cNvSpPr txBox="1"/>
          <p:nvPr/>
        </p:nvSpPr>
        <p:spPr bwMode="gray">
          <a:xfrm>
            <a:off x="2454878" y="1033845"/>
            <a:ext cx="4584718" cy="1077218"/>
          </a:xfrm>
          <a:prstGeom prst="rect">
            <a:avLst/>
          </a:prstGeom>
          <a:noFill/>
        </p:spPr>
        <p:txBody>
          <a:bodyPr wrap="square" lIns="0" tIns="0" rIns="0" bIns="0" rtlCol="0">
            <a:spAutoFit/>
          </a:bodyPr>
          <a:lstStyle/>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altLang="zh-CN" sz="1000" b="1" i="0" u="none" strike="noStrike" kern="1200" cap="none" spc="0" normalizeH="0" baseline="0" noProof="0">
                <a:ln>
                  <a:noFill/>
                </a:ln>
                <a:solidFill>
                  <a:prstClr val="black"/>
                </a:solidFill>
                <a:effectLst/>
                <a:uLnTx/>
                <a:uFillTx/>
                <a:latin typeface="Boehringer Forward Text"/>
                <a:ea typeface="+mn-ea"/>
                <a:cs typeface="+mn-cs"/>
              </a:rPr>
              <a:t>Limited Recruitment Pool</a:t>
            </a:r>
          </a:p>
          <a:p>
            <a:pPr marL="468000" marR="0" lvl="1" indent="-228600" algn="l" defTabSz="914400" rtl="0" eaLnBrk="1" fontAlgn="auto"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Rare disease </a:t>
            </a:r>
          </a:p>
          <a:p>
            <a:pPr marL="468000" marR="0" lvl="1" indent="-228600" algn="l" defTabSz="914400" rtl="0" eaLnBrk="1" fontAlgn="auto"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Difficult for PG diagnosis – exclusive diagnosis</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a:p>
            <a:pPr marL="468000" marR="0" lvl="1" indent="-228600" algn="l" defTabSz="914400" rtl="0" eaLnBrk="1" fontAlgn="auto"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Potential patients with stable disease ​(ulcer healed)</a:t>
            </a:r>
          </a:p>
          <a:p>
            <a:pPr marL="468000" marR="0" lvl="1" indent="-228600" algn="l" defTabSz="914400" rtl="0" eaLnBrk="1" fontAlgn="auto"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Complex comorbidities and treatments of PG</a:t>
            </a: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altLang="zh-CN" sz="1000" b="1" i="0" u="none" strike="noStrike" kern="1200" cap="none" spc="0" normalizeH="0" baseline="0" noProof="0">
                <a:ln>
                  <a:noFill/>
                </a:ln>
                <a:solidFill>
                  <a:prstClr val="black"/>
                </a:solidFill>
                <a:effectLst/>
                <a:uLnTx/>
                <a:uFillTx/>
                <a:latin typeface="Boehringer Forward Text"/>
                <a:ea typeface="+mn-ea"/>
                <a:cs typeface="+mn-cs"/>
              </a:rPr>
              <a:t>Uncertain patient source: patients scattered in different departments </a:t>
            </a: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(dermatology, rheumatology, gastroenterology, burns and traumatology)</a:t>
            </a: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9" name="矩形: 圆角 18">
            <a:extLst>
              <a:ext uri="{FF2B5EF4-FFF2-40B4-BE49-F238E27FC236}">
                <a16:creationId xmlns:a16="http://schemas.microsoft.com/office/drawing/2014/main" id="{03FFE6D2-623D-02D1-F7B3-23FA9F22BED3}"/>
              </a:ext>
            </a:extLst>
          </p:cNvPr>
          <p:cNvSpPr/>
          <p:nvPr/>
        </p:nvSpPr>
        <p:spPr>
          <a:xfrm>
            <a:off x="3759184" y="3497831"/>
            <a:ext cx="7665407" cy="119789"/>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1200" cap="none" spc="0" normalizeH="0" baseline="0" noProof="0">
                <a:ln>
                  <a:noFill/>
                </a:ln>
                <a:solidFill>
                  <a:prstClr val="black"/>
                </a:solidFill>
                <a:effectLst/>
                <a:uLnTx/>
                <a:uFillTx/>
                <a:latin typeface="Boehringer Forward Text"/>
                <a:ea typeface="+mn-ea"/>
                <a:cs typeface="+mn-cs"/>
              </a:rPr>
              <a:t>Pre-screening for potential patients (by sites)</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1" name="矩形: 圆角 20">
            <a:extLst>
              <a:ext uri="{FF2B5EF4-FFF2-40B4-BE49-F238E27FC236}">
                <a16:creationId xmlns:a16="http://schemas.microsoft.com/office/drawing/2014/main" id="{A8E6939E-F7DB-3874-A5E3-E6329B9EC183}"/>
              </a:ext>
            </a:extLst>
          </p:cNvPr>
          <p:cNvSpPr/>
          <p:nvPr/>
        </p:nvSpPr>
        <p:spPr>
          <a:xfrm>
            <a:off x="3862808" y="3124767"/>
            <a:ext cx="7489775" cy="12417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1200" cap="none" spc="0" normalizeH="0" baseline="0" noProof="0">
                <a:ln>
                  <a:noFill/>
                </a:ln>
                <a:solidFill>
                  <a:prstClr val="black"/>
                </a:solidFill>
                <a:effectLst/>
                <a:uLnTx/>
                <a:uFillTx/>
                <a:latin typeface="Boehringer Forward Text"/>
                <a:ea typeface="+mn-ea"/>
                <a:cs typeface="+mn-cs"/>
              </a:rPr>
              <a:t>Advertisements (by Sites &amp; subsidiary hospitals)</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15" name="Rectangle: Rounded Corners 24">
            <a:extLst>
              <a:ext uri="{FF2B5EF4-FFF2-40B4-BE49-F238E27FC236}">
                <a16:creationId xmlns:a16="http://schemas.microsoft.com/office/drawing/2014/main" id="{54EADCAD-8C07-FD09-2D58-5ADD68D35BEC}"/>
              </a:ext>
            </a:extLst>
          </p:cNvPr>
          <p:cNvSpPr/>
          <p:nvPr/>
        </p:nvSpPr>
        <p:spPr>
          <a:xfrm>
            <a:off x="4035201" y="4701951"/>
            <a:ext cx="3570053" cy="140548"/>
          </a:xfrm>
          <a:prstGeom prst="roundRect">
            <a:avLst>
              <a:gd name="adj" fmla="val 50000"/>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800" b="1" i="0" u="none" strike="noStrike" kern="0" cap="none" spc="0" normalizeH="0" baseline="0" noProof="0">
                <a:ln>
                  <a:noFill/>
                </a:ln>
                <a:solidFill>
                  <a:prstClr val="black"/>
                </a:solidFill>
                <a:effectLst/>
                <a:uLnTx/>
                <a:uFillTx/>
                <a:latin typeface="Boehringer Forward Text"/>
                <a:ea typeface="黑体"/>
                <a:cs typeface="+mn-cs"/>
                <a:sym typeface="Helvetica"/>
              </a:rPr>
              <a:t>MSL Activities (site engagement and referral mapping)</a:t>
            </a:r>
          </a:p>
        </p:txBody>
      </p:sp>
      <p:sp>
        <p:nvSpPr>
          <p:cNvPr id="22" name="Rectangle: Rounded Corners 25">
            <a:extLst>
              <a:ext uri="{FF2B5EF4-FFF2-40B4-BE49-F238E27FC236}">
                <a16:creationId xmlns:a16="http://schemas.microsoft.com/office/drawing/2014/main" id="{280E3DDD-BB30-9912-A035-D5C7CD5C3AE2}"/>
              </a:ext>
            </a:extLst>
          </p:cNvPr>
          <p:cNvSpPr/>
          <p:nvPr/>
        </p:nvSpPr>
        <p:spPr>
          <a:xfrm>
            <a:off x="4036261" y="4873066"/>
            <a:ext cx="3570053" cy="157951"/>
          </a:xfrm>
          <a:prstGeom prst="roundRect">
            <a:avLst>
              <a:gd name="adj" fmla="val 50000"/>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800" b="1" i="0" u="none" strike="noStrike" kern="0" cap="none" spc="0" normalizeH="0" baseline="0" noProof="0">
                <a:ln>
                  <a:noFill/>
                </a:ln>
                <a:solidFill>
                  <a:prstClr val="black"/>
                </a:solidFill>
                <a:effectLst/>
                <a:uLnTx/>
                <a:uFillTx/>
                <a:latin typeface="Boehringer Forward Text"/>
                <a:ea typeface="黑体"/>
                <a:cs typeface="+mn-cs"/>
                <a:sym typeface="Helvetica"/>
              </a:rPr>
              <a:t>HCP and Patient Trial Materials</a:t>
            </a:r>
          </a:p>
        </p:txBody>
      </p:sp>
      <p:sp>
        <p:nvSpPr>
          <p:cNvPr id="26" name="Rectangle: Rounded Corners 2">
            <a:extLst>
              <a:ext uri="{FF2B5EF4-FFF2-40B4-BE49-F238E27FC236}">
                <a16:creationId xmlns:a16="http://schemas.microsoft.com/office/drawing/2014/main" id="{40070409-39D7-F7E6-791A-87E5AC5F07FF}"/>
              </a:ext>
            </a:extLst>
          </p:cNvPr>
          <p:cNvSpPr/>
          <p:nvPr/>
        </p:nvSpPr>
        <p:spPr>
          <a:xfrm>
            <a:off x="4100907" y="5096527"/>
            <a:ext cx="3490195" cy="166849"/>
          </a:xfrm>
          <a:prstGeom prst="roundRect">
            <a:avLst>
              <a:gd name="adj" fmla="val 50000"/>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800" b="1" i="0" u="none" strike="noStrike" kern="0" cap="none" spc="0" normalizeH="0" baseline="0" noProof="0">
                <a:ln>
                  <a:noFill/>
                </a:ln>
                <a:solidFill>
                  <a:prstClr val="black"/>
                </a:solidFill>
                <a:effectLst/>
                <a:uLnTx/>
                <a:uFillTx/>
                <a:latin typeface="Boehringer Forward Text"/>
                <a:ea typeface="黑体"/>
                <a:cs typeface="+mn-cs"/>
                <a:sym typeface="Helvetica"/>
              </a:rPr>
              <a:t>Trial Awareness  @  congresses (Derm, GI, Rheum, Wound Care)</a:t>
            </a:r>
          </a:p>
        </p:txBody>
      </p:sp>
      <p:sp>
        <p:nvSpPr>
          <p:cNvPr id="29" name="Rectangle: Rounded Corners 25">
            <a:extLst>
              <a:ext uri="{FF2B5EF4-FFF2-40B4-BE49-F238E27FC236}">
                <a16:creationId xmlns:a16="http://schemas.microsoft.com/office/drawing/2014/main" id="{140AE351-499F-184D-A734-EA06F20FDE46}"/>
              </a:ext>
            </a:extLst>
          </p:cNvPr>
          <p:cNvSpPr/>
          <p:nvPr/>
        </p:nvSpPr>
        <p:spPr>
          <a:xfrm>
            <a:off x="3926433" y="5527221"/>
            <a:ext cx="3740682" cy="155637"/>
          </a:xfrm>
          <a:prstGeom prst="roundRect">
            <a:avLst>
              <a:gd name="adj" fmla="val 50000"/>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800" b="1" i="0" u="none" strike="noStrike" kern="0" cap="none" spc="0" normalizeH="0" baseline="0" noProof="0">
                <a:ln>
                  <a:noFill/>
                </a:ln>
                <a:solidFill>
                  <a:prstClr val="black"/>
                </a:solidFill>
                <a:effectLst/>
                <a:uLnTx/>
                <a:uFillTx/>
                <a:latin typeface="Boehringer Forward Text"/>
                <a:ea typeface="黑体"/>
                <a:cs typeface="+mn-cs"/>
                <a:sym typeface="Helvetica"/>
              </a:rPr>
              <a:t>Monthly meeting with CD&amp;O to share medical insights</a:t>
            </a:r>
          </a:p>
        </p:txBody>
      </p:sp>
      <p:sp>
        <p:nvSpPr>
          <p:cNvPr id="30" name="矩形 29">
            <a:extLst>
              <a:ext uri="{FF2B5EF4-FFF2-40B4-BE49-F238E27FC236}">
                <a16:creationId xmlns:a16="http://schemas.microsoft.com/office/drawing/2014/main" id="{B3B77EBA-BA30-D134-BAF5-39C74F5E91F1}"/>
              </a:ext>
            </a:extLst>
          </p:cNvPr>
          <p:cNvSpPr/>
          <p:nvPr/>
        </p:nvSpPr>
        <p:spPr bwMode="gray">
          <a:xfrm>
            <a:off x="2271423" y="5711637"/>
            <a:ext cx="1024597" cy="346279"/>
          </a:xfrm>
          <a:prstGeom prst="rect">
            <a:avLst/>
          </a:prstGeom>
          <a:solidFill>
            <a:schemeClr val="accent6">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CFT</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 name="Rectangle: Rounded Corners 25">
            <a:extLst>
              <a:ext uri="{FF2B5EF4-FFF2-40B4-BE49-F238E27FC236}">
                <a16:creationId xmlns:a16="http://schemas.microsoft.com/office/drawing/2014/main" id="{92BEEDB7-AACD-799F-2E74-45265AB977F1}"/>
              </a:ext>
            </a:extLst>
          </p:cNvPr>
          <p:cNvSpPr/>
          <p:nvPr/>
        </p:nvSpPr>
        <p:spPr>
          <a:xfrm>
            <a:off x="4914378" y="5794064"/>
            <a:ext cx="2179520" cy="147063"/>
          </a:xfrm>
          <a:prstGeom prst="roundRect">
            <a:avLst>
              <a:gd name="adj" fmla="val 50000"/>
            </a:avLst>
          </a:prstGeom>
          <a:solidFill>
            <a:schemeClr val="accent6">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800" b="1" i="0" u="none" strike="noStrike" kern="0" cap="none" spc="0" normalizeH="0" baseline="0" noProof="0">
                <a:ln>
                  <a:noFill/>
                </a:ln>
                <a:solidFill>
                  <a:prstClr val="black"/>
                </a:solidFill>
                <a:effectLst/>
                <a:uLnTx/>
                <a:uFillTx/>
                <a:latin typeface="Boehringer Forward Text"/>
                <a:ea typeface="黑体"/>
                <a:cs typeface="+mn-cs"/>
                <a:sym typeface="Helvetica"/>
              </a:rPr>
              <a:t> leverage by PAG support</a:t>
            </a:r>
          </a:p>
        </p:txBody>
      </p:sp>
      <p:sp>
        <p:nvSpPr>
          <p:cNvPr id="32" name="Rectangle: Rounded Corners 25">
            <a:extLst>
              <a:ext uri="{FF2B5EF4-FFF2-40B4-BE49-F238E27FC236}">
                <a16:creationId xmlns:a16="http://schemas.microsoft.com/office/drawing/2014/main" id="{1BD9CA14-E3A8-2F67-BE0C-F448950F334F}"/>
              </a:ext>
            </a:extLst>
          </p:cNvPr>
          <p:cNvSpPr/>
          <p:nvPr/>
        </p:nvSpPr>
        <p:spPr>
          <a:xfrm>
            <a:off x="4914378" y="6001680"/>
            <a:ext cx="2179520" cy="112768"/>
          </a:xfrm>
          <a:prstGeom prst="roundRect">
            <a:avLst>
              <a:gd name="adj" fmla="val 50000"/>
            </a:avLst>
          </a:prstGeom>
          <a:solidFill>
            <a:schemeClr val="accent6">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800" b="1" i="0" u="none" strike="noStrike" kern="0" cap="none" spc="0" normalizeH="0" baseline="0" noProof="0">
                <a:ln>
                  <a:noFill/>
                </a:ln>
                <a:solidFill>
                  <a:prstClr val="black"/>
                </a:solidFill>
                <a:effectLst/>
                <a:uLnTx/>
                <a:uFillTx/>
                <a:latin typeface="Boehringer Forward Text"/>
                <a:ea typeface="黑体"/>
                <a:cs typeface="+mn-cs"/>
                <a:sym typeface="Helvetica"/>
              </a:rPr>
              <a:t>Media Outreach</a:t>
            </a:r>
          </a:p>
        </p:txBody>
      </p:sp>
      <p:sp>
        <p:nvSpPr>
          <p:cNvPr id="17" name="矩形: 圆角 16">
            <a:extLst>
              <a:ext uri="{FF2B5EF4-FFF2-40B4-BE49-F238E27FC236}">
                <a16:creationId xmlns:a16="http://schemas.microsoft.com/office/drawing/2014/main" id="{80943377-D6E8-B4B8-4D7C-DC9F10096468}"/>
              </a:ext>
            </a:extLst>
          </p:cNvPr>
          <p:cNvSpPr/>
          <p:nvPr/>
        </p:nvSpPr>
        <p:spPr>
          <a:xfrm>
            <a:off x="5007862" y="4063161"/>
            <a:ext cx="1564587" cy="139917"/>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CRA refresh training</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35" name="矩形: 圆角 34">
            <a:extLst>
              <a:ext uri="{FF2B5EF4-FFF2-40B4-BE49-F238E27FC236}">
                <a16:creationId xmlns:a16="http://schemas.microsoft.com/office/drawing/2014/main" id="{17A1E7A8-D1FB-B458-E394-98B678BE9A53}"/>
              </a:ext>
            </a:extLst>
          </p:cNvPr>
          <p:cNvSpPr/>
          <p:nvPr/>
        </p:nvSpPr>
        <p:spPr>
          <a:xfrm>
            <a:off x="6566505" y="4242574"/>
            <a:ext cx="1024597" cy="109796"/>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38" name="矩形: 圆角 37">
            <a:extLst>
              <a:ext uri="{FF2B5EF4-FFF2-40B4-BE49-F238E27FC236}">
                <a16:creationId xmlns:a16="http://schemas.microsoft.com/office/drawing/2014/main" id="{B88870F1-D217-0B9F-EB45-2A33A551567B}"/>
              </a:ext>
            </a:extLst>
          </p:cNvPr>
          <p:cNvSpPr/>
          <p:nvPr/>
        </p:nvSpPr>
        <p:spPr>
          <a:xfrm>
            <a:off x="6168080" y="4432252"/>
            <a:ext cx="935477" cy="11979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39" name="文本框 38">
            <a:extLst>
              <a:ext uri="{FF2B5EF4-FFF2-40B4-BE49-F238E27FC236}">
                <a16:creationId xmlns:a16="http://schemas.microsoft.com/office/drawing/2014/main" id="{3FAC8178-1E2C-1913-3B73-030B3E854BD0}"/>
              </a:ext>
            </a:extLst>
          </p:cNvPr>
          <p:cNvSpPr txBox="1"/>
          <p:nvPr/>
        </p:nvSpPr>
        <p:spPr bwMode="gray">
          <a:xfrm>
            <a:off x="5486356" y="4368458"/>
            <a:ext cx="3011531"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rPr>
              <a:t>Investigator Exchange forum </a:t>
            </a:r>
            <a:r>
              <a:rPr kumimoji="0" lang="en-US" altLang="zh-CN" sz="600" b="0"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rPr>
              <a:t>@ CHN7</a:t>
            </a:r>
            <a:endParaRPr kumimoji="0" lang="en-US" altLang="zh-CN" sz="1000" b="0"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40" name="矩形: 圆角 39">
            <a:extLst>
              <a:ext uri="{FF2B5EF4-FFF2-40B4-BE49-F238E27FC236}">
                <a16:creationId xmlns:a16="http://schemas.microsoft.com/office/drawing/2014/main" id="{FAF0E558-C376-B8F9-52A7-46F4CC5CC386}"/>
              </a:ext>
            </a:extLst>
          </p:cNvPr>
          <p:cNvSpPr/>
          <p:nvPr/>
        </p:nvSpPr>
        <p:spPr>
          <a:xfrm>
            <a:off x="7753130" y="4339773"/>
            <a:ext cx="3671461" cy="119789"/>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rPr>
              <a:t>Investigator Exchange forum per needs</a:t>
            </a:r>
          </a:p>
        </p:txBody>
      </p:sp>
      <p:sp>
        <p:nvSpPr>
          <p:cNvPr id="41" name="文本框 40">
            <a:extLst>
              <a:ext uri="{FF2B5EF4-FFF2-40B4-BE49-F238E27FC236}">
                <a16:creationId xmlns:a16="http://schemas.microsoft.com/office/drawing/2014/main" id="{88C48E38-C922-7C31-35D0-E922DDEC65D9}"/>
              </a:ext>
            </a:extLst>
          </p:cNvPr>
          <p:cNvSpPr txBox="1"/>
          <p:nvPr/>
        </p:nvSpPr>
        <p:spPr bwMode="gray">
          <a:xfrm>
            <a:off x="5597550" y="4178707"/>
            <a:ext cx="3011531"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rPr>
              <a:t>Investigator Exchange forum </a:t>
            </a:r>
            <a:r>
              <a:rPr kumimoji="0" lang="en-US" altLang="zh-CN" sz="700" b="0"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rPr>
              <a:t>@all sites</a:t>
            </a:r>
            <a:endParaRPr kumimoji="0" lang="en-US" altLang="zh-CN" sz="1000" b="0"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cxnSp>
        <p:nvCxnSpPr>
          <p:cNvPr id="33" name="直接连接符 32">
            <a:extLst>
              <a:ext uri="{FF2B5EF4-FFF2-40B4-BE49-F238E27FC236}">
                <a16:creationId xmlns:a16="http://schemas.microsoft.com/office/drawing/2014/main" id="{692A75B3-66A6-BAFC-4995-DBF70552C8A3}"/>
              </a:ext>
            </a:extLst>
          </p:cNvPr>
          <p:cNvCxnSpPr>
            <a:cxnSpLocks/>
          </p:cNvCxnSpPr>
          <p:nvPr/>
        </p:nvCxnSpPr>
        <p:spPr bwMode="gray">
          <a:xfrm>
            <a:off x="9212834" y="2502863"/>
            <a:ext cx="17824" cy="4220918"/>
          </a:xfrm>
          <a:prstGeom prst="line">
            <a:avLst/>
          </a:prstGeom>
          <a:ln w="63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BB1AC32A-62C4-9261-4E47-EDA1D56413D6}"/>
              </a:ext>
            </a:extLst>
          </p:cNvPr>
          <p:cNvSpPr txBox="1"/>
          <p:nvPr/>
        </p:nvSpPr>
        <p:spPr bwMode="gray">
          <a:xfrm>
            <a:off x="8859811" y="6197580"/>
            <a:ext cx="822752" cy="207289"/>
          </a:xfrm>
          <a:prstGeom prst="rect">
            <a:avLst/>
          </a:prstGeom>
          <a:solidFill>
            <a:schemeClr val="accent4"/>
          </a:solid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We are here</a:t>
            </a:r>
            <a:endParaRPr kumimoji="0" lang="zh-CN" altLang="en-US"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矩形: 圆角 26">
            <a:extLst>
              <a:ext uri="{FF2B5EF4-FFF2-40B4-BE49-F238E27FC236}">
                <a16:creationId xmlns:a16="http://schemas.microsoft.com/office/drawing/2014/main" id="{A1861339-E45D-BD88-8A95-42984FA08ED0}"/>
              </a:ext>
            </a:extLst>
          </p:cNvPr>
          <p:cNvSpPr/>
          <p:nvPr/>
        </p:nvSpPr>
        <p:spPr>
          <a:xfrm>
            <a:off x="7902454" y="3869317"/>
            <a:ext cx="1190866" cy="14301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CRA Workshop</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Tree>
    <p:extLst>
      <p:ext uri="{BB962C8B-B14F-4D97-AF65-F5344CB8AC3E}">
        <p14:creationId xmlns:p14="http://schemas.microsoft.com/office/powerpoint/2010/main" val="1240455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744C-4A7A-DAFF-15D5-6D20D5998967}"/>
              </a:ext>
            </a:extLst>
          </p:cNvPr>
          <p:cNvSpPr>
            <a:spLocks noGrp="1"/>
          </p:cNvSpPr>
          <p:nvPr>
            <p:ph type="ctrTitle"/>
          </p:nvPr>
        </p:nvSpPr>
        <p:spPr/>
        <p:txBody>
          <a:bodyPr/>
          <a:lstStyle/>
          <a:p>
            <a:r>
              <a:rPr lang="de-DE"/>
              <a:t>Update Early Pipeline</a:t>
            </a:r>
            <a:endParaRPr lang="en-US"/>
          </a:p>
        </p:txBody>
      </p:sp>
      <p:sp>
        <p:nvSpPr>
          <p:cNvPr id="3" name="Subtitle 2">
            <a:extLst>
              <a:ext uri="{FF2B5EF4-FFF2-40B4-BE49-F238E27FC236}">
                <a16:creationId xmlns:a16="http://schemas.microsoft.com/office/drawing/2014/main" id="{ADDC1516-2D87-709F-5C0A-FFDB61B46F4D}"/>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6ED5021E-1AC3-0E0C-D7C8-89B9CD912841}"/>
              </a:ext>
            </a:extLst>
          </p:cNvPr>
          <p:cNvSpPr>
            <a:spLocks noGrp="1"/>
          </p:cNvSpPr>
          <p:nvPr>
            <p:ph type="ftr" sz="quarter" idx="19"/>
          </p:nvPr>
        </p:nvSpPr>
        <p:spPr/>
        <p:txBody>
          <a:bodyPr/>
          <a:lstStyle/>
          <a:p>
            <a:r>
              <a:rPr lang="en-US"/>
              <a:t>ONLY FOR INTERNAL USE</a:t>
            </a:r>
          </a:p>
        </p:txBody>
      </p:sp>
    </p:spTree>
    <p:extLst>
      <p:ext uri="{BB962C8B-B14F-4D97-AF65-F5344CB8AC3E}">
        <p14:creationId xmlns:p14="http://schemas.microsoft.com/office/powerpoint/2010/main" val="41029237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A8846-3D37-6547-7F78-8E6E1E57D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5E45A-8A5C-74D1-F753-6FFDD9E4FFBC}"/>
              </a:ext>
            </a:extLst>
          </p:cNvPr>
          <p:cNvSpPr>
            <a:spLocks noGrp="1"/>
          </p:cNvSpPr>
          <p:nvPr>
            <p:ph type="title"/>
          </p:nvPr>
        </p:nvSpPr>
        <p:spPr>
          <a:xfrm>
            <a:off x="469657" y="359769"/>
            <a:ext cx="11233151" cy="720000"/>
          </a:xfrm>
        </p:spPr>
        <p:txBody>
          <a:bodyPr/>
          <a:lstStyle/>
          <a:p>
            <a:r>
              <a:rPr lang="de-DE"/>
              <a:t>Overview: China Development Plan – early assets</a:t>
            </a:r>
            <a:endParaRPr lang="en-US"/>
          </a:p>
        </p:txBody>
      </p:sp>
      <p:graphicFrame>
        <p:nvGraphicFramePr>
          <p:cNvPr id="7" name="Content Placeholder 6">
            <a:extLst>
              <a:ext uri="{FF2B5EF4-FFF2-40B4-BE49-F238E27FC236}">
                <a16:creationId xmlns:a16="http://schemas.microsoft.com/office/drawing/2014/main" id="{53026341-9AB6-65DF-3627-8F8B4E98002E}"/>
              </a:ext>
            </a:extLst>
          </p:cNvPr>
          <p:cNvGraphicFramePr>
            <a:graphicFrameLocks noGrp="1"/>
          </p:cNvGraphicFramePr>
          <p:nvPr>
            <p:ph idx="1"/>
            <p:extLst>
              <p:ext uri="{D42A27DB-BD31-4B8C-83A1-F6EECF244321}">
                <p14:modId xmlns:p14="http://schemas.microsoft.com/office/powerpoint/2010/main" val="1851895379"/>
              </p:ext>
            </p:extLst>
          </p:nvPr>
        </p:nvGraphicFramePr>
        <p:xfrm>
          <a:off x="489192" y="711000"/>
          <a:ext cx="11357368" cy="5576835"/>
        </p:xfrm>
        <a:graphic>
          <a:graphicData uri="http://schemas.openxmlformats.org/drawingml/2006/table">
            <a:tbl>
              <a:tblPr firstRow="1" bandRow="1">
                <a:tableStyleId>{5C22544A-7EE6-4342-B048-85BDC9FD1C3A}</a:tableStyleId>
              </a:tblPr>
              <a:tblGrid>
                <a:gridCol w="2240495">
                  <a:extLst>
                    <a:ext uri="{9D8B030D-6E8A-4147-A177-3AD203B41FA5}">
                      <a16:colId xmlns:a16="http://schemas.microsoft.com/office/drawing/2014/main" val="286813749"/>
                    </a:ext>
                  </a:extLst>
                </a:gridCol>
                <a:gridCol w="1176767">
                  <a:extLst>
                    <a:ext uri="{9D8B030D-6E8A-4147-A177-3AD203B41FA5}">
                      <a16:colId xmlns:a16="http://schemas.microsoft.com/office/drawing/2014/main" val="3820105433"/>
                    </a:ext>
                  </a:extLst>
                </a:gridCol>
                <a:gridCol w="3269008">
                  <a:extLst>
                    <a:ext uri="{9D8B030D-6E8A-4147-A177-3AD203B41FA5}">
                      <a16:colId xmlns:a16="http://schemas.microsoft.com/office/drawing/2014/main" val="1283564148"/>
                    </a:ext>
                  </a:extLst>
                </a:gridCol>
                <a:gridCol w="4671098">
                  <a:extLst>
                    <a:ext uri="{9D8B030D-6E8A-4147-A177-3AD203B41FA5}">
                      <a16:colId xmlns:a16="http://schemas.microsoft.com/office/drawing/2014/main" val="1944790202"/>
                    </a:ext>
                  </a:extLst>
                </a:gridCol>
              </a:tblGrid>
              <a:tr h="318902">
                <a:tc>
                  <a:txBody>
                    <a:bodyPr/>
                    <a:lstStyle/>
                    <a:p>
                      <a:pPr algn="ctr"/>
                      <a:r>
                        <a:rPr lang="en-US" sz="1400"/>
                        <a:t>Asset</a:t>
                      </a:r>
                    </a:p>
                  </a:txBody>
                  <a:tcPr anchor="ctr"/>
                </a:tc>
                <a:tc>
                  <a:txBody>
                    <a:bodyPr/>
                    <a:lstStyle/>
                    <a:p>
                      <a:pPr lvl="0" algn="ctr">
                        <a:buNone/>
                      </a:pPr>
                      <a:r>
                        <a:rPr lang="en-US" sz="1400"/>
                        <a:t>Indication</a:t>
                      </a:r>
                    </a:p>
                  </a:txBody>
                  <a:tcPr anchor="ctr"/>
                </a:tc>
                <a:tc>
                  <a:txBody>
                    <a:bodyPr/>
                    <a:lstStyle/>
                    <a:p>
                      <a:pPr algn="ctr"/>
                      <a:r>
                        <a:rPr lang="en-US" sz="1400"/>
                        <a:t>Status</a:t>
                      </a:r>
                    </a:p>
                  </a:txBody>
                  <a:tcPr anchor="ctr"/>
                </a:tc>
                <a:tc>
                  <a:txBody>
                    <a:bodyPr/>
                    <a:lstStyle/>
                    <a:p>
                      <a:pPr algn="ctr"/>
                      <a:r>
                        <a:rPr lang="en-US" sz="1400"/>
                        <a:t>Notes</a:t>
                      </a:r>
                    </a:p>
                  </a:txBody>
                  <a:tcPr anchor="ctr"/>
                </a:tc>
                <a:extLst>
                  <a:ext uri="{0D108BD9-81ED-4DB2-BD59-A6C34878D82A}">
                    <a16:rowId xmlns:a16="http://schemas.microsoft.com/office/drawing/2014/main" val="2190815718"/>
                  </a:ext>
                </a:extLst>
              </a:tr>
              <a:tr h="522666">
                <a:tc>
                  <a:txBody>
                    <a:bodyPr/>
                    <a:lstStyle/>
                    <a:p>
                      <a:pPr lvl="0" algn="l">
                        <a:buNone/>
                      </a:pPr>
                      <a:r>
                        <a:rPr lang="en-US" sz="1400" b="0" i="0" u="none" strike="noStrike" noProof="0">
                          <a:solidFill>
                            <a:schemeClr val="tx1"/>
                          </a:solidFill>
                          <a:latin typeface="Boehringer Forward Text"/>
                        </a:rPr>
                        <a:t>BI 3000202 (</a:t>
                      </a:r>
                      <a:r>
                        <a:rPr lang="en-US" sz="1400" b="0" i="0" u="none" strike="noStrike" noProof="0" err="1">
                          <a:solidFill>
                            <a:schemeClr val="tx1"/>
                          </a:solidFill>
                          <a:latin typeface="Boehringer Forward Text"/>
                        </a:rPr>
                        <a:t>cGASi</a:t>
                      </a:r>
                      <a:r>
                        <a:rPr lang="en-US" sz="1400" b="0" i="0" u="none" strike="noStrike" noProof="0">
                          <a:solidFill>
                            <a:schemeClr val="tx1"/>
                          </a:solidFill>
                          <a:latin typeface="Boehringer Forward Text"/>
                        </a:rPr>
                        <a:t>)</a:t>
                      </a:r>
                      <a:endParaRPr lang="zh-CN" altLang="en-US" sz="1400">
                        <a:solidFill>
                          <a:schemeClr val="tx1"/>
                        </a:solidFill>
                      </a:endParaRPr>
                    </a:p>
                  </a:txBody>
                  <a:tcPr anchor="ctr"/>
                </a:tc>
                <a:tc>
                  <a:txBody>
                    <a:bodyPr/>
                    <a:lstStyle/>
                    <a:p>
                      <a:pPr algn="l"/>
                      <a:r>
                        <a:rPr lang="en-US" sz="1400">
                          <a:solidFill>
                            <a:schemeClr val="tx1"/>
                          </a:solidFill>
                        </a:rPr>
                        <a:t>SLE and IFN</a:t>
                      </a:r>
                    </a:p>
                  </a:txBody>
                  <a:tcPr anchor="ctr"/>
                </a:tc>
                <a:tc>
                  <a:txBody>
                    <a:bodyPr/>
                    <a:lstStyle/>
                    <a:p>
                      <a:pPr lvl="0" algn="l">
                        <a:buNone/>
                      </a:pPr>
                      <a:r>
                        <a:rPr lang="en-US" sz="1400" b="0" i="0" u="none" strike="noStrike" noProof="0">
                          <a:solidFill>
                            <a:schemeClr val="tx1"/>
                          </a:solidFill>
                          <a:latin typeface="Boehringer Forward Text"/>
                        </a:rPr>
                        <a:t>Integration strategy endorsed</a:t>
                      </a:r>
                      <a:endParaRPr lang="zh-CN" altLang="en-US" sz="1400">
                        <a:solidFill>
                          <a:schemeClr val="tx1"/>
                        </a:solidFill>
                      </a:endParaRPr>
                    </a:p>
                  </a:txBody>
                  <a:tcPr anchor="ctr"/>
                </a:tc>
                <a:tc>
                  <a:txBody>
                    <a:bodyPr/>
                    <a:lstStyle/>
                    <a:p>
                      <a:pPr marL="285750" indent="-285750" algn="l">
                        <a:buFont typeface="Arial" panose="020B0604020202020204" pitchFamily="34" charset="0"/>
                        <a:buChar char="•"/>
                      </a:pPr>
                      <a:r>
                        <a:rPr lang="en-US" sz="1400" b="0">
                          <a:solidFill>
                            <a:schemeClr val="tx1"/>
                          </a:solidFill>
                        </a:rPr>
                        <a:t>CDE agreed to  backloading PK trial to join Ph 2 study in A</a:t>
                      </a:r>
                      <a:r>
                        <a:rPr lang="en-US" altLang="zh-CN" sz="1400" b="0">
                          <a:solidFill>
                            <a:schemeClr val="tx1"/>
                          </a:solidFill>
                        </a:rPr>
                        <a:t>ug</a:t>
                      </a:r>
                      <a:r>
                        <a:rPr lang="en-US" sz="1400" b="0">
                          <a:solidFill>
                            <a:schemeClr val="tx1"/>
                          </a:solidFill>
                        </a:rPr>
                        <a:t> 2025.</a:t>
                      </a: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schemeClr val="tx1"/>
                          </a:solidFill>
                          <a:effectLst/>
                          <a:uLnTx/>
                          <a:uFillTx/>
                          <a:latin typeface="Boehringer Forward Text"/>
                          <a:ea typeface="+mn-ea"/>
                          <a:cs typeface="+mn-cs"/>
                        </a:rPr>
                        <a:t>F2F visit to leading </a:t>
                      </a:r>
                      <a:r>
                        <a:rPr lang="en-US" altLang="zh-CN" sz="1400" b="0" kern="1200" noProof="0">
                          <a:solidFill>
                            <a:schemeClr val="tx1"/>
                          </a:solidFill>
                          <a:latin typeface="+mn-lt"/>
                          <a:ea typeface="+mn-ea"/>
                          <a:cs typeface="+mn-cs"/>
                        </a:rPr>
                        <a:t>PI – Mengtao Li and </a:t>
                      </a:r>
                      <a:r>
                        <a:rPr kumimoji="0" lang="en-US" altLang="zh-CN" sz="1400" b="0" i="0" u="none" strike="noStrike" kern="1200" cap="none" spc="0" normalizeH="0" baseline="0" noProof="0">
                          <a:ln>
                            <a:noFill/>
                          </a:ln>
                          <a:solidFill>
                            <a:schemeClr val="tx1"/>
                          </a:solidFill>
                          <a:effectLst/>
                          <a:uLnTx/>
                          <a:uFillTx/>
                          <a:latin typeface="Boehringer Forward Text"/>
                          <a:ea typeface="+mn-ea"/>
                          <a:cs typeface="+mn-cs"/>
                        </a:rPr>
                        <a:t>sub-I on 10</a:t>
                      </a:r>
                      <a:r>
                        <a:rPr kumimoji="0" lang="en-US" altLang="zh-CN" sz="1400" b="0" i="0" u="none" strike="noStrike" kern="1200" cap="none" spc="0" normalizeH="0" baseline="30000" noProof="0">
                          <a:ln>
                            <a:noFill/>
                          </a:ln>
                          <a:solidFill>
                            <a:schemeClr val="tx1"/>
                          </a:solidFill>
                          <a:effectLst/>
                          <a:uLnTx/>
                          <a:uFillTx/>
                          <a:latin typeface="Boehringer Forward Text"/>
                          <a:ea typeface="+mn-ea"/>
                          <a:cs typeface="+mn-cs"/>
                        </a:rPr>
                        <a:t>th</a:t>
                      </a:r>
                      <a:r>
                        <a:rPr kumimoji="0" lang="en-US" altLang="zh-CN" sz="1400" b="0" i="0" u="none" strike="noStrike" kern="1200" cap="none" spc="0" normalizeH="0" baseline="0" noProof="0">
                          <a:ln>
                            <a:noFill/>
                          </a:ln>
                          <a:solidFill>
                            <a:schemeClr val="tx1"/>
                          </a:solidFill>
                          <a:effectLst/>
                          <a:uLnTx/>
                          <a:uFillTx/>
                          <a:latin typeface="Boehringer Forward Text"/>
                          <a:ea typeface="+mn-ea"/>
                          <a:cs typeface="+mn-cs"/>
                        </a:rPr>
                        <a:t> Nov., </a:t>
                      </a:r>
                      <a:r>
                        <a:rPr kumimoji="0" lang="en-US" altLang="zh-CN" sz="1400" b="0" i="0" u="none" strike="noStrike" kern="1200" cap="none" spc="0" normalizeH="0" baseline="0" noProof="0">
                          <a:ln>
                            <a:noFill/>
                          </a:ln>
                          <a:solidFill>
                            <a:schemeClr val="tx1"/>
                          </a:solidFill>
                          <a:effectLst/>
                          <a:uLnTx/>
                          <a:uFillTx/>
                          <a:latin typeface="+mn-lt"/>
                          <a:ea typeface="+mn-ea"/>
                          <a:cs typeface="+mn-cs"/>
                        </a:rPr>
                        <a:t>for communications on final </a:t>
                      </a:r>
                      <a:r>
                        <a:rPr kumimoji="0" lang="en-US" altLang="zh-CN" sz="1400" b="0" i="0" u="none" strike="noStrike" kern="1200" cap="none" spc="0" normalizeH="0" baseline="0" noProof="0">
                          <a:ln>
                            <a:noFill/>
                          </a:ln>
                          <a:solidFill>
                            <a:schemeClr val="tx1"/>
                          </a:solidFill>
                          <a:effectLst/>
                          <a:uLnTx/>
                          <a:uFillTx/>
                          <a:latin typeface="Boehringer Forward Text"/>
                          <a:ea typeface="+mn-ea"/>
                          <a:cs typeface="+mn-cs"/>
                        </a:rPr>
                        <a:t>protocol, study plan </a:t>
                      </a:r>
                      <a:r>
                        <a:rPr kumimoji="0" lang="en-US" altLang="zh-CN" sz="1400" b="0" i="0" u="none" strike="noStrike" kern="1200" cap="none" spc="0" normalizeH="0" baseline="0" noProof="0">
                          <a:ln>
                            <a:noFill/>
                          </a:ln>
                          <a:solidFill>
                            <a:schemeClr val="tx1"/>
                          </a:solidFill>
                          <a:effectLst/>
                          <a:uLnTx/>
                          <a:uFillTx/>
                          <a:latin typeface="+mn-lt"/>
                          <a:ea typeface="+mn-ea"/>
                          <a:cs typeface="+mn-cs"/>
                        </a:rPr>
                        <a:t>and 30WD CTA process.</a:t>
                      </a: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schemeClr val="tx2">
                              <a:lumMod val="75000"/>
                            </a:schemeClr>
                          </a:solidFill>
                          <a:effectLst/>
                          <a:uLnTx/>
                          <a:uFillTx/>
                          <a:latin typeface="+mn-lt"/>
                          <a:ea typeface="+mn-ea"/>
                          <a:cs typeface="+mn-cs"/>
                        </a:rPr>
                        <a:t>Package for 30WD CTA  submission in preparation, targeting submission to CDE in Jan2026.</a:t>
                      </a:r>
                      <a:endParaRPr kumimoji="0" lang="en-US" altLang="zh-CN" sz="1400" b="0" i="0" u="none" strike="noStrike" kern="1200" cap="none" spc="0" normalizeH="0" baseline="0" noProof="0">
                        <a:ln>
                          <a:noFill/>
                        </a:ln>
                        <a:solidFill>
                          <a:schemeClr val="tx2">
                            <a:lumMod val="75000"/>
                          </a:schemeClr>
                        </a:solidFill>
                        <a:effectLst/>
                        <a:uLnTx/>
                        <a:uFillTx/>
                        <a:latin typeface="Boehringer Forward Text"/>
                        <a:ea typeface="+mn-ea"/>
                        <a:cs typeface="+mn-cs"/>
                      </a:endParaRPr>
                    </a:p>
                  </a:txBody>
                  <a:tcPr anchor="ctr"/>
                </a:tc>
                <a:extLst>
                  <a:ext uri="{0D108BD9-81ED-4DB2-BD59-A6C34878D82A}">
                    <a16:rowId xmlns:a16="http://schemas.microsoft.com/office/drawing/2014/main" val="512861467"/>
                  </a:ext>
                </a:extLst>
              </a:tr>
              <a:tr h="522666">
                <a:tc>
                  <a:txBody>
                    <a:bodyPr/>
                    <a:lstStyle/>
                    <a:p>
                      <a:pPr marL="0" marR="0" lvl="0" indent="0" algn="l">
                        <a:lnSpc>
                          <a:spcPct val="100000"/>
                        </a:lnSpc>
                        <a:spcBef>
                          <a:spcPts val="0"/>
                        </a:spcBef>
                        <a:spcAft>
                          <a:spcPts val="0"/>
                        </a:spcAft>
                        <a:buNone/>
                      </a:pPr>
                      <a:r>
                        <a:rPr lang="en-US" sz="1400" b="0" i="0" u="none" strike="noStrike" kern="1200" noProof="0">
                          <a:solidFill>
                            <a:schemeClr val="tx1"/>
                          </a:solidFill>
                          <a:latin typeface="Boehringer Forward Text"/>
                        </a:rPr>
                        <a:t>BI685509 (</a:t>
                      </a:r>
                      <a:r>
                        <a:rPr lang="en-US" sz="1400" b="0" i="0" u="none" strike="noStrike" kern="1200" noProof="0" err="1">
                          <a:solidFill>
                            <a:schemeClr val="tx1"/>
                          </a:solidFill>
                          <a:latin typeface="Boehringer Forward Text"/>
                        </a:rPr>
                        <a:t>Avenciguat</a:t>
                      </a:r>
                      <a:r>
                        <a:rPr lang="en-US" sz="1400" b="0" i="0" u="none" strike="noStrike" kern="1200" noProof="0">
                          <a:solidFill>
                            <a:schemeClr val="tx1"/>
                          </a:solidFill>
                          <a:latin typeface="Boehringer Forward Text"/>
                        </a:rPr>
                        <a:t>)</a:t>
                      </a:r>
                      <a:endParaRPr lang="zh-CN" altLang="en-US" sz="1400">
                        <a:solidFill>
                          <a:schemeClr val="tx1"/>
                        </a:solidFill>
                      </a:endParaRPr>
                    </a:p>
                  </a:txBody>
                  <a:tcPr anchor="ctr"/>
                </a:tc>
                <a:tc>
                  <a:txBody>
                    <a:bodyPr/>
                    <a:lstStyle/>
                    <a:p>
                      <a:pPr algn="l"/>
                      <a:r>
                        <a:rPr lang="en-US" sz="1400" err="1">
                          <a:solidFill>
                            <a:schemeClr val="tx1"/>
                          </a:solidFill>
                        </a:rPr>
                        <a:t>SSc</a:t>
                      </a:r>
                      <a:endParaRPr lang="en-US" sz="1400">
                        <a:solidFill>
                          <a:schemeClr val="tx1"/>
                        </a:solidFill>
                      </a:endParaRPr>
                    </a:p>
                  </a:txBody>
                  <a:tcPr anchor="ctr"/>
                </a:tc>
                <a:tc>
                  <a:txBody>
                    <a:bodyPr/>
                    <a:lstStyle/>
                    <a:p>
                      <a:pPr algn="l"/>
                      <a:r>
                        <a:rPr lang="en-US" sz="1400">
                          <a:solidFill>
                            <a:schemeClr val="tx1"/>
                          </a:solidFill>
                        </a:rPr>
                        <a:t>Ph II trial is ongoing.</a:t>
                      </a:r>
                    </a:p>
                  </a:txBody>
                  <a:tcPr anchor="ctr"/>
                </a:tc>
                <a:tc>
                  <a:txBody>
                    <a:bodyPr/>
                    <a:lstStyle/>
                    <a:p>
                      <a:pPr marL="285750" indent="-285750" algn="l">
                        <a:buFont typeface="Arial" panose="020B0604020202020204" pitchFamily="34" charset="0"/>
                        <a:buChar char="•"/>
                      </a:pPr>
                      <a:r>
                        <a:rPr lang="en-US" altLang="zh-CN" sz="1400">
                          <a:solidFill>
                            <a:schemeClr val="tx1"/>
                          </a:solidFill>
                        </a:rPr>
                        <a:t>iDBL for primary analysis achieved on 19</a:t>
                      </a:r>
                      <a:r>
                        <a:rPr lang="en-US" altLang="zh-CN" sz="1400" baseline="30000">
                          <a:solidFill>
                            <a:schemeClr val="tx1"/>
                          </a:solidFill>
                        </a:rPr>
                        <a:t>th</a:t>
                      </a:r>
                      <a:r>
                        <a:rPr lang="en-US" altLang="zh-CN" sz="1400">
                          <a:solidFill>
                            <a:schemeClr val="tx1"/>
                          </a:solidFill>
                        </a:rPr>
                        <a:t> Nov. EoP2 is planned in Q1 of 2026.</a:t>
                      </a:r>
                    </a:p>
                    <a:p>
                      <a:pPr marL="285750" indent="-285750" algn="l">
                        <a:buFont typeface="Arial" panose="020B0604020202020204" pitchFamily="34" charset="0"/>
                        <a:buChar char="•"/>
                      </a:pPr>
                      <a:r>
                        <a:rPr lang="en-US" sz="1400">
                          <a:solidFill>
                            <a:schemeClr val="tx2">
                              <a:lumMod val="75000"/>
                            </a:schemeClr>
                          </a:solidFill>
                        </a:rPr>
                        <a:t>TLR on 1Dec. Waiting for BUEC’s decision on RoFD which is planned on 18Dec.</a:t>
                      </a:r>
                    </a:p>
                  </a:txBody>
                  <a:tcPr anchor="ctr"/>
                </a:tc>
                <a:extLst>
                  <a:ext uri="{0D108BD9-81ED-4DB2-BD59-A6C34878D82A}">
                    <a16:rowId xmlns:a16="http://schemas.microsoft.com/office/drawing/2014/main" val="1702293786"/>
                  </a:ext>
                </a:extLst>
              </a:tr>
              <a:tr h="522666">
                <a:tc>
                  <a:txBody>
                    <a:bodyPr/>
                    <a:lstStyle/>
                    <a:p>
                      <a:pPr algn="l"/>
                      <a:r>
                        <a:rPr lang="en-US" sz="1400">
                          <a:solidFill>
                            <a:schemeClr val="tx1"/>
                          </a:solidFill>
                        </a:rPr>
                        <a:t>BI 1819479 (</a:t>
                      </a:r>
                      <a:r>
                        <a:rPr lang="en-US" sz="1400" err="1">
                          <a:solidFill>
                            <a:schemeClr val="tx1"/>
                          </a:solidFill>
                        </a:rPr>
                        <a:t>ATXi</a:t>
                      </a:r>
                      <a:r>
                        <a:rPr lang="en-US" sz="1400">
                          <a:solidFill>
                            <a:schemeClr val="tx1"/>
                          </a:solidFill>
                        </a:rPr>
                        <a:t>)</a:t>
                      </a:r>
                    </a:p>
                  </a:txBody>
                  <a:tcPr anchor="ctr"/>
                </a:tc>
                <a:tc>
                  <a:txBody>
                    <a:bodyPr/>
                    <a:lstStyle/>
                    <a:p>
                      <a:pPr algn="l"/>
                      <a:r>
                        <a:rPr lang="en-US" sz="1400">
                          <a:solidFill>
                            <a:schemeClr val="tx1"/>
                          </a:solidFill>
                        </a:rPr>
                        <a:t>IPF</a:t>
                      </a:r>
                    </a:p>
                  </a:txBody>
                  <a:tcPr anchor="ctr"/>
                </a:tc>
                <a:tc>
                  <a:txBody>
                    <a:bodyPr/>
                    <a:lstStyle/>
                    <a:p>
                      <a:pPr lvl="0" algn="l">
                        <a:buNone/>
                      </a:pPr>
                      <a:r>
                        <a:rPr lang="en-US" sz="1400" b="0" i="0" u="none" strike="noStrike" noProof="0">
                          <a:solidFill>
                            <a:schemeClr val="tx1"/>
                          </a:solidFill>
                          <a:latin typeface="Boehringer Forward Text"/>
                        </a:rPr>
                        <a:t>Ph II trial(1462-0004) is ongoing.</a:t>
                      </a:r>
                      <a:endParaRPr lang="zh-CN" altLang="en-US" sz="1400">
                        <a:solidFill>
                          <a:schemeClr val="tx1"/>
                        </a:solidFill>
                      </a:endParaRPr>
                    </a:p>
                  </a:txBody>
                  <a:tcPr anchor="ctr"/>
                </a:tc>
                <a:tc>
                  <a:txBody>
                    <a:bodyPr/>
                    <a:lstStyle/>
                    <a:p>
                      <a:pPr marL="285750" indent="-285750" algn="l">
                        <a:buFont typeface="Arial" panose="020B0604020202020204" pitchFamily="34" charset="0"/>
                        <a:buChar char="•"/>
                      </a:pPr>
                      <a:r>
                        <a:rPr lang="en-US" sz="1400" b="0" i="0" u="none" strike="noStrike" kern="1200" baseline="0">
                          <a:solidFill>
                            <a:schemeClr val="tx2">
                              <a:lumMod val="75000"/>
                            </a:schemeClr>
                          </a:solidFill>
                          <a:latin typeface="Boehringer Forward Text"/>
                          <a:ea typeface="+mn-ea"/>
                          <a:cs typeface="+mn-cs"/>
                        </a:rPr>
                        <a:t>EoT achieved on 18Nov.</a:t>
                      </a:r>
                    </a:p>
                    <a:p>
                      <a:pPr marL="285750" indent="-285750" algn="l">
                        <a:buFont typeface="Arial" panose="020B0604020202020204" pitchFamily="34" charset="0"/>
                        <a:buChar char="•"/>
                      </a:pPr>
                      <a:r>
                        <a:rPr lang="en-US" sz="1400" b="0" i="0" u="none" strike="noStrike" kern="1200" baseline="0">
                          <a:solidFill>
                            <a:schemeClr val="tx2">
                              <a:lumMod val="75000"/>
                            </a:schemeClr>
                          </a:solidFill>
                          <a:latin typeface="Boehringer Forward Text"/>
                          <a:ea typeface="+mn-ea"/>
                          <a:cs typeface="+mn-cs"/>
                        </a:rPr>
                        <a:t>DBL planned on 20Feb2026</a:t>
                      </a:r>
                    </a:p>
                  </a:txBody>
                  <a:tcPr anchor="ctr"/>
                </a:tc>
                <a:extLst>
                  <a:ext uri="{0D108BD9-81ED-4DB2-BD59-A6C34878D82A}">
                    <a16:rowId xmlns:a16="http://schemas.microsoft.com/office/drawing/2014/main" val="3909382106"/>
                  </a:ext>
                </a:extLst>
              </a:tr>
              <a:tr h="737881">
                <a:tc>
                  <a:txBody>
                    <a:bodyPr/>
                    <a:lstStyle/>
                    <a:p>
                      <a:pPr marL="0" marR="0" lvl="0" indent="0" algn="l">
                        <a:lnSpc>
                          <a:spcPct val="100000"/>
                        </a:lnSpc>
                        <a:spcBef>
                          <a:spcPts val="0"/>
                        </a:spcBef>
                        <a:spcAft>
                          <a:spcPts val="0"/>
                        </a:spcAft>
                        <a:buNone/>
                      </a:pPr>
                      <a:r>
                        <a:rPr lang="en-US" sz="1400" b="0" i="0" u="none" strike="noStrike" noProof="0">
                          <a:solidFill>
                            <a:schemeClr val="tx1"/>
                          </a:solidFill>
                          <a:latin typeface="Boehringer Forward Text"/>
                        </a:rPr>
                        <a:t>BI 1839100 (TRPA1</a:t>
                      </a:r>
                      <a:r>
                        <a:rPr lang="en-US" altLang="zh-CN" sz="1400" b="0" i="0" u="none" strike="noStrike" noProof="0">
                          <a:solidFill>
                            <a:schemeClr val="tx1"/>
                          </a:solidFill>
                          <a:latin typeface="Boehringer Forward Text"/>
                        </a:rPr>
                        <a:t>i</a:t>
                      </a:r>
                      <a:r>
                        <a:rPr lang="en-US" sz="1400" b="0" i="0" u="none" strike="noStrike" noProof="0">
                          <a:solidFill>
                            <a:schemeClr val="tx1"/>
                          </a:solidFill>
                          <a:latin typeface="Boehringer Forward Text"/>
                        </a:rPr>
                        <a:t>)</a:t>
                      </a:r>
                      <a:endParaRPr lang="zh-CN" altLang="en-US" sz="1400">
                        <a:solidFill>
                          <a:schemeClr val="tx1"/>
                        </a:solidFill>
                      </a:endParaRPr>
                    </a:p>
                  </a:txBody>
                  <a:tcPr anchor="ctr"/>
                </a:tc>
                <a:tc>
                  <a:txBody>
                    <a:bodyPr/>
                    <a:lstStyle/>
                    <a:p>
                      <a:pPr algn="l"/>
                      <a:r>
                        <a:rPr lang="en-US" sz="1400">
                          <a:solidFill>
                            <a:schemeClr val="tx1"/>
                          </a:solidFill>
                        </a:rPr>
                        <a:t>IPF</a:t>
                      </a:r>
                    </a:p>
                  </a:txBody>
                  <a:tcPr anchor="ctr"/>
                </a:tc>
                <a:tc>
                  <a:txBody>
                    <a:bodyPr/>
                    <a:lstStyle/>
                    <a:p>
                      <a:pPr algn="l"/>
                      <a:r>
                        <a:rPr lang="en-US" sz="1400" b="0">
                          <a:solidFill>
                            <a:schemeClr val="tx1"/>
                          </a:solidFill>
                        </a:rPr>
                        <a:t>Ph II trial (1490-0004) terminated by IUEC on 2</a:t>
                      </a:r>
                      <a:r>
                        <a:rPr lang="en-US" sz="1400" b="0" baseline="30000">
                          <a:solidFill>
                            <a:schemeClr val="tx1"/>
                          </a:solidFill>
                        </a:rPr>
                        <a:t>nd</a:t>
                      </a:r>
                      <a:r>
                        <a:rPr lang="en-US" sz="1400" b="0">
                          <a:solidFill>
                            <a:schemeClr val="tx1"/>
                          </a:solidFill>
                        </a:rPr>
                        <a:t> Sep since </a:t>
                      </a:r>
                      <a:r>
                        <a:rPr lang="en-US" sz="1400" b="0" i="0" u="none" strike="noStrike" noProof="0">
                          <a:solidFill>
                            <a:schemeClr val="tx1"/>
                          </a:solidFill>
                          <a:latin typeface="Boehringer Forward Text"/>
                        </a:rPr>
                        <a:t>pre-specified </a:t>
                      </a:r>
                      <a:r>
                        <a:rPr lang="en-US" sz="1400" b="0" i="0" u="none" strike="noStrike" noProof="0" err="1">
                          <a:solidFill>
                            <a:schemeClr val="tx1"/>
                          </a:solidFill>
                          <a:latin typeface="Boehringer Forward Text"/>
                        </a:rPr>
                        <a:t>PoCP</a:t>
                      </a:r>
                      <a:r>
                        <a:rPr lang="en-US" sz="1400" b="0" i="0" u="none" strike="noStrike" noProof="0">
                          <a:solidFill>
                            <a:schemeClr val="tx1"/>
                          </a:solidFill>
                          <a:latin typeface="Boehringer Forward Text"/>
                        </a:rPr>
                        <a:t> criteria was not met.</a:t>
                      </a:r>
                      <a:endParaRPr lang="en-US" sz="1400" b="0">
                        <a:solidFill>
                          <a:schemeClr val="tx1"/>
                        </a:solidFill>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schemeClr val="tx1"/>
                          </a:solidFill>
                          <a:effectLst/>
                          <a:uLnTx/>
                          <a:uFillTx/>
                          <a:latin typeface="+mn-lt"/>
                          <a:ea typeface="+mn-ea"/>
                          <a:cs typeface="+mn-cs"/>
                        </a:rPr>
                        <a:t>All</a:t>
                      </a:r>
                      <a:r>
                        <a:rPr kumimoji="0" lang="zh-CN" altLang="en-US" sz="1400" b="0" i="0" u="none" strike="noStrike" kern="1200" cap="none" spc="0" normalizeH="0" baseline="0" noProof="0">
                          <a:ln>
                            <a:noFill/>
                          </a:ln>
                          <a:solidFill>
                            <a:schemeClr val="tx1"/>
                          </a:solidFill>
                          <a:effectLst/>
                          <a:uLnTx/>
                          <a:uFillTx/>
                          <a:latin typeface="+mn-lt"/>
                          <a:ea typeface="+mn-ea"/>
                          <a:cs typeface="+mn-cs"/>
                        </a:rPr>
                        <a:t> </a:t>
                      </a:r>
                      <a:r>
                        <a:rPr kumimoji="0" lang="en-US" altLang="zh-CN" sz="1400" b="0" i="0" u="none" strike="noStrike" kern="1200" cap="none" spc="0" normalizeH="0" baseline="0" noProof="0">
                          <a:ln>
                            <a:noFill/>
                          </a:ln>
                          <a:solidFill>
                            <a:schemeClr val="tx1"/>
                          </a:solidFill>
                          <a:effectLst/>
                          <a:uLnTx/>
                          <a:uFillTx/>
                          <a:latin typeface="+mn-lt"/>
                          <a:ea typeface="+mn-ea"/>
                          <a:cs typeface="+mn-cs"/>
                        </a:rPr>
                        <a:t>17 patients from China were</a:t>
                      </a:r>
                      <a:r>
                        <a:rPr kumimoji="0" lang="zh-CN" altLang="en-US" sz="1400" b="0" i="0" u="none" strike="noStrike" kern="1200" cap="none" spc="0" normalizeH="0" baseline="0" noProof="0">
                          <a:ln>
                            <a:noFill/>
                          </a:ln>
                          <a:solidFill>
                            <a:schemeClr val="tx1"/>
                          </a:solidFill>
                          <a:effectLst/>
                          <a:uLnTx/>
                          <a:uFillTx/>
                          <a:latin typeface="+mn-lt"/>
                          <a:ea typeface="+mn-ea"/>
                          <a:cs typeface="+mn-cs"/>
                        </a:rPr>
                        <a:t> </a:t>
                      </a:r>
                      <a:r>
                        <a:rPr kumimoji="0" lang="en-US" altLang="zh-CN" sz="1400" b="0" i="0" u="none" strike="noStrike" kern="1200" cap="none" spc="0" normalizeH="0" baseline="0" noProof="0">
                          <a:ln>
                            <a:noFill/>
                          </a:ln>
                          <a:solidFill>
                            <a:schemeClr val="tx1"/>
                          </a:solidFill>
                          <a:effectLst/>
                          <a:uLnTx/>
                          <a:uFillTx/>
                          <a:latin typeface="+mn-lt"/>
                          <a:ea typeface="+mn-ea"/>
                          <a:cs typeface="+mn-cs"/>
                        </a:rPr>
                        <a:t>out, all data cleaned.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schemeClr val="tx2">
                              <a:lumMod val="75000"/>
                            </a:schemeClr>
                          </a:solidFill>
                          <a:effectLst/>
                          <a:uLnTx/>
                          <a:uFillTx/>
                          <a:latin typeface="+mn-lt"/>
                          <a:ea typeface="+mn-ea"/>
                          <a:cs typeface="+mn-cs"/>
                        </a:rPr>
                        <a:t>Final DBL on 5Dec.</a:t>
                      </a:r>
                      <a:endParaRPr kumimoji="0" lang="zh-CN" altLang="en-US" sz="1400" b="0" i="0" u="none" strike="noStrike" kern="1200" cap="none" spc="0" normalizeH="0" baseline="0" noProof="0">
                        <a:ln>
                          <a:noFill/>
                        </a:ln>
                        <a:solidFill>
                          <a:schemeClr val="tx2">
                            <a:lumMod val="75000"/>
                          </a:schemeClr>
                        </a:solidFill>
                        <a:effectLst/>
                        <a:uLnTx/>
                        <a:uFillTx/>
                        <a:latin typeface="+mn-lt"/>
                        <a:ea typeface="+mn-ea"/>
                        <a:cs typeface="+mn-cs"/>
                      </a:endParaRPr>
                    </a:p>
                  </a:txBody>
                  <a:tcPr anchor="ctr"/>
                </a:tc>
                <a:extLst>
                  <a:ext uri="{0D108BD9-81ED-4DB2-BD59-A6C34878D82A}">
                    <a16:rowId xmlns:a16="http://schemas.microsoft.com/office/drawing/2014/main" val="4286819469"/>
                  </a:ext>
                </a:extLst>
              </a:tr>
              <a:tr h="737881">
                <a:tc>
                  <a:txBody>
                    <a:bodyPr/>
                    <a:lstStyle/>
                    <a:p>
                      <a:pPr lvl="0" algn="l">
                        <a:buNone/>
                      </a:pPr>
                      <a:r>
                        <a:rPr lang="en-US" sz="1400" b="0" i="0" u="none" strike="noStrike" noProof="0">
                          <a:solidFill>
                            <a:schemeClr val="tx1"/>
                          </a:solidFill>
                          <a:latin typeface="Boehringer Forward Text"/>
                        </a:rPr>
                        <a:t>BI 3032950 (anti-TREM1)</a:t>
                      </a:r>
                      <a:endParaRPr lang="zh-CN" altLang="en-US" sz="1400">
                        <a:solidFill>
                          <a:schemeClr val="tx1"/>
                        </a:solidFill>
                      </a:endParaRPr>
                    </a:p>
                  </a:txBody>
                  <a:tcPr anchor="ctr"/>
                </a:tc>
                <a:tc>
                  <a:txBody>
                    <a:bodyPr/>
                    <a:lstStyle/>
                    <a:p>
                      <a:pPr algn="l"/>
                      <a:r>
                        <a:rPr lang="en-US" sz="1400">
                          <a:solidFill>
                            <a:schemeClr val="tx1"/>
                          </a:solidFill>
                        </a:rPr>
                        <a:t>IBD (CD and UC)</a:t>
                      </a:r>
                    </a:p>
                  </a:txBody>
                  <a:tcPr anchor="ctr"/>
                </a:tc>
                <a:tc>
                  <a:txBody>
                    <a:bodyPr/>
                    <a:lstStyle/>
                    <a:p>
                      <a:pPr lvl="0" algn="l">
                        <a:buNone/>
                      </a:pPr>
                      <a:r>
                        <a:rPr lang="en-US" sz="1400" b="0" i="0" u="none" strike="noStrike" noProof="0">
                          <a:solidFill>
                            <a:schemeClr val="tx1"/>
                          </a:solidFill>
                          <a:latin typeface="Boehringer Forward Text"/>
                        </a:rPr>
                        <a:t>Integration strategy endorsed</a:t>
                      </a:r>
                      <a:endParaRPr lang="zh-CN" altLang="en-US" sz="1400">
                        <a:solidFill>
                          <a:schemeClr val="tx1"/>
                        </a:solidFill>
                      </a:endParaRPr>
                    </a:p>
                  </a:txBody>
                  <a:tcPr anchor="ctr"/>
                </a:tc>
                <a:tc>
                  <a:txBody>
                    <a:bodyPr/>
                    <a:lstStyle/>
                    <a:p>
                      <a:pPr marL="285750" indent="-285750" algn="l">
                        <a:buFont typeface="Arial" panose="020B0604020202020204" pitchFamily="34" charset="0"/>
                        <a:buChar char="•"/>
                      </a:pPr>
                      <a:r>
                        <a:rPr lang="en-US" sz="1400" b="0">
                          <a:solidFill>
                            <a:schemeClr val="tx1"/>
                          </a:solidFill>
                        </a:rPr>
                        <a:t>CDE agreed to  backloading PK trial to join Ph 2 study in J</a:t>
                      </a:r>
                      <a:r>
                        <a:rPr lang="en-US" altLang="zh-CN" sz="1400" b="0">
                          <a:solidFill>
                            <a:schemeClr val="tx1"/>
                          </a:solidFill>
                        </a:rPr>
                        <a:t>un</a:t>
                      </a:r>
                      <a:r>
                        <a:rPr lang="en-US" sz="1400" b="0">
                          <a:solidFill>
                            <a:schemeClr val="tx1"/>
                          </a:solidFill>
                        </a:rPr>
                        <a:t> 2025.</a:t>
                      </a:r>
                    </a:p>
                    <a:p>
                      <a:pPr marL="285750" lvl="0" indent="-285750" algn="l">
                        <a:buFont typeface="Arial" panose="020B0604020202020204" pitchFamily="34" charset="0"/>
                        <a:buChar char="•"/>
                      </a:pPr>
                      <a:r>
                        <a:rPr lang="en-US" sz="1400" b="0" i="0" u="none" strike="noStrike" baseline="0" noProof="0">
                          <a:solidFill>
                            <a:schemeClr val="tx1"/>
                          </a:solidFill>
                          <a:latin typeface="Boehringer Forward Text"/>
                        </a:rPr>
                        <a:t>Ph2a interim analysis results  shared by Nov 11, supporting the continuation of ph2a</a:t>
                      </a:r>
                      <a:r>
                        <a:rPr lang="en-US" sz="1400" b="0" i="0" u="none" strike="noStrike" baseline="0" noProof="0">
                          <a:solidFill>
                            <a:schemeClr val="accent1">
                              <a:lumMod val="90000"/>
                              <a:lumOff val="10000"/>
                            </a:schemeClr>
                          </a:solidFill>
                          <a:latin typeface="Boehringer Forward Text"/>
                        </a:rPr>
                        <a:t>. </a:t>
                      </a:r>
                      <a:r>
                        <a:rPr lang="en-US" sz="1400" b="0" i="0" u="none" strike="noStrike" baseline="0" noProof="0">
                          <a:solidFill>
                            <a:schemeClr val="tx2">
                              <a:lumMod val="75000"/>
                            </a:schemeClr>
                          </a:solidFill>
                          <a:latin typeface="Boehringer Forward Text"/>
                        </a:rPr>
                        <a:t>TLR Mar2026</a:t>
                      </a:r>
                      <a:endParaRPr lang="en-US" i="0" u="none" strike="noStrike" baseline="0" noProof="0">
                        <a:solidFill>
                          <a:schemeClr val="tx2">
                            <a:lumMod val="75000"/>
                          </a:schemeClr>
                        </a:solidFill>
                        <a:latin typeface="Boehringer Forward Text"/>
                      </a:endParaRPr>
                    </a:p>
                  </a:txBody>
                  <a:tcPr anchor="ctr"/>
                </a:tc>
                <a:extLst>
                  <a:ext uri="{0D108BD9-81ED-4DB2-BD59-A6C34878D82A}">
                    <a16:rowId xmlns:a16="http://schemas.microsoft.com/office/drawing/2014/main" val="2134837057"/>
                  </a:ext>
                </a:extLst>
              </a:tr>
              <a:tr h="522666">
                <a:tc>
                  <a:txBody>
                    <a:bodyPr/>
                    <a:lstStyle/>
                    <a:p>
                      <a:pPr algn="l"/>
                      <a:r>
                        <a:rPr lang="en-US" sz="1400">
                          <a:solidFill>
                            <a:schemeClr val="tx1"/>
                          </a:solidFill>
                        </a:rPr>
                        <a:t>BI</a:t>
                      </a:r>
                      <a:r>
                        <a:rPr lang="en-US" sz="1400" b="0" i="0" u="none" strike="noStrike" noProof="0">
                          <a:solidFill>
                            <a:schemeClr val="tx1"/>
                          </a:solidFill>
                          <a:latin typeface="Boehringer Forward Text"/>
                        </a:rPr>
                        <a:t>765423 (IL-11)</a:t>
                      </a:r>
                      <a:endParaRPr lang="en-US" sz="1400">
                        <a:solidFill>
                          <a:schemeClr val="tx1"/>
                        </a:solidFill>
                      </a:endParaRPr>
                    </a:p>
                  </a:txBody>
                  <a:tcPr anchor="ctr"/>
                </a:tc>
                <a:tc>
                  <a:txBody>
                    <a:bodyPr/>
                    <a:lstStyle/>
                    <a:p>
                      <a:pPr algn="l"/>
                      <a:r>
                        <a:rPr lang="en-US" sz="1400">
                          <a:solidFill>
                            <a:schemeClr val="tx1"/>
                          </a:solidFill>
                        </a:rPr>
                        <a:t>IPF</a:t>
                      </a:r>
                    </a:p>
                  </a:txBody>
                  <a:tcPr anchor="ctr"/>
                </a:tc>
                <a:tc>
                  <a:txBody>
                    <a:bodyPr/>
                    <a:lstStyle/>
                    <a:p>
                      <a:pPr lvl="0" algn="l">
                        <a:buNone/>
                      </a:pPr>
                      <a:r>
                        <a:rPr lang="en-US" sz="1400" b="0" i="0" u="none" strike="noStrike" noProof="0">
                          <a:solidFill>
                            <a:schemeClr val="tx1"/>
                          </a:solidFill>
                          <a:latin typeface="Boehringer Forward Text"/>
                        </a:rPr>
                        <a:t>Integration strategy endorsed</a:t>
                      </a:r>
                      <a:endParaRPr lang="zh-CN" altLang="en-US" sz="1400">
                        <a:solidFill>
                          <a:schemeClr val="tx1"/>
                        </a:solidFill>
                      </a:endParaRPr>
                    </a:p>
                  </a:txBody>
                  <a:tcPr anchor="ctr"/>
                </a:tc>
                <a:tc>
                  <a:txBody>
                    <a:bodyPr/>
                    <a:lstStyle/>
                    <a:p>
                      <a:pPr marL="285750" indent="-285750" algn="l">
                        <a:buFont typeface="Arial" panose="020B0604020202020204" pitchFamily="34" charset="0"/>
                        <a:buChar char="•"/>
                      </a:pPr>
                      <a:r>
                        <a:rPr lang="en-US" sz="1400" b="0">
                          <a:solidFill>
                            <a:schemeClr val="tx1"/>
                          </a:solidFill>
                        </a:rPr>
                        <a:t>CDE </a:t>
                      </a:r>
                      <a:r>
                        <a:rPr lang="en-US" altLang="zh-CN" sz="1400" b="0">
                          <a:solidFill>
                            <a:schemeClr val="tx1"/>
                          </a:solidFill>
                        </a:rPr>
                        <a:t>agreed to  backloading PK trial to join Ph 2 study in May 2024.</a:t>
                      </a:r>
                      <a:endParaRPr lang="en-US" sz="1400" b="0">
                        <a:solidFill>
                          <a:schemeClr val="tx1"/>
                        </a:solidFill>
                      </a:endParaRPr>
                    </a:p>
                  </a:txBody>
                  <a:tcPr anchor="ctr"/>
                </a:tc>
                <a:extLst>
                  <a:ext uri="{0D108BD9-81ED-4DB2-BD59-A6C34878D82A}">
                    <a16:rowId xmlns:a16="http://schemas.microsoft.com/office/drawing/2014/main" val="344612170"/>
                  </a:ext>
                </a:extLst>
              </a:tr>
            </a:tbl>
          </a:graphicData>
        </a:graphic>
      </p:graphicFrame>
      <p:sp>
        <p:nvSpPr>
          <p:cNvPr id="4" name="Text Placeholder 3">
            <a:extLst>
              <a:ext uri="{FF2B5EF4-FFF2-40B4-BE49-F238E27FC236}">
                <a16:creationId xmlns:a16="http://schemas.microsoft.com/office/drawing/2014/main" id="{E344C7DE-3304-6D9D-E8AC-68DE7EC4A5E9}"/>
              </a:ext>
            </a:extLst>
          </p:cNvPr>
          <p:cNvSpPr>
            <a:spLocks noGrp="1"/>
          </p:cNvSpPr>
          <p:nvPr>
            <p:ph type="body" sz="quarter" idx="13"/>
          </p:nvPr>
        </p:nvSpPr>
        <p:spPr>
          <a:xfrm>
            <a:off x="407994" y="6714000"/>
            <a:ext cx="11232000" cy="144000"/>
          </a:xfrm>
        </p:spPr>
        <p:txBody>
          <a:bodyPr/>
          <a:lstStyle/>
          <a:p>
            <a:endParaRPr lang="en-US"/>
          </a:p>
        </p:txBody>
      </p:sp>
      <p:sp>
        <p:nvSpPr>
          <p:cNvPr id="5" name="Footer Placeholder 4">
            <a:extLst>
              <a:ext uri="{FF2B5EF4-FFF2-40B4-BE49-F238E27FC236}">
                <a16:creationId xmlns:a16="http://schemas.microsoft.com/office/drawing/2014/main" id="{97BD8F8A-E8D2-D1A3-5DC5-5DC41659EC0F}"/>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TA CEC Portfolio Update|    ONLY FOR INTERNAL USE</a:t>
            </a:r>
          </a:p>
        </p:txBody>
      </p:sp>
      <p:sp>
        <p:nvSpPr>
          <p:cNvPr id="6" name="Slide Number Placeholder 5">
            <a:extLst>
              <a:ext uri="{FF2B5EF4-FFF2-40B4-BE49-F238E27FC236}">
                <a16:creationId xmlns:a16="http://schemas.microsoft.com/office/drawing/2014/main" id="{40FDD17E-D39F-34F2-F5D5-A6A522C0BD65}"/>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13843351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35FA-FF31-8FDE-53A4-A1334FA88CE0}"/>
              </a:ext>
            </a:extLst>
          </p:cNvPr>
          <p:cNvSpPr>
            <a:spLocks noGrp="1"/>
          </p:cNvSpPr>
          <p:nvPr>
            <p:ph type="title"/>
          </p:nvPr>
        </p:nvSpPr>
        <p:spPr/>
        <p:txBody>
          <a:bodyPr/>
          <a:lstStyle/>
          <a:p>
            <a:r>
              <a:rPr lang="de-DE"/>
              <a:t>Back-up</a:t>
            </a:r>
            <a:endParaRPr lang="en-US"/>
          </a:p>
        </p:txBody>
      </p:sp>
      <p:sp>
        <p:nvSpPr>
          <p:cNvPr id="3" name="Subtitle 2">
            <a:extLst>
              <a:ext uri="{FF2B5EF4-FFF2-40B4-BE49-F238E27FC236}">
                <a16:creationId xmlns:a16="http://schemas.microsoft.com/office/drawing/2014/main" id="{C7430179-AA52-7DF8-1E08-4275452EF4FE}"/>
              </a:ext>
            </a:extLst>
          </p:cNvPr>
          <p:cNvSpPr>
            <a:spLocks noGrp="1"/>
          </p:cNvSpPr>
          <p:nvPr>
            <p:ph type="subTitle" idx="14"/>
          </p:nvPr>
        </p:nvSpPr>
        <p:spPr/>
        <p:txBody>
          <a:bodyPr/>
          <a:lstStyle/>
          <a:p>
            <a:endParaRPr lang="en-US"/>
          </a:p>
        </p:txBody>
      </p:sp>
      <p:sp>
        <p:nvSpPr>
          <p:cNvPr id="4" name="Slide Number Placeholder 3">
            <a:extLst>
              <a:ext uri="{FF2B5EF4-FFF2-40B4-BE49-F238E27FC236}">
                <a16:creationId xmlns:a16="http://schemas.microsoft.com/office/drawing/2014/main" id="{D7AC58DB-587E-E9CF-CA52-03E9454ED9E8}"/>
              </a:ext>
            </a:extLst>
          </p:cNvPr>
          <p:cNvSpPr>
            <a:spLocks noGrp="1"/>
          </p:cNvSpPr>
          <p:nvPr>
            <p:ph type="sldNum" sz="quarter" idx="16"/>
          </p:nvPr>
        </p:nvSpPr>
        <p:spPr/>
        <p:txBody>
          <a:bodyPr/>
          <a:lstStyle/>
          <a:p>
            <a:fld id="{8FF9B0DE-3FEB-4AA0-B465-B80EF7C1333D}" type="slidenum">
              <a:rPr lang="en-US" smtClean="0"/>
              <a:pPr/>
              <a:t>44</a:t>
            </a:fld>
            <a:endParaRPr lang="en-US"/>
          </a:p>
        </p:txBody>
      </p:sp>
      <p:sp>
        <p:nvSpPr>
          <p:cNvPr id="5" name="Footer Placeholder 4">
            <a:extLst>
              <a:ext uri="{FF2B5EF4-FFF2-40B4-BE49-F238E27FC236}">
                <a16:creationId xmlns:a16="http://schemas.microsoft.com/office/drawing/2014/main" id="{98B0F77B-5A9C-0FB3-30E7-FE86D802F604}"/>
              </a:ext>
            </a:extLst>
          </p:cNvPr>
          <p:cNvSpPr>
            <a:spLocks noGrp="1"/>
          </p:cNvSpPr>
          <p:nvPr>
            <p:ph type="ftr" sz="quarter" idx="19"/>
          </p:nvPr>
        </p:nvSpPr>
        <p:spPr/>
        <p:txBody>
          <a:bodyPr/>
          <a:lstStyle/>
          <a:p>
            <a:r>
              <a:rPr lang="en-US" altLang="zh-CN"/>
              <a:t>TA CEC Portfolio Update|    ONLY FOR INTERNAL USE</a:t>
            </a:r>
          </a:p>
        </p:txBody>
      </p:sp>
    </p:spTree>
    <p:extLst>
      <p:ext uri="{BB962C8B-B14F-4D97-AF65-F5344CB8AC3E}">
        <p14:creationId xmlns:p14="http://schemas.microsoft.com/office/powerpoint/2010/main" val="16091039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3BCDC6-2A99-5398-A703-307DE107866F}"/>
              </a:ext>
            </a:extLst>
          </p:cNvPr>
          <p:cNvSpPr>
            <a:spLocks noGrp="1"/>
          </p:cNvSpPr>
          <p:nvPr>
            <p:ph type="title"/>
          </p:nvPr>
        </p:nvSpPr>
        <p:spPr/>
        <p:txBody>
          <a:bodyPr/>
          <a:lstStyle/>
          <a:p>
            <a:r>
              <a:rPr lang="en-US" altLang="zh-CN"/>
              <a:t>SPEVIGO® (Spesolimab): - License out</a:t>
            </a:r>
            <a:endParaRPr lang="zh-CN" altLang="en-US"/>
          </a:p>
        </p:txBody>
      </p:sp>
      <p:sp>
        <p:nvSpPr>
          <p:cNvPr id="3" name="内容占位符 2">
            <a:extLst>
              <a:ext uri="{FF2B5EF4-FFF2-40B4-BE49-F238E27FC236}">
                <a16:creationId xmlns:a16="http://schemas.microsoft.com/office/drawing/2014/main" id="{712FE3D0-9B7D-5E01-1944-938E69B0B35A}"/>
              </a:ext>
            </a:extLst>
          </p:cNvPr>
          <p:cNvSpPr>
            <a:spLocks noGrp="1"/>
          </p:cNvSpPr>
          <p:nvPr>
            <p:ph idx="1"/>
          </p:nvPr>
        </p:nvSpPr>
        <p:spPr>
          <a:xfrm>
            <a:off x="479426" y="1720186"/>
            <a:ext cx="5484052" cy="3119367"/>
          </a:xfrm>
          <a:solidFill>
            <a:schemeClr val="bg1">
              <a:lumMod val="95000"/>
            </a:schemeClr>
          </a:solidFill>
        </p:spPr>
        <p:txBody>
          <a:bodyPr anchor="ctr"/>
          <a:lstStyle/>
          <a:p>
            <a:r>
              <a:rPr lang="en-US" altLang="zh-CN"/>
              <a:t>Boehringer Ingelheim will grant global licensing rights for SPEVIGO® to LEO Pharma on 1 Oct 2025.</a:t>
            </a:r>
          </a:p>
          <a:p>
            <a:endParaRPr lang="en-US" altLang="zh-CN"/>
          </a:p>
          <a:p>
            <a:r>
              <a:rPr lang="en-US" altLang="zh-CN"/>
              <a:t>Boehringer Ingelheim and LEO Pharma will collaborate closely to ensure continuity in the ongoing clinical programs for GPP and PG during the transition period.</a:t>
            </a:r>
            <a:endParaRPr lang="zh-CN" altLang="en-US"/>
          </a:p>
        </p:txBody>
      </p:sp>
      <p:sp>
        <p:nvSpPr>
          <p:cNvPr id="5" name="页脚占位符 4">
            <a:extLst>
              <a:ext uri="{FF2B5EF4-FFF2-40B4-BE49-F238E27FC236}">
                <a16:creationId xmlns:a16="http://schemas.microsoft.com/office/drawing/2014/main" id="{736CB881-D882-1582-102E-FB60B90D4363}"/>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TA CEC Portfolio Update|    ONLY FOR INTERNAL USE</a:t>
            </a:r>
          </a:p>
        </p:txBody>
      </p:sp>
      <p:sp>
        <p:nvSpPr>
          <p:cNvPr id="6" name="灯片编号占位符 5">
            <a:extLst>
              <a:ext uri="{FF2B5EF4-FFF2-40B4-BE49-F238E27FC236}">
                <a16:creationId xmlns:a16="http://schemas.microsoft.com/office/drawing/2014/main" id="{E5603447-6EFD-0065-C5B1-E8B2BB5F16EB}"/>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8" name="图片 7">
            <a:extLst>
              <a:ext uri="{FF2B5EF4-FFF2-40B4-BE49-F238E27FC236}">
                <a16:creationId xmlns:a16="http://schemas.microsoft.com/office/drawing/2014/main" id="{863C25FF-399E-8B9E-172C-EABFEEF9D1A6}"/>
              </a:ext>
            </a:extLst>
          </p:cNvPr>
          <p:cNvPicPr>
            <a:picLocks noChangeAspect="1"/>
          </p:cNvPicPr>
          <p:nvPr/>
        </p:nvPicPr>
        <p:blipFill>
          <a:blip r:embed="rId2"/>
          <a:stretch>
            <a:fillRect/>
          </a:stretch>
        </p:blipFill>
        <p:spPr>
          <a:xfrm>
            <a:off x="6626090" y="1223229"/>
            <a:ext cx="4522094" cy="441154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340360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22476C87-D5B0-129F-3BC1-2B5F6464FCEE}"/>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PG L-36    |    ONLY FOR INTERNAL USE</a:t>
            </a:r>
          </a:p>
        </p:txBody>
      </p:sp>
      <p:sp>
        <p:nvSpPr>
          <p:cNvPr id="5" name="灯片编号占位符 4">
            <a:extLst>
              <a:ext uri="{FF2B5EF4-FFF2-40B4-BE49-F238E27FC236}">
                <a16:creationId xmlns:a16="http://schemas.microsoft.com/office/drawing/2014/main" id="{C9BEA415-3D61-4B54-7AA9-B1623FAD036E}"/>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6" name="图片 5">
            <a:extLst>
              <a:ext uri="{FF2B5EF4-FFF2-40B4-BE49-F238E27FC236}">
                <a16:creationId xmlns:a16="http://schemas.microsoft.com/office/drawing/2014/main" id="{3076DC4E-CD91-1E0D-6B57-A119D804EC30}"/>
              </a:ext>
            </a:extLst>
          </p:cNvPr>
          <p:cNvPicPr>
            <a:picLocks noChangeAspect="1"/>
          </p:cNvPicPr>
          <p:nvPr/>
        </p:nvPicPr>
        <p:blipFill>
          <a:blip r:embed="rId2"/>
          <a:srcRect l="-1" t="3158" r="-439" b="10250"/>
          <a:stretch>
            <a:fillRect/>
          </a:stretch>
        </p:blipFill>
        <p:spPr>
          <a:xfrm>
            <a:off x="214088" y="134321"/>
            <a:ext cx="8035389" cy="5636844"/>
          </a:xfrm>
          <a:prstGeom prst="rect">
            <a:avLst/>
          </a:prstGeom>
        </p:spPr>
      </p:pic>
    </p:spTree>
    <p:extLst>
      <p:ext uri="{BB962C8B-B14F-4D97-AF65-F5344CB8AC3E}">
        <p14:creationId xmlns:p14="http://schemas.microsoft.com/office/powerpoint/2010/main" val="22778043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A602D51F-8491-FCC7-5216-EC1FBF92715C}"/>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PG L-36    |    ONLY FOR INTERNAL USE</a:t>
            </a:r>
          </a:p>
        </p:txBody>
      </p:sp>
      <p:sp>
        <p:nvSpPr>
          <p:cNvPr id="5" name="灯片编号占位符 4">
            <a:extLst>
              <a:ext uri="{FF2B5EF4-FFF2-40B4-BE49-F238E27FC236}">
                <a16:creationId xmlns:a16="http://schemas.microsoft.com/office/drawing/2014/main" id="{8BCCA80D-619C-356F-79F8-18F6678516E2}"/>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6" name="图片 5">
            <a:extLst>
              <a:ext uri="{FF2B5EF4-FFF2-40B4-BE49-F238E27FC236}">
                <a16:creationId xmlns:a16="http://schemas.microsoft.com/office/drawing/2014/main" id="{63F1612D-13FC-B61D-205E-C2D1DB118935}"/>
              </a:ext>
            </a:extLst>
          </p:cNvPr>
          <p:cNvPicPr>
            <a:picLocks noChangeAspect="1"/>
          </p:cNvPicPr>
          <p:nvPr/>
        </p:nvPicPr>
        <p:blipFill>
          <a:blip r:embed="rId2"/>
          <a:srcRect l="1149"/>
          <a:stretch>
            <a:fillRect/>
          </a:stretch>
        </p:blipFill>
        <p:spPr>
          <a:xfrm>
            <a:off x="43070" y="0"/>
            <a:ext cx="12062792" cy="6841427"/>
          </a:xfrm>
          <a:prstGeom prst="rect">
            <a:avLst/>
          </a:prstGeom>
        </p:spPr>
      </p:pic>
      <p:sp>
        <p:nvSpPr>
          <p:cNvPr id="7" name="矩形: 圆角 6">
            <a:extLst>
              <a:ext uri="{FF2B5EF4-FFF2-40B4-BE49-F238E27FC236}">
                <a16:creationId xmlns:a16="http://schemas.microsoft.com/office/drawing/2014/main" id="{DD20D463-7BA4-E8EC-0E0D-0E9F8115B3A3}"/>
              </a:ext>
            </a:extLst>
          </p:cNvPr>
          <p:cNvSpPr/>
          <p:nvPr/>
        </p:nvSpPr>
        <p:spPr bwMode="gray">
          <a:xfrm>
            <a:off x="86138" y="1819095"/>
            <a:ext cx="11820940" cy="51683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矩形: 圆角 7">
            <a:extLst>
              <a:ext uri="{FF2B5EF4-FFF2-40B4-BE49-F238E27FC236}">
                <a16:creationId xmlns:a16="http://schemas.microsoft.com/office/drawing/2014/main" id="{2591E7EC-C95C-7663-8DB2-E4052B23A712}"/>
              </a:ext>
            </a:extLst>
          </p:cNvPr>
          <p:cNvSpPr/>
          <p:nvPr/>
        </p:nvSpPr>
        <p:spPr bwMode="gray">
          <a:xfrm>
            <a:off x="163996" y="3005400"/>
            <a:ext cx="11820940" cy="2880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17399543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5FD26-8BC1-FF7C-B32C-52BD072EEAD3}"/>
            </a:ext>
          </a:extLst>
        </p:cNvPr>
        <p:cNvGrpSpPr/>
        <p:nvPr/>
      </p:nvGrpSpPr>
      <p:grpSpPr>
        <a:xfrm>
          <a:off x="0" y="0"/>
          <a:ext cx="0" cy="0"/>
          <a:chOff x="0" y="0"/>
          <a:chExt cx="0" cy="0"/>
        </a:xfrm>
      </p:grpSpPr>
      <p:sp>
        <p:nvSpPr>
          <p:cNvPr id="4" name="页脚占位符 3">
            <a:extLst>
              <a:ext uri="{FF2B5EF4-FFF2-40B4-BE49-F238E27FC236}">
                <a16:creationId xmlns:a16="http://schemas.microsoft.com/office/drawing/2014/main" id="{E5CF753D-4B0D-2AA1-3989-5CF494411DBD}"/>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PG L-36    |    ONLY FOR INTERNAL USE</a:t>
            </a:r>
          </a:p>
        </p:txBody>
      </p:sp>
      <p:sp>
        <p:nvSpPr>
          <p:cNvPr id="5" name="灯片编号占位符 4">
            <a:extLst>
              <a:ext uri="{FF2B5EF4-FFF2-40B4-BE49-F238E27FC236}">
                <a16:creationId xmlns:a16="http://schemas.microsoft.com/office/drawing/2014/main" id="{2073F849-334A-0BC8-99AB-C8EC9199B34A}"/>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 name="图片 1">
            <a:extLst>
              <a:ext uri="{FF2B5EF4-FFF2-40B4-BE49-F238E27FC236}">
                <a16:creationId xmlns:a16="http://schemas.microsoft.com/office/drawing/2014/main" id="{B7FD07CC-CCB0-AB2B-8023-577A004C2A43}"/>
              </a:ext>
            </a:extLst>
          </p:cNvPr>
          <p:cNvPicPr>
            <a:picLocks noChangeAspect="1"/>
          </p:cNvPicPr>
          <p:nvPr/>
        </p:nvPicPr>
        <p:blipFill>
          <a:blip r:embed="rId2"/>
          <a:srcRect r="241" b="1449"/>
          <a:stretch>
            <a:fillRect/>
          </a:stretch>
        </p:blipFill>
        <p:spPr>
          <a:xfrm>
            <a:off x="0" y="0"/>
            <a:ext cx="12056165" cy="6758609"/>
          </a:xfrm>
          <a:prstGeom prst="rect">
            <a:avLst/>
          </a:prstGeom>
        </p:spPr>
      </p:pic>
    </p:spTree>
    <p:extLst>
      <p:ext uri="{BB962C8B-B14F-4D97-AF65-F5344CB8AC3E}">
        <p14:creationId xmlns:p14="http://schemas.microsoft.com/office/powerpoint/2010/main" val="17006065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D84CD46F-3FAD-938B-0EE7-D898C42CD9BD}"/>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PG L-36    |    ONLY FOR INTERNAL USE</a:t>
            </a:r>
          </a:p>
        </p:txBody>
      </p:sp>
      <p:sp>
        <p:nvSpPr>
          <p:cNvPr id="5" name="灯片编号占位符 4">
            <a:extLst>
              <a:ext uri="{FF2B5EF4-FFF2-40B4-BE49-F238E27FC236}">
                <a16:creationId xmlns:a16="http://schemas.microsoft.com/office/drawing/2014/main" id="{6AE5FE2C-64B4-9AB2-3354-710962984E05}"/>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6" name="图片 5">
            <a:extLst>
              <a:ext uri="{FF2B5EF4-FFF2-40B4-BE49-F238E27FC236}">
                <a16:creationId xmlns:a16="http://schemas.microsoft.com/office/drawing/2014/main" id="{E29E2DAF-3385-6030-08FC-E55908E770DA}"/>
              </a:ext>
            </a:extLst>
          </p:cNvPr>
          <p:cNvPicPr>
            <a:picLocks noChangeAspect="1"/>
          </p:cNvPicPr>
          <p:nvPr/>
        </p:nvPicPr>
        <p:blipFill>
          <a:blip r:embed="rId2"/>
          <a:stretch>
            <a:fillRect/>
          </a:stretch>
        </p:blipFill>
        <p:spPr>
          <a:xfrm>
            <a:off x="-58959" y="0"/>
            <a:ext cx="12094784" cy="6858000"/>
          </a:xfrm>
          <a:prstGeom prst="rect">
            <a:avLst/>
          </a:prstGeom>
        </p:spPr>
      </p:pic>
      <p:sp>
        <p:nvSpPr>
          <p:cNvPr id="7" name="矩形: 圆角 6">
            <a:extLst>
              <a:ext uri="{FF2B5EF4-FFF2-40B4-BE49-F238E27FC236}">
                <a16:creationId xmlns:a16="http://schemas.microsoft.com/office/drawing/2014/main" id="{94F687AB-2700-DC9C-1770-66B24134DF3A}"/>
              </a:ext>
            </a:extLst>
          </p:cNvPr>
          <p:cNvSpPr/>
          <p:nvPr/>
        </p:nvSpPr>
        <p:spPr bwMode="gray">
          <a:xfrm>
            <a:off x="156175" y="4436635"/>
            <a:ext cx="11820940" cy="175122"/>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41528383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807D7-03E7-ECFC-BB27-07FD0E84AB1E}"/>
              </a:ext>
            </a:extLst>
          </p:cNvPr>
          <p:cNvSpPr>
            <a:spLocks noGrp="1"/>
          </p:cNvSpPr>
          <p:nvPr>
            <p:ph type="title"/>
          </p:nvPr>
        </p:nvSpPr>
        <p:spPr/>
        <p:txBody>
          <a:bodyPr/>
          <a:lstStyle/>
          <a:p>
            <a:r>
              <a:rPr lang="en-US" altLang="zh-CN"/>
              <a:t>China is the current Top 1 recruiter  (cut-off date: Sep 15, 2025)</a:t>
            </a:r>
            <a:endParaRPr lang="zh-CN" altLang="en-US"/>
          </a:p>
        </p:txBody>
      </p:sp>
      <p:sp>
        <p:nvSpPr>
          <p:cNvPr id="5" name="灯片编号占位符 4">
            <a:extLst>
              <a:ext uri="{FF2B5EF4-FFF2-40B4-BE49-F238E27FC236}">
                <a16:creationId xmlns:a16="http://schemas.microsoft.com/office/drawing/2014/main" id="{F98459EC-84E8-5BCC-BC5B-D0D2AD0515FA}"/>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17" name="图表 16">
            <a:extLst>
              <a:ext uri="{FF2B5EF4-FFF2-40B4-BE49-F238E27FC236}">
                <a16:creationId xmlns:a16="http://schemas.microsoft.com/office/drawing/2014/main" id="{C9D7078C-7553-329D-75EB-775C1E5C0CC7}"/>
              </a:ext>
            </a:extLst>
          </p:cNvPr>
          <p:cNvGraphicFramePr>
            <a:graphicFrameLocks/>
          </p:cNvGraphicFramePr>
          <p:nvPr/>
        </p:nvGraphicFramePr>
        <p:xfrm>
          <a:off x="479423" y="966651"/>
          <a:ext cx="10519955" cy="5200665"/>
        </p:xfrm>
        <a:graphic>
          <a:graphicData uri="http://schemas.openxmlformats.org/drawingml/2006/chart">
            <c:chart xmlns:c="http://schemas.openxmlformats.org/drawingml/2006/chart" xmlns:r="http://schemas.openxmlformats.org/officeDocument/2006/relationships" r:id="rId2"/>
          </a:graphicData>
        </a:graphic>
      </p:graphicFrame>
      <p:sp>
        <p:nvSpPr>
          <p:cNvPr id="8" name="矩形: 圆角 7">
            <a:extLst>
              <a:ext uri="{FF2B5EF4-FFF2-40B4-BE49-F238E27FC236}">
                <a16:creationId xmlns:a16="http://schemas.microsoft.com/office/drawing/2014/main" id="{865A82FE-7559-BDBA-F4E2-7D0B5F6BE369}"/>
              </a:ext>
            </a:extLst>
          </p:cNvPr>
          <p:cNvSpPr/>
          <p:nvPr/>
        </p:nvSpPr>
        <p:spPr bwMode="gray">
          <a:xfrm>
            <a:off x="3648892" y="1575193"/>
            <a:ext cx="409302" cy="3928624"/>
          </a:xfrm>
          <a:prstGeom prst="roundRect">
            <a:avLst/>
          </a:prstGeom>
          <a:noFill/>
          <a:ln w="28575">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文本框 11">
            <a:extLst>
              <a:ext uri="{FF2B5EF4-FFF2-40B4-BE49-F238E27FC236}">
                <a16:creationId xmlns:a16="http://schemas.microsoft.com/office/drawing/2014/main" id="{D2899944-6291-194C-25C7-51F266357212}"/>
              </a:ext>
            </a:extLst>
          </p:cNvPr>
          <p:cNvSpPr txBox="1"/>
          <p:nvPr/>
        </p:nvSpPr>
        <p:spPr bwMode="gray">
          <a:xfrm>
            <a:off x="3243806" y="1307425"/>
            <a:ext cx="1628775"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19 Screened </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文本框 10">
            <a:extLst>
              <a:ext uri="{FF2B5EF4-FFF2-40B4-BE49-F238E27FC236}">
                <a16:creationId xmlns:a16="http://schemas.microsoft.com/office/drawing/2014/main" id="{EE0C8E7E-FDDB-26DA-950A-A0414BC91402}"/>
              </a:ext>
            </a:extLst>
          </p:cNvPr>
          <p:cNvSpPr txBox="1"/>
          <p:nvPr/>
        </p:nvSpPr>
        <p:spPr bwMode="gray">
          <a:xfrm>
            <a:off x="3853541" y="2170258"/>
            <a:ext cx="1628775"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6 In screening</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文本框 8">
            <a:extLst>
              <a:ext uri="{FF2B5EF4-FFF2-40B4-BE49-F238E27FC236}">
                <a16:creationId xmlns:a16="http://schemas.microsoft.com/office/drawing/2014/main" id="{D1721526-4274-2B50-3460-D820DA68F8A2}"/>
              </a:ext>
            </a:extLst>
          </p:cNvPr>
          <p:cNvSpPr txBox="1"/>
          <p:nvPr/>
        </p:nvSpPr>
        <p:spPr bwMode="gray">
          <a:xfrm>
            <a:off x="3853543" y="4537612"/>
            <a:ext cx="1628775"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4 Randomized </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 name="文本框 9">
            <a:extLst>
              <a:ext uri="{FF2B5EF4-FFF2-40B4-BE49-F238E27FC236}">
                <a16:creationId xmlns:a16="http://schemas.microsoft.com/office/drawing/2014/main" id="{D26BC98F-4128-E423-0518-36A139CE835A}"/>
              </a:ext>
            </a:extLst>
          </p:cNvPr>
          <p:cNvSpPr txBox="1"/>
          <p:nvPr/>
        </p:nvSpPr>
        <p:spPr bwMode="gray">
          <a:xfrm>
            <a:off x="3853542" y="3375942"/>
            <a:ext cx="1628775"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9 Screen failed </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642042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0D9143-14E8-2939-4F86-F737071A8E23}"/>
              </a:ext>
            </a:extLst>
          </p:cNvPr>
          <p:cNvSpPr>
            <a:spLocks noGrp="1"/>
          </p:cNvSpPr>
          <p:nvPr>
            <p:ph type="title"/>
          </p:nvPr>
        </p:nvSpPr>
        <p:spPr/>
        <p:txBody>
          <a:bodyPr/>
          <a:lstStyle/>
          <a:p>
            <a:r>
              <a:rPr lang="de-DE"/>
              <a:t>1397-0014 Amendment for the inclusion of adolescents LCI</a:t>
            </a:r>
          </a:p>
        </p:txBody>
      </p:sp>
      <p:sp>
        <p:nvSpPr>
          <p:cNvPr id="5" name="Fußzeilenplatzhalter 4">
            <a:extLst>
              <a:ext uri="{FF2B5EF4-FFF2-40B4-BE49-F238E27FC236}">
                <a16:creationId xmlns:a16="http://schemas.microsoft.com/office/drawing/2014/main" id="{7738C360-831E-952F-821F-4BA69FE77A38}"/>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ltLang="zh-CN"/>
              <a:t>TA CEC Portfolio Update|    ONLY FOR INTERNAL USE</a:t>
            </a:r>
            <a:endParaRPr lang="en-US"/>
          </a:p>
        </p:txBody>
      </p:sp>
      <p:sp>
        <p:nvSpPr>
          <p:cNvPr id="6" name="Foliennummernplatzhalter 5">
            <a:extLst>
              <a:ext uri="{FF2B5EF4-FFF2-40B4-BE49-F238E27FC236}">
                <a16:creationId xmlns:a16="http://schemas.microsoft.com/office/drawing/2014/main" id="{2391A705-EA31-251E-63F6-10905A3B25FF}"/>
              </a:ext>
            </a:extLst>
          </p:cNvPr>
          <p:cNvSpPr>
            <a:spLocks noGrp="1"/>
          </p:cNvSpPr>
          <p:nvPr>
            <p:ph type="sldNum" sz="quarter" idx="20"/>
          </p:nvPr>
        </p:nvSpPr>
        <p:spPr/>
        <p:txBody>
          <a:bodyPr/>
          <a:lstStyle/>
          <a:p>
            <a:fld id="{DF4E8F9F-5B1F-4F5B-BE49-3245D8C18D9F}" type="slidenum">
              <a:rPr lang="en-US" smtClean="0"/>
              <a:pPr/>
              <a:t>51</a:t>
            </a:fld>
            <a:endParaRPr lang="en-US"/>
          </a:p>
        </p:txBody>
      </p:sp>
      <p:sp>
        <p:nvSpPr>
          <p:cNvPr id="7" name="Inhaltsplatzhalter 2">
            <a:extLst>
              <a:ext uri="{FF2B5EF4-FFF2-40B4-BE49-F238E27FC236}">
                <a16:creationId xmlns:a16="http://schemas.microsoft.com/office/drawing/2014/main" id="{2FD1D9BB-1065-BAAC-D08E-4C6CE1B3B8F3}"/>
              </a:ext>
            </a:extLst>
          </p:cNvPr>
          <p:cNvSpPr>
            <a:spLocks noGrp="1"/>
          </p:cNvSpPr>
          <p:nvPr>
            <p:ph idx="1"/>
          </p:nvPr>
        </p:nvSpPr>
        <p:spPr>
          <a:xfrm>
            <a:off x="479424" y="1114083"/>
            <a:ext cx="7779370" cy="4836048"/>
          </a:xfrm>
        </p:spPr>
        <p:txBody>
          <a:bodyPr vert="horz" lIns="0" tIns="0" rIns="0" bIns="0" rtlCol="0" anchor="t">
            <a:noAutofit/>
          </a:bodyPr>
          <a:lstStyle/>
          <a:p>
            <a:pPr marL="215900" indent="-215900"/>
            <a:r>
              <a:rPr lang="de-DE" sz="1400"/>
              <a:t>LCI  (lung clearance index): 11 countries have the capabilities to perform the LCI (25 sites) </a:t>
            </a:r>
          </a:p>
          <a:p>
            <a:pPr marL="215900" indent="-215900"/>
            <a:r>
              <a:rPr lang="en-US" sz="1400"/>
              <a:t>LCI/MBW is a procedure which is difficult to standardize and interpret.</a:t>
            </a:r>
          </a:p>
          <a:p>
            <a:pPr marL="215900" indent="-215900"/>
            <a:r>
              <a:rPr lang="en-US" sz="1400"/>
              <a:t> CORC centralizes and trains sites to conduct LCI in a standardized manner but also does a central readout. </a:t>
            </a:r>
          </a:p>
          <a:p>
            <a:pPr marL="431800" lvl="1" indent="-215900"/>
            <a:r>
              <a:rPr lang="en-US" sz="1400"/>
              <a:t>CORC is based in UK and was already validated and contracted for the </a:t>
            </a:r>
            <a:r>
              <a:rPr lang="en-US" sz="1400" err="1"/>
              <a:t>Lenitvirus</a:t>
            </a:r>
            <a:r>
              <a:rPr lang="en-US" sz="1400"/>
              <a:t> program</a:t>
            </a:r>
          </a:p>
          <a:p>
            <a:pPr marL="431800" lvl="1" indent="-215900"/>
            <a:r>
              <a:rPr lang="en-US" sz="1400"/>
              <a:t>CORC has partners in the US and Australia which might depending on capabilities perform these services in </a:t>
            </a:r>
            <a:r>
              <a:rPr lang="en-US" sz="1400" err="1"/>
              <a:t>Australisia</a:t>
            </a:r>
            <a:r>
              <a:rPr lang="en-US" sz="1400"/>
              <a:t> and the US, however, these partners are not validated by BI and would require separate contracts</a:t>
            </a:r>
          </a:p>
          <a:p>
            <a:pPr marL="431800" lvl="1" indent="-215900"/>
            <a:r>
              <a:rPr lang="en-US" sz="1400"/>
              <a:t>Team is currently collating all relevant information from the sites for the discussions with CORC and aims to have a contract only with this institute</a:t>
            </a:r>
          </a:p>
          <a:p>
            <a:pPr marL="431800" lvl="1" indent="-215900"/>
            <a:r>
              <a:rPr lang="en-US" sz="1400"/>
              <a:t>Evidence Team agreed to go with the sites first who can be covered by the CORC institute and if need be these will be the only ones; however, trial team to look into further solutions in parallel</a:t>
            </a:r>
            <a:endParaRPr lang="de-DE" sz="1400"/>
          </a:p>
        </p:txBody>
      </p:sp>
      <p:graphicFrame>
        <p:nvGraphicFramePr>
          <p:cNvPr id="8" name="Object 4">
            <a:extLst>
              <a:ext uri="{FF2B5EF4-FFF2-40B4-BE49-F238E27FC236}">
                <a16:creationId xmlns:a16="http://schemas.microsoft.com/office/drawing/2014/main" id="{CABF88C0-952F-1AD1-6E74-578FF77B4517}"/>
              </a:ext>
            </a:extLst>
          </p:cNvPr>
          <p:cNvGraphicFramePr>
            <a:graphicFrameLocks noChangeAspect="1"/>
          </p:cNvGraphicFramePr>
          <p:nvPr/>
        </p:nvGraphicFramePr>
        <p:xfrm>
          <a:off x="8781534" y="951499"/>
          <a:ext cx="2787058" cy="5147469"/>
        </p:xfrm>
        <a:graphic>
          <a:graphicData uri="http://schemas.openxmlformats.org/presentationml/2006/ole">
            <mc:AlternateContent xmlns:mc="http://schemas.openxmlformats.org/markup-compatibility/2006">
              <mc:Choice xmlns:v="urn:schemas-microsoft-com:vml" Requires="v">
                <p:oleObj name="Worksheet" r:id="rId2" imgW="3194074" imgH="5899207" progId="Excel.Sheet.12">
                  <p:embed/>
                </p:oleObj>
              </mc:Choice>
              <mc:Fallback>
                <p:oleObj name="Worksheet" r:id="rId2" imgW="3194074" imgH="5899207" progId="Excel.Sheet.12">
                  <p:embed/>
                  <p:pic>
                    <p:nvPicPr>
                      <p:cNvPr id="8" name="Object 4">
                        <a:extLst>
                          <a:ext uri="{FF2B5EF4-FFF2-40B4-BE49-F238E27FC236}">
                            <a16:creationId xmlns:a16="http://schemas.microsoft.com/office/drawing/2014/main" id="{CABF88C0-952F-1AD1-6E74-578FF77B4517}"/>
                          </a:ext>
                        </a:extLst>
                      </p:cNvPr>
                      <p:cNvPicPr/>
                      <p:nvPr/>
                    </p:nvPicPr>
                    <p:blipFill>
                      <a:blip r:embed="rId3"/>
                      <a:stretch>
                        <a:fillRect/>
                      </a:stretch>
                    </p:blipFill>
                    <p:spPr>
                      <a:xfrm>
                        <a:off x="8781534" y="951499"/>
                        <a:ext cx="2787058" cy="5147469"/>
                      </a:xfrm>
                      <a:prstGeom prst="rect">
                        <a:avLst/>
                      </a:prstGeom>
                    </p:spPr>
                  </p:pic>
                </p:oleObj>
              </mc:Fallback>
            </mc:AlternateContent>
          </a:graphicData>
        </a:graphic>
      </p:graphicFrame>
    </p:spTree>
    <p:extLst>
      <p:ext uri="{BB962C8B-B14F-4D97-AF65-F5344CB8AC3E}">
        <p14:creationId xmlns:p14="http://schemas.microsoft.com/office/powerpoint/2010/main" val="19179074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DFAE5-756E-4571-F5D2-E84C885D087A}"/>
              </a:ext>
            </a:extLst>
          </p:cNvPr>
          <p:cNvSpPr>
            <a:spLocks noGrp="1"/>
          </p:cNvSpPr>
          <p:nvPr>
            <p:ph type="title"/>
          </p:nvPr>
        </p:nvSpPr>
        <p:spPr/>
        <p:txBody>
          <a:bodyPr/>
          <a:lstStyle/>
          <a:p>
            <a:r>
              <a:rPr lang="de-DE"/>
              <a:t>1397-0018 trial (OLE) design (tbd Airtivity-on)</a:t>
            </a:r>
            <a:br>
              <a:rPr lang="de-DE"/>
            </a:br>
            <a:r>
              <a:rPr lang="en-US" sz="1800" kern="0">
                <a:solidFill>
                  <a:srgbClr val="000000"/>
                </a:solidFill>
                <a:effectLst/>
                <a:latin typeface="Calibri" panose="020F0502020204030204" pitchFamily="34" charset="0"/>
                <a:ea typeface="Calibri" panose="020F0502020204030204" pitchFamily="34" charset="0"/>
              </a:rPr>
              <a:t>L</a:t>
            </a:r>
            <a:r>
              <a:rPr lang="en-US" sz="1800" kern="0">
                <a:effectLst/>
                <a:latin typeface="Calibri" panose="020F0502020204030204" pitchFamily="34" charset="0"/>
                <a:ea typeface="MS Mincho" panose="02020609040205080304" pitchFamily="49" charset="-128"/>
              </a:rPr>
              <a:t>ong term safety and efficacy of BI 1291583 in patients with bronchiectasis </a:t>
            </a:r>
            <a:endParaRPr lang="de-DE"/>
          </a:p>
        </p:txBody>
      </p:sp>
      <p:sp>
        <p:nvSpPr>
          <p:cNvPr id="4" name="Text Placeholder 3">
            <a:extLst>
              <a:ext uri="{FF2B5EF4-FFF2-40B4-BE49-F238E27FC236}">
                <a16:creationId xmlns:a16="http://schemas.microsoft.com/office/drawing/2014/main" id="{E07F849D-724D-F869-8308-31219F0F2BA3}"/>
              </a:ext>
            </a:extLst>
          </p:cNvPr>
          <p:cNvSpPr>
            <a:spLocks noGrp="1"/>
          </p:cNvSpPr>
          <p:nvPr>
            <p:ph type="body" sz="quarter" idx="13"/>
          </p:nvPr>
        </p:nvSpPr>
        <p:spPr/>
        <p:txBody>
          <a:bodyPr/>
          <a:lstStyle/>
          <a:p>
            <a:endParaRPr lang="de-DE"/>
          </a:p>
        </p:txBody>
      </p:sp>
      <p:sp>
        <p:nvSpPr>
          <p:cNvPr id="5" name="Footer Placeholder 4">
            <a:extLst>
              <a:ext uri="{FF2B5EF4-FFF2-40B4-BE49-F238E27FC236}">
                <a16:creationId xmlns:a16="http://schemas.microsoft.com/office/drawing/2014/main" id="{11B8A49B-7BBA-FF35-4C38-FA2EF39A4E95}"/>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ltLang="zh-CN"/>
              <a:t>TA CEC Portfolio Update|    ONLY FOR INTERNAL USE</a:t>
            </a:r>
            <a:endParaRPr lang="en-US"/>
          </a:p>
        </p:txBody>
      </p:sp>
      <p:sp>
        <p:nvSpPr>
          <p:cNvPr id="6" name="Slide Number Placeholder 5">
            <a:extLst>
              <a:ext uri="{FF2B5EF4-FFF2-40B4-BE49-F238E27FC236}">
                <a16:creationId xmlns:a16="http://schemas.microsoft.com/office/drawing/2014/main" id="{C8F2F503-2C3E-E1E3-311E-76681819ADC2}"/>
              </a:ext>
            </a:extLst>
          </p:cNvPr>
          <p:cNvSpPr>
            <a:spLocks noGrp="1"/>
          </p:cNvSpPr>
          <p:nvPr>
            <p:ph type="sldNum" sz="quarter" idx="20"/>
          </p:nvPr>
        </p:nvSpPr>
        <p:spPr/>
        <p:txBody>
          <a:bodyPr/>
          <a:lstStyle/>
          <a:p>
            <a:fld id="{DF4E8F9F-5B1F-4F5B-BE49-3245D8C18D9F}" type="slidenum">
              <a:rPr lang="en-US" smtClean="0"/>
              <a:pPr/>
              <a:t>52</a:t>
            </a:fld>
            <a:endParaRPr lang="en-US"/>
          </a:p>
        </p:txBody>
      </p:sp>
      <p:sp>
        <p:nvSpPr>
          <p:cNvPr id="7" name="Rectangle 6">
            <a:extLst>
              <a:ext uri="{FF2B5EF4-FFF2-40B4-BE49-F238E27FC236}">
                <a16:creationId xmlns:a16="http://schemas.microsoft.com/office/drawing/2014/main" id="{8306CCC6-12FF-CB36-C2B0-3BECD9D121FA}"/>
              </a:ext>
            </a:extLst>
          </p:cNvPr>
          <p:cNvSpPr/>
          <p:nvPr/>
        </p:nvSpPr>
        <p:spPr bwMode="gray">
          <a:xfrm>
            <a:off x="4276367" y="1973180"/>
            <a:ext cx="6517678" cy="364385"/>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lnSpc>
                <a:spcPct val="140000"/>
              </a:lnSpc>
            </a:pPr>
            <a:r>
              <a:rPr lang="de-DE" sz="1600">
                <a:solidFill>
                  <a:schemeClr val="tx1"/>
                </a:solidFill>
              </a:rPr>
              <a:t>Verducatib 2.5mg</a:t>
            </a:r>
          </a:p>
        </p:txBody>
      </p:sp>
      <p:sp>
        <p:nvSpPr>
          <p:cNvPr id="8" name="Oval 7">
            <a:extLst>
              <a:ext uri="{FF2B5EF4-FFF2-40B4-BE49-F238E27FC236}">
                <a16:creationId xmlns:a16="http://schemas.microsoft.com/office/drawing/2014/main" id="{203C2BC2-A219-C261-8A0C-CB0E22F87870}"/>
              </a:ext>
            </a:extLst>
          </p:cNvPr>
          <p:cNvSpPr/>
          <p:nvPr/>
        </p:nvSpPr>
        <p:spPr bwMode="gray">
          <a:xfrm>
            <a:off x="3196961" y="1907866"/>
            <a:ext cx="522514" cy="495013"/>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de-DE" sz="1600">
                <a:solidFill>
                  <a:schemeClr val="tx2"/>
                </a:solidFill>
              </a:rPr>
              <a:t>R</a:t>
            </a:r>
          </a:p>
        </p:txBody>
      </p:sp>
      <p:cxnSp>
        <p:nvCxnSpPr>
          <p:cNvPr id="10" name="Straight Arrow Connector 9">
            <a:extLst>
              <a:ext uri="{FF2B5EF4-FFF2-40B4-BE49-F238E27FC236}">
                <a16:creationId xmlns:a16="http://schemas.microsoft.com/office/drawing/2014/main" id="{38B07F49-A295-FAD9-98EC-BCC449D23B1A}"/>
              </a:ext>
            </a:extLst>
          </p:cNvPr>
          <p:cNvCxnSpPr>
            <a:cxnSpLocks/>
            <a:stCxn id="8" idx="6"/>
            <a:endCxn id="7" idx="1"/>
          </p:cNvCxnSpPr>
          <p:nvPr/>
        </p:nvCxnSpPr>
        <p:spPr bwMode="gray">
          <a:xfrm>
            <a:off x="3719475" y="2155373"/>
            <a:ext cx="556892"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E16BBA8-8127-BCB6-AFDD-8783BCF58FB1}"/>
              </a:ext>
            </a:extLst>
          </p:cNvPr>
          <p:cNvSpPr txBox="1"/>
          <p:nvPr/>
        </p:nvSpPr>
        <p:spPr bwMode="gray">
          <a:xfrm>
            <a:off x="467511" y="1313483"/>
            <a:ext cx="10314622" cy="315920"/>
          </a:xfrm>
          <a:prstGeom prst="rect">
            <a:avLst/>
          </a:prstGeom>
          <a:noFill/>
        </p:spPr>
        <p:txBody>
          <a:bodyPr wrap="square" lIns="0" tIns="0" rIns="0" bIns="0" rtlCol="0">
            <a:spAutoFit/>
          </a:bodyPr>
          <a:lstStyle/>
          <a:p>
            <a:pPr algn="l">
              <a:lnSpc>
                <a:spcPct val="140000"/>
              </a:lnSpc>
            </a:pPr>
            <a:r>
              <a:rPr lang="de-DE" sz="1600"/>
              <a:t>open label, uncontrolled trial for patients with bronchiectasis who completed AIRTIVITY or CLAIRLEAF</a:t>
            </a:r>
          </a:p>
        </p:txBody>
      </p:sp>
      <p:sp>
        <p:nvSpPr>
          <p:cNvPr id="13" name="TextBox 12">
            <a:extLst>
              <a:ext uri="{FF2B5EF4-FFF2-40B4-BE49-F238E27FC236}">
                <a16:creationId xmlns:a16="http://schemas.microsoft.com/office/drawing/2014/main" id="{A9F040BF-5D6F-8ACF-D73E-070C2BBFF853}"/>
              </a:ext>
            </a:extLst>
          </p:cNvPr>
          <p:cNvSpPr txBox="1"/>
          <p:nvPr/>
        </p:nvSpPr>
        <p:spPr bwMode="gray">
          <a:xfrm>
            <a:off x="337232" y="2594069"/>
            <a:ext cx="4708605" cy="1694759"/>
          </a:xfrm>
          <a:prstGeom prst="rect">
            <a:avLst/>
          </a:prstGeom>
          <a:noFill/>
        </p:spPr>
        <p:txBody>
          <a:bodyPr wrap="square" lIns="0" tIns="0" rIns="0" bIns="0" rtlCol="0">
            <a:spAutoFit/>
          </a:bodyPr>
          <a:lstStyle/>
          <a:p>
            <a:pPr algn="l">
              <a:lnSpc>
                <a:spcPct val="140000"/>
              </a:lnSpc>
            </a:pPr>
            <a:r>
              <a:rPr lang="de-DE" sz="1600" b="1"/>
              <a:t>Primary endpoint</a:t>
            </a:r>
          </a:p>
          <a:p>
            <a:pPr marL="285750" indent="-285750" algn="l">
              <a:lnSpc>
                <a:spcPct val="140000"/>
              </a:lnSpc>
              <a:buFont typeface="Arial" panose="020B0604020202020204" pitchFamily="34" charset="0"/>
              <a:buChar char="•"/>
            </a:pPr>
            <a:r>
              <a:rPr lang="de-DE" sz="1600"/>
              <a:t>Occurence of TEAs</a:t>
            </a:r>
          </a:p>
          <a:p>
            <a:pPr algn="l">
              <a:lnSpc>
                <a:spcPct val="140000"/>
              </a:lnSpc>
            </a:pPr>
            <a:r>
              <a:rPr lang="de-DE" sz="1600" b="1"/>
              <a:t>Secondary endpoint</a:t>
            </a:r>
          </a:p>
          <a:p>
            <a:pPr marL="285750" indent="-285750" algn="l">
              <a:lnSpc>
                <a:spcPct val="140000"/>
              </a:lnSpc>
              <a:buFont typeface="Arial" panose="020B0604020202020204" pitchFamily="34" charset="0"/>
              <a:buChar char="•"/>
            </a:pPr>
            <a:r>
              <a:rPr lang="de-DE" sz="1600"/>
              <a:t>Annualized rate of PEx (</a:t>
            </a:r>
            <a:r>
              <a:rPr lang="de-DE" sz="1600" i="1" u="sng"/>
              <a:t>no adjudication</a:t>
            </a:r>
            <a:r>
              <a:rPr lang="de-DE" sz="1600"/>
              <a:t>)</a:t>
            </a:r>
          </a:p>
          <a:p>
            <a:pPr marL="285750" indent="-285750" algn="l">
              <a:lnSpc>
                <a:spcPct val="140000"/>
              </a:lnSpc>
              <a:buFont typeface="Arial" panose="020B0604020202020204" pitchFamily="34" charset="0"/>
              <a:buChar char="•"/>
            </a:pPr>
            <a:r>
              <a:rPr lang="de-DE" sz="1600"/>
              <a:t>Change from baseline in FEV1 and FVC</a:t>
            </a:r>
          </a:p>
        </p:txBody>
      </p:sp>
      <p:cxnSp>
        <p:nvCxnSpPr>
          <p:cNvPr id="15" name="Straight Connector 14">
            <a:extLst>
              <a:ext uri="{FF2B5EF4-FFF2-40B4-BE49-F238E27FC236}">
                <a16:creationId xmlns:a16="http://schemas.microsoft.com/office/drawing/2014/main" id="{F0156ADE-3DB7-C3BF-FEDD-B90DD5A468A5}"/>
              </a:ext>
            </a:extLst>
          </p:cNvPr>
          <p:cNvCxnSpPr>
            <a:cxnSpLocks/>
          </p:cNvCxnSpPr>
          <p:nvPr/>
        </p:nvCxnSpPr>
        <p:spPr bwMode="gray">
          <a:xfrm>
            <a:off x="495012" y="5004851"/>
            <a:ext cx="11151556" cy="0"/>
          </a:xfrm>
          <a:prstGeom prst="line">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6" name="Flowchart: Off-page Connector 15">
            <a:extLst>
              <a:ext uri="{FF2B5EF4-FFF2-40B4-BE49-F238E27FC236}">
                <a16:creationId xmlns:a16="http://schemas.microsoft.com/office/drawing/2014/main" id="{BC04BF0B-076B-CF12-CE2F-4E0D341999D3}"/>
              </a:ext>
            </a:extLst>
          </p:cNvPr>
          <p:cNvSpPr/>
          <p:nvPr/>
        </p:nvSpPr>
        <p:spPr bwMode="gray">
          <a:xfrm>
            <a:off x="467511" y="4785131"/>
            <a:ext cx="433136" cy="501889"/>
          </a:xfrm>
          <a:prstGeom prst="flowChartOffpageConnector">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de-DE" sz="800">
                <a:solidFill>
                  <a:schemeClr val="tx1"/>
                </a:solidFill>
              </a:rPr>
              <a:t>D1</a:t>
            </a:r>
          </a:p>
        </p:txBody>
      </p:sp>
      <p:sp>
        <p:nvSpPr>
          <p:cNvPr id="17" name="Flowchart: Off-page Connector 16">
            <a:extLst>
              <a:ext uri="{FF2B5EF4-FFF2-40B4-BE49-F238E27FC236}">
                <a16:creationId xmlns:a16="http://schemas.microsoft.com/office/drawing/2014/main" id="{D9CA88A2-DDE6-DCC2-C598-FD02C88A1A72}"/>
              </a:ext>
            </a:extLst>
          </p:cNvPr>
          <p:cNvSpPr/>
          <p:nvPr/>
        </p:nvSpPr>
        <p:spPr bwMode="gray">
          <a:xfrm>
            <a:off x="1926197" y="4772682"/>
            <a:ext cx="433136" cy="501889"/>
          </a:xfrm>
          <a:prstGeom prst="flowChartOffpageConnector">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de-DE" sz="800">
                <a:solidFill>
                  <a:schemeClr val="tx1"/>
                </a:solidFill>
              </a:rPr>
              <a:t>w12</a:t>
            </a:r>
          </a:p>
        </p:txBody>
      </p:sp>
      <p:sp>
        <p:nvSpPr>
          <p:cNvPr id="18" name="Flowchart: Off-page Connector 17">
            <a:extLst>
              <a:ext uri="{FF2B5EF4-FFF2-40B4-BE49-F238E27FC236}">
                <a16:creationId xmlns:a16="http://schemas.microsoft.com/office/drawing/2014/main" id="{6D9F1024-C367-D45C-86AF-9CDC38682DC9}"/>
              </a:ext>
            </a:extLst>
          </p:cNvPr>
          <p:cNvSpPr/>
          <p:nvPr/>
        </p:nvSpPr>
        <p:spPr bwMode="gray">
          <a:xfrm>
            <a:off x="3380870" y="4772681"/>
            <a:ext cx="433136" cy="501889"/>
          </a:xfrm>
          <a:prstGeom prst="flowChartOffpageConnector">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de-DE" sz="800">
                <a:solidFill>
                  <a:schemeClr val="tx1"/>
                </a:solidFill>
              </a:rPr>
              <a:t>w26</a:t>
            </a:r>
          </a:p>
        </p:txBody>
      </p:sp>
      <p:sp>
        <p:nvSpPr>
          <p:cNvPr id="19" name="Flowchart: Off-page Connector 18">
            <a:extLst>
              <a:ext uri="{FF2B5EF4-FFF2-40B4-BE49-F238E27FC236}">
                <a16:creationId xmlns:a16="http://schemas.microsoft.com/office/drawing/2014/main" id="{52E48670-1385-1B1E-B770-1C05C0BC6179}"/>
              </a:ext>
            </a:extLst>
          </p:cNvPr>
          <p:cNvSpPr/>
          <p:nvPr/>
        </p:nvSpPr>
        <p:spPr bwMode="gray">
          <a:xfrm>
            <a:off x="4835543" y="4807072"/>
            <a:ext cx="433136" cy="501889"/>
          </a:xfrm>
          <a:prstGeom prst="flowChartOffpageConnector">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de-DE" sz="800">
                <a:solidFill>
                  <a:schemeClr val="tx1"/>
                </a:solidFill>
              </a:rPr>
              <a:t>w40</a:t>
            </a:r>
          </a:p>
        </p:txBody>
      </p:sp>
      <p:sp>
        <p:nvSpPr>
          <p:cNvPr id="20" name="Flowchart: Off-page Connector 19">
            <a:extLst>
              <a:ext uri="{FF2B5EF4-FFF2-40B4-BE49-F238E27FC236}">
                <a16:creationId xmlns:a16="http://schemas.microsoft.com/office/drawing/2014/main" id="{C6228905-C414-2C67-F18D-78FB5CC1E101}"/>
              </a:ext>
            </a:extLst>
          </p:cNvPr>
          <p:cNvSpPr/>
          <p:nvPr/>
        </p:nvSpPr>
        <p:spPr bwMode="gray">
          <a:xfrm>
            <a:off x="6287360" y="4793309"/>
            <a:ext cx="433136" cy="501889"/>
          </a:xfrm>
          <a:prstGeom prst="flowChartOffpageConnector">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de-DE" sz="800">
                <a:solidFill>
                  <a:schemeClr val="tx1"/>
                </a:solidFill>
              </a:rPr>
              <a:t>w52</a:t>
            </a:r>
          </a:p>
        </p:txBody>
      </p:sp>
      <p:sp>
        <p:nvSpPr>
          <p:cNvPr id="21" name="TextBox 20">
            <a:extLst>
              <a:ext uri="{FF2B5EF4-FFF2-40B4-BE49-F238E27FC236}">
                <a16:creationId xmlns:a16="http://schemas.microsoft.com/office/drawing/2014/main" id="{05CBDC34-CD03-58BB-B1C8-FADAC16735E9}"/>
              </a:ext>
            </a:extLst>
          </p:cNvPr>
          <p:cNvSpPr txBox="1"/>
          <p:nvPr/>
        </p:nvSpPr>
        <p:spPr bwMode="gray">
          <a:xfrm>
            <a:off x="5624821" y="2474301"/>
            <a:ext cx="6228579" cy="1005340"/>
          </a:xfrm>
          <a:prstGeom prst="rect">
            <a:avLst/>
          </a:prstGeom>
          <a:noFill/>
        </p:spPr>
        <p:txBody>
          <a:bodyPr wrap="square" lIns="0" tIns="0" rIns="0" bIns="0" rtlCol="0">
            <a:spAutoFit/>
          </a:bodyPr>
          <a:lstStyle/>
          <a:p>
            <a:pPr algn="l">
              <a:lnSpc>
                <a:spcPct val="140000"/>
              </a:lnSpc>
            </a:pPr>
            <a:r>
              <a:rPr lang="de-DE" sz="1600" b="1"/>
              <a:t>Substudy</a:t>
            </a:r>
          </a:p>
          <a:p>
            <a:pPr algn="l">
              <a:lnSpc>
                <a:spcPct val="140000"/>
              </a:lnSpc>
            </a:pPr>
            <a:r>
              <a:rPr lang="de-DE" sz="1600"/>
              <a:t>HRCT follow up for participants of the AIRTIVITY HRCT substudy 2 years after initial baseline CT in AIRTIVITY</a:t>
            </a:r>
          </a:p>
        </p:txBody>
      </p:sp>
      <p:pic>
        <p:nvPicPr>
          <p:cNvPr id="23" name="Graphic 22" descr="Telephone with solid fill">
            <a:extLst>
              <a:ext uri="{FF2B5EF4-FFF2-40B4-BE49-F238E27FC236}">
                <a16:creationId xmlns:a16="http://schemas.microsoft.com/office/drawing/2014/main" id="{AA9A3A32-DF3A-72B9-8408-537202FF23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63645" y="5306280"/>
            <a:ext cx="364385" cy="364385"/>
          </a:xfrm>
          <a:prstGeom prst="rect">
            <a:avLst/>
          </a:prstGeom>
        </p:spPr>
      </p:pic>
      <p:sp>
        <p:nvSpPr>
          <p:cNvPr id="28" name="Rectangle 27">
            <a:extLst>
              <a:ext uri="{FF2B5EF4-FFF2-40B4-BE49-F238E27FC236}">
                <a16:creationId xmlns:a16="http://schemas.microsoft.com/office/drawing/2014/main" id="{67192CC7-4949-B2C7-0FD2-42D973B19593}"/>
              </a:ext>
            </a:extLst>
          </p:cNvPr>
          <p:cNvSpPr/>
          <p:nvPr/>
        </p:nvSpPr>
        <p:spPr bwMode="gray">
          <a:xfrm>
            <a:off x="7562707" y="4566590"/>
            <a:ext cx="3093834" cy="87652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l">
              <a:lnSpc>
                <a:spcPct val="140000"/>
              </a:lnSpc>
              <a:buFont typeface="Arial" panose="020B0604020202020204" pitchFamily="34" charset="0"/>
              <a:buChar char="•"/>
            </a:pPr>
            <a:r>
              <a:rPr lang="de-DE" sz="1600">
                <a:solidFill>
                  <a:schemeClr val="tx1"/>
                </a:solidFill>
              </a:rPr>
              <a:t>Site visit every 6 months</a:t>
            </a:r>
          </a:p>
          <a:p>
            <a:pPr marL="285750" indent="-285750" algn="l">
              <a:lnSpc>
                <a:spcPct val="140000"/>
              </a:lnSpc>
              <a:buFont typeface="Arial" panose="020B0604020202020204" pitchFamily="34" charset="0"/>
              <a:buChar char="•"/>
            </a:pPr>
            <a:r>
              <a:rPr lang="de-DE" sz="1600">
                <a:solidFill>
                  <a:schemeClr val="tx1"/>
                </a:solidFill>
              </a:rPr>
              <a:t>In between 1 phone visit</a:t>
            </a:r>
          </a:p>
        </p:txBody>
      </p:sp>
      <p:sp>
        <p:nvSpPr>
          <p:cNvPr id="30" name="Rectangle 29">
            <a:extLst>
              <a:ext uri="{FF2B5EF4-FFF2-40B4-BE49-F238E27FC236}">
                <a16:creationId xmlns:a16="http://schemas.microsoft.com/office/drawing/2014/main" id="{0D0C5D41-8FDF-54E0-47F5-16245C7BC794}"/>
              </a:ext>
            </a:extLst>
          </p:cNvPr>
          <p:cNvSpPr/>
          <p:nvPr/>
        </p:nvSpPr>
        <p:spPr bwMode="gray">
          <a:xfrm>
            <a:off x="5624822" y="3606828"/>
            <a:ext cx="6021746" cy="721380"/>
          </a:xfrm>
          <a:prstGeom prst="rec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lnSpc>
                <a:spcPct val="140000"/>
              </a:lnSpc>
            </a:pPr>
            <a:r>
              <a:rPr lang="de-DE" sz="1600">
                <a:solidFill>
                  <a:schemeClr val="tx1"/>
                </a:solidFill>
              </a:rPr>
              <a:t>Currently no further exploratoy efficacy endpoints planned </a:t>
            </a:r>
            <a:br>
              <a:rPr lang="de-DE" sz="1600">
                <a:solidFill>
                  <a:schemeClr val="tx1"/>
                </a:solidFill>
              </a:rPr>
            </a:br>
            <a:r>
              <a:rPr lang="de-DE" sz="1600">
                <a:solidFill>
                  <a:schemeClr val="tx1"/>
                </a:solidFill>
              </a:rPr>
              <a:t>– tbc by Value</a:t>
            </a:r>
          </a:p>
        </p:txBody>
      </p:sp>
      <p:sp>
        <p:nvSpPr>
          <p:cNvPr id="22" name="Rectangle 6">
            <a:extLst>
              <a:ext uri="{FF2B5EF4-FFF2-40B4-BE49-F238E27FC236}">
                <a16:creationId xmlns:a16="http://schemas.microsoft.com/office/drawing/2014/main" id="{A59F752D-27CE-2121-8FA1-041CF7F97BF0}"/>
              </a:ext>
            </a:extLst>
          </p:cNvPr>
          <p:cNvSpPr/>
          <p:nvPr/>
        </p:nvSpPr>
        <p:spPr bwMode="gray">
          <a:xfrm>
            <a:off x="338599" y="1822858"/>
            <a:ext cx="1840836" cy="264947"/>
          </a:xfrm>
          <a:prstGeom prst="rect">
            <a:avLst/>
          </a:prstGeom>
          <a:solidFill>
            <a:srgbClr val="E5E3DE"/>
          </a:solidFill>
          <a:ln>
            <a:solidFill>
              <a:srgbClr val="E5E3DE"/>
            </a:solidFill>
          </a:ln>
        </p:spPr>
        <p:style>
          <a:lnRef idx="3">
            <a:schemeClr val="lt1"/>
          </a:lnRef>
          <a:fillRef idx="1">
            <a:schemeClr val="accent6"/>
          </a:fillRef>
          <a:effectRef idx="1">
            <a:schemeClr val="accent6"/>
          </a:effectRef>
          <a:fontRef idx="minor">
            <a:schemeClr val="lt1"/>
          </a:fontRef>
        </p:style>
        <p:txBody>
          <a:bodyPr rtlCol="0" anchor="ctr"/>
          <a:lstStyle/>
          <a:p>
            <a:pPr algn="ctr">
              <a:lnSpc>
                <a:spcPct val="140000"/>
              </a:lnSpc>
            </a:pPr>
            <a:r>
              <a:rPr lang="de-DE" sz="1200">
                <a:solidFill>
                  <a:schemeClr val="tx1"/>
                </a:solidFill>
              </a:rPr>
              <a:t>AIRTIVITY 2.5mg</a:t>
            </a:r>
          </a:p>
        </p:txBody>
      </p:sp>
      <p:sp>
        <p:nvSpPr>
          <p:cNvPr id="24" name="Rectangle 6">
            <a:extLst>
              <a:ext uri="{FF2B5EF4-FFF2-40B4-BE49-F238E27FC236}">
                <a16:creationId xmlns:a16="http://schemas.microsoft.com/office/drawing/2014/main" id="{7BE95A59-0379-D673-D971-321116228652}"/>
              </a:ext>
            </a:extLst>
          </p:cNvPr>
          <p:cNvSpPr/>
          <p:nvPr/>
        </p:nvSpPr>
        <p:spPr bwMode="gray">
          <a:xfrm>
            <a:off x="338599" y="2223063"/>
            <a:ext cx="1840836" cy="264947"/>
          </a:xfrm>
          <a:prstGeom prst="rect">
            <a:avLst/>
          </a:prstGeom>
          <a:solidFill>
            <a:srgbClr val="E5E3DE"/>
          </a:solidFill>
          <a:ln>
            <a:solidFill>
              <a:srgbClr val="E5E3DE"/>
            </a:solidFill>
          </a:ln>
        </p:spPr>
        <p:style>
          <a:lnRef idx="3">
            <a:schemeClr val="lt1"/>
          </a:lnRef>
          <a:fillRef idx="1">
            <a:schemeClr val="accent6"/>
          </a:fillRef>
          <a:effectRef idx="1">
            <a:schemeClr val="accent6"/>
          </a:effectRef>
          <a:fontRef idx="minor">
            <a:schemeClr val="lt1"/>
          </a:fontRef>
        </p:style>
        <p:txBody>
          <a:bodyPr rtlCol="0" anchor="ctr"/>
          <a:lstStyle/>
          <a:p>
            <a:pPr algn="ctr">
              <a:lnSpc>
                <a:spcPct val="140000"/>
              </a:lnSpc>
            </a:pPr>
            <a:r>
              <a:rPr lang="de-DE" sz="1200">
                <a:solidFill>
                  <a:schemeClr val="tx1"/>
                </a:solidFill>
              </a:rPr>
              <a:t>AIRTIVITY placebo</a:t>
            </a:r>
          </a:p>
        </p:txBody>
      </p:sp>
      <p:cxnSp>
        <p:nvCxnSpPr>
          <p:cNvPr id="26" name="Verbinder: gewinkelt 25">
            <a:extLst>
              <a:ext uri="{FF2B5EF4-FFF2-40B4-BE49-F238E27FC236}">
                <a16:creationId xmlns:a16="http://schemas.microsoft.com/office/drawing/2014/main" id="{D83796D3-927C-1859-686A-1145B3ABF58D}"/>
              </a:ext>
            </a:extLst>
          </p:cNvPr>
          <p:cNvCxnSpPr>
            <a:cxnSpLocks/>
            <a:stCxn id="22" idx="3"/>
          </p:cNvCxnSpPr>
          <p:nvPr/>
        </p:nvCxnSpPr>
        <p:spPr bwMode="gray">
          <a:xfrm>
            <a:off x="2179435" y="1955332"/>
            <a:ext cx="770020" cy="192315"/>
          </a:xfrm>
          <a:prstGeom prst="bentConnector3">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Verbinder: gewinkelt 28">
            <a:extLst>
              <a:ext uri="{FF2B5EF4-FFF2-40B4-BE49-F238E27FC236}">
                <a16:creationId xmlns:a16="http://schemas.microsoft.com/office/drawing/2014/main" id="{BDAE4589-8217-0C3F-2420-35CA4361A2EB}"/>
              </a:ext>
            </a:extLst>
          </p:cNvPr>
          <p:cNvCxnSpPr>
            <a:cxnSpLocks/>
            <a:stCxn id="24" idx="3"/>
          </p:cNvCxnSpPr>
          <p:nvPr/>
        </p:nvCxnSpPr>
        <p:spPr bwMode="gray">
          <a:xfrm flipV="1">
            <a:off x="2179435" y="2143217"/>
            <a:ext cx="770020" cy="212320"/>
          </a:xfrm>
          <a:prstGeom prst="bentConnector3">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58486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7F407-D348-EF20-D63A-B50F1D879A91}"/>
              </a:ext>
            </a:extLst>
          </p:cNvPr>
          <p:cNvSpPr>
            <a:spLocks noGrp="1"/>
          </p:cNvSpPr>
          <p:nvPr>
            <p:ph type="title"/>
          </p:nvPr>
        </p:nvSpPr>
        <p:spPr/>
        <p:txBody>
          <a:bodyPr/>
          <a:lstStyle/>
          <a:p>
            <a:r>
              <a:rPr lang="en-US"/>
              <a:t>Key assessments AIRTIVITY  vs OLE trial comparison</a:t>
            </a:r>
          </a:p>
        </p:txBody>
      </p:sp>
      <p:sp>
        <p:nvSpPr>
          <p:cNvPr id="5" name="Text Placeholder 4">
            <a:extLst>
              <a:ext uri="{FF2B5EF4-FFF2-40B4-BE49-F238E27FC236}">
                <a16:creationId xmlns:a16="http://schemas.microsoft.com/office/drawing/2014/main" id="{E930A3B1-DF46-13D8-3342-5E23200E8D2D}"/>
              </a:ext>
            </a:extLst>
          </p:cNvPr>
          <p:cNvSpPr>
            <a:spLocks noGrp="1"/>
          </p:cNvSpPr>
          <p:nvPr>
            <p:ph type="body" sz="quarter" idx="13"/>
          </p:nvPr>
        </p:nvSpPr>
        <p:spPr/>
        <p:txBody>
          <a:bodyPr/>
          <a:lstStyle/>
          <a:p>
            <a:endParaRPr lang="en-US"/>
          </a:p>
        </p:txBody>
      </p:sp>
      <p:sp>
        <p:nvSpPr>
          <p:cNvPr id="6" name="Slide Number Placeholder 5">
            <a:extLst>
              <a:ext uri="{FF2B5EF4-FFF2-40B4-BE49-F238E27FC236}">
                <a16:creationId xmlns:a16="http://schemas.microsoft.com/office/drawing/2014/main" id="{2C016A81-B917-D43F-A855-3A85474F62A5}"/>
              </a:ext>
            </a:extLst>
          </p:cNvPr>
          <p:cNvSpPr>
            <a:spLocks noGrp="1"/>
          </p:cNvSpPr>
          <p:nvPr>
            <p:ph type="sldNum" sz="quarter" idx="15"/>
          </p:nvPr>
        </p:nvSpPr>
        <p:spPr/>
        <p:txBody>
          <a:bodyPr/>
          <a:lstStyle/>
          <a:p>
            <a:fld id="{8FF9B0DE-3FEB-4AA0-B465-B80EF7C1333D}" type="slidenum">
              <a:rPr lang="en-US" smtClean="0"/>
              <a:pPr/>
              <a:t>53</a:t>
            </a:fld>
            <a:endParaRPr lang="en-US"/>
          </a:p>
        </p:txBody>
      </p:sp>
      <p:sp>
        <p:nvSpPr>
          <p:cNvPr id="7" name="Footer Placeholder 6">
            <a:extLst>
              <a:ext uri="{FF2B5EF4-FFF2-40B4-BE49-F238E27FC236}">
                <a16:creationId xmlns:a16="http://schemas.microsoft.com/office/drawing/2014/main" id="{7074077A-E561-5C5F-03D0-ADEBDE92AE04}"/>
              </a:ext>
            </a:extLst>
          </p:cNvPr>
          <p:cNvSpPr>
            <a:spLocks noGrp="1"/>
          </p:cNvSpPr>
          <p:nvPr>
            <p:ph type="ftr" sz="quarter" idx="21"/>
          </p:nvPr>
        </p:nvSpPr>
        <p:spPr/>
        <p:txBody>
          <a:bodyPr/>
          <a:lstStyle/>
          <a:p>
            <a:r>
              <a:rPr lang="en-US" altLang="zh-CN"/>
              <a:t>TA CEC Portfolio Update|    ONLY FOR INTERNAL USE</a:t>
            </a:r>
          </a:p>
        </p:txBody>
      </p:sp>
      <p:graphicFrame>
        <p:nvGraphicFramePr>
          <p:cNvPr id="8" name="Table 7">
            <a:extLst>
              <a:ext uri="{FF2B5EF4-FFF2-40B4-BE49-F238E27FC236}">
                <a16:creationId xmlns:a16="http://schemas.microsoft.com/office/drawing/2014/main" id="{4B8A45B0-5F3C-FF8C-6650-692FD1035498}"/>
              </a:ext>
            </a:extLst>
          </p:cNvPr>
          <p:cNvGraphicFramePr>
            <a:graphicFrameLocks noGrp="1"/>
          </p:cNvGraphicFramePr>
          <p:nvPr/>
        </p:nvGraphicFramePr>
        <p:xfrm>
          <a:off x="473056" y="1151279"/>
          <a:ext cx="10951536" cy="3681977"/>
        </p:xfrm>
        <a:graphic>
          <a:graphicData uri="http://schemas.openxmlformats.org/drawingml/2006/table">
            <a:tbl>
              <a:tblPr firstRow="1" bandRow="1">
                <a:tableStyleId>{5C22544A-7EE6-4342-B048-85BDC9FD1C3A}</a:tableStyleId>
              </a:tblPr>
              <a:tblGrid>
                <a:gridCol w="1315680">
                  <a:extLst>
                    <a:ext uri="{9D8B030D-6E8A-4147-A177-3AD203B41FA5}">
                      <a16:colId xmlns:a16="http://schemas.microsoft.com/office/drawing/2014/main" val="2104610129"/>
                    </a:ext>
                  </a:extLst>
                </a:gridCol>
                <a:gridCol w="5068898">
                  <a:extLst>
                    <a:ext uri="{9D8B030D-6E8A-4147-A177-3AD203B41FA5}">
                      <a16:colId xmlns:a16="http://schemas.microsoft.com/office/drawing/2014/main" val="1041945300"/>
                    </a:ext>
                  </a:extLst>
                </a:gridCol>
                <a:gridCol w="4566958">
                  <a:extLst>
                    <a:ext uri="{9D8B030D-6E8A-4147-A177-3AD203B41FA5}">
                      <a16:colId xmlns:a16="http://schemas.microsoft.com/office/drawing/2014/main" val="796473757"/>
                    </a:ext>
                  </a:extLst>
                </a:gridCol>
              </a:tblGrid>
              <a:tr h="302881">
                <a:tc>
                  <a:txBody>
                    <a:bodyPr/>
                    <a:lstStyle/>
                    <a:p>
                      <a:pPr algn="ctr"/>
                      <a:r>
                        <a:rPr lang="en-US" sz="1200"/>
                        <a:t>Category</a:t>
                      </a:r>
                    </a:p>
                  </a:txBody>
                  <a:tcPr anchor="ctr"/>
                </a:tc>
                <a:tc>
                  <a:txBody>
                    <a:bodyPr/>
                    <a:lstStyle/>
                    <a:p>
                      <a:pPr algn="ctr"/>
                      <a:r>
                        <a:rPr lang="de-DE" sz="1200"/>
                        <a:t>AIRTIVITY</a:t>
                      </a:r>
                    </a:p>
                  </a:txBody>
                  <a:tcPr anchor="ctr"/>
                </a:tc>
                <a:tc>
                  <a:txBody>
                    <a:bodyPr/>
                    <a:lstStyle/>
                    <a:p>
                      <a:pPr algn="ctr"/>
                      <a:r>
                        <a:rPr lang="de-DE" sz="1200"/>
                        <a:t>OLE</a:t>
                      </a:r>
                    </a:p>
                  </a:txBody>
                  <a:tcPr anchor="ctr"/>
                </a:tc>
                <a:extLst>
                  <a:ext uri="{0D108BD9-81ED-4DB2-BD59-A6C34878D82A}">
                    <a16:rowId xmlns:a16="http://schemas.microsoft.com/office/drawing/2014/main" val="26347474"/>
                  </a:ext>
                </a:extLst>
              </a:tr>
              <a:tr h="343753">
                <a:tc rowSpan="3">
                  <a:txBody>
                    <a:bodyPr/>
                    <a:lstStyle/>
                    <a:p>
                      <a:pPr algn="ctr"/>
                      <a:r>
                        <a:rPr lang="en-US" sz="1200" b="1"/>
                        <a:t>Safety</a:t>
                      </a:r>
                    </a:p>
                  </a:txBody>
                  <a:tcPr anchor="ctr"/>
                </a:tc>
                <a:tc>
                  <a:txBody>
                    <a:bodyPr/>
                    <a:lstStyle/>
                    <a:p>
                      <a:r>
                        <a:rPr lang="de-DE" sz="1200"/>
                        <a:t>Adverse events reporting incl. PEx review - PEx adjudication</a:t>
                      </a:r>
                    </a:p>
                  </a:txBody>
                  <a:tcPr anchor="ctr"/>
                </a:tc>
                <a:tc>
                  <a:txBody>
                    <a:bodyPr/>
                    <a:lstStyle/>
                    <a:p>
                      <a:r>
                        <a:rPr lang="de-DE" sz="1200"/>
                        <a:t>Adverse events reporting incl. PEX review </a:t>
                      </a:r>
                      <a:r>
                        <a:rPr lang="de-DE" sz="1200">
                          <a:highlight>
                            <a:srgbClr val="00FF00"/>
                          </a:highlight>
                        </a:rPr>
                        <a:t>– no adjudication</a:t>
                      </a:r>
                    </a:p>
                  </a:txBody>
                  <a:tcPr anchor="ctr"/>
                </a:tc>
                <a:extLst>
                  <a:ext uri="{0D108BD9-81ED-4DB2-BD59-A6C34878D82A}">
                    <a16:rowId xmlns:a16="http://schemas.microsoft.com/office/drawing/2014/main" val="4217501543"/>
                  </a:ext>
                </a:extLst>
              </a:tr>
              <a:tr h="302881">
                <a:tc vMerge="1">
                  <a:txBody>
                    <a:bodyPr/>
                    <a:lstStyle/>
                    <a:p>
                      <a:endParaRPr lang="en-US" sz="1200"/>
                    </a:p>
                  </a:txBody>
                  <a:tcPr/>
                </a:tc>
                <a:tc>
                  <a:txBody>
                    <a:bodyPr/>
                    <a:lstStyle/>
                    <a:p>
                      <a:r>
                        <a:rPr lang="de-DE" sz="1200"/>
                        <a:t>Physcial exam, height, BW, Tanner stage</a:t>
                      </a:r>
                    </a:p>
                  </a:txBody>
                  <a:tcPr anchor="ctr"/>
                </a:tc>
                <a:tc>
                  <a:txBody>
                    <a:bodyPr/>
                    <a:lstStyle/>
                    <a:p>
                      <a:r>
                        <a:rPr lang="de-DE" sz="1200"/>
                        <a:t>Physcial exam, height, BW, Tanner stage</a:t>
                      </a:r>
                    </a:p>
                  </a:txBody>
                  <a:tcPr anchor="ctr"/>
                </a:tc>
                <a:extLst>
                  <a:ext uri="{0D108BD9-81ED-4DB2-BD59-A6C34878D82A}">
                    <a16:rowId xmlns:a16="http://schemas.microsoft.com/office/drawing/2014/main" val="1432898969"/>
                  </a:ext>
                </a:extLst>
              </a:tr>
              <a:tr h="302881">
                <a:tc vMerge="1">
                  <a:txBody>
                    <a:bodyPr/>
                    <a:lstStyle/>
                    <a:p>
                      <a:endParaRPr lang="en-US" sz="1200"/>
                    </a:p>
                  </a:txBody>
                  <a:tcPr/>
                </a:tc>
                <a:tc>
                  <a:txBody>
                    <a:bodyPr/>
                    <a:lstStyle/>
                    <a:p>
                      <a:r>
                        <a:rPr lang="de-DE" sz="1200"/>
                        <a:t>Safety lab</a:t>
                      </a:r>
                    </a:p>
                  </a:txBody>
                  <a:tcPr anchor="ctr"/>
                </a:tc>
                <a:tc>
                  <a:txBody>
                    <a:bodyPr/>
                    <a:lstStyle/>
                    <a:p>
                      <a:r>
                        <a:rPr lang="de-DE" sz="1200">
                          <a:highlight>
                            <a:srgbClr val="00FF00"/>
                          </a:highlight>
                        </a:rPr>
                        <a:t>Safety lab</a:t>
                      </a:r>
                    </a:p>
                  </a:txBody>
                  <a:tcPr anchor="ctr"/>
                </a:tc>
                <a:extLst>
                  <a:ext uri="{0D108BD9-81ED-4DB2-BD59-A6C34878D82A}">
                    <a16:rowId xmlns:a16="http://schemas.microsoft.com/office/drawing/2014/main" val="1607331385"/>
                  </a:ext>
                </a:extLst>
              </a:tr>
              <a:tr h="302881">
                <a:tc>
                  <a:txBody>
                    <a:bodyPr/>
                    <a:lstStyle/>
                    <a:p>
                      <a:pPr algn="ctr"/>
                      <a:r>
                        <a:rPr lang="en-US" sz="1200" b="1"/>
                        <a:t>PFT</a:t>
                      </a:r>
                    </a:p>
                  </a:txBody>
                  <a:tcPr anchor="ctr"/>
                </a:tc>
                <a:tc>
                  <a:txBody>
                    <a:bodyPr/>
                    <a:lstStyle/>
                    <a:p>
                      <a:r>
                        <a:rPr lang="de-DE" sz="1200"/>
                        <a:t>PFT (LCI)</a:t>
                      </a:r>
                    </a:p>
                  </a:txBody>
                  <a:tcPr anchor="ctr"/>
                </a:tc>
                <a:tc>
                  <a:txBody>
                    <a:bodyPr/>
                    <a:lstStyle/>
                    <a:p>
                      <a:r>
                        <a:rPr lang="de-DE" sz="1200">
                          <a:highlight>
                            <a:srgbClr val="00FF00"/>
                          </a:highlight>
                        </a:rPr>
                        <a:t>PFT (LCI)</a:t>
                      </a:r>
                    </a:p>
                  </a:txBody>
                  <a:tcPr anchor="ctr"/>
                </a:tc>
                <a:extLst>
                  <a:ext uri="{0D108BD9-81ED-4DB2-BD59-A6C34878D82A}">
                    <a16:rowId xmlns:a16="http://schemas.microsoft.com/office/drawing/2014/main" val="54885657"/>
                  </a:ext>
                </a:extLst>
              </a:tr>
              <a:tr h="511334">
                <a:tc>
                  <a:txBody>
                    <a:bodyPr/>
                    <a:lstStyle/>
                    <a:p>
                      <a:pPr algn="ctr"/>
                      <a:r>
                        <a:rPr lang="en-US" sz="1200" b="1"/>
                        <a:t>PROs</a:t>
                      </a:r>
                    </a:p>
                  </a:txBody>
                  <a:tcPr anchor="ctr"/>
                </a:tc>
                <a:tc>
                  <a:txBody>
                    <a:bodyPr/>
                    <a:lstStyle/>
                    <a:p>
                      <a:r>
                        <a:rPr lang="de-DE" sz="1200"/>
                        <a:t>PROs: BEST, Qol-B, CAAT, abbrev. SNOT-22, cough severity NRS (SGRQ at baseline)</a:t>
                      </a:r>
                    </a:p>
                  </a:txBody>
                  <a:tcPr anchor="ctr"/>
                </a:tc>
                <a:tc>
                  <a:txBody>
                    <a:bodyPr/>
                    <a:lstStyle/>
                    <a:p>
                      <a:r>
                        <a:rPr lang="de-DE" sz="1200">
                          <a:highlight>
                            <a:srgbClr val="FFFF00"/>
                          </a:highlight>
                        </a:rPr>
                        <a:t>x</a:t>
                      </a:r>
                    </a:p>
                    <a:p>
                      <a:r>
                        <a:rPr lang="de-DE" sz="1200">
                          <a:highlight>
                            <a:srgbClr val="FFFF00"/>
                          </a:highlight>
                        </a:rPr>
                        <a:t>x</a:t>
                      </a:r>
                    </a:p>
                  </a:txBody>
                  <a:tcPr anchor="ctr"/>
                </a:tc>
                <a:extLst>
                  <a:ext uri="{0D108BD9-81ED-4DB2-BD59-A6C34878D82A}">
                    <a16:rowId xmlns:a16="http://schemas.microsoft.com/office/drawing/2014/main" val="4288199628"/>
                  </a:ext>
                </a:extLst>
              </a:tr>
              <a:tr h="504802">
                <a:tc rowSpan="2">
                  <a:txBody>
                    <a:bodyPr/>
                    <a:lstStyle/>
                    <a:p>
                      <a:pPr algn="ctr"/>
                      <a:r>
                        <a:rPr lang="en-US" sz="1200" b="1"/>
                        <a:t>Biomarkers</a:t>
                      </a:r>
                    </a:p>
                  </a:txBody>
                  <a:tcPr anchor="ctr"/>
                </a:tc>
                <a:tc>
                  <a:txBody>
                    <a:bodyPr/>
                    <a:lstStyle/>
                    <a:p>
                      <a:r>
                        <a:rPr lang="de-DE" sz="1200"/>
                        <a:t>Sputum: biomarkers, Murray sputum color chart, P.aeruginosa</a:t>
                      </a:r>
                    </a:p>
                  </a:txBody>
                  <a:tcPr anchor="ctr"/>
                </a:tc>
                <a:tc>
                  <a:txBody>
                    <a:bodyPr/>
                    <a:lstStyle/>
                    <a:p>
                      <a:r>
                        <a:rPr lang="de-DE" sz="1200">
                          <a:highlight>
                            <a:srgbClr val="FFFF00"/>
                          </a:highlight>
                        </a:rPr>
                        <a:t>x</a:t>
                      </a:r>
                    </a:p>
                    <a:p>
                      <a:r>
                        <a:rPr lang="de-DE" sz="1200">
                          <a:highlight>
                            <a:srgbClr val="FFFF00"/>
                          </a:highlight>
                        </a:rPr>
                        <a:t>x</a:t>
                      </a:r>
                    </a:p>
                  </a:txBody>
                  <a:tcPr anchor="ctr"/>
                </a:tc>
                <a:extLst>
                  <a:ext uri="{0D108BD9-81ED-4DB2-BD59-A6C34878D82A}">
                    <a16:rowId xmlns:a16="http://schemas.microsoft.com/office/drawing/2014/main" val="3979732814"/>
                  </a:ext>
                </a:extLst>
              </a:tr>
              <a:tr h="302881">
                <a:tc vMerge="1">
                  <a:txBody>
                    <a:bodyPr/>
                    <a:lstStyle/>
                    <a:p>
                      <a:pPr algn="ctr"/>
                      <a:endParaRPr lang="en-US" sz="1200" b="1"/>
                    </a:p>
                  </a:txBody>
                  <a:tcPr anchor="ctr"/>
                </a:tc>
                <a:tc>
                  <a:txBody>
                    <a:bodyPr/>
                    <a:lstStyle/>
                    <a:p>
                      <a:r>
                        <a:rPr lang="de-DE" sz="1200"/>
                        <a:t>Blood biomarker samples</a:t>
                      </a:r>
                    </a:p>
                  </a:txBody>
                  <a:tcPr anchor="ctr"/>
                </a:tc>
                <a:tc>
                  <a:txBody>
                    <a:bodyPr/>
                    <a:lstStyle/>
                    <a:p>
                      <a:r>
                        <a:rPr lang="de-DE" sz="1200">
                          <a:highlight>
                            <a:srgbClr val="FFFF00"/>
                          </a:highlight>
                        </a:rPr>
                        <a:t>x</a:t>
                      </a:r>
                    </a:p>
                  </a:txBody>
                  <a:tcPr anchor="ctr"/>
                </a:tc>
                <a:extLst>
                  <a:ext uri="{0D108BD9-81ED-4DB2-BD59-A6C34878D82A}">
                    <a16:rowId xmlns:a16="http://schemas.microsoft.com/office/drawing/2014/main" val="1054261246"/>
                  </a:ext>
                </a:extLst>
              </a:tr>
              <a:tr h="504802">
                <a:tc>
                  <a:txBody>
                    <a:bodyPr/>
                    <a:lstStyle/>
                    <a:p>
                      <a:pPr algn="ctr"/>
                      <a:r>
                        <a:rPr lang="en-US" sz="1200" b="1"/>
                        <a:t>HRCT Sub study</a:t>
                      </a:r>
                    </a:p>
                  </a:txBody>
                  <a:tcPr anchor="ctr"/>
                </a:tc>
                <a:tc>
                  <a:txBody>
                    <a:bodyPr/>
                    <a:lstStyle/>
                    <a:p>
                      <a:r>
                        <a:rPr lang="de-DE" sz="1200"/>
                        <a:t>Substudies: cough and sputum, HRCT</a:t>
                      </a:r>
                    </a:p>
                  </a:txBody>
                  <a:tcPr anchor="ctr"/>
                </a:tc>
                <a:tc>
                  <a:txBody>
                    <a:bodyPr/>
                    <a:lstStyle/>
                    <a:p>
                      <a:r>
                        <a:rPr lang="de-DE" sz="1200">
                          <a:highlight>
                            <a:srgbClr val="00FF00"/>
                          </a:highlight>
                        </a:rPr>
                        <a:t>Substudies: follow up HRCT</a:t>
                      </a:r>
                    </a:p>
                  </a:txBody>
                  <a:tcPr anchor="ctr"/>
                </a:tc>
                <a:extLst>
                  <a:ext uri="{0D108BD9-81ED-4DB2-BD59-A6C34878D82A}">
                    <a16:rowId xmlns:a16="http://schemas.microsoft.com/office/drawing/2014/main" val="803223441"/>
                  </a:ext>
                </a:extLst>
              </a:tr>
              <a:tr h="302881">
                <a:tc>
                  <a:txBody>
                    <a:bodyPr/>
                    <a:lstStyle/>
                    <a:p>
                      <a:pPr algn="ctr"/>
                      <a:r>
                        <a:rPr lang="en-US" sz="1200" b="1"/>
                        <a:t>PK</a:t>
                      </a:r>
                    </a:p>
                  </a:txBody>
                  <a:tcPr anchor="ctr"/>
                </a:tc>
                <a:tc>
                  <a:txBody>
                    <a:bodyPr/>
                    <a:lstStyle/>
                    <a:p>
                      <a:r>
                        <a:rPr lang="de-DE" sz="1200"/>
                        <a:t>PK blood samples</a:t>
                      </a:r>
                    </a:p>
                  </a:txBody>
                  <a:tcPr anchor="ctr"/>
                </a:tc>
                <a:tc>
                  <a:txBody>
                    <a:bodyPr/>
                    <a:lstStyle/>
                    <a:p>
                      <a:r>
                        <a:rPr lang="de-DE" sz="1200">
                          <a:highlight>
                            <a:srgbClr val="FFFF00"/>
                          </a:highlight>
                        </a:rPr>
                        <a:t>x</a:t>
                      </a:r>
                    </a:p>
                  </a:txBody>
                  <a:tcPr anchor="ctr"/>
                </a:tc>
                <a:extLst>
                  <a:ext uri="{0D108BD9-81ED-4DB2-BD59-A6C34878D82A}">
                    <a16:rowId xmlns:a16="http://schemas.microsoft.com/office/drawing/2014/main" val="1149163025"/>
                  </a:ext>
                </a:extLst>
              </a:tr>
            </a:tbl>
          </a:graphicData>
        </a:graphic>
      </p:graphicFrame>
    </p:spTree>
    <p:extLst>
      <p:ext uri="{BB962C8B-B14F-4D97-AF65-F5344CB8AC3E}">
        <p14:creationId xmlns:p14="http://schemas.microsoft.com/office/powerpoint/2010/main" val="3452013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AA6C5812-3023-C701-AEE9-7A65270CA3C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Folie" r:id="rId4" imgW="426" imgH="426" progId="TCLayout.ActiveDocument.1">
                  <p:embed/>
                </p:oleObj>
              </mc:Choice>
              <mc:Fallback>
                <p:oleObj name="think-cell Folie" r:id="rId4" imgW="426" imgH="426" progId="TCLayout.ActiveDocument.1">
                  <p:embed/>
                  <p:pic>
                    <p:nvPicPr>
                      <p:cNvPr id="15" name="think-cell data - do not delete" hidden="1">
                        <a:extLst>
                          <a:ext uri="{FF2B5EF4-FFF2-40B4-BE49-F238E27FC236}">
                            <a16:creationId xmlns:a16="http://schemas.microsoft.com/office/drawing/2014/main" id="{AA6C5812-3023-C701-AEE9-7A65270CA3C9}"/>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A6C71AAC-CEFE-3390-C59E-4B125E33BF17}"/>
              </a:ext>
            </a:extLst>
          </p:cNvPr>
          <p:cNvSpPr/>
          <p:nvPr/>
        </p:nvSpPr>
        <p:spPr bwMode="gray">
          <a:xfrm>
            <a:off x="805190" y="5054203"/>
            <a:ext cx="10291237" cy="946328"/>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6198">
              <a:spcBef>
                <a:spcPts val="1500"/>
              </a:spcBef>
            </a:pPr>
            <a:endParaRPr lang="en-US">
              <a:solidFill>
                <a:schemeClr val="tx1"/>
              </a:solidFill>
            </a:endParaRPr>
          </a:p>
        </p:txBody>
      </p:sp>
      <p:grpSp>
        <p:nvGrpSpPr>
          <p:cNvPr id="8" name="Group 7">
            <a:extLst>
              <a:ext uri="{FF2B5EF4-FFF2-40B4-BE49-F238E27FC236}">
                <a16:creationId xmlns:a16="http://schemas.microsoft.com/office/drawing/2014/main" id="{7382F1F3-B007-C740-30AA-3C65FDEF0190}"/>
              </a:ext>
            </a:extLst>
          </p:cNvPr>
          <p:cNvGrpSpPr/>
          <p:nvPr/>
        </p:nvGrpSpPr>
        <p:grpSpPr>
          <a:xfrm>
            <a:off x="3447690" y="1692818"/>
            <a:ext cx="6559677" cy="3304287"/>
            <a:chOff x="2012374" y="2265383"/>
            <a:chExt cx="6559677" cy="1872000"/>
          </a:xfrm>
        </p:grpSpPr>
        <p:cxnSp>
          <p:nvCxnSpPr>
            <p:cNvPr id="9" name="Straight Connector 8">
              <a:extLst>
                <a:ext uri="{FF2B5EF4-FFF2-40B4-BE49-F238E27FC236}">
                  <a16:creationId xmlns:a16="http://schemas.microsoft.com/office/drawing/2014/main" id="{26726258-8809-C64E-DA2C-7FF7F4FB6AF3}"/>
                </a:ext>
              </a:extLst>
            </p:cNvPr>
            <p:cNvCxnSpPr>
              <a:cxnSpLocks/>
            </p:cNvCxnSpPr>
            <p:nvPr/>
          </p:nvCxnSpPr>
          <p:spPr>
            <a:xfrm>
              <a:off x="2012374" y="2265383"/>
              <a:ext cx="0" cy="1872000"/>
            </a:xfrm>
            <a:prstGeom prst="line">
              <a:avLst/>
            </a:prstGeom>
            <a:ln w="12700">
              <a:solidFill>
                <a:srgbClr val="E0EAF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76251B5-9F94-0722-4A09-60DCA0ECEEC1}"/>
                </a:ext>
              </a:extLst>
            </p:cNvPr>
            <p:cNvCxnSpPr>
              <a:cxnSpLocks/>
            </p:cNvCxnSpPr>
            <p:nvPr/>
          </p:nvCxnSpPr>
          <p:spPr>
            <a:xfrm>
              <a:off x="3098425" y="2265383"/>
              <a:ext cx="0" cy="1872000"/>
            </a:xfrm>
            <a:prstGeom prst="line">
              <a:avLst/>
            </a:prstGeom>
            <a:ln w="12700">
              <a:solidFill>
                <a:srgbClr val="E0EAF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5B53763-6A7F-8AFE-59C0-12363B903124}"/>
                </a:ext>
              </a:extLst>
            </p:cNvPr>
            <p:cNvCxnSpPr>
              <a:cxnSpLocks/>
            </p:cNvCxnSpPr>
            <p:nvPr/>
          </p:nvCxnSpPr>
          <p:spPr>
            <a:xfrm>
              <a:off x="4190489" y="2265383"/>
              <a:ext cx="0" cy="1872000"/>
            </a:xfrm>
            <a:prstGeom prst="line">
              <a:avLst/>
            </a:prstGeom>
            <a:ln w="12700">
              <a:solidFill>
                <a:srgbClr val="E0EAF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5E8F743-B152-ABCA-1F55-5A0ACE89FC88}"/>
                </a:ext>
              </a:extLst>
            </p:cNvPr>
            <p:cNvCxnSpPr>
              <a:cxnSpLocks/>
            </p:cNvCxnSpPr>
            <p:nvPr/>
          </p:nvCxnSpPr>
          <p:spPr>
            <a:xfrm>
              <a:off x="5296420" y="2265383"/>
              <a:ext cx="0" cy="1872000"/>
            </a:xfrm>
            <a:prstGeom prst="line">
              <a:avLst/>
            </a:prstGeom>
            <a:ln w="12700">
              <a:solidFill>
                <a:srgbClr val="E0EAF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3A89FD0-C3C6-43B9-161B-22171C501632}"/>
                </a:ext>
              </a:extLst>
            </p:cNvPr>
            <p:cNvCxnSpPr>
              <a:cxnSpLocks/>
            </p:cNvCxnSpPr>
            <p:nvPr/>
          </p:nvCxnSpPr>
          <p:spPr>
            <a:xfrm>
              <a:off x="6375846" y="2265383"/>
              <a:ext cx="0" cy="1872000"/>
            </a:xfrm>
            <a:prstGeom prst="line">
              <a:avLst/>
            </a:prstGeom>
            <a:ln w="12700">
              <a:solidFill>
                <a:srgbClr val="E0EAF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F13B30F-CEF4-2FCB-CCB1-E78D44C616FF}"/>
                </a:ext>
              </a:extLst>
            </p:cNvPr>
            <p:cNvCxnSpPr>
              <a:cxnSpLocks/>
            </p:cNvCxnSpPr>
            <p:nvPr/>
          </p:nvCxnSpPr>
          <p:spPr>
            <a:xfrm>
              <a:off x="7479474" y="2265383"/>
              <a:ext cx="0" cy="1872000"/>
            </a:xfrm>
            <a:prstGeom prst="line">
              <a:avLst/>
            </a:prstGeom>
            <a:ln w="12700">
              <a:solidFill>
                <a:srgbClr val="E0EAF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2C6F420-6550-DD96-5014-F08C5A39CDE5}"/>
                </a:ext>
              </a:extLst>
            </p:cNvPr>
            <p:cNvCxnSpPr>
              <a:cxnSpLocks/>
            </p:cNvCxnSpPr>
            <p:nvPr/>
          </p:nvCxnSpPr>
          <p:spPr>
            <a:xfrm>
              <a:off x="8572051" y="2265383"/>
              <a:ext cx="0" cy="1872000"/>
            </a:xfrm>
            <a:prstGeom prst="line">
              <a:avLst/>
            </a:prstGeom>
            <a:ln w="12700">
              <a:solidFill>
                <a:srgbClr val="E0EAF2"/>
              </a:solidFill>
            </a:ln>
          </p:spPr>
          <p:style>
            <a:lnRef idx="1">
              <a:schemeClr val="accent1"/>
            </a:lnRef>
            <a:fillRef idx="0">
              <a:schemeClr val="accent1"/>
            </a:fillRef>
            <a:effectRef idx="0">
              <a:schemeClr val="accent1"/>
            </a:effectRef>
            <a:fontRef idx="minor">
              <a:schemeClr val="tx1"/>
            </a:fontRef>
          </p:style>
        </p:cxnSp>
      </p:grpSp>
      <p:sp>
        <p:nvSpPr>
          <p:cNvPr id="20" name="Rectangle 19">
            <a:extLst>
              <a:ext uri="{FF2B5EF4-FFF2-40B4-BE49-F238E27FC236}">
                <a16:creationId xmlns:a16="http://schemas.microsoft.com/office/drawing/2014/main" id="{AB32F919-B5C2-C26B-2338-DC531327F2F7}"/>
              </a:ext>
            </a:extLst>
          </p:cNvPr>
          <p:cNvSpPr/>
          <p:nvPr/>
        </p:nvSpPr>
        <p:spPr>
          <a:xfrm>
            <a:off x="805190" y="1848674"/>
            <a:ext cx="1428189" cy="917661"/>
          </a:xfrm>
          <a:prstGeom prst="rect">
            <a:avLst/>
          </a:prstGeom>
          <a:solidFill>
            <a:schemeClr val="tx2"/>
          </a:solidFill>
          <a:ln w="12700">
            <a:noFill/>
          </a:ln>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ctr"/>
          <a:lstStyle/>
          <a:p>
            <a:pPr algn="ctr"/>
            <a:r>
              <a:rPr lang="en-US" sz="1600" b="1">
                <a:solidFill>
                  <a:schemeClr val="tx1"/>
                </a:solidFill>
              </a:rPr>
              <a:t>BI 1291583</a:t>
            </a:r>
          </a:p>
        </p:txBody>
      </p:sp>
      <p:cxnSp>
        <p:nvCxnSpPr>
          <p:cNvPr id="22" name="Straight Arrow Connector 21">
            <a:extLst>
              <a:ext uri="{FF2B5EF4-FFF2-40B4-BE49-F238E27FC236}">
                <a16:creationId xmlns:a16="http://schemas.microsoft.com/office/drawing/2014/main" id="{5243E05D-229E-CC0A-450D-2D80297B9E2A}"/>
              </a:ext>
            </a:extLst>
          </p:cNvPr>
          <p:cNvCxnSpPr>
            <a:cxnSpLocks/>
          </p:cNvCxnSpPr>
          <p:nvPr/>
        </p:nvCxnSpPr>
        <p:spPr>
          <a:xfrm>
            <a:off x="805190" y="2942549"/>
            <a:ext cx="10291239" cy="0"/>
          </a:xfrm>
          <a:prstGeom prst="straightConnector1">
            <a:avLst/>
          </a:prstGeom>
          <a:noFill/>
          <a:ln w="19050" cap="flat" cmpd="sng" algn="ctr">
            <a:solidFill>
              <a:schemeClr val="bg2"/>
            </a:solidFill>
            <a:prstDash val="solid"/>
            <a:miter lim="800000"/>
            <a:tailEnd type="none"/>
          </a:ln>
          <a:effectLst/>
        </p:spPr>
      </p:cxnSp>
      <p:pic>
        <p:nvPicPr>
          <p:cNvPr id="43" name="Picture 42" descr="A green and yellow logo&#10;&#10;Description automatically generated with low confidence">
            <a:extLst>
              <a:ext uri="{FF2B5EF4-FFF2-40B4-BE49-F238E27FC236}">
                <a16:creationId xmlns:a16="http://schemas.microsoft.com/office/drawing/2014/main" id="{71F62E3B-60AC-CA79-E87E-70CFCB8FA68C}"/>
              </a:ext>
            </a:extLst>
          </p:cNvPr>
          <p:cNvPicPr>
            <a:picLocks noChangeAspect="1"/>
          </p:cNvPicPr>
          <p:nvPr/>
        </p:nvPicPr>
        <p:blipFill rotWithShape="1">
          <a:blip r:embed="rId6"/>
          <a:srcRect t="19534" b="20221"/>
          <a:stretch/>
        </p:blipFill>
        <p:spPr>
          <a:xfrm>
            <a:off x="1023561" y="3789907"/>
            <a:ext cx="916825" cy="471548"/>
          </a:xfrm>
          <a:prstGeom prst="rect">
            <a:avLst/>
          </a:prstGeom>
        </p:spPr>
      </p:pic>
      <p:cxnSp>
        <p:nvCxnSpPr>
          <p:cNvPr id="44" name="Straight Arrow Connector 43">
            <a:extLst>
              <a:ext uri="{FF2B5EF4-FFF2-40B4-BE49-F238E27FC236}">
                <a16:creationId xmlns:a16="http://schemas.microsoft.com/office/drawing/2014/main" id="{0607B799-ACC1-46A3-9620-32D1E67D9640}"/>
              </a:ext>
            </a:extLst>
          </p:cNvPr>
          <p:cNvCxnSpPr>
            <a:cxnSpLocks/>
          </p:cNvCxnSpPr>
          <p:nvPr/>
        </p:nvCxnSpPr>
        <p:spPr>
          <a:xfrm>
            <a:off x="805190" y="3718593"/>
            <a:ext cx="10291239" cy="0"/>
          </a:xfrm>
          <a:prstGeom prst="straightConnector1">
            <a:avLst/>
          </a:prstGeom>
          <a:noFill/>
          <a:ln w="9525" cap="flat" cmpd="sng" algn="ctr">
            <a:solidFill>
              <a:schemeClr val="bg2"/>
            </a:solidFill>
            <a:prstDash val="dash"/>
            <a:miter lim="800000"/>
            <a:tailEnd type="none"/>
          </a:ln>
          <a:effectLst/>
        </p:spPr>
      </p:cxnSp>
      <p:pic>
        <p:nvPicPr>
          <p:cNvPr id="45" name="Picture 44">
            <a:extLst>
              <a:ext uri="{FF2B5EF4-FFF2-40B4-BE49-F238E27FC236}">
                <a16:creationId xmlns:a16="http://schemas.microsoft.com/office/drawing/2014/main" id="{E3004FF9-D43D-6535-E2FB-7108DBDF045D}"/>
              </a:ext>
            </a:extLst>
          </p:cNvPr>
          <p:cNvPicPr>
            <a:picLocks noChangeAspect="1"/>
          </p:cNvPicPr>
          <p:nvPr/>
        </p:nvPicPr>
        <p:blipFill>
          <a:blip r:embed="rId7"/>
          <a:stretch>
            <a:fillRect/>
          </a:stretch>
        </p:blipFill>
        <p:spPr>
          <a:xfrm>
            <a:off x="940631" y="4428268"/>
            <a:ext cx="1191544" cy="471547"/>
          </a:xfrm>
          <a:prstGeom prst="rect">
            <a:avLst/>
          </a:prstGeom>
        </p:spPr>
      </p:pic>
      <p:sp>
        <p:nvSpPr>
          <p:cNvPr id="2" name="Title 1">
            <a:extLst>
              <a:ext uri="{FF2B5EF4-FFF2-40B4-BE49-F238E27FC236}">
                <a16:creationId xmlns:a16="http://schemas.microsoft.com/office/drawing/2014/main" id="{4A3C406C-7B42-19FC-1A85-9F1520C4816E}"/>
              </a:ext>
            </a:extLst>
          </p:cNvPr>
          <p:cNvSpPr>
            <a:spLocks noGrp="1"/>
          </p:cNvSpPr>
          <p:nvPr>
            <p:ph type="title"/>
          </p:nvPr>
        </p:nvSpPr>
        <p:spPr>
          <a:xfrm>
            <a:off x="370306" y="323555"/>
            <a:ext cx="11233151" cy="720000"/>
          </a:xfrm>
        </p:spPr>
        <p:txBody>
          <a:bodyPr vert="horz"/>
          <a:lstStyle/>
          <a:p>
            <a:r>
              <a:rPr lang="en-US"/>
              <a:t>Competitive landscape in NCFBE/ ‘One’ BE </a:t>
            </a:r>
            <a:r>
              <a:rPr lang="en-US">
                <a:sym typeface="Wingdings" panose="05000000000000000000" pitchFamily="2" charset="2"/>
              </a:rPr>
              <a:t> it’s all about differentiation</a:t>
            </a:r>
            <a:endParaRPr lang="en-US"/>
          </a:p>
        </p:txBody>
      </p:sp>
      <p:sp>
        <p:nvSpPr>
          <p:cNvPr id="2107" name="Diamond 2106">
            <a:extLst>
              <a:ext uri="{FF2B5EF4-FFF2-40B4-BE49-F238E27FC236}">
                <a16:creationId xmlns:a16="http://schemas.microsoft.com/office/drawing/2014/main" id="{7DB30E62-3164-892F-981F-726D7A8588C6}"/>
              </a:ext>
            </a:extLst>
          </p:cNvPr>
          <p:cNvSpPr/>
          <p:nvPr/>
        </p:nvSpPr>
        <p:spPr bwMode="gray">
          <a:xfrm>
            <a:off x="2784470" y="2071546"/>
            <a:ext cx="153167" cy="153167"/>
          </a:xfrm>
          <a:prstGeom prst="diamond">
            <a:avLst/>
          </a:prstGeom>
          <a:solidFill>
            <a:schemeClr val="tx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60" name="Diamond 59">
            <a:extLst>
              <a:ext uri="{FF2B5EF4-FFF2-40B4-BE49-F238E27FC236}">
                <a16:creationId xmlns:a16="http://schemas.microsoft.com/office/drawing/2014/main" id="{1EF6C79C-8C85-6E8C-553A-79100C992A40}"/>
              </a:ext>
            </a:extLst>
          </p:cNvPr>
          <p:cNvSpPr/>
          <p:nvPr/>
        </p:nvSpPr>
        <p:spPr bwMode="gray">
          <a:xfrm>
            <a:off x="3260047" y="2071546"/>
            <a:ext cx="153167" cy="153167"/>
          </a:xfrm>
          <a:prstGeom prst="diamond">
            <a:avLst/>
          </a:prstGeom>
          <a:solidFill>
            <a:schemeClr val="tx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48" name="Diamond 2047">
            <a:extLst>
              <a:ext uri="{FF2B5EF4-FFF2-40B4-BE49-F238E27FC236}">
                <a16:creationId xmlns:a16="http://schemas.microsoft.com/office/drawing/2014/main" id="{DD9B5FA3-8796-0B53-9AAC-FBCCA23F9844}"/>
              </a:ext>
            </a:extLst>
          </p:cNvPr>
          <p:cNvSpPr/>
          <p:nvPr/>
        </p:nvSpPr>
        <p:spPr bwMode="gray">
          <a:xfrm>
            <a:off x="4000045" y="3212649"/>
            <a:ext cx="174449" cy="174449"/>
          </a:xfrm>
          <a:prstGeom prst="diamond">
            <a:avLst/>
          </a:prstGeom>
          <a:solidFill>
            <a:srgbClr val="46319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58" name="Diamond 2057">
            <a:extLst>
              <a:ext uri="{FF2B5EF4-FFF2-40B4-BE49-F238E27FC236}">
                <a16:creationId xmlns:a16="http://schemas.microsoft.com/office/drawing/2014/main" id="{4128BFC1-EA2A-1DA5-3D3E-476BD271234B}"/>
              </a:ext>
            </a:extLst>
          </p:cNvPr>
          <p:cNvSpPr/>
          <p:nvPr/>
        </p:nvSpPr>
        <p:spPr bwMode="gray">
          <a:xfrm>
            <a:off x="4851925" y="3212649"/>
            <a:ext cx="174449" cy="174449"/>
          </a:xfrm>
          <a:prstGeom prst="diamond">
            <a:avLst/>
          </a:prstGeom>
          <a:solidFill>
            <a:srgbClr val="46319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73" name="Diamond 2072">
            <a:extLst>
              <a:ext uri="{FF2B5EF4-FFF2-40B4-BE49-F238E27FC236}">
                <a16:creationId xmlns:a16="http://schemas.microsoft.com/office/drawing/2014/main" id="{7642B0FA-CF52-BA9F-D4CD-F64E142AE3B3}"/>
              </a:ext>
            </a:extLst>
          </p:cNvPr>
          <p:cNvSpPr/>
          <p:nvPr/>
        </p:nvSpPr>
        <p:spPr bwMode="gray">
          <a:xfrm>
            <a:off x="2784777" y="3212649"/>
            <a:ext cx="174449" cy="174449"/>
          </a:xfrm>
          <a:prstGeom prst="diamond">
            <a:avLst/>
          </a:prstGeom>
          <a:solidFill>
            <a:schemeClr val="accent3"/>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84" name="Diamond 2083">
            <a:extLst>
              <a:ext uri="{FF2B5EF4-FFF2-40B4-BE49-F238E27FC236}">
                <a16:creationId xmlns:a16="http://schemas.microsoft.com/office/drawing/2014/main" id="{E90D358B-6D2E-7004-D40D-6B05007E9DC1}"/>
              </a:ext>
            </a:extLst>
          </p:cNvPr>
          <p:cNvSpPr/>
          <p:nvPr/>
        </p:nvSpPr>
        <p:spPr bwMode="gray">
          <a:xfrm>
            <a:off x="8666473" y="2071546"/>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61" name="TextBox 2060">
            <a:extLst>
              <a:ext uri="{FF2B5EF4-FFF2-40B4-BE49-F238E27FC236}">
                <a16:creationId xmlns:a16="http://schemas.microsoft.com/office/drawing/2014/main" id="{8A0E0D79-832C-845E-1149-0BE58396CA93}"/>
              </a:ext>
            </a:extLst>
          </p:cNvPr>
          <p:cNvSpPr txBox="1"/>
          <p:nvPr/>
        </p:nvSpPr>
        <p:spPr bwMode="gray">
          <a:xfrm>
            <a:off x="7856025" y="2265610"/>
            <a:ext cx="2175275" cy="246221"/>
          </a:xfrm>
          <a:prstGeom prst="rect">
            <a:avLst/>
          </a:prstGeom>
          <a:noFill/>
        </p:spPr>
        <p:txBody>
          <a:bodyPr wrap="none" lIns="0" tIns="0" rIns="0" bIns="0" rtlCol="0">
            <a:spAutoFit/>
          </a:bodyPr>
          <a:lstStyle/>
          <a:p>
            <a:pPr algn="l"/>
            <a:r>
              <a:rPr lang="en-US" sz="1600" b="1"/>
              <a:t>Launch US,</a:t>
            </a:r>
            <a:r>
              <a:rPr lang="en-US" sz="1600" b="1">
                <a:sym typeface="Wingdings" panose="05000000000000000000" pitchFamily="2" charset="2"/>
              </a:rPr>
              <a:t> EU, JP, CN</a:t>
            </a:r>
            <a:endParaRPr lang="en-US" sz="1600" b="1"/>
          </a:p>
        </p:txBody>
      </p:sp>
      <p:sp>
        <p:nvSpPr>
          <p:cNvPr id="32" name="TextBox 31">
            <a:extLst>
              <a:ext uri="{FF2B5EF4-FFF2-40B4-BE49-F238E27FC236}">
                <a16:creationId xmlns:a16="http://schemas.microsoft.com/office/drawing/2014/main" id="{815402B3-149E-CD9D-F183-58C11E8D19B8}"/>
              </a:ext>
            </a:extLst>
          </p:cNvPr>
          <p:cNvSpPr txBox="1"/>
          <p:nvPr/>
        </p:nvSpPr>
        <p:spPr bwMode="gray">
          <a:xfrm>
            <a:off x="2520227" y="2265610"/>
            <a:ext cx="544252" cy="246221"/>
          </a:xfrm>
          <a:prstGeom prst="rect">
            <a:avLst/>
          </a:prstGeom>
          <a:noFill/>
        </p:spPr>
        <p:txBody>
          <a:bodyPr wrap="none" lIns="0" tIns="0" rIns="0" bIns="0" rtlCol="0">
            <a:spAutoFit/>
          </a:bodyPr>
          <a:lstStyle/>
          <a:p>
            <a:pPr algn="l"/>
            <a:r>
              <a:rPr lang="en-US" sz="1600" err="1"/>
              <a:t>PoCC</a:t>
            </a:r>
            <a:endParaRPr lang="en-US" sz="1600"/>
          </a:p>
        </p:txBody>
      </p:sp>
      <p:sp>
        <p:nvSpPr>
          <p:cNvPr id="34" name="TextBox 33">
            <a:extLst>
              <a:ext uri="{FF2B5EF4-FFF2-40B4-BE49-F238E27FC236}">
                <a16:creationId xmlns:a16="http://schemas.microsoft.com/office/drawing/2014/main" id="{46CF80AD-AFD8-4E3B-23E7-82B5C0AF078A}"/>
              </a:ext>
            </a:extLst>
          </p:cNvPr>
          <p:cNvSpPr txBox="1"/>
          <p:nvPr/>
        </p:nvSpPr>
        <p:spPr bwMode="gray">
          <a:xfrm>
            <a:off x="3167026" y="2265610"/>
            <a:ext cx="505651" cy="246221"/>
          </a:xfrm>
          <a:prstGeom prst="rect">
            <a:avLst/>
          </a:prstGeom>
          <a:noFill/>
        </p:spPr>
        <p:txBody>
          <a:bodyPr wrap="none" lIns="0" tIns="0" rIns="0" bIns="0" rtlCol="0">
            <a:spAutoFit/>
          </a:bodyPr>
          <a:lstStyle/>
          <a:p>
            <a:pPr algn="l"/>
            <a:r>
              <a:rPr lang="en-US" sz="1600" err="1"/>
              <a:t>RoFD</a:t>
            </a:r>
            <a:endParaRPr lang="en-US" sz="1600"/>
          </a:p>
        </p:txBody>
      </p:sp>
      <p:grpSp>
        <p:nvGrpSpPr>
          <p:cNvPr id="2105" name="Group 2104">
            <a:extLst>
              <a:ext uri="{FF2B5EF4-FFF2-40B4-BE49-F238E27FC236}">
                <a16:creationId xmlns:a16="http://schemas.microsoft.com/office/drawing/2014/main" id="{F1D6A21F-22FE-6FF4-A9D0-A1D8A0814510}"/>
              </a:ext>
            </a:extLst>
          </p:cNvPr>
          <p:cNvGrpSpPr/>
          <p:nvPr/>
        </p:nvGrpSpPr>
        <p:grpSpPr>
          <a:xfrm>
            <a:off x="925077" y="3117931"/>
            <a:ext cx="1274871" cy="503322"/>
            <a:chOff x="663896" y="4073506"/>
            <a:chExt cx="665459" cy="262724"/>
          </a:xfrm>
        </p:grpSpPr>
        <p:sp>
          <p:nvSpPr>
            <p:cNvPr id="58" name="TextBox 57">
              <a:extLst>
                <a:ext uri="{FF2B5EF4-FFF2-40B4-BE49-F238E27FC236}">
                  <a16:creationId xmlns:a16="http://schemas.microsoft.com/office/drawing/2014/main" id="{9DAFFB7A-F5FC-2BBD-D563-1CF43A5A8604}"/>
                </a:ext>
              </a:extLst>
            </p:cNvPr>
            <p:cNvSpPr txBox="1"/>
            <p:nvPr/>
          </p:nvSpPr>
          <p:spPr>
            <a:xfrm>
              <a:off x="672016" y="4257912"/>
              <a:ext cx="649217" cy="78318"/>
            </a:xfrm>
            <a:prstGeom prst="rect">
              <a:avLst/>
            </a:prstGeom>
            <a:noFill/>
          </p:spPr>
          <p:txBody>
            <a:bodyPr wrap="square" lIns="0" tIns="0" rIns="0" bIns="0" rtlCol="0">
              <a:spAutoFit/>
            </a:bodyPr>
            <a:lstStyle/>
            <a:p>
              <a:pPr algn="ctr" defTabSz="685783">
                <a:defRPr/>
              </a:pPr>
              <a:r>
                <a:rPr lang="en-US" sz="975" err="1">
                  <a:solidFill>
                    <a:srgbClr val="463191"/>
                  </a:solidFill>
                  <a:latin typeface="BISansOpti"/>
                </a:rPr>
                <a:t>Brensocatib</a:t>
              </a:r>
              <a:endParaRPr lang="en-US" sz="975">
                <a:solidFill>
                  <a:srgbClr val="463191"/>
                </a:solidFill>
                <a:latin typeface="BISansOpti"/>
              </a:endParaRPr>
            </a:p>
          </p:txBody>
        </p:sp>
        <p:pic>
          <p:nvPicPr>
            <p:cNvPr id="2081" name="Picture 2080" descr="A picture containing graphics, font, screenshot, graphic design&#10;&#10;Description automatically generated">
              <a:extLst>
                <a:ext uri="{FF2B5EF4-FFF2-40B4-BE49-F238E27FC236}">
                  <a16:creationId xmlns:a16="http://schemas.microsoft.com/office/drawing/2014/main" id="{682425AA-DDFA-1E03-E451-DECBB2AE06B4}"/>
                </a:ext>
              </a:extLst>
            </p:cNvPr>
            <p:cNvPicPr>
              <a:picLocks noChangeAspect="1"/>
            </p:cNvPicPr>
            <p:nvPr/>
          </p:nvPicPr>
          <p:blipFill>
            <a:blip r:embed="rId8"/>
            <a:stretch>
              <a:fillRect/>
            </a:stretch>
          </p:blipFill>
          <p:spPr>
            <a:xfrm>
              <a:off x="663896" y="4073506"/>
              <a:ext cx="665459" cy="192287"/>
            </a:xfrm>
            <a:prstGeom prst="rect">
              <a:avLst/>
            </a:prstGeom>
          </p:spPr>
        </p:pic>
      </p:grpSp>
      <p:sp>
        <p:nvSpPr>
          <p:cNvPr id="2092" name="TextBox 2091">
            <a:extLst>
              <a:ext uri="{FF2B5EF4-FFF2-40B4-BE49-F238E27FC236}">
                <a16:creationId xmlns:a16="http://schemas.microsoft.com/office/drawing/2014/main" id="{687A5D01-02FA-EBF7-BA37-7B9CAE619B9D}"/>
              </a:ext>
            </a:extLst>
          </p:cNvPr>
          <p:cNvSpPr txBox="1"/>
          <p:nvPr/>
        </p:nvSpPr>
        <p:spPr bwMode="gray">
          <a:xfrm>
            <a:off x="3498850" y="3382090"/>
            <a:ext cx="2614498" cy="246221"/>
          </a:xfrm>
          <a:prstGeom prst="rect">
            <a:avLst/>
          </a:prstGeom>
          <a:noFill/>
        </p:spPr>
        <p:txBody>
          <a:bodyPr wrap="none" lIns="0" tIns="0" rIns="0" bIns="0" rtlCol="0">
            <a:spAutoFit/>
          </a:bodyPr>
          <a:lstStyle/>
          <a:p>
            <a:r>
              <a:rPr lang="en-US" sz="1600"/>
              <a:t>Launch US, EU/JP in NCFBE</a:t>
            </a:r>
          </a:p>
        </p:txBody>
      </p:sp>
      <p:sp>
        <p:nvSpPr>
          <p:cNvPr id="2094" name="TextBox 2093">
            <a:extLst>
              <a:ext uri="{FF2B5EF4-FFF2-40B4-BE49-F238E27FC236}">
                <a16:creationId xmlns:a16="http://schemas.microsoft.com/office/drawing/2014/main" id="{3375036D-9C97-ECEF-2D93-C22BA2FF8225}"/>
              </a:ext>
            </a:extLst>
          </p:cNvPr>
          <p:cNvSpPr txBox="1"/>
          <p:nvPr/>
        </p:nvSpPr>
        <p:spPr bwMode="gray">
          <a:xfrm>
            <a:off x="2479908" y="3382090"/>
            <a:ext cx="916020" cy="246221"/>
          </a:xfrm>
          <a:prstGeom prst="rect">
            <a:avLst/>
          </a:prstGeom>
          <a:noFill/>
        </p:spPr>
        <p:txBody>
          <a:bodyPr wrap="none" lIns="0" tIns="0" rIns="0" bIns="0" rtlCol="0">
            <a:spAutoFit/>
          </a:bodyPr>
          <a:lstStyle/>
          <a:p>
            <a:pPr algn="l"/>
            <a:r>
              <a:rPr lang="en-US" sz="1600"/>
              <a:t>Ph III data</a:t>
            </a:r>
          </a:p>
        </p:txBody>
      </p:sp>
      <p:sp>
        <p:nvSpPr>
          <p:cNvPr id="2095" name="Diamond 2094">
            <a:extLst>
              <a:ext uri="{FF2B5EF4-FFF2-40B4-BE49-F238E27FC236}">
                <a16:creationId xmlns:a16="http://schemas.microsoft.com/office/drawing/2014/main" id="{7BD31B65-061B-4163-3F4E-BE34DF401F7E}"/>
              </a:ext>
            </a:extLst>
          </p:cNvPr>
          <p:cNvSpPr/>
          <p:nvPr/>
        </p:nvSpPr>
        <p:spPr bwMode="gray">
          <a:xfrm>
            <a:off x="2821017" y="3875398"/>
            <a:ext cx="174449" cy="174449"/>
          </a:xfrm>
          <a:prstGeom prst="diamond">
            <a:avLst/>
          </a:prstGeom>
          <a:solidFill>
            <a:schemeClr val="bg1">
              <a:lumMod val="65000"/>
            </a:schemeClr>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96" name="TextBox 2095">
            <a:extLst>
              <a:ext uri="{FF2B5EF4-FFF2-40B4-BE49-F238E27FC236}">
                <a16:creationId xmlns:a16="http://schemas.microsoft.com/office/drawing/2014/main" id="{3025F797-A4C2-6690-4CCD-F786A6BB62F4}"/>
              </a:ext>
            </a:extLst>
          </p:cNvPr>
          <p:cNvSpPr txBox="1"/>
          <p:nvPr/>
        </p:nvSpPr>
        <p:spPr bwMode="gray">
          <a:xfrm>
            <a:off x="2497985" y="4148773"/>
            <a:ext cx="859915" cy="246221"/>
          </a:xfrm>
          <a:prstGeom prst="rect">
            <a:avLst/>
          </a:prstGeom>
          <a:noFill/>
        </p:spPr>
        <p:txBody>
          <a:bodyPr wrap="none" lIns="0" tIns="0" rIns="0" bIns="0" rtlCol="0">
            <a:spAutoFit/>
          </a:bodyPr>
          <a:lstStyle/>
          <a:p>
            <a:pPr algn="l"/>
            <a:r>
              <a:rPr lang="en-US" sz="1600"/>
              <a:t>Ph II data</a:t>
            </a:r>
          </a:p>
        </p:txBody>
      </p:sp>
      <p:sp>
        <p:nvSpPr>
          <p:cNvPr id="2099" name="Diamond 2098">
            <a:extLst>
              <a:ext uri="{FF2B5EF4-FFF2-40B4-BE49-F238E27FC236}">
                <a16:creationId xmlns:a16="http://schemas.microsoft.com/office/drawing/2014/main" id="{BFFA28F7-9566-2F74-8091-B9B90C7DFD2B}"/>
              </a:ext>
            </a:extLst>
          </p:cNvPr>
          <p:cNvSpPr/>
          <p:nvPr/>
        </p:nvSpPr>
        <p:spPr bwMode="gray">
          <a:xfrm>
            <a:off x="6939396" y="3875398"/>
            <a:ext cx="174449" cy="174449"/>
          </a:xfrm>
          <a:prstGeom prst="diamond">
            <a:avLst/>
          </a:prstGeom>
          <a:solidFill>
            <a:srgbClr val="004C3F"/>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0" name="TextBox 2099">
            <a:extLst>
              <a:ext uri="{FF2B5EF4-FFF2-40B4-BE49-F238E27FC236}">
                <a16:creationId xmlns:a16="http://schemas.microsoft.com/office/drawing/2014/main" id="{71F51A00-F90E-E6F6-A786-5BBCB9A2281B}"/>
              </a:ext>
            </a:extLst>
          </p:cNvPr>
          <p:cNvSpPr txBox="1"/>
          <p:nvPr/>
        </p:nvSpPr>
        <p:spPr bwMode="gray">
          <a:xfrm>
            <a:off x="6400681" y="4092210"/>
            <a:ext cx="1049967" cy="246221"/>
          </a:xfrm>
          <a:prstGeom prst="rect">
            <a:avLst/>
          </a:prstGeom>
          <a:noFill/>
        </p:spPr>
        <p:txBody>
          <a:bodyPr wrap="square" lIns="0" tIns="0" rIns="0" bIns="0" rtlCol="0">
            <a:spAutoFit/>
          </a:bodyPr>
          <a:lstStyle/>
          <a:p>
            <a:pPr algn="l"/>
            <a:r>
              <a:rPr lang="en-US" sz="1600"/>
              <a:t>Launch CN</a:t>
            </a:r>
          </a:p>
        </p:txBody>
      </p:sp>
      <p:sp>
        <p:nvSpPr>
          <p:cNvPr id="2101" name="Diamond 2100">
            <a:extLst>
              <a:ext uri="{FF2B5EF4-FFF2-40B4-BE49-F238E27FC236}">
                <a16:creationId xmlns:a16="http://schemas.microsoft.com/office/drawing/2014/main" id="{427421C2-21EF-1465-DDEF-E9EF2B3D3AAF}"/>
              </a:ext>
            </a:extLst>
          </p:cNvPr>
          <p:cNvSpPr/>
          <p:nvPr/>
        </p:nvSpPr>
        <p:spPr bwMode="gray">
          <a:xfrm>
            <a:off x="8666897" y="4489593"/>
            <a:ext cx="174449" cy="174449"/>
          </a:xfrm>
          <a:prstGeom prst="diamond">
            <a:avLst/>
          </a:prstGeom>
          <a:solidFill>
            <a:schemeClr val="bg1">
              <a:lumMod val="50000"/>
            </a:schemeClr>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2" name="TextBox 2101">
            <a:extLst>
              <a:ext uri="{FF2B5EF4-FFF2-40B4-BE49-F238E27FC236}">
                <a16:creationId xmlns:a16="http://schemas.microsoft.com/office/drawing/2014/main" id="{2EC6C525-AA4A-4A2F-2017-FFD20EC58320}"/>
              </a:ext>
            </a:extLst>
          </p:cNvPr>
          <p:cNvSpPr txBox="1"/>
          <p:nvPr/>
        </p:nvSpPr>
        <p:spPr bwMode="gray">
          <a:xfrm>
            <a:off x="7982956" y="4666986"/>
            <a:ext cx="1726435" cy="246221"/>
          </a:xfrm>
          <a:prstGeom prst="rect">
            <a:avLst/>
          </a:prstGeom>
          <a:noFill/>
        </p:spPr>
        <p:txBody>
          <a:bodyPr wrap="none" lIns="0" tIns="0" rIns="0" bIns="0" rtlCol="0">
            <a:spAutoFit/>
          </a:bodyPr>
          <a:lstStyle/>
          <a:p>
            <a:pPr algn="l"/>
            <a:r>
              <a:rPr lang="en-US" sz="1600"/>
              <a:t>Launch US, EU/JP </a:t>
            </a:r>
          </a:p>
        </p:txBody>
      </p:sp>
      <p:sp>
        <p:nvSpPr>
          <p:cNvPr id="2103" name="Diamond 2102">
            <a:extLst>
              <a:ext uri="{FF2B5EF4-FFF2-40B4-BE49-F238E27FC236}">
                <a16:creationId xmlns:a16="http://schemas.microsoft.com/office/drawing/2014/main" id="{EF029A77-A0F6-5F5B-807C-7DDECF4B0870}"/>
              </a:ext>
            </a:extLst>
          </p:cNvPr>
          <p:cNvSpPr/>
          <p:nvPr/>
        </p:nvSpPr>
        <p:spPr bwMode="gray">
          <a:xfrm>
            <a:off x="9205862" y="4489593"/>
            <a:ext cx="174449" cy="174449"/>
          </a:xfrm>
          <a:prstGeom prst="diamond">
            <a:avLst/>
          </a:prstGeom>
          <a:solidFill>
            <a:schemeClr val="bg1">
              <a:lumMod val="50000"/>
            </a:schemeClr>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6" name="Diamond 2105">
            <a:extLst>
              <a:ext uri="{FF2B5EF4-FFF2-40B4-BE49-F238E27FC236}">
                <a16:creationId xmlns:a16="http://schemas.microsoft.com/office/drawing/2014/main" id="{1794B08E-B7B3-EA9E-55E6-532ACF67482B}"/>
              </a:ext>
            </a:extLst>
          </p:cNvPr>
          <p:cNvSpPr/>
          <p:nvPr/>
        </p:nvSpPr>
        <p:spPr bwMode="gray">
          <a:xfrm>
            <a:off x="8991189" y="2071546"/>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8" name="Diamond 2107">
            <a:extLst>
              <a:ext uri="{FF2B5EF4-FFF2-40B4-BE49-F238E27FC236}">
                <a16:creationId xmlns:a16="http://schemas.microsoft.com/office/drawing/2014/main" id="{94A334B9-8E14-C51D-3834-5CBD55518B1A}"/>
              </a:ext>
            </a:extLst>
          </p:cNvPr>
          <p:cNvSpPr/>
          <p:nvPr/>
        </p:nvSpPr>
        <p:spPr bwMode="gray">
          <a:xfrm>
            <a:off x="9166093" y="2071546"/>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9" name="Diamond 2108">
            <a:extLst>
              <a:ext uri="{FF2B5EF4-FFF2-40B4-BE49-F238E27FC236}">
                <a16:creationId xmlns:a16="http://schemas.microsoft.com/office/drawing/2014/main" id="{1D75C5D3-6333-A662-0ECD-781B936AF4D8}"/>
              </a:ext>
            </a:extLst>
          </p:cNvPr>
          <p:cNvSpPr/>
          <p:nvPr/>
        </p:nvSpPr>
        <p:spPr bwMode="gray">
          <a:xfrm>
            <a:off x="9325246" y="2071546"/>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5" name="Arrow: Pentagon 4">
            <a:extLst>
              <a:ext uri="{FF2B5EF4-FFF2-40B4-BE49-F238E27FC236}">
                <a16:creationId xmlns:a16="http://schemas.microsoft.com/office/drawing/2014/main" id="{F59E32B0-4882-1BAB-3065-3ACBA789750F}"/>
              </a:ext>
            </a:extLst>
          </p:cNvPr>
          <p:cNvSpPr/>
          <p:nvPr/>
        </p:nvSpPr>
        <p:spPr bwMode="gray">
          <a:xfrm>
            <a:off x="3996383" y="1955520"/>
            <a:ext cx="3775599" cy="353672"/>
          </a:xfrm>
          <a:prstGeom prst="homePlate">
            <a:avLst/>
          </a:prstGeom>
          <a:solidFill>
            <a:srgbClr val="05F28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III: AIRTIVITY® (‘One’ BE)</a:t>
            </a:r>
          </a:p>
        </p:txBody>
      </p:sp>
      <p:cxnSp>
        <p:nvCxnSpPr>
          <p:cNvPr id="54" name="Connector: Elbow 53">
            <a:extLst>
              <a:ext uri="{FF2B5EF4-FFF2-40B4-BE49-F238E27FC236}">
                <a16:creationId xmlns:a16="http://schemas.microsoft.com/office/drawing/2014/main" id="{673C9274-A8A3-B974-55BC-8431B9319EFC}"/>
              </a:ext>
            </a:extLst>
          </p:cNvPr>
          <p:cNvCxnSpPr>
            <a:stCxn id="2048" idx="0"/>
            <a:endCxn id="2084" idx="2"/>
          </p:cNvCxnSpPr>
          <p:nvPr/>
        </p:nvCxnSpPr>
        <p:spPr bwMode="gray">
          <a:xfrm rot="5400000" flipH="1" flipV="1">
            <a:off x="5921195" y="390787"/>
            <a:ext cx="987936" cy="4655787"/>
          </a:xfrm>
          <a:prstGeom prst="bentConnector3">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AF98EC77-BECF-C192-E874-97CA1330B1F5}"/>
              </a:ext>
            </a:extLst>
          </p:cNvPr>
          <p:cNvSpPr txBox="1"/>
          <p:nvPr/>
        </p:nvSpPr>
        <p:spPr bwMode="gray">
          <a:xfrm>
            <a:off x="5373947" y="2751109"/>
            <a:ext cx="1127629" cy="184666"/>
          </a:xfrm>
          <a:prstGeom prst="rect">
            <a:avLst/>
          </a:prstGeom>
          <a:noFill/>
        </p:spPr>
        <p:txBody>
          <a:bodyPr wrap="square" lIns="0" tIns="0" rIns="0" bIns="0" rtlCol="0">
            <a:spAutoFit/>
          </a:bodyPr>
          <a:lstStyle/>
          <a:p>
            <a:pPr algn="l"/>
            <a:r>
              <a:rPr lang="en-US" sz="1200"/>
              <a:t>~4.5 years gap</a:t>
            </a:r>
          </a:p>
        </p:txBody>
      </p:sp>
      <p:cxnSp>
        <p:nvCxnSpPr>
          <p:cNvPr id="61" name="Straight Connector 60">
            <a:extLst>
              <a:ext uri="{FF2B5EF4-FFF2-40B4-BE49-F238E27FC236}">
                <a16:creationId xmlns:a16="http://schemas.microsoft.com/office/drawing/2014/main" id="{1805A010-B8DC-5FE9-FF8D-1E165CFE992F}"/>
              </a:ext>
            </a:extLst>
          </p:cNvPr>
          <p:cNvCxnSpPr>
            <a:cxnSpLocks/>
            <a:stCxn id="2101" idx="0"/>
            <a:endCxn id="2084" idx="2"/>
          </p:cNvCxnSpPr>
          <p:nvPr/>
        </p:nvCxnSpPr>
        <p:spPr bwMode="gray">
          <a:xfrm flipH="1" flipV="1">
            <a:off x="8743057" y="2224712"/>
            <a:ext cx="11065" cy="226488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51" name="TextBox 2050">
            <a:extLst>
              <a:ext uri="{FF2B5EF4-FFF2-40B4-BE49-F238E27FC236}">
                <a16:creationId xmlns:a16="http://schemas.microsoft.com/office/drawing/2014/main" id="{493501FE-4218-06F6-30D2-46CE65E564B6}"/>
              </a:ext>
            </a:extLst>
          </p:cNvPr>
          <p:cNvSpPr txBox="1"/>
          <p:nvPr/>
        </p:nvSpPr>
        <p:spPr bwMode="gray">
          <a:xfrm>
            <a:off x="9015395" y="3792947"/>
            <a:ext cx="581503" cy="553998"/>
          </a:xfrm>
          <a:prstGeom prst="rect">
            <a:avLst/>
          </a:prstGeom>
          <a:noFill/>
        </p:spPr>
        <p:txBody>
          <a:bodyPr wrap="square" lIns="0" tIns="0" rIns="0" bIns="0" rtlCol="0">
            <a:spAutoFit/>
          </a:bodyPr>
          <a:lstStyle/>
          <a:p>
            <a:pPr algn="l"/>
            <a:r>
              <a:rPr lang="en-US" sz="1200"/>
              <a:t>Similar time of entry</a:t>
            </a:r>
          </a:p>
        </p:txBody>
      </p:sp>
      <p:sp>
        <p:nvSpPr>
          <p:cNvPr id="2072" name="Arrow: Pentagon 2071">
            <a:extLst>
              <a:ext uri="{FF2B5EF4-FFF2-40B4-BE49-F238E27FC236}">
                <a16:creationId xmlns:a16="http://schemas.microsoft.com/office/drawing/2014/main" id="{0D5BAF44-9C2F-20FB-59B7-094959D5859A}"/>
              </a:ext>
            </a:extLst>
          </p:cNvPr>
          <p:cNvSpPr/>
          <p:nvPr/>
        </p:nvSpPr>
        <p:spPr bwMode="gray">
          <a:xfrm>
            <a:off x="3611407" y="4450582"/>
            <a:ext cx="4171909" cy="339511"/>
          </a:xfrm>
          <a:prstGeom prst="homePlate">
            <a:avLst/>
          </a:prstGeom>
          <a:solidFill>
            <a:srgbClr val="BBBBBB"/>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IIb/ III: outside China – tbd*</a:t>
            </a:r>
          </a:p>
        </p:txBody>
      </p:sp>
      <p:sp>
        <p:nvSpPr>
          <p:cNvPr id="2074" name="Arrow: Pentagon 2073">
            <a:extLst>
              <a:ext uri="{FF2B5EF4-FFF2-40B4-BE49-F238E27FC236}">
                <a16:creationId xmlns:a16="http://schemas.microsoft.com/office/drawing/2014/main" id="{FA27485F-DC3F-04BA-0990-23547912E26C}"/>
              </a:ext>
            </a:extLst>
          </p:cNvPr>
          <p:cNvSpPr/>
          <p:nvPr/>
        </p:nvSpPr>
        <p:spPr bwMode="gray">
          <a:xfrm>
            <a:off x="3283973" y="3820263"/>
            <a:ext cx="2273680" cy="353672"/>
          </a:xfrm>
          <a:prstGeom prst="homePlate">
            <a:avLst/>
          </a:prstGeom>
          <a:solidFill>
            <a:srgbClr val="004C3F"/>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bg1"/>
                </a:solidFill>
                <a:latin typeface="Boehringer Forward Text"/>
              </a:rPr>
              <a:t>Ph III: China only</a:t>
            </a:r>
          </a:p>
        </p:txBody>
      </p:sp>
      <p:cxnSp>
        <p:nvCxnSpPr>
          <p:cNvPr id="2077" name="Connector: Elbow 2076">
            <a:extLst>
              <a:ext uri="{FF2B5EF4-FFF2-40B4-BE49-F238E27FC236}">
                <a16:creationId xmlns:a16="http://schemas.microsoft.com/office/drawing/2014/main" id="{D1BBBC87-5427-F597-050E-E5EE803226E7}"/>
              </a:ext>
            </a:extLst>
          </p:cNvPr>
          <p:cNvCxnSpPr>
            <a:cxnSpLocks/>
            <a:stCxn id="2095" idx="2"/>
            <a:endCxn id="2072" idx="1"/>
          </p:cNvCxnSpPr>
          <p:nvPr/>
        </p:nvCxnSpPr>
        <p:spPr bwMode="gray">
          <a:xfrm rot="16200000" flipH="1">
            <a:off x="2974579" y="3983510"/>
            <a:ext cx="570491" cy="703165"/>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11" name="TextBox 2110">
            <a:extLst>
              <a:ext uri="{FF2B5EF4-FFF2-40B4-BE49-F238E27FC236}">
                <a16:creationId xmlns:a16="http://schemas.microsoft.com/office/drawing/2014/main" id="{5931922A-5633-1C49-6191-7FFD51D8FEA1}"/>
              </a:ext>
            </a:extLst>
          </p:cNvPr>
          <p:cNvSpPr txBox="1"/>
          <p:nvPr/>
        </p:nvSpPr>
        <p:spPr bwMode="gray">
          <a:xfrm>
            <a:off x="1003477" y="5124413"/>
            <a:ext cx="1780993" cy="215444"/>
          </a:xfrm>
          <a:prstGeom prst="rect">
            <a:avLst/>
          </a:prstGeom>
          <a:noFill/>
        </p:spPr>
        <p:txBody>
          <a:bodyPr wrap="square" lIns="0" tIns="0" rIns="0" bIns="0" rtlCol="0">
            <a:spAutoFit/>
          </a:bodyPr>
          <a:lstStyle/>
          <a:p>
            <a:pPr algn="l"/>
            <a:r>
              <a:rPr lang="en-US" sz="1400" b="1"/>
              <a:t>Further competition:</a:t>
            </a:r>
            <a:endParaRPr lang="en-US" sz="1400"/>
          </a:p>
        </p:txBody>
      </p:sp>
      <p:sp>
        <p:nvSpPr>
          <p:cNvPr id="6" name="TextBox 5">
            <a:extLst>
              <a:ext uri="{FF2B5EF4-FFF2-40B4-BE49-F238E27FC236}">
                <a16:creationId xmlns:a16="http://schemas.microsoft.com/office/drawing/2014/main" id="{B38BF9E8-8464-20D2-29B5-9E4E1C7F43DE}"/>
              </a:ext>
            </a:extLst>
          </p:cNvPr>
          <p:cNvSpPr txBox="1"/>
          <p:nvPr/>
        </p:nvSpPr>
        <p:spPr bwMode="gray">
          <a:xfrm>
            <a:off x="1756417" y="6440573"/>
            <a:ext cx="5663721" cy="205121"/>
          </a:xfrm>
          <a:prstGeom prst="rect">
            <a:avLst/>
          </a:prstGeom>
          <a:noFill/>
        </p:spPr>
        <p:txBody>
          <a:bodyPr wrap="square" lIns="0" tIns="0" rIns="0" bIns="0" rtlCol="0">
            <a:spAutoFit/>
          </a:bodyPr>
          <a:lstStyle/>
          <a:p>
            <a:r>
              <a:rPr lang="en-US" sz="1333" baseline="30000"/>
              <a:t>* Little knowledge about </a:t>
            </a:r>
            <a:r>
              <a:rPr lang="en-US" sz="1333" baseline="30000" err="1"/>
              <a:t>Chiesi</a:t>
            </a:r>
            <a:r>
              <a:rPr lang="en-US" sz="1333" baseline="30000"/>
              <a:t> program at this time</a:t>
            </a:r>
            <a:endParaRPr lang="en-US" sz="1333"/>
          </a:p>
        </p:txBody>
      </p:sp>
      <p:grpSp>
        <p:nvGrpSpPr>
          <p:cNvPr id="28" name="Group 27">
            <a:extLst>
              <a:ext uri="{FF2B5EF4-FFF2-40B4-BE49-F238E27FC236}">
                <a16:creationId xmlns:a16="http://schemas.microsoft.com/office/drawing/2014/main" id="{09424EC0-B1C7-CE83-8FB9-1D443B8B0665}"/>
              </a:ext>
            </a:extLst>
          </p:cNvPr>
          <p:cNvGrpSpPr/>
          <p:nvPr/>
        </p:nvGrpSpPr>
        <p:grpSpPr>
          <a:xfrm>
            <a:off x="2365598" y="1405494"/>
            <a:ext cx="8818167" cy="296383"/>
            <a:chOff x="2365596" y="1575621"/>
            <a:chExt cx="8818167" cy="296383"/>
          </a:xfrm>
        </p:grpSpPr>
        <p:grpSp>
          <p:nvGrpSpPr>
            <p:cNvPr id="23" name="Group 22">
              <a:extLst>
                <a:ext uri="{FF2B5EF4-FFF2-40B4-BE49-F238E27FC236}">
                  <a16:creationId xmlns:a16="http://schemas.microsoft.com/office/drawing/2014/main" id="{E7895814-932C-50DA-D17C-2DA5F546B0EC}"/>
                </a:ext>
              </a:extLst>
            </p:cNvPr>
            <p:cNvGrpSpPr/>
            <p:nvPr/>
          </p:nvGrpSpPr>
          <p:grpSpPr>
            <a:xfrm>
              <a:off x="3460279" y="1575621"/>
              <a:ext cx="7723484" cy="287323"/>
              <a:chOff x="2922944" y="2061784"/>
              <a:chExt cx="7723484" cy="287323"/>
            </a:xfrm>
          </p:grpSpPr>
          <p:sp>
            <p:nvSpPr>
              <p:cNvPr id="25" name="Arrow: Chevron 24">
                <a:extLst>
                  <a:ext uri="{FF2B5EF4-FFF2-40B4-BE49-F238E27FC236}">
                    <a16:creationId xmlns:a16="http://schemas.microsoft.com/office/drawing/2014/main" id="{BF960E2F-1315-F4E6-9A24-5A8C22710081}"/>
                  </a:ext>
                </a:extLst>
              </p:cNvPr>
              <p:cNvSpPr/>
              <p:nvPr/>
            </p:nvSpPr>
            <p:spPr>
              <a:xfrm>
                <a:off x="2922944"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2025</a:t>
                </a:r>
              </a:p>
            </p:txBody>
          </p:sp>
          <p:sp>
            <p:nvSpPr>
              <p:cNvPr id="26" name="Arrow: Chevron 25">
                <a:extLst>
                  <a:ext uri="{FF2B5EF4-FFF2-40B4-BE49-F238E27FC236}">
                    <a16:creationId xmlns:a16="http://schemas.microsoft.com/office/drawing/2014/main" id="{0FA52D35-CBC0-3FE0-E3A6-AB5E058DFB3A}"/>
                  </a:ext>
                </a:extLst>
              </p:cNvPr>
              <p:cNvSpPr/>
              <p:nvPr/>
            </p:nvSpPr>
            <p:spPr>
              <a:xfrm>
                <a:off x="4017625"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2026</a:t>
                </a:r>
              </a:p>
            </p:txBody>
          </p:sp>
          <p:sp>
            <p:nvSpPr>
              <p:cNvPr id="33" name="Arrow: Chevron 32">
                <a:extLst>
                  <a:ext uri="{FF2B5EF4-FFF2-40B4-BE49-F238E27FC236}">
                    <a16:creationId xmlns:a16="http://schemas.microsoft.com/office/drawing/2014/main" id="{96BDE30D-078E-D935-7EAE-E2849AE7253E}"/>
                  </a:ext>
                </a:extLst>
              </p:cNvPr>
              <p:cNvSpPr/>
              <p:nvPr/>
            </p:nvSpPr>
            <p:spPr>
              <a:xfrm>
                <a:off x="5112306"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2027</a:t>
                </a:r>
              </a:p>
            </p:txBody>
          </p:sp>
          <p:sp>
            <p:nvSpPr>
              <p:cNvPr id="35" name="Arrow: Chevron 34">
                <a:extLst>
                  <a:ext uri="{FF2B5EF4-FFF2-40B4-BE49-F238E27FC236}">
                    <a16:creationId xmlns:a16="http://schemas.microsoft.com/office/drawing/2014/main" id="{B8F26F3D-A57C-4079-E5AC-6D2E8861B211}"/>
                  </a:ext>
                </a:extLst>
              </p:cNvPr>
              <p:cNvSpPr/>
              <p:nvPr/>
            </p:nvSpPr>
            <p:spPr>
              <a:xfrm>
                <a:off x="6206989"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2028</a:t>
                </a:r>
              </a:p>
            </p:txBody>
          </p:sp>
          <p:sp>
            <p:nvSpPr>
              <p:cNvPr id="37" name="Arrow: Chevron 36">
                <a:extLst>
                  <a:ext uri="{FF2B5EF4-FFF2-40B4-BE49-F238E27FC236}">
                    <a16:creationId xmlns:a16="http://schemas.microsoft.com/office/drawing/2014/main" id="{4FCFCA70-C7C8-7438-47BA-1649F0FC1BF7}"/>
                  </a:ext>
                </a:extLst>
              </p:cNvPr>
              <p:cNvSpPr/>
              <p:nvPr/>
            </p:nvSpPr>
            <p:spPr>
              <a:xfrm>
                <a:off x="7301672"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2029</a:t>
                </a:r>
              </a:p>
            </p:txBody>
          </p:sp>
          <p:sp>
            <p:nvSpPr>
              <p:cNvPr id="38" name="Arrow: Chevron 37">
                <a:extLst>
                  <a:ext uri="{FF2B5EF4-FFF2-40B4-BE49-F238E27FC236}">
                    <a16:creationId xmlns:a16="http://schemas.microsoft.com/office/drawing/2014/main" id="{3D3FF99C-677F-AD92-9571-40113BB4350A}"/>
                  </a:ext>
                </a:extLst>
              </p:cNvPr>
              <p:cNvSpPr/>
              <p:nvPr/>
            </p:nvSpPr>
            <p:spPr>
              <a:xfrm>
                <a:off x="8385268"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2030</a:t>
                </a:r>
              </a:p>
            </p:txBody>
          </p:sp>
          <p:sp>
            <p:nvSpPr>
              <p:cNvPr id="39" name="Arrow: Chevron 38">
                <a:extLst>
                  <a:ext uri="{FF2B5EF4-FFF2-40B4-BE49-F238E27FC236}">
                    <a16:creationId xmlns:a16="http://schemas.microsoft.com/office/drawing/2014/main" id="{4B214F9C-E6EB-E980-9056-F595CB8C8DF8}"/>
                  </a:ext>
                </a:extLst>
              </p:cNvPr>
              <p:cNvSpPr/>
              <p:nvPr/>
            </p:nvSpPr>
            <p:spPr>
              <a:xfrm>
                <a:off x="9479816"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2031</a:t>
                </a:r>
              </a:p>
            </p:txBody>
          </p:sp>
        </p:grpSp>
        <p:sp>
          <p:nvSpPr>
            <p:cNvPr id="27" name="Arrow: Pentagon 26">
              <a:extLst>
                <a:ext uri="{FF2B5EF4-FFF2-40B4-BE49-F238E27FC236}">
                  <a16:creationId xmlns:a16="http://schemas.microsoft.com/office/drawing/2014/main" id="{3FDAABDF-FC99-1B3E-DC1F-A8AAF25F5767}"/>
                </a:ext>
              </a:extLst>
            </p:cNvPr>
            <p:cNvSpPr/>
            <p:nvPr/>
          </p:nvSpPr>
          <p:spPr bwMode="gray">
            <a:xfrm>
              <a:off x="2365596" y="1579676"/>
              <a:ext cx="1166612" cy="292328"/>
            </a:xfrm>
            <a:prstGeom prst="homePlate">
              <a:avLst/>
            </a:prstGeom>
            <a:solidFill>
              <a:schemeClr val="bg2"/>
            </a:solidFill>
            <a:ln>
              <a:noFill/>
            </a:ln>
            <a:effectLst/>
          </p:spPr>
          <p:txBody>
            <a:bodyPr rtlCol="0" anchor="ctr"/>
            <a:lstStyle/>
            <a:p>
              <a:pPr algn="ctr" defTabSz="1219108"/>
              <a:r>
                <a:rPr lang="en-US" sz="1600" kern="0">
                  <a:solidFill>
                    <a:schemeClr val="bg1"/>
                  </a:solidFill>
                  <a:latin typeface="BISansOpti" panose="02000503040000020004" pitchFamily="2" charset="0"/>
                  <a:cs typeface="Calibri" panose="020F0502020204030204" pitchFamily="34" charset="0"/>
                </a:rPr>
                <a:t>2024</a:t>
              </a:r>
            </a:p>
          </p:txBody>
        </p:sp>
      </p:grpSp>
      <p:sp>
        <p:nvSpPr>
          <p:cNvPr id="29" name="TextBox 28">
            <a:extLst>
              <a:ext uri="{FF2B5EF4-FFF2-40B4-BE49-F238E27FC236}">
                <a16:creationId xmlns:a16="http://schemas.microsoft.com/office/drawing/2014/main" id="{8BE5E467-C61A-A0C1-3C35-FBCBA049CC97}"/>
              </a:ext>
            </a:extLst>
          </p:cNvPr>
          <p:cNvSpPr txBox="1"/>
          <p:nvPr/>
        </p:nvSpPr>
        <p:spPr bwMode="gray">
          <a:xfrm>
            <a:off x="2908240" y="5130019"/>
            <a:ext cx="8188187" cy="861774"/>
          </a:xfrm>
          <a:prstGeom prst="rect">
            <a:avLst/>
          </a:prstGeom>
          <a:noFill/>
        </p:spPr>
        <p:txBody>
          <a:bodyPr wrap="square" lIns="0" tIns="0" rIns="0" bIns="0" rtlCol="0">
            <a:spAutoFit/>
          </a:bodyPr>
          <a:lstStyle/>
          <a:p>
            <a:pPr marL="285744" indent="-285744">
              <a:buFont typeface="Arial" panose="020B0604020202020204" pitchFamily="34" charset="0"/>
              <a:buChar char="•"/>
            </a:pPr>
            <a:r>
              <a:rPr lang="en-US" sz="1400"/>
              <a:t>Itepekimab (anti-IL33, Sanofi/Regeneron): Ph II ongoing with potential launch in 2031</a:t>
            </a:r>
          </a:p>
          <a:p>
            <a:pPr marL="285744" indent="-285744">
              <a:buFont typeface="Arial" panose="020B0604020202020204" pitchFamily="34" charset="0"/>
              <a:buChar char="•"/>
            </a:pPr>
            <a:r>
              <a:rPr lang="en-US" sz="1400" err="1"/>
              <a:t>Insmed</a:t>
            </a:r>
            <a:r>
              <a:rPr lang="en-US" sz="1400"/>
              <a:t> brensocatib lifecycle indication expansion into </a:t>
            </a:r>
            <a:r>
              <a:rPr lang="en-US" sz="1400" err="1"/>
              <a:t>CRSsNP</a:t>
            </a:r>
            <a:r>
              <a:rPr lang="en-US" sz="1400"/>
              <a:t> and HS</a:t>
            </a:r>
          </a:p>
          <a:p>
            <a:pPr marL="285744" indent="-285744">
              <a:buFont typeface="Arial" panose="020B0604020202020204" pitchFamily="34" charset="0"/>
              <a:buChar char="•"/>
            </a:pPr>
            <a:r>
              <a:rPr lang="en-US" sz="1400"/>
              <a:t>Two additional CatCi in early (clinical) development</a:t>
            </a:r>
          </a:p>
          <a:p>
            <a:pPr marL="285744" indent="-285744">
              <a:buFont typeface="Arial" panose="020B0604020202020204" pitchFamily="34" charset="0"/>
              <a:buChar char="•"/>
            </a:pPr>
            <a:r>
              <a:rPr lang="en-US" sz="1400"/>
              <a:t>Other new </a:t>
            </a:r>
            <a:r>
              <a:rPr lang="en-US" sz="1400" err="1"/>
              <a:t>MoAs</a:t>
            </a:r>
            <a:r>
              <a:rPr lang="en-US" sz="1400"/>
              <a:t> in early development in bronchiectasis </a:t>
            </a:r>
          </a:p>
        </p:txBody>
      </p:sp>
      <p:cxnSp>
        <p:nvCxnSpPr>
          <p:cNvPr id="49" name="Connector: Elbow 48">
            <a:extLst>
              <a:ext uri="{FF2B5EF4-FFF2-40B4-BE49-F238E27FC236}">
                <a16:creationId xmlns:a16="http://schemas.microsoft.com/office/drawing/2014/main" id="{32BA3C61-A9F7-4D8B-ACEC-0629032AAB3F}"/>
              </a:ext>
            </a:extLst>
          </p:cNvPr>
          <p:cNvCxnSpPr>
            <a:cxnSpLocks/>
            <a:stCxn id="2099" idx="0"/>
            <a:endCxn id="2109" idx="2"/>
          </p:cNvCxnSpPr>
          <p:nvPr/>
        </p:nvCxnSpPr>
        <p:spPr bwMode="gray">
          <a:xfrm rot="5400000" flipH="1" flipV="1">
            <a:off x="7388882" y="1862452"/>
            <a:ext cx="1650685" cy="2375209"/>
          </a:xfrm>
          <a:prstGeom prst="bentConnector3">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3584E1D-14A8-47F0-C857-1797E98092F8}"/>
              </a:ext>
            </a:extLst>
          </p:cNvPr>
          <p:cNvSpPr txBox="1"/>
          <p:nvPr/>
        </p:nvSpPr>
        <p:spPr bwMode="gray">
          <a:xfrm>
            <a:off x="7514163" y="3078818"/>
            <a:ext cx="1251167" cy="184666"/>
          </a:xfrm>
          <a:prstGeom prst="rect">
            <a:avLst/>
          </a:prstGeom>
          <a:noFill/>
        </p:spPr>
        <p:txBody>
          <a:bodyPr wrap="square" lIns="0" tIns="0" rIns="0" bIns="0" rtlCol="0">
            <a:spAutoFit/>
          </a:bodyPr>
          <a:lstStyle/>
          <a:p>
            <a:pPr algn="l"/>
            <a:r>
              <a:rPr lang="en-US" sz="1200"/>
              <a:t>~2 years gap</a:t>
            </a:r>
          </a:p>
        </p:txBody>
      </p:sp>
    </p:spTree>
    <p:extLst>
      <p:ext uri="{BB962C8B-B14F-4D97-AF65-F5344CB8AC3E}">
        <p14:creationId xmlns:p14="http://schemas.microsoft.com/office/powerpoint/2010/main" val="19141920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Rectangle: Rounded Corners 1064">
            <a:extLst>
              <a:ext uri="{FF2B5EF4-FFF2-40B4-BE49-F238E27FC236}">
                <a16:creationId xmlns:a16="http://schemas.microsoft.com/office/drawing/2014/main" id="{F7DA5857-02B2-936B-3D14-5E33DE10609E}"/>
              </a:ext>
            </a:extLst>
          </p:cNvPr>
          <p:cNvSpPr/>
          <p:nvPr/>
        </p:nvSpPr>
        <p:spPr bwMode="gray">
          <a:xfrm>
            <a:off x="253273" y="1608358"/>
            <a:ext cx="11624885" cy="852773"/>
          </a:xfrm>
          <a:prstGeom prst="roundRect">
            <a:avLst/>
          </a:prstGeom>
          <a:solidFill>
            <a:srgbClr val="7565AD"/>
          </a:solidFill>
          <a:ln w="19050">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40000"/>
              </a:lnSpc>
            </a:pPr>
            <a:endParaRPr lang="en-US" altLang="zh-CN" sz="1600">
              <a:solidFill>
                <a:schemeClr val="tx1"/>
              </a:solidFill>
            </a:endParaRPr>
          </a:p>
        </p:txBody>
      </p:sp>
      <p:sp>
        <p:nvSpPr>
          <p:cNvPr id="29" name="Rectangle: Rounded Corners 1064">
            <a:extLst>
              <a:ext uri="{FF2B5EF4-FFF2-40B4-BE49-F238E27FC236}">
                <a16:creationId xmlns:a16="http://schemas.microsoft.com/office/drawing/2014/main" id="{6096C437-0A0F-6789-F9D4-428F2E316536}"/>
              </a:ext>
            </a:extLst>
          </p:cNvPr>
          <p:cNvSpPr/>
          <p:nvPr/>
        </p:nvSpPr>
        <p:spPr bwMode="gray">
          <a:xfrm>
            <a:off x="239689" y="2518740"/>
            <a:ext cx="11638470" cy="1248441"/>
          </a:xfrm>
          <a:prstGeom prst="roundRect">
            <a:avLst/>
          </a:prstGeom>
          <a:solidFill>
            <a:srgbClr val="004C3F"/>
          </a:solidFill>
          <a:ln w="19050">
            <a:solidFill>
              <a:srgbClr val="004C3F"/>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40000"/>
              </a:lnSpc>
            </a:pPr>
            <a:endParaRPr lang="en-US" altLang="zh-CN" sz="1600">
              <a:solidFill>
                <a:schemeClr val="tx1"/>
              </a:solidFill>
            </a:endParaRPr>
          </a:p>
        </p:txBody>
      </p:sp>
      <p:sp>
        <p:nvSpPr>
          <p:cNvPr id="24" name="Rectangle: Rounded Corners 23">
            <a:extLst>
              <a:ext uri="{FF2B5EF4-FFF2-40B4-BE49-F238E27FC236}">
                <a16:creationId xmlns:a16="http://schemas.microsoft.com/office/drawing/2014/main" id="{3CE05B55-F579-67A4-BCAF-83472CEC7615}"/>
              </a:ext>
            </a:extLst>
          </p:cNvPr>
          <p:cNvSpPr/>
          <p:nvPr/>
        </p:nvSpPr>
        <p:spPr>
          <a:xfrm>
            <a:off x="239688" y="5096937"/>
            <a:ext cx="11638470" cy="969864"/>
          </a:xfrm>
          <a:prstGeom prst="roundRect">
            <a:avLst/>
          </a:prstGeom>
          <a:solidFill>
            <a:srgbClr val="A3E5EE"/>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Rounded Corners 2056">
            <a:extLst>
              <a:ext uri="{FF2B5EF4-FFF2-40B4-BE49-F238E27FC236}">
                <a16:creationId xmlns:a16="http://schemas.microsoft.com/office/drawing/2014/main" id="{8EA72C6E-14DA-7F57-ADE4-AD7981C4AD9F}"/>
              </a:ext>
            </a:extLst>
          </p:cNvPr>
          <p:cNvSpPr/>
          <p:nvPr/>
        </p:nvSpPr>
        <p:spPr>
          <a:xfrm>
            <a:off x="239688" y="3837586"/>
            <a:ext cx="11647042" cy="1192560"/>
          </a:xfrm>
          <a:prstGeom prst="roundRect">
            <a:avLst/>
          </a:prstGeom>
          <a:solidFill>
            <a:srgbClr val="213F89"/>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AD762465-077C-635E-526D-3F010767B0DC}"/>
              </a:ext>
            </a:extLst>
          </p:cNvPr>
          <p:cNvSpPr/>
          <p:nvPr/>
        </p:nvSpPr>
        <p:spPr>
          <a:xfrm>
            <a:off x="4233378" y="525129"/>
            <a:ext cx="45719" cy="5792502"/>
          </a:xfrm>
          <a:prstGeom prst="roundRect">
            <a:avLst/>
          </a:prstGeom>
          <a:solidFill>
            <a:srgbClr val="F62B2B"/>
          </a:solidFill>
          <a:ln w="12700">
            <a:solidFill>
              <a:srgbClr val="7030A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think-cell data - do not delete" hidden="1">
            <a:extLst>
              <a:ext uri="{FF2B5EF4-FFF2-40B4-BE49-F238E27FC236}">
                <a16:creationId xmlns:a16="http://schemas.microsoft.com/office/drawing/2014/main" id="{AA6C5812-3023-C701-AEE9-7A65270CA3C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Folie" r:id="rId4" imgW="426" imgH="426" progId="TCLayout.ActiveDocument.1">
                  <p:embed/>
                </p:oleObj>
              </mc:Choice>
              <mc:Fallback>
                <p:oleObj name="think-cell Folie" r:id="rId4" imgW="426" imgH="426" progId="TCLayout.ActiveDocument.1">
                  <p:embed/>
                  <p:pic>
                    <p:nvPicPr>
                      <p:cNvPr id="15" name="think-cell data - do not delete" hidden="1">
                        <a:extLst>
                          <a:ext uri="{FF2B5EF4-FFF2-40B4-BE49-F238E27FC236}">
                            <a16:creationId xmlns:a16="http://schemas.microsoft.com/office/drawing/2014/main" id="{AA6C5812-3023-C701-AEE9-7A65270CA3C9}"/>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grpSp>
        <p:nvGrpSpPr>
          <p:cNvPr id="8" name="Group 7">
            <a:extLst>
              <a:ext uri="{FF2B5EF4-FFF2-40B4-BE49-F238E27FC236}">
                <a16:creationId xmlns:a16="http://schemas.microsoft.com/office/drawing/2014/main" id="{7382F1F3-B007-C740-30AA-3C65FDEF0190}"/>
              </a:ext>
            </a:extLst>
          </p:cNvPr>
          <p:cNvGrpSpPr/>
          <p:nvPr/>
        </p:nvGrpSpPr>
        <p:grpSpPr>
          <a:xfrm>
            <a:off x="3226634" y="617426"/>
            <a:ext cx="6559677" cy="5467690"/>
            <a:chOff x="2012374" y="2265383"/>
            <a:chExt cx="6559677" cy="1872000"/>
          </a:xfrm>
        </p:grpSpPr>
        <p:cxnSp>
          <p:nvCxnSpPr>
            <p:cNvPr id="9" name="Straight Connector 8">
              <a:extLst>
                <a:ext uri="{FF2B5EF4-FFF2-40B4-BE49-F238E27FC236}">
                  <a16:creationId xmlns:a16="http://schemas.microsoft.com/office/drawing/2014/main" id="{26726258-8809-C64E-DA2C-7FF7F4FB6AF3}"/>
                </a:ext>
              </a:extLst>
            </p:cNvPr>
            <p:cNvCxnSpPr>
              <a:cxnSpLocks/>
            </p:cNvCxnSpPr>
            <p:nvPr/>
          </p:nvCxnSpPr>
          <p:spPr>
            <a:xfrm>
              <a:off x="2012374"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76251B5-9F94-0722-4A09-60DCA0ECEEC1}"/>
                </a:ext>
              </a:extLst>
            </p:cNvPr>
            <p:cNvCxnSpPr>
              <a:cxnSpLocks/>
            </p:cNvCxnSpPr>
            <p:nvPr/>
          </p:nvCxnSpPr>
          <p:spPr>
            <a:xfrm>
              <a:off x="3098425"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5B53763-6A7F-8AFE-59C0-12363B903124}"/>
                </a:ext>
              </a:extLst>
            </p:cNvPr>
            <p:cNvCxnSpPr>
              <a:cxnSpLocks/>
            </p:cNvCxnSpPr>
            <p:nvPr/>
          </p:nvCxnSpPr>
          <p:spPr>
            <a:xfrm>
              <a:off x="4190489"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5E8F743-B152-ABCA-1F55-5A0ACE89FC88}"/>
                </a:ext>
              </a:extLst>
            </p:cNvPr>
            <p:cNvCxnSpPr>
              <a:cxnSpLocks/>
            </p:cNvCxnSpPr>
            <p:nvPr/>
          </p:nvCxnSpPr>
          <p:spPr>
            <a:xfrm>
              <a:off x="5296420"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3A89FD0-C3C6-43B9-161B-22171C501632}"/>
                </a:ext>
              </a:extLst>
            </p:cNvPr>
            <p:cNvCxnSpPr>
              <a:cxnSpLocks/>
            </p:cNvCxnSpPr>
            <p:nvPr/>
          </p:nvCxnSpPr>
          <p:spPr>
            <a:xfrm>
              <a:off x="6375846"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F13B30F-CEF4-2FCB-CCB1-E78D44C616FF}"/>
                </a:ext>
              </a:extLst>
            </p:cNvPr>
            <p:cNvCxnSpPr>
              <a:cxnSpLocks/>
            </p:cNvCxnSpPr>
            <p:nvPr/>
          </p:nvCxnSpPr>
          <p:spPr>
            <a:xfrm>
              <a:off x="7479474"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2C6F420-6550-DD96-5014-F08C5A39CDE5}"/>
                </a:ext>
              </a:extLst>
            </p:cNvPr>
            <p:cNvCxnSpPr>
              <a:cxnSpLocks/>
            </p:cNvCxnSpPr>
            <p:nvPr/>
          </p:nvCxnSpPr>
          <p:spPr>
            <a:xfrm>
              <a:off x="8572051"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0" name="Rectangle 19">
            <a:extLst>
              <a:ext uri="{FF2B5EF4-FFF2-40B4-BE49-F238E27FC236}">
                <a16:creationId xmlns:a16="http://schemas.microsoft.com/office/drawing/2014/main" id="{AB32F919-B5C2-C26B-2338-DC531327F2F7}"/>
              </a:ext>
            </a:extLst>
          </p:cNvPr>
          <p:cNvSpPr/>
          <p:nvPr/>
        </p:nvSpPr>
        <p:spPr>
          <a:xfrm>
            <a:off x="644292" y="1016445"/>
            <a:ext cx="1388629" cy="487696"/>
          </a:xfrm>
          <a:prstGeom prst="rect">
            <a:avLst/>
          </a:prstGeom>
          <a:solidFill>
            <a:schemeClr val="tx2"/>
          </a:solidFill>
          <a:ln w="12700">
            <a:noFill/>
          </a:ln>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ctr"/>
          <a:lstStyle/>
          <a:p>
            <a:pPr algn="ctr"/>
            <a:r>
              <a:rPr lang="en-US" sz="1600" b="1">
                <a:solidFill>
                  <a:schemeClr val="bg1"/>
                </a:solidFill>
              </a:rPr>
              <a:t>BI 1291583</a:t>
            </a:r>
          </a:p>
        </p:txBody>
      </p:sp>
      <p:pic>
        <p:nvPicPr>
          <p:cNvPr id="43" name="Picture 42" descr="A green and yellow logo&#10;&#10;Description automatically generated with low confidence">
            <a:extLst>
              <a:ext uri="{FF2B5EF4-FFF2-40B4-BE49-F238E27FC236}">
                <a16:creationId xmlns:a16="http://schemas.microsoft.com/office/drawing/2014/main" id="{71F62E3B-60AC-CA79-E87E-70CFCB8FA68C}"/>
              </a:ext>
            </a:extLst>
          </p:cNvPr>
          <p:cNvPicPr>
            <a:picLocks noChangeAspect="1"/>
          </p:cNvPicPr>
          <p:nvPr/>
        </p:nvPicPr>
        <p:blipFill rotWithShape="1">
          <a:blip r:embed="rId6"/>
          <a:srcRect t="19534" b="20221"/>
          <a:stretch/>
        </p:blipFill>
        <p:spPr>
          <a:xfrm>
            <a:off x="882651" y="2606740"/>
            <a:ext cx="822315" cy="291631"/>
          </a:xfrm>
          <a:prstGeom prst="rect">
            <a:avLst/>
          </a:prstGeom>
          <a:solidFill>
            <a:schemeClr val="bg1"/>
          </a:solidFill>
          <a:ln>
            <a:solidFill>
              <a:schemeClr val="bg1"/>
            </a:solidFill>
          </a:ln>
        </p:spPr>
      </p:pic>
      <p:pic>
        <p:nvPicPr>
          <p:cNvPr id="45" name="Picture 44">
            <a:extLst>
              <a:ext uri="{FF2B5EF4-FFF2-40B4-BE49-F238E27FC236}">
                <a16:creationId xmlns:a16="http://schemas.microsoft.com/office/drawing/2014/main" id="{E3004FF9-D43D-6535-E2FB-7108DBDF045D}"/>
              </a:ext>
            </a:extLst>
          </p:cNvPr>
          <p:cNvPicPr>
            <a:picLocks noChangeAspect="1"/>
          </p:cNvPicPr>
          <p:nvPr/>
        </p:nvPicPr>
        <p:blipFill>
          <a:blip r:embed="rId7"/>
          <a:stretch>
            <a:fillRect/>
          </a:stretch>
        </p:blipFill>
        <p:spPr>
          <a:xfrm>
            <a:off x="981590" y="3064462"/>
            <a:ext cx="723362" cy="345921"/>
          </a:xfrm>
          <a:prstGeom prst="rect">
            <a:avLst/>
          </a:prstGeom>
          <a:solidFill>
            <a:schemeClr val="bg1"/>
          </a:solidFill>
        </p:spPr>
      </p:pic>
      <p:sp>
        <p:nvSpPr>
          <p:cNvPr id="2" name="Title 1">
            <a:extLst>
              <a:ext uri="{FF2B5EF4-FFF2-40B4-BE49-F238E27FC236}">
                <a16:creationId xmlns:a16="http://schemas.microsoft.com/office/drawing/2014/main" id="{4A3C406C-7B42-19FC-1A85-9F1520C4816E}"/>
              </a:ext>
            </a:extLst>
          </p:cNvPr>
          <p:cNvSpPr>
            <a:spLocks noGrp="1"/>
          </p:cNvSpPr>
          <p:nvPr>
            <p:ph type="title"/>
          </p:nvPr>
        </p:nvSpPr>
        <p:spPr>
          <a:xfrm>
            <a:off x="209885" y="153108"/>
            <a:ext cx="11253203" cy="369079"/>
          </a:xfrm>
        </p:spPr>
        <p:txBody>
          <a:bodyPr vert="horz"/>
          <a:lstStyle/>
          <a:p>
            <a:r>
              <a:rPr lang="en-US">
                <a:solidFill>
                  <a:schemeClr val="tx1"/>
                </a:solidFill>
              </a:rPr>
              <a:t>In-Class Competitor</a:t>
            </a:r>
            <a:r>
              <a:rPr lang="en-US" kern="1200">
                <a:solidFill>
                  <a:schemeClr val="tx1"/>
                </a:solidFill>
                <a:latin typeface="+mj-lt"/>
                <a:ea typeface="+mj-ea"/>
                <a:cs typeface="+mj-cs"/>
              </a:rPr>
              <a:t> landscape in NCFBE/ ‘One’ BE</a:t>
            </a:r>
          </a:p>
        </p:txBody>
      </p:sp>
      <p:sp>
        <p:nvSpPr>
          <p:cNvPr id="2048" name="Diamond 2047">
            <a:extLst>
              <a:ext uri="{FF2B5EF4-FFF2-40B4-BE49-F238E27FC236}">
                <a16:creationId xmlns:a16="http://schemas.microsoft.com/office/drawing/2014/main" id="{DD9B5FA3-8796-0B53-9AAC-FBCCA23F9844}"/>
              </a:ext>
            </a:extLst>
          </p:cNvPr>
          <p:cNvSpPr/>
          <p:nvPr/>
        </p:nvSpPr>
        <p:spPr bwMode="gray">
          <a:xfrm>
            <a:off x="3778989" y="1936154"/>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schemeClr val="bg1"/>
              </a:solidFill>
              <a:latin typeface="Boehringer Forward Text"/>
            </a:endParaRPr>
          </a:p>
        </p:txBody>
      </p:sp>
      <p:sp>
        <p:nvSpPr>
          <p:cNvPr id="2058" name="Diamond 2057">
            <a:extLst>
              <a:ext uri="{FF2B5EF4-FFF2-40B4-BE49-F238E27FC236}">
                <a16:creationId xmlns:a16="http://schemas.microsoft.com/office/drawing/2014/main" id="{4128BFC1-EA2A-1DA5-3D3E-476BD271234B}"/>
              </a:ext>
            </a:extLst>
          </p:cNvPr>
          <p:cNvSpPr/>
          <p:nvPr/>
        </p:nvSpPr>
        <p:spPr bwMode="gray">
          <a:xfrm>
            <a:off x="4630869" y="1936154"/>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schemeClr val="bg1"/>
              </a:solidFill>
              <a:latin typeface="Boehringer Forward Text"/>
            </a:endParaRPr>
          </a:p>
        </p:txBody>
      </p:sp>
      <p:sp>
        <p:nvSpPr>
          <p:cNvPr id="2073" name="Diamond 2072">
            <a:extLst>
              <a:ext uri="{FF2B5EF4-FFF2-40B4-BE49-F238E27FC236}">
                <a16:creationId xmlns:a16="http://schemas.microsoft.com/office/drawing/2014/main" id="{7642B0FA-CF52-BA9F-D4CD-F64E142AE3B3}"/>
              </a:ext>
            </a:extLst>
          </p:cNvPr>
          <p:cNvSpPr/>
          <p:nvPr/>
        </p:nvSpPr>
        <p:spPr bwMode="gray">
          <a:xfrm>
            <a:off x="2563721" y="1936154"/>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schemeClr val="bg1"/>
              </a:solidFill>
              <a:latin typeface="Boehringer Forward Text"/>
            </a:endParaRPr>
          </a:p>
        </p:txBody>
      </p:sp>
      <p:sp>
        <p:nvSpPr>
          <p:cNvPr id="2084" name="Diamond 2083">
            <a:extLst>
              <a:ext uri="{FF2B5EF4-FFF2-40B4-BE49-F238E27FC236}">
                <a16:creationId xmlns:a16="http://schemas.microsoft.com/office/drawing/2014/main" id="{E90D358B-6D2E-7004-D40D-6B05007E9DC1}"/>
              </a:ext>
            </a:extLst>
          </p:cNvPr>
          <p:cNvSpPr/>
          <p:nvPr/>
        </p:nvSpPr>
        <p:spPr bwMode="gray">
          <a:xfrm>
            <a:off x="8445417" y="1096307"/>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61" name="TextBox 2060">
            <a:extLst>
              <a:ext uri="{FF2B5EF4-FFF2-40B4-BE49-F238E27FC236}">
                <a16:creationId xmlns:a16="http://schemas.microsoft.com/office/drawing/2014/main" id="{8A0E0D79-832C-845E-1149-0BE58396CA93}"/>
              </a:ext>
            </a:extLst>
          </p:cNvPr>
          <p:cNvSpPr txBox="1"/>
          <p:nvPr/>
        </p:nvSpPr>
        <p:spPr bwMode="gray">
          <a:xfrm>
            <a:off x="7634969" y="1290371"/>
            <a:ext cx="1768113" cy="246221"/>
          </a:xfrm>
          <a:prstGeom prst="rect">
            <a:avLst/>
          </a:prstGeom>
          <a:noFill/>
        </p:spPr>
        <p:txBody>
          <a:bodyPr wrap="none" lIns="0" tIns="0" rIns="0" bIns="0" rtlCol="0">
            <a:spAutoFit/>
          </a:bodyPr>
          <a:lstStyle/>
          <a:p>
            <a:pPr algn="l"/>
            <a:r>
              <a:rPr lang="en-US" sz="1600" b="1"/>
              <a:t>Launch US</a:t>
            </a:r>
            <a:r>
              <a:rPr lang="en-US" sz="1600" b="1">
                <a:sym typeface="Wingdings" panose="05000000000000000000" pitchFamily="2" charset="2"/>
              </a:rPr>
              <a:t>      CN</a:t>
            </a:r>
            <a:endParaRPr lang="en-US" sz="1600" b="1"/>
          </a:p>
        </p:txBody>
      </p:sp>
      <p:grpSp>
        <p:nvGrpSpPr>
          <p:cNvPr id="2105" name="Group 2104">
            <a:extLst>
              <a:ext uri="{FF2B5EF4-FFF2-40B4-BE49-F238E27FC236}">
                <a16:creationId xmlns:a16="http://schemas.microsoft.com/office/drawing/2014/main" id="{F1D6A21F-22FE-6FF4-A9D0-A1D8A0814510}"/>
              </a:ext>
            </a:extLst>
          </p:cNvPr>
          <p:cNvGrpSpPr/>
          <p:nvPr/>
        </p:nvGrpSpPr>
        <p:grpSpPr>
          <a:xfrm>
            <a:off x="704021" y="1841421"/>
            <a:ext cx="1274871" cy="503321"/>
            <a:chOff x="663896" y="4073506"/>
            <a:chExt cx="665459" cy="262724"/>
          </a:xfrm>
          <a:solidFill>
            <a:schemeClr val="bg1"/>
          </a:solidFill>
        </p:grpSpPr>
        <p:sp>
          <p:nvSpPr>
            <p:cNvPr id="58" name="TextBox 57">
              <a:extLst>
                <a:ext uri="{FF2B5EF4-FFF2-40B4-BE49-F238E27FC236}">
                  <a16:creationId xmlns:a16="http://schemas.microsoft.com/office/drawing/2014/main" id="{9DAFFB7A-F5FC-2BBD-D563-1CF43A5A8604}"/>
                </a:ext>
              </a:extLst>
            </p:cNvPr>
            <p:cNvSpPr txBox="1"/>
            <p:nvPr/>
          </p:nvSpPr>
          <p:spPr>
            <a:xfrm>
              <a:off x="672016" y="4257912"/>
              <a:ext cx="649217" cy="78318"/>
            </a:xfrm>
            <a:prstGeom prst="rect">
              <a:avLst/>
            </a:prstGeom>
            <a:grpFill/>
          </p:spPr>
          <p:txBody>
            <a:bodyPr wrap="square" lIns="0" tIns="0" rIns="0" bIns="0" rtlCol="0">
              <a:spAutoFit/>
            </a:bodyPr>
            <a:lstStyle/>
            <a:p>
              <a:pPr algn="ctr" defTabSz="685783">
                <a:defRPr/>
              </a:pPr>
              <a:r>
                <a:rPr lang="en-US" sz="975">
                  <a:solidFill>
                    <a:srgbClr val="463191"/>
                  </a:solidFill>
                  <a:latin typeface="BISansOpti"/>
                </a:rPr>
                <a:t>Brensocatib</a:t>
              </a:r>
            </a:p>
          </p:txBody>
        </p:sp>
        <p:pic>
          <p:nvPicPr>
            <p:cNvPr id="2081" name="Picture 2080" descr="A picture containing graphics, font, screenshot, graphic design&#10;&#10;Description automatically generated">
              <a:extLst>
                <a:ext uri="{FF2B5EF4-FFF2-40B4-BE49-F238E27FC236}">
                  <a16:creationId xmlns:a16="http://schemas.microsoft.com/office/drawing/2014/main" id="{682425AA-DDFA-1E03-E451-DECBB2AE06B4}"/>
                </a:ext>
              </a:extLst>
            </p:cNvPr>
            <p:cNvPicPr>
              <a:picLocks noChangeAspect="1"/>
            </p:cNvPicPr>
            <p:nvPr/>
          </p:nvPicPr>
          <p:blipFill>
            <a:blip r:embed="rId8"/>
            <a:stretch>
              <a:fillRect/>
            </a:stretch>
          </p:blipFill>
          <p:spPr>
            <a:xfrm>
              <a:off x="663896" y="4073506"/>
              <a:ext cx="665459" cy="192287"/>
            </a:xfrm>
            <a:prstGeom prst="rect">
              <a:avLst/>
            </a:prstGeom>
            <a:grpFill/>
          </p:spPr>
        </p:pic>
      </p:grpSp>
      <p:sp>
        <p:nvSpPr>
          <p:cNvPr id="2092" name="TextBox 2091">
            <a:extLst>
              <a:ext uri="{FF2B5EF4-FFF2-40B4-BE49-F238E27FC236}">
                <a16:creationId xmlns:a16="http://schemas.microsoft.com/office/drawing/2014/main" id="{687A5D01-02FA-EBF7-BA37-7B9CAE619B9D}"/>
              </a:ext>
            </a:extLst>
          </p:cNvPr>
          <p:cNvSpPr txBox="1"/>
          <p:nvPr/>
        </p:nvSpPr>
        <p:spPr bwMode="gray">
          <a:xfrm>
            <a:off x="3277794" y="2105595"/>
            <a:ext cx="2238883" cy="246221"/>
          </a:xfrm>
          <a:prstGeom prst="rect">
            <a:avLst/>
          </a:prstGeom>
          <a:noFill/>
        </p:spPr>
        <p:txBody>
          <a:bodyPr wrap="none" lIns="0" tIns="0" rIns="0" bIns="0" rtlCol="0">
            <a:spAutoFit/>
          </a:bodyPr>
          <a:lstStyle/>
          <a:p>
            <a:r>
              <a:rPr lang="en-US" sz="1600">
                <a:solidFill>
                  <a:schemeClr val="bg1"/>
                </a:solidFill>
              </a:rPr>
              <a:t>Launch US, EU/JP in NCFBE</a:t>
            </a:r>
          </a:p>
        </p:txBody>
      </p:sp>
      <p:sp>
        <p:nvSpPr>
          <p:cNvPr id="2094" name="TextBox 2093">
            <a:extLst>
              <a:ext uri="{FF2B5EF4-FFF2-40B4-BE49-F238E27FC236}">
                <a16:creationId xmlns:a16="http://schemas.microsoft.com/office/drawing/2014/main" id="{3375036D-9C97-ECEF-2D93-C22BA2FF8225}"/>
              </a:ext>
            </a:extLst>
          </p:cNvPr>
          <p:cNvSpPr txBox="1"/>
          <p:nvPr/>
        </p:nvSpPr>
        <p:spPr bwMode="gray">
          <a:xfrm>
            <a:off x="2258852" y="2105595"/>
            <a:ext cx="827534" cy="246221"/>
          </a:xfrm>
          <a:prstGeom prst="rect">
            <a:avLst/>
          </a:prstGeom>
          <a:noFill/>
        </p:spPr>
        <p:txBody>
          <a:bodyPr wrap="none" lIns="0" tIns="0" rIns="0" bIns="0" rtlCol="0">
            <a:spAutoFit/>
          </a:bodyPr>
          <a:lstStyle/>
          <a:p>
            <a:pPr algn="l"/>
            <a:r>
              <a:rPr lang="en-US" sz="1600">
                <a:solidFill>
                  <a:schemeClr val="bg1"/>
                </a:solidFill>
              </a:rPr>
              <a:t>Ph III data</a:t>
            </a:r>
          </a:p>
        </p:txBody>
      </p:sp>
      <p:sp>
        <p:nvSpPr>
          <p:cNvPr id="2095" name="Diamond 2094">
            <a:extLst>
              <a:ext uri="{FF2B5EF4-FFF2-40B4-BE49-F238E27FC236}">
                <a16:creationId xmlns:a16="http://schemas.microsoft.com/office/drawing/2014/main" id="{7BD31B65-061B-4163-3F4E-BE34DF401F7E}"/>
              </a:ext>
            </a:extLst>
          </p:cNvPr>
          <p:cNvSpPr/>
          <p:nvPr/>
        </p:nvSpPr>
        <p:spPr bwMode="gray">
          <a:xfrm>
            <a:off x="2599961" y="2617842"/>
            <a:ext cx="174449" cy="174449"/>
          </a:xfrm>
          <a:prstGeom prst="diamond">
            <a:avLst/>
          </a:prstGeom>
          <a:solidFill>
            <a:schemeClr val="bg1">
              <a:lumMod val="65000"/>
            </a:schemeClr>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96" name="TextBox 2095">
            <a:extLst>
              <a:ext uri="{FF2B5EF4-FFF2-40B4-BE49-F238E27FC236}">
                <a16:creationId xmlns:a16="http://schemas.microsoft.com/office/drawing/2014/main" id="{3025F797-A4C2-6690-4CCD-F786A6BB62F4}"/>
              </a:ext>
            </a:extLst>
          </p:cNvPr>
          <p:cNvSpPr txBox="1"/>
          <p:nvPr/>
        </p:nvSpPr>
        <p:spPr bwMode="gray">
          <a:xfrm>
            <a:off x="2276929" y="2830929"/>
            <a:ext cx="682238" cy="215444"/>
          </a:xfrm>
          <a:prstGeom prst="rect">
            <a:avLst/>
          </a:prstGeom>
          <a:noFill/>
        </p:spPr>
        <p:txBody>
          <a:bodyPr wrap="none" lIns="0" tIns="0" rIns="0" bIns="0" rtlCol="0">
            <a:spAutoFit/>
          </a:bodyPr>
          <a:lstStyle/>
          <a:p>
            <a:pPr algn="l"/>
            <a:r>
              <a:rPr lang="en-US" sz="1400">
                <a:solidFill>
                  <a:schemeClr val="bg1"/>
                </a:solidFill>
              </a:rPr>
              <a:t>Ph II data</a:t>
            </a:r>
          </a:p>
        </p:txBody>
      </p:sp>
      <p:sp>
        <p:nvSpPr>
          <p:cNvPr id="2099" name="Diamond 2098">
            <a:extLst>
              <a:ext uri="{FF2B5EF4-FFF2-40B4-BE49-F238E27FC236}">
                <a16:creationId xmlns:a16="http://schemas.microsoft.com/office/drawing/2014/main" id="{BFFA28F7-9566-2F74-8091-B9B90C7DFD2B}"/>
              </a:ext>
            </a:extLst>
          </p:cNvPr>
          <p:cNvSpPr/>
          <p:nvPr/>
        </p:nvSpPr>
        <p:spPr bwMode="gray">
          <a:xfrm>
            <a:off x="6718340" y="2557554"/>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0" name="TextBox 2099">
            <a:extLst>
              <a:ext uri="{FF2B5EF4-FFF2-40B4-BE49-F238E27FC236}">
                <a16:creationId xmlns:a16="http://schemas.microsoft.com/office/drawing/2014/main" id="{71F51A00-F90E-E6F6-A786-5BBCB9A2281B}"/>
              </a:ext>
            </a:extLst>
          </p:cNvPr>
          <p:cNvSpPr txBox="1"/>
          <p:nvPr/>
        </p:nvSpPr>
        <p:spPr bwMode="gray">
          <a:xfrm>
            <a:off x="6179625" y="2774366"/>
            <a:ext cx="1049967" cy="246221"/>
          </a:xfrm>
          <a:prstGeom prst="rect">
            <a:avLst/>
          </a:prstGeom>
          <a:noFill/>
        </p:spPr>
        <p:txBody>
          <a:bodyPr wrap="square" lIns="0" tIns="0" rIns="0" bIns="0" rtlCol="0">
            <a:spAutoFit/>
          </a:bodyPr>
          <a:lstStyle/>
          <a:p>
            <a:pPr algn="l"/>
            <a:r>
              <a:rPr lang="en-US" sz="1600">
                <a:solidFill>
                  <a:schemeClr val="bg1"/>
                </a:solidFill>
              </a:rPr>
              <a:t>Launch CN</a:t>
            </a:r>
          </a:p>
        </p:txBody>
      </p:sp>
      <p:sp>
        <p:nvSpPr>
          <p:cNvPr id="2101" name="Diamond 2100">
            <a:extLst>
              <a:ext uri="{FF2B5EF4-FFF2-40B4-BE49-F238E27FC236}">
                <a16:creationId xmlns:a16="http://schemas.microsoft.com/office/drawing/2014/main" id="{427421C2-21EF-1465-DDEF-E9EF2B3D3AAF}"/>
              </a:ext>
            </a:extLst>
          </p:cNvPr>
          <p:cNvSpPr/>
          <p:nvPr/>
        </p:nvSpPr>
        <p:spPr bwMode="gray">
          <a:xfrm>
            <a:off x="8445841" y="3171749"/>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2" name="TextBox 2101">
            <a:extLst>
              <a:ext uri="{FF2B5EF4-FFF2-40B4-BE49-F238E27FC236}">
                <a16:creationId xmlns:a16="http://schemas.microsoft.com/office/drawing/2014/main" id="{2EC6C525-AA4A-4A2F-2017-FFD20EC58320}"/>
              </a:ext>
            </a:extLst>
          </p:cNvPr>
          <p:cNvSpPr txBox="1"/>
          <p:nvPr/>
        </p:nvSpPr>
        <p:spPr bwMode="gray">
          <a:xfrm>
            <a:off x="7761900" y="3349142"/>
            <a:ext cx="1488677" cy="246221"/>
          </a:xfrm>
          <a:prstGeom prst="rect">
            <a:avLst/>
          </a:prstGeom>
          <a:noFill/>
        </p:spPr>
        <p:txBody>
          <a:bodyPr wrap="none" lIns="0" tIns="0" rIns="0" bIns="0" rtlCol="0">
            <a:spAutoFit/>
          </a:bodyPr>
          <a:lstStyle/>
          <a:p>
            <a:pPr algn="l"/>
            <a:r>
              <a:rPr lang="en-US" sz="1600">
                <a:solidFill>
                  <a:schemeClr val="bg1"/>
                </a:solidFill>
              </a:rPr>
              <a:t>Launch US, EU/JP </a:t>
            </a:r>
          </a:p>
        </p:txBody>
      </p:sp>
      <p:sp>
        <p:nvSpPr>
          <p:cNvPr id="2103" name="Diamond 2102">
            <a:extLst>
              <a:ext uri="{FF2B5EF4-FFF2-40B4-BE49-F238E27FC236}">
                <a16:creationId xmlns:a16="http://schemas.microsoft.com/office/drawing/2014/main" id="{EF029A77-A0F6-5F5B-807C-7DDECF4B0870}"/>
              </a:ext>
            </a:extLst>
          </p:cNvPr>
          <p:cNvSpPr/>
          <p:nvPr/>
        </p:nvSpPr>
        <p:spPr bwMode="gray">
          <a:xfrm>
            <a:off x="8984806" y="3171749"/>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9" name="Diamond 2108">
            <a:extLst>
              <a:ext uri="{FF2B5EF4-FFF2-40B4-BE49-F238E27FC236}">
                <a16:creationId xmlns:a16="http://schemas.microsoft.com/office/drawing/2014/main" id="{1D75C5D3-6333-A662-0ECD-781B936AF4D8}"/>
              </a:ext>
            </a:extLst>
          </p:cNvPr>
          <p:cNvSpPr/>
          <p:nvPr/>
        </p:nvSpPr>
        <p:spPr bwMode="gray">
          <a:xfrm>
            <a:off x="9104190" y="1096307"/>
            <a:ext cx="153167" cy="153167"/>
          </a:xfrm>
          <a:prstGeom prst="diamond">
            <a:avLst/>
          </a:prstGeom>
          <a:solidFill>
            <a:srgbClr val="FF0000"/>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5" name="Arrow: Pentagon 4">
            <a:extLst>
              <a:ext uri="{FF2B5EF4-FFF2-40B4-BE49-F238E27FC236}">
                <a16:creationId xmlns:a16="http://schemas.microsoft.com/office/drawing/2014/main" id="{F59E32B0-4882-1BAB-3065-3ACBA789750F}"/>
              </a:ext>
            </a:extLst>
          </p:cNvPr>
          <p:cNvSpPr/>
          <p:nvPr/>
        </p:nvSpPr>
        <p:spPr bwMode="gray">
          <a:xfrm>
            <a:off x="3775327" y="1068885"/>
            <a:ext cx="3775599" cy="353672"/>
          </a:xfrm>
          <a:prstGeom prst="homePlate">
            <a:avLst/>
          </a:prstGeom>
          <a:solidFill>
            <a:srgbClr val="05F28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III: AIRTIVITY® (‘One’ BE)</a:t>
            </a:r>
          </a:p>
        </p:txBody>
      </p:sp>
      <p:cxnSp>
        <p:nvCxnSpPr>
          <p:cNvPr id="54" name="Connector: Elbow 53">
            <a:extLst>
              <a:ext uri="{FF2B5EF4-FFF2-40B4-BE49-F238E27FC236}">
                <a16:creationId xmlns:a16="http://schemas.microsoft.com/office/drawing/2014/main" id="{673C9274-A8A3-B974-55BC-8431B9319EFC}"/>
              </a:ext>
            </a:extLst>
          </p:cNvPr>
          <p:cNvCxnSpPr>
            <a:cxnSpLocks/>
          </p:cNvCxnSpPr>
          <p:nvPr/>
        </p:nvCxnSpPr>
        <p:spPr bwMode="gray">
          <a:xfrm rot="5400000" flipH="1" flipV="1">
            <a:off x="5850767" y="-735079"/>
            <a:ext cx="686680" cy="4655787"/>
          </a:xfrm>
          <a:prstGeom prst="bentConnector3">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AF98EC77-BECF-C192-E874-97CA1330B1F5}"/>
              </a:ext>
            </a:extLst>
          </p:cNvPr>
          <p:cNvSpPr txBox="1"/>
          <p:nvPr/>
        </p:nvSpPr>
        <p:spPr bwMode="gray">
          <a:xfrm>
            <a:off x="5123356" y="1846754"/>
            <a:ext cx="1127629" cy="184666"/>
          </a:xfrm>
          <a:prstGeom prst="rect">
            <a:avLst/>
          </a:prstGeom>
          <a:noFill/>
        </p:spPr>
        <p:txBody>
          <a:bodyPr wrap="square" lIns="0" tIns="0" rIns="0" bIns="0" rtlCol="0">
            <a:spAutoFit/>
          </a:bodyPr>
          <a:lstStyle/>
          <a:p>
            <a:pPr algn="l"/>
            <a:r>
              <a:rPr lang="en-US" sz="1200">
                <a:solidFill>
                  <a:schemeClr val="bg1"/>
                </a:solidFill>
              </a:rPr>
              <a:t>~4.5 years gap</a:t>
            </a:r>
          </a:p>
        </p:txBody>
      </p:sp>
      <p:cxnSp>
        <p:nvCxnSpPr>
          <p:cNvPr id="61" name="Straight Connector 60">
            <a:extLst>
              <a:ext uri="{FF2B5EF4-FFF2-40B4-BE49-F238E27FC236}">
                <a16:creationId xmlns:a16="http://schemas.microsoft.com/office/drawing/2014/main" id="{1805A010-B8DC-5FE9-FF8D-1E165CFE992F}"/>
              </a:ext>
            </a:extLst>
          </p:cNvPr>
          <p:cNvCxnSpPr>
            <a:cxnSpLocks/>
          </p:cNvCxnSpPr>
          <p:nvPr/>
        </p:nvCxnSpPr>
        <p:spPr bwMode="gray">
          <a:xfrm flipH="1" flipV="1">
            <a:off x="5074382" y="1986989"/>
            <a:ext cx="11065" cy="1922275"/>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51" name="TextBox 2050">
            <a:extLst>
              <a:ext uri="{FF2B5EF4-FFF2-40B4-BE49-F238E27FC236}">
                <a16:creationId xmlns:a16="http://schemas.microsoft.com/office/drawing/2014/main" id="{493501FE-4218-06F6-30D2-46CE65E564B6}"/>
              </a:ext>
            </a:extLst>
          </p:cNvPr>
          <p:cNvSpPr txBox="1"/>
          <p:nvPr/>
        </p:nvSpPr>
        <p:spPr bwMode="gray">
          <a:xfrm>
            <a:off x="8799065" y="2550565"/>
            <a:ext cx="1166251" cy="369332"/>
          </a:xfrm>
          <a:prstGeom prst="rect">
            <a:avLst/>
          </a:prstGeom>
          <a:noFill/>
        </p:spPr>
        <p:txBody>
          <a:bodyPr wrap="square" lIns="0" tIns="0" rIns="0" bIns="0" rtlCol="0">
            <a:spAutoFit/>
          </a:bodyPr>
          <a:lstStyle/>
          <a:p>
            <a:pPr algn="l"/>
            <a:r>
              <a:rPr lang="en-US" sz="1200">
                <a:solidFill>
                  <a:schemeClr val="bg1"/>
                </a:solidFill>
              </a:rPr>
              <a:t>Similar time of entry</a:t>
            </a:r>
          </a:p>
        </p:txBody>
      </p:sp>
      <p:sp>
        <p:nvSpPr>
          <p:cNvPr id="2072" name="Arrow: Pentagon 2071">
            <a:extLst>
              <a:ext uri="{FF2B5EF4-FFF2-40B4-BE49-F238E27FC236}">
                <a16:creationId xmlns:a16="http://schemas.microsoft.com/office/drawing/2014/main" id="{0D5BAF44-9C2F-20FB-59B7-094959D5859A}"/>
              </a:ext>
            </a:extLst>
          </p:cNvPr>
          <p:cNvSpPr/>
          <p:nvPr/>
        </p:nvSpPr>
        <p:spPr bwMode="gray">
          <a:xfrm>
            <a:off x="3390351" y="3132738"/>
            <a:ext cx="4171909" cy="339511"/>
          </a:xfrm>
          <a:prstGeom prst="homePlate">
            <a:avLst/>
          </a:prstGeom>
          <a:solidFill>
            <a:srgbClr val="BBBBBB"/>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IIb/ III: outside China – </a:t>
            </a:r>
            <a:r>
              <a:rPr lang="en-US" sz="1400" b="1" err="1">
                <a:solidFill>
                  <a:schemeClr val="tx1"/>
                </a:solidFill>
                <a:latin typeface="Boehringer Forward Text"/>
              </a:rPr>
              <a:t>tbd</a:t>
            </a:r>
            <a:r>
              <a:rPr lang="en-US" sz="1400" b="1">
                <a:solidFill>
                  <a:schemeClr val="tx1"/>
                </a:solidFill>
                <a:latin typeface="Boehringer Forward Text"/>
              </a:rPr>
              <a:t>*</a:t>
            </a:r>
          </a:p>
        </p:txBody>
      </p:sp>
      <p:sp>
        <p:nvSpPr>
          <p:cNvPr id="2074" name="Arrow: Pentagon 2073">
            <a:extLst>
              <a:ext uri="{FF2B5EF4-FFF2-40B4-BE49-F238E27FC236}">
                <a16:creationId xmlns:a16="http://schemas.microsoft.com/office/drawing/2014/main" id="{FA27485F-DC3F-04BA-0990-23547912E26C}"/>
              </a:ext>
            </a:extLst>
          </p:cNvPr>
          <p:cNvSpPr/>
          <p:nvPr/>
        </p:nvSpPr>
        <p:spPr bwMode="gray">
          <a:xfrm>
            <a:off x="3062917" y="2602899"/>
            <a:ext cx="2273680" cy="353672"/>
          </a:xfrm>
          <a:prstGeom prst="homePlat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III: China only</a:t>
            </a:r>
          </a:p>
        </p:txBody>
      </p:sp>
      <p:cxnSp>
        <p:nvCxnSpPr>
          <p:cNvPr id="2077" name="Connector: Elbow 2076">
            <a:extLst>
              <a:ext uri="{FF2B5EF4-FFF2-40B4-BE49-F238E27FC236}">
                <a16:creationId xmlns:a16="http://schemas.microsoft.com/office/drawing/2014/main" id="{D1BBBC87-5427-F597-050E-E5EE803226E7}"/>
              </a:ext>
            </a:extLst>
          </p:cNvPr>
          <p:cNvCxnSpPr>
            <a:cxnSpLocks/>
          </p:cNvCxnSpPr>
          <p:nvPr/>
        </p:nvCxnSpPr>
        <p:spPr bwMode="gray">
          <a:xfrm>
            <a:off x="2664537" y="2803719"/>
            <a:ext cx="725813" cy="498775"/>
          </a:xfrm>
          <a:prstGeom prst="bentConnector3">
            <a:avLst>
              <a:gd name="adj1" fmla="val -1224"/>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38BF9E8-8464-20D2-29B5-9E4E1C7F43DE}"/>
              </a:ext>
            </a:extLst>
          </p:cNvPr>
          <p:cNvSpPr txBox="1"/>
          <p:nvPr/>
        </p:nvSpPr>
        <p:spPr bwMode="gray">
          <a:xfrm>
            <a:off x="9355187" y="6198775"/>
            <a:ext cx="2637990" cy="205121"/>
          </a:xfrm>
          <a:prstGeom prst="rect">
            <a:avLst/>
          </a:prstGeom>
          <a:noFill/>
        </p:spPr>
        <p:txBody>
          <a:bodyPr wrap="square" lIns="0" tIns="0" rIns="0" bIns="0" rtlCol="0" anchor="t">
            <a:spAutoFit/>
          </a:bodyPr>
          <a:lstStyle/>
          <a:p>
            <a:r>
              <a:rPr lang="en-US" sz="1300" baseline="30000"/>
              <a:t>* Little knowledge about this program currently</a:t>
            </a:r>
            <a:endParaRPr lang="en-US" sz="1333"/>
          </a:p>
        </p:txBody>
      </p:sp>
      <p:grpSp>
        <p:nvGrpSpPr>
          <p:cNvPr id="28" name="Group 27">
            <a:extLst>
              <a:ext uri="{FF2B5EF4-FFF2-40B4-BE49-F238E27FC236}">
                <a16:creationId xmlns:a16="http://schemas.microsoft.com/office/drawing/2014/main" id="{09424EC0-B1C7-CE83-8FB9-1D443B8B0665}"/>
              </a:ext>
            </a:extLst>
          </p:cNvPr>
          <p:cNvGrpSpPr/>
          <p:nvPr/>
        </p:nvGrpSpPr>
        <p:grpSpPr>
          <a:xfrm>
            <a:off x="2144542" y="613371"/>
            <a:ext cx="8818167" cy="296383"/>
            <a:chOff x="2365596" y="1575621"/>
            <a:chExt cx="8818167" cy="296383"/>
          </a:xfrm>
        </p:grpSpPr>
        <p:grpSp>
          <p:nvGrpSpPr>
            <p:cNvPr id="23" name="Group 22">
              <a:extLst>
                <a:ext uri="{FF2B5EF4-FFF2-40B4-BE49-F238E27FC236}">
                  <a16:creationId xmlns:a16="http://schemas.microsoft.com/office/drawing/2014/main" id="{E7895814-932C-50DA-D17C-2DA5F546B0EC}"/>
                </a:ext>
              </a:extLst>
            </p:cNvPr>
            <p:cNvGrpSpPr/>
            <p:nvPr/>
          </p:nvGrpSpPr>
          <p:grpSpPr>
            <a:xfrm>
              <a:off x="3460279" y="1575621"/>
              <a:ext cx="7723484" cy="287323"/>
              <a:chOff x="2922944" y="2061784"/>
              <a:chExt cx="7723484" cy="287323"/>
            </a:xfrm>
          </p:grpSpPr>
          <p:sp>
            <p:nvSpPr>
              <p:cNvPr id="25" name="Arrow: Chevron 24">
                <a:extLst>
                  <a:ext uri="{FF2B5EF4-FFF2-40B4-BE49-F238E27FC236}">
                    <a16:creationId xmlns:a16="http://schemas.microsoft.com/office/drawing/2014/main" id="{BF960E2F-1315-F4E6-9A24-5A8C22710081}"/>
                  </a:ext>
                </a:extLst>
              </p:cNvPr>
              <p:cNvSpPr/>
              <p:nvPr/>
            </p:nvSpPr>
            <p:spPr>
              <a:xfrm>
                <a:off x="2922944" y="2061784"/>
                <a:ext cx="1166612" cy="287323"/>
              </a:xfrm>
              <a:prstGeom prst="chevron">
                <a:avLst/>
              </a:prstGeom>
              <a:solidFill>
                <a:schemeClr val="accent2">
                  <a:lumMod val="50000"/>
                </a:schemeClr>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2025</a:t>
                </a:r>
              </a:p>
            </p:txBody>
          </p:sp>
          <p:sp>
            <p:nvSpPr>
              <p:cNvPr id="26" name="Arrow: Chevron 25">
                <a:extLst>
                  <a:ext uri="{FF2B5EF4-FFF2-40B4-BE49-F238E27FC236}">
                    <a16:creationId xmlns:a16="http://schemas.microsoft.com/office/drawing/2014/main" id="{0FA52D35-CBC0-3FE0-E3A6-AB5E058DFB3A}"/>
                  </a:ext>
                </a:extLst>
              </p:cNvPr>
              <p:cNvSpPr/>
              <p:nvPr/>
            </p:nvSpPr>
            <p:spPr>
              <a:xfrm>
                <a:off x="4017625"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2026</a:t>
                </a:r>
              </a:p>
            </p:txBody>
          </p:sp>
          <p:sp>
            <p:nvSpPr>
              <p:cNvPr id="33" name="Arrow: Chevron 32">
                <a:extLst>
                  <a:ext uri="{FF2B5EF4-FFF2-40B4-BE49-F238E27FC236}">
                    <a16:creationId xmlns:a16="http://schemas.microsoft.com/office/drawing/2014/main" id="{96BDE30D-078E-D935-7EAE-E2849AE7253E}"/>
                  </a:ext>
                </a:extLst>
              </p:cNvPr>
              <p:cNvSpPr/>
              <p:nvPr/>
            </p:nvSpPr>
            <p:spPr>
              <a:xfrm>
                <a:off x="5112306"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2027</a:t>
                </a:r>
              </a:p>
            </p:txBody>
          </p:sp>
          <p:sp>
            <p:nvSpPr>
              <p:cNvPr id="35" name="Arrow: Chevron 34">
                <a:extLst>
                  <a:ext uri="{FF2B5EF4-FFF2-40B4-BE49-F238E27FC236}">
                    <a16:creationId xmlns:a16="http://schemas.microsoft.com/office/drawing/2014/main" id="{B8F26F3D-A57C-4079-E5AC-6D2E8861B211}"/>
                  </a:ext>
                </a:extLst>
              </p:cNvPr>
              <p:cNvSpPr/>
              <p:nvPr/>
            </p:nvSpPr>
            <p:spPr>
              <a:xfrm>
                <a:off x="6206989"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2028</a:t>
                </a:r>
              </a:p>
            </p:txBody>
          </p:sp>
          <p:sp>
            <p:nvSpPr>
              <p:cNvPr id="37" name="Arrow: Chevron 36">
                <a:extLst>
                  <a:ext uri="{FF2B5EF4-FFF2-40B4-BE49-F238E27FC236}">
                    <a16:creationId xmlns:a16="http://schemas.microsoft.com/office/drawing/2014/main" id="{4FCFCA70-C7C8-7438-47BA-1649F0FC1BF7}"/>
                  </a:ext>
                </a:extLst>
              </p:cNvPr>
              <p:cNvSpPr/>
              <p:nvPr/>
            </p:nvSpPr>
            <p:spPr>
              <a:xfrm>
                <a:off x="7301672"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2029</a:t>
                </a:r>
              </a:p>
            </p:txBody>
          </p:sp>
          <p:sp>
            <p:nvSpPr>
              <p:cNvPr id="38" name="Arrow: Chevron 37">
                <a:extLst>
                  <a:ext uri="{FF2B5EF4-FFF2-40B4-BE49-F238E27FC236}">
                    <a16:creationId xmlns:a16="http://schemas.microsoft.com/office/drawing/2014/main" id="{3D3FF99C-677F-AD92-9571-40113BB4350A}"/>
                  </a:ext>
                </a:extLst>
              </p:cNvPr>
              <p:cNvSpPr/>
              <p:nvPr/>
            </p:nvSpPr>
            <p:spPr>
              <a:xfrm>
                <a:off x="8385268"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2030</a:t>
                </a:r>
              </a:p>
            </p:txBody>
          </p:sp>
          <p:sp>
            <p:nvSpPr>
              <p:cNvPr id="39" name="Arrow: Chevron 38">
                <a:extLst>
                  <a:ext uri="{FF2B5EF4-FFF2-40B4-BE49-F238E27FC236}">
                    <a16:creationId xmlns:a16="http://schemas.microsoft.com/office/drawing/2014/main" id="{4B214F9C-E6EB-E980-9056-F595CB8C8DF8}"/>
                  </a:ext>
                </a:extLst>
              </p:cNvPr>
              <p:cNvSpPr/>
              <p:nvPr/>
            </p:nvSpPr>
            <p:spPr>
              <a:xfrm>
                <a:off x="9479816"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2031</a:t>
                </a:r>
              </a:p>
            </p:txBody>
          </p:sp>
        </p:grpSp>
        <p:sp>
          <p:nvSpPr>
            <p:cNvPr id="27" name="Arrow: Pentagon 26">
              <a:extLst>
                <a:ext uri="{FF2B5EF4-FFF2-40B4-BE49-F238E27FC236}">
                  <a16:creationId xmlns:a16="http://schemas.microsoft.com/office/drawing/2014/main" id="{3FDAABDF-FC99-1B3E-DC1F-A8AAF25F5767}"/>
                </a:ext>
              </a:extLst>
            </p:cNvPr>
            <p:cNvSpPr/>
            <p:nvPr/>
          </p:nvSpPr>
          <p:spPr bwMode="gray">
            <a:xfrm>
              <a:off x="2365596" y="1579676"/>
              <a:ext cx="1166612" cy="292328"/>
            </a:xfrm>
            <a:prstGeom prst="homePlate">
              <a:avLst/>
            </a:prstGeom>
            <a:solidFill>
              <a:schemeClr val="bg2"/>
            </a:solidFill>
            <a:ln>
              <a:noFill/>
            </a:ln>
            <a:effectLst/>
          </p:spPr>
          <p:txBody>
            <a:bodyPr rtlCol="0" anchor="ctr"/>
            <a:lstStyle/>
            <a:p>
              <a:pPr algn="ctr" defTabSz="1219108"/>
              <a:r>
                <a:rPr lang="en-US" sz="1600" kern="0">
                  <a:solidFill>
                    <a:schemeClr val="bg1"/>
                  </a:solidFill>
                  <a:latin typeface="BISansOpti" panose="02000503040000020004" pitchFamily="2" charset="0"/>
                  <a:cs typeface="Calibri" panose="020F0502020204030204" pitchFamily="34" charset="0"/>
                </a:rPr>
                <a:t>2024</a:t>
              </a:r>
            </a:p>
          </p:txBody>
        </p:sp>
      </p:grpSp>
      <p:cxnSp>
        <p:nvCxnSpPr>
          <p:cNvPr id="49" name="Connector: Elbow 48">
            <a:extLst>
              <a:ext uri="{FF2B5EF4-FFF2-40B4-BE49-F238E27FC236}">
                <a16:creationId xmlns:a16="http://schemas.microsoft.com/office/drawing/2014/main" id="{32BA3C61-A9F7-4D8B-ACEC-0629032AAB3F}"/>
              </a:ext>
            </a:extLst>
          </p:cNvPr>
          <p:cNvCxnSpPr>
            <a:cxnSpLocks/>
          </p:cNvCxnSpPr>
          <p:nvPr/>
        </p:nvCxnSpPr>
        <p:spPr bwMode="gray">
          <a:xfrm rot="5400000" flipH="1" flipV="1">
            <a:off x="7339129" y="715910"/>
            <a:ext cx="1308080" cy="2375209"/>
          </a:xfrm>
          <a:prstGeom prst="bentConnector3">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3584E1D-14A8-47F0-C857-1797E98092F8}"/>
              </a:ext>
            </a:extLst>
          </p:cNvPr>
          <p:cNvSpPr txBox="1"/>
          <p:nvPr/>
        </p:nvSpPr>
        <p:spPr bwMode="gray">
          <a:xfrm>
            <a:off x="7293107" y="1802323"/>
            <a:ext cx="1251167" cy="184666"/>
          </a:xfrm>
          <a:prstGeom prst="rect">
            <a:avLst/>
          </a:prstGeom>
          <a:noFill/>
        </p:spPr>
        <p:txBody>
          <a:bodyPr wrap="square" lIns="0" tIns="0" rIns="0" bIns="0" rtlCol="0">
            <a:spAutoFit/>
          </a:bodyPr>
          <a:lstStyle/>
          <a:p>
            <a:pPr algn="l"/>
            <a:r>
              <a:rPr lang="en-US" sz="1200">
                <a:solidFill>
                  <a:schemeClr val="bg1"/>
                </a:solidFill>
              </a:rPr>
              <a:t>~2 years gap</a:t>
            </a:r>
          </a:p>
        </p:txBody>
      </p:sp>
      <p:sp>
        <p:nvSpPr>
          <p:cNvPr id="4" name="Arrow: Pentagon 3">
            <a:extLst>
              <a:ext uri="{FF2B5EF4-FFF2-40B4-BE49-F238E27FC236}">
                <a16:creationId xmlns:a16="http://schemas.microsoft.com/office/drawing/2014/main" id="{4887483B-0005-0B72-49F1-169E167170FE}"/>
              </a:ext>
            </a:extLst>
          </p:cNvPr>
          <p:cNvSpPr/>
          <p:nvPr/>
        </p:nvSpPr>
        <p:spPr bwMode="gray">
          <a:xfrm>
            <a:off x="3679870" y="3890958"/>
            <a:ext cx="1898915" cy="339511"/>
          </a:xfrm>
          <a:prstGeom prst="homePlate">
            <a:avLst/>
          </a:prstGeom>
          <a:solidFill>
            <a:schemeClr val="bg1"/>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a:t>
            </a:r>
            <a:r>
              <a:rPr lang="en-US" altLang="zh-CN" sz="1400" b="1">
                <a:solidFill>
                  <a:schemeClr val="tx1"/>
                </a:solidFill>
                <a:latin typeface="Boehringer Forward Text"/>
              </a:rPr>
              <a:t>II China</a:t>
            </a:r>
            <a:endParaRPr lang="en-US" sz="1400" b="1">
              <a:solidFill>
                <a:schemeClr val="tx1"/>
              </a:solidFill>
              <a:latin typeface="Boehringer Forward Text"/>
            </a:endParaRPr>
          </a:p>
        </p:txBody>
      </p:sp>
      <p:pic>
        <p:nvPicPr>
          <p:cNvPr id="11" name="Picture 10">
            <a:extLst>
              <a:ext uri="{FF2B5EF4-FFF2-40B4-BE49-F238E27FC236}">
                <a16:creationId xmlns:a16="http://schemas.microsoft.com/office/drawing/2014/main" id="{078E6B71-C27A-B89D-7121-CD0D955EDB44}"/>
              </a:ext>
            </a:extLst>
          </p:cNvPr>
          <p:cNvPicPr>
            <a:picLocks noChangeAspect="1"/>
          </p:cNvPicPr>
          <p:nvPr/>
        </p:nvPicPr>
        <p:blipFill>
          <a:blip r:embed="rId9"/>
          <a:stretch>
            <a:fillRect/>
          </a:stretch>
        </p:blipFill>
        <p:spPr>
          <a:xfrm>
            <a:off x="783601" y="3880041"/>
            <a:ext cx="1185637" cy="307380"/>
          </a:xfrm>
          <a:prstGeom prst="rect">
            <a:avLst/>
          </a:prstGeom>
          <a:solidFill>
            <a:schemeClr val="bg1"/>
          </a:solidFill>
          <a:ln>
            <a:solidFill>
              <a:schemeClr val="bg1"/>
            </a:solidFill>
          </a:ln>
        </p:spPr>
      </p:pic>
      <p:pic>
        <p:nvPicPr>
          <p:cNvPr id="17" name="Picture 16">
            <a:extLst>
              <a:ext uri="{FF2B5EF4-FFF2-40B4-BE49-F238E27FC236}">
                <a16:creationId xmlns:a16="http://schemas.microsoft.com/office/drawing/2014/main" id="{FBCC79B5-ECA4-7717-B3B7-09BE3AEAB519}"/>
              </a:ext>
            </a:extLst>
          </p:cNvPr>
          <p:cNvPicPr>
            <a:picLocks noChangeAspect="1"/>
          </p:cNvPicPr>
          <p:nvPr/>
        </p:nvPicPr>
        <p:blipFill>
          <a:blip r:embed="rId10"/>
          <a:stretch>
            <a:fillRect/>
          </a:stretch>
        </p:blipFill>
        <p:spPr>
          <a:xfrm>
            <a:off x="996206" y="4394136"/>
            <a:ext cx="722913" cy="423479"/>
          </a:xfrm>
          <a:prstGeom prst="rect">
            <a:avLst/>
          </a:prstGeom>
          <a:solidFill>
            <a:schemeClr val="bg1"/>
          </a:solidFill>
          <a:ln>
            <a:solidFill>
              <a:schemeClr val="bg1"/>
            </a:solidFill>
          </a:ln>
        </p:spPr>
      </p:pic>
      <p:sp>
        <p:nvSpPr>
          <p:cNvPr id="36" name="Arrow: Pentagon 35">
            <a:extLst>
              <a:ext uri="{FF2B5EF4-FFF2-40B4-BE49-F238E27FC236}">
                <a16:creationId xmlns:a16="http://schemas.microsoft.com/office/drawing/2014/main" id="{B38EB6FF-D41B-346F-0814-0F88513618E1}"/>
              </a:ext>
            </a:extLst>
          </p:cNvPr>
          <p:cNvSpPr/>
          <p:nvPr/>
        </p:nvSpPr>
        <p:spPr bwMode="gray">
          <a:xfrm>
            <a:off x="4747892" y="4575295"/>
            <a:ext cx="2803033" cy="339511"/>
          </a:xfrm>
          <a:prstGeom prst="homePlate">
            <a:avLst/>
          </a:prstGeom>
          <a:solidFill>
            <a:schemeClr val="bg1"/>
          </a:solidFill>
          <a:ln w="19050">
            <a:solidFill>
              <a:srgbClr val="213F8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a:t>
            </a:r>
            <a:r>
              <a:rPr lang="en-US" altLang="zh-CN" sz="1400" b="1">
                <a:solidFill>
                  <a:schemeClr val="tx1"/>
                </a:solidFill>
                <a:latin typeface="Boehringer Forward Text"/>
              </a:rPr>
              <a:t>II outside China – tbd*</a:t>
            </a:r>
            <a:endParaRPr lang="en-US" sz="1400" b="1">
              <a:solidFill>
                <a:schemeClr val="tx1"/>
              </a:solidFill>
              <a:latin typeface="Boehringer Forward Text"/>
            </a:endParaRPr>
          </a:p>
        </p:txBody>
      </p:sp>
      <p:sp>
        <p:nvSpPr>
          <p:cNvPr id="40" name="Arrow: Pentagon 39">
            <a:extLst>
              <a:ext uri="{FF2B5EF4-FFF2-40B4-BE49-F238E27FC236}">
                <a16:creationId xmlns:a16="http://schemas.microsoft.com/office/drawing/2014/main" id="{9BA12191-00AC-5341-2C5B-6C059476C245}"/>
              </a:ext>
            </a:extLst>
          </p:cNvPr>
          <p:cNvSpPr/>
          <p:nvPr/>
        </p:nvSpPr>
        <p:spPr bwMode="gray">
          <a:xfrm>
            <a:off x="6017875" y="3932098"/>
            <a:ext cx="2454051" cy="279508"/>
          </a:xfrm>
          <a:prstGeom prst="homePlate">
            <a:avLst/>
          </a:prstGeom>
          <a:solidFill>
            <a:schemeClr val="bg1"/>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a:t>
            </a:r>
            <a:r>
              <a:rPr lang="en-US" altLang="zh-CN" sz="1400" b="1">
                <a:solidFill>
                  <a:schemeClr val="tx1"/>
                </a:solidFill>
                <a:latin typeface="Boehringer Forward Text"/>
              </a:rPr>
              <a:t>III China - timeline tbd</a:t>
            </a:r>
            <a:endParaRPr lang="en-US" sz="1400" b="1">
              <a:solidFill>
                <a:schemeClr val="tx1"/>
              </a:solidFill>
              <a:latin typeface="Boehringer Forward Text"/>
            </a:endParaRPr>
          </a:p>
        </p:txBody>
      </p:sp>
      <p:sp>
        <p:nvSpPr>
          <p:cNvPr id="41" name="TextBox 40">
            <a:extLst>
              <a:ext uri="{FF2B5EF4-FFF2-40B4-BE49-F238E27FC236}">
                <a16:creationId xmlns:a16="http://schemas.microsoft.com/office/drawing/2014/main" id="{1E312445-AF6B-1DDC-D74D-8FCA017B3BE2}"/>
              </a:ext>
            </a:extLst>
          </p:cNvPr>
          <p:cNvSpPr txBox="1"/>
          <p:nvPr/>
        </p:nvSpPr>
        <p:spPr>
          <a:xfrm>
            <a:off x="1716202" y="4428520"/>
            <a:ext cx="1171505" cy="400110"/>
          </a:xfrm>
          <a:prstGeom prst="rect">
            <a:avLst/>
          </a:prstGeom>
          <a:noFill/>
        </p:spPr>
        <p:txBody>
          <a:bodyPr wrap="square" rtlCol="0">
            <a:spAutoFit/>
          </a:bodyPr>
          <a:lstStyle/>
          <a:p>
            <a:r>
              <a:rPr lang="en-US" sz="1000" b="1">
                <a:solidFill>
                  <a:schemeClr val="bg1"/>
                </a:solidFill>
                <a:hlinkClick r:id="rId11">
                  <a:extLst>
                    <a:ext uri="{A12FA001-AC4F-418D-AE19-62706E023703}">
                      <ahyp:hlinkClr xmlns:ahyp="http://schemas.microsoft.com/office/drawing/2018/hyperlinkcolor" val="tx"/>
                    </a:ext>
                  </a:extLst>
                </a:hlinkClick>
              </a:rPr>
              <a:t>Licensed out</a:t>
            </a:r>
            <a:endParaRPr lang="en-US" sz="1000" b="1">
              <a:solidFill>
                <a:schemeClr val="bg1"/>
              </a:solidFill>
            </a:endParaRPr>
          </a:p>
          <a:p>
            <a:r>
              <a:rPr lang="en-US" sz="1000">
                <a:solidFill>
                  <a:schemeClr val="bg1"/>
                </a:solidFill>
              </a:rPr>
              <a:t>Aug 11, 2025</a:t>
            </a:r>
          </a:p>
        </p:txBody>
      </p:sp>
      <p:sp>
        <p:nvSpPr>
          <p:cNvPr id="42" name="TextBox 41">
            <a:extLst>
              <a:ext uri="{FF2B5EF4-FFF2-40B4-BE49-F238E27FC236}">
                <a16:creationId xmlns:a16="http://schemas.microsoft.com/office/drawing/2014/main" id="{14E5637A-846D-638C-ABB0-BB9389C220E4}"/>
              </a:ext>
            </a:extLst>
          </p:cNvPr>
          <p:cNvSpPr txBox="1"/>
          <p:nvPr/>
        </p:nvSpPr>
        <p:spPr>
          <a:xfrm>
            <a:off x="821632" y="2837135"/>
            <a:ext cx="1392203" cy="276999"/>
          </a:xfrm>
          <a:prstGeom prst="rect">
            <a:avLst/>
          </a:prstGeom>
          <a:noFill/>
        </p:spPr>
        <p:txBody>
          <a:bodyPr wrap="square" rtlCol="0">
            <a:spAutoFit/>
          </a:bodyPr>
          <a:lstStyle/>
          <a:p>
            <a:r>
              <a:rPr lang="en-US" sz="1200">
                <a:solidFill>
                  <a:schemeClr val="bg1"/>
                </a:solidFill>
              </a:rPr>
              <a:t>HSK31858</a:t>
            </a:r>
          </a:p>
        </p:txBody>
      </p:sp>
      <p:sp>
        <p:nvSpPr>
          <p:cNvPr id="46" name="TextBox 45">
            <a:extLst>
              <a:ext uri="{FF2B5EF4-FFF2-40B4-BE49-F238E27FC236}">
                <a16:creationId xmlns:a16="http://schemas.microsoft.com/office/drawing/2014/main" id="{0AA58D16-E454-3463-79C2-8F452CDDBE90}"/>
              </a:ext>
            </a:extLst>
          </p:cNvPr>
          <p:cNvSpPr txBox="1"/>
          <p:nvPr/>
        </p:nvSpPr>
        <p:spPr>
          <a:xfrm>
            <a:off x="883754" y="4144242"/>
            <a:ext cx="1046733" cy="276999"/>
          </a:xfrm>
          <a:prstGeom prst="rect">
            <a:avLst/>
          </a:prstGeom>
          <a:noFill/>
        </p:spPr>
        <p:txBody>
          <a:bodyPr wrap="square" rtlCol="0">
            <a:spAutoFit/>
          </a:bodyPr>
          <a:lstStyle/>
          <a:p>
            <a:r>
              <a:rPr lang="en-US" sz="1200">
                <a:solidFill>
                  <a:schemeClr val="bg1"/>
                </a:solidFill>
              </a:rPr>
              <a:t>XH-S004</a:t>
            </a:r>
          </a:p>
        </p:txBody>
      </p:sp>
      <p:sp>
        <p:nvSpPr>
          <p:cNvPr id="47" name="Arrow: Pentagon 46">
            <a:extLst>
              <a:ext uri="{FF2B5EF4-FFF2-40B4-BE49-F238E27FC236}">
                <a16:creationId xmlns:a16="http://schemas.microsoft.com/office/drawing/2014/main" id="{69809DCE-57A3-1ECE-DAF0-8B3A25A92611}"/>
              </a:ext>
            </a:extLst>
          </p:cNvPr>
          <p:cNvSpPr/>
          <p:nvPr/>
        </p:nvSpPr>
        <p:spPr bwMode="gray">
          <a:xfrm>
            <a:off x="7550925" y="4575294"/>
            <a:ext cx="4334959" cy="339511"/>
          </a:xfrm>
          <a:prstGeom prst="homePlate">
            <a:avLst/>
          </a:prstGeom>
          <a:solidFill>
            <a:schemeClr val="bg1"/>
          </a:solidFill>
          <a:ln w="19050">
            <a:solidFill>
              <a:srgbClr val="213F8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a:t>
            </a:r>
            <a:r>
              <a:rPr lang="en-US" altLang="zh-CN" sz="1400" b="1">
                <a:solidFill>
                  <a:schemeClr val="tx1"/>
                </a:solidFill>
                <a:latin typeface="Boehringer Forward Text"/>
              </a:rPr>
              <a:t>III outside China – tbd*</a:t>
            </a:r>
            <a:endParaRPr lang="en-US" sz="1400" b="1">
              <a:solidFill>
                <a:schemeClr val="tx1"/>
              </a:solidFill>
              <a:latin typeface="Boehringer Forward Text"/>
            </a:endParaRPr>
          </a:p>
        </p:txBody>
      </p:sp>
      <p:sp>
        <p:nvSpPr>
          <p:cNvPr id="51" name="TextBox 50">
            <a:extLst>
              <a:ext uri="{FF2B5EF4-FFF2-40B4-BE49-F238E27FC236}">
                <a16:creationId xmlns:a16="http://schemas.microsoft.com/office/drawing/2014/main" id="{08A087B8-0B0D-212D-9A6E-58CF24CF355B}"/>
              </a:ext>
            </a:extLst>
          </p:cNvPr>
          <p:cNvSpPr txBox="1"/>
          <p:nvPr/>
        </p:nvSpPr>
        <p:spPr>
          <a:xfrm>
            <a:off x="5617569" y="4261036"/>
            <a:ext cx="1266898" cy="230832"/>
          </a:xfrm>
          <a:prstGeom prst="rect">
            <a:avLst/>
          </a:prstGeom>
          <a:noFill/>
        </p:spPr>
        <p:txBody>
          <a:bodyPr wrap="square">
            <a:spAutoFit/>
          </a:bodyPr>
          <a:lstStyle/>
          <a:p>
            <a:r>
              <a:rPr lang="en-US" altLang="zh-CN" sz="900" b="1" i="0" kern="1200">
                <a:solidFill>
                  <a:schemeClr val="bg1"/>
                </a:solidFill>
                <a:effectLst/>
                <a:latin typeface="+mn-lt"/>
                <a:ea typeface="+mn-ea"/>
                <a:cs typeface="+mn-cs"/>
              </a:rPr>
              <a:t>LPLV </a:t>
            </a:r>
            <a:r>
              <a:rPr lang="en-US" sz="900" b="1" i="0" kern="1200">
                <a:solidFill>
                  <a:schemeClr val="bg1"/>
                </a:solidFill>
                <a:effectLst/>
                <a:latin typeface="+mn-lt"/>
                <a:ea typeface="+mn-ea"/>
                <a:cs typeface="+mn-cs"/>
              </a:rPr>
              <a:t>2027-04-28</a:t>
            </a:r>
            <a:endParaRPr lang="en-US" sz="1100" b="1">
              <a:solidFill>
                <a:schemeClr val="bg1"/>
              </a:solidFill>
              <a:effectLst/>
              <a:latin typeface="Arial" panose="020B0604020202020204" pitchFamily="34" charset="0"/>
            </a:endParaRPr>
          </a:p>
        </p:txBody>
      </p:sp>
      <p:sp>
        <p:nvSpPr>
          <p:cNvPr id="55" name="Diamond 54">
            <a:extLst>
              <a:ext uri="{FF2B5EF4-FFF2-40B4-BE49-F238E27FC236}">
                <a16:creationId xmlns:a16="http://schemas.microsoft.com/office/drawing/2014/main" id="{8A170D9D-A4B6-C77B-FD09-72BCC739356B}"/>
              </a:ext>
            </a:extLst>
          </p:cNvPr>
          <p:cNvSpPr/>
          <p:nvPr/>
        </p:nvSpPr>
        <p:spPr bwMode="gray">
          <a:xfrm>
            <a:off x="5461500" y="4289228"/>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cxnSp>
        <p:nvCxnSpPr>
          <p:cNvPr id="59" name="Connector: Elbow 58">
            <a:extLst>
              <a:ext uri="{FF2B5EF4-FFF2-40B4-BE49-F238E27FC236}">
                <a16:creationId xmlns:a16="http://schemas.microsoft.com/office/drawing/2014/main" id="{FE761DA9-01E2-D700-26F4-A17EECEADD4D}"/>
              </a:ext>
            </a:extLst>
          </p:cNvPr>
          <p:cNvCxnSpPr>
            <a:cxnSpLocks/>
          </p:cNvCxnSpPr>
          <p:nvPr/>
        </p:nvCxnSpPr>
        <p:spPr>
          <a:xfrm rot="10800000" flipH="1" flipV="1">
            <a:off x="882650" y="2810271"/>
            <a:ext cx="98939" cy="427152"/>
          </a:xfrm>
          <a:prstGeom prst="bentConnector3">
            <a:avLst>
              <a:gd name="adj1" fmla="val -23105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47D5F264-A6CF-36DC-1D65-F18BC06C2F1E}"/>
              </a:ext>
            </a:extLst>
          </p:cNvPr>
          <p:cNvCxnSpPr>
            <a:cxnSpLocks/>
          </p:cNvCxnSpPr>
          <p:nvPr/>
        </p:nvCxnSpPr>
        <p:spPr>
          <a:xfrm rot="10800000" flipH="1" flipV="1">
            <a:off x="771788" y="3989430"/>
            <a:ext cx="224418" cy="616447"/>
          </a:xfrm>
          <a:prstGeom prst="bentConnector3">
            <a:avLst>
              <a:gd name="adj1" fmla="val -101863"/>
            </a:avLst>
          </a:prstGeom>
          <a:ln>
            <a:solidFill>
              <a:srgbClr val="213F89"/>
            </a:solidFill>
            <a:tailEnd type="triangle"/>
          </a:ln>
        </p:spPr>
        <p:style>
          <a:lnRef idx="1">
            <a:schemeClr val="accent1"/>
          </a:lnRef>
          <a:fillRef idx="0">
            <a:schemeClr val="accent1"/>
          </a:fillRef>
          <a:effectRef idx="0">
            <a:schemeClr val="accent1"/>
          </a:effectRef>
          <a:fontRef idx="minor">
            <a:schemeClr val="tx1"/>
          </a:fontRef>
        </p:style>
      </p:cxnSp>
      <p:sp>
        <p:nvSpPr>
          <p:cNvPr id="2050" name="Diamond 2049">
            <a:extLst>
              <a:ext uri="{FF2B5EF4-FFF2-40B4-BE49-F238E27FC236}">
                <a16:creationId xmlns:a16="http://schemas.microsoft.com/office/drawing/2014/main" id="{BEB2F6F0-43DB-203E-CBDB-05A9A8A6645D}"/>
              </a:ext>
            </a:extLst>
          </p:cNvPr>
          <p:cNvSpPr/>
          <p:nvPr/>
        </p:nvSpPr>
        <p:spPr bwMode="gray">
          <a:xfrm>
            <a:off x="9892449" y="4017769"/>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52" name="TextBox 2051">
            <a:extLst>
              <a:ext uri="{FF2B5EF4-FFF2-40B4-BE49-F238E27FC236}">
                <a16:creationId xmlns:a16="http://schemas.microsoft.com/office/drawing/2014/main" id="{C4C89059-9942-8BDD-0970-3D619E50573D}"/>
              </a:ext>
            </a:extLst>
          </p:cNvPr>
          <p:cNvSpPr txBox="1"/>
          <p:nvPr/>
        </p:nvSpPr>
        <p:spPr bwMode="gray">
          <a:xfrm>
            <a:off x="9567051" y="4230470"/>
            <a:ext cx="1941261" cy="246221"/>
          </a:xfrm>
          <a:prstGeom prst="rect">
            <a:avLst/>
          </a:prstGeom>
          <a:noFill/>
        </p:spPr>
        <p:txBody>
          <a:bodyPr wrap="square" lIns="0" tIns="0" rIns="0" bIns="0" rtlCol="0" anchor="t">
            <a:spAutoFit/>
          </a:bodyPr>
          <a:lstStyle/>
          <a:p>
            <a:r>
              <a:rPr lang="en-US" sz="1600">
                <a:solidFill>
                  <a:schemeClr val="bg1"/>
                </a:solidFill>
              </a:rPr>
              <a:t>Launch CN (tbd)</a:t>
            </a:r>
          </a:p>
        </p:txBody>
      </p:sp>
      <p:sp>
        <p:nvSpPr>
          <p:cNvPr id="2056" name="TextBox 2055">
            <a:extLst>
              <a:ext uri="{FF2B5EF4-FFF2-40B4-BE49-F238E27FC236}">
                <a16:creationId xmlns:a16="http://schemas.microsoft.com/office/drawing/2014/main" id="{060AC025-4D31-D00A-2D17-6D26AF084FFC}"/>
              </a:ext>
            </a:extLst>
          </p:cNvPr>
          <p:cNvSpPr txBox="1"/>
          <p:nvPr/>
        </p:nvSpPr>
        <p:spPr bwMode="gray">
          <a:xfrm>
            <a:off x="10006355" y="4017769"/>
            <a:ext cx="1682660" cy="184666"/>
          </a:xfrm>
          <a:prstGeom prst="rect">
            <a:avLst/>
          </a:prstGeom>
          <a:noFill/>
        </p:spPr>
        <p:txBody>
          <a:bodyPr wrap="square" lIns="0" tIns="0" rIns="0" bIns="0" rtlCol="0" anchor="t">
            <a:spAutoFit/>
          </a:bodyPr>
          <a:lstStyle/>
          <a:p>
            <a:pPr algn="ctr"/>
            <a:r>
              <a:rPr lang="en-US" sz="1200">
                <a:solidFill>
                  <a:schemeClr val="bg1"/>
                </a:solidFill>
              </a:rPr>
              <a:t>~1 year later？(TBD)</a:t>
            </a:r>
          </a:p>
        </p:txBody>
      </p:sp>
      <p:sp>
        <p:nvSpPr>
          <p:cNvPr id="3" name="TextBox 40">
            <a:extLst>
              <a:ext uri="{FF2B5EF4-FFF2-40B4-BE49-F238E27FC236}">
                <a16:creationId xmlns:a16="http://schemas.microsoft.com/office/drawing/2014/main" id="{42335EF2-95B5-9EB7-EB6F-EFEC8AEED82E}"/>
              </a:ext>
            </a:extLst>
          </p:cNvPr>
          <p:cNvSpPr txBox="1"/>
          <p:nvPr/>
        </p:nvSpPr>
        <p:spPr>
          <a:xfrm>
            <a:off x="1707021" y="3106354"/>
            <a:ext cx="1171505" cy="400110"/>
          </a:xfrm>
          <a:prstGeom prst="rect">
            <a:avLst/>
          </a:prstGeom>
          <a:noFill/>
        </p:spPr>
        <p:txBody>
          <a:bodyPr wrap="square" lIns="91440" tIns="45720" rIns="91440" bIns="45720" rtlCol="0" anchor="t">
            <a:spAutoFit/>
          </a:bodyPr>
          <a:lstStyle/>
          <a:p>
            <a:r>
              <a:rPr lang="en-US" sz="1000" b="1">
                <a:solidFill>
                  <a:schemeClr val="bg1"/>
                </a:solidFill>
                <a:hlinkClick r:id="rId12">
                  <a:extLst>
                    <a:ext uri="{A12FA001-AC4F-418D-AE19-62706E023703}">
                      <ahyp:hlinkClr xmlns:ahyp="http://schemas.microsoft.com/office/drawing/2018/hyperlinkcolor" val="tx"/>
                    </a:ext>
                  </a:extLst>
                </a:hlinkClick>
              </a:rPr>
              <a:t>Licensed out</a:t>
            </a:r>
          </a:p>
          <a:p>
            <a:r>
              <a:rPr lang="en-US" sz="1000">
                <a:solidFill>
                  <a:schemeClr val="bg1"/>
                </a:solidFill>
              </a:rPr>
              <a:t>Nov 20, 2023</a:t>
            </a:r>
          </a:p>
        </p:txBody>
      </p:sp>
      <p:pic>
        <p:nvPicPr>
          <p:cNvPr id="7" name="图片 6">
            <a:extLst>
              <a:ext uri="{FF2B5EF4-FFF2-40B4-BE49-F238E27FC236}">
                <a16:creationId xmlns:a16="http://schemas.microsoft.com/office/drawing/2014/main" id="{6AF7293F-E208-DE2A-CFB2-7AA1F6419CFB}"/>
              </a:ext>
            </a:extLst>
          </p:cNvPr>
          <p:cNvPicPr>
            <a:picLocks noChangeAspect="1"/>
          </p:cNvPicPr>
          <p:nvPr/>
        </p:nvPicPr>
        <p:blipFill>
          <a:blip r:embed="rId13"/>
          <a:stretch>
            <a:fillRect/>
          </a:stretch>
        </p:blipFill>
        <p:spPr>
          <a:xfrm>
            <a:off x="1177085" y="5228722"/>
            <a:ext cx="665861" cy="269097"/>
          </a:xfrm>
          <a:prstGeom prst="rect">
            <a:avLst/>
          </a:prstGeom>
        </p:spPr>
      </p:pic>
      <p:sp>
        <p:nvSpPr>
          <p:cNvPr id="30" name="Arrow: Pentagon 3">
            <a:extLst>
              <a:ext uri="{FF2B5EF4-FFF2-40B4-BE49-F238E27FC236}">
                <a16:creationId xmlns:a16="http://schemas.microsoft.com/office/drawing/2014/main" id="{D1775AA4-32D0-95A6-9A95-B063E942F8F6}"/>
              </a:ext>
            </a:extLst>
          </p:cNvPr>
          <p:cNvSpPr/>
          <p:nvPr/>
        </p:nvSpPr>
        <p:spPr bwMode="gray">
          <a:xfrm>
            <a:off x="3278817" y="5244510"/>
            <a:ext cx="3232414" cy="309432"/>
          </a:xfrm>
          <a:prstGeom prst="homePlate">
            <a:avLst/>
          </a:prstGeom>
          <a:solidFill>
            <a:srgbClr val="225DA5"/>
          </a:solidFill>
          <a:ln w="12700">
            <a:solidFill>
              <a:srgbClr val="4472C4"/>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bg1"/>
                </a:solidFill>
                <a:latin typeface="Boehringer Forward Text"/>
              </a:rPr>
              <a:t>Ph </a:t>
            </a:r>
            <a:r>
              <a:rPr lang="en-US" altLang="zh-CN" sz="1400" b="1">
                <a:solidFill>
                  <a:schemeClr val="bg1"/>
                </a:solidFill>
                <a:latin typeface="Boehringer Forward Text"/>
              </a:rPr>
              <a:t>II China</a:t>
            </a:r>
            <a:endParaRPr lang="en-US" sz="1400" b="1">
              <a:solidFill>
                <a:schemeClr val="bg1"/>
              </a:solidFill>
              <a:latin typeface="Boehringer Forward Text"/>
            </a:endParaRPr>
          </a:p>
        </p:txBody>
      </p:sp>
      <p:sp>
        <p:nvSpPr>
          <p:cNvPr id="31" name="TextBox 50">
            <a:extLst>
              <a:ext uri="{FF2B5EF4-FFF2-40B4-BE49-F238E27FC236}">
                <a16:creationId xmlns:a16="http://schemas.microsoft.com/office/drawing/2014/main" id="{4D97D23D-0D75-9421-7F97-74C8859EEF05}"/>
              </a:ext>
            </a:extLst>
          </p:cNvPr>
          <p:cNvSpPr txBox="1"/>
          <p:nvPr/>
        </p:nvSpPr>
        <p:spPr>
          <a:xfrm>
            <a:off x="6117415" y="5834115"/>
            <a:ext cx="1266898" cy="230832"/>
          </a:xfrm>
          <a:prstGeom prst="rect">
            <a:avLst/>
          </a:prstGeom>
          <a:noFill/>
        </p:spPr>
        <p:txBody>
          <a:bodyPr wrap="square" lIns="91440" tIns="45720" rIns="91440" bIns="45720" anchor="t">
            <a:spAutoFit/>
          </a:bodyPr>
          <a:lstStyle/>
          <a:p>
            <a:r>
              <a:rPr lang="en-US" altLang="zh-CN" sz="900" b="1" i="0" kern="1200">
                <a:effectLst/>
                <a:latin typeface="+mn-lt"/>
                <a:ea typeface="+mn-ea"/>
                <a:cs typeface="+mn-cs"/>
              </a:rPr>
              <a:t>LPLV </a:t>
            </a:r>
            <a:r>
              <a:rPr lang="en-US" sz="900" b="1"/>
              <a:t>2027-12</a:t>
            </a:r>
            <a:endParaRPr lang="en-US" sz="1100" b="1">
              <a:effectLst/>
              <a:latin typeface="Arial" panose="020B0604020202020204" pitchFamily="34" charset="0"/>
            </a:endParaRPr>
          </a:p>
        </p:txBody>
      </p:sp>
      <p:sp>
        <p:nvSpPr>
          <p:cNvPr id="32" name="Diamond 54">
            <a:extLst>
              <a:ext uri="{FF2B5EF4-FFF2-40B4-BE49-F238E27FC236}">
                <a16:creationId xmlns:a16="http://schemas.microsoft.com/office/drawing/2014/main" id="{1F6BA327-0598-C46F-9F87-77D56036A173}"/>
              </a:ext>
            </a:extLst>
          </p:cNvPr>
          <p:cNvSpPr/>
          <p:nvPr/>
        </p:nvSpPr>
        <p:spPr bwMode="gray">
          <a:xfrm>
            <a:off x="6464131" y="5642780"/>
            <a:ext cx="174449" cy="174449"/>
          </a:xfrm>
          <a:prstGeom prst="diamond">
            <a:avLst/>
          </a:prstGeom>
          <a:solidFill>
            <a:srgbClr val="213F89"/>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34" name="Arrow: Pentagon 39">
            <a:extLst>
              <a:ext uri="{FF2B5EF4-FFF2-40B4-BE49-F238E27FC236}">
                <a16:creationId xmlns:a16="http://schemas.microsoft.com/office/drawing/2014/main" id="{0E59FCE3-26C3-F30E-B0A2-386D5292C82D}"/>
              </a:ext>
            </a:extLst>
          </p:cNvPr>
          <p:cNvSpPr/>
          <p:nvPr/>
        </p:nvSpPr>
        <p:spPr bwMode="gray">
          <a:xfrm>
            <a:off x="7030532" y="5225493"/>
            <a:ext cx="2464077" cy="369743"/>
          </a:xfrm>
          <a:prstGeom prst="homePlate">
            <a:avLst/>
          </a:prstGeom>
          <a:solidFill>
            <a:srgbClr val="225DA5"/>
          </a:solidFill>
          <a:ln w="1905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bg1"/>
                </a:solidFill>
                <a:latin typeface="Boehringer Forward Text"/>
              </a:rPr>
              <a:t>Ph </a:t>
            </a:r>
            <a:r>
              <a:rPr lang="en-US" altLang="zh-CN" sz="1400" b="1">
                <a:solidFill>
                  <a:schemeClr val="bg1"/>
                </a:solidFill>
                <a:latin typeface="Boehringer Forward Text"/>
              </a:rPr>
              <a:t>III China - timeline tbd*</a:t>
            </a:r>
            <a:endParaRPr lang="en-US" sz="1400" b="1">
              <a:solidFill>
                <a:schemeClr val="bg1"/>
              </a:solidFill>
              <a:latin typeface="Boehringer Forward Text"/>
            </a:endParaRPr>
          </a:p>
        </p:txBody>
      </p:sp>
      <p:pic>
        <p:nvPicPr>
          <p:cNvPr id="1026" name="Picture 2">
            <a:extLst>
              <a:ext uri="{FF2B5EF4-FFF2-40B4-BE49-F238E27FC236}">
                <a16:creationId xmlns:a16="http://schemas.microsoft.com/office/drawing/2014/main" id="{7AD2B614-E3A8-A500-C703-F7C17D8E3F1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7066" y="5157848"/>
            <a:ext cx="569360" cy="456740"/>
          </a:xfrm>
          <a:prstGeom prst="rect">
            <a:avLst/>
          </a:prstGeom>
          <a:noFill/>
          <a:extLst>
            <a:ext uri="{909E8E84-426E-40DD-AFC4-6F175D3DCCD1}">
              <a14:hiddenFill xmlns:a14="http://schemas.microsoft.com/office/drawing/2010/main">
                <a:solidFill>
                  <a:srgbClr val="FFFFFF"/>
                </a:solidFill>
              </a14:hiddenFill>
            </a:ext>
          </a:extLst>
        </p:spPr>
      </p:pic>
      <p:sp>
        <p:nvSpPr>
          <p:cNvPr id="2054" name="TextBox 2053">
            <a:extLst>
              <a:ext uri="{FF2B5EF4-FFF2-40B4-BE49-F238E27FC236}">
                <a16:creationId xmlns:a16="http://schemas.microsoft.com/office/drawing/2014/main" id="{19AA8230-D526-4955-BD4F-0DD6BCDA4071}"/>
              </a:ext>
            </a:extLst>
          </p:cNvPr>
          <p:cNvSpPr txBox="1"/>
          <p:nvPr/>
        </p:nvSpPr>
        <p:spPr bwMode="gray">
          <a:xfrm>
            <a:off x="853773" y="5564199"/>
            <a:ext cx="981516" cy="307777"/>
          </a:xfrm>
          <a:prstGeom prst="rect">
            <a:avLst/>
          </a:prstGeom>
          <a:noFill/>
        </p:spPr>
        <p:txBody>
          <a:bodyPr wrap="square">
            <a:spAutoFit/>
          </a:bodyPr>
          <a:lstStyle/>
          <a:p>
            <a:r>
              <a:rPr lang="en-US" altLang="zh-CN" sz="1400" b="0" i="0" u="none" strike="noStrike" noProof="0">
                <a:latin typeface="Boehringer Forward Text"/>
              </a:rPr>
              <a:t>RSS0343</a:t>
            </a:r>
            <a:endParaRPr lang="en-US" sz="1400"/>
          </a:p>
        </p:txBody>
      </p:sp>
      <p:sp>
        <p:nvSpPr>
          <p:cNvPr id="2055" name="TextBox 2054">
            <a:extLst>
              <a:ext uri="{FF2B5EF4-FFF2-40B4-BE49-F238E27FC236}">
                <a16:creationId xmlns:a16="http://schemas.microsoft.com/office/drawing/2014/main" id="{16782B95-49D4-2266-77F0-1378B0FC6B9F}"/>
              </a:ext>
            </a:extLst>
          </p:cNvPr>
          <p:cNvSpPr txBox="1"/>
          <p:nvPr/>
        </p:nvSpPr>
        <p:spPr bwMode="gray">
          <a:xfrm>
            <a:off x="3775327" y="6328296"/>
            <a:ext cx="1257143" cy="273601"/>
          </a:xfrm>
          <a:prstGeom prst="rect">
            <a:avLst/>
          </a:prstGeom>
          <a:noFill/>
        </p:spPr>
        <p:txBody>
          <a:bodyPr wrap="square" lIns="0" tIns="0" rIns="0" bIns="0" rtlCol="0">
            <a:spAutoFit/>
          </a:bodyPr>
          <a:lstStyle/>
          <a:p>
            <a:pPr algn="l">
              <a:lnSpc>
                <a:spcPct val="140000"/>
              </a:lnSpc>
            </a:pPr>
            <a:r>
              <a:rPr lang="en-US" altLang="zh-CN" sz="1400" b="1"/>
              <a:t>We are here</a:t>
            </a:r>
            <a:endParaRPr lang="en-US" sz="1400" b="1"/>
          </a:p>
        </p:txBody>
      </p:sp>
      <p:sp>
        <p:nvSpPr>
          <p:cNvPr id="2059" name="Diamond 2058">
            <a:extLst>
              <a:ext uri="{FF2B5EF4-FFF2-40B4-BE49-F238E27FC236}">
                <a16:creationId xmlns:a16="http://schemas.microsoft.com/office/drawing/2014/main" id="{4D035A42-BC52-5CB7-0578-3D4EA5D5E528}"/>
              </a:ext>
            </a:extLst>
          </p:cNvPr>
          <p:cNvSpPr/>
          <p:nvPr/>
        </p:nvSpPr>
        <p:spPr bwMode="gray">
          <a:xfrm>
            <a:off x="10905921" y="5349370"/>
            <a:ext cx="174449" cy="174449"/>
          </a:xfrm>
          <a:prstGeom prst="diamond">
            <a:avLst/>
          </a:prstGeom>
          <a:solidFill>
            <a:srgbClr val="225DA5"/>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60" name="TextBox 2059">
            <a:extLst>
              <a:ext uri="{FF2B5EF4-FFF2-40B4-BE49-F238E27FC236}">
                <a16:creationId xmlns:a16="http://schemas.microsoft.com/office/drawing/2014/main" id="{3B57E280-DB21-AC56-907D-0ABED21AC53A}"/>
              </a:ext>
            </a:extLst>
          </p:cNvPr>
          <p:cNvSpPr txBox="1"/>
          <p:nvPr/>
        </p:nvSpPr>
        <p:spPr bwMode="gray">
          <a:xfrm>
            <a:off x="10463253" y="5533211"/>
            <a:ext cx="1414905" cy="246221"/>
          </a:xfrm>
          <a:prstGeom prst="rect">
            <a:avLst/>
          </a:prstGeom>
          <a:noFill/>
        </p:spPr>
        <p:txBody>
          <a:bodyPr wrap="square" lIns="0" tIns="0" rIns="0" bIns="0" rtlCol="0" anchor="t">
            <a:spAutoFit/>
          </a:bodyPr>
          <a:lstStyle/>
          <a:p>
            <a:r>
              <a:rPr lang="en-US" sz="1600"/>
              <a:t>Launch CN (tbd)</a:t>
            </a:r>
          </a:p>
        </p:txBody>
      </p:sp>
      <p:sp>
        <p:nvSpPr>
          <p:cNvPr id="2062" name="TextBox 2061">
            <a:extLst>
              <a:ext uri="{FF2B5EF4-FFF2-40B4-BE49-F238E27FC236}">
                <a16:creationId xmlns:a16="http://schemas.microsoft.com/office/drawing/2014/main" id="{D20CA81B-08CB-01F2-0E26-BD869127E95C}"/>
              </a:ext>
            </a:extLst>
          </p:cNvPr>
          <p:cNvSpPr txBox="1"/>
          <p:nvPr/>
        </p:nvSpPr>
        <p:spPr bwMode="gray">
          <a:xfrm>
            <a:off x="10271812" y="5136389"/>
            <a:ext cx="1651346" cy="184666"/>
          </a:xfrm>
          <a:prstGeom prst="rect">
            <a:avLst/>
          </a:prstGeom>
          <a:noFill/>
        </p:spPr>
        <p:txBody>
          <a:bodyPr wrap="square" lIns="0" tIns="0" rIns="0" bIns="0" rtlCol="0" anchor="t">
            <a:spAutoFit/>
          </a:bodyPr>
          <a:lstStyle/>
          <a:p>
            <a:pPr algn="ctr"/>
            <a:r>
              <a:rPr lang="en-US" sz="1200"/>
              <a:t>~2 year later？(TBD)</a:t>
            </a:r>
          </a:p>
        </p:txBody>
      </p:sp>
      <p:cxnSp>
        <p:nvCxnSpPr>
          <p:cNvPr id="2063" name="Connector: Elbow 2062">
            <a:extLst>
              <a:ext uri="{FF2B5EF4-FFF2-40B4-BE49-F238E27FC236}">
                <a16:creationId xmlns:a16="http://schemas.microsoft.com/office/drawing/2014/main" id="{C7DDB7D5-A462-A68A-5546-ADF2B36885C6}"/>
              </a:ext>
            </a:extLst>
          </p:cNvPr>
          <p:cNvCxnSpPr>
            <a:cxnSpLocks/>
            <a:stCxn id="2056" idx="1"/>
            <a:endCxn id="2109" idx="3"/>
          </p:cNvCxnSpPr>
          <p:nvPr/>
        </p:nvCxnSpPr>
        <p:spPr bwMode="gray">
          <a:xfrm rot="10800000">
            <a:off x="9257357" y="1172892"/>
            <a:ext cx="748998" cy="2937211"/>
          </a:xfrm>
          <a:prstGeom prst="bentConnector3">
            <a:avLst>
              <a:gd name="adj1" fmla="val 50000"/>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066" name="Connector: Elbow 2065">
            <a:extLst>
              <a:ext uri="{FF2B5EF4-FFF2-40B4-BE49-F238E27FC236}">
                <a16:creationId xmlns:a16="http://schemas.microsoft.com/office/drawing/2014/main" id="{194FD1C0-2135-5E49-65CB-6D6500AF1B9F}"/>
              </a:ext>
            </a:extLst>
          </p:cNvPr>
          <p:cNvCxnSpPr>
            <a:cxnSpLocks/>
            <a:stCxn id="2059" idx="1"/>
            <a:endCxn id="2109" idx="3"/>
          </p:cNvCxnSpPr>
          <p:nvPr/>
        </p:nvCxnSpPr>
        <p:spPr bwMode="gray">
          <a:xfrm rot="10800000">
            <a:off x="9257357" y="1172891"/>
            <a:ext cx="1648564" cy="4263704"/>
          </a:xfrm>
          <a:prstGeom prst="bentConnector3">
            <a:avLst>
              <a:gd name="adj1" fmla="val 50000"/>
            </a:avLst>
          </a:prstGeom>
          <a:ln w="19050">
            <a:solidFill>
              <a:srgbClr val="FFFF00"/>
            </a:solidFill>
            <a:prstDash val="dash"/>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ACA7576-E84D-1BBD-FB08-11AAA38B9C2A}"/>
              </a:ext>
            </a:extLst>
          </p:cNvPr>
          <p:cNvSpPr txBox="1"/>
          <p:nvPr/>
        </p:nvSpPr>
        <p:spPr bwMode="gray">
          <a:xfrm>
            <a:off x="4340532" y="2916768"/>
            <a:ext cx="1245436" cy="2149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solidFill>
                  <a:srgbClr val="FFFFFF"/>
                </a:solidFill>
              </a:rPr>
              <a:t>15 sites in overlap</a:t>
            </a:r>
          </a:p>
        </p:txBody>
      </p:sp>
      <p:sp>
        <p:nvSpPr>
          <p:cNvPr id="44" name="文本框 43">
            <a:extLst>
              <a:ext uri="{FF2B5EF4-FFF2-40B4-BE49-F238E27FC236}">
                <a16:creationId xmlns:a16="http://schemas.microsoft.com/office/drawing/2014/main" id="{A81C8A75-EEB5-B6DD-D59D-C68099CC7A62}"/>
              </a:ext>
            </a:extLst>
          </p:cNvPr>
          <p:cNvSpPr txBox="1"/>
          <p:nvPr/>
        </p:nvSpPr>
        <p:spPr bwMode="gray">
          <a:xfrm>
            <a:off x="4337007" y="4197718"/>
            <a:ext cx="1245436" cy="2149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solidFill>
                  <a:srgbClr val="FFFFFF"/>
                </a:solidFill>
              </a:rPr>
              <a:t>15 sites in overlap</a:t>
            </a:r>
          </a:p>
        </p:txBody>
      </p:sp>
      <p:sp>
        <p:nvSpPr>
          <p:cNvPr id="50" name="文本框 49">
            <a:extLst>
              <a:ext uri="{FF2B5EF4-FFF2-40B4-BE49-F238E27FC236}">
                <a16:creationId xmlns:a16="http://schemas.microsoft.com/office/drawing/2014/main" id="{3BA91680-B390-FDD5-1E8E-8C4379B11174}"/>
              </a:ext>
            </a:extLst>
          </p:cNvPr>
          <p:cNvSpPr txBox="1"/>
          <p:nvPr/>
        </p:nvSpPr>
        <p:spPr bwMode="gray">
          <a:xfrm>
            <a:off x="5301701" y="5523819"/>
            <a:ext cx="1245436" cy="2149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solidFill>
                  <a:srgbClr val="000000"/>
                </a:solidFill>
              </a:rPr>
              <a:t>12 sites in overlap</a:t>
            </a:r>
          </a:p>
        </p:txBody>
      </p:sp>
      <p:sp>
        <p:nvSpPr>
          <p:cNvPr id="21" name="Diamond 20">
            <a:extLst>
              <a:ext uri="{FF2B5EF4-FFF2-40B4-BE49-F238E27FC236}">
                <a16:creationId xmlns:a16="http://schemas.microsoft.com/office/drawing/2014/main" id="{43A119FE-53B3-7A59-965D-BE40B51BA04F}"/>
              </a:ext>
            </a:extLst>
          </p:cNvPr>
          <p:cNvSpPr/>
          <p:nvPr/>
        </p:nvSpPr>
        <p:spPr bwMode="gray">
          <a:xfrm>
            <a:off x="8770133" y="1094471"/>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49" name="Diamond 2048">
            <a:extLst>
              <a:ext uri="{FF2B5EF4-FFF2-40B4-BE49-F238E27FC236}">
                <a16:creationId xmlns:a16="http://schemas.microsoft.com/office/drawing/2014/main" id="{18EE8B48-87FF-694C-3D56-DFC32AE47D49}"/>
              </a:ext>
            </a:extLst>
          </p:cNvPr>
          <p:cNvSpPr/>
          <p:nvPr/>
        </p:nvSpPr>
        <p:spPr bwMode="gray">
          <a:xfrm>
            <a:off x="8945037" y="1094471"/>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Tree>
    <p:extLst>
      <p:ext uri="{BB962C8B-B14F-4D97-AF65-F5344CB8AC3E}">
        <p14:creationId xmlns:p14="http://schemas.microsoft.com/office/powerpoint/2010/main" val="32751666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A841EF0-2E92-8D89-4FF9-9DDEBF6302B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7377DA1-188D-D5F7-89A6-FDA610822021}"/>
              </a:ext>
            </a:extLst>
          </p:cNvPr>
          <p:cNvSpPr/>
          <p:nvPr/>
        </p:nvSpPr>
        <p:spPr bwMode="gray">
          <a:xfrm>
            <a:off x="2544421" y="4768154"/>
            <a:ext cx="6712933" cy="1841368"/>
          </a:xfrm>
          <a:prstGeom prst="round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16" name="Rectangle: Rounded Corners 1064">
            <a:extLst>
              <a:ext uri="{FF2B5EF4-FFF2-40B4-BE49-F238E27FC236}">
                <a16:creationId xmlns:a16="http://schemas.microsoft.com/office/drawing/2014/main" id="{A9406A28-7016-5B5D-0A58-203186191312}"/>
              </a:ext>
            </a:extLst>
          </p:cNvPr>
          <p:cNvSpPr/>
          <p:nvPr/>
        </p:nvSpPr>
        <p:spPr bwMode="gray">
          <a:xfrm>
            <a:off x="253273" y="2111347"/>
            <a:ext cx="11624885" cy="852773"/>
          </a:xfrm>
          <a:prstGeom prst="roundRect">
            <a:avLst/>
          </a:prstGeom>
          <a:solidFill>
            <a:srgbClr val="F18D00"/>
          </a:solidFill>
          <a:ln w="19050">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40000"/>
              </a:lnSpc>
            </a:pPr>
            <a:endParaRPr lang="en-US" altLang="zh-CN" sz="1600">
              <a:solidFill>
                <a:schemeClr val="tx1"/>
              </a:solidFill>
            </a:endParaRPr>
          </a:p>
        </p:txBody>
      </p:sp>
      <p:sp>
        <p:nvSpPr>
          <p:cNvPr id="48" name="Rectangle: Rounded Corners 47">
            <a:extLst>
              <a:ext uri="{FF2B5EF4-FFF2-40B4-BE49-F238E27FC236}">
                <a16:creationId xmlns:a16="http://schemas.microsoft.com/office/drawing/2014/main" id="{39308C58-F541-8861-400B-12170DFD22DB}"/>
              </a:ext>
            </a:extLst>
          </p:cNvPr>
          <p:cNvSpPr/>
          <p:nvPr/>
        </p:nvSpPr>
        <p:spPr>
          <a:xfrm>
            <a:off x="4196655" y="1046479"/>
            <a:ext cx="70917" cy="3409211"/>
          </a:xfrm>
          <a:prstGeom prst="roundRect">
            <a:avLst/>
          </a:prstGeom>
          <a:solidFill>
            <a:srgbClr val="F62B2B"/>
          </a:solidFill>
          <a:ln w="12700">
            <a:solidFill>
              <a:srgbClr val="7030A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think-cell data - do not delete" hidden="1">
            <a:extLst>
              <a:ext uri="{FF2B5EF4-FFF2-40B4-BE49-F238E27FC236}">
                <a16:creationId xmlns:a16="http://schemas.microsoft.com/office/drawing/2014/main" id="{0D4FD280-B7D4-5C38-AED3-3D4EA9A53B6D}"/>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Folie" r:id="rId4" imgW="426" imgH="426" progId="TCLayout.ActiveDocument.1">
                  <p:embed/>
                </p:oleObj>
              </mc:Choice>
              <mc:Fallback>
                <p:oleObj name="think-cell Folie" r:id="rId4" imgW="426" imgH="426" progId="TCLayout.ActiveDocument.1">
                  <p:embed/>
                  <p:pic>
                    <p:nvPicPr>
                      <p:cNvPr id="15" name="think-cell data - do not delete" hidden="1">
                        <a:extLst>
                          <a:ext uri="{FF2B5EF4-FFF2-40B4-BE49-F238E27FC236}">
                            <a16:creationId xmlns:a16="http://schemas.microsoft.com/office/drawing/2014/main" id="{0D4FD280-B7D4-5C38-AED3-3D4EA9A53B6D}"/>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grpSp>
        <p:nvGrpSpPr>
          <p:cNvPr id="8" name="Group 7">
            <a:extLst>
              <a:ext uri="{FF2B5EF4-FFF2-40B4-BE49-F238E27FC236}">
                <a16:creationId xmlns:a16="http://schemas.microsoft.com/office/drawing/2014/main" id="{E5272594-A01F-F445-386C-ABD2FE9D9284}"/>
              </a:ext>
            </a:extLst>
          </p:cNvPr>
          <p:cNvGrpSpPr/>
          <p:nvPr/>
        </p:nvGrpSpPr>
        <p:grpSpPr>
          <a:xfrm>
            <a:off x="3221001" y="1043358"/>
            <a:ext cx="6559677" cy="3412332"/>
            <a:chOff x="2012374" y="2265383"/>
            <a:chExt cx="6559677" cy="1872000"/>
          </a:xfrm>
        </p:grpSpPr>
        <p:cxnSp>
          <p:nvCxnSpPr>
            <p:cNvPr id="9" name="Straight Connector 8">
              <a:extLst>
                <a:ext uri="{FF2B5EF4-FFF2-40B4-BE49-F238E27FC236}">
                  <a16:creationId xmlns:a16="http://schemas.microsoft.com/office/drawing/2014/main" id="{AC9F57BA-E70E-E1B8-1955-A576E746D655}"/>
                </a:ext>
              </a:extLst>
            </p:cNvPr>
            <p:cNvCxnSpPr>
              <a:cxnSpLocks/>
            </p:cNvCxnSpPr>
            <p:nvPr/>
          </p:nvCxnSpPr>
          <p:spPr>
            <a:xfrm>
              <a:off x="2012374"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A2FA44-986E-F986-A477-3004B3B89EEC}"/>
                </a:ext>
              </a:extLst>
            </p:cNvPr>
            <p:cNvCxnSpPr>
              <a:cxnSpLocks/>
            </p:cNvCxnSpPr>
            <p:nvPr/>
          </p:nvCxnSpPr>
          <p:spPr>
            <a:xfrm>
              <a:off x="3098425"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CD7AC3D-17F9-1506-C964-1EED46E8CBCE}"/>
                </a:ext>
              </a:extLst>
            </p:cNvPr>
            <p:cNvCxnSpPr>
              <a:cxnSpLocks/>
            </p:cNvCxnSpPr>
            <p:nvPr/>
          </p:nvCxnSpPr>
          <p:spPr>
            <a:xfrm>
              <a:off x="4190489"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5962EE4-CCA5-16D1-93A4-40A5474E017A}"/>
                </a:ext>
              </a:extLst>
            </p:cNvPr>
            <p:cNvCxnSpPr>
              <a:cxnSpLocks/>
            </p:cNvCxnSpPr>
            <p:nvPr/>
          </p:nvCxnSpPr>
          <p:spPr>
            <a:xfrm>
              <a:off x="5296420"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CB6EA4A-EC6C-9CA7-6C50-E8391E1EEDD1}"/>
                </a:ext>
              </a:extLst>
            </p:cNvPr>
            <p:cNvCxnSpPr>
              <a:cxnSpLocks/>
            </p:cNvCxnSpPr>
            <p:nvPr/>
          </p:nvCxnSpPr>
          <p:spPr>
            <a:xfrm>
              <a:off x="6375846"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345FB8-CAC7-E28C-0202-0CFA804BBCCB}"/>
                </a:ext>
              </a:extLst>
            </p:cNvPr>
            <p:cNvCxnSpPr>
              <a:cxnSpLocks/>
            </p:cNvCxnSpPr>
            <p:nvPr/>
          </p:nvCxnSpPr>
          <p:spPr>
            <a:xfrm>
              <a:off x="7479474"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6E26718-532B-BB97-453B-D249C82E7B75}"/>
                </a:ext>
              </a:extLst>
            </p:cNvPr>
            <p:cNvCxnSpPr>
              <a:cxnSpLocks/>
            </p:cNvCxnSpPr>
            <p:nvPr/>
          </p:nvCxnSpPr>
          <p:spPr>
            <a:xfrm>
              <a:off x="8572051"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20" name="Rectangle 19">
            <a:extLst>
              <a:ext uri="{FF2B5EF4-FFF2-40B4-BE49-F238E27FC236}">
                <a16:creationId xmlns:a16="http://schemas.microsoft.com/office/drawing/2014/main" id="{F5F33090-5922-AF9A-EB23-2784D9D0C0AA}"/>
              </a:ext>
            </a:extLst>
          </p:cNvPr>
          <p:cNvSpPr/>
          <p:nvPr/>
        </p:nvSpPr>
        <p:spPr>
          <a:xfrm>
            <a:off x="644292" y="1519434"/>
            <a:ext cx="1388629" cy="487696"/>
          </a:xfrm>
          <a:prstGeom prst="rect">
            <a:avLst/>
          </a:prstGeom>
          <a:solidFill>
            <a:schemeClr val="tx2"/>
          </a:solidFill>
          <a:ln w="12700">
            <a:noFill/>
          </a:ln>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ctr"/>
          <a:lstStyle/>
          <a:p>
            <a:pPr algn="ctr"/>
            <a:r>
              <a:rPr lang="en-US" sz="1600" b="1">
                <a:solidFill>
                  <a:schemeClr val="bg1"/>
                </a:solidFill>
              </a:rPr>
              <a:t>BI 1291583</a:t>
            </a:r>
          </a:p>
        </p:txBody>
      </p:sp>
      <p:sp>
        <p:nvSpPr>
          <p:cNvPr id="2" name="Title 1">
            <a:extLst>
              <a:ext uri="{FF2B5EF4-FFF2-40B4-BE49-F238E27FC236}">
                <a16:creationId xmlns:a16="http://schemas.microsoft.com/office/drawing/2014/main" id="{479292B8-7046-5554-C94C-5A8F864D6D94}"/>
              </a:ext>
            </a:extLst>
          </p:cNvPr>
          <p:cNvSpPr>
            <a:spLocks noGrp="1"/>
          </p:cNvSpPr>
          <p:nvPr>
            <p:ph type="title"/>
          </p:nvPr>
        </p:nvSpPr>
        <p:spPr>
          <a:xfrm>
            <a:off x="133685" y="335694"/>
            <a:ext cx="11253203" cy="369079"/>
          </a:xfrm>
        </p:spPr>
        <p:txBody>
          <a:bodyPr vert="horz"/>
          <a:lstStyle/>
          <a:p>
            <a:r>
              <a:rPr lang="en-US">
                <a:solidFill>
                  <a:schemeClr val="tx1"/>
                </a:solidFill>
              </a:rPr>
              <a:t>Competitor</a:t>
            </a:r>
            <a:r>
              <a:rPr lang="en-US" kern="1200">
                <a:solidFill>
                  <a:schemeClr val="tx1"/>
                </a:solidFill>
                <a:latin typeface="+mj-lt"/>
                <a:ea typeface="+mj-ea"/>
                <a:cs typeface="+mj-cs"/>
              </a:rPr>
              <a:t> landscape beyond DPP1 inhibitors in NCFBE/ ‘One’ BE</a:t>
            </a:r>
          </a:p>
        </p:txBody>
      </p:sp>
      <p:sp>
        <p:nvSpPr>
          <p:cNvPr id="2084" name="Diamond 2083">
            <a:extLst>
              <a:ext uri="{FF2B5EF4-FFF2-40B4-BE49-F238E27FC236}">
                <a16:creationId xmlns:a16="http://schemas.microsoft.com/office/drawing/2014/main" id="{62CC0A8F-7C36-B80F-4075-A4E673BCB6CE}"/>
              </a:ext>
            </a:extLst>
          </p:cNvPr>
          <p:cNvSpPr/>
          <p:nvPr/>
        </p:nvSpPr>
        <p:spPr bwMode="gray">
          <a:xfrm>
            <a:off x="8445417" y="1599296"/>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61" name="TextBox 2060">
            <a:extLst>
              <a:ext uri="{FF2B5EF4-FFF2-40B4-BE49-F238E27FC236}">
                <a16:creationId xmlns:a16="http://schemas.microsoft.com/office/drawing/2014/main" id="{D49B4DC1-1E0D-38D3-BCF4-E9DEEFCEB53D}"/>
              </a:ext>
            </a:extLst>
          </p:cNvPr>
          <p:cNvSpPr txBox="1"/>
          <p:nvPr/>
        </p:nvSpPr>
        <p:spPr bwMode="gray">
          <a:xfrm>
            <a:off x="7634969" y="1793360"/>
            <a:ext cx="2175275" cy="246221"/>
          </a:xfrm>
          <a:prstGeom prst="rect">
            <a:avLst/>
          </a:prstGeom>
          <a:noFill/>
        </p:spPr>
        <p:txBody>
          <a:bodyPr wrap="none" lIns="0" tIns="0" rIns="0" bIns="0" rtlCol="0">
            <a:spAutoFit/>
          </a:bodyPr>
          <a:lstStyle/>
          <a:p>
            <a:pPr algn="l"/>
            <a:r>
              <a:rPr lang="en-US" sz="1600" b="1"/>
              <a:t>Launch US,</a:t>
            </a:r>
            <a:r>
              <a:rPr lang="en-US" sz="1600" b="1">
                <a:sym typeface="Wingdings" panose="05000000000000000000" pitchFamily="2" charset="2"/>
              </a:rPr>
              <a:t> EU, JP, CN</a:t>
            </a:r>
            <a:endParaRPr lang="en-US" sz="1600" b="1"/>
          </a:p>
        </p:txBody>
      </p:sp>
      <p:sp>
        <p:nvSpPr>
          <p:cNvPr id="2099" name="Diamond 2098">
            <a:extLst>
              <a:ext uri="{FF2B5EF4-FFF2-40B4-BE49-F238E27FC236}">
                <a16:creationId xmlns:a16="http://schemas.microsoft.com/office/drawing/2014/main" id="{29D4B18C-1B03-81F5-CEE2-164B75FF4D5A}"/>
              </a:ext>
            </a:extLst>
          </p:cNvPr>
          <p:cNvSpPr/>
          <p:nvPr/>
        </p:nvSpPr>
        <p:spPr bwMode="gray">
          <a:xfrm>
            <a:off x="6718340" y="3060543"/>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6" name="Diamond 2105">
            <a:extLst>
              <a:ext uri="{FF2B5EF4-FFF2-40B4-BE49-F238E27FC236}">
                <a16:creationId xmlns:a16="http://schemas.microsoft.com/office/drawing/2014/main" id="{B20321FC-342A-8629-137B-3F21A9EFD7D7}"/>
              </a:ext>
            </a:extLst>
          </p:cNvPr>
          <p:cNvSpPr/>
          <p:nvPr/>
        </p:nvSpPr>
        <p:spPr bwMode="gray">
          <a:xfrm>
            <a:off x="8770133" y="1599296"/>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8" name="Diamond 2107">
            <a:extLst>
              <a:ext uri="{FF2B5EF4-FFF2-40B4-BE49-F238E27FC236}">
                <a16:creationId xmlns:a16="http://schemas.microsoft.com/office/drawing/2014/main" id="{00FC4AD9-B05A-235F-1CF1-4B2614CB028C}"/>
              </a:ext>
            </a:extLst>
          </p:cNvPr>
          <p:cNvSpPr/>
          <p:nvPr/>
        </p:nvSpPr>
        <p:spPr bwMode="gray">
          <a:xfrm>
            <a:off x="8945037" y="1599296"/>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9" name="Diamond 2108">
            <a:extLst>
              <a:ext uri="{FF2B5EF4-FFF2-40B4-BE49-F238E27FC236}">
                <a16:creationId xmlns:a16="http://schemas.microsoft.com/office/drawing/2014/main" id="{236C9DDD-F61B-07AC-F46C-31416A2AF75D}"/>
              </a:ext>
            </a:extLst>
          </p:cNvPr>
          <p:cNvSpPr/>
          <p:nvPr/>
        </p:nvSpPr>
        <p:spPr bwMode="gray">
          <a:xfrm>
            <a:off x="9104190" y="1599296"/>
            <a:ext cx="153167" cy="153167"/>
          </a:xfrm>
          <a:prstGeom prst="diamond">
            <a:avLst/>
          </a:prstGeom>
          <a:solidFill>
            <a:srgbClr val="FF0000"/>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5" name="Arrow: Pentagon 4">
            <a:extLst>
              <a:ext uri="{FF2B5EF4-FFF2-40B4-BE49-F238E27FC236}">
                <a16:creationId xmlns:a16="http://schemas.microsoft.com/office/drawing/2014/main" id="{474E4B14-25B2-2142-77C7-37218BBA0331}"/>
              </a:ext>
            </a:extLst>
          </p:cNvPr>
          <p:cNvSpPr/>
          <p:nvPr/>
        </p:nvSpPr>
        <p:spPr bwMode="gray">
          <a:xfrm>
            <a:off x="3775327" y="1571874"/>
            <a:ext cx="3775599" cy="353672"/>
          </a:xfrm>
          <a:prstGeom prst="homePlate">
            <a:avLst/>
          </a:prstGeom>
          <a:solidFill>
            <a:srgbClr val="05F28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III: AIRTIVITY® (‘One’ BE)</a:t>
            </a:r>
          </a:p>
        </p:txBody>
      </p:sp>
      <p:sp>
        <p:nvSpPr>
          <p:cNvPr id="2051" name="TextBox 2050">
            <a:extLst>
              <a:ext uri="{FF2B5EF4-FFF2-40B4-BE49-F238E27FC236}">
                <a16:creationId xmlns:a16="http://schemas.microsoft.com/office/drawing/2014/main" id="{0EDF9396-7B9E-DB21-7370-CCFA4E21B84E}"/>
              </a:ext>
            </a:extLst>
          </p:cNvPr>
          <p:cNvSpPr txBox="1"/>
          <p:nvPr/>
        </p:nvSpPr>
        <p:spPr bwMode="gray">
          <a:xfrm>
            <a:off x="8799065" y="3053555"/>
            <a:ext cx="1116947" cy="369332"/>
          </a:xfrm>
          <a:prstGeom prst="rect">
            <a:avLst/>
          </a:prstGeom>
          <a:noFill/>
        </p:spPr>
        <p:txBody>
          <a:bodyPr wrap="square" lIns="0" tIns="0" rIns="0" bIns="0" rtlCol="0">
            <a:spAutoFit/>
          </a:bodyPr>
          <a:lstStyle/>
          <a:p>
            <a:pPr algn="l"/>
            <a:r>
              <a:rPr lang="en-US" sz="1200">
                <a:solidFill>
                  <a:schemeClr val="bg1"/>
                </a:solidFill>
              </a:rPr>
              <a:t>Similar time of entry</a:t>
            </a:r>
          </a:p>
        </p:txBody>
      </p:sp>
      <p:sp>
        <p:nvSpPr>
          <p:cNvPr id="6" name="TextBox 5">
            <a:extLst>
              <a:ext uri="{FF2B5EF4-FFF2-40B4-BE49-F238E27FC236}">
                <a16:creationId xmlns:a16="http://schemas.microsoft.com/office/drawing/2014/main" id="{50114921-96F7-CFD5-8069-0740EAC10C6A}"/>
              </a:ext>
            </a:extLst>
          </p:cNvPr>
          <p:cNvSpPr txBox="1"/>
          <p:nvPr/>
        </p:nvSpPr>
        <p:spPr bwMode="gray">
          <a:xfrm>
            <a:off x="9758250" y="4313642"/>
            <a:ext cx="2637990" cy="205121"/>
          </a:xfrm>
          <a:prstGeom prst="rect">
            <a:avLst/>
          </a:prstGeom>
          <a:noFill/>
        </p:spPr>
        <p:txBody>
          <a:bodyPr wrap="square" lIns="0" tIns="0" rIns="0" bIns="0" rtlCol="0" anchor="t">
            <a:spAutoFit/>
          </a:bodyPr>
          <a:lstStyle/>
          <a:p>
            <a:r>
              <a:rPr lang="en-US" sz="1300" baseline="30000"/>
              <a:t>* Little knowledge about this program currently</a:t>
            </a:r>
            <a:endParaRPr lang="en-US" sz="1333"/>
          </a:p>
        </p:txBody>
      </p:sp>
      <p:grpSp>
        <p:nvGrpSpPr>
          <p:cNvPr id="28" name="Group 27">
            <a:extLst>
              <a:ext uri="{FF2B5EF4-FFF2-40B4-BE49-F238E27FC236}">
                <a16:creationId xmlns:a16="http://schemas.microsoft.com/office/drawing/2014/main" id="{6762D2E9-BAF7-A70E-4A1B-3AC5CC688382}"/>
              </a:ext>
            </a:extLst>
          </p:cNvPr>
          <p:cNvGrpSpPr/>
          <p:nvPr/>
        </p:nvGrpSpPr>
        <p:grpSpPr>
          <a:xfrm>
            <a:off x="2144542" y="1116360"/>
            <a:ext cx="8818167" cy="296383"/>
            <a:chOff x="2365596" y="1575621"/>
            <a:chExt cx="8818167" cy="296383"/>
          </a:xfrm>
        </p:grpSpPr>
        <p:grpSp>
          <p:nvGrpSpPr>
            <p:cNvPr id="23" name="Group 22">
              <a:extLst>
                <a:ext uri="{FF2B5EF4-FFF2-40B4-BE49-F238E27FC236}">
                  <a16:creationId xmlns:a16="http://schemas.microsoft.com/office/drawing/2014/main" id="{E138A0D1-4552-0C68-EDFB-217AEC21169C}"/>
                </a:ext>
              </a:extLst>
            </p:cNvPr>
            <p:cNvGrpSpPr/>
            <p:nvPr/>
          </p:nvGrpSpPr>
          <p:grpSpPr>
            <a:xfrm>
              <a:off x="3460279" y="1575621"/>
              <a:ext cx="7723484" cy="287323"/>
              <a:chOff x="2922944" y="2061784"/>
              <a:chExt cx="7723484" cy="287323"/>
            </a:xfrm>
          </p:grpSpPr>
          <p:sp>
            <p:nvSpPr>
              <p:cNvPr id="25" name="Arrow: Chevron 24">
                <a:extLst>
                  <a:ext uri="{FF2B5EF4-FFF2-40B4-BE49-F238E27FC236}">
                    <a16:creationId xmlns:a16="http://schemas.microsoft.com/office/drawing/2014/main" id="{F06E8BC6-30B3-D73C-83F9-3E8899BD0B50}"/>
                  </a:ext>
                </a:extLst>
              </p:cNvPr>
              <p:cNvSpPr/>
              <p:nvPr/>
            </p:nvSpPr>
            <p:spPr>
              <a:xfrm>
                <a:off x="2922944" y="2061784"/>
                <a:ext cx="1166612" cy="287323"/>
              </a:xfrm>
              <a:prstGeom prst="chevron">
                <a:avLst/>
              </a:prstGeom>
              <a:solidFill>
                <a:schemeClr val="accent2">
                  <a:lumMod val="50000"/>
                </a:schemeClr>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2025</a:t>
                </a:r>
              </a:p>
            </p:txBody>
          </p:sp>
          <p:sp>
            <p:nvSpPr>
              <p:cNvPr id="26" name="Arrow: Chevron 25">
                <a:extLst>
                  <a:ext uri="{FF2B5EF4-FFF2-40B4-BE49-F238E27FC236}">
                    <a16:creationId xmlns:a16="http://schemas.microsoft.com/office/drawing/2014/main" id="{B6CD9A55-BC2B-A239-9C4B-9C33FD795168}"/>
                  </a:ext>
                </a:extLst>
              </p:cNvPr>
              <p:cNvSpPr/>
              <p:nvPr/>
            </p:nvSpPr>
            <p:spPr>
              <a:xfrm>
                <a:off x="4017625"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2026</a:t>
                </a:r>
              </a:p>
            </p:txBody>
          </p:sp>
          <p:sp>
            <p:nvSpPr>
              <p:cNvPr id="33" name="Arrow: Chevron 32">
                <a:extLst>
                  <a:ext uri="{FF2B5EF4-FFF2-40B4-BE49-F238E27FC236}">
                    <a16:creationId xmlns:a16="http://schemas.microsoft.com/office/drawing/2014/main" id="{17A1F4DB-B83E-06C3-236C-CA9264164075}"/>
                  </a:ext>
                </a:extLst>
              </p:cNvPr>
              <p:cNvSpPr/>
              <p:nvPr/>
            </p:nvSpPr>
            <p:spPr>
              <a:xfrm>
                <a:off x="5112306"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2027</a:t>
                </a:r>
              </a:p>
            </p:txBody>
          </p:sp>
          <p:sp>
            <p:nvSpPr>
              <p:cNvPr id="35" name="Arrow: Chevron 34">
                <a:extLst>
                  <a:ext uri="{FF2B5EF4-FFF2-40B4-BE49-F238E27FC236}">
                    <a16:creationId xmlns:a16="http://schemas.microsoft.com/office/drawing/2014/main" id="{ABCF7C48-5D05-EC4F-0B69-C27F1E0FC1D7}"/>
                  </a:ext>
                </a:extLst>
              </p:cNvPr>
              <p:cNvSpPr/>
              <p:nvPr/>
            </p:nvSpPr>
            <p:spPr>
              <a:xfrm>
                <a:off x="6206989"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2028</a:t>
                </a:r>
              </a:p>
            </p:txBody>
          </p:sp>
          <p:sp>
            <p:nvSpPr>
              <p:cNvPr id="37" name="Arrow: Chevron 36">
                <a:extLst>
                  <a:ext uri="{FF2B5EF4-FFF2-40B4-BE49-F238E27FC236}">
                    <a16:creationId xmlns:a16="http://schemas.microsoft.com/office/drawing/2014/main" id="{37B2441F-9A2D-DF21-F441-B507633FBE5E}"/>
                  </a:ext>
                </a:extLst>
              </p:cNvPr>
              <p:cNvSpPr/>
              <p:nvPr/>
            </p:nvSpPr>
            <p:spPr>
              <a:xfrm>
                <a:off x="7301672"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2029</a:t>
                </a:r>
              </a:p>
            </p:txBody>
          </p:sp>
          <p:sp>
            <p:nvSpPr>
              <p:cNvPr id="38" name="Arrow: Chevron 37">
                <a:extLst>
                  <a:ext uri="{FF2B5EF4-FFF2-40B4-BE49-F238E27FC236}">
                    <a16:creationId xmlns:a16="http://schemas.microsoft.com/office/drawing/2014/main" id="{8726716E-77F0-B216-993C-6318732EAA78}"/>
                  </a:ext>
                </a:extLst>
              </p:cNvPr>
              <p:cNvSpPr/>
              <p:nvPr/>
            </p:nvSpPr>
            <p:spPr>
              <a:xfrm>
                <a:off x="8385268"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2030</a:t>
                </a:r>
              </a:p>
            </p:txBody>
          </p:sp>
          <p:sp>
            <p:nvSpPr>
              <p:cNvPr id="39" name="Arrow: Chevron 38">
                <a:extLst>
                  <a:ext uri="{FF2B5EF4-FFF2-40B4-BE49-F238E27FC236}">
                    <a16:creationId xmlns:a16="http://schemas.microsoft.com/office/drawing/2014/main" id="{D972FAD4-15C4-3D72-9396-59153B5C1A0E}"/>
                  </a:ext>
                </a:extLst>
              </p:cNvPr>
              <p:cNvSpPr/>
              <p:nvPr/>
            </p:nvSpPr>
            <p:spPr>
              <a:xfrm>
                <a:off x="9479816"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2031</a:t>
                </a:r>
              </a:p>
            </p:txBody>
          </p:sp>
        </p:grpSp>
        <p:sp>
          <p:nvSpPr>
            <p:cNvPr id="27" name="Arrow: Pentagon 26">
              <a:extLst>
                <a:ext uri="{FF2B5EF4-FFF2-40B4-BE49-F238E27FC236}">
                  <a16:creationId xmlns:a16="http://schemas.microsoft.com/office/drawing/2014/main" id="{E1B9DB41-7E3A-B067-7747-107D34C84B77}"/>
                </a:ext>
              </a:extLst>
            </p:cNvPr>
            <p:cNvSpPr/>
            <p:nvPr/>
          </p:nvSpPr>
          <p:spPr bwMode="gray">
            <a:xfrm>
              <a:off x="2365596" y="1579676"/>
              <a:ext cx="1166612" cy="292328"/>
            </a:xfrm>
            <a:prstGeom prst="homePlate">
              <a:avLst/>
            </a:prstGeom>
            <a:solidFill>
              <a:schemeClr val="bg2"/>
            </a:solidFill>
            <a:ln>
              <a:noFill/>
            </a:ln>
            <a:effectLst/>
          </p:spPr>
          <p:txBody>
            <a:bodyPr rtlCol="0" anchor="ctr"/>
            <a:lstStyle/>
            <a:p>
              <a:pPr algn="ctr" defTabSz="1219108"/>
              <a:r>
                <a:rPr lang="en-US" sz="1600" kern="0">
                  <a:solidFill>
                    <a:schemeClr val="bg1"/>
                  </a:solidFill>
                  <a:latin typeface="BISansOpti" panose="02000503040000020004" pitchFamily="2" charset="0"/>
                  <a:cs typeface="Calibri" panose="020F0502020204030204" pitchFamily="34" charset="0"/>
                </a:rPr>
                <a:t>2024</a:t>
              </a:r>
            </a:p>
          </p:txBody>
        </p:sp>
      </p:grpSp>
      <p:cxnSp>
        <p:nvCxnSpPr>
          <p:cNvPr id="2066" name="Connector: Elbow 2065">
            <a:extLst>
              <a:ext uri="{FF2B5EF4-FFF2-40B4-BE49-F238E27FC236}">
                <a16:creationId xmlns:a16="http://schemas.microsoft.com/office/drawing/2014/main" id="{5CFEAE53-F62E-3F47-5700-8D249249189F}"/>
              </a:ext>
            </a:extLst>
          </p:cNvPr>
          <p:cNvCxnSpPr>
            <a:cxnSpLocks/>
            <a:stCxn id="2069" idx="0"/>
            <a:endCxn id="2109" idx="3"/>
          </p:cNvCxnSpPr>
          <p:nvPr/>
        </p:nvCxnSpPr>
        <p:spPr bwMode="gray">
          <a:xfrm rot="16200000" flipV="1">
            <a:off x="9610056" y="1323181"/>
            <a:ext cx="707936" cy="1413334"/>
          </a:xfrm>
          <a:prstGeom prst="bentConnector2">
            <a:avLst/>
          </a:prstGeom>
          <a:ln w="1905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2049" name="Arrow: Pentagon 2048">
            <a:extLst>
              <a:ext uri="{FF2B5EF4-FFF2-40B4-BE49-F238E27FC236}">
                <a16:creationId xmlns:a16="http://schemas.microsoft.com/office/drawing/2014/main" id="{B1AF59DF-E7EB-50CC-5ECF-90A5C8A3D930}"/>
              </a:ext>
            </a:extLst>
          </p:cNvPr>
          <p:cNvSpPr/>
          <p:nvPr/>
        </p:nvSpPr>
        <p:spPr bwMode="gray">
          <a:xfrm>
            <a:off x="3814276" y="2214567"/>
            <a:ext cx="2630885" cy="441261"/>
          </a:xfrm>
          <a:prstGeom prst="homePlat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altLang="zh-CN" sz="1400" b="1">
                <a:solidFill>
                  <a:schemeClr val="tx1"/>
                </a:solidFill>
                <a:latin typeface="Boehringer Forward Text"/>
              </a:rPr>
              <a:t>China Joining Global Ph II </a:t>
            </a:r>
            <a:r>
              <a:rPr lang="en-US" altLang="zh-CN" sz="1200" b="1">
                <a:solidFill>
                  <a:schemeClr val="tx1"/>
                </a:solidFill>
                <a:latin typeface="Boehringer Forward Text"/>
              </a:rPr>
              <a:t>(NCFBE, n=363)</a:t>
            </a:r>
            <a:endParaRPr lang="en-US" sz="1200" b="1">
              <a:solidFill>
                <a:schemeClr val="tx1"/>
              </a:solidFill>
              <a:latin typeface="Boehringer Forward Text"/>
            </a:endParaRPr>
          </a:p>
        </p:txBody>
      </p:sp>
      <p:sp>
        <p:nvSpPr>
          <p:cNvPr id="2053" name="TextBox 50">
            <a:extLst>
              <a:ext uri="{FF2B5EF4-FFF2-40B4-BE49-F238E27FC236}">
                <a16:creationId xmlns:a16="http://schemas.microsoft.com/office/drawing/2014/main" id="{DA3344AA-1D6C-40BB-3135-293BCEFCBDAE}"/>
              </a:ext>
            </a:extLst>
          </p:cNvPr>
          <p:cNvSpPr txBox="1"/>
          <p:nvPr/>
        </p:nvSpPr>
        <p:spPr>
          <a:xfrm>
            <a:off x="5990247" y="2745263"/>
            <a:ext cx="1266898" cy="230832"/>
          </a:xfrm>
          <a:prstGeom prst="rect">
            <a:avLst/>
          </a:prstGeom>
          <a:noFill/>
        </p:spPr>
        <p:txBody>
          <a:bodyPr wrap="square" lIns="91440" tIns="45720" rIns="91440" bIns="45720" anchor="t">
            <a:spAutoFit/>
          </a:bodyPr>
          <a:lstStyle/>
          <a:p>
            <a:r>
              <a:rPr lang="en-US" altLang="zh-CN" sz="900" b="1" i="0" kern="1200">
                <a:solidFill>
                  <a:schemeClr val="bg1"/>
                </a:solidFill>
                <a:effectLst/>
                <a:latin typeface="+mn-lt"/>
                <a:ea typeface="+mn-ea"/>
                <a:cs typeface="+mn-cs"/>
              </a:rPr>
              <a:t>LPLV </a:t>
            </a:r>
            <a:r>
              <a:rPr lang="en-US" sz="900" b="1">
                <a:solidFill>
                  <a:schemeClr val="bg1"/>
                </a:solidFill>
              </a:rPr>
              <a:t>2027-12</a:t>
            </a:r>
            <a:endParaRPr lang="en-US" sz="1100" b="1">
              <a:solidFill>
                <a:schemeClr val="bg1"/>
              </a:solidFill>
              <a:effectLst/>
              <a:latin typeface="Arial" panose="020B0604020202020204" pitchFamily="34" charset="0"/>
            </a:endParaRPr>
          </a:p>
        </p:txBody>
      </p:sp>
      <p:sp>
        <p:nvSpPr>
          <p:cNvPr id="2064" name="Diamond 54">
            <a:extLst>
              <a:ext uri="{FF2B5EF4-FFF2-40B4-BE49-F238E27FC236}">
                <a16:creationId xmlns:a16="http://schemas.microsoft.com/office/drawing/2014/main" id="{B0B9A8EB-C31E-5329-A568-DC2179FE7F8A}"/>
              </a:ext>
            </a:extLst>
          </p:cNvPr>
          <p:cNvSpPr/>
          <p:nvPr/>
        </p:nvSpPr>
        <p:spPr bwMode="gray">
          <a:xfrm>
            <a:off x="6349259" y="2611159"/>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pic>
        <p:nvPicPr>
          <p:cNvPr id="1028" name="Picture 4" descr="Gsk Logo [glaxosmithkline] Png - Transparent Gsk Logo Vector, Png ...">
            <a:extLst>
              <a:ext uri="{FF2B5EF4-FFF2-40B4-BE49-F238E27FC236}">
                <a16:creationId xmlns:a16="http://schemas.microsoft.com/office/drawing/2014/main" id="{10DA38EC-8E99-4915-CF75-89EEA0C118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556" y="2312777"/>
            <a:ext cx="581689" cy="501726"/>
          </a:xfrm>
          <a:prstGeom prst="rect">
            <a:avLst/>
          </a:prstGeom>
          <a:noFill/>
          <a:extLst>
            <a:ext uri="{909E8E84-426E-40DD-AFC4-6F175D3DCCD1}">
              <a14:hiddenFill xmlns:a14="http://schemas.microsoft.com/office/drawing/2010/main">
                <a:solidFill>
                  <a:srgbClr val="FFFFFF"/>
                </a:solidFill>
              </a14:hiddenFill>
            </a:ext>
          </a:extLst>
        </p:spPr>
      </p:pic>
      <p:sp>
        <p:nvSpPr>
          <p:cNvPr id="2068" name="TextBox 2067">
            <a:extLst>
              <a:ext uri="{FF2B5EF4-FFF2-40B4-BE49-F238E27FC236}">
                <a16:creationId xmlns:a16="http://schemas.microsoft.com/office/drawing/2014/main" id="{2EE4BF42-BC95-CC52-4A22-0240BBC4CDAB}"/>
              </a:ext>
            </a:extLst>
          </p:cNvPr>
          <p:cNvSpPr txBox="1"/>
          <p:nvPr/>
        </p:nvSpPr>
        <p:spPr>
          <a:xfrm>
            <a:off x="990268" y="2315863"/>
            <a:ext cx="1648726" cy="523220"/>
          </a:xfrm>
          <a:prstGeom prst="rect">
            <a:avLst/>
          </a:prstGeom>
          <a:noFill/>
        </p:spPr>
        <p:txBody>
          <a:bodyPr wrap="square">
            <a:spAutoFit/>
          </a:bodyPr>
          <a:lstStyle/>
          <a:p>
            <a:r>
              <a:rPr lang="en-US" sz="1400" b="1">
                <a:solidFill>
                  <a:schemeClr val="bg1"/>
                </a:solidFill>
              </a:rPr>
              <a:t>GSK3862995B</a:t>
            </a:r>
          </a:p>
          <a:p>
            <a:r>
              <a:rPr lang="en-US" sz="1400">
                <a:solidFill>
                  <a:schemeClr val="bg1"/>
                </a:solidFill>
              </a:rPr>
              <a:t> (</a:t>
            </a:r>
            <a:r>
              <a:rPr lang="en-US" altLang="zh-CN" sz="1400">
                <a:solidFill>
                  <a:schemeClr val="bg1"/>
                </a:solidFill>
              </a:rPr>
              <a:t>a</a:t>
            </a:r>
            <a:r>
              <a:rPr lang="en-US" sz="1400">
                <a:solidFill>
                  <a:schemeClr val="bg1"/>
                </a:solidFill>
              </a:rPr>
              <a:t>IL-33 mAb)</a:t>
            </a:r>
          </a:p>
        </p:txBody>
      </p:sp>
      <p:sp>
        <p:nvSpPr>
          <p:cNvPr id="2069" name="Diamond 2068">
            <a:extLst>
              <a:ext uri="{FF2B5EF4-FFF2-40B4-BE49-F238E27FC236}">
                <a16:creationId xmlns:a16="http://schemas.microsoft.com/office/drawing/2014/main" id="{847E51BC-8C6D-1F37-B317-9A214F5FD3FA}"/>
              </a:ext>
            </a:extLst>
          </p:cNvPr>
          <p:cNvSpPr/>
          <p:nvPr/>
        </p:nvSpPr>
        <p:spPr bwMode="gray">
          <a:xfrm>
            <a:off x="10583466" y="2383816"/>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70" name="Arrow: Pentagon 2069">
            <a:extLst>
              <a:ext uri="{FF2B5EF4-FFF2-40B4-BE49-F238E27FC236}">
                <a16:creationId xmlns:a16="http://schemas.microsoft.com/office/drawing/2014/main" id="{93DF2C56-B0E4-8705-D8D9-7B31B4BC8636}"/>
              </a:ext>
            </a:extLst>
          </p:cNvPr>
          <p:cNvSpPr/>
          <p:nvPr/>
        </p:nvSpPr>
        <p:spPr bwMode="gray">
          <a:xfrm>
            <a:off x="6794693" y="2214567"/>
            <a:ext cx="2560494" cy="444441"/>
          </a:xfrm>
          <a:prstGeom prst="homePlat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China Joining Global Ph III (tbd*)</a:t>
            </a:r>
          </a:p>
        </p:txBody>
      </p:sp>
      <p:sp>
        <p:nvSpPr>
          <p:cNvPr id="2075" name="TextBox 2074">
            <a:extLst>
              <a:ext uri="{FF2B5EF4-FFF2-40B4-BE49-F238E27FC236}">
                <a16:creationId xmlns:a16="http://schemas.microsoft.com/office/drawing/2014/main" id="{7BA86E5C-C68E-646D-7117-8FDB1CF6C6CF}"/>
              </a:ext>
            </a:extLst>
          </p:cNvPr>
          <p:cNvSpPr txBox="1"/>
          <p:nvPr/>
        </p:nvSpPr>
        <p:spPr bwMode="gray">
          <a:xfrm>
            <a:off x="10135952" y="2600776"/>
            <a:ext cx="1941261" cy="246221"/>
          </a:xfrm>
          <a:prstGeom prst="rect">
            <a:avLst/>
          </a:prstGeom>
          <a:noFill/>
        </p:spPr>
        <p:txBody>
          <a:bodyPr wrap="square" lIns="0" tIns="0" rIns="0" bIns="0" rtlCol="0" anchor="t">
            <a:spAutoFit/>
          </a:bodyPr>
          <a:lstStyle/>
          <a:p>
            <a:r>
              <a:rPr lang="en-US" sz="1600">
                <a:solidFill>
                  <a:schemeClr val="bg1"/>
                </a:solidFill>
              </a:rPr>
              <a:t>Launch CN (tbd*)</a:t>
            </a:r>
          </a:p>
        </p:txBody>
      </p:sp>
      <p:sp>
        <p:nvSpPr>
          <p:cNvPr id="44" name="Arrow: Pentagon 43">
            <a:extLst>
              <a:ext uri="{FF2B5EF4-FFF2-40B4-BE49-F238E27FC236}">
                <a16:creationId xmlns:a16="http://schemas.microsoft.com/office/drawing/2014/main" id="{99C4DCF0-83F6-8658-294C-0420E2EE861A}"/>
              </a:ext>
            </a:extLst>
          </p:cNvPr>
          <p:cNvSpPr/>
          <p:nvPr/>
        </p:nvSpPr>
        <p:spPr bwMode="gray">
          <a:xfrm>
            <a:off x="2040935" y="3490728"/>
            <a:ext cx="2630885" cy="441261"/>
          </a:xfrm>
          <a:prstGeom prst="homePlat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altLang="zh-CN" sz="1400" b="1">
                <a:solidFill>
                  <a:schemeClr val="tx1"/>
                </a:solidFill>
                <a:latin typeface="Boehringer Forward Text"/>
              </a:rPr>
              <a:t>China Joining Global Ph II </a:t>
            </a:r>
            <a:r>
              <a:rPr lang="en-US" altLang="zh-CN" sz="1200" b="1">
                <a:solidFill>
                  <a:schemeClr val="tx1"/>
                </a:solidFill>
                <a:latin typeface="Boehringer Forward Text"/>
              </a:rPr>
              <a:t>(NCFBE, n=363)</a:t>
            </a:r>
            <a:endParaRPr lang="en-US" sz="1200" b="1">
              <a:solidFill>
                <a:schemeClr val="tx1"/>
              </a:solidFill>
              <a:latin typeface="Boehringer Forward Text"/>
            </a:endParaRPr>
          </a:p>
        </p:txBody>
      </p:sp>
      <p:sp>
        <p:nvSpPr>
          <p:cNvPr id="53" name="Rectangle: Rounded Corners 1064">
            <a:extLst>
              <a:ext uri="{FF2B5EF4-FFF2-40B4-BE49-F238E27FC236}">
                <a16:creationId xmlns:a16="http://schemas.microsoft.com/office/drawing/2014/main" id="{AF7B217D-5F2B-69BB-C15E-8FE73A3E09E9}"/>
              </a:ext>
            </a:extLst>
          </p:cNvPr>
          <p:cNvSpPr/>
          <p:nvPr/>
        </p:nvSpPr>
        <p:spPr bwMode="gray">
          <a:xfrm>
            <a:off x="253273" y="3178264"/>
            <a:ext cx="11739903" cy="1087303"/>
          </a:xfrm>
          <a:prstGeom prst="roundRect">
            <a:avLst/>
          </a:prstGeom>
          <a:solidFill>
            <a:srgbClr val="7900E6"/>
          </a:solidFill>
          <a:ln w="19050">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40000"/>
              </a:lnSpc>
            </a:pPr>
            <a:endParaRPr lang="en-US" altLang="zh-CN" sz="1600">
              <a:solidFill>
                <a:schemeClr val="tx1"/>
              </a:solidFill>
            </a:endParaRPr>
          </a:p>
        </p:txBody>
      </p:sp>
      <p:pic>
        <p:nvPicPr>
          <p:cNvPr id="60" name="Picture 59">
            <a:extLst>
              <a:ext uri="{FF2B5EF4-FFF2-40B4-BE49-F238E27FC236}">
                <a16:creationId xmlns:a16="http://schemas.microsoft.com/office/drawing/2014/main" id="{D2210BB3-8D53-D207-597C-5FEF34122EDD}"/>
              </a:ext>
            </a:extLst>
          </p:cNvPr>
          <p:cNvPicPr>
            <a:picLocks noChangeAspect="1"/>
          </p:cNvPicPr>
          <p:nvPr/>
        </p:nvPicPr>
        <p:blipFill>
          <a:blip r:embed="rId7"/>
          <a:stretch>
            <a:fillRect/>
          </a:stretch>
        </p:blipFill>
        <p:spPr>
          <a:xfrm>
            <a:off x="396556" y="3251615"/>
            <a:ext cx="937911" cy="313979"/>
          </a:xfrm>
          <a:prstGeom prst="rect">
            <a:avLst/>
          </a:prstGeom>
        </p:spPr>
      </p:pic>
      <p:sp>
        <p:nvSpPr>
          <p:cNvPr id="2080" name="TextBox 2079">
            <a:extLst>
              <a:ext uri="{FF2B5EF4-FFF2-40B4-BE49-F238E27FC236}">
                <a16:creationId xmlns:a16="http://schemas.microsoft.com/office/drawing/2014/main" id="{EED4DDD0-87DE-3693-93AB-B97E89DCD4A7}"/>
              </a:ext>
            </a:extLst>
          </p:cNvPr>
          <p:cNvSpPr txBox="1"/>
          <p:nvPr/>
        </p:nvSpPr>
        <p:spPr>
          <a:xfrm>
            <a:off x="350391" y="3645870"/>
            <a:ext cx="2051970" cy="523220"/>
          </a:xfrm>
          <a:prstGeom prst="rect">
            <a:avLst/>
          </a:prstGeom>
          <a:noFill/>
        </p:spPr>
        <p:txBody>
          <a:bodyPr wrap="square">
            <a:spAutoFit/>
          </a:bodyPr>
          <a:lstStyle/>
          <a:p>
            <a:r>
              <a:rPr lang="en-US" sz="1400" b="1">
                <a:solidFill>
                  <a:schemeClr val="bg1"/>
                </a:solidFill>
              </a:rPr>
              <a:t>Itepekimab </a:t>
            </a:r>
          </a:p>
          <a:p>
            <a:r>
              <a:rPr lang="en-US" sz="1400">
                <a:solidFill>
                  <a:schemeClr val="bg1"/>
                </a:solidFill>
              </a:rPr>
              <a:t>(</a:t>
            </a:r>
            <a:r>
              <a:rPr lang="en-US" altLang="zh-CN" sz="1400">
                <a:solidFill>
                  <a:schemeClr val="bg1"/>
                </a:solidFill>
              </a:rPr>
              <a:t>a</a:t>
            </a:r>
            <a:r>
              <a:rPr lang="en-US" sz="1400">
                <a:solidFill>
                  <a:schemeClr val="bg1"/>
                </a:solidFill>
              </a:rPr>
              <a:t>IL-33 mAb)  </a:t>
            </a:r>
          </a:p>
        </p:txBody>
      </p:sp>
      <p:sp>
        <p:nvSpPr>
          <p:cNvPr id="2082" name="Arrow: Pentagon 2081">
            <a:extLst>
              <a:ext uri="{FF2B5EF4-FFF2-40B4-BE49-F238E27FC236}">
                <a16:creationId xmlns:a16="http://schemas.microsoft.com/office/drawing/2014/main" id="{E0974641-292D-BB64-2796-E124E05B2EA6}"/>
              </a:ext>
            </a:extLst>
          </p:cNvPr>
          <p:cNvSpPr/>
          <p:nvPr/>
        </p:nvSpPr>
        <p:spPr bwMode="gray">
          <a:xfrm>
            <a:off x="2260755" y="3294277"/>
            <a:ext cx="2450246" cy="616148"/>
          </a:xfrm>
          <a:prstGeom prst="homePlat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altLang="zh-CN" sz="1400" b="1">
                <a:solidFill>
                  <a:schemeClr val="tx1"/>
                </a:solidFill>
                <a:latin typeface="Boehringer Forward Text"/>
              </a:rPr>
              <a:t>China Joining Global Ph II </a:t>
            </a:r>
            <a:r>
              <a:rPr lang="en-US" altLang="zh-CN" sz="1200" b="1">
                <a:solidFill>
                  <a:schemeClr val="tx1"/>
                </a:solidFill>
                <a:latin typeface="Boehringer Forward Text"/>
              </a:rPr>
              <a:t>(NCFBE, n=312) (Enrolment completed)</a:t>
            </a:r>
            <a:endParaRPr lang="en-US" sz="1200" b="1">
              <a:solidFill>
                <a:schemeClr val="tx1"/>
              </a:solidFill>
              <a:latin typeface="Boehringer Forward Text"/>
            </a:endParaRPr>
          </a:p>
        </p:txBody>
      </p:sp>
      <p:sp>
        <p:nvSpPr>
          <p:cNvPr id="2083" name="TextBox 50">
            <a:extLst>
              <a:ext uri="{FF2B5EF4-FFF2-40B4-BE49-F238E27FC236}">
                <a16:creationId xmlns:a16="http://schemas.microsoft.com/office/drawing/2014/main" id="{D538E10F-DDE7-E7FC-FD5D-9D6E873658FE}"/>
              </a:ext>
            </a:extLst>
          </p:cNvPr>
          <p:cNvSpPr txBox="1"/>
          <p:nvPr/>
        </p:nvSpPr>
        <p:spPr>
          <a:xfrm>
            <a:off x="4264142" y="3972580"/>
            <a:ext cx="1266898" cy="230832"/>
          </a:xfrm>
          <a:prstGeom prst="rect">
            <a:avLst/>
          </a:prstGeom>
          <a:noFill/>
        </p:spPr>
        <p:txBody>
          <a:bodyPr wrap="square" lIns="91440" tIns="45720" rIns="91440" bIns="45720" anchor="t">
            <a:spAutoFit/>
          </a:bodyPr>
          <a:lstStyle/>
          <a:p>
            <a:r>
              <a:rPr lang="en-US" altLang="zh-CN" sz="900" b="1" i="0" kern="1200">
                <a:solidFill>
                  <a:schemeClr val="bg1"/>
                </a:solidFill>
                <a:effectLst/>
                <a:latin typeface="+mn-lt"/>
                <a:ea typeface="+mn-ea"/>
                <a:cs typeface="+mn-cs"/>
              </a:rPr>
              <a:t>LPLV </a:t>
            </a:r>
            <a:r>
              <a:rPr lang="en-US" sz="900" b="1">
                <a:solidFill>
                  <a:schemeClr val="bg1"/>
                </a:solidFill>
              </a:rPr>
              <a:t>2026-02-02</a:t>
            </a:r>
            <a:endParaRPr lang="en-US" sz="1100" b="1">
              <a:solidFill>
                <a:schemeClr val="bg1"/>
              </a:solidFill>
              <a:effectLst/>
              <a:latin typeface="Arial" panose="020B0604020202020204" pitchFamily="34" charset="0"/>
            </a:endParaRPr>
          </a:p>
        </p:txBody>
      </p:sp>
      <p:sp>
        <p:nvSpPr>
          <p:cNvPr id="2085" name="Diamond 54">
            <a:extLst>
              <a:ext uri="{FF2B5EF4-FFF2-40B4-BE49-F238E27FC236}">
                <a16:creationId xmlns:a16="http://schemas.microsoft.com/office/drawing/2014/main" id="{7209211F-A670-8C93-C483-3CA13277FB21}"/>
              </a:ext>
            </a:extLst>
          </p:cNvPr>
          <p:cNvSpPr/>
          <p:nvPr/>
        </p:nvSpPr>
        <p:spPr bwMode="gray">
          <a:xfrm>
            <a:off x="4644410" y="3735976"/>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88" name="Arrow: Pentagon 2087">
            <a:extLst>
              <a:ext uri="{FF2B5EF4-FFF2-40B4-BE49-F238E27FC236}">
                <a16:creationId xmlns:a16="http://schemas.microsoft.com/office/drawing/2014/main" id="{70A8A41D-8EB9-89BB-E73C-B1B4DAAFE6E6}"/>
              </a:ext>
            </a:extLst>
          </p:cNvPr>
          <p:cNvSpPr/>
          <p:nvPr/>
        </p:nvSpPr>
        <p:spPr bwMode="gray">
          <a:xfrm>
            <a:off x="5025745" y="3340617"/>
            <a:ext cx="3104367" cy="501679"/>
          </a:xfrm>
          <a:prstGeom prst="homePlat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China Joining Global Ph III (tbd*)</a:t>
            </a:r>
          </a:p>
        </p:txBody>
      </p:sp>
      <p:sp>
        <p:nvSpPr>
          <p:cNvPr id="2089" name="Diamond 2088">
            <a:extLst>
              <a:ext uri="{FF2B5EF4-FFF2-40B4-BE49-F238E27FC236}">
                <a16:creationId xmlns:a16="http://schemas.microsoft.com/office/drawing/2014/main" id="{7D67222D-ED29-31FD-CF1C-C8FED962D4AD}"/>
              </a:ext>
            </a:extLst>
          </p:cNvPr>
          <p:cNvSpPr/>
          <p:nvPr/>
        </p:nvSpPr>
        <p:spPr bwMode="gray">
          <a:xfrm>
            <a:off x="9574214" y="3518414"/>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90" name="TextBox 2089">
            <a:extLst>
              <a:ext uri="{FF2B5EF4-FFF2-40B4-BE49-F238E27FC236}">
                <a16:creationId xmlns:a16="http://schemas.microsoft.com/office/drawing/2014/main" id="{05B738C8-7E2B-B4E0-8BA0-07B737AC979A}"/>
              </a:ext>
            </a:extLst>
          </p:cNvPr>
          <p:cNvSpPr txBox="1"/>
          <p:nvPr/>
        </p:nvSpPr>
        <p:spPr bwMode="gray">
          <a:xfrm>
            <a:off x="9126700" y="3735374"/>
            <a:ext cx="1941261" cy="246221"/>
          </a:xfrm>
          <a:prstGeom prst="rect">
            <a:avLst/>
          </a:prstGeom>
          <a:noFill/>
        </p:spPr>
        <p:txBody>
          <a:bodyPr wrap="square" lIns="0" tIns="0" rIns="0" bIns="0" rtlCol="0" anchor="t">
            <a:spAutoFit/>
          </a:bodyPr>
          <a:lstStyle/>
          <a:p>
            <a:r>
              <a:rPr lang="en-US" sz="1600">
                <a:solidFill>
                  <a:schemeClr val="bg1"/>
                </a:solidFill>
              </a:rPr>
              <a:t>Launch CN (tbd*)</a:t>
            </a:r>
          </a:p>
        </p:txBody>
      </p:sp>
      <p:cxnSp>
        <p:nvCxnSpPr>
          <p:cNvPr id="2063" name="Connector: Elbow 2062">
            <a:extLst>
              <a:ext uri="{FF2B5EF4-FFF2-40B4-BE49-F238E27FC236}">
                <a16:creationId xmlns:a16="http://schemas.microsoft.com/office/drawing/2014/main" id="{85E2C6C8-B4E1-82DA-B396-CFFDD593D9F8}"/>
              </a:ext>
            </a:extLst>
          </p:cNvPr>
          <p:cNvCxnSpPr>
            <a:cxnSpLocks/>
          </p:cNvCxnSpPr>
          <p:nvPr/>
        </p:nvCxnSpPr>
        <p:spPr bwMode="gray">
          <a:xfrm rot="16200000" flipV="1">
            <a:off x="8538131" y="2395106"/>
            <a:ext cx="1842534" cy="404082"/>
          </a:xfrm>
          <a:prstGeom prst="bentConnector2">
            <a:avLst/>
          </a:prstGeom>
          <a:ln w="28575">
            <a:solidFill>
              <a:srgbClr val="FFFF00"/>
            </a:solidFill>
            <a:prstDash val="dash"/>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3D734294-A6ED-824A-95EA-AC6F9562925A}"/>
              </a:ext>
            </a:extLst>
          </p:cNvPr>
          <p:cNvSpPr txBox="1"/>
          <p:nvPr/>
        </p:nvSpPr>
        <p:spPr bwMode="gray">
          <a:xfrm>
            <a:off x="4399501" y="2678355"/>
            <a:ext cx="1245436" cy="2149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solidFill>
                  <a:srgbClr val="FFFFFF"/>
                </a:solidFill>
              </a:rPr>
              <a:t>7 sites in overlap</a:t>
            </a:r>
          </a:p>
        </p:txBody>
      </p:sp>
      <p:sp>
        <p:nvSpPr>
          <p:cNvPr id="11" name="文本框 10">
            <a:extLst>
              <a:ext uri="{FF2B5EF4-FFF2-40B4-BE49-F238E27FC236}">
                <a16:creationId xmlns:a16="http://schemas.microsoft.com/office/drawing/2014/main" id="{2CCD4D35-207E-F2BF-A2CC-C06D55CBC730}"/>
              </a:ext>
            </a:extLst>
          </p:cNvPr>
          <p:cNvSpPr txBox="1"/>
          <p:nvPr/>
        </p:nvSpPr>
        <p:spPr bwMode="gray">
          <a:xfrm>
            <a:off x="3022392" y="3926933"/>
            <a:ext cx="1245436" cy="2149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solidFill>
                  <a:srgbClr val="FFFFFF"/>
                </a:solidFill>
              </a:rPr>
              <a:t>8 sites in overlap</a:t>
            </a:r>
          </a:p>
        </p:txBody>
      </p:sp>
      <p:sp>
        <p:nvSpPr>
          <p:cNvPr id="3" name="TextBox 2">
            <a:extLst>
              <a:ext uri="{FF2B5EF4-FFF2-40B4-BE49-F238E27FC236}">
                <a16:creationId xmlns:a16="http://schemas.microsoft.com/office/drawing/2014/main" id="{02334C8E-2B75-1935-32C3-B80454BD7034}"/>
              </a:ext>
            </a:extLst>
          </p:cNvPr>
          <p:cNvSpPr txBox="1"/>
          <p:nvPr/>
        </p:nvSpPr>
        <p:spPr bwMode="gray">
          <a:xfrm>
            <a:off x="2727849" y="4768154"/>
            <a:ext cx="6458586" cy="1694759"/>
          </a:xfrm>
          <a:prstGeom prst="rect">
            <a:avLst/>
          </a:prstGeom>
          <a:noFill/>
        </p:spPr>
        <p:txBody>
          <a:bodyPr wrap="square" lIns="0" tIns="0" rIns="0" bIns="0" rtlCol="0">
            <a:spAutoFit/>
          </a:bodyPr>
          <a:lstStyle/>
          <a:p>
            <a:pPr>
              <a:lnSpc>
                <a:spcPct val="140000"/>
              </a:lnSpc>
            </a:pPr>
            <a:r>
              <a:rPr lang="en-US" sz="1600" b="1"/>
              <a:t>Local competitions for trial enrolment</a:t>
            </a:r>
            <a:r>
              <a:rPr lang="zh-CN" altLang="en-US" sz="1600" b="1"/>
              <a:t>：</a:t>
            </a:r>
            <a:endParaRPr lang="en-US" sz="1600" b="1"/>
          </a:p>
          <a:p>
            <a:pPr marL="285750" indent="-285750">
              <a:lnSpc>
                <a:spcPct val="140000"/>
              </a:lnSpc>
              <a:buFont typeface="Wingdings" panose="05000000000000000000" pitchFamily="2" charset="2"/>
              <a:buChar char="q"/>
            </a:pPr>
            <a:r>
              <a:rPr lang="en-US" sz="1600" b="1" i="1"/>
              <a:t>Two ph2 and 1 ph3 trials for other DPP1 inhibitors are ongoing </a:t>
            </a:r>
          </a:p>
          <a:p>
            <a:pPr marL="742950" lvl="1" indent="-285750">
              <a:lnSpc>
                <a:spcPct val="140000"/>
              </a:lnSpc>
              <a:buFont typeface="Wingdings" panose="05000000000000000000" pitchFamily="2" charset="2"/>
              <a:buChar char="ü"/>
            </a:pPr>
            <a:r>
              <a:rPr lang="en-US" sz="1600">
                <a:solidFill>
                  <a:srgbClr val="0000FF"/>
                </a:solidFill>
              </a:rPr>
              <a:t>10-15</a:t>
            </a:r>
            <a:r>
              <a:rPr lang="en-US" sz="1600"/>
              <a:t> overlapping sites with each competitor</a:t>
            </a:r>
          </a:p>
          <a:p>
            <a:pPr marL="285750" indent="-285750">
              <a:lnSpc>
                <a:spcPct val="140000"/>
              </a:lnSpc>
              <a:buFont typeface="Wingdings" panose="05000000000000000000" pitchFamily="2" charset="2"/>
              <a:buChar char="q"/>
            </a:pPr>
            <a:r>
              <a:rPr lang="en-US" sz="1600" b="1" i="1"/>
              <a:t>Two aIL-33 mAb ph2 trials are ongoing</a:t>
            </a:r>
          </a:p>
          <a:p>
            <a:pPr marL="742950" lvl="1" indent="-285750">
              <a:lnSpc>
                <a:spcPct val="140000"/>
              </a:lnSpc>
              <a:buFont typeface="Wingdings" panose="05000000000000000000" pitchFamily="2" charset="2"/>
              <a:buChar char="ü"/>
            </a:pPr>
            <a:r>
              <a:rPr lang="en-US" sz="1600">
                <a:solidFill>
                  <a:srgbClr val="0000FF"/>
                </a:solidFill>
              </a:rPr>
              <a:t>7-8</a:t>
            </a:r>
            <a:r>
              <a:rPr lang="en-US" sz="1600"/>
              <a:t> overlapping sites with each competitor</a:t>
            </a:r>
          </a:p>
        </p:txBody>
      </p:sp>
    </p:spTree>
    <p:extLst>
      <p:ext uri="{BB962C8B-B14F-4D97-AF65-F5344CB8AC3E}">
        <p14:creationId xmlns:p14="http://schemas.microsoft.com/office/powerpoint/2010/main" val="13299822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79719BE-DDE8-A603-5B68-D60725176402}"/>
              </a:ext>
            </a:extLst>
          </p:cNvPr>
          <p:cNvSpPr>
            <a:spLocks noGrp="1"/>
          </p:cNvSpPr>
          <p:nvPr>
            <p:ph type="body" sz="quarter" idx="13"/>
          </p:nvPr>
        </p:nvSpPr>
        <p:spPr/>
        <p:txBody>
          <a:bodyPr/>
          <a:lstStyle/>
          <a:p>
            <a:endParaRPr lang="zh-CN" altLang="en-US"/>
          </a:p>
        </p:txBody>
      </p:sp>
      <p:sp>
        <p:nvSpPr>
          <p:cNvPr id="5" name="灯片编号占位符 4">
            <a:extLst>
              <a:ext uri="{FF2B5EF4-FFF2-40B4-BE49-F238E27FC236}">
                <a16:creationId xmlns:a16="http://schemas.microsoft.com/office/drawing/2014/main" id="{49FD2236-67B9-1705-D22D-2693434ECA5D}"/>
              </a:ext>
            </a:extLst>
          </p:cNvPr>
          <p:cNvSpPr>
            <a:spLocks noGrp="1"/>
          </p:cNvSpPr>
          <p:nvPr>
            <p:ph type="sldNum" sz="quarter" idx="20"/>
          </p:nvPr>
        </p:nvSpPr>
        <p:spPr/>
        <p:txBody>
          <a:bodyPr/>
          <a:lstStyle/>
          <a:p>
            <a:fld id="{DF4E8F9F-5B1F-4F5B-BE49-3245D8C18D9F}" type="slidenum">
              <a:rPr lang="en-US" smtClean="0"/>
              <a:pPr/>
              <a:t>57</a:t>
            </a:fld>
            <a:endParaRPr lang="en-US"/>
          </a:p>
        </p:txBody>
      </p:sp>
      <p:sp>
        <p:nvSpPr>
          <p:cNvPr id="6" name="Title 1">
            <a:extLst>
              <a:ext uri="{FF2B5EF4-FFF2-40B4-BE49-F238E27FC236}">
                <a16:creationId xmlns:a16="http://schemas.microsoft.com/office/drawing/2014/main" id="{ED60FDB2-B079-D71A-9596-23460C172FA7}"/>
              </a:ext>
            </a:extLst>
          </p:cNvPr>
          <p:cNvSpPr>
            <a:spLocks noGrp="1"/>
          </p:cNvSpPr>
          <p:nvPr/>
        </p:nvSpPr>
        <p:spPr>
          <a:xfrm>
            <a:off x="479424" y="477000"/>
            <a:ext cx="11233151" cy="7200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2500"/>
              <a:buFont typeface="Arial"/>
              <a:buNone/>
              <a:defRPr sz="2500" b="1" i="0" u="none" strike="noStrike" cap="none">
                <a:solidFill>
                  <a:schemeClr val="lt2"/>
                </a:solidFill>
                <a:latin typeface="Boehringer Forward Text" panose="020B0504030403020204" pitchFamily="34"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a:latin typeface="Boehringer Forward Text"/>
              </a:rPr>
              <a:t>Overview of In-Class DPP1/</a:t>
            </a:r>
            <a:r>
              <a:rPr lang="en-US" err="1">
                <a:latin typeface="Boehringer Forward Text"/>
              </a:rPr>
              <a:t>CatC</a:t>
            </a:r>
            <a:r>
              <a:rPr lang="en-US">
                <a:latin typeface="Boehringer Forward Text"/>
              </a:rPr>
              <a:t> Inhibitor Competition</a:t>
            </a:r>
            <a:endParaRPr lang="en-150"/>
          </a:p>
        </p:txBody>
      </p:sp>
      <p:sp>
        <p:nvSpPr>
          <p:cNvPr id="7" name="Slide Number Placeholder 5">
            <a:extLst>
              <a:ext uri="{FF2B5EF4-FFF2-40B4-BE49-F238E27FC236}">
                <a16:creationId xmlns:a16="http://schemas.microsoft.com/office/drawing/2014/main" id="{91B3EEFF-E960-5FBA-F089-16ED7E9EAFFA}"/>
              </a:ext>
            </a:extLst>
          </p:cNvPr>
          <p:cNvSpPr>
            <a:spLocks noGrp="1"/>
          </p:cNvSpPr>
          <p:nvPr/>
        </p:nvSpPr>
        <p:spPr>
          <a:xfrm>
            <a:off x="11424592" y="6246836"/>
            <a:ext cx="288000" cy="288000"/>
          </a:xfrm>
          <a:prstGeom prst="rect">
            <a:avLst/>
          </a:prstGeom>
          <a:noFill/>
          <a:ln>
            <a:noFill/>
          </a:ln>
        </p:spPr>
        <p:txBody>
          <a:bodyPr spcFirstLastPara="1" wrap="square" lIns="0" tIns="0" rIns="0" bIns="0" anchor="b" anchorCtr="0">
            <a:noAutofit/>
          </a:bodyPr>
          <a:lstStyle>
            <a:defPPr>
              <a:defRPr lang="zh-CN"/>
            </a:defPPr>
            <a:lvl1pPr marL="0" marR="0" lvl="0" indent="0" algn="r" defTabSz="914400" rtl="0" eaLnBrk="1" latinLnBrk="0" hangingPunct="1">
              <a:spcBef>
                <a:spcPts val="0"/>
              </a:spcBef>
              <a:buNone/>
              <a:defRPr sz="800" b="0" i="0" u="none" strike="noStrike" kern="1200" cap="none">
                <a:solidFill>
                  <a:schemeClr val="lt2"/>
                </a:solidFill>
                <a:latin typeface="Boehringer Forward Text" panose="020B0504030403020204" pitchFamily="34" charset="0"/>
                <a:ea typeface="Boehringer Forward Text" panose="020B0504030403020204" pitchFamily="34" charset="0"/>
                <a:cs typeface="Arial"/>
                <a:sym typeface="Arial"/>
              </a:defRPr>
            </a:lvl1pPr>
            <a:lvl2pPr marL="0" marR="0" lvl="1"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2pPr>
            <a:lvl3pPr marL="0" marR="0" lvl="2"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3pPr>
            <a:lvl4pPr marL="0" marR="0" lvl="3"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4pPr>
            <a:lvl5pPr marL="0" marR="0" lvl="4"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5pPr>
            <a:lvl6pPr marL="0" marR="0" lvl="5"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6pPr>
            <a:lvl7pPr marL="0" marR="0" lvl="6"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7pPr>
            <a:lvl8pPr marL="0" marR="0" lvl="7"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8pPr>
            <a:lvl9pPr marL="0" marR="0" lvl="8"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9" name="Rectangle 4">
            <a:extLst>
              <a:ext uri="{FF2B5EF4-FFF2-40B4-BE49-F238E27FC236}">
                <a16:creationId xmlns:a16="http://schemas.microsoft.com/office/drawing/2014/main" id="{7B2B1ACD-5E48-9293-D831-C2A7B3390372}"/>
              </a:ext>
            </a:extLst>
          </p:cNvPr>
          <p:cNvSpPr/>
          <p:nvPr/>
        </p:nvSpPr>
        <p:spPr bwMode="gray">
          <a:xfrm>
            <a:off x="618596" y="4713343"/>
            <a:ext cx="10954807" cy="1098503"/>
          </a:xfrm>
          <a:prstGeom prst="rect">
            <a:avLst/>
          </a:prstGeom>
          <a:solidFill>
            <a:schemeClr val="accent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40000"/>
              </a:lnSpc>
            </a:pPr>
            <a:endParaRPr lang="en-US" sz="1400">
              <a:solidFill>
                <a:schemeClr val="tx1"/>
              </a:solidFill>
            </a:endParaRPr>
          </a:p>
        </p:txBody>
      </p:sp>
      <p:sp>
        <p:nvSpPr>
          <p:cNvPr id="10" name="TextBox 32">
            <a:extLst>
              <a:ext uri="{FF2B5EF4-FFF2-40B4-BE49-F238E27FC236}">
                <a16:creationId xmlns:a16="http://schemas.microsoft.com/office/drawing/2014/main" id="{F2B3088D-32F8-2DB9-FC98-C8D91826780E}"/>
              </a:ext>
            </a:extLst>
          </p:cNvPr>
          <p:cNvSpPr txBox="1"/>
          <p:nvPr/>
        </p:nvSpPr>
        <p:spPr bwMode="gray">
          <a:xfrm>
            <a:off x="892171" y="4714736"/>
            <a:ext cx="10250976" cy="1031244"/>
          </a:xfrm>
          <a:prstGeom prst="rect">
            <a:avLst/>
          </a:prstGeom>
          <a:noFill/>
        </p:spPr>
        <p:txBody>
          <a:bodyPr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spcAft>
                <a:spcPct val="0"/>
              </a:spcAft>
              <a:buFont typeface="Arial"/>
              <a:buChar char="•"/>
            </a:pPr>
            <a:r>
              <a:rPr lang="en-US" altLang="en-US" sz="1400" b="1">
                <a:sym typeface="Wingdings" panose="05000000000000000000" pitchFamily="2" charset="2"/>
              </a:rPr>
              <a:t>Coming ~4.5 years (globally) and ~2 year (China) later, having strong and differentiating* data at launch is key. </a:t>
            </a:r>
            <a:endParaRPr lang="zh-CN" altLang="en-US">
              <a:cs typeface="Arial"/>
            </a:endParaRPr>
          </a:p>
          <a:p>
            <a:pPr marL="285750" lvl="0" indent="-285750">
              <a:lnSpc>
                <a:spcPct val="150000"/>
              </a:lnSpc>
              <a:spcAft>
                <a:spcPct val="0"/>
              </a:spcAft>
              <a:buFont typeface="Arial"/>
              <a:buChar char="•"/>
            </a:pPr>
            <a:r>
              <a:rPr lang="en-US" altLang="en-US" sz="1400" b="1">
                <a:sym typeface="Wingdings" panose="05000000000000000000" pitchFamily="2" charset="2"/>
              </a:rPr>
              <a:t>Several areas for differentiation are being explored and focused investment into evidence generation beyond Ph III is proposed to react flexibl</a:t>
            </a:r>
            <a:r>
              <a:rPr lang="en-US" altLang="en-US" sz="1400" b="1" u="sng">
                <a:sym typeface="Wingdings" panose="05000000000000000000" pitchFamily="2" charset="2"/>
              </a:rPr>
              <a:t>y to competitive positioning and market develo</a:t>
            </a:r>
            <a:r>
              <a:rPr lang="en-US" altLang="en-US" sz="1400" b="1">
                <a:sym typeface="Wingdings" panose="05000000000000000000" pitchFamily="2" charset="2"/>
              </a:rPr>
              <a:t>pment</a:t>
            </a:r>
            <a:endParaRPr lang="en-US">
              <a:cs typeface="Arial"/>
            </a:endParaRPr>
          </a:p>
        </p:txBody>
      </p:sp>
      <p:sp>
        <p:nvSpPr>
          <p:cNvPr id="11" name="TextBox 7">
            <a:extLst>
              <a:ext uri="{FF2B5EF4-FFF2-40B4-BE49-F238E27FC236}">
                <a16:creationId xmlns:a16="http://schemas.microsoft.com/office/drawing/2014/main" id="{BA33A8AF-CA6E-56CD-C55A-A35F43EF1F90}"/>
              </a:ext>
            </a:extLst>
          </p:cNvPr>
          <p:cNvSpPr txBox="1"/>
          <p:nvPr/>
        </p:nvSpPr>
        <p:spPr bwMode="gray">
          <a:xfrm>
            <a:off x="804107" y="5884132"/>
            <a:ext cx="10548477" cy="307777"/>
          </a:xfrm>
          <a:prstGeom prst="rect">
            <a:avLst/>
          </a:prstGeom>
          <a:solidFill>
            <a:schemeClr val="accent4">
              <a:lumMod val="20000"/>
              <a:lumOff val="80000"/>
            </a:schemeClr>
          </a:solid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r>
              <a:rPr lang="en-US" sz="1000">
                <a:latin typeface="Boehringer Forward Text"/>
              </a:rPr>
              <a:t>*Statements regarding differentiation or comparison to competitors are aspirational only; no superiority or comparative claims will be made upon approval due to lack of head-to-head data. All claims must be approved by HPRC.</a:t>
            </a:r>
          </a:p>
        </p:txBody>
      </p:sp>
      <p:graphicFrame>
        <p:nvGraphicFramePr>
          <p:cNvPr id="14" name="表格 13">
            <a:extLst>
              <a:ext uri="{FF2B5EF4-FFF2-40B4-BE49-F238E27FC236}">
                <a16:creationId xmlns:a16="http://schemas.microsoft.com/office/drawing/2014/main" id="{699FB1DF-3C41-9C6D-43C2-88E953D6315E}"/>
              </a:ext>
            </a:extLst>
          </p:cNvPr>
          <p:cNvGraphicFramePr>
            <a:graphicFrameLocks noGrp="1"/>
          </p:cNvGraphicFramePr>
          <p:nvPr>
            <p:extLst>
              <p:ext uri="{D42A27DB-BD31-4B8C-83A1-F6EECF244321}">
                <p14:modId xmlns:p14="http://schemas.microsoft.com/office/powerpoint/2010/main" val="2287775315"/>
              </p:ext>
            </p:extLst>
          </p:nvPr>
        </p:nvGraphicFramePr>
        <p:xfrm>
          <a:off x="613589" y="835371"/>
          <a:ext cx="10944226" cy="3766230"/>
        </p:xfrm>
        <a:graphic>
          <a:graphicData uri="http://schemas.openxmlformats.org/drawingml/2006/table">
            <a:tbl>
              <a:tblPr bandRow="1">
                <a:tableStyleId>{5C22544A-7EE6-4342-B048-85BDC9FD1C3A}</a:tableStyleId>
              </a:tblPr>
              <a:tblGrid>
                <a:gridCol w="2133600">
                  <a:extLst>
                    <a:ext uri="{9D8B030D-6E8A-4147-A177-3AD203B41FA5}">
                      <a16:colId xmlns:a16="http://schemas.microsoft.com/office/drawing/2014/main" val="1599231147"/>
                    </a:ext>
                  </a:extLst>
                </a:gridCol>
                <a:gridCol w="4533901">
                  <a:extLst>
                    <a:ext uri="{9D8B030D-6E8A-4147-A177-3AD203B41FA5}">
                      <a16:colId xmlns:a16="http://schemas.microsoft.com/office/drawing/2014/main" val="1111256828"/>
                    </a:ext>
                  </a:extLst>
                </a:gridCol>
                <a:gridCol w="4276725">
                  <a:extLst>
                    <a:ext uri="{9D8B030D-6E8A-4147-A177-3AD203B41FA5}">
                      <a16:colId xmlns:a16="http://schemas.microsoft.com/office/drawing/2014/main" val="303424861"/>
                    </a:ext>
                  </a:extLst>
                </a:gridCol>
              </a:tblGrid>
              <a:tr h="276225">
                <a:tc>
                  <a:txBody>
                    <a:bodyPr/>
                    <a:lstStyle/>
                    <a:p>
                      <a:pPr fontAlgn="t">
                        <a:buNone/>
                      </a:pPr>
                      <a:endParaRPr lang="zh-CN" altLang="en-US">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8312A"/>
                    </a:solidFill>
                  </a:tcPr>
                </a:tc>
                <a:tc>
                  <a:txBody>
                    <a:bodyPr/>
                    <a:lstStyle/>
                    <a:p>
                      <a:pPr algn="ctr" fontAlgn="base">
                        <a:lnSpc>
                          <a:spcPts val="1350"/>
                        </a:lnSpc>
                        <a:buNone/>
                      </a:pPr>
                      <a:r>
                        <a:rPr lang="en-US" sz="1100" b="1">
                          <a:solidFill>
                            <a:srgbClr val="FFFFFF"/>
                          </a:solidFill>
                          <a:effectLst/>
                          <a:latin typeface="Arial" panose="020B0604020202020204" pitchFamily="34" charset="0"/>
                        </a:rPr>
                        <a:t>BI 1291583 phase 2 data</a:t>
                      </a:r>
                      <a:endParaRPr lang="en-US" b="1">
                        <a:solidFill>
                          <a:srgbClr val="FFFFFF"/>
                        </a:solidFill>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E47C"/>
                    </a:solidFill>
                  </a:tcPr>
                </a:tc>
                <a:tc>
                  <a:txBody>
                    <a:bodyPr/>
                    <a:lstStyle/>
                    <a:p>
                      <a:pPr algn="ctr" fontAlgn="base">
                        <a:lnSpc>
                          <a:spcPts val="1350"/>
                        </a:lnSpc>
                        <a:buNone/>
                      </a:pPr>
                      <a:r>
                        <a:rPr lang="en-US" sz="1100" b="1">
                          <a:solidFill>
                            <a:srgbClr val="FFFFFF"/>
                          </a:solidFill>
                          <a:effectLst/>
                          <a:latin typeface="Arial" panose="020B0604020202020204" pitchFamily="34" charset="0"/>
                        </a:rPr>
                        <a:t>HSK31858 (Florensocatib) phase 2 data</a:t>
                      </a:r>
                      <a:endParaRPr lang="en-US" b="1">
                        <a:solidFill>
                          <a:srgbClr val="FFFFFF"/>
                        </a:solidFill>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8312A"/>
                    </a:solidFill>
                  </a:tcPr>
                </a:tc>
                <a:extLst>
                  <a:ext uri="{0D108BD9-81ED-4DB2-BD59-A6C34878D82A}">
                    <a16:rowId xmlns:a16="http://schemas.microsoft.com/office/drawing/2014/main" val="3018383137"/>
                  </a:ext>
                </a:extLst>
              </a:tr>
              <a:tr h="276225">
                <a:tc>
                  <a:txBody>
                    <a:bodyPr/>
                    <a:lstStyle/>
                    <a:p>
                      <a:pPr fontAlgn="base">
                        <a:lnSpc>
                          <a:spcPts val="1350"/>
                        </a:lnSpc>
                        <a:buNone/>
                      </a:pPr>
                      <a:r>
                        <a:rPr lang="en-US" sz="1100" b="1">
                          <a:effectLst/>
                          <a:latin typeface="Arial" panose="020B0604020202020204" pitchFamily="34" charset="0"/>
                        </a:rPr>
                        <a:t>MoA</a:t>
                      </a:r>
                      <a:endParaRPr lang="en-US">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gridSpan="2">
                  <a:txBody>
                    <a:bodyPr/>
                    <a:lstStyle/>
                    <a:p>
                      <a:pPr algn="ctr" fontAlgn="base">
                        <a:lnSpc>
                          <a:spcPts val="1350"/>
                        </a:lnSpc>
                        <a:buNone/>
                      </a:pPr>
                      <a:r>
                        <a:rPr lang="en-US" sz="1100">
                          <a:effectLst/>
                          <a:latin typeface="Arial" panose="020B0604020202020204" pitchFamily="34" charset="0"/>
                        </a:rPr>
                        <a:t>DPP1/CatC inhibitor</a:t>
                      </a:r>
                      <a:endParaRPr lang="en-US">
                        <a:effectLst/>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extLst>
                  <a:ext uri="{0D108BD9-81ED-4DB2-BD59-A6C34878D82A}">
                    <a16:rowId xmlns:a16="http://schemas.microsoft.com/office/drawing/2014/main" val="517161425"/>
                  </a:ext>
                </a:extLst>
              </a:tr>
              <a:tr h="276225">
                <a:tc>
                  <a:txBody>
                    <a:bodyPr/>
                    <a:lstStyle/>
                    <a:p>
                      <a:pPr fontAlgn="base">
                        <a:lnSpc>
                          <a:spcPts val="1350"/>
                        </a:lnSpc>
                        <a:buNone/>
                      </a:pPr>
                      <a:r>
                        <a:rPr lang="en-US" sz="1100" b="1">
                          <a:effectLst/>
                          <a:latin typeface="Arial" panose="020B0604020202020204" pitchFamily="34" charset="0"/>
                        </a:rPr>
                        <a:t>Formulation &amp; RoA</a:t>
                      </a:r>
                      <a:endParaRPr lang="en-US">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buNone/>
                      </a:pPr>
                      <a:r>
                        <a:rPr lang="en-US" sz="1100">
                          <a:effectLst/>
                          <a:latin typeface="Arial" panose="020B0604020202020204" pitchFamily="34" charset="0"/>
                        </a:rPr>
                        <a:t>Once daily oral tablet (2.5mg)</a:t>
                      </a:r>
                      <a:endParaRPr lang="en-US">
                        <a:effectLst/>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buNone/>
                      </a:pPr>
                      <a:r>
                        <a:rPr lang="en-US" sz="1100">
                          <a:effectLst/>
                          <a:latin typeface="Arial" panose="020B0604020202020204" pitchFamily="34" charset="0"/>
                        </a:rPr>
                        <a:t>Once daily two oral tablets (2x20mg)</a:t>
                      </a:r>
                      <a:endParaRPr lang="en-US">
                        <a:effectLst/>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35309975"/>
                  </a:ext>
                </a:extLst>
              </a:tr>
              <a:tr h="428625">
                <a:tc>
                  <a:txBody>
                    <a:bodyPr/>
                    <a:lstStyle/>
                    <a:p>
                      <a:pPr fontAlgn="base">
                        <a:lnSpc>
                          <a:spcPts val="1350"/>
                        </a:lnSpc>
                        <a:buNone/>
                      </a:pPr>
                      <a:r>
                        <a:rPr lang="en-US" sz="1100" b="1">
                          <a:effectLst/>
                          <a:latin typeface="Arial" panose="020B0604020202020204" pitchFamily="34" charset="0"/>
                        </a:rPr>
                        <a:t>Description of MoA / pharma-cological effect</a:t>
                      </a:r>
                      <a:endParaRPr lang="en-US">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gridSpan="2">
                  <a:txBody>
                    <a:bodyPr/>
                    <a:lstStyle/>
                    <a:p>
                      <a:pPr algn="ctr" fontAlgn="base">
                        <a:lnSpc>
                          <a:spcPts val="1350"/>
                        </a:lnSpc>
                        <a:buNone/>
                      </a:pPr>
                      <a:r>
                        <a:rPr lang="en-US" sz="1100">
                          <a:effectLst/>
                          <a:latin typeface="Arial" panose="020B0604020202020204" pitchFamily="34" charset="0"/>
                        </a:rPr>
                        <a:t>Reduces NSPs and with that neutrophilic inflammation in the lung</a:t>
                      </a:r>
                      <a:endParaRPr lang="en-US">
                        <a:effectLst/>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extLst>
                  <a:ext uri="{0D108BD9-81ED-4DB2-BD59-A6C34878D82A}">
                    <a16:rowId xmlns:a16="http://schemas.microsoft.com/office/drawing/2014/main" val="3148089738"/>
                  </a:ext>
                </a:extLst>
              </a:tr>
              <a:tr h="447675">
                <a:tc>
                  <a:txBody>
                    <a:bodyPr/>
                    <a:lstStyle/>
                    <a:p>
                      <a:pPr fontAlgn="base">
                        <a:lnSpc>
                          <a:spcPts val="1350"/>
                        </a:lnSpc>
                        <a:buNone/>
                      </a:pPr>
                      <a:r>
                        <a:rPr lang="en-US" sz="1100" b="1">
                          <a:effectLst/>
                          <a:latin typeface="Arial" panose="020B0604020202020204" pitchFamily="34" charset="0"/>
                        </a:rPr>
                        <a:t>Population</a:t>
                      </a:r>
                      <a:endParaRPr lang="en-US">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342900" lvl="0" indent="-342900" fontAlgn="base">
                        <a:lnSpc>
                          <a:spcPts val="1350"/>
                        </a:lnSpc>
                        <a:buFont typeface="Arial" panose="020B0604020202020204" pitchFamily="34" charset="0"/>
                        <a:buChar char="•"/>
                      </a:pPr>
                      <a:r>
                        <a:rPr lang="en-US" sz="1100">
                          <a:effectLst/>
                          <a:latin typeface="Arial" panose="020B0604020202020204" pitchFamily="34" charset="0"/>
                        </a:rPr>
                        <a:t>BE</a:t>
                      </a:r>
                      <a:endParaRPr lang="en-US" sz="880">
                        <a:effectLst/>
                        <a:latin typeface="Arial" panose="020B0604020202020204" pitchFamily="34" charset="0"/>
                      </a:endParaRPr>
                    </a:p>
                    <a:p>
                      <a:pPr marL="342900" lvl="0" indent="-342900" fontAlgn="base">
                        <a:lnSpc>
                          <a:spcPts val="1350"/>
                        </a:lnSpc>
                        <a:buFont typeface="Arial" panose="020B0604020202020204" pitchFamily="34" charset="0"/>
                        <a:buChar char="•"/>
                      </a:pPr>
                      <a:r>
                        <a:rPr lang="en-US" sz="1100">
                          <a:effectLst/>
                          <a:latin typeface="Arial" panose="020B0604020202020204" pitchFamily="34" charset="0"/>
                        </a:rPr>
                        <a:t>≥ 2 PEx in past year or 1 PEx + high symptom score</a:t>
                      </a:r>
                      <a:endParaRPr lang="en-US" sz="880">
                        <a:effectLst/>
                        <a:latin typeface="Arial" panose="020B0604020202020204" pitchFamily="34" charset="0"/>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342900" lvl="0" indent="-342900" fontAlgn="base">
                        <a:lnSpc>
                          <a:spcPts val="1350"/>
                        </a:lnSpc>
                        <a:buFont typeface="Arial" panose="020B0604020202020204" pitchFamily="34" charset="0"/>
                        <a:buChar char="•"/>
                      </a:pPr>
                      <a:r>
                        <a:rPr lang="en-US" sz="1100">
                          <a:effectLst/>
                          <a:latin typeface="Arial" panose="020B0604020202020204" pitchFamily="34" charset="0"/>
                        </a:rPr>
                        <a:t>NCFBE (primary diagnosis of COPD/asthma was excluded)</a:t>
                      </a:r>
                      <a:endParaRPr lang="en-US" sz="880">
                        <a:effectLst/>
                        <a:latin typeface="Arial" panose="020B0604020202020204" pitchFamily="34" charset="0"/>
                      </a:endParaRPr>
                    </a:p>
                    <a:p>
                      <a:pPr marL="342900" lvl="0" indent="-342900" fontAlgn="base">
                        <a:lnSpc>
                          <a:spcPts val="1350"/>
                        </a:lnSpc>
                        <a:buFont typeface="Arial" panose="020B0604020202020204" pitchFamily="34" charset="0"/>
                        <a:buChar char="•"/>
                      </a:pPr>
                      <a:r>
                        <a:rPr lang="en-US" sz="1100">
                          <a:effectLst/>
                          <a:latin typeface="Arial" panose="020B0604020202020204" pitchFamily="34" charset="0"/>
                        </a:rPr>
                        <a:t>≥ 2 PEx in past year (Haisco)</a:t>
                      </a:r>
                      <a:endParaRPr lang="en-US" sz="880">
                        <a:effectLst/>
                        <a:latin typeface="Arial" panose="020B0604020202020204" pitchFamily="34" charset="0"/>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53936935"/>
                  </a:ext>
                </a:extLst>
              </a:tr>
              <a:tr h="276225">
                <a:tc>
                  <a:txBody>
                    <a:bodyPr/>
                    <a:lstStyle/>
                    <a:p>
                      <a:pPr fontAlgn="base">
                        <a:lnSpc>
                          <a:spcPts val="1350"/>
                        </a:lnSpc>
                        <a:buNone/>
                      </a:pPr>
                      <a:r>
                        <a:rPr lang="en-US" sz="1100" b="1">
                          <a:solidFill>
                            <a:srgbClr val="0D0D0D"/>
                          </a:solidFill>
                          <a:effectLst/>
                          <a:latin typeface="Boehringer Forward Text" panose="02000500000000020000" pitchFamily="2" charset="0"/>
                        </a:rPr>
                        <a:t>EP - r</a:t>
                      </a:r>
                      <a:r>
                        <a:rPr lang="en-US" sz="1100" b="1">
                          <a:effectLst/>
                          <a:latin typeface="Arial" panose="020B0604020202020204" pitchFamily="34" charset="0"/>
                        </a:rPr>
                        <a:t>eduction in PEx</a:t>
                      </a:r>
                      <a:endParaRPr lang="en-US">
                        <a:effectLst/>
                      </a:endParaRPr>
                    </a:p>
                  </a:txBody>
                  <a:tcPr marL="121920" marR="121920" marT="60950" marB="609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lnSpc>
                          <a:spcPts val="1350"/>
                        </a:lnSpc>
                        <a:buNone/>
                      </a:pPr>
                      <a:r>
                        <a:rPr lang="en-US" sz="1100">
                          <a:solidFill>
                            <a:srgbClr val="0D0D0D"/>
                          </a:solidFill>
                          <a:effectLst/>
                          <a:latin typeface="Boehringer Forward Text"/>
                        </a:rPr>
                        <a:t>Key 2° EP: </a:t>
                      </a:r>
                      <a:r>
                        <a:rPr lang="en-US" sz="1100" b="1">
                          <a:solidFill>
                            <a:srgbClr val="FF0000"/>
                          </a:solidFill>
                          <a:effectLst/>
                          <a:latin typeface="Boehringer Forward Text"/>
                        </a:rPr>
                        <a:t>32.3%</a:t>
                      </a:r>
                      <a:r>
                        <a:rPr lang="en-US" sz="1100" b="1">
                          <a:solidFill>
                            <a:srgbClr val="0D0D0D"/>
                          </a:solidFill>
                          <a:effectLst/>
                          <a:latin typeface="Boehringer Forward Text"/>
                        </a:rPr>
                        <a:t> </a:t>
                      </a:r>
                      <a:r>
                        <a:rPr lang="en-US" sz="1100">
                          <a:solidFill>
                            <a:srgbClr val="0D0D0D"/>
                          </a:solidFill>
                          <a:effectLst/>
                          <a:latin typeface="Boehringer Forward Text"/>
                        </a:rPr>
                        <a:t>(</a:t>
                      </a:r>
                      <a:r>
                        <a:rPr lang="en-US" sz="1100" b="1">
                          <a:solidFill>
                            <a:srgbClr val="7030A0"/>
                          </a:solidFill>
                          <a:effectLst/>
                          <a:latin typeface="Boehringer Forward Text"/>
                        </a:rPr>
                        <a:t>47%</a:t>
                      </a:r>
                      <a:r>
                        <a:rPr lang="en-US" sz="1100">
                          <a:solidFill>
                            <a:srgbClr val="0D0D0D"/>
                          </a:solidFill>
                          <a:effectLst/>
                          <a:latin typeface="Boehringer Forward Text"/>
                        </a:rPr>
                        <a:t> for Asian sub-group, n=</a:t>
                      </a:r>
                      <a:r>
                        <a:rPr lang="en-US" sz="1100" b="1">
                          <a:solidFill>
                            <a:srgbClr val="0D0D0D"/>
                          </a:solidFill>
                          <a:effectLst/>
                          <a:latin typeface="Boehringer Forward Text"/>
                        </a:rPr>
                        <a:t>14</a:t>
                      </a:r>
                      <a:r>
                        <a:rPr lang="en-US" sz="1100">
                          <a:solidFill>
                            <a:srgbClr val="0D0D0D"/>
                          </a:solidFill>
                          <a:effectLst/>
                          <a:latin typeface="Boehringer Forward Text"/>
                        </a:rPr>
                        <a:t>) at 2.5mg</a:t>
                      </a:r>
                      <a:endParaRPr lang="en-US">
                        <a:effectLst/>
                        <a:latin typeface="Boehringer Forward Text"/>
                      </a:endParaRPr>
                    </a:p>
                  </a:txBody>
                  <a:tcPr marL="121920" marR="121920" marT="60950" marB="609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lnSpc>
                          <a:spcPts val="1350"/>
                        </a:lnSpc>
                        <a:buNone/>
                      </a:pPr>
                      <a:r>
                        <a:rPr lang="en-US" sz="1100">
                          <a:effectLst/>
                          <a:latin typeface="Arial"/>
                        </a:rPr>
                        <a:t>1° EP: </a:t>
                      </a:r>
                      <a:r>
                        <a:rPr lang="en-US" sz="1100" b="1">
                          <a:solidFill>
                            <a:srgbClr val="7030A0"/>
                          </a:solidFill>
                          <a:effectLst/>
                          <a:latin typeface="Arial"/>
                        </a:rPr>
                        <a:t>46.8%</a:t>
                      </a:r>
                      <a:r>
                        <a:rPr lang="en-US" sz="1100">
                          <a:solidFill>
                            <a:srgbClr val="7030A0"/>
                          </a:solidFill>
                          <a:effectLst/>
                          <a:latin typeface="Arial"/>
                        </a:rPr>
                        <a:t> </a:t>
                      </a:r>
                      <a:r>
                        <a:rPr lang="en-US" sz="1100">
                          <a:effectLst/>
                          <a:latin typeface="Arial"/>
                        </a:rPr>
                        <a:t>(20 mg, n=</a:t>
                      </a:r>
                      <a:r>
                        <a:rPr lang="en-US" sz="1100" b="1">
                          <a:effectLst/>
                          <a:latin typeface="Arial"/>
                        </a:rPr>
                        <a:t>74</a:t>
                      </a:r>
                      <a:r>
                        <a:rPr lang="en-US" sz="1100">
                          <a:effectLst/>
                          <a:latin typeface="Arial"/>
                        </a:rPr>
                        <a:t>) and </a:t>
                      </a:r>
                      <a:r>
                        <a:rPr lang="en-US" sz="1100" b="1">
                          <a:solidFill>
                            <a:srgbClr val="7030A0"/>
                          </a:solidFill>
                          <a:effectLst/>
                          <a:latin typeface="Arial"/>
                        </a:rPr>
                        <a:t>60.1%</a:t>
                      </a:r>
                      <a:r>
                        <a:rPr lang="en-US" sz="1100" b="1">
                          <a:effectLst/>
                          <a:latin typeface="Arial"/>
                        </a:rPr>
                        <a:t> </a:t>
                      </a:r>
                      <a:r>
                        <a:rPr lang="en-US" sz="1100">
                          <a:effectLst/>
                          <a:latin typeface="Arial"/>
                        </a:rPr>
                        <a:t>(40mg, n=</a:t>
                      </a:r>
                      <a:r>
                        <a:rPr lang="en-US" sz="1100" b="1">
                          <a:effectLst/>
                          <a:latin typeface="Arial"/>
                        </a:rPr>
                        <a:t>75</a:t>
                      </a:r>
                      <a:r>
                        <a:rPr lang="en-US" sz="1100">
                          <a:effectLst/>
                          <a:latin typeface="Arial"/>
                        </a:rPr>
                        <a:t>)</a:t>
                      </a:r>
                      <a:endParaRPr lang="en-US" altLang="zh-CN">
                        <a:effectLst/>
                        <a:latin typeface="Arial"/>
                      </a:endParaRPr>
                    </a:p>
                  </a:txBody>
                  <a:tcPr marL="121920" marR="121920" marT="60950" marB="609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83080422"/>
                  </a:ext>
                </a:extLst>
              </a:tr>
              <a:tr h="428625">
                <a:tc>
                  <a:txBody>
                    <a:bodyPr/>
                    <a:lstStyle/>
                    <a:p>
                      <a:pPr fontAlgn="base">
                        <a:lnSpc>
                          <a:spcPts val="1350"/>
                        </a:lnSpc>
                        <a:buNone/>
                      </a:pPr>
                      <a:r>
                        <a:rPr lang="en-US" sz="1100" b="1">
                          <a:effectLst/>
                          <a:latin typeface="Arial" panose="020B0604020202020204" pitchFamily="34" charset="0"/>
                        </a:rPr>
                        <a:t>EP - time to first pulmonary exacerbation</a:t>
                      </a:r>
                      <a:endParaRPr lang="en-US">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lnSpc>
                          <a:spcPts val="1350"/>
                        </a:lnSpc>
                        <a:buNone/>
                      </a:pPr>
                      <a:r>
                        <a:rPr lang="en-US" sz="1100">
                          <a:solidFill>
                            <a:srgbClr val="0D0D0D"/>
                          </a:solidFill>
                          <a:effectLst/>
                          <a:latin typeface="Boehringer Forward Text" panose="02000500000000020000" pitchFamily="2" charset="0"/>
                        </a:rPr>
                        <a:t>1° EP:</a:t>
                      </a:r>
                      <a:r>
                        <a:rPr lang="en-US" sz="1100" b="1">
                          <a:solidFill>
                            <a:srgbClr val="0D0D0D"/>
                          </a:solidFill>
                          <a:effectLst/>
                          <a:latin typeface="Boehringer Forward Text" panose="02000500000000020000" pitchFamily="2" charset="0"/>
                        </a:rPr>
                        <a:t> 34%</a:t>
                      </a:r>
                      <a:r>
                        <a:rPr lang="en-US" sz="1100">
                          <a:solidFill>
                            <a:srgbClr val="0D0D0D"/>
                          </a:solidFill>
                          <a:effectLst/>
                          <a:latin typeface="Boehringer Forward Text" panose="02000500000000020000" pitchFamily="2" charset="0"/>
                        </a:rPr>
                        <a:t> risk reduction in events at 2.5 mg (n=53) (HR=0.66)</a:t>
                      </a:r>
                      <a:endParaRPr lang="en-US">
                        <a:effectLst/>
                      </a:endParaRPr>
                    </a:p>
                    <a:p>
                      <a:pPr fontAlgn="base">
                        <a:lnSpc>
                          <a:spcPts val="1350"/>
                        </a:lnSpc>
                        <a:buNone/>
                      </a:pPr>
                      <a:r>
                        <a:rPr lang="en-US" sz="1100">
                          <a:solidFill>
                            <a:srgbClr val="0D0D0D"/>
                          </a:solidFill>
                          <a:effectLst/>
                          <a:latin typeface="Boehringer Forward Text" panose="02000500000000020000" pitchFamily="2" charset="0"/>
                        </a:rPr>
                        <a:t>(</a:t>
                      </a:r>
                      <a:r>
                        <a:rPr lang="en-US" sz="1100" b="1">
                          <a:solidFill>
                            <a:srgbClr val="0D0D0D"/>
                          </a:solidFill>
                          <a:effectLst/>
                          <a:latin typeface="Boehringer Forward Text" panose="02000500000000020000" pitchFamily="2" charset="0"/>
                        </a:rPr>
                        <a:t>59%</a:t>
                      </a:r>
                      <a:r>
                        <a:rPr lang="en-US" sz="1100">
                          <a:solidFill>
                            <a:srgbClr val="0D0D0D"/>
                          </a:solidFill>
                          <a:effectLst/>
                          <a:latin typeface="Boehringer Forward Text" panose="02000500000000020000" pitchFamily="2" charset="0"/>
                        </a:rPr>
                        <a:t> for Asian sub-group, n=</a:t>
                      </a:r>
                      <a:r>
                        <a:rPr lang="en-US" sz="1100" b="1">
                          <a:solidFill>
                            <a:srgbClr val="0D0D0D"/>
                          </a:solidFill>
                          <a:effectLst/>
                          <a:latin typeface="Boehringer Forward Text" panose="02000500000000020000" pitchFamily="2" charset="0"/>
                        </a:rPr>
                        <a:t>14</a:t>
                      </a:r>
                      <a:r>
                        <a:rPr lang="en-US" sz="1100">
                          <a:solidFill>
                            <a:srgbClr val="0D0D0D"/>
                          </a:solidFill>
                          <a:effectLst/>
                          <a:latin typeface="Boehringer Forward Text" panose="02000500000000020000" pitchFamily="2" charset="0"/>
                        </a:rPr>
                        <a:t>)</a:t>
                      </a:r>
                      <a:endParaRPr lang="en-US">
                        <a:effectLst/>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lnSpc>
                          <a:spcPts val="1350"/>
                        </a:lnSpc>
                        <a:buNone/>
                      </a:pPr>
                      <a:r>
                        <a:rPr lang="en-US" sz="1100">
                          <a:solidFill>
                            <a:srgbClr val="0D0D0D"/>
                          </a:solidFill>
                          <a:effectLst/>
                          <a:latin typeface="Boehringer Forward Text" panose="02000500000000020000" pitchFamily="2" charset="0"/>
                        </a:rPr>
                        <a:t>2° EP:</a:t>
                      </a:r>
                      <a:r>
                        <a:rPr lang="en-US" sz="1100" b="1">
                          <a:solidFill>
                            <a:srgbClr val="0D0D0D"/>
                          </a:solidFill>
                          <a:effectLst/>
                          <a:latin typeface="Boehringer Forward Text" panose="02000500000000020000" pitchFamily="2" charset="0"/>
                        </a:rPr>
                        <a:t> 57%</a:t>
                      </a:r>
                      <a:r>
                        <a:rPr lang="en-US" sz="1100">
                          <a:solidFill>
                            <a:srgbClr val="0D0D0D"/>
                          </a:solidFill>
                          <a:effectLst/>
                          <a:latin typeface="Boehringer Forward Text" panose="02000500000000020000" pitchFamily="2" charset="0"/>
                        </a:rPr>
                        <a:t> and </a:t>
                      </a:r>
                      <a:r>
                        <a:rPr lang="en-US" sz="1100" b="1">
                          <a:solidFill>
                            <a:srgbClr val="0D0D0D"/>
                          </a:solidFill>
                          <a:effectLst/>
                          <a:latin typeface="Boehringer Forward Text" panose="02000500000000020000" pitchFamily="2" charset="0"/>
                        </a:rPr>
                        <a:t>67%</a:t>
                      </a:r>
                      <a:r>
                        <a:rPr lang="en-US" sz="1100">
                          <a:solidFill>
                            <a:srgbClr val="0D0D0D"/>
                          </a:solidFill>
                          <a:effectLst/>
                          <a:latin typeface="Boehringer Forward Text" panose="02000500000000020000" pitchFamily="2" charset="0"/>
                        </a:rPr>
                        <a:t> reduction in events at 20 mg (n=74) and 40 (n=75) mg (HR=0.43 and 0.33)</a:t>
                      </a:r>
                      <a:endParaRPr lang="en-US" altLang="zh-CN">
                        <a:effectLst/>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56828607"/>
                  </a:ext>
                </a:extLst>
              </a:tr>
              <a:tr h="904875">
                <a:tc>
                  <a:txBody>
                    <a:bodyPr/>
                    <a:lstStyle/>
                    <a:p>
                      <a:pPr fontAlgn="t">
                        <a:buNone/>
                      </a:pPr>
                      <a:endParaRPr lang="zh-CN" altLang="en-US">
                        <a:effectLst/>
                      </a:endParaRPr>
                    </a:p>
                  </a:txBody>
                  <a:tcPr marL="121920" marR="121920" marT="60950" marB="609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gridSpan="2">
                  <a:txBody>
                    <a:bodyPr/>
                    <a:lstStyle/>
                    <a:p>
                      <a:pPr fontAlgn="base">
                        <a:lnSpc>
                          <a:spcPts val="1350"/>
                        </a:lnSpc>
                        <a:buNone/>
                      </a:pPr>
                      <a:r>
                        <a:rPr lang="en-US" sz="1100" b="1">
                          <a:solidFill>
                            <a:srgbClr val="08312A"/>
                          </a:solidFill>
                          <a:effectLst/>
                          <a:latin typeface="Arial" panose="020B0604020202020204" pitchFamily="34" charset="0"/>
                        </a:rPr>
                        <a:t>Note:</a:t>
                      </a:r>
                      <a:endParaRPr lang="en-US">
                        <a:effectLst/>
                      </a:endParaRPr>
                    </a:p>
                    <a:p>
                      <a:pPr marL="342900" lvl="0" indent="-342900" fontAlgn="base">
                        <a:lnSpc>
                          <a:spcPts val="1350"/>
                        </a:lnSpc>
                        <a:buFont typeface="Arial" panose="020B0604020202020204" pitchFamily="34" charset="0"/>
                        <a:buChar char="•"/>
                      </a:pPr>
                      <a:r>
                        <a:rPr lang="en-US" sz="1100">
                          <a:solidFill>
                            <a:srgbClr val="08312A"/>
                          </a:solidFill>
                          <a:effectLst/>
                          <a:latin typeface="Arial" panose="020B0604020202020204" pitchFamily="34" charset="0"/>
                        </a:rPr>
                        <a:t>Non-head-to-head comparison &amp; baseline demographics differ between BI and HSK</a:t>
                      </a:r>
                      <a:endParaRPr lang="en-US" sz="880">
                        <a:effectLst/>
                        <a:latin typeface="Arial" panose="020B0604020202020204" pitchFamily="34" charset="0"/>
                      </a:endParaRPr>
                    </a:p>
                    <a:p>
                      <a:pPr marL="342900" lvl="0" indent="-342900" fontAlgn="base">
                        <a:lnSpc>
                          <a:spcPts val="1350"/>
                        </a:lnSpc>
                        <a:buFont typeface="Arial" panose="020B0604020202020204" pitchFamily="34" charset="0"/>
                        <a:buChar char="•"/>
                      </a:pPr>
                      <a:r>
                        <a:rPr lang="en-US" sz="1100">
                          <a:solidFill>
                            <a:srgbClr val="08312A"/>
                          </a:solidFill>
                          <a:effectLst/>
                          <a:latin typeface="Arial" panose="020B0604020202020204" pitchFamily="34" charset="0"/>
                        </a:rPr>
                        <a:t>HSK31858 data were only generated in Chinese population</a:t>
                      </a:r>
                      <a:endParaRPr lang="en-US" sz="880">
                        <a:effectLst/>
                        <a:latin typeface="Arial" panose="020B0604020202020204" pitchFamily="34" charset="0"/>
                      </a:endParaRPr>
                    </a:p>
                    <a:p>
                      <a:pPr marL="342900" lvl="0" indent="-342900" fontAlgn="base">
                        <a:lnSpc>
                          <a:spcPts val="1350"/>
                        </a:lnSpc>
                        <a:buFont typeface="Arial" panose="020B0604020202020204" pitchFamily="34" charset="0"/>
                        <a:buChar char="•"/>
                      </a:pPr>
                      <a:r>
                        <a:rPr lang="en-US" sz="1100">
                          <a:solidFill>
                            <a:srgbClr val="08312A"/>
                          </a:solidFill>
                          <a:effectLst/>
                          <a:latin typeface="Arial" panose="020B0604020202020204" pitchFamily="34" charset="0"/>
                        </a:rPr>
                        <a:t>BI 129583 data in Asian sub-group was comparable with HSK31858</a:t>
                      </a:r>
                      <a:endParaRPr lang="en-US" sz="880">
                        <a:effectLst/>
                        <a:latin typeface="Arial" panose="020B0604020202020204" pitchFamily="34" charset="0"/>
                      </a:endParaRPr>
                    </a:p>
                  </a:txBody>
                  <a:tcPr marL="121920" marR="121920" marT="60950" marB="609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extLst>
                  <a:ext uri="{0D108BD9-81ED-4DB2-BD59-A6C34878D82A}">
                    <a16:rowId xmlns:a16="http://schemas.microsoft.com/office/drawing/2014/main" val="4212988877"/>
                  </a:ext>
                </a:extLst>
              </a:tr>
            </a:tbl>
          </a:graphicData>
        </a:graphic>
      </p:graphicFrame>
    </p:spTree>
    <p:extLst>
      <p:ext uri="{BB962C8B-B14F-4D97-AF65-F5344CB8AC3E}">
        <p14:creationId xmlns:p14="http://schemas.microsoft.com/office/powerpoint/2010/main" val="33269310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5F84F-E896-6398-EBBE-49E82371FC5A}"/>
              </a:ext>
            </a:extLst>
          </p:cNvPr>
          <p:cNvSpPr>
            <a:spLocks noGrp="1"/>
          </p:cNvSpPr>
          <p:nvPr>
            <p:ph type="title"/>
          </p:nvPr>
        </p:nvSpPr>
        <p:spPr>
          <a:xfrm>
            <a:off x="479424" y="477000"/>
            <a:ext cx="11233151" cy="431736"/>
          </a:xfrm>
        </p:spPr>
        <p:txBody>
          <a:bodyPr/>
          <a:lstStyle/>
          <a:p>
            <a:r>
              <a:rPr lang="en-US" altLang="zh-CN"/>
              <a:t>Local strategy to move forward… (draft)</a:t>
            </a:r>
            <a:endParaRPr lang="en-US"/>
          </a:p>
        </p:txBody>
      </p:sp>
      <p:sp>
        <p:nvSpPr>
          <p:cNvPr id="3" name="Text Placeholder 2">
            <a:extLst>
              <a:ext uri="{FF2B5EF4-FFF2-40B4-BE49-F238E27FC236}">
                <a16:creationId xmlns:a16="http://schemas.microsoft.com/office/drawing/2014/main" id="{0EA50C4E-6750-96B3-E5E3-695773A35163}"/>
              </a:ext>
            </a:extLst>
          </p:cNvPr>
          <p:cNvSpPr>
            <a:spLocks noGrp="1"/>
          </p:cNvSpPr>
          <p:nvPr>
            <p:ph type="body" sz="quarter" idx="13"/>
          </p:nvPr>
        </p:nvSpPr>
        <p:spPr/>
        <p:txBody>
          <a:bodyPr/>
          <a:lstStyle/>
          <a:p>
            <a:endParaRPr lang="en-US"/>
          </a:p>
        </p:txBody>
      </p:sp>
      <p:sp>
        <p:nvSpPr>
          <p:cNvPr id="4" name="Footer Placeholder 3">
            <a:extLst>
              <a:ext uri="{FF2B5EF4-FFF2-40B4-BE49-F238E27FC236}">
                <a16:creationId xmlns:a16="http://schemas.microsoft.com/office/drawing/2014/main" id="{C838DEA5-A38F-62FB-130E-F823135E6CE8}"/>
              </a:ext>
            </a:extLst>
          </p:cNvPr>
          <p:cNvSpPr>
            <a:spLocks noGrp="1"/>
          </p:cNvSpPr>
          <p:nvPr>
            <p:ph type="ftr" sz="quarter" idx="19"/>
          </p:nvPr>
        </p:nvSpPr>
        <p:spPr/>
        <p:txBody>
          <a:bodyPr/>
          <a:lstStyle/>
          <a:p>
            <a:r>
              <a:rPr lang="en-US"/>
              <a:t>BI 1291583 Evidence Network 1st July 2025   |    CONFIDENTIAL</a:t>
            </a:r>
          </a:p>
        </p:txBody>
      </p:sp>
      <p:sp>
        <p:nvSpPr>
          <p:cNvPr id="5" name="Slide Number Placeholder 4">
            <a:extLst>
              <a:ext uri="{FF2B5EF4-FFF2-40B4-BE49-F238E27FC236}">
                <a16:creationId xmlns:a16="http://schemas.microsoft.com/office/drawing/2014/main" id="{5989E097-F89D-6993-E280-223FFD05423B}"/>
              </a:ext>
            </a:extLst>
          </p:cNvPr>
          <p:cNvSpPr>
            <a:spLocks noGrp="1"/>
          </p:cNvSpPr>
          <p:nvPr>
            <p:ph type="sldNum" sz="quarter" idx="20"/>
          </p:nvPr>
        </p:nvSpPr>
        <p:spPr/>
        <p:txBody>
          <a:bodyPr/>
          <a:lstStyle/>
          <a:p>
            <a:fld id="{DF4E8F9F-5B1F-4F5B-BE49-3245D8C18D9F}" type="slidenum">
              <a:rPr lang="en-US" smtClean="0"/>
              <a:pPr/>
              <a:t>58</a:t>
            </a:fld>
            <a:endParaRPr lang="en-US"/>
          </a:p>
        </p:txBody>
      </p:sp>
      <p:sp>
        <p:nvSpPr>
          <p:cNvPr id="6" name="TextBox 5">
            <a:extLst>
              <a:ext uri="{FF2B5EF4-FFF2-40B4-BE49-F238E27FC236}">
                <a16:creationId xmlns:a16="http://schemas.microsoft.com/office/drawing/2014/main" id="{629B9AAC-8CA7-B9B3-FDC7-E8AA97F89E34}"/>
              </a:ext>
            </a:extLst>
          </p:cNvPr>
          <p:cNvSpPr txBox="1"/>
          <p:nvPr/>
        </p:nvSpPr>
        <p:spPr bwMode="gray">
          <a:xfrm>
            <a:off x="479424" y="795426"/>
            <a:ext cx="11712576" cy="390876"/>
          </a:xfrm>
          <a:prstGeom prst="rect">
            <a:avLst/>
          </a:prstGeom>
          <a:noFill/>
        </p:spPr>
        <p:txBody>
          <a:bodyPr wrap="square" lIns="0" tIns="0" rIns="0" bIns="0" rtlCol="0">
            <a:spAutoFit/>
          </a:bodyPr>
          <a:lstStyle/>
          <a:p>
            <a:pPr algn="l">
              <a:lnSpc>
                <a:spcPct val="140000"/>
              </a:lnSpc>
            </a:pPr>
            <a:r>
              <a:rPr lang="en-US" sz="2000" i="1">
                <a:solidFill>
                  <a:srgbClr val="7030A0"/>
                </a:solidFill>
              </a:rPr>
              <a:t>Based on the expedited global recruitment timeline &amp; increasing competition from external pipelines in China</a:t>
            </a:r>
          </a:p>
        </p:txBody>
      </p:sp>
      <p:graphicFrame>
        <p:nvGraphicFramePr>
          <p:cNvPr id="7" name="Table 6">
            <a:extLst>
              <a:ext uri="{FF2B5EF4-FFF2-40B4-BE49-F238E27FC236}">
                <a16:creationId xmlns:a16="http://schemas.microsoft.com/office/drawing/2014/main" id="{D99A8AB8-A6A8-C5F2-37D6-13C3CC127741}"/>
              </a:ext>
            </a:extLst>
          </p:cNvPr>
          <p:cNvGraphicFramePr>
            <a:graphicFrameLocks noGrp="1"/>
          </p:cNvGraphicFramePr>
          <p:nvPr>
            <p:extLst>
              <p:ext uri="{D42A27DB-BD31-4B8C-83A1-F6EECF244321}">
                <p14:modId xmlns:p14="http://schemas.microsoft.com/office/powerpoint/2010/main" val="3229898181"/>
              </p:ext>
            </p:extLst>
          </p:nvPr>
        </p:nvGraphicFramePr>
        <p:xfrm>
          <a:off x="479424" y="1335883"/>
          <a:ext cx="11436351" cy="5029200"/>
        </p:xfrm>
        <a:graphic>
          <a:graphicData uri="http://schemas.openxmlformats.org/drawingml/2006/table">
            <a:tbl>
              <a:tblPr firstRow="1" bandRow="1">
                <a:tableStyleId>{5C22544A-7EE6-4342-B048-85BDC9FD1C3A}</a:tableStyleId>
              </a:tblPr>
              <a:tblGrid>
                <a:gridCol w="4445001">
                  <a:extLst>
                    <a:ext uri="{9D8B030D-6E8A-4147-A177-3AD203B41FA5}">
                      <a16:colId xmlns:a16="http://schemas.microsoft.com/office/drawing/2014/main" val="4061532955"/>
                    </a:ext>
                  </a:extLst>
                </a:gridCol>
                <a:gridCol w="6029325">
                  <a:extLst>
                    <a:ext uri="{9D8B030D-6E8A-4147-A177-3AD203B41FA5}">
                      <a16:colId xmlns:a16="http://schemas.microsoft.com/office/drawing/2014/main" val="1643917184"/>
                    </a:ext>
                  </a:extLst>
                </a:gridCol>
                <a:gridCol w="962025">
                  <a:extLst>
                    <a:ext uri="{9D8B030D-6E8A-4147-A177-3AD203B41FA5}">
                      <a16:colId xmlns:a16="http://schemas.microsoft.com/office/drawing/2014/main" val="2740507731"/>
                    </a:ext>
                  </a:extLst>
                </a:gridCol>
              </a:tblGrid>
              <a:tr h="504724">
                <a:tc>
                  <a:txBody>
                    <a:bodyPr/>
                    <a:lstStyle/>
                    <a:p>
                      <a:pPr algn="ctr"/>
                      <a:r>
                        <a:rPr lang="en-US"/>
                        <a:t>Activities</a:t>
                      </a:r>
                    </a:p>
                  </a:txBody>
                  <a:tcPr anchor="ctr"/>
                </a:tc>
                <a:tc>
                  <a:txBody>
                    <a:bodyPr/>
                    <a:lstStyle/>
                    <a:p>
                      <a:pPr algn="ctr"/>
                      <a:r>
                        <a:rPr lang="en-US"/>
                        <a:t>Purpose</a:t>
                      </a:r>
                    </a:p>
                  </a:txBody>
                  <a:tcPr anchor="ctr"/>
                </a:tc>
                <a:tc>
                  <a:txBody>
                    <a:bodyPr/>
                    <a:lstStyle/>
                    <a:p>
                      <a:pPr algn="ctr"/>
                      <a:r>
                        <a:rPr lang="en-US"/>
                        <a:t>Lead Role</a:t>
                      </a:r>
                    </a:p>
                  </a:txBody>
                  <a:tcPr anchor="ctr"/>
                </a:tc>
                <a:extLst>
                  <a:ext uri="{0D108BD9-81ED-4DB2-BD59-A6C34878D82A}">
                    <a16:rowId xmlns:a16="http://schemas.microsoft.com/office/drawing/2014/main" val="3940253995"/>
                  </a:ext>
                </a:extLst>
              </a:tr>
              <a:tr h="1586277">
                <a:tc>
                  <a:txBody>
                    <a:bodyPr/>
                    <a:lstStyle/>
                    <a:p>
                      <a:r>
                        <a:rPr lang="en-US" b="1"/>
                        <a:t>Cross-trial comparison:</a:t>
                      </a:r>
                    </a:p>
                    <a:p>
                      <a:pPr marL="285750" indent="-285750">
                        <a:buFont typeface="Wingdings" panose="05000000000000000000" pitchFamily="2" charset="2"/>
                        <a:buChar char="ü"/>
                      </a:pPr>
                      <a:r>
                        <a:rPr lang="en-US"/>
                        <a:t>Key Eligibility Criteria Dive-in</a:t>
                      </a:r>
                    </a:p>
                    <a:p>
                      <a:pPr marL="285750" indent="-285750">
                        <a:buFont typeface="Wingdings" panose="05000000000000000000" pitchFamily="2" charset="2"/>
                        <a:buChar char="ü"/>
                      </a:pPr>
                      <a:r>
                        <a:rPr lang="en-US"/>
                        <a:t>Key Study Process</a:t>
                      </a:r>
                    </a:p>
                    <a:p>
                      <a:pPr marL="285750" indent="-285750">
                        <a:buFont typeface="Wingdings" panose="05000000000000000000" pitchFamily="2" charset="2"/>
                        <a:buChar char="ü"/>
                      </a:pPr>
                      <a:r>
                        <a:rPr lang="en-US"/>
                        <a:t>Dosing form (oral vs IV/SC)</a:t>
                      </a:r>
                    </a:p>
                    <a:p>
                      <a:pPr marL="285750" indent="-285750">
                        <a:buFont typeface="Wingdings" panose="05000000000000000000" pitchFamily="2" charset="2"/>
                        <a:buChar char="ü"/>
                      </a:pPr>
                      <a:r>
                        <a:rPr lang="en-US">
                          <a:solidFill>
                            <a:schemeClr val="tx1">
                              <a:lumMod val="50000"/>
                              <a:lumOff val="50000"/>
                            </a:schemeClr>
                          </a:solidFill>
                        </a:rPr>
                        <a:t>Prior efficacy &amp; safety data</a:t>
                      </a:r>
                    </a:p>
                    <a:p>
                      <a:pPr marL="285750" indent="-285750">
                        <a:buFont typeface="Wingdings" panose="05000000000000000000" pitchFamily="2" charset="2"/>
                        <a:buChar char="ü"/>
                      </a:pPr>
                      <a:r>
                        <a:rPr lang="en-US">
                          <a:solidFill>
                            <a:schemeClr val="tx1">
                              <a:lumMod val="50000"/>
                              <a:lumOff val="50000"/>
                            </a:schemeClr>
                          </a:solidFill>
                        </a:rPr>
                        <a:t>MoA advantage</a:t>
                      </a:r>
                    </a:p>
                    <a:p>
                      <a:pPr marL="285750" indent="-285750">
                        <a:buFont typeface="Wingdings" panose="05000000000000000000" pitchFamily="2" charset="2"/>
                        <a:buChar char="ü"/>
                      </a:pPr>
                      <a:r>
                        <a:rPr lang="en-US">
                          <a:solidFill>
                            <a:schemeClr val="tx1">
                              <a:lumMod val="50000"/>
                              <a:lumOff val="50000"/>
                            </a:schemeClr>
                          </a:solidFill>
                        </a:rPr>
                        <a:t>Trial stage (ph2 vs ph3)</a:t>
                      </a:r>
                    </a:p>
                  </a:txBody>
                  <a:tcPr anchor="ctr"/>
                </a:tc>
                <a:tc>
                  <a:txBody>
                    <a:bodyPr/>
                    <a:lstStyle/>
                    <a:p>
                      <a:pPr marL="285750" indent="-285750">
                        <a:buFont typeface="Arial" panose="020B0604020202020204"/>
                        <a:buChar char="•"/>
                      </a:pPr>
                      <a:r>
                        <a:rPr lang="en-US"/>
                        <a:t>Identify differentiating advantages &amp; benefits for patients</a:t>
                      </a:r>
                    </a:p>
                  </a:txBody>
                  <a:tcPr anchor="ctr"/>
                </a:tc>
                <a:tc>
                  <a:txBody>
                    <a:bodyPr/>
                    <a:lstStyle/>
                    <a:p>
                      <a:r>
                        <a:rPr lang="en-US"/>
                        <a:t>Medical/Clinical</a:t>
                      </a:r>
                    </a:p>
                  </a:txBody>
                  <a:tcPr anchor="ctr"/>
                </a:tc>
                <a:extLst>
                  <a:ext uri="{0D108BD9-81ED-4DB2-BD59-A6C34878D82A}">
                    <a16:rowId xmlns:a16="http://schemas.microsoft.com/office/drawing/2014/main" val="193769130"/>
                  </a:ext>
                </a:extLst>
              </a:tr>
              <a:tr h="937345">
                <a:tc>
                  <a:txBody>
                    <a:bodyPr/>
                    <a:lstStyle/>
                    <a:p>
                      <a:r>
                        <a:rPr lang="en-US" b="1"/>
                        <a:t>Site/PI Engagement:</a:t>
                      </a:r>
                    </a:p>
                    <a:p>
                      <a:pPr marL="285750" indent="-285750">
                        <a:buFont typeface="Wingdings" panose="05000000000000000000" pitchFamily="2" charset="2"/>
                        <a:buChar char="ü"/>
                      </a:pPr>
                      <a:r>
                        <a:rPr lang="en-US" altLang="zh-CN"/>
                        <a:t>Boost visit?</a:t>
                      </a:r>
                    </a:p>
                    <a:p>
                      <a:pPr marL="285750" indent="-285750">
                        <a:buFont typeface="Wingdings" panose="05000000000000000000" pitchFamily="2" charset="2"/>
                        <a:buChar char="ü"/>
                      </a:pPr>
                      <a:r>
                        <a:rPr lang="en-US" altLang="zh-CN"/>
                        <a:t>City Meetings?</a:t>
                      </a:r>
                    </a:p>
                    <a:p>
                      <a:pPr marL="285750" indent="-285750">
                        <a:buFont typeface="Wingdings" panose="05000000000000000000" pitchFamily="2" charset="2"/>
                        <a:buChar char="ü"/>
                      </a:pPr>
                      <a:r>
                        <a:rPr lang="en-US"/>
                        <a:t>Ab meeting</a:t>
                      </a:r>
                    </a:p>
                  </a:txBody>
                  <a:tcPr anchor="ctr"/>
                </a:tc>
                <a:tc>
                  <a:txBody>
                    <a:bodyPr/>
                    <a:lstStyle/>
                    <a:p>
                      <a:pPr marL="285750" indent="-285750">
                        <a:buFont typeface="Arial" panose="020B0604020202020204"/>
                        <a:buChar char="•"/>
                      </a:pPr>
                      <a:r>
                        <a:rPr lang="en-US"/>
                        <a:t>Engage trial participating PIs</a:t>
                      </a:r>
                    </a:p>
                    <a:p>
                      <a:pPr marL="285750" indent="-285750">
                        <a:buFont typeface="Arial" panose="020B0604020202020204"/>
                        <a:buChar char="•"/>
                      </a:pPr>
                      <a:r>
                        <a:rPr lang="en-US"/>
                        <a:t>Leverage the connection of the PI with experts not participating AIRTIVITY trials for referral </a:t>
                      </a:r>
                    </a:p>
                  </a:txBody>
                  <a:tcPr anchor="ctr"/>
                </a:tc>
                <a:tc>
                  <a:txBody>
                    <a:bodyPr/>
                    <a:lstStyle/>
                    <a:p>
                      <a:r>
                        <a:rPr lang="en-US"/>
                        <a:t>CD&amp;O</a:t>
                      </a:r>
                    </a:p>
                  </a:txBody>
                  <a:tcPr anchor="ctr"/>
                </a:tc>
                <a:extLst>
                  <a:ext uri="{0D108BD9-81ED-4DB2-BD59-A6C34878D82A}">
                    <a16:rowId xmlns:a16="http://schemas.microsoft.com/office/drawing/2014/main" val="2670334848"/>
                  </a:ext>
                </a:extLst>
              </a:tr>
              <a:tr h="721035">
                <a:tc>
                  <a:txBody>
                    <a:bodyPr/>
                    <a:lstStyle/>
                    <a:p>
                      <a:r>
                        <a:rPr lang="en-US" b="1"/>
                        <a:t>External Promotion:</a:t>
                      </a:r>
                    </a:p>
                    <a:p>
                      <a:pPr marL="285750" indent="-285750">
                        <a:buFont typeface="Wingdings" panose="05000000000000000000" pitchFamily="2" charset="2"/>
                        <a:buChar char="ü"/>
                      </a:pPr>
                      <a:r>
                        <a:rPr lang="en-US"/>
                        <a:t>WeiXin/WeChat official platform</a:t>
                      </a:r>
                    </a:p>
                    <a:p>
                      <a:pPr marL="285750" indent="-285750">
                        <a:buFont typeface="Wingdings" panose="05000000000000000000" pitchFamily="2" charset="2"/>
                        <a:buChar char="ü"/>
                      </a:pPr>
                      <a:r>
                        <a:rPr lang="en-US"/>
                        <a:t>National/Regional Congress/Conference</a:t>
                      </a:r>
                    </a:p>
                  </a:txBody>
                  <a:tcPr anchor="ctr"/>
                </a:tc>
                <a:tc>
                  <a:txBody>
                    <a:bodyPr/>
                    <a:lstStyle/>
                    <a:p>
                      <a:pPr marL="285750" indent="-285750">
                        <a:buFont typeface="Arial" panose="020B0604020202020204"/>
                        <a:buChar char="•"/>
                      </a:pPr>
                      <a:r>
                        <a:rPr lang="en-US"/>
                        <a:t>Increase exposure to external targeted experts/patients </a:t>
                      </a:r>
                    </a:p>
                  </a:txBody>
                  <a:tcPr anchor="ctr"/>
                </a:tc>
                <a:tc>
                  <a:txBody>
                    <a:bodyPr/>
                    <a:lstStyle/>
                    <a:p>
                      <a:r>
                        <a:rPr lang="en-US"/>
                        <a:t>MA</a:t>
                      </a:r>
                    </a:p>
                  </a:txBody>
                  <a:tcPr anchor="ctr"/>
                </a:tc>
                <a:extLst>
                  <a:ext uri="{0D108BD9-81ED-4DB2-BD59-A6C34878D82A}">
                    <a16:rowId xmlns:a16="http://schemas.microsoft.com/office/drawing/2014/main" val="572471236"/>
                  </a:ext>
                </a:extLst>
              </a:tr>
            </a:tbl>
          </a:graphicData>
        </a:graphic>
      </p:graphicFrame>
    </p:spTree>
    <p:extLst>
      <p:ext uri="{BB962C8B-B14F-4D97-AF65-F5344CB8AC3E}">
        <p14:creationId xmlns:p14="http://schemas.microsoft.com/office/powerpoint/2010/main" val="13944896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1" name="OTLSHAPE_T_5a934a26f311425e8ebaa0f45e6533ad_Shape">
            <a:extLst>
              <a:ext uri="{FF2B5EF4-FFF2-40B4-BE49-F238E27FC236}">
                <a16:creationId xmlns:a16="http://schemas.microsoft.com/office/drawing/2014/main" id="{EEA5C35B-8C6C-40D7-AB8F-8B0B207C03C4}"/>
              </a:ext>
            </a:extLst>
          </p:cNvPr>
          <p:cNvSpPr/>
          <p:nvPr/>
        </p:nvSpPr>
        <p:spPr bwMode="auto">
          <a:xfrm>
            <a:off x="4878300" y="4101592"/>
            <a:ext cx="1427090" cy="258451"/>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1" name="OTLSHAPE_T_5a934a26f311425e8ebaa0f45e6533ad_Shape">
            <a:extLst>
              <a:ext uri="{FF2B5EF4-FFF2-40B4-BE49-F238E27FC236}">
                <a16:creationId xmlns:a16="http://schemas.microsoft.com/office/drawing/2014/main" id="{BA0DC681-A90C-4B81-9C59-C68D6D4ED922}"/>
              </a:ext>
            </a:extLst>
          </p:cNvPr>
          <p:cNvSpPr/>
          <p:nvPr/>
        </p:nvSpPr>
        <p:spPr bwMode="auto">
          <a:xfrm>
            <a:off x="4845248" y="2062164"/>
            <a:ext cx="1460143" cy="340086"/>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itle 2"/>
          <p:cNvSpPr>
            <a:spLocks noGrp="1"/>
          </p:cNvSpPr>
          <p:nvPr>
            <p:ph type="title"/>
          </p:nvPr>
        </p:nvSpPr>
        <p:spPr>
          <a:xfrm>
            <a:off x="493767" y="58816"/>
            <a:ext cx="11233151" cy="720000"/>
          </a:xfrm>
        </p:spPr>
        <p:txBody>
          <a:bodyPr>
            <a:noAutofit/>
          </a:bodyPr>
          <a:lstStyle/>
          <a:p>
            <a:r>
              <a:rPr lang="en-US" altLang="zh-CN" sz="2667" u="sng">
                <a:latin typeface="Calibri" panose="020F0502020204030204" pitchFamily="34" charset="0"/>
                <a:cs typeface="Calibri" panose="020F0502020204030204" pitchFamily="34" charset="0"/>
              </a:rPr>
              <a:t>Ongoing:</a:t>
            </a:r>
            <a:br>
              <a:rPr lang="en-US" altLang="zh-CN" sz="2667">
                <a:latin typeface="Calibri" panose="020F0502020204030204" pitchFamily="34" charset="0"/>
                <a:cs typeface="Calibri" panose="020F0502020204030204" pitchFamily="34" charset="0"/>
              </a:rPr>
            </a:br>
            <a:r>
              <a:rPr lang="en-US" altLang="zh-CN" sz="2667">
                <a:latin typeface="Calibri" panose="020F0502020204030204" pitchFamily="34" charset="0"/>
                <a:cs typeface="Calibri" panose="020F0502020204030204" pitchFamily="34" charset="0"/>
              </a:rPr>
              <a:t>BI 1819479 (</a:t>
            </a:r>
            <a:r>
              <a:rPr lang="en-US" altLang="zh-CN" sz="2667" err="1">
                <a:latin typeface="Calibri" panose="020F0502020204030204" pitchFamily="34" charset="0"/>
                <a:cs typeface="Calibri" panose="020F0502020204030204" pitchFamily="34" charset="0"/>
              </a:rPr>
              <a:t>Autotaxin</a:t>
            </a:r>
            <a:r>
              <a:rPr lang="en-US" altLang="zh-CN" sz="2667">
                <a:latin typeface="Calibri" panose="020F0502020204030204" pitchFamily="34" charset="0"/>
                <a:cs typeface="Calibri" panose="020F0502020204030204" pitchFamily="34" charset="0"/>
              </a:rPr>
              <a:t> </a:t>
            </a:r>
            <a:r>
              <a:rPr lang="en-US" altLang="zh-CN" sz="2667" err="1">
                <a:latin typeface="Calibri" panose="020F0502020204030204" pitchFamily="34" charset="0"/>
                <a:cs typeface="Calibri" panose="020F0502020204030204" pitchFamily="34" charset="0"/>
              </a:rPr>
              <a:t>inhi</a:t>
            </a:r>
            <a:r>
              <a:rPr lang="en-US" altLang="zh-CN" sz="2667">
                <a:latin typeface="Calibri" panose="020F0502020204030204" pitchFamily="34" charset="0"/>
                <a:cs typeface="Calibri" panose="020F0502020204030204" pitchFamily="34" charset="0"/>
              </a:rPr>
              <a:t>): IPF/ PPF </a:t>
            </a:r>
            <a:endParaRPr lang="en-US" sz="2667">
              <a:latin typeface="Calibri" panose="020F0502020204030204" pitchFamily="34" charset="0"/>
              <a:cs typeface="Calibri" panose="020F0502020204030204" pitchFamily="34" charset="0"/>
            </a:endParaRPr>
          </a:p>
        </p:txBody>
      </p:sp>
      <p:sp>
        <p:nvSpPr>
          <p:cNvPr id="9" name="灯片编号占位符 8"/>
          <p:cNvSpPr>
            <a:spLocks noGrp="1"/>
          </p:cNvSpPr>
          <p:nvPr>
            <p:ph type="sldNum" sz="quarter" idx="20"/>
          </p:nvPr>
        </p:nvSpPr>
        <p:spPr/>
        <p:txBody>
          <a:bodyPr/>
          <a:lstStyle/>
          <a:p>
            <a:pPr marL="0" marR="0" lvl="0" indent="0" algn="r" defTabSz="121905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000" b="0" i="0" u="none" strike="noStrike" kern="1200" cap="none" spc="0" normalizeH="0" baseline="0" noProof="0">
                <a:ln>
                  <a:noFill/>
                </a:ln>
                <a:solidFill>
                  <a:srgbClr val="FFFFFF">
                    <a:lumMod val="50000"/>
                  </a:srgbClr>
                </a:solidFill>
                <a:effectLst/>
                <a:uLnTx/>
                <a:uFillTx/>
                <a:latin typeface="BISansCond" panose="02000006050000020004" pitchFamily="2" charset="0"/>
                <a:ea typeface="+mn-ea"/>
                <a:cs typeface="+mn-cs"/>
              </a:rPr>
              <a:pPr marL="0" marR="0" lvl="0" indent="0" algn="r" defTabSz="1219050" rtl="0" eaLnBrk="1" fontAlgn="auto" latinLnBrk="0" hangingPunct="1">
                <a:lnSpc>
                  <a:spcPct val="100000"/>
                </a:lnSpc>
                <a:spcBef>
                  <a:spcPts val="0"/>
                </a:spcBef>
                <a:spcAft>
                  <a:spcPts val="0"/>
                </a:spcAft>
                <a:buClrTx/>
                <a:buSzTx/>
                <a:buFontTx/>
                <a:buNone/>
                <a:tabLst/>
                <a:defRPr/>
              </a:pPr>
              <a:t>59</a:t>
            </a:fld>
            <a:endParaRPr kumimoji="0" lang="en-GB" sz="1000" b="0" i="0" u="none" strike="noStrike" kern="1200" cap="none" spc="0" normalizeH="0" baseline="0" noProof="0">
              <a:ln>
                <a:noFill/>
              </a:ln>
              <a:solidFill>
                <a:srgbClr val="FFFFFF">
                  <a:lumMod val="50000"/>
                </a:srgbClr>
              </a:solidFill>
              <a:effectLst/>
              <a:uLnTx/>
              <a:uFillTx/>
              <a:latin typeface="BISansCond" panose="02000006050000020004" pitchFamily="2" charset="0"/>
              <a:ea typeface="+mn-ea"/>
              <a:cs typeface="+mn-cs"/>
            </a:endParaRPr>
          </a:p>
        </p:txBody>
      </p:sp>
      <p:cxnSp>
        <p:nvCxnSpPr>
          <p:cNvPr id="72" name="Straight Connector 71">
            <a:extLst>
              <a:ext uri="{FF2B5EF4-FFF2-40B4-BE49-F238E27FC236}">
                <a16:creationId xmlns:a16="http://schemas.microsoft.com/office/drawing/2014/main" id="{9C165100-0114-4167-8FF0-BFF01B293D04}"/>
              </a:ext>
            </a:extLst>
          </p:cNvPr>
          <p:cNvCxnSpPr>
            <a:cxnSpLocks/>
          </p:cNvCxnSpPr>
          <p:nvPr/>
        </p:nvCxnSpPr>
        <p:spPr bwMode="auto">
          <a:xfrm flipH="1">
            <a:off x="-11761" y="346618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116" name="Table 115">
            <a:extLst>
              <a:ext uri="{FF2B5EF4-FFF2-40B4-BE49-F238E27FC236}">
                <a16:creationId xmlns:a16="http://schemas.microsoft.com/office/drawing/2014/main" id="{EB1832F7-86BE-4DEE-91F1-447638E4A957}"/>
              </a:ext>
            </a:extLst>
          </p:cNvPr>
          <p:cNvGraphicFramePr>
            <a:graphicFrameLocks noGrp="1"/>
          </p:cNvGraphicFramePr>
          <p:nvPr/>
        </p:nvGraphicFramePr>
        <p:xfrm>
          <a:off x="205596" y="870059"/>
          <a:ext cx="11694624" cy="685800"/>
        </p:xfrm>
        <a:graphic>
          <a:graphicData uri="http://schemas.openxmlformats.org/drawingml/2006/table">
            <a:tbl>
              <a:tblPr firstRow="1" bandRow="1"/>
              <a:tblGrid>
                <a:gridCol w="487276">
                  <a:extLst>
                    <a:ext uri="{9D8B030D-6E8A-4147-A177-3AD203B41FA5}">
                      <a16:colId xmlns:a16="http://schemas.microsoft.com/office/drawing/2014/main" val="1107610970"/>
                    </a:ext>
                  </a:extLst>
                </a:gridCol>
                <a:gridCol w="487276">
                  <a:extLst>
                    <a:ext uri="{9D8B030D-6E8A-4147-A177-3AD203B41FA5}">
                      <a16:colId xmlns:a16="http://schemas.microsoft.com/office/drawing/2014/main" val="2027925426"/>
                    </a:ext>
                  </a:extLst>
                </a:gridCol>
                <a:gridCol w="487276">
                  <a:extLst>
                    <a:ext uri="{9D8B030D-6E8A-4147-A177-3AD203B41FA5}">
                      <a16:colId xmlns:a16="http://schemas.microsoft.com/office/drawing/2014/main" val="344046683"/>
                    </a:ext>
                  </a:extLst>
                </a:gridCol>
                <a:gridCol w="487276">
                  <a:extLst>
                    <a:ext uri="{9D8B030D-6E8A-4147-A177-3AD203B41FA5}">
                      <a16:colId xmlns:a16="http://schemas.microsoft.com/office/drawing/2014/main" val="1823529313"/>
                    </a:ext>
                  </a:extLst>
                </a:gridCol>
                <a:gridCol w="487276">
                  <a:extLst>
                    <a:ext uri="{9D8B030D-6E8A-4147-A177-3AD203B41FA5}">
                      <a16:colId xmlns:a16="http://schemas.microsoft.com/office/drawing/2014/main" val="3091663135"/>
                    </a:ext>
                  </a:extLst>
                </a:gridCol>
                <a:gridCol w="487276">
                  <a:extLst>
                    <a:ext uri="{9D8B030D-6E8A-4147-A177-3AD203B41FA5}">
                      <a16:colId xmlns:a16="http://schemas.microsoft.com/office/drawing/2014/main" val="2003423086"/>
                    </a:ext>
                  </a:extLst>
                </a:gridCol>
                <a:gridCol w="487276">
                  <a:extLst>
                    <a:ext uri="{9D8B030D-6E8A-4147-A177-3AD203B41FA5}">
                      <a16:colId xmlns:a16="http://schemas.microsoft.com/office/drawing/2014/main" val="2466911814"/>
                    </a:ext>
                  </a:extLst>
                </a:gridCol>
                <a:gridCol w="487276">
                  <a:extLst>
                    <a:ext uri="{9D8B030D-6E8A-4147-A177-3AD203B41FA5}">
                      <a16:colId xmlns:a16="http://schemas.microsoft.com/office/drawing/2014/main" val="3023231563"/>
                    </a:ext>
                  </a:extLst>
                </a:gridCol>
                <a:gridCol w="487276">
                  <a:extLst>
                    <a:ext uri="{9D8B030D-6E8A-4147-A177-3AD203B41FA5}">
                      <a16:colId xmlns:a16="http://schemas.microsoft.com/office/drawing/2014/main" val="3411862845"/>
                    </a:ext>
                  </a:extLst>
                </a:gridCol>
                <a:gridCol w="487276">
                  <a:extLst>
                    <a:ext uri="{9D8B030D-6E8A-4147-A177-3AD203B41FA5}">
                      <a16:colId xmlns:a16="http://schemas.microsoft.com/office/drawing/2014/main" val="2851474774"/>
                    </a:ext>
                  </a:extLst>
                </a:gridCol>
                <a:gridCol w="487276">
                  <a:extLst>
                    <a:ext uri="{9D8B030D-6E8A-4147-A177-3AD203B41FA5}">
                      <a16:colId xmlns:a16="http://schemas.microsoft.com/office/drawing/2014/main" val="107595344"/>
                    </a:ext>
                  </a:extLst>
                </a:gridCol>
                <a:gridCol w="487276">
                  <a:extLst>
                    <a:ext uri="{9D8B030D-6E8A-4147-A177-3AD203B41FA5}">
                      <a16:colId xmlns:a16="http://schemas.microsoft.com/office/drawing/2014/main" val="1666999431"/>
                    </a:ext>
                  </a:extLst>
                </a:gridCol>
                <a:gridCol w="487276">
                  <a:extLst>
                    <a:ext uri="{9D8B030D-6E8A-4147-A177-3AD203B41FA5}">
                      <a16:colId xmlns:a16="http://schemas.microsoft.com/office/drawing/2014/main" val="3696607442"/>
                    </a:ext>
                  </a:extLst>
                </a:gridCol>
                <a:gridCol w="487276">
                  <a:extLst>
                    <a:ext uri="{9D8B030D-6E8A-4147-A177-3AD203B41FA5}">
                      <a16:colId xmlns:a16="http://schemas.microsoft.com/office/drawing/2014/main" val="223989776"/>
                    </a:ext>
                  </a:extLst>
                </a:gridCol>
                <a:gridCol w="487276">
                  <a:extLst>
                    <a:ext uri="{9D8B030D-6E8A-4147-A177-3AD203B41FA5}">
                      <a16:colId xmlns:a16="http://schemas.microsoft.com/office/drawing/2014/main" val="124731204"/>
                    </a:ext>
                  </a:extLst>
                </a:gridCol>
                <a:gridCol w="487276">
                  <a:extLst>
                    <a:ext uri="{9D8B030D-6E8A-4147-A177-3AD203B41FA5}">
                      <a16:colId xmlns:a16="http://schemas.microsoft.com/office/drawing/2014/main" val="3066978585"/>
                    </a:ext>
                  </a:extLst>
                </a:gridCol>
                <a:gridCol w="487276">
                  <a:extLst>
                    <a:ext uri="{9D8B030D-6E8A-4147-A177-3AD203B41FA5}">
                      <a16:colId xmlns:a16="http://schemas.microsoft.com/office/drawing/2014/main" val="1064917641"/>
                    </a:ext>
                  </a:extLst>
                </a:gridCol>
                <a:gridCol w="487276">
                  <a:extLst>
                    <a:ext uri="{9D8B030D-6E8A-4147-A177-3AD203B41FA5}">
                      <a16:colId xmlns:a16="http://schemas.microsoft.com/office/drawing/2014/main" val="4221117315"/>
                    </a:ext>
                  </a:extLst>
                </a:gridCol>
                <a:gridCol w="487276">
                  <a:extLst>
                    <a:ext uri="{9D8B030D-6E8A-4147-A177-3AD203B41FA5}">
                      <a16:colId xmlns:a16="http://schemas.microsoft.com/office/drawing/2014/main" val="3266065341"/>
                    </a:ext>
                  </a:extLst>
                </a:gridCol>
                <a:gridCol w="487276">
                  <a:extLst>
                    <a:ext uri="{9D8B030D-6E8A-4147-A177-3AD203B41FA5}">
                      <a16:colId xmlns:a16="http://schemas.microsoft.com/office/drawing/2014/main" val="2374051224"/>
                    </a:ext>
                  </a:extLst>
                </a:gridCol>
                <a:gridCol w="487276">
                  <a:extLst>
                    <a:ext uri="{9D8B030D-6E8A-4147-A177-3AD203B41FA5}">
                      <a16:colId xmlns:a16="http://schemas.microsoft.com/office/drawing/2014/main" val="1840388365"/>
                    </a:ext>
                  </a:extLst>
                </a:gridCol>
                <a:gridCol w="487276">
                  <a:extLst>
                    <a:ext uri="{9D8B030D-6E8A-4147-A177-3AD203B41FA5}">
                      <a16:colId xmlns:a16="http://schemas.microsoft.com/office/drawing/2014/main" val="267750830"/>
                    </a:ext>
                  </a:extLst>
                </a:gridCol>
                <a:gridCol w="487276">
                  <a:extLst>
                    <a:ext uri="{9D8B030D-6E8A-4147-A177-3AD203B41FA5}">
                      <a16:colId xmlns:a16="http://schemas.microsoft.com/office/drawing/2014/main" val="3966469970"/>
                    </a:ext>
                  </a:extLst>
                </a:gridCol>
                <a:gridCol w="487276">
                  <a:extLst>
                    <a:ext uri="{9D8B030D-6E8A-4147-A177-3AD203B41FA5}">
                      <a16:colId xmlns:a16="http://schemas.microsoft.com/office/drawing/2014/main" val="2522973146"/>
                    </a:ext>
                  </a:extLst>
                </a:gridCol>
              </a:tblGrid>
              <a:tr h="259080">
                <a:tc gridSpan="2">
                  <a:txBody>
                    <a:bodyPr/>
                    <a:lstStyle/>
                    <a:p>
                      <a:pPr algn="ctr"/>
                      <a:r>
                        <a:rPr lang="en-US" altLang="zh-CN" sz="1100" b="1">
                          <a:solidFill>
                            <a:schemeClr val="bg1"/>
                          </a:solidFill>
                          <a:latin typeface="Arial"/>
                          <a:cs typeface="Arial"/>
                        </a:rPr>
                        <a:t>2023</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2024</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2025</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2026</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2027</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2028-2029</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bg1"/>
                          </a:solidFill>
                          <a:latin typeface="Arial"/>
                          <a:ea typeface="+mn-ea"/>
                          <a:cs typeface="Arial"/>
                        </a:rPr>
                        <a:t>2030</a:t>
                      </a:r>
                      <a:endParaRPr lang="zh-CN" altLang="en-US" sz="1100" b="1" kern="1200">
                        <a:solidFill>
                          <a:schemeClr val="bg1"/>
                        </a:solidFill>
                        <a:latin typeface="Arial"/>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p>
                      <a:pPr algn="ctr"/>
                      <a:r>
                        <a:rPr lang="en-US" altLang="zh-CN" sz="1100" b="1">
                          <a:solidFill>
                            <a:srgbClr val="000000"/>
                          </a:solidFill>
                          <a:latin typeface="Arial"/>
                          <a:cs typeface="Arial"/>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H1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H2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H1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H2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rgbClr val="000000"/>
                          </a:solidFill>
                          <a:latin typeface="Arial"/>
                          <a:ea typeface="+mn-ea"/>
                          <a:cs typeface="Arial"/>
                        </a:rPr>
                        <a:t>Q1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rgbClr val="000000"/>
                          </a:solidFill>
                          <a:latin typeface="Arial"/>
                          <a:ea typeface="+mn-ea"/>
                          <a:cs typeface="Arial"/>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17" name="Isosceles Triangle 116"/>
          <p:cNvSpPr/>
          <p:nvPr/>
        </p:nvSpPr>
        <p:spPr>
          <a:xfrm rot="16200000" flipH="1">
            <a:off x="-232269" y="1167500"/>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Cond"/>
              <a:ea typeface="+mn-ea"/>
              <a:cs typeface="+mn-cs"/>
            </a:endParaRPr>
          </a:p>
        </p:txBody>
      </p:sp>
      <p:sp>
        <p:nvSpPr>
          <p:cNvPr id="118" name="Isosceles Triangle 117"/>
          <p:cNvSpPr/>
          <p:nvPr/>
        </p:nvSpPr>
        <p:spPr>
          <a:xfrm rot="5400000">
            <a:off x="11736950" y="1209384"/>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Cond"/>
              <a:ea typeface="+mn-ea"/>
              <a:cs typeface="+mn-cs"/>
            </a:endParaRPr>
          </a:p>
        </p:txBody>
      </p:sp>
      <p:sp>
        <p:nvSpPr>
          <p:cNvPr id="53" name="OTLSHAPE_T_e17f3958430f4cff8650518c93c7635e_Shape">
            <a:extLst>
              <a:ext uri="{FF2B5EF4-FFF2-40B4-BE49-F238E27FC236}">
                <a16:creationId xmlns:a16="http://schemas.microsoft.com/office/drawing/2014/main" id="{B4E8BEE0-0EB3-40D8-9AA2-B2BC6D502A8C}"/>
              </a:ext>
            </a:extLst>
          </p:cNvPr>
          <p:cNvSpPr/>
          <p:nvPr>
            <p:custDataLst>
              <p:tags r:id="rId1"/>
            </p:custDataLst>
          </p:nvPr>
        </p:nvSpPr>
        <p:spPr bwMode="auto">
          <a:xfrm>
            <a:off x="2570792" y="2062164"/>
            <a:ext cx="2283552" cy="256032"/>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Ph2 IPF (N=300) </a:t>
            </a:r>
            <a:endParaRPr kumimoji="0" lang="zh-CN" altLang="en-US"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8" name="Rectangle 67"/>
          <p:cNvSpPr/>
          <p:nvPr/>
        </p:nvSpPr>
        <p:spPr>
          <a:xfrm>
            <a:off x="4626621" y="2267457"/>
            <a:ext cx="372218"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LSR</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69" name="Star: 4 Points 143">
            <a:extLst>
              <a:ext uri="{FF2B5EF4-FFF2-40B4-BE49-F238E27FC236}">
                <a16:creationId xmlns:a16="http://schemas.microsoft.com/office/drawing/2014/main" id="{B361C849-6669-4EC4-A9AD-EB1BCC463147}"/>
              </a:ext>
            </a:extLst>
          </p:cNvPr>
          <p:cNvSpPr/>
          <p:nvPr/>
        </p:nvSpPr>
        <p:spPr bwMode="auto">
          <a:xfrm>
            <a:off x="4747881" y="219044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70" name="Rectangle 69"/>
          <p:cNvSpPr/>
          <p:nvPr/>
        </p:nvSpPr>
        <p:spPr>
          <a:xfrm>
            <a:off x="2426973" y="2267457"/>
            <a:ext cx="365805"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1" name="Star: 4 Points 143">
            <a:extLst>
              <a:ext uri="{FF2B5EF4-FFF2-40B4-BE49-F238E27FC236}">
                <a16:creationId xmlns:a16="http://schemas.microsoft.com/office/drawing/2014/main" id="{B361C849-6669-4EC4-A9AD-EB1BCC463147}"/>
              </a:ext>
            </a:extLst>
          </p:cNvPr>
          <p:cNvSpPr/>
          <p:nvPr/>
        </p:nvSpPr>
        <p:spPr bwMode="auto">
          <a:xfrm>
            <a:off x="2500323" y="222087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83" name="OTLSHAPE_T_5a934a26f311425e8ebaa0f45e6533ad_Shape">
            <a:extLst>
              <a:ext uri="{FF2B5EF4-FFF2-40B4-BE49-F238E27FC236}">
                <a16:creationId xmlns:a16="http://schemas.microsoft.com/office/drawing/2014/main" id="{A1E70551-578A-4B35-ACAC-04BA6E603952}"/>
              </a:ext>
            </a:extLst>
          </p:cNvPr>
          <p:cNvSpPr/>
          <p:nvPr/>
        </p:nvSpPr>
        <p:spPr bwMode="auto">
          <a:xfrm>
            <a:off x="7993351" y="2623199"/>
            <a:ext cx="3371856" cy="258456"/>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in IPF</a:t>
            </a:r>
          </a:p>
        </p:txBody>
      </p:sp>
      <p:sp>
        <p:nvSpPr>
          <p:cNvPr id="88" name="OTLSHAPE_T_e17f3958430f4cff8650518c93c7635e_StartDate">
            <a:extLst>
              <a:ext uri="{FF2B5EF4-FFF2-40B4-BE49-F238E27FC236}">
                <a16:creationId xmlns:a16="http://schemas.microsoft.com/office/drawing/2014/main" id="{9224C17E-1AA1-4096-A3FD-25D6FD8BA444}"/>
              </a:ext>
            </a:extLst>
          </p:cNvPr>
          <p:cNvSpPr txBox="1"/>
          <p:nvPr>
            <p:custDataLst>
              <p:tags r:id="rId2"/>
            </p:custDataLst>
          </p:nvPr>
        </p:nvSpPr>
        <p:spPr>
          <a:xfrm>
            <a:off x="7584355" y="2422793"/>
            <a:ext cx="577401" cy="215444"/>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Aug 2027</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78579" y="1474809"/>
            <a:ext cx="1138019" cy="560880"/>
          </a:xfrm>
          <a:prstGeom prst="rect">
            <a:avLst/>
          </a:prstGeom>
        </p:spPr>
      </p:pic>
      <p:pic>
        <p:nvPicPr>
          <p:cNvPr id="4" name="Picture 3"/>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25855" y="3551761"/>
            <a:ext cx="1138019" cy="560880"/>
          </a:xfrm>
          <a:prstGeom prst="rect">
            <a:avLst/>
          </a:prstGeom>
        </p:spPr>
      </p:pic>
      <p:sp>
        <p:nvSpPr>
          <p:cNvPr id="60" name="5-Point Star 5">
            <a:extLst>
              <a:ext uri="{FF2B5EF4-FFF2-40B4-BE49-F238E27FC236}">
                <a16:creationId xmlns:a16="http://schemas.microsoft.com/office/drawing/2014/main" id="{483FC877-8C65-4FBB-8C5D-A8342A749CC1}"/>
              </a:ext>
            </a:extLst>
          </p:cNvPr>
          <p:cNvSpPr/>
          <p:nvPr/>
        </p:nvSpPr>
        <p:spPr>
          <a:xfrm>
            <a:off x="11775830" y="3118515"/>
            <a:ext cx="193623" cy="182500"/>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6" name="TextBox 5">
            <a:extLst>
              <a:ext uri="{FF2B5EF4-FFF2-40B4-BE49-F238E27FC236}">
                <a16:creationId xmlns:a16="http://schemas.microsoft.com/office/drawing/2014/main" id="{25E9B149-D572-4CFE-AEEE-BB1C81F2D0A9}"/>
              </a:ext>
            </a:extLst>
          </p:cNvPr>
          <p:cNvSpPr txBox="1"/>
          <p:nvPr/>
        </p:nvSpPr>
        <p:spPr>
          <a:xfrm>
            <a:off x="99962" y="5527970"/>
            <a:ext cx="2374625" cy="738472"/>
          </a:xfrm>
          <a:prstGeom prst="rect">
            <a:avLst/>
          </a:prstGeom>
          <a:noFill/>
        </p:spPr>
        <p:txBody>
          <a:bodyPr wrap="square" lIns="0" tIns="0" rIns="0" bIns="0" rtlCol="0">
            <a:spAutoFit/>
          </a:bodyPr>
          <a:lstStyle/>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000000"/>
                </a:solidFill>
                <a:effectLst/>
                <a:uLnTx/>
                <a:uFillTx/>
                <a:latin typeface="BISansCond"/>
                <a:ea typeface="+mn-ea"/>
                <a:cs typeface="+mn-cs"/>
              </a:rPr>
              <a:t>FSS: First subject Screen</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000000"/>
                </a:solidFill>
                <a:effectLst/>
                <a:uLnTx/>
                <a:uFillTx/>
                <a:latin typeface="BISansCond"/>
                <a:ea typeface="+mn-ea"/>
                <a:cs typeface="+mn-cs"/>
              </a:rPr>
              <a:t>LSC: Last Subject complete</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000000"/>
                </a:solidFill>
                <a:effectLst/>
                <a:uLnTx/>
                <a:uFillTx/>
                <a:latin typeface="BISansCond"/>
                <a:ea typeface="+mn-ea"/>
                <a:cs typeface="+mn-cs"/>
              </a:rPr>
              <a:t>LSR: Last subject randomization</a:t>
            </a: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en-US" altLang="zh-CN" sz="933" b="0" i="0" u="none" strike="noStrike" kern="1200" cap="none" spc="0" normalizeH="0" baseline="0" noProof="0">
              <a:ln>
                <a:noFill/>
              </a:ln>
              <a:solidFill>
                <a:srgbClr val="000000"/>
              </a:solidFill>
              <a:effectLst/>
              <a:uLnTx/>
              <a:uFillTx/>
              <a:latin typeface="BISansCond"/>
              <a:ea typeface="+mn-ea"/>
              <a:cs typeface="+mn-cs"/>
            </a:endParaRP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zh-CN" altLang="en-US" sz="1067" b="0" i="0" u="none" strike="noStrike" kern="1200" cap="none" spc="0" normalizeH="0" baseline="0" noProof="0">
              <a:ln>
                <a:noFill/>
              </a:ln>
              <a:solidFill>
                <a:srgbClr val="000000"/>
              </a:solidFill>
              <a:effectLst/>
              <a:uLnTx/>
              <a:uFillTx/>
              <a:latin typeface="BISansCond"/>
              <a:ea typeface="+mn-ea"/>
              <a:cs typeface="+mn-cs"/>
            </a:endParaRPr>
          </a:p>
        </p:txBody>
      </p:sp>
      <p:sp>
        <p:nvSpPr>
          <p:cNvPr id="113" name="OTLSHAPE_T_e17f3958430f4cff8650518c93c7635e_StartDate">
            <a:extLst>
              <a:ext uri="{FF2B5EF4-FFF2-40B4-BE49-F238E27FC236}">
                <a16:creationId xmlns:a16="http://schemas.microsoft.com/office/drawing/2014/main" id="{A2BFCC99-10CA-4B3D-B761-C3B50E1A72E2}"/>
              </a:ext>
            </a:extLst>
          </p:cNvPr>
          <p:cNvSpPr txBox="1"/>
          <p:nvPr>
            <p:custDataLst>
              <p:tags r:id="rId3"/>
            </p:custDataLst>
          </p:nvPr>
        </p:nvSpPr>
        <p:spPr>
          <a:xfrm>
            <a:off x="11129479" y="2358847"/>
            <a:ext cx="590226" cy="215444"/>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Mar 2030</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6" name="Star: 4 Points 143">
            <a:extLst>
              <a:ext uri="{FF2B5EF4-FFF2-40B4-BE49-F238E27FC236}">
                <a16:creationId xmlns:a16="http://schemas.microsoft.com/office/drawing/2014/main" id="{A2D9C789-D61C-4C00-A0BE-D5F7642EF81B}"/>
              </a:ext>
            </a:extLst>
          </p:cNvPr>
          <p:cNvSpPr/>
          <p:nvPr/>
        </p:nvSpPr>
        <p:spPr bwMode="auto">
          <a:xfrm>
            <a:off x="7865830" y="261658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5" name="OTLSHAPE_T_e17f3958430f4cff8650518c93c7635e_StartDate">
            <a:extLst>
              <a:ext uri="{FF2B5EF4-FFF2-40B4-BE49-F238E27FC236}">
                <a16:creationId xmlns:a16="http://schemas.microsoft.com/office/drawing/2014/main" id="{27E01833-72AF-477E-AE8F-2DD7F1F4B984}"/>
              </a:ext>
            </a:extLst>
          </p:cNvPr>
          <p:cNvSpPr txBox="1"/>
          <p:nvPr>
            <p:custDataLst>
              <p:tags r:id="rId4"/>
            </p:custDataLst>
          </p:nvPr>
        </p:nvSpPr>
        <p:spPr>
          <a:xfrm>
            <a:off x="11424598" y="3314260"/>
            <a:ext cx="876991" cy="287130"/>
          </a:xfrm>
          <a:prstGeom prst="rect">
            <a:avLst/>
          </a:prstGeom>
          <a:noFill/>
        </p:spPr>
        <p:txBody>
          <a:bodyPr vert="horz" wrap="square" lIns="0" tIns="0" rIns="0" bIns="0" rtlCol="0" anchor="ctr" anchorCtr="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US NDA</a:t>
            </a:r>
          </a:p>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Jul 2030 </a:t>
            </a:r>
          </a:p>
        </p:txBody>
      </p:sp>
      <p:pic>
        <p:nvPicPr>
          <p:cNvPr id="136" name="Graphic 135" descr="Flag with solid fill">
            <a:extLst>
              <a:ext uri="{FF2B5EF4-FFF2-40B4-BE49-F238E27FC236}">
                <a16:creationId xmlns:a16="http://schemas.microsoft.com/office/drawing/2014/main" id="{5DF35124-76EA-48BC-A0C2-E6E910CE4843}"/>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2037031" y="3151562"/>
            <a:ext cx="193623" cy="193623"/>
          </a:xfrm>
          <a:prstGeom prst="rect">
            <a:avLst/>
          </a:prstGeom>
        </p:spPr>
      </p:pic>
      <p:sp>
        <p:nvSpPr>
          <p:cNvPr id="137" name="OTLSHAPE_T_e17f3958430f4cff8650518c93c7635e_StartDate">
            <a:extLst>
              <a:ext uri="{FF2B5EF4-FFF2-40B4-BE49-F238E27FC236}">
                <a16:creationId xmlns:a16="http://schemas.microsoft.com/office/drawing/2014/main" id="{1CA4D503-0497-424B-83B6-B28389852B8A}"/>
              </a:ext>
            </a:extLst>
          </p:cNvPr>
          <p:cNvSpPr txBox="1"/>
          <p:nvPr>
            <p:custDataLst>
              <p:tags r:id="rId5"/>
            </p:custDataLst>
          </p:nvPr>
        </p:nvSpPr>
        <p:spPr>
          <a:xfrm>
            <a:off x="11365864" y="2863048"/>
            <a:ext cx="1329237" cy="287130"/>
          </a:xfrm>
          <a:prstGeom prst="rect">
            <a:avLst/>
          </a:prstGeom>
          <a:noFill/>
        </p:spPr>
        <p:txBody>
          <a:bodyPr vert="horz" wrap="square" lIns="0" tIns="0" rIns="0" bIns="0" rtlCol="0" anchor="ctr" anchorCtr="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US app</a:t>
            </a:r>
          </a:p>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Jul 2031 </a:t>
            </a:r>
          </a:p>
        </p:txBody>
      </p:sp>
      <p:sp>
        <p:nvSpPr>
          <p:cNvPr id="132" name="OTLSHAPE_T_e17f3958430f4cff8650518c93c7635e_StartDate">
            <a:extLst>
              <a:ext uri="{FF2B5EF4-FFF2-40B4-BE49-F238E27FC236}">
                <a16:creationId xmlns:a16="http://schemas.microsoft.com/office/drawing/2014/main" id="{3C3CACA0-6719-4369-B7E3-DFDE8A562372}"/>
              </a:ext>
            </a:extLst>
          </p:cNvPr>
          <p:cNvSpPr txBox="1"/>
          <p:nvPr>
            <p:custDataLst>
              <p:tags r:id="rId6"/>
            </p:custDataLst>
          </p:nvPr>
        </p:nvSpPr>
        <p:spPr>
          <a:xfrm>
            <a:off x="2289233" y="1853853"/>
            <a:ext cx="599844" cy="215444"/>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Aug 2024 </a:t>
            </a:r>
          </a:p>
        </p:txBody>
      </p:sp>
      <p:sp>
        <p:nvSpPr>
          <p:cNvPr id="133" name="Rectangle 132">
            <a:extLst>
              <a:ext uri="{FF2B5EF4-FFF2-40B4-BE49-F238E27FC236}">
                <a16:creationId xmlns:a16="http://schemas.microsoft.com/office/drawing/2014/main" id="{BE781C2A-58A0-4FE3-9F3C-66B02D65B594}"/>
              </a:ext>
            </a:extLst>
          </p:cNvPr>
          <p:cNvSpPr/>
          <p:nvPr/>
        </p:nvSpPr>
        <p:spPr>
          <a:xfrm>
            <a:off x="7752762" y="2808703"/>
            <a:ext cx="327333" cy="215444"/>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34" name="Rectangle 133">
            <a:extLst>
              <a:ext uri="{FF2B5EF4-FFF2-40B4-BE49-F238E27FC236}">
                <a16:creationId xmlns:a16="http://schemas.microsoft.com/office/drawing/2014/main" id="{E61D2C1C-5D4E-4553-8CF3-07858D1B74DC}"/>
              </a:ext>
            </a:extLst>
          </p:cNvPr>
          <p:cNvSpPr/>
          <p:nvPr/>
        </p:nvSpPr>
        <p:spPr>
          <a:xfrm>
            <a:off x="11094053" y="2602770"/>
            <a:ext cx="330539" cy="215444"/>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40" name="OTLSHAPE_T_e17f3958430f4cff8650518c93c7635e_StartDate">
            <a:extLst>
              <a:ext uri="{FF2B5EF4-FFF2-40B4-BE49-F238E27FC236}">
                <a16:creationId xmlns:a16="http://schemas.microsoft.com/office/drawing/2014/main" id="{2C476CE0-4E49-48BA-9546-8CA92E930315}"/>
              </a:ext>
            </a:extLst>
          </p:cNvPr>
          <p:cNvSpPr txBox="1"/>
          <p:nvPr>
            <p:custDataLst>
              <p:tags r:id="rId7"/>
            </p:custDataLst>
          </p:nvPr>
        </p:nvSpPr>
        <p:spPr>
          <a:xfrm>
            <a:off x="6002054" y="1853853"/>
            <a:ext cx="566182" cy="215444"/>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Sep 2026</a:t>
            </a:r>
          </a:p>
        </p:txBody>
      </p:sp>
      <p:sp>
        <p:nvSpPr>
          <p:cNvPr id="142" name="OTLSHAPE_T_e17f3958430f4cff8650518c93c7635e_Shape">
            <a:extLst>
              <a:ext uri="{FF2B5EF4-FFF2-40B4-BE49-F238E27FC236}">
                <a16:creationId xmlns:a16="http://schemas.microsoft.com/office/drawing/2014/main" id="{13BBD805-6B4E-49B8-8A28-7FC80412D5B3}"/>
              </a:ext>
            </a:extLst>
          </p:cNvPr>
          <p:cNvSpPr/>
          <p:nvPr>
            <p:custDataLst>
              <p:tags r:id="rId8"/>
            </p:custDataLst>
          </p:nvPr>
        </p:nvSpPr>
        <p:spPr bwMode="auto">
          <a:xfrm>
            <a:off x="1613965" y="4101593"/>
            <a:ext cx="956827" cy="256032"/>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9" rIns="51435" bIns="25719" numCol="1" rtlCol="0" anchor="ctr" anchorCtr="0" compatLnSpc="1">
            <a:prstTxWarp prst="textNoShape">
              <a:avLst/>
            </a:prstTxWarp>
          </a:bodyPr>
          <a:lstStyle/>
          <a:p>
            <a:pPr marL="0" marR="0" lvl="0" indent="0" algn="ctr" defTabSz="914265" rtl="0" eaLnBrk="0" fontAlgn="base" latinLnBrk="0" hangingPunct="0">
              <a:lnSpc>
                <a:spcPct val="100000"/>
              </a:lnSpc>
              <a:spcBef>
                <a:spcPct val="0"/>
              </a:spcBef>
              <a:spcAft>
                <a:spcPct val="0"/>
              </a:spcAft>
              <a:buClrTx/>
              <a:buSzTx/>
              <a:buFontTx/>
              <a:buNone/>
              <a:tabLst/>
              <a:defRPr/>
            </a:pPr>
            <a:r>
              <a:rPr kumimoji="0" lang="en-US" altLang="zh-CN" sz="600" b="1" i="0" u="none" strike="noStrike" kern="1200" cap="none" spc="0" normalizeH="0" baseline="0" noProof="0">
                <a:ln>
                  <a:noFill/>
                </a:ln>
                <a:solidFill>
                  <a:srgbClr val="000000"/>
                </a:solidFill>
                <a:effectLst/>
                <a:uLnTx/>
                <a:uFillTx/>
                <a:latin typeface="BISansCond"/>
                <a:ea typeface="+mn-ea"/>
                <a:cs typeface="+mn-cs"/>
              </a:rPr>
              <a:t>CTA Review + EC + HGRAC + 1</a:t>
            </a:r>
            <a:r>
              <a:rPr kumimoji="0" lang="en-US" altLang="zh-CN" sz="600" b="1" i="0" u="none" strike="noStrike" kern="1200" cap="none" spc="0" normalizeH="0" baseline="30000" noProof="0">
                <a:ln>
                  <a:noFill/>
                </a:ln>
                <a:solidFill>
                  <a:srgbClr val="000000"/>
                </a:solidFill>
                <a:effectLst/>
                <a:uLnTx/>
                <a:uFillTx/>
                <a:latin typeface="BISansCond"/>
                <a:ea typeface="+mn-ea"/>
                <a:cs typeface="+mn-cs"/>
              </a:rPr>
              <a:t>st</a:t>
            </a:r>
            <a:r>
              <a:rPr kumimoji="0" lang="en-US" altLang="zh-CN" sz="600" b="1" i="0" u="none" strike="noStrike" kern="1200" cap="none" spc="0" normalizeH="0" baseline="0" noProof="0">
                <a:ln>
                  <a:noFill/>
                </a:ln>
                <a:solidFill>
                  <a:srgbClr val="000000"/>
                </a:solidFill>
                <a:effectLst/>
                <a:uLnTx/>
                <a:uFillTx/>
                <a:latin typeface="BISansCond"/>
                <a:ea typeface="+mn-ea"/>
                <a:cs typeface="+mn-cs"/>
              </a:rPr>
              <a:t> SIV (6m) *</a:t>
            </a:r>
            <a:endParaRPr kumimoji="0" lang="zh-CN" altLang="en-US" sz="600" b="1" i="0" u="none" strike="noStrike" kern="1200" cap="none" spc="0" normalizeH="0" baseline="0" noProof="0">
              <a:ln>
                <a:noFill/>
              </a:ln>
              <a:solidFill>
                <a:srgbClr val="000000"/>
              </a:solidFill>
              <a:effectLst/>
              <a:uLnTx/>
              <a:uFillTx/>
              <a:latin typeface="BISansCond"/>
              <a:ea typeface="+mn-ea"/>
              <a:cs typeface="+mn-cs"/>
            </a:endParaRPr>
          </a:p>
        </p:txBody>
      </p:sp>
      <p:sp>
        <p:nvSpPr>
          <p:cNvPr id="145" name="5-Point Star 5">
            <a:extLst>
              <a:ext uri="{FF2B5EF4-FFF2-40B4-BE49-F238E27FC236}">
                <a16:creationId xmlns:a16="http://schemas.microsoft.com/office/drawing/2014/main" id="{FF2EE900-EF38-4A20-8571-F11FC61C771A}"/>
              </a:ext>
            </a:extLst>
          </p:cNvPr>
          <p:cNvSpPr/>
          <p:nvPr/>
        </p:nvSpPr>
        <p:spPr>
          <a:xfrm>
            <a:off x="1579979" y="4075585"/>
            <a:ext cx="94231" cy="115417"/>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46" name="OTLSHAPE_T_e17f3958430f4cff8650518c93c7635e_StartDate">
            <a:extLst>
              <a:ext uri="{FF2B5EF4-FFF2-40B4-BE49-F238E27FC236}">
                <a16:creationId xmlns:a16="http://schemas.microsoft.com/office/drawing/2014/main" id="{D8665EA8-642E-464A-8E61-6CC42C7EAA9D}"/>
              </a:ext>
            </a:extLst>
          </p:cNvPr>
          <p:cNvSpPr txBox="1"/>
          <p:nvPr>
            <p:custDataLst>
              <p:tags r:id="rId9"/>
            </p:custDataLst>
          </p:nvPr>
        </p:nvSpPr>
        <p:spPr>
          <a:xfrm>
            <a:off x="2321696" y="3892404"/>
            <a:ext cx="566181" cy="215444"/>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Sep 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71" name="Rectangle 170">
            <a:extLst>
              <a:ext uri="{FF2B5EF4-FFF2-40B4-BE49-F238E27FC236}">
                <a16:creationId xmlns:a16="http://schemas.microsoft.com/office/drawing/2014/main" id="{5DF7619E-8037-4119-9490-E9399FFC5DFC}"/>
              </a:ext>
            </a:extLst>
          </p:cNvPr>
          <p:cNvSpPr/>
          <p:nvPr/>
        </p:nvSpPr>
        <p:spPr>
          <a:xfrm>
            <a:off x="2571229" y="4101593"/>
            <a:ext cx="2307073" cy="256032"/>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ISansCond"/>
                <a:ea typeface="+mn-ea"/>
                <a:cs typeface="Calibri" panose="020F0502020204030204" pitchFamily="34" charset="0"/>
              </a:rPr>
              <a:t>Recruitment window</a:t>
            </a:r>
          </a:p>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BISansCond"/>
                <a:ea typeface="+mn-ea"/>
                <a:cs typeface="Calibri" panose="020F0502020204030204" pitchFamily="34" charset="0"/>
              </a:rPr>
              <a:t>~12m (Site: 16 </a:t>
            </a:r>
            <a:r>
              <a:rPr kumimoji="0" lang="en-US" altLang="zh-CN" sz="800" b="1" i="0" u="none" strike="noStrike" kern="1200" cap="none" spc="0" normalizeH="0" baseline="0" noProof="0">
                <a:ln>
                  <a:noFill/>
                </a:ln>
                <a:solidFill>
                  <a:srgbClr val="000000"/>
                </a:solidFill>
                <a:effectLst/>
                <a:uLnTx/>
                <a:uFillTx/>
                <a:latin typeface="BISansCond"/>
                <a:ea typeface="+mn-ea"/>
                <a:cs typeface="Calibri" panose="020F0502020204030204" pitchFamily="34" charset="0"/>
              </a:rPr>
              <a:t>N=18)</a:t>
            </a:r>
          </a:p>
        </p:txBody>
      </p:sp>
      <p:sp>
        <p:nvSpPr>
          <p:cNvPr id="180" name="Star: 4 Points 143">
            <a:extLst>
              <a:ext uri="{FF2B5EF4-FFF2-40B4-BE49-F238E27FC236}">
                <a16:creationId xmlns:a16="http://schemas.microsoft.com/office/drawing/2014/main" id="{9FB0C716-9760-49BC-A0B9-28FAFE2996DF}"/>
              </a:ext>
            </a:extLst>
          </p:cNvPr>
          <p:cNvSpPr/>
          <p:nvPr/>
        </p:nvSpPr>
        <p:spPr bwMode="auto">
          <a:xfrm>
            <a:off x="4738841" y="425213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62" name="OTLSHAPE_T_e17f3958430f4cff8650518c93c7635e_StartDate">
            <a:extLst>
              <a:ext uri="{FF2B5EF4-FFF2-40B4-BE49-F238E27FC236}">
                <a16:creationId xmlns:a16="http://schemas.microsoft.com/office/drawing/2014/main" id="{CD85B817-8531-43FF-BC59-76B1A69AEED5}"/>
              </a:ext>
            </a:extLst>
          </p:cNvPr>
          <p:cNvSpPr txBox="1"/>
          <p:nvPr>
            <p:custDataLst>
              <p:tags r:id="rId10"/>
            </p:custDataLst>
          </p:nvPr>
        </p:nvSpPr>
        <p:spPr>
          <a:xfrm>
            <a:off x="1409984" y="3892404"/>
            <a:ext cx="590225" cy="215444"/>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Mar 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63" name="Rectangle 62">
            <a:extLst>
              <a:ext uri="{FF2B5EF4-FFF2-40B4-BE49-F238E27FC236}">
                <a16:creationId xmlns:a16="http://schemas.microsoft.com/office/drawing/2014/main" id="{492A0DBE-71F0-4ECE-858D-E9D50C6C3455}"/>
              </a:ext>
            </a:extLst>
          </p:cNvPr>
          <p:cNvSpPr/>
          <p:nvPr/>
        </p:nvSpPr>
        <p:spPr>
          <a:xfrm>
            <a:off x="4666833" y="4336185"/>
            <a:ext cx="333746"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LSR</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5" name="Rectangle 64">
            <a:extLst>
              <a:ext uri="{FF2B5EF4-FFF2-40B4-BE49-F238E27FC236}">
                <a16:creationId xmlns:a16="http://schemas.microsoft.com/office/drawing/2014/main" id="{046EF5FC-A42C-4B15-B99E-B2D65FB76B3A}"/>
              </a:ext>
            </a:extLst>
          </p:cNvPr>
          <p:cNvSpPr/>
          <p:nvPr/>
        </p:nvSpPr>
        <p:spPr>
          <a:xfrm>
            <a:off x="2320747" y="4336185"/>
            <a:ext cx="445956"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1</a:t>
            </a:r>
            <a:r>
              <a:rPr kumimoji="0" lang="en-US" altLang="zh-CN" sz="800" b="1" i="0" u="none" strike="noStrike" kern="1200" cap="none" spc="0" normalizeH="0" baseline="30000" noProof="0">
                <a:ln>
                  <a:noFill/>
                </a:ln>
                <a:solidFill>
                  <a:srgbClr val="44546A"/>
                </a:solidFill>
                <a:effectLst/>
                <a:uLnTx/>
                <a:uFillTx/>
                <a:latin typeface="Calibri" panose="020F0502020204030204" pitchFamily="34" charset="0"/>
                <a:ea typeface="+mn-ea"/>
                <a:cs typeface="+mn-cs"/>
              </a:rPr>
              <a:t>st</a:t>
            </a: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 SIV</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6" name="Star: 4 Points 143">
            <a:extLst>
              <a:ext uri="{FF2B5EF4-FFF2-40B4-BE49-F238E27FC236}">
                <a16:creationId xmlns:a16="http://schemas.microsoft.com/office/drawing/2014/main" id="{AA1FC58A-7FD1-4C87-B38A-80F539A7916D}"/>
              </a:ext>
            </a:extLst>
          </p:cNvPr>
          <p:cNvSpPr/>
          <p:nvPr/>
        </p:nvSpPr>
        <p:spPr bwMode="auto">
          <a:xfrm>
            <a:off x="2474581" y="428993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87" name="5-Point Star 5">
            <a:extLst>
              <a:ext uri="{FF2B5EF4-FFF2-40B4-BE49-F238E27FC236}">
                <a16:creationId xmlns:a16="http://schemas.microsoft.com/office/drawing/2014/main" id="{CF7FE704-764D-4AC4-9833-EA9B7CE3B57C}"/>
              </a:ext>
            </a:extLst>
          </p:cNvPr>
          <p:cNvSpPr/>
          <p:nvPr/>
        </p:nvSpPr>
        <p:spPr>
          <a:xfrm>
            <a:off x="1471804" y="1959242"/>
            <a:ext cx="154005" cy="160143"/>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89" name="OTLSHAPE_T_e17f3958430f4cff8650518c93c7635e_StartDate">
            <a:extLst>
              <a:ext uri="{FF2B5EF4-FFF2-40B4-BE49-F238E27FC236}">
                <a16:creationId xmlns:a16="http://schemas.microsoft.com/office/drawing/2014/main" id="{632FAAF9-D9F3-439F-8B60-C81840F8867A}"/>
              </a:ext>
            </a:extLst>
          </p:cNvPr>
          <p:cNvSpPr txBox="1"/>
          <p:nvPr>
            <p:custDataLst>
              <p:tags r:id="rId11"/>
            </p:custDataLst>
          </p:nvPr>
        </p:nvSpPr>
        <p:spPr>
          <a:xfrm>
            <a:off x="1132082" y="2137780"/>
            <a:ext cx="723959" cy="246221"/>
          </a:xfrm>
          <a:prstGeom prst="rect">
            <a:avLst/>
          </a:prstGeom>
          <a:noFill/>
        </p:spPr>
        <p:txBody>
          <a:bodyPr vert="horz" wrap="square" lIns="0" tIns="0" rIns="0" bIns="0" rtlCol="0" anchor="ctr" anchorCtr="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CTA sub</a:t>
            </a:r>
          </a:p>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Mar 2024</a:t>
            </a:r>
            <a:endParaRPr kumimoji="0" lang="zh-CN" altLang="en-US" sz="800" b="1" i="0" u="none" strike="noStrike" kern="1200" cap="none" spc="0" normalizeH="0" baseline="0" noProof="0">
              <a:ln>
                <a:noFill/>
              </a:ln>
              <a:solidFill>
                <a:srgbClr val="44546A"/>
              </a:solidFill>
              <a:effectLst/>
              <a:uLnTx/>
              <a:uFillTx/>
              <a:latin typeface="Calibri"/>
              <a:ea typeface="+mn-ea"/>
              <a:cs typeface="Calibri"/>
            </a:endParaRPr>
          </a:p>
        </p:txBody>
      </p:sp>
      <p:sp>
        <p:nvSpPr>
          <p:cNvPr id="11" name="OTLSHAPE_T_e17f3958430f4cff8650518c93c7635e_StartDate">
            <a:extLst>
              <a:ext uri="{FF2B5EF4-FFF2-40B4-BE49-F238E27FC236}">
                <a16:creationId xmlns:a16="http://schemas.microsoft.com/office/drawing/2014/main" id="{0A7BAFCC-DE85-4BB9-B5D2-350421090784}"/>
              </a:ext>
            </a:extLst>
          </p:cNvPr>
          <p:cNvSpPr txBox="1"/>
          <p:nvPr>
            <p:custDataLst>
              <p:tags r:id="rId12"/>
            </p:custDataLst>
          </p:nvPr>
        </p:nvSpPr>
        <p:spPr>
          <a:xfrm>
            <a:off x="6389374" y="2070198"/>
            <a:ext cx="1476456" cy="322589"/>
          </a:xfrm>
          <a:prstGeom prst="rect">
            <a:avLst/>
          </a:prstGeom>
          <a:noFill/>
        </p:spPr>
        <p:txBody>
          <a:bodyPr wrap="square" lIns="121920" tIns="60960" rIns="121920" bIns="60960" anchor="t">
            <a:spAutoFit/>
          </a:bodyPr>
          <a:lstStyle>
            <a:defPPr>
              <a:defRPr lang="de-DE"/>
            </a:defPPr>
            <a:lvl1pPr marR="0" lvl="0" indent="0" defTabSz="685800" fontAlgn="auto">
              <a:lnSpc>
                <a:spcPct val="80000"/>
              </a:lnSpc>
              <a:spcBef>
                <a:spcPts val="0"/>
              </a:spcBef>
              <a:spcAft>
                <a:spcPts val="0"/>
              </a:spcAft>
              <a:buClrTx/>
              <a:buSzTx/>
              <a:buFontTx/>
              <a:buNone/>
              <a:tabLst/>
              <a:defRPr kumimoji="0" sz="700" b="0" i="0" u="none" strike="noStrike" cap="none" spc="0" normalizeH="0" baseline="0">
                <a:ln>
                  <a:noFill/>
                </a:ln>
                <a:solidFill>
                  <a:prstClr val="black"/>
                </a:solidFill>
                <a:effectLst/>
                <a:uLnTx/>
                <a:uFillTx/>
                <a:latin typeface="Calibri" panose="020F0502020204030204"/>
              </a:defRPr>
            </a:lvl1pPr>
          </a:lstStyle>
          <a:p>
            <a:pPr marL="0" marR="0" lvl="0" indent="0" algn="l" defTabSz="1218990" rtl="0" eaLnBrk="1" fontAlgn="auto" latinLnBrk="0" hangingPunct="1">
              <a:lnSpc>
                <a:spcPct val="8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prstClr val="black"/>
                </a:solidFill>
                <a:effectLst/>
                <a:uLnTx/>
                <a:uFillTx/>
                <a:latin typeface="Calibri" panose="020F0502020204030204" pitchFamily="34" charset="0"/>
                <a:ea typeface="+mn-ea"/>
                <a:cs typeface="Calibri" panose="020F0502020204030204" pitchFamily="34" charset="0"/>
              </a:rPr>
              <a:t>PoCP</a:t>
            </a: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t>
            </a:r>
            <a:r>
              <a:rPr kumimoji="0" lang="en-US" altLang="zh-CN" sz="800" b="1" i="0" u="none" strike="noStrike" kern="1200" cap="none" spc="0" normalizeH="0" baseline="0" noProof="0" err="1">
                <a:ln>
                  <a:noFill/>
                </a:ln>
                <a:solidFill>
                  <a:prstClr val="black"/>
                </a:solidFill>
                <a:effectLst/>
                <a:uLnTx/>
                <a:uFillTx/>
                <a:latin typeface="Calibri" panose="020F0502020204030204" pitchFamily="34" charset="0"/>
                <a:ea typeface="+mn-ea"/>
                <a:cs typeface="Calibri" panose="020F0502020204030204" pitchFamily="34" charset="0"/>
              </a:rPr>
              <a:t>PoCC</a:t>
            </a: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 in IPF</a:t>
            </a:r>
          </a:p>
          <a:p>
            <a:pPr marL="0" marR="0" lvl="0" indent="0" algn="l" defTabSz="1218990" rtl="0" eaLnBrk="1" fontAlgn="auto" latinLnBrk="0" hangingPunct="1">
              <a:lnSpc>
                <a:spcPct val="8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Oct 2026</a:t>
            </a:r>
          </a:p>
        </p:txBody>
      </p:sp>
      <p:sp>
        <p:nvSpPr>
          <p:cNvPr id="25" name="TextBox 24">
            <a:extLst>
              <a:ext uri="{FF2B5EF4-FFF2-40B4-BE49-F238E27FC236}">
                <a16:creationId xmlns:a16="http://schemas.microsoft.com/office/drawing/2014/main" id="{2D4A3361-8067-AB31-3C35-87747E51E75D}"/>
              </a:ext>
            </a:extLst>
          </p:cNvPr>
          <p:cNvSpPr txBox="1"/>
          <p:nvPr/>
        </p:nvSpPr>
        <p:spPr>
          <a:xfrm>
            <a:off x="-16536" y="2029387"/>
            <a:ext cx="619207" cy="287130"/>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1462-0004</a:t>
            </a:r>
          </a:p>
        </p:txBody>
      </p:sp>
      <p:sp>
        <p:nvSpPr>
          <p:cNvPr id="26" name="TextBox 25">
            <a:extLst>
              <a:ext uri="{FF2B5EF4-FFF2-40B4-BE49-F238E27FC236}">
                <a16:creationId xmlns:a16="http://schemas.microsoft.com/office/drawing/2014/main" id="{D55E1C5E-8475-5424-C5F5-821C923CA5C9}"/>
              </a:ext>
            </a:extLst>
          </p:cNvPr>
          <p:cNvSpPr txBox="1"/>
          <p:nvPr/>
        </p:nvSpPr>
        <p:spPr>
          <a:xfrm>
            <a:off x="0" y="4151607"/>
            <a:ext cx="617992" cy="287130"/>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1462-0004</a:t>
            </a:r>
          </a:p>
        </p:txBody>
      </p:sp>
      <p:sp>
        <p:nvSpPr>
          <p:cNvPr id="27" name="TextBox 26">
            <a:extLst>
              <a:ext uri="{FF2B5EF4-FFF2-40B4-BE49-F238E27FC236}">
                <a16:creationId xmlns:a16="http://schemas.microsoft.com/office/drawing/2014/main" id="{521700FA-90EB-3053-5729-93DB7A2AD69F}"/>
              </a:ext>
            </a:extLst>
          </p:cNvPr>
          <p:cNvSpPr txBox="1"/>
          <p:nvPr/>
        </p:nvSpPr>
        <p:spPr>
          <a:xfrm>
            <a:off x="3357" y="2570832"/>
            <a:ext cx="619207" cy="164212"/>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p:txBody>
      </p:sp>
      <p:sp>
        <p:nvSpPr>
          <p:cNvPr id="64" name="OTLSHAPE_T_e17f3958430f4cff8650518c93c7635e_StartDate">
            <a:extLst>
              <a:ext uri="{FF2B5EF4-FFF2-40B4-BE49-F238E27FC236}">
                <a16:creationId xmlns:a16="http://schemas.microsoft.com/office/drawing/2014/main" id="{9224C17E-1AA1-4096-A3FD-25D6FD8BA444}"/>
              </a:ext>
            </a:extLst>
          </p:cNvPr>
          <p:cNvSpPr txBox="1"/>
          <p:nvPr>
            <p:custDataLst>
              <p:tags r:id="rId13"/>
            </p:custDataLst>
          </p:nvPr>
        </p:nvSpPr>
        <p:spPr>
          <a:xfrm>
            <a:off x="4500610" y="1853853"/>
            <a:ext cx="582211" cy="215444"/>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Nov 2025</a:t>
            </a:r>
          </a:p>
        </p:txBody>
      </p:sp>
      <p:sp>
        <p:nvSpPr>
          <p:cNvPr id="16" name="Rectangle 15">
            <a:extLst>
              <a:ext uri="{FF2B5EF4-FFF2-40B4-BE49-F238E27FC236}">
                <a16:creationId xmlns:a16="http://schemas.microsoft.com/office/drawing/2014/main" id="{7B88FC46-C311-78A4-5BC1-EF87B5CE4F78}"/>
              </a:ext>
            </a:extLst>
          </p:cNvPr>
          <p:cNvSpPr/>
          <p:nvPr/>
        </p:nvSpPr>
        <p:spPr>
          <a:xfrm>
            <a:off x="6096000" y="2406717"/>
            <a:ext cx="367408"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9" name="OTLSHAPE_T_e17f3958430f4cff8650518c93c7635e_StartDate">
            <a:extLst>
              <a:ext uri="{FF2B5EF4-FFF2-40B4-BE49-F238E27FC236}">
                <a16:creationId xmlns:a16="http://schemas.microsoft.com/office/drawing/2014/main" id="{BDEA672D-B8D7-469A-B852-0DB07DEA810F}"/>
              </a:ext>
            </a:extLst>
          </p:cNvPr>
          <p:cNvSpPr txBox="1"/>
          <p:nvPr>
            <p:custDataLst>
              <p:tags r:id="rId14"/>
            </p:custDataLst>
          </p:nvPr>
        </p:nvSpPr>
        <p:spPr>
          <a:xfrm>
            <a:off x="7212417" y="2669475"/>
            <a:ext cx="1020679" cy="322589"/>
          </a:xfrm>
          <a:prstGeom prst="rect">
            <a:avLst/>
          </a:prstGeom>
          <a:noFill/>
        </p:spPr>
        <p:txBody>
          <a:bodyPr wrap="square" lIns="121920" tIns="60960" rIns="121920" bIns="60960" anchor="t">
            <a:spAutoFit/>
          </a:bodyPr>
          <a:lstStyle>
            <a:defPPr>
              <a:defRPr lang="de-DE"/>
            </a:defPPr>
            <a:lvl1pPr marR="0" lvl="0" indent="0" defTabSz="685800" fontAlgn="auto">
              <a:lnSpc>
                <a:spcPct val="80000"/>
              </a:lnSpc>
              <a:spcBef>
                <a:spcPts val="0"/>
              </a:spcBef>
              <a:spcAft>
                <a:spcPts val="0"/>
              </a:spcAft>
              <a:buClrTx/>
              <a:buSzTx/>
              <a:buFontTx/>
              <a:buNone/>
              <a:tabLst/>
              <a:defRPr kumimoji="0" sz="700" b="0" i="0" u="none" strike="noStrike" cap="none" spc="0" normalizeH="0" baseline="0">
                <a:ln>
                  <a:noFill/>
                </a:ln>
                <a:solidFill>
                  <a:prstClr val="black"/>
                </a:solidFill>
                <a:effectLst/>
                <a:uLnTx/>
                <a:uFillTx/>
                <a:latin typeface="Calibri" panose="020F0502020204030204"/>
              </a:defRPr>
            </a:lvl1pPr>
          </a:lstStyle>
          <a:p>
            <a:pPr marL="0" marR="0" lvl="0" indent="0" algn="l" defTabSz="1218990" rtl="0" eaLnBrk="1" fontAlgn="auto" latinLnBrk="0" hangingPunct="1">
              <a:lnSpc>
                <a:spcPct val="8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prstClr val="black"/>
                </a:solidFill>
                <a:effectLst/>
                <a:uLnTx/>
                <a:uFillTx/>
                <a:latin typeface="Calibri" panose="020F0502020204030204" pitchFamily="34" charset="0"/>
                <a:ea typeface="+mn-ea"/>
                <a:cs typeface="Calibri" panose="020F0502020204030204" pitchFamily="34" charset="0"/>
              </a:rPr>
              <a:t>RoFD</a:t>
            </a:r>
            <a:endPar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l" defTabSz="1218990" rtl="0" eaLnBrk="1" fontAlgn="auto" latinLnBrk="0" hangingPunct="1">
              <a:lnSpc>
                <a:spcPct val="8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Jun 2027</a:t>
            </a:r>
          </a:p>
        </p:txBody>
      </p:sp>
      <p:sp>
        <p:nvSpPr>
          <p:cNvPr id="20" name="5-Point Star 5">
            <a:extLst>
              <a:ext uri="{FF2B5EF4-FFF2-40B4-BE49-F238E27FC236}">
                <a16:creationId xmlns:a16="http://schemas.microsoft.com/office/drawing/2014/main" id="{81EBBFD5-71BB-0ECF-2F2F-6D0327CA2349}"/>
              </a:ext>
            </a:extLst>
          </p:cNvPr>
          <p:cNvSpPr/>
          <p:nvPr/>
        </p:nvSpPr>
        <p:spPr>
          <a:xfrm>
            <a:off x="7578289" y="2611133"/>
            <a:ext cx="154005" cy="160143"/>
          </a:xfrm>
          <a:prstGeom prst="star5">
            <a:avLst/>
          </a:prstGeom>
          <a:solidFill>
            <a:schemeClr val="tx2"/>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1" name="5-Point Star 5">
            <a:extLst>
              <a:ext uri="{FF2B5EF4-FFF2-40B4-BE49-F238E27FC236}">
                <a16:creationId xmlns:a16="http://schemas.microsoft.com/office/drawing/2014/main" id="{74F5D8DA-A397-B1DB-3292-C3A1AA33797A}"/>
              </a:ext>
            </a:extLst>
          </p:cNvPr>
          <p:cNvSpPr/>
          <p:nvPr/>
        </p:nvSpPr>
        <p:spPr>
          <a:xfrm>
            <a:off x="6651266" y="1959241"/>
            <a:ext cx="154005" cy="160143"/>
          </a:xfrm>
          <a:prstGeom prst="star5">
            <a:avLst>
              <a:gd name="adj" fmla="val 19098"/>
              <a:gd name="hf" fmla="val 105146"/>
              <a:gd name="vf" fmla="val 110557"/>
            </a:avLst>
          </a:prstGeom>
          <a:solidFill>
            <a:schemeClr val="tx2"/>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2" name="OTLSHAPE_T_e17f3958430f4cff8650518c93c7635e_StartDate">
            <a:extLst>
              <a:ext uri="{FF2B5EF4-FFF2-40B4-BE49-F238E27FC236}">
                <a16:creationId xmlns:a16="http://schemas.microsoft.com/office/drawing/2014/main" id="{71F8267A-A675-494E-B389-7AD285A1F12C}"/>
              </a:ext>
            </a:extLst>
          </p:cNvPr>
          <p:cNvSpPr txBox="1"/>
          <p:nvPr>
            <p:custDataLst>
              <p:tags r:id="rId15"/>
            </p:custDataLst>
          </p:nvPr>
        </p:nvSpPr>
        <p:spPr>
          <a:xfrm>
            <a:off x="4520356" y="3892404"/>
            <a:ext cx="559769" cy="215444"/>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Oct 2025</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8" name="Rectangle 27">
            <a:extLst>
              <a:ext uri="{FF2B5EF4-FFF2-40B4-BE49-F238E27FC236}">
                <a16:creationId xmlns:a16="http://schemas.microsoft.com/office/drawing/2014/main" id="{BA1CAC5B-F77E-4326-3C7E-78838E1BEEEA}"/>
              </a:ext>
            </a:extLst>
          </p:cNvPr>
          <p:cNvSpPr/>
          <p:nvPr/>
        </p:nvSpPr>
        <p:spPr>
          <a:xfrm>
            <a:off x="6094554" y="4314669"/>
            <a:ext cx="330539" cy="215444"/>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9" name="OTLSHAPE_T_e17f3958430f4cff8650518c93c7635e_StartDate">
            <a:extLst>
              <a:ext uri="{FF2B5EF4-FFF2-40B4-BE49-F238E27FC236}">
                <a16:creationId xmlns:a16="http://schemas.microsoft.com/office/drawing/2014/main" id="{9A8B8674-71FD-3D25-000A-8F42A066E0FD}"/>
              </a:ext>
            </a:extLst>
          </p:cNvPr>
          <p:cNvSpPr txBox="1"/>
          <p:nvPr>
            <p:custDataLst>
              <p:tags r:id="rId16"/>
            </p:custDataLst>
          </p:nvPr>
        </p:nvSpPr>
        <p:spPr>
          <a:xfrm>
            <a:off x="5915918" y="3819764"/>
            <a:ext cx="566181" cy="215444"/>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Sep 2026</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0" name="TextBox 29">
            <a:extLst>
              <a:ext uri="{FF2B5EF4-FFF2-40B4-BE49-F238E27FC236}">
                <a16:creationId xmlns:a16="http://schemas.microsoft.com/office/drawing/2014/main" id="{3DBD436C-F0C2-FA6B-F42F-9D5C3A6ED9E6}"/>
              </a:ext>
            </a:extLst>
          </p:cNvPr>
          <p:cNvSpPr txBox="1"/>
          <p:nvPr/>
        </p:nvSpPr>
        <p:spPr>
          <a:xfrm>
            <a:off x="-1212" y="4823666"/>
            <a:ext cx="619207" cy="164212"/>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p:txBody>
      </p:sp>
      <p:sp>
        <p:nvSpPr>
          <p:cNvPr id="37" name="5-Point Star 5">
            <a:extLst>
              <a:ext uri="{FF2B5EF4-FFF2-40B4-BE49-F238E27FC236}">
                <a16:creationId xmlns:a16="http://schemas.microsoft.com/office/drawing/2014/main" id="{D8B6162B-AD6E-19D4-02F6-7B8B8A819E71}"/>
              </a:ext>
            </a:extLst>
          </p:cNvPr>
          <p:cNvSpPr/>
          <p:nvPr/>
        </p:nvSpPr>
        <p:spPr>
          <a:xfrm>
            <a:off x="11775830" y="5094551"/>
            <a:ext cx="193623" cy="182500"/>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38" name="OTLSHAPE_T_e17f3958430f4cff8650518c93c7635e_StartDate">
            <a:extLst>
              <a:ext uri="{FF2B5EF4-FFF2-40B4-BE49-F238E27FC236}">
                <a16:creationId xmlns:a16="http://schemas.microsoft.com/office/drawing/2014/main" id="{12EC8855-CAA5-4755-7AF0-15F56F012344}"/>
              </a:ext>
            </a:extLst>
          </p:cNvPr>
          <p:cNvSpPr txBox="1"/>
          <p:nvPr>
            <p:custDataLst>
              <p:tags r:id="rId17"/>
            </p:custDataLst>
          </p:nvPr>
        </p:nvSpPr>
        <p:spPr>
          <a:xfrm>
            <a:off x="11246522" y="5066040"/>
            <a:ext cx="619207" cy="307777"/>
          </a:xfrm>
          <a:prstGeom prst="rect">
            <a:avLst/>
          </a:prstGeom>
          <a:noFill/>
        </p:spPr>
        <p:txBody>
          <a:bodyPr vert="horz" wrap="square" lIns="0" tIns="0" rIns="0" bIns="0" rtlCol="0" anchor="ctr" anchorCtr="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CN NDA</a:t>
            </a:r>
          </a:p>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Aug2030 </a:t>
            </a:r>
          </a:p>
        </p:txBody>
      </p:sp>
      <p:pic>
        <p:nvPicPr>
          <p:cNvPr id="39" name="Graphic 38" descr="Flag with solid fill">
            <a:extLst>
              <a:ext uri="{FF2B5EF4-FFF2-40B4-BE49-F238E27FC236}">
                <a16:creationId xmlns:a16="http://schemas.microsoft.com/office/drawing/2014/main" id="{9E130666-D922-E249-8004-66F5047E1178}"/>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2031883" y="5088995"/>
            <a:ext cx="193623" cy="193623"/>
          </a:xfrm>
          <a:prstGeom prst="rect">
            <a:avLst/>
          </a:prstGeom>
        </p:spPr>
      </p:pic>
      <p:sp>
        <p:nvSpPr>
          <p:cNvPr id="40" name="OTLSHAPE_T_e17f3958430f4cff8650518c93c7635e_StartDate">
            <a:extLst>
              <a:ext uri="{FF2B5EF4-FFF2-40B4-BE49-F238E27FC236}">
                <a16:creationId xmlns:a16="http://schemas.microsoft.com/office/drawing/2014/main" id="{12259D6E-37F3-2A94-5AD7-7A1EF0ACD900}"/>
              </a:ext>
            </a:extLst>
          </p:cNvPr>
          <p:cNvSpPr txBox="1"/>
          <p:nvPr>
            <p:custDataLst>
              <p:tags r:id="rId18"/>
            </p:custDataLst>
          </p:nvPr>
        </p:nvSpPr>
        <p:spPr>
          <a:xfrm>
            <a:off x="10741891" y="5360718"/>
            <a:ext cx="1432930" cy="461665"/>
          </a:xfrm>
          <a:prstGeom prst="rect">
            <a:avLst/>
          </a:prstGeom>
          <a:noFill/>
        </p:spPr>
        <p:txBody>
          <a:bodyPr vert="horz" wrap="square" lIns="0" tIns="0" rIns="0" bIns="0" rtlCol="0" anchor="ctr" anchorCtr="0">
            <a:spAutoFit/>
          </a:bodyPr>
          <a:lstStyle/>
          <a:p>
            <a:pPr marL="0" marR="0" lvl="0" indent="0" algn="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CN app</a:t>
            </a:r>
          </a:p>
          <a:p>
            <a:pPr marL="0" marR="0" lvl="0" indent="0" algn="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Best caseAug2031</a:t>
            </a:r>
          </a:p>
          <a:p>
            <a:pPr marL="0" marR="0" lvl="0" indent="0" algn="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Base Case Feb2032</a:t>
            </a:r>
          </a:p>
        </p:txBody>
      </p:sp>
      <p:grpSp>
        <p:nvGrpSpPr>
          <p:cNvPr id="7" name="Group 6">
            <a:extLst>
              <a:ext uri="{FF2B5EF4-FFF2-40B4-BE49-F238E27FC236}">
                <a16:creationId xmlns:a16="http://schemas.microsoft.com/office/drawing/2014/main" id="{81D3D4A1-DB3F-B9DD-49F1-7C971D8DE7AF}"/>
              </a:ext>
            </a:extLst>
          </p:cNvPr>
          <p:cNvGrpSpPr/>
          <p:nvPr/>
        </p:nvGrpSpPr>
        <p:grpSpPr>
          <a:xfrm>
            <a:off x="4665070" y="1369389"/>
            <a:ext cx="723959" cy="5116194"/>
            <a:chOff x="25241" y="1092017"/>
            <a:chExt cx="723959" cy="3837147"/>
          </a:xfrm>
        </p:grpSpPr>
        <p:cxnSp>
          <p:nvCxnSpPr>
            <p:cNvPr id="8" name="Straight Connector 7">
              <a:extLst>
                <a:ext uri="{FF2B5EF4-FFF2-40B4-BE49-F238E27FC236}">
                  <a16:creationId xmlns:a16="http://schemas.microsoft.com/office/drawing/2014/main" id="{2D15A6F0-E049-399E-D120-72E1E7CC4114}"/>
                </a:ext>
              </a:extLst>
            </p:cNvPr>
            <p:cNvCxnSpPr>
              <a:cxnSpLocks/>
            </p:cNvCxnSpPr>
            <p:nvPr/>
          </p:nvCxnSpPr>
          <p:spPr bwMode="auto">
            <a:xfrm flipV="1">
              <a:off x="387221" y="115419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2" name="OTLSHAPE_T_e17f3958430f4cff8650518c93c7635e_StartDate">
              <a:extLst>
                <a:ext uri="{FF2B5EF4-FFF2-40B4-BE49-F238E27FC236}">
                  <a16:creationId xmlns:a16="http://schemas.microsoft.com/office/drawing/2014/main" id="{7116B32D-8E7F-C315-36AC-3CB5C540EBCE}"/>
                </a:ext>
              </a:extLst>
            </p:cNvPr>
            <p:cNvSpPr txBox="1"/>
            <p:nvPr>
              <p:custDataLst>
                <p:tags r:id="rId19"/>
              </p:custDataLst>
            </p:nvPr>
          </p:nvSpPr>
          <p:spPr>
            <a:xfrm>
              <a:off x="25241" y="1092017"/>
              <a:ext cx="723959" cy="123159"/>
            </a:xfrm>
            <a:prstGeom prst="rect">
              <a:avLst/>
            </a:prstGeom>
            <a:noFill/>
            <a:ln w="12700">
              <a:noFill/>
            </a:ln>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13" name="OTLSHAPE_T_5a934a26f311425e8ebaa0f45e6533ad_Shape">
            <a:extLst>
              <a:ext uri="{FF2B5EF4-FFF2-40B4-BE49-F238E27FC236}">
                <a16:creationId xmlns:a16="http://schemas.microsoft.com/office/drawing/2014/main" id="{2F6B5AF8-4E1A-B69B-A289-FDB90ED38781}"/>
              </a:ext>
            </a:extLst>
          </p:cNvPr>
          <p:cNvSpPr/>
          <p:nvPr/>
        </p:nvSpPr>
        <p:spPr bwMode="auto">
          <a:xfrm>
            <a:off x="7992339" y="3019495"/>
            <a:ext cx="3371856" cy="244501"/>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in PPF</a:t>
            </a:r>
          </a:p>
        </p:txBody>
      </p:sp>
      <p:sp>
        <p:nvSpPr>
          <p:cNvPr id="15" name="Star: 4 Points 143">
            <a:extLst>
              <a:ext uri="{FF2B5EF4-FFF2-40B4-BE49-F238E27FC236}">
                <a16:creationId xmlns:a16="http://schemas.microsoft.com/office/drawing/2014/main" id="{2100D0A3-D11C-108C-6E11-69FFB4486FD2}"/>
              </a:ext>
            </a:extLst>
          </p:cNvPr>
          <p:cNvSpPr/>
          <p:nvPr/>
        </p:nvSpPr>
        <p:spPr bwMode="auto">
          <a:xfrm>
            <a:off x="7866487" y="300676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Rectangle 16">
            <a:extLst>
              <a:ext uri="{FF2B5EF4-FFF2-40B4-BE49-F238E27FC236}">
                <a16:creationId xmlns:a16="http://schemas.microsoft.com/office/drawing/2014/main" id="{07588B56-33A1-8FBB-0F04-47218BB2AE47}"/>
              </a:ext>
            </a:extLst>
          </p:cNvPr>
          <p:cNvSpPr/>
          <p:nvPr/>
        </p:nvSpPr>
        <p:spPr>
          <a:xfrm>
            <a:off x="7766674" y="3161987"/>
            <a:ext cx="327333" cy="215444"/>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8" name="Rectangle 17">
            <a:extLst>
              <a:ext uri="{FF2B5EF4-FFF2-40B4-BE49-F238E27FC236}">
                <a16:creationId xmlns:a16="http://schemas.microsoft.com/office/drawing/2014/main" id="{9F9DEF1E-4F85-20E0-01AA-D1AE4E14FCB1}"/>
              </a:ext>
            </a:extLst>
          </p:cNvPr>
          <p:cNvSpPr/>
          <p:nvPr/>
        </p:nvSpPr>
        <p:spPr>
          <a:xfrm>
            <a:off x="11139074" y="3117875"/>
            <a:ext cx="330539" cy="215444"/>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pic>
        <p:nvPicPr>
          <p:cNvPr id="5" name="Picture 4" descr="Traffic light - Simple English Wikipedia, the free ...">
            <a:extLst>
              <a:ext uri="{FF2B5EF4-FFF2-40B4-BE49-F238E27FC236}">
                <a16:creationId xmlns:a16="http://schemas.microsoft.com/office/drawing/2014/main" id="{DFAFF214-E66B-5F33-DCEF-2963684917DE}"/>
              </a:ext>
            </a:extLst>
          </p:cNvPr>
          <p:cNvPicPr>
            <a:picLocks noChangeAspect="1"/>
          </p:cNvPicPr>
          <p:nvPr/>
        </p:nvPicPr>
        <p:blipFill rotWithShape="1">
          <a:blip r:embed="rId26" cstate="print">
            <a:extLst>
              <a:ext uri="{28A0092B-C50C-407E-A947-70E740481C1C}">
                <a14:useLocalDpi xmlns:a14="http://schemas.microsoft.com/office/drawing/2010/main"/>
              </a:ext>
            </a:extLst>
          </a:blip>
          <a:srcRect/>
          <a:stretch/>
        </p:blipFill>
        <p:spPr>
          <a:xfrm rot="16200000" flipV="1">
            <a:off x="11042673" y="-606153"/>
            <a:ext cx="698504" cy="1726513"/>
          </a:xfrm>
          <a:prstGeom prst="rect">
            <a:avLst/>
          </a:prstGeom>
        </p:spPr>
      </p:pic>
      <p:sp>
        <p:nvSpPr>
          <p:cNvPr id="10" name="OTLSHAPE_T_5a934a26f311425e8ebaa0f45e6533ad_Shape">
            <a:extLst>
              <a:ext uri="{FF2B5EF4-FFF2-40B4-BE49-F238E27FC236}">
                <a16:creationId xmlns:a16="http://schemas.microsoft.com/office/drawing/2014/main" id="{9A0195F4-8751-EA56-7E4E-31B0742F558D}"/>
              </a:ext>
            </a:extLst>
          </p:cNvPr>
          <p:cNvSpPr/>
          <p:nvPr/>
        </p:nvSpPr>
        <p:spPr bwMode="auto">
          <a:xfrm>
            <a:off x="8020069" y="4093924"/>
            <a:ext cx="3371856" cy="258456"/>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in IPF</a:t>
            </a:r>
          </a:p>
        </p:txBody>
      </p:sp>
      <p:sp>
        <p:nvSpPr>
          <p:cNvPr id="14" name="OTLSHAPE_T_5a934a26f311425e8ebaa0f45e6533ad_Shape">
            <a:extLst>
              <a:ext uri="{FF2B5EF4-FFF2-40B4-BE49-F238E27FC236}">
                <a16:creationId xmlns:a16="http://schemas.microsoft.com/office/drawing/2014/main" id="{F995931C-364C-D10E-D713-9084E61569CE}"/>
              </a:ext>
            </a:extLst>
          </p:cNvPr>
          <p:cNvSpPr/>
          <p:nvPr/>
        </p:nvSpPr>
        <p:spPr bwMode="auto">
          <a:xfrm>
            <a:off x="7992339" y="4501754"/>
            <a:ext cx="3371856" cy="244501"/>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in PPF</a:t>
            </a:r>
          </a:p>
        </p:txBody>
      </p:sp>
      <p:pic>
        <p:nvPicPr>
          <p:cNvPr id="24" name="图片 23">
            <a:extLst>
              <a:ext uri="{FF2B5EF4-FFF2-40B4-BE49-F238E27FC236}">
                <a16:creationId xmlns:a16="http://schemas.microsoft.com/office/drawing/2014/main" id="{1CD52D92-86C6-CD51-FAA5-3E753FD2CF0A}"/>
              </a:ext>
            </a:extLst>
          </p:cNvPr>
          <p:cNvPicPr>
            <a:picLocks noChangeAspect="1"/>
          </p:cNvPicPr>
          <p:nvPr/>
        </p:nvPicPr>
        <p:blipFill>
          <a:blip r:embed="rId27"/>
          <a:stretch>
            <a:fillRect/>
          </a:stretch>
        </p:blipFill>
        <p:spPr>
          <a:xfrm>
            <a:off x="1856041" y="5288955"/>
            <a:ext cx="5630955" cy="1477576"/>
          </a:xfrm>
          <a:prstGeom prst="rect">
            <a:avLst/>
          </a:prstGeom>
        </p:spPr>
      </p:pic>
      <p:sp>
        <p:nvSpPr>
          <p:cNvPr id="23" name="等腰三角形 22">
            <a:extLst>
              <a:ext uri="{FF2B5EF4-FFF2-40B4-BE49-F238E27FC236}">
                <a16:creationId xmlns:a16="http://schemas.microsoft.com/office/drawing/2014/main" id="{8D48C8C3-7656-4D17-1A40-02822D36BC9F}"/>
              </a:ext>
            </a:extLst>
          </p:cNvPr>
          <p:cNvSpPr/>
          <p:nvPr/>
        </p:nvSpPr>
        <p:spPr bwMode="gray">
          <a:xfrm>
            <a:off x="6158575" y="5066040"/>
            <a:ext cx="146813" cy="123634"/>
          </a:xfrm>
          <a:prstGeom prst="triangle">
            <a:avLst/>
          </a:prstGeom>
          <a:solidFill>
            <a:srgbClr val="076D7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1" name="文本框 30">
            <a:extLst>
              <a:ext uri="{FF2B5EF4-FFF2-40B4-BE49-F238E27FC236}">
                <a16:creationId xmlns:a16="http://schemas.microsoft.com/office/drawing/2014/main" id="{B94EF8C6-D8EF-BD24-CB5A-6E7FB0CBC83D}"/>
              </a:ext>
            </a:extLst>
          </p:cNvPr>
          <p:cNvSpPr txBox="1"/>
          <p:nvPr/>
        </p:nvSpPr>
        <p:spPr bwMode="gray">
          <a:xfrm>
            <a:off x="6321369" y="5066040"/>
            <a:ext cx="1247389" cy="138243"/>
          </a:xfrm>
          <a:prstGeom prst="rect">
            <a:avLst/>
          </a:prstGeom>
          <a:noFill/>
        </p:spPr>
        <p:txBody>
          <a:bodyPr wrap="square" lIns="0" tIns="0" rIns="0" bIns="0" rtlCol="0">
            <a:spAutoFit/>
          </a:bodyPr>
          <a:lstStyle/>
          <a:p>
            <a:pPr algn="l">
              <a:lnSpc>
                <a:spcPct val="140000"/>
              </a:lnSpc>
            </a:pPr>
            <a:r>
              <a:rPr lang="en-US" altLang="zh-CN" sz="700"/>
              <a:t>China PK(for NDA) discussion </a:t>
            </a:r>
            <a:endParaRPr lang="zh-CN" altLang="en-US" sz="700"/>
          </a:p>
        </p:txBody>
      </p:sp>
    </p:spTree>
    <p:extLst>
      <p:ext uri="{BB962C8B-B14F-4D97-AF65-F5344CB8AC3E}">
        <p14:creationId xmlns:p14="http://schemas.microsoft.com/office/powerpoint/2010/main" val="28838323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FF7F38-5900-D402-94D1-556A6F3275EB}"/>
              </a:ext>
            </a:extLst>
          </p:cNvPr>
          <p:cNvSpPr>
            <a:spLocks noGrp="1"/>
          </p:cNvSpPr>
          <p:nvPr>
            <p:ph type="title"/>
          </p:nvPr>
        </p:nvSpPr>
        <p:spPr/>
        <p:txBody>
          <a:bodyPr/>
          <a:lstStyle/>
          <a:p>
            <a:r>
              <a:rPr lang="de-AT">
                <a:solidFill>
                  <a:schemeClr val="bg2">
                    <a:lumMod val="90000"/>
                    <a:lumOff val="10000"/>
                  </a:schemeClr>
                </a:solidFill>
              </a:rPr>
              <a:t>BI 1819479 (Autotaxin inhi): IPF (1462-0004)</a:t>
            </a:r>
            <a:br>
              <a:rPr lang="de-AT">
                <a:solidFill>
                  <a:schemeClr val="bg2">
                    <a:lumMod val="90000"/>
                    <a:lumOff val="10000"/>
                  </a:schemeClr>
                </a:solidFill>
              </a:rPr>
            </a:br>
            <a:r>
              <a:rPr lang="de-AT">
                <a:solidFill>
                  <a:schemeClr val="bg2">
                    <a:lumMod val="90000"/>
                    <a:lumOff val="10000"/>
                  </a:schemeClr>
                </a:solidFill>
              </a:rPr>
              <a:t>Trial Milestones and Performance Overview_12Aug2025</a:t>
            </a:r>
            <a:endParaRPr lang="de-DE">
              <a:solidFill>
                <a:schemeClr val="bg2">
                  <a:lumMod val="90000"/>
                  <a:lumOff val="10000"/>
                </a:schemeClr>
              </a:solidFill>
            </a:endParaRPr>
          </a:p>
        </p:txBody>
      </p:sp>
      <p:sp>
        <p:nvSpPr>
          <p:cNvPr id="4" name="Footer Placeholder 3">
            <a:extLst>
              <a:ext uri="{FF2B5EF4-FFF2-40B4-BE49-F238E27FC236}">
                <a16:creationId xmlns:a16="http://schemas.microsoft.com/office/drawing/2014/main" id="{A58087E8-89E6-5675-0624-9B985C759CBF}"/>
              </a:ext>
            </a:extLst>
          </p:cNvPr>
          <p:cNvSpPr>
            <a:spLocks noGrp="1"/>
          </p:cNvSpPr>
          <p:nvPr>
            <p:ph type="ftr" sz="quarter" idx="19"/>
          </p:nvPr>
        </p:nvSpPr>
        <p:spPr>
          <a:xfrm>
            <a:off x="6279751" y="6246836"/>
            <a:ext cx="5040560" cy="288000"/>
          </a:xfrm>
        </p:spPr>
        <p:txBody>
          <a:bodyPr/>
          <a:lstStyle/>
          <a:p>
            <a:r>
              <a:rPr lang="en-US"/>
              <a:t>1462-0004 Trial Update ECI 12Aug2025    |    ONLY FOR INTERNAL USE</a:t>
            </a:r>
          </a:p>
        </p:txBody>
      </p:sp>
      <p:sp>
        <p:nvSpPr>
          <p:cNvPr id="3" name="TextBox 2">
            <a:extLst>
              <a:ext uri="{FF2B5EF4-FFF2-40B4-BE49-F238E27FC236}">
                <a16:creationId xmlns:a16="http://schemas.microsoft.com/office/drawing/2014/main" id="{E965AC27-631E-33FC-C8E8-8BC86ABA24B8}"/>
              </a:ext>
            </a:extLst>
          </p:cNvPr>
          <p:cNvSpPr txBox="1"/>
          <p:nvPr/>
        </p:nvSpPr>
        <p:spPr bwMode="gray">
          <a:xfrm>
            <a:off x="650898" y="1352549"/>
            <a:ext cx="4782183" cy="578043"/>
          </a:xfrm>
          <a:prstGeom prst="rect">
            <a:avLst/>
          </a:prstGeom>
          <a:noFill/>
        </p:spPr>
        <p:txBody>
          <a:bodyPr wrap="square" lIns="0" tIns="0" rIns="0" bIns="0" rtlCol="0">
            <a:spAutoFit/>
          </a:bodyPr>
          <a:lstStyle/>
          <a:p>
            <a:pPr algn="l">
              <a:lnSpc>
                <a:spcPct val="140000"/>
              </a:lnSpc>
            </a:pPr>
            <a:r>
              <a:rPr lang="en-US" sz="1400"/>
              <a:t>FSS = Sept 5, 2024</a:t>
            </a:r>
          </a:p>
          <a:p>
            <a:pPr algn="l">
              <a:lnSpc>
                <a:spcPct val="140000"/>
              </a:lnSpc>
            </a:pPr>
            <a:endParaRPr lang="en-US" sz="1400"/>
          </a:p>
        </p:txBody>
      </p:sp>
      <p:sp>
        <p:nvSpPr>
          <p:cNvPr id="9" name="Rectangle 1">
            <a:extLst>
              <a:ext uri="{FF2B5EF4-FFF2-40B4-BE49-F238E27FC236}">
                <a16:creationId xmlns:a16="http://schemas.microsoft.com/office/drawing/2014/main" id="{DE4C2971-EF2E-EBAA-5487-DCD5D4CA71B6}"/>
              </a:ext>
            </a:extLst>
          </p:cNvPr>
          <p:cNvSpPr>
            <a:spLocks noChangeArrowheads="1"/>
          </p:cNvSpPr>
          <p:nvPr/>
        </p:nvSpPr>
        <p:spPr bwMode="auto">
          <a:xfrm>
            <a:off x="-2419240" y="1641571"/>
            <a:ext cx="222620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BE" altLang="nl-BE"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nl-BE" altLang="nl-BE"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l-BE" altLang="nl-BE" sz="1800" b="0" i="0" u="none" strike="noStrike" cap="none" normalizeH="0" baseline="0">
              <a:ln>
                <a:noFill/>
              </a:ln>
              <a:solidFill>
                <a:schemeClr val="tx1"/>
              </a:solidFill>
              <a:effectLst/>
              <a:latin typeface="Arial" panose="020B0604020202020204" pitchFamily="34" charset="0"/>
            </a:endParaRPr>
          </a:p>
        </p:txBody>
      </p:sp>
      <p:graphicFrame>
        <p:nvGraphicFramePr>
          <p:cNvPr id="10" name="Table 7">
            <a:extLst>
              <a:ext uri="{FF2B5EF4-FFF2-40B4-BE49-F238E27FC236}">
                <a16:creationId xmlns:a16="http://schemas.microsoft.com/office/drawing/2014/main" id="{FD0F5994-1A34-1C08-51D0-D02E85B20F78}"/>
              </a:ext>
            </a:extLst>
          </p:cNvPr>
          <p:cNvGraphicFramePr>
            <a:graphicFrameLocks noGrp="1"/>
          </p:cNvGraphicFramePr>
          <p:nvPr/>
        </p:nvGraphicFramePr>
        <p:xfrm>
          <a:off x="1616035" y="1641571"/>
          <a:ext cx="8959928" cy="4357679"/>
        </p:xfrm>
        <a:graphic>
          <a:graphicData uri="http://schemas.openxmlformats.org/drawingml/2006/table">
            <a:tbl>
              <a:tblPr/>
              <a:tblGrid>
                <a:gridCol w="3817417">
                  <a:extLst>
                    <a:ext uri="{9D8B030D-6E8A-4147-A177-3AD203B41FA5}">
                      <a16:colId xmlns:a16="http://schemas.microsoft.com/office/drawing/2014/main" val="481779925"/>
                    </a:ext>
                  </a:extLst>
                </a:gridCol>
                <a:gridCol w="1532164">
                  <a:extLst>
                    <a:ext uri="{9D8B030D-6E8A-4147-A177-3AD203B41FA5}">
                      <a16:colId xmlns:a16="http://schemas.microsoft.com/office/drawing/2014/main" val="4238133008"/>
                    </a:ext>
                  </a:extLst>
                </a:gridCol>
                <a:gridCol w="1738678">
                  <a:extLst>
                    <a:ext uri="{9D8B030D-6E8A-4147-A177-3AD203B41FA5}">
                      <a16:colId xmlns:a16="http://schemas.microsoft.com/office/drawing/2014/main" val="2753696983"/>
                    </a:ext>
                  </a:extLst>
                </a:gridCol>
                <a:gridCol w="1871669">
                  <a:extLst>
                    <a:ext uri="{9D8B030D-6E8A-4147-A177-3AD203B41FA5}">
                      <a16:colId xmlns:a16="http://schemas.microsoft.com/office/drawing/2014/main" val="3491984205"/>
                    </a:ext>
                  </a:extLst>
                </a:gridCol>
              </a:tblGrid>
              <a:tr h="260082">
                <a:tc>
                  <a:txBody>
                    <a:bodyPr/>
                    <a:lstStyle/>
                    <a:p>
                      <a:pPr algn="l" fontAlgn="base"/>
                      <a:r>
                        <a:rPr lang="en-GB" sz="1200" b="1" i="0">
                          <a:solidFill>
                            <a:srgbClr val="00E47C"/>
                          </a:solidFill>
                          <a:effectLst/>
                          <a:latin typeface="Boehringer Forward Text" panose="02000500000000020000" pitchFamily="2" charset="0"/>
                        </a:rPr>
                        <a:t>Milestone</a:t>
                      </a:r>
                      <a:r>
                        <a:rPr lang="en-GB" sz="1200" b="1" i="0">
                          <a:solidFill>
                            <a:srgbClr val="FFFFFF"/>
                          </a:solidFill>
                          <a:effectLst/>
                          <a:latin typeface="Boehringer Forward Text" panose="02000500000000020000" pitchFamily="2" charset="0"/>
                        </a:rPr>
                        <a:t>​</a:t>
                      </a:r>
                      <a:endParaRPr lang="en-GB" sz="1500" b="1" i="0">
                        <a:solidFill>
                          <a:srgbClr val="FFFFFF"/>
                        </a:solidFill>
                        <a:effectLst/>
                      </a:endParaRPr>
                    </a:p>
                  </a:txBody>
                  <a:tcPr marL="75618" marR="75618" marT="37809" marB="37809">
                    <a:lnL w="6350" cap="flat" cmpd="sng" algn="ctr">
                      <a:solidFill>
                        <a:srgbClr val="08312A"/>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8312A"/>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312A"/>
                    </a:solidFill>
                  </a:tcPr>
                </a:tc>
                <a:tc>
                  <a:txBody>
                    <a:bodyPr/>
                    <a:lstStyle/>
                    <a:p>
                      <a:pPr algn="ctr" fontAlgn="base"/>
                      <a:r>
                        <a:rPr lang="en-GB" sz="1200" b="1" i="0">
                          <a:solidFill>
                            <a:srgbClr val="00E47C"/>
                          </a:solidFill>
                          <a:effectLst/>
                          <a:latin typeface="Boehringer Forward Text" panose="02000500000000020000" pitchFamily="2" charset="0"/>
                        </a:rPr>
                        <a:t>Planned</a:t>
                      </a:r>
                      <a:r>
                        <a:rPr lang="en-GB" sz="1200" b="1" i="0">
                          <a:solidFill>
                            <a:srgbClr val="FFFFFF"/>
                          </a:solidFill>
                          <a:effectLst/>
                          <a:latin typeface="Boehringer Forward Text" panose="02000500000000020000" pitchFamily="2" charset="0"/>
                        </a:rPr>
                        <a:t>​</a:t>
                      </a:r>
                      <a:endParaRPr lang="en-GB" sz="1500" b="1" i="0">
                        <a:solidFill>
                          <a:srgbClr val="FFFFFF"/>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8312A"/>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312A"/>
                    </a:solidFill>
                  </a:tcPr>
                </a:tc>
                <a:tc>
                  <a:txBody>
                    <a:bodyPr/>
                    <a:lstStyle/>
                    <a:p>
                      <a:pPr algn="ctr" fontAlgn="base"/>
                      <a:r>
                        <a:rPr lang="en-GB" sz="1200" b="1" i="0">
                          <a:solidFill>
                            <a:srgbClr val="00E47C"/>
                          </a:solidFill>
                          <a:effectLst/>
                          <a:latin typeface="Boehringer Forward Text" panose="02000500000000020000" pitchFamily="2" charset="0"/>
                        </a:rPr>
                        <a:t>Updated </a:t>
                      </a:r>
                      <a:r>
                        <a:rPr lang="en-GB" sz="1200" b="1" i="0">
                          <a:solidFill>
                            <a:srgbClr val="FFFFFF"/>
                          </a:solidFill>
                          <a:effectLst/>
                          <a:latin typeface="Boehringer Forward Text" panose="02000500000000020000" pitchFamily="2" charset="0"/>
                        </a:rPr>
                        <a:t>​</a:t>
                      </a:r>
                      <a:endParaRPr lang="en-GB" sz="1200" b="1" i="0" kern="1200">
                        <a:solidFill>
                          <a:srgbClr val="00E47C"/>
                        </a:solidFill>
                        <a:effectLst/>
                        <a:latin typeface="Boehringer Forward Text" panose="02000500000000020000" pitchFamily="2" charset="0"/>
                        <a:ea typeface="+mn-ea"/>
                        <a:cs typeface="+mn-cs"/>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8312A"/>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312A"/>
                    </a:solidFill>
                  </a:tcPr>
                </a:tc>
                <a:tc>
                  <a:txBody>
                    <a:bodyPr/>
                    <a:lstStyle/>
                    <a:p>
                      <a:pPr algn="ctr" fontAlgn="base"/>
                      <a:r>
                        <a:rPr lang="en-GB" sz="1200" b="1" i="0">
                          <a:solidFill>
                            <a:srgbClr val="00E47C"/>
                          </a:solidFill>
                          <a:effectLst/>
                          <a:latin typeface="Boehringer Forward Text" panose="02000500000000020000" pitchFamily="2" charset="0"/>
                        </a:rPr>
                        <a:t>Actual</a:t>
                      </a:r>
                      <a:r>
                        <a:rPr lang="en-GB" sz="1200" b="1" i="0">
                          <a:solidFill>
                            <a:srgbClr val="FFFFFF"/>
                          </a:solidFill>
                          <a:effectLst/>
                          <a:latin typeface="Boehringer Forward Text" panose="02000500000000020000" pitchFamily="2" charset="0"/>
                        </a:rPr>
                        <a:t>​</a:t>
                      </a:r>
                      <a:endParaRPr lang="en-GB" sz="1500" b="1" i="0">
                        <a:solidFill>
                          <a:srgbClr val="FFFFFF"/>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08312A"/>
                      </a:solidFill>
                      <a:prstDash val="solid"/>
                      <a:round/>
                      <a:headEnd type="none" w="med" len="med"/>
                      <a:tailEnd type="none" w="med" len="med"/>
                    </a:lnR>
                    <a:lnT w="6350" cap="flat" cmpd="sng" algn="ctr">
                      <a:solidFill>
                        <a:srgbClr val="08312A"/>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312A"/>
                    </a:solidFill>
                  </a:tcPr>
                </a:tc>
                <a:extLst>
                  <a:ext uri="{0D108BD9-81ED-4DB2-BD59-A6C34878D82A}">
                    <a16:rowId xmlns:a16="http://schemas.microsoft.com/office/drawing/2014/main" val="3734966526"/>
                  </a:ext>
                </a:extLst>
              </a:tr>
              <a:tr h="260082">
                <a:tc>
                  <a:txBody>
                    <a:bodyPr/>
                    <a:lstStyle/>
                    <a:p>
                      <a:pPr algn="l" fontAlgn="base"/>
                      <a:r>
                        <a:rPr lang="en-GB" sz="1200" b="1" i="0">
                          <a:solidFill>
                            <a:srgbClr val="0E584B"/>
                          </a:solidFill>
                          <a:effectLst/>
                          <a:latin typeface="Boehringer Forward Text" panose="02000500000000020000" pitchFamily="2" charset="0"/>
                        </a:rPr>
                        <a:t>Final Trial Design Outline</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08312A"/>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7E7"/>
                    </a:solidFill>
                  </a:tcPr>
                </a:tc>
                <a:tc>
                  <a:txBody>
                    <a:bodyPr/>
                    <a:lstStyle/>
                    <a:p>
                      <a:pPr algn="ctr" fontAlgn="base"/>
                      <a:r>
                        <a:rPr lang="en-GB" sz="1200" b="0" i="0">
                          <a:solidFill>
                            <a:srgbClr val="08312A"/>
                          </a:solidFill>
                          <a:effectLst/>
                          <a:latin typeface="Boehringer Forward Text" panose="02000500000000020000" pitchFamily="2" charset="0"/>
                        </a:rPr>
                        <a:t>07-Dec-2023</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6FFB2"/>
                    </a:solidFill>
                  </a:tcPr>
                </a:tc>
                <a:tc>
                  <a:txBody>
                    <a:bodyPr/>
                    <a:lstStyle/>
                    <a:p>
                      <a:pPr algn="ctr" fontAlgn="auto"/>
                      <a:r>
                        <a:rPr lang="en-GB" sz="1200" b="0" i="0">
                          <a:solidFill>
                            <a:srgbClr val="08312A"/>
                          </a:solidFill>
                          <a:effectLst/>
                          <a:latin typeface="Boehringer Forward Text" panose="02000500000000020000" pitchFamily="2" charset="0"/>
                        </a:rPr>
                        <a:t>​</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3DE"/>
                    </a:solidFill>
                  </a:tcPr>
                </a:tc>
                <a:tc>
                  <a:txBody>
                    <a:bodyPr/>
                    <a:lstStyle/>
                    <a:p>
                      <a:pPr algn="ctr" fontAlgn="base"/>
                      <a:r>
                        <a:rPr lang="en-GB" sz="1200" b="0" i="0">
                          <a:solidFill>
                            <a:srgbClr val="08312A"/>
                          </a:solidFill>
                          <a:effectLst/>
                          <a:latin typeface="Boehringer Forward Text" panose="02000500000000020000" pitchFamily="2" charset="0"/>
                        </a:rPr>
                        <a:t>07-Dec-2023</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08312A"/>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6FFB2"/>
                    </a:solidFill>
                  </a:tcPr>
                </a:tc>
                <a:extLst>
                  <a:ext uri="{0D108BD9-81ED-4DB2-BD59-A6C34878D82A}">
                    <a16:rowId xmlns:a16="http://schemas.microsoft.com/office/drawing/2014/main" val="763961536"/>
                  </a:ext>
                </a:extLst>
              </a:tr>
              <a:tr h="260082">
                <a:tc>
                  <a:txBody>
                    <a:bodyPr/>
                    <a:lstStyle/>
                    <a:p>
                      <a:pPr algn="l" fontAlgn="base"/>
                      <a:r>
                        <a:rPr lang="en-GB" sz="1200" b="1" i="0">
                          <a:solidFill>
                            <a:srgbClr val="0E584B"/>
                          </a:solidFill>
                          <a:effectLst/>
                          <a:latin typeface="Boehringer Forward Text" panose="02000500000000020000" pitchFamily="2" charset="0"/>
                        </a:rPr>
                        <a:t>Final Protocol</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08312A"/>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fontAlgn="base"/>
                      <a:r>
                        <a:rPr lang="en-GB" sz="1200" b="0" i="0">
                          <a:solidFill>
                            <a:srgbClr val="08312A"/>
                          </a:solidFill>
                          <a:effectLst/>
                          <a:latin typeface="Boehringer Forward Text" panose="02000500000000020000" pitchFamily="2" charset="0"/>
                        </a:rPr>
                        <a:t>22-Feb-2024</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6FFB2"/>
                    </a:solidFill>
                  </a:tcPr>
                </a:tc>
                <a:tc>
                  <a:txBody>
                    <a:bodyPr/>
                    <a:lstStyle/>
                    <a:p>
                      <a:pPr algn="ctr" fontAlgn="auto"/>
                      <a:r>
                        <a:rPr lang="en-GB" sz="1200" b="0" i="0">
                          <a:solidFill>
                            <a:srgbClr val="08312A"/>
                          </a:solidFill>
                          <a:effectLst/>
                          <a:latin typeface="Boehringer Forward Text" panose="02000500000000020000" pitchFamily="2" charset="0"/>
                        </a:rPr>
                        <a:t>​</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3DE"/>
                    </a:solidFill>
                  </a:tcPr>
                </a:tc>
                <a:tc>
                  <a:txBody>
                    <a:bodyPr/>
                    <a:lstStyle/>
                    <a:p>
                      <a:pPr algn="ctr" fontAlgn="base"/>
                      <a:r>
                        <a:rPr lang="en-GB" sz="1200" b="0" i="0">
                          <a:solidFill>
                            <a:srgbClr val="08312A"/>
                          </a:solidFill>
                          <a:effectLst/>
                          <a:latin typeface="Boehringer Forward Text" panose="02000500000000020000" pitchFamily="2" charset="0"/>
                        </a:rPr>
                        <a:t>22–Feb-2024</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08312A"/>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6FFB2"/>
                    </a:solidFill>
                  </a:tcPr>
                </a:tc>
                <a:extLst>
                  <a:ext uri="{0D108BD9-81ED-4DB2-BD59-A6C34878D82A}">
                    <a16:rowId xmlns:a16="http://schemas.microsoft.com/office/drawing/2014/main" val="869158600"/>
                  </a:ext>
                </a:extLst>
              </a:tr>
              <a:tr h="260082">
                <a:tc>
                  <a:txBody>
                    <a:bodyPr/>
                    <a:lstStyle/>
                    <a:p>
                      <a:pPr algn="l" fontAlgn="base"/>
                      <a:r>
                        <a:rPr lang="en-GB" sz="1200" b="1" i="0">
                          <a:solidFill>
                            <a:srgbClr val="0E584B"/>
                          </a:solidFill>
                          <a:effectLst/>
                          <a:latin typeface="Boehringer Forward Text" panose="02000500000000020000" pitchFamily="2" charset="0"/>
                        </a:rPr>
                        <a:t>Final CTA Package</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08312A"/>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7E7"/>
                    </a:solidFill>
                  </a:tcPr>
                </a:tc>
                <a:tc>
                  <a:txBody>
                    <a:bodyPr/>
                    <a:lstStyle/>
                    <a:p>
                      <a:pPr algn="ctr" fontAlgn="base"/>
                      <a:r>
                        <a:rPr lang="en-GB" sz="1200" b="0" i="0">
                          <a:solidFill>
                            <a:srgbClr val="08312A"/>
                          </a:solidFill>
                          <a:effectLst/>
                          <a:latin typeface="Boehringer Forward Text" panose="02000500000000020000" pitchFamily="2" charset="0"/>
                        </a:rPr>
                        <a:t>11-Mar-2024</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6FFB2"/>
                    </a:solidFill>
                  </a:tcPr>
                </a:tc>
                <a:tc>
                  <a:txBody>
                    <a:bodyPr/>
                    <a:lstStyle/>
                    <a:p>
                      <a:pPr algn="ctr" fontAlgn="auto"/>
                      <a:r>
                        <a:rPr lang="en-GB" sz="1200" b="0" i="0">
                          <a:solidFill>
                            <a:srgbClr val="08312A"/>
                          </a:solidFill>
                          <a:effectLst/>
                          <a:latin typeface="Boehringer Forward Text" panose="02000500000000020000" pitchFamily="2" charset="0"/>
                        </a:rPr>
                        <a:t>​</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3DE"/>
                    </a:solidFill>
                  </a:tcPr>
                </a:tc>
                <a:tc>
                  <a:txBody>
                    <a:bodyPr/>
                    <a:lstStyle/>
                    <a:p>
                      <a:pPr algn="ctr" fontAlgn="base"/>
                      <a:r>
                        <a:rPr lang="en-GB" sz="1200" b="0" i="0">
                          <a:solidFill>
                            <a:srgbClr val="08312A"/>
                          </a:solidFill>
                          <a:effectLst/>
                          <a:latin typeface="Boehringer Forward Text" panose="02000500000000020000" pitchFamily="2" charset="0"/>
                        </a:rPr>
                        <a:t>29-Feb-2024</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08312A"/>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6FFB2"/>
                    </a:solidFill>
                  </a:tcPr>
                </a:tc>
                <a:extLst>
                  <a:ext uri="{0D108BD9-81ED-4DB2-BD59-A6C34878D82A}">
                    <a16:rowId xmlns:a16="http://schemas.microsoft.com/office/drawing/2014/main" val="3248669752"/>
                  </a:ext>
                </a:extLst>
              </a:tr>
              <a:tr h="260082">
                <a:tc>
                  <a:txBody>
                    <a:bodyPr/>
                    <a:lstStyle/>
                    <a:p>
                      <a:pPr algn="l" fontAlgn="base"/>
                      <a:r>
                        <a:rPr lang="en-GB" sz="1200" b="1" i="0">
                          <a:solidFill>
                            <a:srgbClr val="0E584B"/>
                          </a:solidFill>
                          <a:effectLst/>
                          <a:latin typeface="Boehringer Forward Text" panose="02000500000000020000" pitchFamily="2" charset="0"/>
                        </a:rPr>
                        <a:t>First Initiation Visit</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08312A"/>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fontAlgn="base"/>
                      <a:r>
                        <a:rPr lang="en-GB" sz="1200" b="0" i="0">
                          <a:solidFill>
                            <a:srgbClr val="08312A"/>
                          </a:solidFill>
                          <a:effectLst/>
                          <a:latin typeface="Boehringer Forward Text" panose="02000500000000020000" pitchFamily="2" charset="0"/>
                        </a:rPr>
                        <a:t>22-Aug-2024</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6FFB2"/>
                    </a:solidFill>
                  </a:tcPr>
                </a:tc>
                <a:tc>
                  <a:txBody>
                    <a:bodyPr/>
                    <a:lstStyle/>
                    <a:p>
                      <a:pPr algn="ctr" fontAlgn="auto"/>
                      <a:r>
                        <a:rPr lang="en-GB" sz="1200" b="0" i="0">
                          <a:solidFill>
                            <a:srgbClr val="08312A"/>
                          </a:solidFill>
                          <a:effectLst/>
                          <a:latin typeface="Boehringer Forward Text" panose="02000500000000020000" pitchFamily="2" charset="0"/>
                        </a:rPr>
                        <a:t>​</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3DE"/>
                    </a:solidFill>
                  </a:tcPr>
                </a:tc>
                <a:tc>
                  <a:txBody>
                    <a:bodyPr/>
                    <a:lstStyle/>
                    <a:p>
                      <a:pPr algn="ctr" fontAlgn="base"/>
                      <a:r>
                        <a:rPr lang="en-GB" sz="1200" b="0" i="0">
                          <a:solidFill>
                            <a:srgbClr val="08312A"/>
                          </a:solidFill>
                          <a:effectLst/>
                          <a:latin typeface="Boehringer Forward Text" panose="02000500000000020000" pitchFamily="2" charset="0"/>
                        </a:rPr>
                        <a:t>22-Aug-2024</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08312A"/>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6FFB2"/>
                    </a:solidFill>
                  </a:tcPr>
                </a:tc>
                <a:extLst>
                  <a:ext uri="{0D108BD9-81ED-4DB2-BD59-A6C34878D82A}">
                    <a16:rowId xmlns:a16="http://schemas.microsoft.com/office/drawing/2014/main" val="1852051915"/>
                  </a:ext>
                </a:extLst>
              </a:tr>
              <a:tr h="260082">
                <a:tc>
                  <a:txBody>
                    <a:bodyPr/>
                    <a:lstStyle/>
                    <a:p>
                      <a:pPr algn="l" fontAlgn="base"/>
                      <a:r>
                        <a:rPr lang="en-GB" sz="1200" b="1" i="0">
                          <a:solidFill>
                            <a:srgbClr val="0E584B"/>
                          </a:solidFill>
                          <a:effectLst/>
                          <a:latin typeface="Boehringer Forward Text" panose="02000500000000020000" pitchFamily="2" charset="0"/>
                        </a:rPr>
                        <a:t>First Patient Randomized</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08312A"/>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7E7"/>
                    </a:solidFill>
                  </a:tcPr>
                </a:tc>
                <a:tc>
                  <a:txBody>
                    <a:bodyPr/>
                    <a:lstStyle/>
                    <a:p>
                      <a:pPr algn="ctr" fontAlgn="base"/>
                      <a:r>
                        <a:rPr lang="en-GB" sz="1200" b="0" i="0">
                          <a:solidFill>
                            <a:srgbClr val="08312A"/>
                          </a:solidFill>
                          <a:effectLst/>
                          <a:latin typeface="Boehringer Forward Text" panose="02000500000000020000" pitchFamily="2" charset="0"/>
                        </a:rPr>
                        <a:t>14-Oct-2024</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6FFB2"/>
                    </a:solidFill>
                  </a:tcPr>
                </a:tc>
                <a:tc>
                  <a:txBody>
                    <a:bodyPr/>
                    <a:lstStyle/>
                    <a:p>
                      <a:pPr algn="ctr" fontAlgn="auto"/>
                      <a:r>
                        <a:rPr lang="en-GB" sz="1200" b="0" i="0">
                          <a:solidFill>
                            <a:srgbClr val="08312A"/>
                          </a:solidFill>
                          <a:effectLst/>
                          <a:latin typeface="Boehringer Forward Text" panose="02000500000000020000" pitchFamily="2" charset="0"/>
                        </a:rPr>
                        <a:t>​</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3DE"/>
                    </a:solidFill>
                  </a:tcPr>
                </a:tc>
                <a:tc>
                  <a:txBody>
                    <a:bodyPr/>
                    <a:lstStyle/>
                    <a:p>
                      <a:pPr algn="ctr" fontAlgn="base"/>
                      <a:r>
                        <a:rPr lang="en-GB" sz="1200" b="0" i="0">
                          <a:solidFill>
                            <a:srgbClr val="08312A"/>
                          </a:solidFill>
                          <a:effectLst/>
                          <a:latin typeface="Boehringer Forward Text" panose="02000500000000020000" pitchFamily="2" charset="0"/>
                        </a:rPr>
                        <a:t>02-Oct-2024</a:t>
                      </a:r>
                      <a:r>
                        <a:rPr lang="en-GB" sz="1200" b="0" i="0">
                          <a:solidFill>
                            <a:srgbClr val="000000"/>
                          </a:solidFill>
                          <a:effectLst/>
                          <a:latin typeface="Boehringer Forward Text" panose="02000500000000020000" pitchFamily="2" charset="0"/>
                        </a:rPr>
                        <a:t>​</a:t>
                      </a:r>
                      <a:endParaRPr lang="en-GB" sz="1500" b="0" i="0">
                        <a:solidFill>
                          <a:srgbClr val="000000"/>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08312A"/>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6FFB2"/>
                    </a:solidFill>
                  </a:tcPr>
                </a:tc>
                <a:extLst>
                  <a:ext uri="{0D108BD9-81ED-4DB2-BD59-A6C34878D82A}">
                    <a16:rowId xmlns:a16="http://schemas.microsoft.com/office/drawing/2014/main" val="3173800697"/>
                  </a:ext>
                </a:extLst>
              </a:tr>
              <a:tr h="409169">
                <a:tc>
                  <a:txBody>
                    <a:bodyPr/>
                    <a:lstStyle/>
                    <a:p>
                      <a:pPr marL="0" algn="l" defTabSz="914400" rtl="0" eaLnBrk="1" fontAlgn="base" latinLnBrk="0" hangingPunct="1"/>
                      <a:r>
                        <a:rPr lang="en-US" sz="1200" b="1" i="0" kern="1200">
                          <a:solidFill>
                            <a:srgbClr val="0E584B"/>
                          </a:solidFill>
                          <a:effectLst/>
                          <a:latin typeface="Boehringer Forward Text" panose="02000500000000020000" pitchFamily="2" charset="0"/>
                          <a:ea typeface="+mn-ea"/>
                          <a:cs typeface="+mn-cs"/>
                        </a:rPr>
                        <a:t>Last Patient Randomized​</a:t>
                      </a:r>
                    </a:p>
                  </a:txBody>
                  <a:tcPr marL="75618" marR="75618" marT="37809" marB="37809">
                    <a:lnL w="6350" cap="flat" cmpd="sng" algn="ctr">
                      <a:solidFill>
                        <a:srgbClr val="08312A"/>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marL="0" algn="ctr" defTabSz="914400" rtl="0" eaLnBrk="1" fontAlgn="base" latinLnBrk="0" hangingPunct="1"/>
                      <a:r>
                        <a:rPr lang="en-GB" sz="1200" b="0" i="0" strike="sngStrike" kern="1200" baseline="0">
                          <a:solidFill>
                            <a:srgbClr val="08312A"/>
                          </a:solidFill>
                          <a:effectLst/>
                          <a:latin typeface="Boehringer Forward Text" panose="02000500000000020000" pitchFamily="2" charset="0"/>
                          <a:ea typeface="+mn-ea"/>
                          <a:cs typeface="+mn-cs"/>
                        </a:rPr>
                        <a:t>20-Nov-2025​</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6FFB2"/>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GB" sz="1200" b="0" i="0" kern="1200">
                          <a:solidFill>
                            <a:srgbClr val="08312A"/>
                          </a:solidFill>
                          <a:effectLst/>
                          <a:highlight>
                            <a:srgbClr val="56FFB2"/>
                          </a:highlight>
                          <a:latin typeface="Boehringer Forward Text" panose="02000500000000020000" pitchFamily="2" charset="0"/>
                          <a:ea typeface="+mn-ea"/>
                          <a:cs typeface="+mn-cs"/>
                        </a:rPr>
                        <a:t>16-May-2025</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6FFB2"/>
                    </a:solidFill>
                  </a:tcPr>
                </a:tc>
                <a:tc>
                  <a:txBody>
                    <a:bodyPr/>
                    <a:lstStyle/>
                    <a:p>
                      <a:pPr marL="0" algn="ctr" defTabSz="914400" rtl="0" eaLnBrk="1" fontAlgn="base" latinLnBrk="0" hangingPunct="1"/>
                      <a:r>
                        <a:rPr lang="en-GB" sz="1200" b="0" i="0" kern="1200">
                          <a:solidFill>
                            <a:srgbClr val="08312A"/>
                          </a:solidFill>
                          <a:effectLst/>
                          <a:highlight>
                            <a:srgbClr val="56FFB2"/>
                          </a:highlight>
                          <a:latin typeface="Boehringer Forward Text" panose="02000500000000020000" pitchFamily="2" charset="0"/>
                          <a:ea typeface="+mn-ea"/>
                          <a:cs typeface="+mn-cs"/>
                        </a:rPr>
                        <a:t>​16-May-2025</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08312A"/>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6FFB2"/>
                    </a:solidFill>
                  </a:tcPr>
                </a:tc>
                <a:extLst>
                  <a:ext uri="{0D108BD9-81ED-4DB2-BD59-A6C34878D82A}">
                    <a16:rowId xmlns:a16="http://schemas.microsoft.com/office/drawing/2014/main" val="3824827496"/>
                  </a:ext>
                </a:extLst>
              </a:tr>
              <a:tr h="398003">
                <a:tc>
                  <a:txBody>
                    <a:bodyPr/>
                    <a:lstStyle/>
                    <a:p>
                      <a:pPr marL="0" algn="l" defTabSz="914400" rtl="0" eaLnBrk="1" fontAlgn="base" latinLnBrk="0" hangingPunct="1"/>
                      <a:r>
                        <a:rPr lang="en-US" sz="1200" b="0" i="0" kern="1200">
                          <a:solidFill>
                            <a:schemeClr val="tx1"/>
                          </a:solidFill>
                          <a:effectLst/>
                          <a:latin typeface="Boehringer Forward Text" panose="02000500000000020000" pitchFamily="2" charset="0"/>
                          <a:ea typeface="+mn-ea"/>
                          <a:cs typeface="+mn-cs"/>
                        </a:rPr>
                        <a:t>Last Patient 24 weeks (w/o visit windows)</a:t>
                      </a:r>
                    </a:p>
                  </a:txBody>
                  <a:tcPr marL="75618" marR="75618" marT="37809" marB="37809">
                    <a:lnL w="6350" cap="flat" cmpd="sng" algn="ctr">
                      <a:solidFill>
                        <a:srgbClr val="08312A"/>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7E7"/>
                    </a:solidFill>
                  </a:tcPr>
                </a:tc>
                <a:tc>
                  <a:txBody>
                    <a:bodyPr/>
                    <a:lstStyle/>
                    <a:p>
                      <a:pPr marL="0" algn="ctr" defTabSz="914400" rtl="0" eaLnBrk="1" fontAlgn="base" latinLnBrk="0" hangingPunct="1"/>
                      <a:endParaRPr lang="en-GB" sz="1200" b="0" i="0" strike="sngStrike" kern="1200" baseline="0">
                        <a:solidFill>
                          <a:srgbClr val="08312A"/>
                        </a:solidFill>
                        <a:effectLst/>
                        <a:latin typeface="Boehringer Forward Text" panose="02000500000000020000" pitchFamily="2" charset="0"/>
                        <a:ea typeface="+mn-ea"/>
                        <a:cs typeface="+mn-cs"/>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3DE"/>
                    </a:solidFill>
                  </a:tcPr>
                </a:tc>
                <a:tc>
                  <a:txBody>
                    <a:bodyPr/>
                    <a:lstStyle/>
                    <a:p>
                      <a:pPr marL="0" algn="ctr" defTabSz="914400" rtl="0" eaLnBrk="1" fontAlgn="base" latinLnBrk="0" hangingPunct="1"/>
                      <a:r>
                        <a:rPr lang="en-GB" sz="1200" b="0" i="0" kern="1200">
                          <a:solidFill>
                            <a:srgbClr val="08312A"/>
                          </a:solidFill>
                          <a:effectLst/>
                          <a:latin typeface="Boehringer Forward Text" panose="02000500000000020000" pitchFamily="2" charset="0"/>
                          <a:ea typeface="+mn-ea"/>
                          <a:cs typeface="+mn-cs"/>
                        </a:rPr>
                        <a:t>31-Oct-2025</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3DE"/>
                    </a:solidFill>
                  </a:tcPr>
                </a:tc>
                <a:tc>
                  <a:txBody>
                    <a:bodyPr/>
                    <a:lstStyle/>
                    <a:p>
                      <a:pPr marL="0" algn="ctr" defTabSz="914400" rtl="0" eaLnBrk="1" fontAlgn="base" latinLnBrk="0" hangingPunct="1"/>
                      <a:endParaRPr lang="en-GB" sz="1200" b="0" i="0" kern="1200">
                        <a:solidFill>
                          <a:schemeClr val="tx1"/>
                        </a:solidFill>
                        <a:effectLst/>
                        <a:latin typeface="Boehringer Forward Text" panose="02000500000000020000" pitchFamily="2" charset="0"/>
                        <a:ea typeface="+mn-ea"/>
                        <a:cs typeface="+mn-cs"/>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08312A"/>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CDB9"/>
                    </a:solidFill>
                  </a:tcPr>
                </a:tc>
                <a:extLst>
                  <a:ext uri="{0D108BD9-81ED-4DB2-BD59-A6C34878D82A}">
                    <a16:rowId xmlns:a16="http://schemas.microsoft.com/office/drawing/2014/main" val="172636421"/>
                  </a:ext>
                </a:extLst>
              </a:tr>
              <a:tr h="398003">
                <a:tc>
                  <a:txBody>
                    <a:bodyPr/>
                    <a:lstStyle/>
                    <a:p>
                      <a:pPr marL="0" algn="l" defTabSz="914400" rtl="0" eaLnBrk="1" fontAlgn="base" latinLnBrk="0" hangingPunct="1"/>
                      <a:r>
                        <a:rPr lang="en-US" sz="1200" b="0" i="0" kern="1200">
                          <a:solidFill>
                            <a:schemeClr val="tx1"/>
                          </a:solidFill>
                          <a:effectLst/>
                          <a:latin typeface="Boehringer Forward Text" panose="02000500000000020000" pitchFamily="2" charset="0"/>
                          <a:ea typeface="+mn-ea"/>
                          <a:cs typeface="+mn-cs"/>
                        </a:rPr>
                        <a:t>Last Patient </a:t>
                      </a:r>
                      <a:r>
                        <a:rPr lang="en-US" sz="1200" b="0" i="0" kern="1200" err="1">
                          <a:solidFill>
                            <a:schemeClr val="tx1"/>
                          </a:solidFill>
                          <a:effectLst/>
                          <a:latin typeface="Boehringer Forward Text" panose="02000500000000020000" pitchFamily="2" charset="0"/>
                          <a:ea typeface="+mn-ea"/>
                          <a:cs typeface="+mn-cs"/>
                        </a:rPr>
                        <a:t>EoT</a:t>
                      </a:r>
                      <a:endParaRPr lang="en-US" sz="1200" b="0" i="0" kern="1200">
                        <a:solidFill>
                          <a:schemeClr val="tx1"/>
                        </a:solidFill>
                        <a:effectLst/>
                        <a:latin typeface="Boehringer Forward Text" panose="02000500000000020000" pitchFamily="2" charset="0"/>
                        <a:ea typeface="+mn-ea"/>
                        <a:cs typeface="+mn-cs"/>
                      </a:endParaRPr>
                    </a:p>
                  </a:txBody>
                  <a:tcPr marL="75618" marR="75618" marT="37809" marB="37809">
                    <a:lnL w="6350" cap="flat" cmpd="sng" algn="ctr">
                      <a:solidFill>
                        <a:srgbClr val="08312A"/>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marL="0" algn="ctr" defTabSz="914400" rtl="0" eaLnBrk="1" fontAlgn="base" latinLnBrk="0" hangingPunct="1"/>
                      <a:endParaRPr lang="en-GB" sz="1200" b="0" i="0" strike="sngStrike" kern="1200" baseline="0">
                        <a:solidFill>
                          <a:srgbClr val="08312A"/>
                        </a:solidFill>
                        <a:effectLst/>
                        <a:latin typeface="Boehringer Forward Text" panose="02000500000000020000" pitchFamily="2" charset="0"/>
                        <a:ea typeface="+mn-ea"/>
                        <a:cs typeface="+mn-cs"/>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3DE"/>
                    </a:solidFill>
                  </a:tcPr>
                </a:tc>
                <a:tc>
                  <a:txBody>
                    <a:bodyPr/>
                    <a:lstStyle/>
                    <a:p>
                      <a:pPr marL="0" algn="ctr" defTabSz="914400" rtl="0" eaLnBrk="1" fontAlgn="base" latinLnBrk="0" hangingPunct="1"/>
                      <a:r>
                        <a:rPr lang="en-GB" sz="1200" b="0" i="0" kern="1200">
                          <a:solidFill>
                            <a:srgbClr val="08312A"/>
                          </a:solidFill>
                          <a:effectLst/>
                          <a:latin typeface="Boehringer Forward Text" panose="02000500000000020000" pitchFamily="2" charset="0"/>
                          <a:ea typeface="+mn-ea"/>
                          <a:cs typeface="+mn-cs"/>
                        </a:rPr>
                        <a:t>14-Nov2025</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3DE"/>
                    </a:solidFill>
                  </a:tcPr>
                </a:tc>
                <a:tc>
                  <a:txBody>
                    <a:bodyPr/>
                    <a:lstStyle/>
                    <a:p>
                      <a:pPr marL="0" algn="ctr" defTabSz="914400" rtl="0" eaLnBrk="1" fontAlgn="base" latinLnBrk="0" hangingPunct="1"/>
                      <a:endParaRPr lang="en-GB" sz="1200" b="1" i="0" kern="1200">
                        <a:solidFill>
                          <a:srgbClr val="FF0000"/>
                        </a:solidFill>
                        <a:effectLst/>
                        <a:latin typeface="Boehringer Forward Text" panose="02000500000000020000" pitchFamily="2" charset="0"/>
                        <a:ea typeface="+mn-ea"/>
                        <a:cs typeface="+mn-cs"/>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08312A"/>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CDB9"/>
                    </a:solidFill>
                  </a:tcPr>
                </a:tc>
                <a:extLst>
                  <a:ext uri="{0D108BD9-81ED-4DB2-BD59-A6C34878D82A}">
                    <a16:rowId xmlns:a16="http://schemas.microsoft.com/office/drawing/2014/main" val="2913140299"/>
                  </a:ext>
                </a:extLst>
              </a:tr>
              <a:tr h="398003">
                <a:tc>
                  <a:txBody>
                    <a:bodyPr/>
                    <a:lstStyle/>
                    <a:p>
                      <a:pPr marL="0" algn="l" defTabSz="914400" rtl="0" eaLnBrk="1" fontAlgn="base" latinLnBrk="0" hangingPunct="1"/>
                      <a:r>
                        <a:rPr lang="en-GB" sz="1200" b="0" i="0" kern="1200">
                          <a:solidFill>
                            <a:srgbClr val="000000"/>
                          </a:solidFill>
                          <a:effectLst/>
                          <a:latin typeface="Boehringer Forward Text" panose="02000500000000020000" pitchFamily="2" charset="0"/>
                          <a:ea typeface="+mn-ea"/>
                          <a:cs typeface="+mn-cs"/>
                        </a:rPr>
                        <a:t>Last Patient Completed</a:t>
                      </a:r>
                      <a:r>
                        <a:rPr lang="en-GB" sz="1200" b="1" i="0" kern="1200">
                          <a:solidFill>
                            <a:srgbClr val="0E584B"/>
                          </a:solidFill>
                          <a:effectLst/>
                          <a:latin typeface="Boehringer Forward Text" panose="02000500000000020000" pitchFamily="2" charset="0"/>
                          <a:ea typeface="+mn-ea"/>
                          <a:cs typeface="+mn-cs"/>
                        </a:rPr>
                        <a:t>​</a:t>
                      </a:r>
                    </a:p>
                  </a:txBody>
                  <a:tcPr marL="75618" marR="75618" marT="37809" marB="37809">
                    <a:lnL w="6350" cap="flat" cmpd="sng" algn="ctr">
                      <a:solidFill>
                        <a:srgbClr val="08312A"/>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7E7"/>
                    </a:solidFill>
                  </a:tcPr>
                </a:tc>
                <a:tc>
                  <a:txBody>
                    <a:bodyPr/>
                    <a:lstStyle/>
                    <a:p>
                      <a:pPr marL="0" algn="ctr" defTabSz="914400" rtl="0" eaLnBrk="1" fontAlgn="base" latinLnBrk="0" hangingPunct="1"/>
                      <a:r>
                        <a:rPr lang="en-GB" sz="1200" b="0" i="0" strike="sngStrike" kern="1200" baseline="0">
                          <a:solidFill>
                            <a:srgbClr val="08312A"/>
                          </a:solidFill>
                          <a:effectLst/>
                          <a:latin typeface="Boehringer Forward Text" panose="02000500000000020000" pitchFamily="2" charset="0"/>
                          <a:ea typeface="+mn-ea"/>
                          <a:cs typeface="+mn-cs"/>
                        </a:rPr>
                        <a:t>21-Jul-2026​</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7E7"/>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GB" sz="1200" b="0" i="0" kern="1200">
                          <a:solidFill>
                            <a:srgbClr val="08312A"/>
                          </a:solidFill>
                          <a:effectLst/>
                          <a:latin typeface="Boehringer Forward Text" panose="02000500000000020000" pitchFamily="2" charset="0"/>
                          <a:ea typeface="+mn-ea"/>
                          <a:cs typeface="+mn-cs"/>
                        </a:rPr>
                        <a:t>09-Jan-2026</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3DE"/>
                    </a:solidFill>
                  </a:tcPr>
                </a:tc>
                <a:tc>
                  <a:txBody>
                    <a:bodyPr/>
                    <a:lstStyle/>
                    <a:p>
                      <a:pPr algn="ctr" fontAlgn="auto"/>
                      <a:r>
                        <a:rPr lang="en-GB" sz="1200" b="0" i="0">
                          <a:solidFill>
                            <a:srgbClr val="08312A"/>
                          </a:solidFill>
                          <a:effectLst/>
                          <a:latin typeface="Boehringer Forward Text" panose="02000500000000020000" pitchFamily="2" charset="0"/>
                        </a:rPr>
                        <a:t>​</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08312A"/>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CDB9"/>
                    </a:solidFill>
                  </a:tcPr>
                </a:tc>
                <a:extLst>
                  <a:ext uri="{0D108BD9-81ED-4DB2-BD59-A6C34878D82A}">
                    <a16:rowId xmlns:a16="http://schemas.microsoft.com/office/drawing/2014/main" val="1364153172"/>
                  </a:ext>
                </a:extLst>
              </a:tr>
              <a:tr h="398003">
                <a:tc>
                  <a:txBody>
                    <a:bodyPr/>
                    <a:lstStyle/>
                    <a:p>
                      <a:pPr algn="l" fontAlgn="base"/>
                      <a:r>
                        <a:rPr lang="en-GB" sz="1200" b="0" i="0">
                          <a:solidFill>
                            <a:srgbClr val="000000"/>
                          </a:solidFill>
                          <a:effectLst/>
                          <a:latin typeface="Boehringer Forward Text" panose="02000500000000020000" pitchFamily="2" charset="0"/>
                        </a:rPr>
                        <a:t>Database Lock​</a:t>
                      </a:r>
                      <a:endParaRPr lang="en-GB" sz="1500" b="0" i="0">
                        <a:solidFill>
                          <a:srgbClr val="000000"/>
                        </a:solidFill>
                        <a:effectLst/>
                      </a:endParaRPr>
                    </a:p>
                  </a:txBody>
                  <a:tcPr marL="75618" marR="75618" marT="37809" marB="37809">
                    <a:lnL w="6350" cap="flat" cmpd="sng" algn="ctr">
                      <a:solidFill>
                        <a:srgbClr val="08312A"/>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fontAlgn="base"/>
                      <a:r>
                        <a:rPr lang="en-GB" sz="1200" b="0" i="0" strike="sngStrike" kern="1200" baseline="0">
                          <a:solidFill>
                            <a:srgbClr val="08312A"/>
                          </a:solidFill>
                          <a:effectLst/>
                          <a:latin typeface="Boehringer Forward Text" panose="02000500000000020000" pitchFamily="2" charset="0"/>
                          <a:ea typeface="+mn-ea"/>
                          <a:cs typeface="+mn-cs"/>
                        </a:rPr>
                        <a:t>01-Sep-2026​</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marL="0" algn="ctr" defTabSz="914400" rtl="0" eaLnBrk="1" fontAlgn="base" latinLnBrk="0" hangingPunct="1"/>
                      <a:r>
                        <a:rPr lang="en-GB" sz="1200" b="0" i="0" kern="1200">
                          <a:solidFill>
                            <a:srgbClr val="08312A"/>
                          </a:solidFill>
                          <a:effectLst/>
                          <a:latin typeface="Boehringer Forward Text" panose="02000500000000020000" pitchFamily="2" charset="0"/>
                          <a:ea typeface="+mn-ea"/>
                          <a:cs typeface="+mn-cs"/>
                        </a:rPr>
                        <a:t>20-Feb-2026</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tc>
                  <a:txBody>
                    <a:bodyPr/>
                    <a:lstStyle/>
                    <a:p>
                      <a:pPr algn="ctr" fontAlgn="auto"/>
                      <a:r>
                        <a:rPr lang="en-GB" sz="1200" b="0" i="0">
                          <a:solidFill>
                            <a:srgbClr val="08312A"/>
                          </a:solidFill>
                          <a:effectLst/>
                          <a:latin typeface="Boehringer Forward Text" panose="02000500000000020000" pitchFamily="2" charset="0"/>
                        </a:rPr>
                        <a:t>​</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08312A"/>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CDB9"/>
                    </a:solidFill>
                  </a:tcPr>
                </a:tc>
                <a:extLst>
                  <a:ext uri="{0D108BD9-81ED-4DB2-BD59-A6C34878D82A}">
                    <a16:rowId xmlns:a16="http://schemas.microsoft.com/office/drawing/2014/main" val="4171835481"/>
                  </a:ext>
                </a:extLst>
              </a:tr>
              <a:tr h="398003">
                <a:tc>
                  <a:txBody>
                    <a:bodyPr/>
                    <a:lstStyle/>
                    <a:p>
                      <a:pPr algn="l" fontAlgn="base"/>
                      <a:r>
                        <a:rPr lang="en-GB" sz="1200" b="0" i="0">
                          <a:solidFill>
                            <a:srgbClr val="000000"/>
                          </a:solidFill>
                          <a:effectLst/>
                          <a:latin typeface="Boehringer Forward Text" panose="02000500000000020000" pitchFamily="2" charset="0"/>
                        </a:rPr>
                        <a:t>Key Results​</a:t>
                      </a:r>
                      <a:endParaRPr lang="en-GB" sz="1500" b="0" i="0">
                        <a:solidFill>
                          <a:srgbClr val="000000"/>
                        </a:solidFill>
                        <a:effectLst/>
                      </a:endParaRPr>
                    </a:p>
                  </a:txBody>
                  <a:tcPr marL="75618" marR="75618" marT="37809" marB="37809">
                    <a:lnL w="6350" cap="flat" cmpd="sng" algn="ctr">
                      <a:solidFill>
                        <a:srgbClr val="08312A"/>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7E7"/>
                    </a:solidFill>
                  </a:tcPr>
                </a:tc>
                <a:tc>
                  <a:txBody>
                    <a:bodyPr/>
                    <a:lstStyle/>
                    <a:p>
                      <a:pPr algn="ctr" fontAlgn="base"/>
                      <a:r>
                        <a:rPr lang="en-GB" sz="1200" b="0" i="0" strike="sngStrike" baseline="0">
                          <a:solidFill>
                            <a:srgbClr val="08312A"/>
                          </a:solidFill>
                          <a:effectLst/>
                          <a:latin typeface="Boehringer Forward Text" panose="02000500000000020000" pitchFamily="2" charset="0"/>
                        </a:rPr>
                        <a:t>22-Sep-2026</a:t>
                      </a:r>
                      <a:r>
                        <a:rPr lang="en-GB" sz="1200" b="0" i="0" strike="sngStrike" baseline="0">
                          <a:solidFill>
                            <a:srgbClr val="000000"/>
                          </a:solidFill>
                          <a:effectLst/>
                          <a:latin typeface="Boehringer Forward Text" panose="02000500000000020000" pitchFamily="2" charset="0"/>
                        </a:rPr>
                        <a:t>​</a:t>
                      </a:r>
                      <a:endParaRPr lang="en-GB" sz="1500" b="0" i="0" strike="sngStrike" baseline="0">
                        <a:solidFill>
                          <a:srgbClr val="000000"/>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7E7"/>
                    </a:solidFill>
                  </a:tcPr>
                </a:tc>
                <a:tc>
                  <a:txBody>
                    <a:bodyPr/>
                    <a:lstStyle/>
                    <a:p>
                      <a:pPr marL="0" algn="ctr" defTabSz="914400" rtl="0" eaLnBrk="1" fontAlgn="base" latinLnBrk="0" hangingPunct="1"/>
                      <a:r>
                        <a:rPr lang="en-GB" sz="1200" b="0" i="0" strike="noStrike" kern="1200" baseline="0">
                          <a:solidFill>
                            <a:srgbClr val="08312A"/>
                          </a:solidFill>
                          <a:effectLst/>
                          <a:latin typeface="Boehringer Forward Text" panose="02000500000000020000" pitchFamily="2" charset="0"/>
                          <a:ea typeface="+mn-ea"/>
                          <a:cs typeface="+mn-cs"/>
                        </a:rPr>
                        <a:t>13-Mar-2026</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5E3DE"/>
                    </a:solidFill>
                  </a:tcPr>
                </a:tc>
                <a:tc>
                  <a:txBody>
                    <a:bodyPr/>
                    <a:lstStyle/>
                    <a:p>
                      <a:pPr algn="ctr" fontAlgn="auto"/>
                      <a:r>
                        <a:rPr lang="en-GB" sz="1200" b="0" i="0">
                          <a:solidFill>
                            <a:srgbClr val="08312A"/>
                          </a:solidFill>
                          <a:effectLst/>
                          <a:latin typeface="Boehringer Forward Text" panose="02000500000000020000" pitchFamily="2" charset="0"/>
                        </a:rPr>
                        <a:t>​</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08312A"/>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CDB9"/>
                    </a:solidFill>
                  </a:tcPr>
                </a:tc>
                <a:extLst>
                  <a:ext uri="{0D108BD9-81ED-4DB2-BD59-A6C34878D82A}">
                    <a16:rowId xmlns:a16="http://schemas.microsoft.com/office/drawing/2014/main" val="4246016909"/>
                  </a:ext>
                </a:extLst>
              </a:tr>
              <a:tr h="398003">
                <a:tc>
                  <a:txBody>
                    <a:bodyPr/>
                    <a:lstStyle/>
                    <a:p>
                      <a:pPr algn="l" fontAlgn="base"/>
                      <a:r>
                        <a:rPr lang="en-US" sz="1200" b="0" i="0">
                          <a:solidFill>
                            <a:srgbClr val="000000"/>
                          </a:solidFill>
                          <a:effectLst/>
                          <a:latin typeface="Boehringer Forward Text" panose="02000500000000020000" pitchFamily="2" charset="0"/>
                        </a:rPr>
                        <a:t>Final Clinical Trial Report (Archived)​</a:t>
                      </a:r>
                      <a:endParaRPr lang="en-US" sz="1500" b="0" i="0">
                        <a:solidFill>
                          <a:srgbClr val="000000"/>
                        </a:solidFill>
                        <a:effectLst/>
                      </a:endParaRPr>
                    </a:p>
                  </a:txBody>
                  <a:tcPr marL="75618" marR="75618" marT="37809" marB="37809">
                    <a:lnL w="6350" cap="flat" cmpd="sng" algn="ctr">
                      <a:solidFill>
                        <a:srgbClr val="08312A"/>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8312A"/>
                      </a:solidFill>
                      <a:prstDash val="solid"/>
                      <a:round/>
                      <a:headEnd type="none" w="med" len="med"/>
                      <a:tailEnd type="none" w="med" len="med"/>
                    </a:lnB>
                    <a:solidFill>
                      <a:srgbClr val="FFFFFF"/>
                    </a:solidFill>
                  </a:tcPr>
                </a:tc>
                <a:tc>
                  <a:txBody>
                    <a:bodyPr/>
                    <a:lstStyle/>
                    <a:p>
                      <a:pPr algn="ctr" fontAlgn="base"/>
                      <a:r>
                        <a:rPr lang="en-GB" sz="1200" b="0" i="0" strike="sngStrike" baseline="0">
                          <a:solidFill>
                            <a:srgbClr val="08312A"/>
                          </a:solidFill>
                          <a:effectLst/>
                          <a:latin typeface="Boehringer Forward Text" panose="02000500000000020000" pitchFamily="2" charset="0"/>
                        </a:rPr>
                        <a:t>23-Feb-2027</a:t>
                      </a:r>
                      <a:r>
                        <a:rPr lang="en-GB" sz="1200" b="0" i="0" strike="sngStrike" baseline="0">
                          <a:solidFill>
                            <a:srgbClr val="000000"/>
                          </a:solidFill>
                          <a:effectLst/>
                          <a:latin typeface="Boehringer Forward Text" panose="02000500000000020000" pitchFamily="2" charset="0"/>
                        </a:rPr>
                        <a:t>​</a:t>
                      </a:r>
                      <a:endParaRPr lang="en-GB" sz="1500" b="0" i="0" strike="sngStrike" baseline="0">
                        <a:solidFill>
                          <a:srgbClr val="000000"/>
                        </a:solidFill>
                        <a:effectLst/>
                      </a:endParaRP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8312A"/>
                      </a:solidFill>
                      <a:prstDash val="solid"/>
                      <a:round/>
                      <a:headEnd type="none" w="med" len="med"/>
                      <a:tailEnd type="none" w="med" len="med"/>
                    </a:lnB>
                    <a:solidFill>
                      <a:srgbClr val="FFFFFF"/>
                    </a:solidFill>
                  </a:tcPr>
                </a:tc>
                <a:tc>
                  <a:txBody>
                    <a:bodyPr/>
                    <a:lstStyle/>
                    <a:p>
                      <a:pPr marL="0" algn="ctr" defTabSz="914400" rtl="0" eaLnBrk="1" fontAlgn="base" latinLnBrk="0" hangingPunct="1"/>
                      <a:r>
                        <a:rPr lang="en-GB" sz="1200" b="0" i="0" strike="noStrike" kern="1200" baseline="0">
                          <a:solidFill>
                            <a:srgbClr val="08312A"/>
                          </a:solidFill>
                          <a:effectLst/>
                          <a:latin typeface="Boehringer Forward Text" panose="02000500000000020000" pitchFamily="2" charset="0"/>
                          <a:ea typeface="+mn-ea"/>
                          <a:cs typeface="+mn-cs"/>
                        </a:rPr>
                        <a:t>14-Aug-2026</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8312A"/>
                      </a:solidFill>
                      <a:prstDash val="solid"/>
                      <a:round/>
                      <a:headEnd type="none" w="med" len="med"/>
                      <a:tailEnd type="none" w="med" len="med"/>
                    </a:lnB>
                    <a:noFill/>
                  </a:tcPr>
                </a:tc>
                <a:tc>
                  <a:txBody>
                    <a:bodyPr/>
                    <a:lstStyle/>
                    <a:p>
                      <a:pPr algn="ctr" fontAlgn="auto"/>
                      <a:r>
                        <a:rPr lang="en-GB" sz="1200" b="0" i="0">
                          <a:solidFill>
                            <a:srgbClr val="08312A"/>
                          </a:solidFill>
                          <a:effectLst/>
                          <a:latin typeface="Boehringer Forward Text" panose="02000500000000020000" pitchFamily="2" charset="0"/>
                        </a:rPr>
                        <a:t>​</a:t>
                      </a:r>
                    </a:p>
                  </a:txBody>
                  <a:tcPr marL="75618" marR="75618" marT="37809" marB="37809">
                    <a:lnL w="6350" cap="flat" cmpd="sng" algn="ctr">
                      <a:solidFill>
                        <a:srgbClr val="FFFFFF"/>
                      </a:solidFill>
                      <a:prstDash val="solid"/>
                      <a:round/>
                      <a:headEnd type="none" w="med" len="med"/>
                      <a:tailEnd type="none" w="med" len="med"/>
                    </a:lnL>
                    <a:lnR w="6350" cap="flat" cmpd="sng" algn="ctr">
                      <a:solidFill>
                        <a:srgbClr val="08312A"/>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8312A"/>
                      </a:solidFill>
                      <a:prstDash val="solid"/>
                      <a:round/>
                      <a:headEnd type="none" w="med" len="med"/>
                      <a:tailEnd type="none" w="med" len="med"/>
                    </a:lnB>
                    <a:solidFill>
                      <a:srgbClr val="F5CDB9"/>
                    </a:solidFill>
                  </a:tcPr>
                </a:tc>
                <a:extLst>
                  <a:ext uri="{0D108BD9-81ED-4DB2-BD59-A6C34878D82A}">
                    <a16:rowId xmlns:a16="http://schemas.microsoft.com/office/drawing/2014/main" val="3190886284"/>
                  </a:ext>
                </a:extLst>
              </a:tr>
            </a:tbl>
          </a:graphicData>
        </a:graphic>
      </p:graphicFrame>
    </p:spTree>
    <p:extLst>
      <p:ext uri="{BB962C8B-B14F-4D97-AF65-F5344CB8AC3E}">
        <p14:creationId xmlns:p14="http://schemas.microsoft.com/office/powerpoint/2010/main" val="230076472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771A3B27-F4D2-1D12-04FA-CF653CD242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2" imgW="404" imgH="405" progId="TCLayout.ActiveDocument.1">
                  <p:embed/>
                </p:oleObj>
              </mc:Choice>
              <mc:Fallback>
                <p:oleObj name="think-cell 幻灯片" r:id="rId32" imgW="404" imgH="405" progId="TCLayout.ActiveDocument.1">
                  <p:embed/>
                  <p:pic>
                    <p:nvPicPr>
                      <p:cNvPr id="30" name="think-cell data - do not delete" hidden="1">
                        <a:extLst>
                          <a:ext uri="{FF2B5EF4-FFF2-40B4-BE49-F238E27FC236}">
                            <a16:creationId xmlns:a16="http://schemas.microsoft.com/office/drawing/2014/main" id="{771A3B27-F4D2-1D12-04FA-CF653CD242A0}"/>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157" name="Rectangle 156">
            <a:extLst>
              <a:ext uri="{FF2B5EF4-FFF2-40B4-BE49-F238E27FC236}">
                <a16:creationId xmlns:a16="http://schemas.microsoft.com/office/drawing/2014/main" id="{83AE17D1-044B-4E09-A946-5D7AB7449FC4}"/>
              </a:ext>
            </a:extLst>
          </p:cNvPr>
          <p:cNvSpPr/>
          <p:nvPr/>
        </p:nvSpPr>
        <p:spPr>
          <a:xfrm>
            <a:off x="377560" y="4247165"/>
            <a:ext cx="544797" cy="256032"/>
          </a:xfrm>
          <a:prstGeom prst="rect">
            <a:avLst/>
          </a:prstGeom>
          <a:solidFill>
            <a:schemeClr val="accent1">
              <a:lumMod val="40000"/>
              <a:lumOff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914242" rtl="0" eaLnBrk="0" fontAlgn="base" latinLnBrk="0" hangingPunct="0">
              <a:lnSpc>
                <a:spcPct val="100000"/>
              </a:lnSpc>
              <a:spcBef>
                <a:spcPct val="0"/>
              </a:spcBef>
              <a:spcAft>
                <a:spcPct val="0"/>
              </a:spcAft>
              <a:buClrTx/>
              <a:buSzTx/>
              <a:buFontTx/>
              <a:buNone/>
              <a:tabLst/>
              <a:defRPr/>
            </a:pPr>
            <a:r>
              <a:rPr kumimoji="0" lang="en-US" altLang="zh-CN" sz="600" b="1" i="0" u="none" strike="noStrike" kern="1200" cap="none" spc="0" normalizeH="0" baseline="0" noProof="0">
                <a:ln>
                  <a:noFill/>
                </a:ln>
                <a:solidFill>
                  <a:srgbClr val="000000"/>
                </a:solidFill>
                <a:effectLst/>
                <a:uLnTx/>
                <a:uFillTx/>
                <a:latin typeface="BISansCond"/>
                <a:ea typeface="+mn-ea"/>
                <a:cs typeface="+mn-cs"/>
              </a:rPr>
              <a:t>Pre-IND 3m for written response</a:t>
            </a:r>
            <a:endParaRPr kumimoji="0" lang="zh-CN" altLang="en-US" sz="600" b="1" i="0" u="none" strike="noStrike" kern="1200" cap="none" spc="0" normalizeH="0" baseline="0" noProof="0">
              <a:ln>
                <a:noFill/>
              </a:ln>
              <a:solidFill>
                <a:srgbClr val="000000"/>
              </a:solidFill>
              <a:effectLst/>
              <a:uLnTx/>
              <a:uFillTx/>
              <a:latin typeface="BISansCond"/>
              <a:ea typeface="+mn-ea"/>
              <a:cs typeface="+mn-cs"/>
            </a:endParaRPr>
          </a:p>
        </p:txBody>
      </p:sp>
      <p:sp>
        <p:nvSpPr>
          <p:cNvPr id="3" name="Title 2"/>
          <p:cNvSpPr>
            <a:spLocks noGrp="1"/>
          </p:cNvSpPr>
          <p:nvPr>
            <p:ph type="title"/>
          </p:nvPr>
        </p:nvSpPr>
        <p:spPr>
          <a:xfrm>
            <a:off x="479433" y="140529"/>
            <a:ext cx="11233151" cy="720000"/>
          </a:xfrm>
        </p:spPr>
        <p:txBody>
          <a:bodyPr vert="horz">
            <a:noAutofit/>
          </a:bodyPr>
          <a:lstStyle/>
          <a:p>
            <a:r>
              <a:rPr lang="en-US" sz="2667" u="sng">
                <a:latin typeface="Calibri" panose="020F0502020204030204" pitchFamily="34" charset="0"/>
                <a:cs typeface="Calibri" panose="020F0502020204030204" pitchFamily="34" charset="0"/>
              </a:rPr>
              <a:t>Terminated:</a:t>
            </a:r>
            <a:br>
              <a:rPr lang="en-US" sz="2667">
                <a:latin typeface="Calibri" panose="020F0502020204030204" pitchFamily="34" charset="0"/>
                <a:cs typeface="Calibri" panose="020F0502020204030204" pitchFamily="34" charset="0"/>
              </a:rPr>
            </a:br>
            <a:r>
              <a:rPr lang="en-US" sz="2667">
                <a:latin typeface="Calibri" panose="020F0502020204030204" pitchFamily="34" charset="0"/>
                <a:cs typeface="Calibri" panose="020F0502020204030204" pitchFamily="34" charset="0"/>
              </a:rPr>
              <a:t>BI 1839100 (TR</a:t>
            </a:r>
            <a:r>
              <a:rPr lang="en-US" altLang="zh-CN" sz="2667">
                <a:latin typeface="Calibri" panose="020F0502020204030204" pitchFamily="34" charset="0"/>
                <a:cs typeface="Calibri" panose="020F0502020204030204" pitchFamily="34" charset="0"/>
              </a:rPr>
              <a:t>PA</a:t>
            </a:r>
            <a:r>
              <a:rPr lang="en-US" sz="2667">
                <a:latin typeface="Calibri" panose="020F0502020204030204" pitchFamily="34" charset="0"/>
                <a:cs typeface="Calibri" panose="020F0502020204030204" pitchFamily="34" charset="0"/>
              </a:rPr>
              <a:t>-1 antagonist): IPF/ PPF Cough</a:t>
            </a:r>
          </a:p>
        </p:txBody>
      </p:sp>
      <p:sp>
        <p:nvSpPr>
          <p:cNvPr id="9" name="灯片编号占位符 8"/>
          <p:cNvSpPr>
            <a:spLocks noGrp="1"/>
          </p:cNvSpPr>
          <p:nvPr>
            <p:ph type="sldNum" sz="quarter" idx="20"/>
          </p:nvPr>
        </p:nvSpPr>
        <p:spPr/>
        <p:txBody>
          <a:bodyPr/>
          <a:lstStyle/>
          <a:p>
            <a:pPr marL="0" marR="0" lvl="0" indent="0" algn="r" defTabSz="121902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000" b="0" i="0" u="none" strike="noStrike" kern="1200" cap="none" spc="0" normalizeH="0" baseline="0" noProof="0">
                <a:ln>
                  <a:noFill/>
                </a:ln>
                <a:solidFill>
                  <a:srgbClr val="FFFFFF">
                    <a:lumMod val="50000"/>
                  </a:srgbClr>
                </a:solidFill>
                <a:effectLst/>
                <a:uLnTx/>
                <a:uFillTx/>
                <a:latin typeface="BISansCond" panose="02000006050000020004" pitchFamily="2" charset="0"/>
                <a:ea typeface="+mn-ea"/>
                <a:cs typeface="+mn-cs"/>
              </a:rPr>
              <a:pPr marL="0" marR="0" lvl="0" indent="0" algn="r" defTabSz="1219020" rtl="0" eaLnBrk="1" fontAlgn="auto" latinLnBrk="0" hangingPunct="1">
                <a:lnSpc>
                  <a:spcPct val="100000"/>
                </a:lnSpc>
                <a:spcBef>
                  <a:spcPts val="0"/>
                </a:spcBef>
                <a:spcAft>
                  <a:spcPts val="0"/>
                </a:spcAft>
                <a:buClrTx/>
                <a:buSzTx/>
                <a:buFontTx/>
                <a:buNone/>
                <a:tabLst/>
                <a:defRPr/>
              </a:pPr>
              <a:t>61</a:t>
            </a:fld>
            <a:endParaRPr kumimoji="0" lang="en-GB" sz="1000" b="0" i="0" u="none" strike="noStrike" kern="1200" cap="none" spc="0" normalizeH="0" baseline="0" noProof="0">
              <a:ln>
                <a:noFill/>
              </a:ln>
              <a:solidFill>
                <a:srgbClr val="FFFFFF">
                  <a:lumMod val="50000"/>
                </a:srgbClr>
              </a:solidFill>
              <a:effectLst/>
              <a:uLnTx/>
              <a:uFillTx/>
              <a:latin typeface="BISansCond" panose="02000006050000020004" pitchFamily="2" charset="0"/>
              <a:ea typeface="+mn-ea"/>
              <a:cs typeface="+mn-cs"/>
            </a:endParaRPr>
          </a:p>
        </p:txBody>
      </p:sp>
      <p:cxnSp>
        <p:nvCxnSpPr>
          <p:cNvPr id="72" name="Straight Connector 71">
            <a:extLst>
              <a:ext uri="{FF2B5EF4-FFF2-40B4-BE49-F238E27FC236}">
                <a16:creationId xmlns:a16="http://schemas.microsoft.com/office/drawing/2014/main" id="{9C165100-0114-4167-8FF0-BFF01B293D04}"/>
              </a:ext>
            </a:extLst>
          </p:cNvPr>
          <p:cNvCxnSpPr>
            <a:cxnSpLocks/>
          </p:cNvCxnSpPr>
          <p:nvPr/>
        </p:nvCxnSpPr>
        <p:spPr bwMode="auto">
          <a:xfrm flipH="1">
            <a:off x="490430" y="3732233"/>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116" name="Table 115">
            <a:extLst>
              <a:ext uri="{FF2B5EF4-FFF2-40B4-BE49-F238E27FC236}">
                <a16:creationId xmlns:a16="http://schemas.microsoft.com/office/drawing/2014/main" id="{EB1832F7-86BE-4DEE-91F1-447638E4A957}"/>
              </a:ext>
            </a:extLst>
          </p:cNvPr>
          <p:cNvGraphicFramePr>
            <a:graphicFrameLocks noGrp="1"/>
          </p:cNvGraphicFramePr>
          <p:nvPr/>
        </p:nvGraphicFramePr>
        <p:xfrm>
          <a:off x="205597" y="996505"/>
          <a:ext cx="11694624" cy="685800"/>
        </p:xfrm>
        <a:graphic>
          <a:graphicData uri="http://schemas.openxmlformats.org/drawingml/2006/table">
            <a:tbl>
              <a:tblPr firstRow="1" bandRow="1"/>
              <a:tblGrid>
                <a:gridCol w="487276">
                  <a:extLst>
                    <a:ext uri="{9D8B030D-6E8A-4147-A177-3AD203B41FA5}">
                      <a16:colId xmlns:a16="http://schemas.microsoft.com/office/drawing/2014/main" val="1107610970"/>
                    </a:ext>
                  </a:extLst>
                </a:gridCol>
                <a:gridCol w="487276">
                  <a:extLst>
                    <a:ext uri="{9D8B030D-6E8A-4147-A177-3AD203B41FA5}">
                      <a16:colId xmlns:a16="http://schemas.microsoft.com/office/drawing/2014/main" val="2027925426"/>
                    </a:ext>
                  </a:extLst>
                </a:gridCol>
                <a:gridCol w="487276">
                  <a:extLst>
                    <a:ext uri="{9D8B030D-6E8A-4147-A177-3AD203B41FA5}">
                      <a16:colId xmlns:a16="http://schemas.microsoft.com/office/drawing/2014/main" val="344046683"/>
                    </a:ext>
                  </a:extLst>
                </a:gridCol>
                <a:gridCol w="487276">
                  <a:extLst>
                    <a:ext uri="{9D8B030D-6E8A-4147-A177-3AD203B41FA5}">
                      <a16:colId xmlns:a16="http://schemas.microsoft.com/office/drawing/2014/main" val="1823529313"/>
                    </a:ext>
                  </a:extLst>
                </a:gridCol>
                <a:gridCol w="487276">
                  <a:extLst>
                    <a:ext uri="{9D8B030D-6E8A-4147-A177-3AD203B41FA5}">
                      <a16:colId xmlns:a16="http://schemas.microsoft.com/office/drawing/2014/main" val="3091663135"/>
                    </a:ext>
                  </a:extLst>
                </a:gridCol>
                <a:gridCol w="487276">
                  <a:extLst>
                    <a:ext uri="{9D8B030D-6E8A-4147-A177-3AD203B41FA5}">
                      <a16:colId xmlns:a16="http://schemas.microsoft.com/office/drawing/2014/main" val="2003423086"/>
                    </a:ext>
                  </a:extLst>
                </a:gridCol>
                <a:gridCol w="487276">
                  <a:extLst>
                    <a:ext uri="{9D8B030D-6E8A-4147-A177-3AD203B41FA5}">
                      <a16:colId xmlns:a16="http://schemas.microsoft.com/office/drawing/2014/main" val="2466911814"/>
                    </a:ext>
                  </a:extLst>
                </a:gridCol>
                <a:gridCol w="487276">
                  <a:extLst>
                    <a:ext uri="{9D8B030D-6E8A-4147-A177-3AD203B41FA5}">
                      <a16:colId xmlns:a16="http://schemas.microsoft.com/office/drawing/2014/main" val="3023231563"/>
                    </a:ext>
                  </a:extLst>
                </a:gridCol>
                <a:gridCol w="487276">
                  <a:extLst>
                    <a:ext uri="{9D8B030D-6E8A-4147-A177-3AD203B41FA5}">
                      <a16:colId xmlns:a16="http://schemas.microsoft.com/office/drawing/2014/main" val="3411862845"/>
                    </a:ext>
                  </a:extLst>
                </a:gridCol>
                <a:gridCol w="487276">
                  <a:extLst>
                    <a:ext uri="{9D8B030D-6E8A-4147-A177-3AD203B41FA5}">
                      <a16:colId xmlns:a16="http://schemas.microsoft.com/office/drawing/2014/main" val="2851474774"/>
                    </a:ext>
                  </a:extLst>
                </a:gridCol>
                <a:gridCol w="487276">
                  <a:extLst>
                    <a:ext uri="{9D8B030D-6E8A-4147-A177-3AD203B41FA5}">
                      <a16:colId xmlns:a16="http://schemas.microsoft.com/office/drawing/2014/main" val="107595344"/>
                    </a:ext>
                  </a:extLst>
                </a:gridCol>
                <a:gridCol w="487276">
                  <a:extLst>
                    <a:ext uri="{9D8B030D-6E8A-4147-A177-3AD203B41FA5}">
                      <a16:colId xmlns:a16="http://schemas.microsoft.com/office/drawing/2014/main" val="1666999431"/>
                    </a:ext>
                  </a:extLst>
                </a:gridCol>
                <a:gridCol w="487276">
                  <a:extLst>
                    <a:ext uri="{9D8B030D-6E8A-4147-A177-3AD203B41FA5}">
                      <a16:colId xmlns:a16="http://schemas.microsoft.com/office/drawing/2014/main" val="3696607442"/>
                    </a:ext>
                  </a:extLst>
                </a:gridCol>
                <a:gridCol w="487276">
                  <a:extLst>
                    <a:ext uri="{9D8B030D-6E8A-4147-A177-3AD203B41FA5}">
                      <a16:colId xmlns:a16="http://schemas.microsoft.com/office/drawing/2014/main" val="223989776"/>
                    </a:ext>
                  </a:extLst>
                </a:gridCol>
                <a:gridCol w="487276">
                  <a:extLst>
                    <a:ext uri="{9D8B030D-6E8A-4147-A177-3AD203B41FA5}">
                      <a16:colId xmlns:a16="http://schemas.microsoft.com/office/drawing/2014/main" val="124731204"/>
                    </a:ext>
                  </a:extLst>
                </a:gridCol>
                <a:gridCol w="487276">
                  <a:extLst>
                    <a:ext uri="{9D8B030D-6E8A-4147-A177-3AD203B41FA5}">
                      <a16:colId xmlns:a16="http://schemas.microsoft.com/office/drawing/2014/main" val="3066978585"/>
                    </a:ext>
                  </a:extLst>
                </a:gridCol>
                <a:gridCol w="487276">
                  <a:extLst>
                    <a:ext uri="{9D8B030D-6E8A-4147-A177-3AD203B41FA5}">
                      <a16:colId xmlns:a16="http://schemas.microsoft.com/office/drawing/2014/main" val="1064917641"/>
                    </a:ext>
                  </a:extLst>
                </a:gridCol>
                <a:gridCol w="487276">
                  <a:extLst>
                    <a:ext uri="{9D8B030D-6E8A-4147-A177-3AD203B41FA5}">
                      <a16:colId xmlns:a16="http://schemas.microsoft.com/office/drawing/2014/main" val="4221117315"/>
                    </a:ext>
                  </a:extLst>
                </a:gridCol>
                <a:gridCol w="487276">
                  <a:extLst>
                    <a:ext uri="{9D8B030D-6E8A-4147-A177-3AD203B41FA5}">
                      <a16:colId xmlns:a16="http://schemas.microsoft.com/office/drawing/2014/main" val="3266065341"/>
                    </a:ext>
                  </a:extLst>
                </a:gridCol>
                <a:gridCol w="487276">
                  <a:extLst>
                    <a:ext uri="{9D8B030D-6E8A-4147-A177-3AD203B41FA5}">
                      <a16:colId xmlns:a16="http://schemas.microsoft.com/office/drawing/2014/main" val="2374051224"/>
                    </a:ext>
                  </a:extLst>
                </a:gridCol>
                <a:gridCol w="487276">
                  <a:extLst>
                    <a:ext uri="{9D8B030D-6E8A-4147-A177-3AD203B41FA5}">
                      <a16:colId xmlns:a16="http://schemas.microsoft.com/office/drawing/2014/main" val="1840388365"/>
                    </a:ext>
                  </a:extLst>
                </a:gridCol>
                <a:gridCol w="487276">
                  <a:extLst>
                    <a:ext uri="{9D8B030D-6E8A-4147-A177-3AD203B41FA5}">
                      <a16:colId xmlns:a16="http://schemas.microsoft.com/office/drawing/2014/main" val="267750830"/>
                    </a:ext>
                  </a:extLst>
                </a:gridCol>
                <a:gridCol w="487276">
                  <a:extLst>
                    <a:ext uri="{9D8B030D-6E8A-4147-A177-3AD203B41FA5}">
                      <a16:colId xmlns:a16="http://schemas.microsoft.com/office/drawing/2014/main" val="3966469970"/>
                    </a:ext>
                  </a:extLst>
                </a:gridCol>
                <a:gridCol w="487276">
                  <a:extLst>
                    <a:ext uri="{9D8B030D-6E8A-4147-A177-3AD203B41FA5}">
                      <a16:colId xmlns:a16="http://schemas.microsoft.com/office/drawing/2014/main" val="2522973146"/>
                    </a:ext>
                  </a:extLst>
                </a:gridCol>
              </a:tblGrid>
              <a:tr h="259080">
                <a:tc gridSpan="2">
                  <a:txBody>
                    <a:bodyPr/>
                    <a:lstStyle/>
                    <a:p>
                      <a:pPr algn="ctr"/>
                      <a:r>
                        <a:rPr lang="en-US" altLang="zh-CN" sz="1100" b="1">
                          <a:solidFill>
                            <a:schemeClr val="bg1"/>
                          </a:solidFill>
                          <a:latin typeface="Arial"/>
                          <a:cs typeface="Arial"/>
                        </a:rPr>
                        <a:t>2023</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2024</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2025</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2026</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2027             2028</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2029</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bg1"/>
                          </a:solidFill>
                          <a:latin typeface="Arial"/>
                          <a:ea typeface="+mn-ea"/>
                          <a:cs typeface="Arial"/>
                        </a:rPr>
                        <a:t>2030</a:t>
                      </a:r>
                      <a:endParaRPr lang="zh-CN" altLang="en-US" sz="1100" b="1" kern="1200">
                        <a:solidFill>
                          <a:schemeClr val="bg1"/>
                        </a:solidFill>
                        <a:latin typeface="Arial"/>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p>
                      <a:pPr algn="ctr"/>
                      <a:r>
                        <a:rPr lang="en-US" altLang="zh-CN" sz="1100" b="1">
                          <a:solidFill>
                            <a:srgbClr val="000000"/>
                          </a:solidFill>
                          <a:latin typeface="Arial"/>
                          <a:cs typeface="Arial"/>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H1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H2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H1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H2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rgbClr val="000000"/>
                          </a:solidFill>
                          <a:latin typeface="Arial"/>
                          <a:ea typeface="+mn-ea"/>
                          <a:cs typeface="Arial"/>
                        </a:rPr>
                        <a:t>Q1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rgbClr val="000000"/>
                          </a:solidFill>
                          <a:latin typeface="Arial"/>
                          <a:ea typeface="+mn-ea"/>
                          <a:cs typeface="Arial"/>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17" name="Isosceles Triangle 116"/>
          <p:cNvSpPr/>
          <p:nvPr/>
        </p:nvSpPr>
        <p:spPr>
          <a:xfrm rot="16200000" flipH="1">
            <a:off x="-232269" y="1167500"/>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Cond"/>
              <a:ea typeface="+mn-ea"/>
              <a:cs typeface="+mn-cs"/>
            </a:endParaRPr>
          </a:p>
        </p:txBody>
      </p:sp>
      <p:sp>
        <p:nvSpPr>
          <p:cNvPr id="118" name="Isosceles Triangle 117"/>
          <p:cNvSpPr/>
          <p:nvPr/>
        </p:nvSpPr>
        <p:spPr>
          <a:xfrm rot="5400000">
            <a:off x="11736952" y="1209384"/>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Cond"/>
              <a:ea typeface="+mn-ea"/>
              <a:cs typeface="+mn-cs"/>
            </a:endParaRPr>
          </a:p>
        </p:txBody>
      </p:sp>
      <p:sp>
        <p:nvSpPr>
          <p:cNvPr id="53" name="OTLSHAPE_T_e17f3958430f4cff8650518c93c7635e_Shape">
            <a:extLst>
              <a:ext uri="{FF2B5EF4-FFF2-40B4-BE49-F238E27FC236}">
                <a16:creationId xmlns:a16="http://schemas.microsoft.com/office/drawing/2014/main" id="{B4E8BEE0-0EB3-40D8-9AA2-B2BC6D502A8C}"/>
              </a:ext>
            </a:extLst>
          </p:cNvPr>
          <p:cNvSpPr/>
          <p:nvPr>
            <p:custDataLst>
              <p:tags r:id="rId2"/>
            </p:custDataLst>
          </p:nvPr>
        </p:nvSpPr>
        <p:spPr bwMode="auto">
          <a:xfrm>
            <a:off x="2448737" y="2310188"/>
            <a:ext cx="1654188" cy="30215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2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Ph2a IPF cohort N=180</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0" name="Rectangle 69"/>
          <p:cNvSpPr/>
          <p:nvPr/>
        </p:nvSpPr>
        <p:spPr>
          <a:xfrm>
            <a:off x="2279527" y="2617465"/>
            <a:ext cx="365805" cy="246221"/>
          </a:xfrm>
          <a:prstGeom prst="rect">
            <a:avLst/>
          </a:prstGeom>
        </p:spPr>
        <p:txBody>
          <a:bodyPr wrap="none">
            <a:spAutoFit/>
          </a:bodyPr>
          <a:lstStyle/>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1" name="Star: 4 Points 143">
            <a:extLst>
              <a:ext uri="{FF2B5EF4-FFF2-40B4-BE49-F238E27FC236}">
                <a16:creationId xmlns:a16="http://schemas.microsoft.com/office/drawing/2014/main" id="{B361C849-6669-4EC4-A9AD-EB1BCC463147}"/>
              </a:ext>
            </a:extLst>
          </p:cNvPr>
          <p:cNvSpPr/>
          <p:nvPr/>
        </p:nvSpPr>
        <p:spPr bwMode="auto">
          <a:xfrm>
            <a:off x="2352877" y="249581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6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83" name="OTLSHAPE_T_5a934a26f311425e8ebaa0f45e6533ad_Shape">
            <a:extLst>
              <a:ext uri="{FF2B5EF4-FFF2-40B4-BE49-F238E27FC236}">
                <a16:creationId xmlns:a16="http://schemas.microsoft.com/office/drawing/2014/main" id="{A1E70551-578A-4B35-ACAC-04BA6E603952}"/>
              </a:ext>
            </a:extLst>
          </p:cNvPr>
          <p:cNvSpPr/>
          <p:nvPr/>
        </p:nvSpPr>
        <p:spPr bwMode="auto">
          <a:xfrm>
            <a:off x="7308419" y="3253336"/>
            <a:ext cx="4095400" cy="292612"/>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2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in PF-ILD</a:t>
            </a:r>
          </a:p>
        </p:txBody>
      </p:sp>
      <p:sp>
        <p:nvSpPr>
          <p:cNvPr id="88" name="OTLSHAPE_T_e17f3958430f4cff8650518c93c7635e_StartDate">
            <a:extLst>
              <a:ext uri="{FF2B5EF4-FFF2-40B4-BE49-F238E27FC236}">
                <a16:creationId xmlns:a16="http://schemas.microsoft.com/office/drawing/2014/main" id="{9224C17E-1AA1-4096-A3FD-25D6FD8BA444}"/>
              </a:ext>
            </a:extLst>
          </p:cNvPr>
          <p:cNvSpPr txBox="1"/>
          <p:nvPr>
            <p:custDataLst>
              <p:tags r:id="rId3"/>
            </p:custDataLst>
          </p:nvPr>
        </p:nvSpPr>
        <p:spPr>
          <a:xfrm>
            <a:off x="7066001" y="2954075"/>
            <a:ext cx="800219" cy="235898"/>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FSS </a:t>
            </a:r>
            <a:r>
              <a:rPr lang="en-US" altLang="zh-CN" sz="933">
                <a:solidFill>
                  <a:prstClr val="black"/>
                </a:solidFill>
              </a:rPr>
              <a:t>Jul</a:t>
            </a:r>
            <a:r>
              <a:rPr kumimoji="0" lang="en-US" altLang="zh-CN"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 2027</a:t>
            </a:r>
            <a:endParaRPr kumimoji="0" lang="zh-CN" altLang="en-US"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78579" y="1474809"/>
            <a:ext cx="1138019" cy="560880"/>
          </a:xfrm>
          <a:prstGeom prst="rect">
            <a:avLst/>
          </a:prstGeom>
        </p:spPr>
      </p:pic>
      <p:pic>
        <p:nvPicPr>
          <p:cNvPr id="4" name="Picture 3"/>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148162" y="3675240"/>
            <a:ext cx="1138019" cy="560880"/>
          </a:xfrm>
          <a:prstGeom prst="rect">
            <a:avLst/>
          </a:prstGeom>
        </p:spPr>
      </p:pic>
      <p:pic>
        <p:nvPicPr>
          <p:cNvPr id="57" name="Picture 56" descr="Traffic light - Simple English Wikipedia, the free ..."/>
          <p:cNvPicPr>
            <a:picLocks noChangeAspect="1"/>
          </p:cNvPicPr>
          <p:nvPr/>
        </p:nvPicPr>
        <p:blipFill rotWithShape="1">
          <a:blip r:embed="rId36" cstate="print">
            <a:extLst>
              <a:ext uri="{28A0092B-C50C-407E-A947-70E740481C1C}">
                <a14:useLocalDpi xmlns:a14="http://schemas.microsoft.com/office/drawing/2010/main"/>
              </a:ext>
            </a:extLst>
          </a:blip>
          <a:srcRect/>
          <a:stretch/>
        </p:blipFill>
        <p:spPr>
          <a:xfrm rot="16200000" flipV="1">
            <a:off x="11042673" y="-606153"/>
            <a:ext cx="698504" cy="1726513"/>
          </a:xfrm>
          <a:prstGeom prst="rect">
            <a:avLst/>
          </a:prstGeom>
        </p:spPr>
      </p:pic>
      <p:sp>
        <p:nvSpPr>
          <p:cNvPr id="44" name="5-Point Star 5">
            <a:extLst>
              <a:ext uri="{FF2B5EF4-FFF2-40B4-BE49-F238E27FC236}">
                <a16:creationId xmlns:a16="http://schemas.microsoft.com/office/drawing/2014/main" id="{7330BA15-80DC-4E83-B36A-86FF92C02942}"/>
              </a:ext>
            </a:extLst>
          </p:cNvPr>
          <p:cNvSpPr/>
          <p:nvPr/>
        </p:nvSpPr>
        <p:spPr>
          <a:xfrm>
            <a:off x="4369553" y="2127477"/>
            <a:ext cx="92504" cy="116024"/>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60" name="5-Point Star 5">
            <a:extLst>
              <a:ext uri="{FF2B5EF4-FFF2-40B4-BE49-F238E27FC236}">
                <a16:creationId xmlns:a16="http://schemas.microsoft.com/office/drawing/2014/main" id="{483FC877-8C65-4FBB-8C5D-A8342A749CC1}"/>
              </a:ext>
            </a:extLst>
          </p:cNvPr>
          <p:cNvSpPr/>
          <p:nvPr/>
        </p:nvSpPr>
        <p:spPr>
          <a:xfrm>
            <a:off x="11241282" y="3354225"/>
            <a:ext cx="100636" cy="90181"/>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98" name="5-Point Star 5">
            <a:extLst>
              <a:ext uri="{FF2B5EF4-FFF2-40B4-BE49-F238E27FC236}">
                <a16:creationId xmlns:a16="http://schemas.microsoft.com/office/drawing/2014/main" id="{E9CDEBE6-1B98-49B0-BB3E-4E4742B94638}"/>
              </a:ext>
            </a:extLst>
          </p:cNvPr>
          <p:cNvSpPr/>
          <p:nvPr/>
        </p:nvSpPr>
        <p:spPr>
          <a:xfrm>
            <a:off x="6983175" y="3274153"/>
            <a:ext cx="154005" cy="160143"/>
          </a:xfrm>
          <a:prstGeom prst="star5">
            <a:avLst/>
          </a:prstGeom>
          <a:solidFill>
            <a:schemeClr val="accent5">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99" name="OTLSHAPE_T_e17f3958430f4cff8650518c93c7635e_StartDate">
            <a:extLst>
              <a:ext uri="{FF2B5EF4-FFF2-40B4-BE49-F238E27FC236}">
                <a16:creationId xmlns:a16="http://schemas.microsoft.com/office/drawing/2014/main" id="{60F985A7-AFE4-4927-9447-634719D10FAA}"/>
              </a:ext>
            </a:extLst>
          </p:cNvPr>
          <p:cNvSpPr txBox="1"/>
          <p:nvPr>
            <p:custDataLst>
              <p:tags r:id="rId4"/>
            </p:custDataLst>
          </p:nvPr>
        </p:nvSpPr>
        <p:spPr>
          <a:xfrm>
            <a:off x="6576943" y="3423377"/>
            <a:ext cx="696023" cy="400110"/>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 sub</a:t>
            </a:r>
          </a:p>
          <a:p>
            <a:pPr marL="0" marR="0" lvl="0" indent="0" algn="ctr" defTabSz="1218960" rtl="0" eaLnBrk="1" fontAlgn="auto" latinLnBrk="0" hangingPunct="1">
              <a:lnSpc>
                <a:spcPct val="100000"/>
              </a:lnSpc>
              <a:spcBef>
                <a:spcPts val="0"/>
              </a:spcBef>
              <a:spcAft>
                <a:spcPts val="0"/>
              </a:spcAft>
              <a:buClrTx/>
              <a:buSzTx/>
              <a:buFontTx/>
              <a:buNone/>
              <a:tabLst/>
              <a:defRPr/>
            </a:pPr>
            <a:r>
              <a:rPr lang="en-US" altLang="zh-CN" sz="1000">
                <a:solidFill>
                  <a:prstClr val="black"/>
                </a:solidFill>
              </a:rPr>
              <a:t>Mar</a:t>
            </a:r>
            <a:r>
              <a:rPr kumimoji="0" lang="en-US" altLang="zh-CN" sz="10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 2026</a:t>
            </a:r>
            <a:endParaRPr kumimoji="0" lang="zh-CN" altLang="en-US" sz="10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TextBox 5">
            <a:extLst>
              <a:ext uri="{FF2B5EF4-FFF2-40B4-BE49-F238E27FC236}">
                <a16:creationId xmlns:a16="http://schemas.microsoft.com/office/drawing/2014/main" id="{25E9B149-D572-4CFE-AEEE-BB1C81F2D0A9}"/>
              </a:ext>
            </a:extLst>
          </p:cNvPr>
          <p:cNvSpPr txBox="1"/>
          <p:nvPr/>
        </p:nvSpPr>
        <p:spPr>
          <a:xfrm>
            <a:off x="1803888" y="5706851"/>
            <a:ext cx="2374625" cy="861390"/>
          </a:xfrm>
          <a:prstGeom prst="rect">
            <a:avLst/>
          </a:prstGeom>
          <a:noFill/>
        </p:spPr>
        <p:txBody>
          <a:bodyPr wrap="square" lIns="0" tIns="0" rIns="0" bIns="0" rtlCol="0">
            <a:spAutoFit/>
          </a:bodyPr>
          <a:lstStyle/>
          <a:p>
            <a:pPr marL="0" marR="0" lvl="0" indent="0" algn="l" defTabSz="121902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000000"/>
                </a:solidFill>
                <a:effectLst/>
                <a:uLnTx/>
                <a:uFillTx/>
                <a:latin typeface="BISansCond"/>
                <a:ea typeface="+mn-ea"/>
                <a:cs typeface="+mn-cs"/>
              </a:rPr>
              <a:t>FSS: First subject Screen</a:t>
            </a:r>
          </a:p>
          <a:p>
            <a:pPr marL="0" marR="0" lvl="0" indent="0" algn="l" defTabSz="121902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000000"/>
                </a:solidFill>
                <a:effectLst/>
                <a:uLnTx/>
                <a:uFillTx/>
                <a:latin typeface="BISansCond"/>
                <a:ea typeface="+mn-ea"/>
                <a:cs typeface="+mn-cs"/>
              </a:rPr>
              <a:t>LSC: Last Subject complete</a:t>
            </a:r>
          </a:p>
          <a:p>
            <a:pPr marL="0" marR="0" lvl="0" indent="0" algn="l" defTabSz="121902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000000"/>
                </a:solidFill>
                <a:effectLst/>
                <a:uLnTx/>
                <a:uFillTx/>
                <a:latin typeface="BISansCond"/>
                <a:ea typeface="+mn-ea"/>
                <a:cs typeface="+mn-cs"/>
              </a:rPr>
              <a:t>LSR: Last subject randomization</a:t>
            </a:r>
          </a:p>
          <a:p>
            <a:pPr marL="0" marR="0" lvl="0" indent="0" algn="l" defTabSz="121902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000000"/>
                </a:solidFill>
                <a:effectLst/>
                <a:uLnTx/>
                <a:uFillTx/>
                <a:latin typeface="BISansCond"/>
                <a:ea typeface="+mn-ea"/>
                <a:cs typeface="+mn-cs"/>
              </a:rPr>
              <a:t>SQV: Site qualification visit</a:t>
            </a:r>
          </a:p>
          <a:p>
            <a:pPr marL="0" marR="0" lvl="0" indent="0" algn="l" defTabSz="121902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000000"/>
                </a:solidFill>
                <a:effectLst/>
                <a:uLnTx/>
                <a:uFillTx/>
                <a:latin typeface="BISansCond"/>
                <a:ea typeface="+mn-ea"/>
                <a:cs typeface="+mn-cs"/>
              </a:rPr>
              <a:t>AEP: Asset evidence plan</a:t>
            </a:r>
          </a:p>
          <a:p>
            <a:pPr marL="0" marR="0" lvl="0" indent="0" algn="l" defTabSz="121902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000000"/>
                </a:solidFill>
                <a:effectLst/>
                <a:uLnTx/>
                <a:uFillTx/>
                <a:latin typeface="BISansCond"/>
                <a:ea typeface="+mn-ea"/>
                <a:cs typeface="+mn-cs"/>
              </a:rPr>
              <a:t>HAI: Health authority interaction</a:t>
            </a:r>
          </a:p>
        </p:txBody>
      </p:sp>
      <p:sp>
        <p:nvSpPr>
          <p:cNvPr id="126" name="Star: 4 Points 143">
            <a:extLst>
              <a:ext uri="{FF2B5EF4-FFF2-40B4-BE49-F238E27FC236}">
                <a16:creationId xmlns:a16="http://schemas.microsoft.com/office/drawing/2014/main" id="{A2D9C789-D61C-4C00-A0BE-D5F7642EF81B}"/>
              </a:ext>
            </a:extLst>
          </p:cNvPr>
          <p:cNvSpPr/>
          <p:nvPr/>
        </p:nvSpPr>
        <p:spPr bwMode="auto">
          <a:xfrm>
            <a:off x="7232406" y="314518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6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5" name="OTLSHAPE_T_e17f3958430f4cff8650518c93c7635e_StartDate">
            <a:extLst>
              <a:ext uri="{FF2B5EF4-FFF2-40B4-BE49-F238E27FC236}">
                <a16:creationId xmlns:a16="http://schemas.microsoft.com/office/drawing/2014/main" id="{27E01833-72AF-477E-AE8F-2DD7F1F4B984}"/>
              </a:ext>
            </a:extLst>
          </p:cNvPr>
          <p:cNvSpPr txBox="1"/>
          <p:nvPr>
            <p:custDataLst>
              <p:tags r:id="rId5"/>
            </p:custDataLst>
          </p:nvPr>
        </p:nvSpPr>
        <p:spPr>
          <a:xfrm>
            <a:off x="10578903" y="3554442"/>
            <a:ext cx="1329237" cy="287130"/>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US NDA</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Oct 2030 </a:t>
            </a:r>
          </a:p>
        </p:txBody>
      </p:sp>
      <p:pic>
        <p:nvPicPr>
          <p:cNvPr id="136" name="Graphic 135" descr="Flag with solid fill">
            <a:extLst>
              <a:ext uri="{FF2B5EF4-FFF2-40B4-BE49-F238E27FC236}">
                <a16:creationId xmlns:a16="http://schemas.microsoft.com/office/drawing/2014/main" id="{5DF35124-76EA-48BC-A0C2-E6E910CE4843}"/>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2046579" y="3318443"/>
            <a:ext cx="194560" cy="194560"/>
          </a:xfrm>
          <a:prstGeom prst="rect">
            <a:avLst/>
          </a:prstGeom>
        </p:spPr>
      </p:pic>
      <p:sp>
        <p:nvSpPr>
          <p:cNvPr id="137" name="OTLSHAPE_T_e17f3958430f4cff8650518c93c7635e_StartDate">
            <a:extLst>
              <a:ext uri="{FF2B5EF4-FFF2-40B4-BE49-F238E27FC236}">
                <a16:creationId xmlns:a16="http://schemas.microsoft.com/office/drawing/2014/main" id="{1CA4D503-0497-424B-83B6-B28389852B8A}"/>
              </a:ext>
            </a:extLst>
          </p:cNvPr>
          <p:cNvSpPr txBox="1"/>
          <p:nvPr>
            <p:custDataLst>
              <p:tags r:id="rId6"/>
            </p:custDataLst>
          </p:nvPr>
        </p:nvSpPr>
        <p:spPr>
          <a:xfrm>
            <a:off x="11264790" y="3445103"/>
            <a:ext cx="1329237" cy="287130"/>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US Launch</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Oct 2031 </a:t>
            </a:r>
          </a:p>
        </p:txBody>
      </p:sp>
      <p:pic>
        <p:nvPicPr>
          <p:cNvPr id="176" name="Graphic 175" descr="Flag with solid fill">
            <a:extLst>
              <a:ext uri="{FF2B5EF4-FFF2-40B4-BE49-F238E27FC236}">
                <a16:creationId xmlns:a16="http://schemas.microsoft.com/office/drawing/2014/main" id="{87B94F19-31D5-482E-82CA-76656F8C4A0E}"/>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1988991" y="5109745"/>
            <a:ext cx="185831" cy="185831"/>
          </a:xfrm>
          <a:prstGeom prst="rect">
            <a:avLst/>
          </a:prstGeom>
        </p:spPr>
      </p:pic>
      <p:sp>
        <p:nvSpPr>
          <p:cNvPr id="131" name="OTLSHAPE_T_5a934a26f311425e8ebaa0f45e6533ad_Shape">
            <a:extLst>
              <a:ext uri="{FF2B5EF4-FFF2-40B4-BE49-F238E27FC236}">
                <a16:creationId xmlns:a16="http://schemas.microsoft.com/office/drawing/2014/main" id="{BA0DC681-A90C-4B81-9C59-C68D6D4ED922}"/>
              </a:ext>
            </a:extLst>
          </p:cNvPr>
          <p:cNvSpPr/>
          <p:nvPr/>
        </p:nvSpPr>
        <p:spPr bwMode="auto">
          <a:xfrm>
            <a:off x="4647661" y="2341046"/>
            <a:ext cx="1646907" cy="244612"/>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Ph2b IPF(180)</a:t>
            </a:r>
          </a:p>
        </p:txBody>
      </p:sp>
      <p:sp>
        <p:nvSpPr>
          <p:cNvPr id="132" name="OTLSHAPE_T_e17f3958430f4cff8650518c93c7635e_StartDate">
            <a:extLst>
              <a:ext uri="{FF2B5EF4-FFF2-40B4-BE49-F238E27FC236}">
                <a16:creationId xmlns:a16="http://schemas.microsoft.com/office/drawing/2014/main" id="{3C3CACA0-6719-4369-B7E3-DFDE8A562372}"/>
              </a:ext>
            </a:extLst>
          </p:cNvPr>
          <p:cNvSpPr txBox="1"/>
          <p:nvPr>
            <p:custDataLst>
              <p:tags r:id="rId7"/>
            </p:custDataLst>
          </p:nvPr>
        </p:nvSpPr>
        <p:spPr>
          <a:xfrm>
            <a:off x="1882440" y="1984524"/>
            <a:ext cx="643125" cy="235898"/>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pPr marL="0" marR="0" lvl="0" indent="0" algn="ctr" defTabSz="91431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Aug 2024</a:t>
            </a:r>
            <a:endParaRPr kumimoji="0" lang="zh-CN" altLang="en-US"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42" name="OTLSHAPE_T_e17f3958430f4cff8650518c93c7635e_Shape">
            <a:extLst>
              <a:ext uri="{FF2B5EF4-FFF2-40B4-BE49-F238E27FC236}">
                <a16:creationId xmlns:a16="http://schemas.microsoft.com/office/drawing/2014/main" id="{13BBD805-6B4E-49B8-8A28-7FC80412D5B3}"/>
              </a:ext>
            </a:extLst>
          </p:cNvPr>
          <p:cNvSpPr/>
          <p:nvPr>
            <p:custDataLst>
              <p:tags r:id="rId8"/>
            </p:custDataLst>
          </p:nvPr>
        </p:nvSpPr>
        <p:spPr bwMode="auto">
          <a:xfrm>
            <a:off x="1517142" y="4203182"/>
            <a:ext cx="1285383" cy="287041"/>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9" rIns="51435" bIns="25719" numCol="1" rtlCol="0" anchor="ctr" anchorCtr="0" compatLnSpc="1">
            <a:prstTxWarp prst="textNoShape">
              <a:avLst/>
            </a:prstTxWarp>
          </a:bodyPr>
          <a:lstStyle/>
          <a:p>
            <a:pPr marL="0" marR="0" lvl="0" indent="0" algn="ctr" defTabSz="914242" rtl="0" eaLnBrk="0" fontAlgn="base" latinLnBrk="0" hangingPunct="0">
              <a:lnSpc>
                <a:spcPct val="100000"/>
              </a:lnSpc>
              <a:spcBef>
                <a:spcPct val="0"/>
              </a:spcBef>
              <a:spcAft>
                <a:spcPct val="0"/>
              </a:spcAft>
              <a:buClrTx/>
              <a:buSzTx/>
              <a:buFontTx/>
              <a:buNone/>
              <a:tabLst/>
              <a:defRPr/>
            </a:pPr>
            <a:r>
              <a:rPr kumimoji="0" lang="en-US" altLang="zh-CN" sz="600" b="1" i="0" u="none" strike="noStrike" kern="1200" cap="none" spc="0" normalizeH="0" baseline="0" noProof="0">
                <a:ln>
                  <a:noFill/>
                </a:ln>
                <a:solidFill>
                  <a:srgbClr val="000000"/>
                </a:solidFill>
                <a:effectLst/>
                <a:uLnTx/>
                <a:uFillTx/>
                <a:latin typeface="BISansCond"/>
                <a:ea typeface="+mn-ea"/>
                <a:cs typeface="+mn-cs"/>
              </a:rPr>
              <a:t>CTA Review + EC + HGRAC + 1</a:t>
            </a:r>
            <a:r>
              <a:rPr kumimoji="0" lang="en-US" altLang="zh-CN" sz="600" b="1" i="0" u="none" strike="noStrike" kern="1200" cap="none" spc="0" normalizeH="0" baseline="30000" noProof="0">
                <a:ln>
                  <a:noFill/>
                </a:ln>
                <a:solidFill>
                  <a:srgbClr val="000000"/>
                </a:solidFill>
                <a:effectLst/>
                <a:uLnTx/>
                <a:uFillTx/>
                <a:latin typeface="BISansCond"/>
                <a:ea typeface="+mn-ea"/>
                <a:cs typeface="+mn-cs"/>
              </a:rPr>
              <a:t>st</a:t>
            </a:r>
            <a:r>
              <a:rPr kumimoji="0" lang="en-US" altLang="zh-CN" sz="600" b="1" i="0" u="none" strike="noStrike" kern="1200" cap="none" spc="0" normalizeH="0" baseline="0" noProof="0">
                <a:ln>
                  <a:noFill/>
                </a:ln>
                <a:solidFill>
                  <a:srgbClr val="000000"/>
                </a:solidFill>
                <a:effectLst/>
                <a:uLnTx/>
                <a:uFillTx/>
                <a:latin typeface="BISansCond"/>
                <a:ea typeface="+mn-ea"/>
                <a:cs typeface="+mn-cs"/>
              </a:rPr>
              <a:t> SIV (6m) *</a:t>
            </a:r>
            <a:endParaRPr kumimoji="0" lang="zh-CN" altLang="en-US" sz="600" b="1" i="0" u="none" strike="noStrike" kern="1200" cap="none" spc="0" normalizeH="0" baseline="0" noProof="0">
              <a:ln>
                <a:noFill/>
              </a:ln>
              <a:solidFill>
                <a:srgbClr val="000000"/>
              </a:solidFill>
              <a:effectLst/>
              <a:uLnTx/>
              <a:uFillTx/>
              <a:latin typeface="BISansCond"/>
              <a:ea typeface="+mn-ea"/>
              <a:cs typeface="+mn-cs"/>
            </a:endParaRPr>
          </a:p>
        </p:txBody>
      </p:sp>
      <p:sp>
        <p:nvSpPr>
          <p:cNvPr id="145" name="5-Point Star 5">
            <a:extLst>
              <a:ext uri="{FF2B5EF4-FFF2-40B4-BE49-F238E27FC236}">
                <a16:creationId xmlns:a16="http://schemas.microsoft.com/office/drawing/2014/main" id="{FF2EE900-EF38-4A20-8571-F11FC61C771A}"/>
              </a:ext>
            </a:extLst>
          </p:cNvPr>
          <p:cNvSpPr/>
          <p:nvPr/>
        </p:nvSpPr>
        <p:spPr>
          <a:xfrm>
            <a:off x="1460270" y="4225570"/>
            <a:ext cx="94231" cy="115417"/>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46" name="OTLSHAPE_T_e17f3958430f4cff8650518c93c7635e_StartDate">
            <a:extLst>
              <a:ext uri="{FF2B5EF4-FFF2-40B4-BE49-F238E27FC236}">
                <a16:creationId xmlns:a16="http://schemas.microsoft.com/office/drawing/2014/main" id="{D8665EA8-642E-464A-8E61-6CC42C7EAA9D}"/>
              </a:ext>
            </a:extLst>
          </p:cNvPr>
          <p:cNvSpPr txBox="1"/>
          <p:nvPr>
            <p:custDataLst>
              <p:tags r:id="rId9"/>
            </p:custDataLst>
          </p:nvPr>
        </p:nvSpPr>
        <p:spPr>
          <a:xfrm>
            <a:off x="2231676" y="4039524"/>
            <a:ext cx="372218" cy="235898"/>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pPr marL="0" marR="0" lvl="0" indent="0" algn="ctr" defTabSz="91431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Aug</a:t>
            </a:r>
            <a:endParaRPr kumimoji="0" lang="zh-CN" altLang="en-US"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68" name="TextBox 167">
            <a:extLst>
              <a:ext uri="{FF2B5EF4-FFF2-40B4-BE49-F238E27FC236}">
                <a16:creationId xmlns:a16="http://schemas.microsoft.com/office/drawing/2014/main" id="{4DB12822-D323-4E0B-AE96-3644EF7C47E3}"/>
              </a:ext>
            </a:extLst>
          </p:cNvPr>
          <p:cNvSpPr txBox="1"/>
          <p:nvPr/>
        </p:nvSpPr>
        <p:spPr>
          <a:xfrm>
            <a:off x="739421" y="4905025"/>
            <a:ext cx="676788" cy="235898"/>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l" defTabSz="121896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Nov 2023</a:t>
            </a:r>
            <a:endParaRPr kumimoji="0" lang="zh-CN" altLang="en-US"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71" name="Rectangle 170">
            <a:extLst>
              <a:ext uri="{FF2B5EF4-FFF2-40B4-BE49-F238E27FC236}">
                <a16:creationId xmlns:a16="http://schemas.microsoft.com/office/drawing/2014/main" id="{5DF7619E-8037-4119-9490-E9399FFC5DFC}"/>
              </a:ext>
            </a:extLst>
          </p:cNvPr>
          <p:cNvSpPr/>
          <p:nvPr/>
        </p:nvSpPr>
        <p:spPr>
          <a:xfrm>
            <a:off x="2802526" y="4169676"/>
            <a:ext cx="1300399" cy="291167"/>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ctr" anchorCtr="0" compatLnSpc="1">
            <a:prstTxWarp prst="textNoShape">
              <a:avLst/>
            </a:prstTxWarp>
          </a:bodyPr>
          <a:lstStyle/>
          <a:p>
            <a:pPr marL="0" marR="0" lvl="0" indent="0" algn="ctr" defTabSz="121902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BISansCond"/>
                <a:ea typeface="+mn-ea"/>
                <a:cs typeface="Calibri" panose="020F0502020204030204" pitchFamily="34" charset="0"/>
              </a:rPr>
              <a:t>N = 14</a:t>
            </a:r>
            <a:r>
              <a:rPr kumimoji="0" lang="zh-CN" altLang="en-US" sz="800" b="1" i="0" u="none" strike="noStrike" kern="1200" cap="none" spc="0" normalizeH="0" baseline="0" noProof="0">
                <a:ln>
                  <a:noFill/>
                </a:ln>
                <a:solidFill>
                  <a:prstClr val="black"/>
                </a:solidFill>
                <a:effectLst/>
                <a:uLnTx/>
                <a:uFillTx/>
                <a:latin typeface="BISansCond"/>
                <a:ea typeface="+mn-ea"/>
                <a:cs typeface="Calibri" panose="020F0502020204030204" pitchFamily="34" charset="0"/>
              </a:rPr>
              <a:t>（</a:t>
            </a:r>
            <a:r>
              <a:rPr kumimoji="0" lang="en-US" altLang="zh-CN" sz="800" b="1" i="0" u="none" strike="noStrike" kern="1200" cap="none" spc="0" normalizeH="0" baseline="0" noProof="0">
                <a:ln>
                  <a:noFill/>
                </a:ln>
                <a:solidFill>
                  <a:prstClr val="black"/>
                </a:solidFill>
                <a:effectLst/>
                <a:uLnTx/>
                <a:uFillTx/>
                <a:latin typeface="BISansCond"/>
                <a:ea typeface="+mn-ea"/>
                <a:cs typeface="Calibri" panose="020F0502020204030204" pitchFamily="34" charset="0"/>
              </a:rPr>
              <a:t>IPF10,PPF 4</a:t>
            </a:r>
            <a:r>
              <a:rPr kumimoji="0" lang="zh-CN" altLang="en-US" sz="800" b="1" i="0" u="none" strike="noStrike" kern="1200" cap="none" spc="0" normalizeH="0" baseline="0" noProof="0">
                <a:ln>
                  <a:noFill/>
                </a:ln>
                <a:solidFill>
                  <a:prstClr val="black"/>
                </a:solidFill>
                <a:effectLst/>
                <a:uLnTx/>
                <a:uFillTx/>
                <a:latin typeface="BISansCond"/>
                <a:ea typeface="+mn-ea"/>
                <a:cs typeface="Calibri" panose="020F0502020204030204" pitchFamily="34" charset="0"/>
              </a:rPr>
              <a:t>）</a:t>
            </a:r>
            <a:endParaRPr kumimoji="0" lang="en-US" altLang="zh-CN" sz="800" b="1" i="0" u="none" strike="noStrike" kern="1200" cap="none" spc="0" normalizeH="0" baseline="0" noProof="0">
              <a:ln>
                <a:noFill/>
              </a:ln>
              <a:solidFill>
                <a:prstClr val="black"/>
              </a:solidFill>
              <a:effectLst/>
              <a:uLnTx/>
              <a:uFillTx/>
              <a:latin typeface="BISansCond"/>
              <a:ea typeface="+mn-ea"/>
              <a:cs typeface="Calibri" panose="020F0502020204030204" pitchFamily="34" charset="0"/>
            </a:endParaRPr>
          </a:p>
          <a:p>
            <a:pPr marL="0" marR="0" lvl="0" indent="0" algn="ctr" defTabSz="1219020" rtl="0" eaLnBrk="0" fontAlgn="base" latinLnBrk="0" hangingPunct="0">
              <a:lnSpc>
                <a:spcPct val="100000"/>
              </a:lnSpc>
              <a:spcBef>
                <a:spcPct val="0"/>
              </a:spcBef>
              <a:spcAft>
                <a:spcPct val="0"/>
              </a:spcAft>
              <a:buClrTx/>
              <a:buSzTx/>
              <a:buFontTx/>
              <a:buNone/>
              <a:tabLst/>
              <a:defRPr/>
            </a:pPr>
            <a:endParaRPr kumimoji="0" lang="en-US" altLang="zh-CN" sz="800" b="1" i="0" u="none" strike="noStrike" kern="1200" cap="none" spc="0" normalizeH="0" baseline="0" noProof="0">
              <a:ln>
                <a:noFill/>
              </a:ln>
              <a:solidFill>
                <a:srgbClr val="000000"/>
              </a:solidFill>
              <a:effectLst/>
              <a:uLnTx/>
              <a:uFillTx/>
              <a:latin typeface="BISansCond"/>
              <a:ea typeface="+mn-ea"/>
              <a:cs typeface="Calibri" panose="020F0502020204030204" pitchFamily="34" charset="0"/>
            </a:endParaRPr>
          </a:p>
        </p:txBody>
      </p:sp>
      <p:sp>
        <p:nvSpPr>
          <p:cNvPr id="181" name="OTLSHAPE_T_5a934a26f311425e8ebaa0f45e6533ad_Shape">
            <a:extLst>
              <a:ext uri="{FF2B5EF4-FFF2-40B4-BE49-F238E27FC236}">
                <a16:creationId xmlns:a16="http://schemas.microsoft.com/office/drawing/2014/main" id="{EEA5C35B-8C6C-40D7-AB8F-8B0B207C03C4}"/>
              </a:ext>
            </a:extLst>
          </p:cNvPr>
          <p:cNvSpPr/>
          <p:nvPr/>
        </p:nvSpPr>
        <p:spPr bwMode="auto">
          <a:xfrm>
            <a:off x="4714557" y="4133955"/>
            <a:ext cx="1658083" cy="329086"/>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2" name="OTLSHAPE_T_e17f3958430f4cff8650518c93c7635e_StartDate">
            <a:extLst>
              <a:ext uri="{FF2B5EF4-FFF2-40B4-BE49-F238E27FC236}">
                <a16:creationId xmlns:a16="http://schemas.microsoft.com/office/drawing/2014/main" id="{CD85B817-8531-43FF-BC59-76B1A69AEED5}"/>
              </a:ext>
            </a:extLst>
          </p:cNvPr>
          <p:cNvSpPr txBox="1"/>
          <p:nvPr>
            <p:custDataLst>
              <p:tags r:id="rId10"/>
            </p:custDataLst>
          </p:nvPr>
        </p:nvSpPr>
        <p:spPr>
          <a:xfrm>
            <a:off x="1371506" y="4051528"/>
            <a:ext cx="360996" cy="235898"/>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pPr marL="0" marR="0" lvl="0" indent="0" algn="ctr" defTabSz="91431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Feb</a:t>
            </a:r>
            <a:endParaRPr kumimoji="0" lang="zh-CN" altLang="en-US"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65" name="Rectangle 64">
            <a:extLst>
              <a:ext uri="{FF2B5EF4-FFF2-40B4-BE49-F238E27FC236}">
                <a16:creationId xmlns:a16="http://schemas.microsoft.com/office/drawing/2014/main" id="{046EF5FC-A42C-4B15-B99E-B2D65FB76B3A}"/>
              </a:ext>
            </a:extLst>
          </p:cNvPr>
          <p:cNvSpPr/>
          <p:nvPr/>
        </p:nvSpPr>
        <p:spPr>
          <a:xfrm>
            <a:off x="2112522" y="4460857"/>
            <a:ext cx="490839" cy="235898"/>
          </a:xfrm>
          <a:prstGeom prst="rect">
            <a:avLst/>
          </a:prstGeom>
        </p:spPr>
        <p:txBody>
          <a:bodyPr wrap="none">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mn-cs"/>
              </a:rPr>
              <a:t>1</a:t>
            </a:r>
            <a:r>
              <a:rPr kumimoji="0" lang="en-US" altLang="zh-CN" sz="933" b="1" i="0" u="none" strike="noStrike" kern="1200" cap="none" spc="0" normalizeH="0" baseline="30000" noProof="0">
                <a:ln>
                  <a:noFill/>
                </a:ln>
                <a:solidFill>
                  <a:srgbClr val="44546A"/>
                </a:solidFill>
                <a:effectLst/>
                <a:uLnTx/>
                <a:uFillTx/>
                <a:latin typeface="Calibri" panose="020F0502020204030204" pitchFamily="34" charset="0"/>
                <a:ea typeface="+mn-ea"/>
                <a:cs typeface="+mn-cs"/>
              </a:rPr>
              <a:t>st</a:t>
            </a: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mn-cs"/>
              </a:rPr>
              <a:t> SIV</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7" name="OTLSHAPE_T_e17f3958430f4cff8650518c93c7635e_Shape">
            <a:extLst>
              <a:ext uri="{FF2B5EF4-FFF2-40B4-BE49-F238E27FC236}">
                <a16:creationId xmlns:a16="http://schemas.microsoft.com/office/drawing/2014/main" id="{91974D9D-A93D-4138-B4F5-14B83E9DE45F}"/>
              </a:ext>
            </a:extLst>
          </p:cNvPr>
          <p:cNvSpPr/>
          <p:nvPr>
            <p:custDataLst>
              <p:tags r:id="rId11"/>
            </p:custDataLst>
          </p:nvPr>
        </p:nvSpPr>
        <p:spPr bwMode="auto">
          <a:xfrm>
            <a:off x="6670382" y="5218329"/>
            <a:ext cx="730320" cy="277523"/>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9" rIns="51435" bIns="25719" numCol="1" rtlCol="0" anchor="ctr" anchorCtr="0" compatLnSpc="1">
            <a:prstTxWarp prst="textNoShape">
              <a:avLst/>
            </a:prstTxWarp>
          </a:bodyPr>
          <a:lstStyle/>
          <a:p>
            <a:pPr marL="0" marR="0" lvl="0" indent="0" algn="ctr" defTabSz="914242" rtl="0" eaLnBrk="0" fontAlgn="base" latinLnBrk="0" hangingPunct="0">
              <a:lnSpc>
                <a:spcPct val="100000"/>
              </a:lnSpc>
              <a:spcBef>
                <a:spcPct val="0"/>
              </a:spcBef>
              <a:spcAft>
                <a:spcPct val="0"/>
              </a:spcAft>
              <a:buClrTx/>
              <a:buSzTx/>
              <a:buFontTx/>
              <a:buNone/>
              <a:tabLst/>
              <a:defRPr/>
            </a:pPr>
            <a:r>
              <a:rPr kumimoji="0" lang="en-US" altLang="zh-CN" sz="600" b="1" i="0" u="none" strike="noStrike" kern="1200" cap="none" spc="0" normalizeH="0" baseline="0" noProof="0">
                <a:ln>
                  <a:noFill/>
                </a:ln>
                <a:solidFill>
                  <a:srgbClr val="000000"/>
                </a:solidFill>
                <a:effectLst/>
                <a:uLnTx/>
                <a:uFillTx/>
                <a:latin typeface="Verdana" charset="0"/>
                <a:ea typeface="宋体" panose="02010600030101010101" pitchFamily="2" charset="-122"/>
                <a:cs typeface="+mn-cs"/>
              </a:rPr>
              <a:t>CTA Review + EC + HGRAC + 1</a:t>
            </a:r>
            <a:r>
              <a:rPr kumimoji="0" lang="en-US" altLang="zh-CN" sz="600" b="1" i="0" u="none" strike="noStrike" kern="1200" cap="none" spc="0" normalizeH="0" baseline="30000" noProof="0">
                <a:ln>
                  <a:noFill/>
                </a:ln>
                <a:solidFill>
                  <a:srgbClr val="000000"/>
                </a:solidFill>
                <a:effectLst/>
                <a:uLnTx/>
                <a:uFillTx/>
                <a:latin typeface="Verdana" charset="0"/>
                <a:ea typeface="宋体" panose="02010600030101010101" pitchFamily="2" charset="-122"/>
                <a:cs typeface="+mn-cs"/>
              </a:rPr>
              <a:t>st</a:t>
            </a:r>
            <a:r>
              <a:rPr kumimoji="0" lang="en-US" altLang="zh-CN" sz="600" b="1" i="0" u="none" strike="noStrike" kern="1200" cap="none" spc="0" normalizeH="0" baseline="0" noProof="0">
                <a:ln>
                  <a:noFill/>
                </a:ln>
                <a:solidFill>
                  <a:srgbClr val="000000"/>
                </a:solidFill>
                <a:effectLst/>
                <a:uLnTx/>
                <a:uFillTx/>
                <a:latin typeface="Verdana" charset="0"/>
                <a:ea typeface="宋体" panose="02010600030101010101" pitchFamily="2" charset="-122"/>
                <a:cs typeface="+mn-cs"/>
              </a:rPr>
              <a:t> SIV (6m) </a:t>
            </a:r>
            <a:endParaRPr kumimoji="0" lang="zh-CN" altLang="en-US" sz="600" b="1" i="0" u="none" strike="noStrike" kern="1200" cap="none" spc="0" normalizeH="0" baseline="0" noProof="0">
              <a:ln>
                <a:noFill/>
              </a:ln>
              <a:solidFill>
                <a:srgbClr val="000000"/>
              </a:solidFill>
              <a:effectLst/>
              <a:uLnTx/>
              <a:uFillTx/>
              <a:latin typeface="Verdana" charset="0"/>
              <a:ea typeface="宋体" panose="02010600030101010101" pitchFamily="2" charset="-122"/>
              <a:cs typeface="+mn-cs"/>
            </a:endParaRPr>
          </a:p>
        </p:txBody>
      </p:sp>
      <p:sp>
        <p:nvSpPr>
          <p:cNvPr id="74" name="OTLSHAPE_T_5a934a26f311425e8ebaa0f45e6533ad_Shape">
            <a:extLst>
              <a:ext uri="{FF2B5EF4-FFF2-40B4-BE49-F238E27FC236}">
                <a16:creationId xmlns:a16="http://schemas.microsoft.com/office/drawing/2014/main" id="{09757339-FB64-4FE3-B3F8-D62913619651}"/>
              </a:ext>
            </a:extLst>
          </p:cNvPr>
          <p:cNvSpPr/>
          <p:nvPr/>
        </p:nvSpPr>
        <p:spPr bwMode="auto">
          <a:xfrm>
            <a:off x="7703521" y="5085668"/>
            <a:ext cx="3692872" cy="333355"/>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2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in PF-ILD</a:t>
            </a:r>
          </a:p>
        </p:txBody>
      </p:sp>
      <p:sp>
        <p:nvSpPr>
          <p:cNvPr id="76" name="OTLSHAPE_T_e17f3958430f4cff8650518c93c7635e_StartDate">
            <a:extLst>
              <a:ext uri="{FF2B5EF4-FFF2-40B4-BE49-F238E27FC236}">
                <a16:creationId xmlns:a16="http://schemas.microsoft.com/office/drawing/2014/main" id="{9B9DE7A4-6B10-4642-A68C-F1D62E095891}"/>
              </a:ext>
            </a:extLst>
          </p:cNvPr>
          <p:cNvSpPr txBox="1"/>
          <p:nvPr>
            <p:custDataLst>
              <p:tags r:id="rId12"/>
            </p:custDataLst>
          </p:nvPr>
        </p:nvSpPr>
        <p:spPr>
          <a:xfrm>
            <a:off x="6674820" y="4812774"/>
            <a:ext cx="657552" cy="235898"/>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60" rtl="0" eaLnBrk="1" fontAlgn="auto" latinLnBrk="0" hangingPunct="1">
              <a:lnSpc>
                <a:spcPct val="100000"/>
              </a:lnSpc>
              <a:spcBef>
                <a:spcPts val="0"/>
              </a:spcBef>
              <a:spcAft>
                <a:spcPts val="0"/>
              </a:spcAft>
              <a:buClrTx/>
              <a:buSzTx/>
              <a:buFontTx/>
              <a:buNone/>
              <a:tabLst/>
              <a:defRPr/>
            </a:pPr>
            <a:r>
              <a:rPr lang="en-US" altLang="zh-CN" sz="933"/>
              <a:t>Mar </a:t>
            </a:r>
            <a:r>
              <a:rPr kumimoji="0" lang="en-US" altLang="zh-CN"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2027</a:t>
            </a:r>
            <a:endParaRPr kumimoji="0" lang="zh-CN" altLang="en-US"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7" name="Star: 4 Points 143">
            <a:extLst>
              <a:ext uri="{FF2B5EF4-FFF2-40B4-BE49-F238E27FC236}">
                <a16:creationId xmlns:a16="http://schemas.microsoft.com/office/drawing/2014/main" id="{0DA3DF2D-D0D9-4772-84D6-48F9BF8287AC}"/>
              </a:ext>
            </a:extLst>
          </p:cNvPr>
          <p:cNvSpPr/>
          <p:nvPr/>
        </p:nvSpPr>
        <p:spPr bwMode="auto">
          <a:xfrm>
            <a:off x="7591165" y="502213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6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2" name="OTLSHAPE_T_e17f3958430f4cff8650518c93c7635e_StartDate">
            <a:extLst>
              <a:ext uri="{FF2B5EF4-FFF2-40B4-BE49-F238E27FC236}">
                <a16:creationId xmlns:a16="http://schemas.microsoft.com/office/drawing/2014/main" id="{696789EA-6A8D-4234-AD57-B5AA6DF6DE34}"/>
              </a:ext>
            </a:extLst>
          </p:cNvPr>
          <p:cNvSpPr txBox="1"/>
          <p:nvPr>
            <p:custDataLst>
              <p:tags r:id="rId13"/>
            </p:custDataLst>
          </p:nvPr>
        </p:nvSpPr>
        <p:spPr>
          <a:xfrm>
            <a:off x="10677300" y="5321428"/>
            <a:ext cx="1329237" cy="287130"/>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CN NDA</a:t>
            </a:r>
          </a:p>
          <a:p>
            <a:pPr marL="0" marR="0" lvl="0" indent="0" algn="ctr" defTabSz="1218990" rtl="0" eaLnBrk="1" fontAlgn="auto" latinLnBrk="0" hangingPunct="1">
              <a:lnSpc>
                <a:spcPct val="100000"/>
              </a:lnSpc>
              <a:spcBef>
                <a:spcPts val="0"/>
              </a:spcBef>
              <a:spcAft>
                <a:spcPts val="0"/>
              </a:spcAft>
              <a:buClrTx/>
              <a:buSzTx/>
              <a:buFontTx/>
              <a:buNone/>
              <a:tabLst/>
              <a:defRPr/>
            </a:pPr>
            <a:r>
              <a:rPr lang="en-US" altLang="zh-CN" sz="933" b="1">
                <a:solidFill>
                  <a:srgbClr val="44546A"/>
                </a:solidFill>
                <a:latin typeface="Calibri" panose="020F0502020204030204" pitchFamily="34" charset="0"/>
                <a:ea typeface="宋体" panose="02010600030101010101" pitchFamily="2" charset="-122"/>
              </a:rPr>
              <a:t>Oct 2</a:t>
            </a: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030 </a:t>
            </a:r>
          </a:p>
        </p:txBody>
      </p:sp>
      <p:sp>
        <p:nvSpPr>
          <p:cNvPr id="84" name="OTLSHAPE_T_e17f3958430f4cff8650518c93c7635e_StartDate">
            <a:extLst>
              <a:ext uri="{FF2B5EF4-FFF2-40B4-BE49-F238E27FC236}">
                <a16:creationId xmlns:a16="http://schemas.microsoft.com/office/drawing/2014/main" id="{52D8618E-FE15-468C-ABC2-99BF6154866D}"/>
              </a:ext>
            </a:extLst>
          </p:cNvPr>
          <p:cNvSpPr txBox="1"/>
          <p:nvPr>
            <p:custDataLst>
              <p:tags r:id="rId14"/>
            </p:custDataLst>
          </p:nvPr>
        </p:nvSpPr>
        <p:spPr>
          <a:xfrm>
            <a:off x="10776963" y="4646076"/>
            <a:ext cx="1329237" cy="430695"/>
          </a:xfrm>
          <a:prstGeom prst="rect">
            <a:avLst/>
          </a:prstGeom>
          <a:noFill/>
        </p:spPr>
        <p:txBody>
          <a:bodyPr vert="horz" wrap="square" lIns="0" tIns="0" rIns="0" bIns="0" rtlCol="0" anchor="ctr" anchorCtr="0">
            <a:spAutoFit/>
          </a:bodyPr>
          <a:lstStyle/>
          <a:p>
            <a:pPr marL="0" marR="0" lvl="0" indent="0" algn="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CN approval</a:t>
            </a:r>
          </a:p>
          <a:p>
            <a:pPr marL="0" marR="0" lvl="0" indent="0" algn="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Best: Oct</a:t>
            </a:r>
            <a:r>
              <a:rPr lang="en-US" altLang="zh-CN" sz="933" b="1">
                <a:solidFill>
                  <a:srgbClr val="44546A"/>
                </a:solidFill>
                <a:latin typeface="Calibri" panose="020F0502020204030204" pitchFamily="34" charset="0"/>
                <a:ea typeface="宋体" panose="02010600030101010101" pitchFamily="2" charset="-122"/>
              </a:rPr>
              <a:t> </a:t>
            </a: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2031</a:t>
            </a:r>
          </a:p>
          <a:p>
            <a:pPr marL="0" marR="0" lvl="0" indent="0" algn="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Base:Apr2032</a:t>
            </a:r>
          </a:p>
        </p:txBody>
      </p:sp>
      <p:sp>
        <p:nvSpPr>
          <p:cNvPr id="85" name="5-Point Star 5">
            <a:extLst>
              <a:ext uri="{FF2B5EF4-FFF2-40B4-BE49-F238E27FC236}">
                <a16:creationId xmlns:a16="http://schemas.microsoft.com/office/drawing/2014/main" id="{5AC68164-03D3-4B4E-B30A-CC584C7AF647}"/>
              </a:ext>
            </a:extLst>
          </p:cNvPr>
          <p:cNvSpPr/>
          <p:nvPr/>
        </p:nvSpPr>
        <p:spPr>
          <a:xfrm>
            <a:off x="11315991" y="5132954"/>
            <a:ext cx="100636" cy="90181"/>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91" name="OTLSHAPE_T_e17f3958430f4cff8650518c93c7635e_StartDate">
            <a:extLst>
              <a:ext uri="{FF2B5EF4-FFF2-40B4-BE49-F238E27FC236}">
                <a16:creationId xmlns:a16="http://schemas.microsoft.com/office/drawing/2014/main" id="{C3812FD7-D0AE-47D6-ACA6-C4FB5D7B6BAE}"/>
              </a:ext>
            </a:extLst>
          </p:cNvPr>
          <p:cNvSpPr txBox="1"/>
          <p:nvPr>
            <p:custDataLst>
              <p:tags r:id="rId15"/>
            </p:custDataLst>
          </p:nvPr>
        </p:nvSpPr>
        <p:spPr>
          <a:xfrm>
            <a:off x="3609051" y="1956900"/>
            <a:ext cx="1517801" cy="249299"/>
          </a:xfrm>
          <a:prstGeom prst="rect">
            <a:avLst/>
          </a:prstGeom>
          <a:noFill/>
        </p:spPr>
        <p:txBody>
          <a:bodyPr wrap="square" lIns="121920" tIns="60960" rIns="121920" bIns="60960" anchor="t">
            <a:spAutoFit/>
          </a:bodyPr>
          <a:lstStyle>
            <a:defPPr>
              <a:defRPr lang="de-DE"/>
            </a:defPPr>
            <a:lvl1pPr marR="0" lvl="0" indent="0" defTabSz="685800" fontAlgn="auto">
              <a:lnSpc>
                <a:spcPct val="80000"/>
              </a:lnSpc>
              <a:spcBef>
                <a:spcPts val="0"/>
              </a:spcBef>
              <a:spcAft>
                <a:spcPts val="0"/>
              </a:spcAft>
              <a:buClrTx/>
              <a:buSzTx/>
              <a:buFontTx/>
              <a:buNone/>
              <a:tabLst/>
              <a:defRPr kumimoji="0" sz="700" b="0" i="0" u="none" strike="noStrike" cap="none" spc="0" normalizeH="0" baseline="0">
                <a:ln>
                  <a:noFill/>
                </a:ln>
                <a:solidFill>
                  <a:prstClr val="black"/>
                </a:solidFill>
                <a:effectLst/>
                <a:uLnTx/>
                <a:uFillTx/>
                <a:latin typeface="Calibri" panose="020F0502020204030204"/>
              </a:defRPr>
            </a:lvl1pPr>
          </a:lstStyle>
          <a:p>
            <a:pPr marL="0" marR="0" lvl="0" indent="0" algn="ctr" defTabSz="1218960" rtl="0" eaLnBrk="1" fontAlgn="auto" latinLnBrk="0" hangingPunct="1">
              <a:lnSpc>
                <a:spcPct val="80000"/>
              </a:lnSpc>
              <a:spcBef>
                <a:spcPts val="0"/>
              </a:spcBef>
              <a:spcAft>
                <a:spcPts val="0"/>
              </a:spcAft>
              <a:buClrTx/>
              <a:buSzTx/>
              <a:buFontTx/>
              <a:buNone/>
              <a:tabLst/>
              <a:defRPr/>
            </a:pPr>
            <a:r>
              <a:rPr kumimoji="0" lang="en-US" altLang="zh-CN" sz="1000" b="1" i="0" u="none" strike="noStrike" kern="1200" cap="none" spc="0" normalizeH="0" baseline="0" noProof="0" err="1">
                <a:ln>
                  <a:noFill/>
                </a:ln>
                <a:solidFill>
                  <a:prstClr val="black"/>
                </a:solidFill>
                <a:effectLst/>
                <a:uLnTx/>
                <a:uFillTx/>
                <a:latin typeface="Calibri" panose="020F0502020204030204" pitchFamily="34" charset="0"/>
                <a:ea typeface="+mn-ea"/>
                <a:cs typeface="Calibri" panose="020F0502020204030204" pitchFamily="34" charset="0"/>
              </a:rPr>
              <a:t>PoCP</a:t>
            </a:r>
            <a:r>
              <a:rPr kumimoji="0" lang="en-US" altLang="zh-CN" sz="10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 </a:t>
            </a:r>
            <a:r>
              <a:rPr lang="en-US" altLang="zh-CN" sz="1000" b="1">
                <a:latin typeface="Calibri" panose="020F0502020204030204" pitchFamily="34" charset="0"/>
                <a:cs typeface="Calibri" panose="020F0502020204030204" pitchFamily="34" charset="0"/>
              </a:rPr>
              <a:t>Sep</a:t>
            </a:r>
            <a:endParaRPr kumimoji="0" lang="en-US" altLang="zh-CN" sz="10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86" name="OTLSHAPE_T_e17f3958430f4cff8650518c93c7635e_StartDate">
            <a:extLst>
              <a:ext uri="{FF2B5EF4-FFF2-40B4-BE49-F238E27FC236}">
                <a16:creationId xmlns:a16="http://schemas.microsoft.com/office/drawing/2014/main" id="{AAD1D292-97F0-4B08-979E-B78ECBF621CA}"/>
              </a:ext>
            </a:extLst>
          </p:cNvPr>
          <p:cNvSpPr txBox="1"/>
          <p:nvPr>
            <p:custDataLst>
              <p:tags r:id="rId16"/>
            </p:custDataLst>
          </p:nvPr>
        </p:nvSpPr>
        <p:spPr>
          <a:xfrm>
            <a:off x="80268" y="4051528"/>
            <a:ext cx="583813" cy="235898"/>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pPr marL="0" marR="0" lvl="0" indent="0" algn="ctr" defTabSz="91431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Jul 2023</a:t>
            </a:r>
            <a:endParaRPr kumimoji="0" lang="zh-CN" altLang="en-US"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87" name="5-Point Star 5">
            <a:extLst>
              <a:ext uri="{FF2B5EF4-FFF2-40B4-BE49-F238E27FC236}">
                <a16:creationId xmlns:a16="http://schemas.microsoft.com/office/drawing/2014/main" id="{CF7FE704-764D-4AC4-9833-EA9B7CE3B57C}"/>
              </a:ext>
            </a:extLst>
          </p:cNvPr>
          <p:cNvSpPr/>
          <p:nvPr/>
        </p:nvSpPr>
        <p:spPr>
          <a:xfrm>
            <a:off x="1422644" y="2275147"/>
            <a:ext cx="154005" cy="160143"/>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89" name="OTLSHAPE_T_e17f3958430f4cff8650518c93c7635e_StartDate">
            <a:extLst>
              <a:ext uri="{FF2B5EF4-FFF2-40B4-BE49-F238E27FC236}">
                <a16:creationId xmlns:a16="http://schemas.microsoft.com/office/drawing/2014/main" id="{632FAAF9-D9F3-439F-8B60-C81840F8867A}"/>
              </a:ext>
            </a:extLst>
          </p:cNvPr>
          <p:cNvSpPr txBox="1"/>
          <p:nvPr>
            <p:custDataLst>
              <p:tags r:id="rId17"/>
            </p:custDataLst>
          </p:nvPr>
        </p:nvSpPr>
        <p:spPr>
          <a:xfrm>
            <a:off x="1082923" y="2453686"/>
            <a:ext cx="723959" cy="246221"/>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CTA sub</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Feb 2024</a:t>
            </a:r>
            <a:endParaRPr kumimoji="0" lang="zh-CN" altLang="en-US" sz="800" b="1" i="0" u="none" strike="noStrike" kern="1200" cap="none" spc="0" normalizeH="0" baseline="0" noProof="0">
              <a:ln>
                <a:noFill/>
              </a:ln>
              <a:solidFill>
                <a:srgbClr val="44546A"/>
              </a:solidFill>
              <a:effectLst/>
              <a:uLnTx/>
              <a:uFillTx/>
              <a:latin typeface="Calibri"/>
              <a:ea typeface="+mn-ea"/>
              <a:cs typeface="Calibri"/>
            </a:endParaRPr>
          </a:p>
        </p:txBody>
      </p:sp>
      <p:sp>
        <p:nvSpPr>
          <p:cNvPr id="5" name="OTLSHAPE_T_e17f3958430f4cff8650518c93c7635e_StartDate">
            <a:extLst>
              <a:ext uri="{FF2B5EF4-FFF2-40B4-BE49-F238E27FC236}">
                <a16:creationId xmlns:a16="http://schemas.microsoft.com/office/drawing/2014/main" id="{693BA5D2-FC52-85AD-FAF8-FA007B074DAC}"/>
              </a:ext>
            </a:extLst>
          </p:cNvPr>
          <p:cNvSpPr txBox="1"/>
          <p:nvPr>
            <p:custDataLst>
              <p:tags r:id="rId18"/>
            </p:custDataLst>
          </p:nvPr>
        </p:nvSpPr>
        <p:spPr>
          <a:xfrm>
            <a:off x="589599" y="4051528"/>
            <a:ext cx="710451" cy="235898"/>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pPr marL="0" marR="0" lvl="0" indent="0" algn="ctr" defTabSz="91431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6 Nov2023</a:t>
            </a:r>
            <a:endParaRPr kumimoji="0" lang="zh-CN" altLang="en-US"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8" name="5-Point Star 5">
            <a:extLst>
              <a:ext uri="{FF2B5EF4-FFF2-40B4-BE49-F238E27FC236}">
                <a16:creationId xmlns:a16="http://schemas.microsoft.com/office/drawing/2014/main" id="{8C859738-4844-556B-8FB1-FEA3D99855EE}"/>
              </a:ext>
            </a:extLst>
          </p:cNvPr>
          <p:cNvSpPr/>
          <p:nvPr/>
        </p:nvSpPr>
        <p:spPr>
          <a:xfrm>
            <a:off x="6333649" y="2466525"/>
            <a:ext cx="92504" cy="116024"/>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1" name="OTLSHAPE_T_e17f3958430f4cff8650518c93c7635e_StartDate">
            <a:extLst>
              <a:ext uri="{FF2B5EF4-FFF2-40B4-BE49-F238E27FC236}">
                <a16:creationId xmlns:a16="http://schemas.microsoft.com/office/drawing/2014/main" id="{0A7BAFCC-DE85-4BB9-B5D2-350421090784}"/>
              </a:ext>
            </a:extLst>
          </p:cNvPr>
          <p:cNvSpPr txBox="1"/>
          <p:nvPr>
            <p:custDataLst>
              <p:tags r:id="rId19"/>
            </p:custDataLst>
          </p:nvPr>
        </p:nvSpPr>
        <p:spPr>
          <a:xfrm>
            <a:off x="6054675" y="2557303"/>
            <a:ext cx="742955" cy="372410"/>
          </a:xfrm>
          <a:prstGeom prst="rect">
            <a:avLst/>
          </a:prstGeom>
          <a:noFill/>
        </p:spPr>
        <p:txBody>
          <a:bodyPr wrap="square" lIns="121920" tIns="60960" rIns="121920" bIns="60960" anchor="t">
            <a:spAutoFit/>
          </a:bodyPr>
          <a:lstStyle>
            <a:defPPr>
              <a:defRPr lang="de-DE"/>
            </a:defPPr>
            <a:lvl1pPr marR="0" lvl="0" indent="0" defTabSz="685800" fontAlgn="auto">
              <a:lnSpc>
                <a:spcPct val="80000"/>
              </a:lnSpc>
              <a:spcBef>
                <a:spcPts val="0"/>
              </a:spcBef>
              <a:spcAft>
                <a:spcPts val="0"/>
              </a:spcAft>
              <a:buClrTx/>
              <a:buSzTx/>
              <a:buFontTx/>
              <a:buNone/>
              <a:tabLst/>
              <a:defRPr kumimoji="0" sz="700" b="0" i="0" u="none" strike="noStrike" cap="none" spc="0" normalizeH="0" baseline="0">
                <a:ln>
                  <a:noFill/>
                </a:ln>
                <a:solidFill>
                  <a:prstClr val="black"/>
                </a:solidFill>
                <a:effectLst/>
                <a:uLnTx/>
                <a:uFillTx/>
                <a:latin typeface="Calibri" panose="020F0502020204030204"/>
              </a:defRPr>
            </a:lvl1pPr>
          </a:lstStyle>
          <a:p>
            <a:pPr marL="0" marR="0" lvl="0" indent="0" algn="l" defTabSz="1218960" rtl="0" eaLnBrk="1" fontAlgn="auto" latinLnBrk="0" hangingPunct="1">
              <a:lnSpc>
                <a:spcPct val="80000"/>
              </a:lnSpc>
              <a:spcBef>
                <a:spcPts val="0"/>
              </a:spcBef>
              <a:spcAft>
                <a:spcPts val="0"/>
              </a:spcAft>
              <a:buClrTx/>
              <a:buSzTx/>
              <a:buFontTx/>
              <a:buNone/>
              <a:tabLst/>
              <a:defRPr/>
            </a:pPr>
            <a:r>
              <a:rPr kumimoji="0" lang="en-US" altLang="zh-CN" sz="1000" b="1" i="0" u="none" strike="noStrike" kern="1200" cap="none" spc="0" normalizeH="0" baseline="0" noProof="0" err="1">
                <a:ln>
                  <a:noFill/>
                </a:ln>
                <a:solidFill>
                  <a:srgbClr val="44546A"/>
                </a:solidFill>
                <a:effectLst/>
                <a:uLnTx/>
                <a:uFillTx/>
                <a:latin typeface="Calibri" panose="020F0502020204030204" pitchFamily="34" charset="0"/>
                <a:ea typeface="+mn-ea"/>
                <a:cs typeface="Calibri" panose="020F0502020204030204" pitchFamily="34" charset="0"/>
              </a:rPr>
              <a:t>PoCC</a:t>
            </a: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a:t>
            </a:r>
            <a:r>
              <a:rPr lang="en-US" altLang="zh-CN" sz="1000" b="1">
                <a:solidFill>
                  <a:srgbClr val="44546A"/>
                </a:solidFill>
                <a:latin typeface="Calibri" panose="020F0502020204030204" pitchFamily="34" charset="0"/>
                <a:cs typeface="Calibri" panose="020F0502020204030204" pitchFamily="34" charset="0"/>
              </a:rPr>
              <a:t>Sep</a:t>
            </a: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2026</a:t>
            </a:r>
          </a:p>
        </p:txBody>
      </p:sp>
      <p:sp>
        <p:nvSpPr>
          <p:cNvPr id="12" name="OTLSHAPE_T_5a934a26f311425e8ebaa0f45e6533ad_Shape">
            <a:extLst>
              <a:ext uri="{FF2B5EF4-FFF2-40B4-BE49-F238E27FC236}">
                <a16:creationId xmlns:a16="http://schemas.microsoft.com/office/drawing/2014/main" id="{6DD2BE23-6286-37D3-BA96-E7CFB6E79596}"/>
              </a:ext>
            </a:extLst>
          </p:cNvPr>
          <p:cNvSpPr/>
          <p:nvPr/>
        </p:nvSpPr>
        <p:spPr bwMode="auto">
          <a:xfrm>
            <a:off x="265147" y="5111672"/>
            <a:ext cx="687980" cy="256032"/>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2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JP PK study</a:t>
            </a:r>
          </a:p>
        </p:txBody>
      </p:sp>
      <p:sp>
        <p:nvSpPr>
          <p:cNvPr id="13" name="Rectangle 12">
            <a:extLst>
              <a:ext uri="{FF2B5EF4-FFF2-40B4-BE49-F238E27FC236}">
                <a16:creationId xmlns:a16="http://schemas.microsoft.com/office/drawing/2014/main" id="{EE9E3AF1-B68D-7FA2-F7A5-1603AF7CEF63}"/>
              </a:ext>
            </a:extLst>
          </p:cNvPr>
          <p:cNvSpPr/>
          <p:nvPr/>
        </p:nvSpPr>
        <p:spPr>
          <a:xfrm>
            <a:off x="39640" y="5313437"/>
            <a:ext cx="351378" cy="235898"/>
          </a:xfrm>
          <a:prstGeom prst="rect">
            <a:avLst/>
          </a:prstGeom>
        </p:spPr>
        <p:txBody>
          <a:bodyPr wrap="none">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mn-cs"/>
              </a:rPr>
              <a:t>FSS</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5" name="TextBox 14">
            <a:extLst>
              <a:ext uri="{FF2B5EF4-FFF2-40B4-BE49-F238E27FC236}">
                <a16:creationId xmlns:a16="http://schemas.microsoft.com/office/drawing/2014/main" id="{A89AD2D2-99CA-BB8D-1E3F-A9C3DB20F101}"/>
              </a:ext>
            </a:extLst>
          </p:cNvPr>
          <p:cNvSpPr txBox="1"/>
          <p:nvPr/>
        </p:nvSpPr>
        <p:spPr>
          <a:xfrm>
            <a:off x="-76576" y="4905025"/>
            <a:ext cx="583813" cy="235898"/>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Jul 2023</a:t>
            </a:r>
            <a:endParaRPr kumimoji="0" lang="zh-CN" altLang="en-US"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4499E526-BC74-EFA8-4A58-068ED0AC15C3}"/>
              </a:ext>
            </a:extLst>
          </p:cNvPr>
          <p:cNvSpPr txBox="1"/>
          <p:nvPr/>
        </p:nvSpPr>
        <p:spPr>
          <a:xfrm>
            <a:off x="1141474" y="1896786"/>
            <a:ext cx="455573" cy="379463"/>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Jan</a:t>
            </a:r>
          </a:p>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2024 </a:t>
            </a:r>
          </a:p>
        </p:txBody>
      </p:sp>
      <p:sp>
        <p:nvSpPr>
          <p:cNvPr id="23" name="OTLSHAPE_T_5a934a26f311425e8ebaa0f45e6533ad_Shape">
            <a:extLst>
              <a:ext uri="{FF2B5EF4-FFF2-40B4-BE49-F238E27FC236}">
                <a16:creationId xmlns:a16="http://schemas.microsoft.com/office/drawing/2014/main" id="{3F678F2E-AA4F-8093-61CF-46E4E59F6E48}"/>
              </a:ext>
            </a:extLst>
          </p:cNvPr>
          <p:cNvSpPr/>
          <p:nvPr/>
        </p:nvSpPr>
        <p:spPr bwMode="auto">
          <a:xfrm>
            <a:off x="229717" y="1990935"/>
            <a:ext cx="1018321" cy="256032"/>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896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MRD</a:t>
            </a:r>
          </a:p>
        </p:txBody>
      </p:sp>
      <p:sp>
        <p:nvSpPr>
          <p:cNvPr id="24" name="TextBox 23">
            <a:extLst>
              <a:ext uri="{FF2B5EF4-FFF2-40B4-BE49-F238E27FC236}">
                <a16:creationId xmlns:a16="http://schemas.microsoft.com/office/drawing/2014/main" id="{0C39E95C-C92F-3624-0822-99CB9817FD7A}"/>
              </a:ext>
            </a:extLst>
          </p:cNvPr>
          <p:cNvSpPr txBox="1"/>
          <p:nvPr/>
        </p:nvSpPr>
        <p:spPr>
          <a:xfrm>
            <a:off x="-95426" y="1930134"/>
            <a:ext cx="455573" cy="379463"/>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May </a:t>
            </a:r>
          </a:p>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2023 </a:t>
            </a:r>
          </a:p>
        </p:txBody>
      </p:sp>
      <p:sp>
        <p:nvSpPr>
          <p:cNvPr id="25" name="TextBox 24">
            <a:extLst>
              <a:ext uri="{FF2B5EF4-FFF2-40B4-BE49-F238E27FC236}">
                <a16:creationId xmlns:a16="http://schemas.microsoft.com/office/drawing/2014/main" id="{2D4A3361-8067-AB31-3C35-87747E51E75D}"/>
              </a:ext>
            </a:extLst>
          </p:cNvPr>
          <p:cNvSpPr txBox="1"/>
          <p:nvPr/>
        </p:nvSpPr>
        <p:spPr>
          <a:xfrm>
            <a:off x="-16536" y="2330489"/>
            <a:ext cx="619207" cy="328423"/>
          </a:xfrm>
          <a:prstGeom prst="rect">
            <a:avLst/>
          </a:prstGeom>
          <a:noFill/>
          <a:ln>
            <a:solidFill>
              <a:schemeClr val="accent1"/>
            </a:solidFill>
          </a:ln>
        </p:spPr>
        <p:txBody>
          <a:bodyPr wrap="square" lIns="0" tIns="0" rIns="0" bIns="0" rtlCol="0">
            <a:spAutoFit/>
          </a:bodyPr>
          <a:lstStyle/>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a:t>
            </a:r>
          </a:p>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1490-0004</a:t>
            </a:r>
          </a:p>
        </p:txBody>
      </p:sp>
      <p:sp>
        <p:nvSpPr>
          <p:cNvPr id="26" name="TextBox 25">
            <a:extLst>
              <a:ext uri="{FF2B5EF4-FFF2-40B4-BE49-F238E27FC236}">
                <a16:creationId xmlns:a16="http://schemas.microsoft.com/office/drawing/2014/main" id="{D55E1C5E-8475-5424-C5F5-821C923CA5C9}"/>
              </a:ext>
            </a:extLst>
          </p:cNvPr>
          <p:cNvSpPr txBox="1"/>
          <p:nvPr/>
        </p:nvSpPr>
        <p:spPr>
          <a:xfrm>
            <a:off x="-15322" y="4267747"/>
            <a:ext cx="390228" cy="369332"/>
          </a:xfrm>
          <a:prstGeom prst="rect">
            <a:avLst/>
          </a:prstGeom>
          <a:noFill/>
          <a:ln>
            <a:solidFill>
              <a:schemeClr val="accent1"/>
            </a:solidFill>
          </a:ln>
        </p:spPr>
        <p:txBody>
          <a:bodyPr wrap="square" lIns="0" tIns="0" rIns="0" bIns="0" rtlCol="0">
            <a:spAutoFit/>
          </a:bodyPr>
          <a:lstStyle/>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a:t>
            </a:r>
          </a:p>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1490-0004</a:t>
            </a:r>
          </a:p>
        </p:txBody>
      </p:sp>
      <p:sp>
        <p:nvSpPr>
          <p:cNvPr id="27" name="TextBox 26">
            <a:extLst>
              <a:ext uri="{FF2B5EF4-FFF2-40B4-BE49-F238E27FC236}">
                <a16:creationId xmlns:a16="http://schemas.microsoft.com/office/drawing/2014/main" id="{521700FA-90EB-3053-5729-93DB7A2AD69F}"/>
              </a:ext>
            </a:extLst>
          </p:cNvPr>
          <p:cNvSpPr txBox="1"/>
          <p:nvPr/>
        </p:nvSpPr>
        <p:spPr>
          <a:xfrm>
            <a:off x="3358" y="3107867"/>
            <a:ext cx="619207" cy="164212"/>
          </a:xfrm>
          <a:prstGeom prst="rect">
            <a:avLst/>
          </a:prstGeom>
          <a:noFill/>
          <a:ln>
            <a:solidFill>
              <a:schemeClr val="accent1"/>
            </a:solidFill>
          </a:ln>
        </p:spPr>
        <p:txBody>
          <a:bodyPr wrap="square" lIns="0" tIns="0" rIns="0" bIns="0" rtlCol="0">
            <a:spAutoFit/>
          </a:bodyPr>
          <a:lstStyle/>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p:txBody>
      </p:sp>
      <p:sp>
        <p:nvSpPr>
          <p:cNvPr id="64" name="OTLSHAPE_T_e17f3958430f4cff8650518c93c7635e_StartDate">
            <a:extLst>
              <a:ext uri="{FF2B5EF4-FFF2-40B4-BE49-F238E27FC236}">
                <a16:creationId xmlns:a16="http://schemas.microsoft.com/office/drawing/2014/main" id="{9224C17E-1AA1-4096-A3FD-25D6FD8BA444}"/>
              </a:ext>
            </a:extLst>
          </p:cNvPr>
          <p:cNvSpPr txBox="1"/>
          <p:nvPr>
            <p:custDataLst>
              <p:tags r:id="rId20"/>
            </p:custDataLst>
          </p:nvPr>
        </p:nvSpPr>
        <p:spPr>
          <a:xfrm>
            <a:off x="5763156" y="1915396"/>
            <a:ext cx="670375" cy="379463"/>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pPr marL="0" marR="0" lvl="0" indent="0" algn="ctr" defTabSz="91431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Key result</a:t>
            </a:r>
          </a:p>
          <a:p>
            <a:pPr marL="0" marR="0" lvl="0" indent="0" algn="ctr" defTabSz="91431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Sep 2026</a:t>
            </a:r>
            <a:endParaRPr kumimoji="0" lang="zh-CN" altLang="en-US" sz="933" b="0"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4" name="TextBox 13">
            <a:extLst>
              <a:ext uri="{FF2B5EF4-FFF2-40B4-BE49-F238E27FC236}">
                <a16:creationId xmlns:a16="http://schemas.microsoft.com/office/drawing/2014/main" id="{F2153FC9-FCC8-7E7E-58D9-561F5D35A8F5}"/>
              </a:ext>
            </a:extLst>
          </p:cNvPr>
          <p:cNvSpPr txBox="1"/>
          <p:nvPr/>
        </p:nvSpPr>
        <p:spPr>
          <a:xfrm>
            <a:off x="795606" y="5313437"/>
            <a:ext cx="724878" cy="235898"/>
          </a:xfrm>
          <a:prstGeom prst="rect">
            <a:avLst/>
          </a:prstGeom>
        </p:spPr>
        <p:txBody>
          <a:bodyPr wrap="none">
            <a:spAutoFit/>
          </a:bodyPr>
          <a:lstStyle>
            <a:defPPr>
              <a:defRPr lang="de-DE"/>
            </a:defPPr>
            <a:lvl1pPr algn="ctr">
              <a:defRPr sz="900" b="1">
                <a:solidFill>
                  <a:srgbClr val="44546A"/>
                </a:solidFill>
                <a:latin typeface="Calibri" panose="020F0502020204030204" pitchFamily="34" charset="0"/>
              </a:defRPr>
            </a:lvl1p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mn-cs"/>
              </a:rPr>
              <a:t>JP PK data </a:t>
            </a:r>
          </a:p>
        </p:txBody>
      </p:sp>
      <p:sp>
        <p:nvSpPr>
          <p:cNvPr id="7" name="OTLSHAPE_T_e17f3958430f4cff8650518c93c7635e_StartDate">
            <a:extLst>
              <a:ext uri="{FF2B5EF4-FFF2-40B4-BE49-F238E27FC236}">
                <a16:creationId xmlns:a16="http://schemas.microsoft.com/office/drawing/2014/main" id="{738A70B0-C5E4-DAB4-FB50-FECA75E43C02}"/>
              </a:ext>
            </a:extLst>
          </p:cNvPr>
          <p:cNvSpPr txBox="1"/>
          <p:nvPr>
            <p:custDataLst>
              <p:tags r:id="rId21"/>
            </p:custDataLst>
          </p:nvPr>
        </p:nvSpPr>
        <p:spPr>
          <a:xfrm>
            <a:off x="2052623" y="1484295"/>
            <a:ext cx="728996" cy="164212"/>
          </a:xfrm>
          <a:prstGeom prst="rect">
            <a:avLst/>
          </a:prstGeom>
          <a:noFill/>
          <a:ln w="12700">
            <a:noFill/>
          </a:ln>
        </p:spPr>
        <p:txBody>
          <a:bodyPr vert="horz" wrap="square" lIns="0" tIns="0" rIns="0" bIns="0" rtlCol="0" anchor="ctr" anchorCtr="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cxnSp>
        <p:nvCxnSpPr>
          <p:cNvPr id="20" name="Straight Connector 19">
            <a:extLst>
              <a:ext uri="{FF2B5EF4-FFF2-40B4-BE49-F238E27FC236}">
                <a16:creationId xmlns:a16="http://schemas.microsoft.com/office/drawing/2014/main" id="{AA32F3B2-8CC4-4858-46F3-72CB3AB63665}"/>
              </a:ext>
            </a:extLst>
          </p:cNvPr>
          <p:cNvCxnSpPr>
            <a:cxnSpLocks/>
          </p:cNvCxnSpPr>
          <p:nvPr/>
        </p:nvCxnSpPr>
        <p:spPr bwMode="auto">
          <a:xfrm flipV="1">
            <a:off x="5010930" y="1605371"/>
            <a:ext cx="0" cy="5033297"/>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28" name="OTLSHAPE_T_e17f3958430f4cff8650518c93c7635e_Shape">
            <a:extLst>
              <a:ext uri="{FF2B5EF4-FFF2-40B4-BE49-F238E27FC236}">
                <a16:creationId xmlns:a16="http://schemas.microsoft.com/office/drawing/2014/main" id="{5ABA164D-AD95-0445-0054-1F6A5F688C9F}"/>
              </a:ext>
            </a:extLst>
          </p:cNvPr>
          <p:cNvSpPr/>
          <p:nvPr>
            <p:custDataLst>
              <p:tags r:id="rId22"/>
            </p:custDataLst>
          </p:nvPr>
        </p:nvSpPr>
        <p:spPr bwMode="auto">
          <a:xfrm>
            <a:off x="4728792" y="3011104"/>
            <a:ext cx="1114990" cy="321881"/>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20" rtl="0" eaLnBrk="0" fontAlgn="base" latinLnBrk="0" hangingPunct="0">
              <a:lnSpc>
                <a:spcPct val="100000"/>
              </a:lnSpc>
              <a:spcBef>
                <a:spcPct val="0"/>
              </a:spcBef>
              <a:spcAft>
                <a:spcPct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Ph2 PPF(50) cohort</a:t>
            </a:r>
            <a:endParaRPr kumimoji="0" lang="zh-CN" altLang="en-US"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9" name="OTLSHAPE_T_e17f3958430f4cff8650518c93c7635e_Shape">
            <a:extLst>
              <a:ext uri="{FF2B5EF4-FFF2-40B4-BE49-F238E27FC236}">
                <a16:creationId xmlns:a16="http://schemas.microsoft.com/office/drawing/2014/main" id="{04CA82CF-38A6-963D-6933-5F1EB1CCBF51}"/>
              </a:ext>
            </a:extLst>
          </p:cNvPr>
          <p:cNvSpPr/>
          <p:nvPr>
            <p:custDataLst>
              <p:tags r:id="rId23"/>
            </p:custDataLst>
          </p:nvPr>
        </p:nvSpPr>
        <p:spPr bwMode="auto">
          <a:xfrm>
            <a:off x="4694917" y="4720593"/>
            <a:ext cx="1107095" cy="305723"/>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20" rtl="0" eaLnBrk="0" fontAlgn="base" latinLnBrk="0" hangingPunct="0">
              <a:lnSpc>
                <a:spcPct val="100000"/>
              </a:lnSpc>
              <a:spcBef>
                <a:spcPct val="0"/>
              </a:spcBef>
              <a:spcAft>
                <a:spcPct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Ph2 PPF cohort</a:t>
            </a:r>
            <a:endParaRPr kumimoji="0" lang="zh-CN" altLang="en-US"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4" name="OTLSHAPE_T_e17f3958430f4cff8650518c93c7635e_StartDate">
            <a:extLst>
              <a:ext uri="{FF2B5EF4-FFF2-40B4-BE49-F238E27FC236}">
                <a16:creationId xmlns:a16="http://schemas.microsoft.com/office/drawing/2014/main" id="{3E52F878-A1E8-C67A-91D2-721042A97AAB}"/>
              </a:ext>
            </a:extLst>
          </p:cNvPr>
          <p:cNvSpPr txBox="1"/>
          <p:nvPr>
            <p:custDataLst>
              <p:tags r:id="rId24"/>
            </p:custDataLst>
          </p:nvPr>
        </p:nvSpPr>
        <p:spPr>
          <a:xfrm>
            <a:off x="4462057" y="2681412"/>
            <a:ext cx="1008844" cy="235898"/>
          </a:xfrm>
          <a:prstGeom prst="rect">
            <a:avLst/>
          </a:prstGeom>
        </p:spPr>
        <p:txBody>
          <a:bodyPr wrap="squar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pPr marL="0" marR="0" lvl="0" indent="0" algn="ctr" defTabSz="91431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FSS </a:t>
            </a:r>
            <a:r>
              <a:rPr lang="en-US" altLang="zh-CN" sz="933">
                <a:solidFill>
                  <a:prstClr val="black"/>
                </a:solidFill>
              </a:rPr>
              <a:t>Oct </a:t>
            </a:r>
            <a:r>
              <a:rPr kumimoji="0" lang="en-US" altLang="zh-CN"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2025</a:t>
            </a:r>
            <a:endParaRPr kumimoji="0" lang="zh-CN" altLang="en-US"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6" name="OTLSHAPE_T_e17f3958430f4cff8650518c93c7635e_StartDate">
            <a:extLst>
              <a:ext uri="{FF2B5EF4-FFF2-40B4-BE49-F238E27FC236}">
                <a16:creationId xmlns:a16="http://schemas.microsoft.com/office/drawing/2014/main" id="{B8021723-E3DD-9FE9-0042-59816917A609}"/>
              </a:ext>
            </a:extLst>
          </p:cNvPr>
          <p:cNvSpPr txBox="1"/>
          <p:nvPr>
            <p:custDataLst>
              <p:tags r:id="rId25"/>
            </p:custDataLst>
          </p:nvPr>
        </p:nvSpPr>
        <p:spPr>
          <a:xfrm>
            <a:off x="1799079" y="3967678"/>
            <a:ext cx="521298" cy="235898"/>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pPr marL="0" marR="0" lvl="0" indent="0" algn="ctr" defTabSz="9143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Resub.</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9" name="Star: 4 Points 143">
            <a:extLst>
              <a:ext uri="{FF2B5EF4-FFF2-40B4-BE49-F238E27FC236}">
                <a16:creationId xmlns:a16="http://schemas.microsoft.com/office/drawing/2014/main" id="{32BB8D09-6D74-028A-8244-0AFBBAF40738}"/>
              </a:ext>
            </a:extLst>
          </p:cNvPr>
          <p:cNvSpPr/>
          <p:nvPr/>
        </p:nvSpPr>
        <p:spPr bwMode="auto">
          <a:xfrm>
            <a:off x="4541588" y="251362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6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36" name="Star: 4 Points 143">
            <a:extLst>
              <a:ext uri="{FF2B5EF4-FFF2-40B4-BE49-F238E27FC236}">
                <a16:creationId xmlns:a16="http://schemas.microsoft.com/office/drawing/2014/main" id="{28E430A0-5F60-AD16-F792-61BE6D7716D5}"/>
              </a:ext>
            </a:extLst>
          </p:cNvPr>
          <p:cNvSpPr/>
          <p:nvPr/>
        </p:nvSpPr>
        <p:spPr bwMode="auto">
          <a:xfrm>
            <a:off x="4602796" y="320405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6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37" name="OTLSHAPE_T_e17f3958430f4cff8650518c93c7635e_StartDate">
            <a:extLst>
              <a:ext uri="{FF2B5EF4-FFF2-40B4-BE49-F238E27FC236}">
                <a16:creationId xmlns:a16="http://schemas.microsoft.com/office/drawing/2014/main" id="{DE21E4DE-E60C-3044-E917-3F12FDB6AB20}"/>
              </a:ext>
            </a:extLst>
          </p:cNvPr>
          <p:cNvSpPr txBox="1"/>
          <p:nvPr>
            <p:custDataLst>
              <p:tags r:id="rId26"/>
            </p:custDataLst>
          </p:nvPr>
        </p:nvSpPr>
        <p:spPr>
          <a:xfrm>
            <a:off x="7336309" y="4786240"/>
            <a:ext cx="841897" cy="235898"/>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FSS Oct 2027</a:t>
            </a:r>
            <a:endParaRPr kumimoji="0" lang="zh-CN" altLang="en-US"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5-Point Star 5">
            <a:extLst>
              <a:ext uri="{FF2B5EF4-FFF2-40B4-BE49-F238E27FC236}">
                <a16:creationId xmlns:a16="http://schemas.microsoft.com/office/drawing/2014/main" id="{AE2F595A-B07F-3580-C3B0-16E3787B6CB7}"/>
              </a:ext>
            </a:extLst>
          </p:cNvPr>
          <p:cNvSpPr/>
          <p:nvPr/>
        </p:nvSpPr>
        <p:spPr>
          <a:xfrm>
            <a:off x="6990463" y="5006414"/>
            <a:ext cx="154005" cy="160143"/>
          </a:xfrm>
          <a:prstGeom prst="star5">
            <a:avLst/>
          </a:prstGeom>
          <a:solidFill>
            <a:schemeClr val="accent5">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39" name="Star: 4 Points 143">
            <a:extLst>
              <a:ext uri="{FF2B5EF4-FFF2-40B4-BE49-F238E27FC236}">
                <a16:creationId xmlns:a16="http://schemas.microsoft.com/office/drawing/2014/main" id="{1E02A7DF-2F4F-C6AF-C28F-8C7AE6C0DB1D}"/>
              </a:ext>
            </a:extLst>
          </p:cNvPr>
          <p:cNvSpPr/>
          <p:nvPr/>
        </p:nvSpPr>
        <p:spPr bwMode="auto">
          <a:xfrm>
            <a:off x="3694944" y="215367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6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40" name="OTLSHAPE_T_e17f3958430f4cff8650518c93c7635e_StartDate">
            <a:extLst>
              <a:ext uri="{FF2B5EF4-FFF2-40B4-BE49-F238E27FC236}">
                <a16:creationId xmlns:a16="http://schemas.microsoft.com/office/drawing/2014/main" id="{0A6D7EAB-A3B8-8130-9A3A-C98E5285B504}"/>
              </a:ext>
            </a:extLst>
          </p:cNvPr>
          <p:cNvSpPr txBox="1"/>
          <p:nvPr>
            <p:custDataLst>
              <p:tags r:id="rId27"/>
            </p:custDataLst>
          </p:nvPr>
        </p:nvSpPr>
        <p:spPr>
          <a:xfrm>
            <a:off x="3260270" y="1706488"/>
            <a:ext cx="952505" cy="379463"/>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6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75 pts screened</a:t>
            </a:r>
          </a:p>
          <a:p>
            <a:pPr marL="0" marR="0" lvl="0" indent="0" algn="ctr" defTabSz="1218960" rtl="0" eaLnBrk="1" fontAlgn="auto" latinLnBrk="0" hangingPunct="1">
              <a:lnSpc>
                <a:spcPct val="100000"/>
              </a:lnSpc>
              <a:spcBef>
                <a:spcPts val="0"/>
              </a:spcBef>
              <a:spcAft>
                <a:spcPts val="0"/>
              </a:spcAft>
              <a:buClrTx/>
              <a:buSzTx/>
              <a:buFontTx/>
              <a:buNone/>
              <a:tabLst/>
              <a:defRPr/>
            </a:pPr>
            <a:r>
              <a:rPr lang="en-US" altLang="zh-CN" sz="933">
                <a:solidFill>
                  <a:prstClr val="black"/>
                </a:solidFill>
              </a:rPr>
              <a:t>May</a:t>
            </a:r>
            <a:r>
              <a:rPr kumimoji="0" lang="en-US" altLang="zh-CN"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2025</a:t>
            </a:r>
            <a:endParaRPr kumimoji="0" lang="zh-CN" altLang="en-US"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 name="OTLSHAPE_T_e17f3958430f4cff8650518c93c7635e_StartDate">
            <a:extLst>
              <a:ext uri="{FF2B5EF4-FFF2-40B4-BE49-F238E27FC236}">
                <a16:creationId xmlns:a16="http://schemas.microsoft.com/office/drawing/2014/main" id="{75DE08BA-7804-C848-9D87-D1D26BAA9F90}"/>
              </a:ext>
            </a:extLst>
          </p:cNvPr>
          <p:cNvSpPr txBox="1"/>
          <p:nvPr>
            <p:custDataLst>
              <p:tags r:id="rId28"/>
            </p:custDataLst>
          </p:nvPr>
        </p:nvSpPr>
        <p:spPr>
          <a:xfrm>
            <a:off x="4524151" y="3391206"/>
            <a:ext cx="798037" cy="235898"/>
          </a:xfrm>
          <a:prstGeom prst="rect">
            <a:avLst/>
          </a:prstGeom>
        </p:spPr>
        <p:txBody>
          <a:bodyPr wrap="squar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pPr marL="0" marR="0" lvl="0" indent="0" algn="ctr" defTabSz="91431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FSS Oct2025</a:t>
            </a:r>
            <a:endParaRPr kumimoji="0" lang="zh-CN" altLang="en-US"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Star: 4 Points 143">
            <a:extLst>
              <a:ext uri="{FF2B5EF4-FFF2-40B4-BE49-F238E27FC236}">
                <a16:creationId xmlns:a16="http://schemas.microsoft.com/office/drawing/2014/main" id="{B858C629-CAF1-203B-D92E-6DCA2CCD5421}"/>
              </a:ext>
            </a:extLst>
          </p:cNvPr>
          <p:cNvSpPr/>
          <p:nvPr/>
        </p:nvSpPr>
        <p:spPr bwMode="auto">
          <a:xfrm>
            <a:off x="5743861" y="321267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6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43" name="OTLSHAPE_T_e17f3958430f4cff8650518c93c7635e_StartDate">
            <a:extLst>
              <a:ext uri="{FF2B5EF4-FFF2-40B4-BE49-F238E27FC236}">
                <a16:creationId xmlns:a16="http://schemas.microsoft.com/office/drawing/2014/main" id="{CA08FB3C-8B84-E5E5-3F60-6F696A89F501}"/>
              </a:ext>
            </a:extLst>
          </p:cNvPr>
          <p:cNvSpPr txBox="1"/>
          <p:nvPr>
            <p:custDataLst>
              <p:tags r:id="rId29"/>
            </p:custDataLst>
          </p:nvPr>
        </p:nvSpPr>
        <p:spPr>
          <a:xfrm>
            <a:off x="5388418" y="3374101"/>
            <a:ext cx="798037" cy="379463"/>
          </a:xfrm>
          <a:prstGeom prst="rect">
            <a:avLst/>
          </a:prstGeom>
        </p:spPr>
        <p:txBody>
          <a:bodyPr wrap="squar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pPr marL="0" marR="0" lvl="0" indent="0" algn="ctr" defTabSz="91431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LSLV </a:t>
            </a:r>
            <a:r>
              <a:rPr lang="en-US" altLang="zh-CN" sz="933">
                <a:solidFill>
                  <a:prstClr val="black"/>
                </a:solidFill>
              </a:rPr>
              <a:t>Apr</a:t>
            </a:r>
            <a:r>
              <a:rPr kumimoji="0" lang="en-US" altLang="zh-CN"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2026</a:t>
            </a:r>
            <a:endParaRPr kumimoji="0" lang="zh-CN" altLang="en-US" sz="933"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0" name="等腰三角形 9">
            <a:extLst>
              <a:ext uri="{FF2B5EF4-FFF2-40B4-BE49-F238E27FC236}">
                <a16:creationId xmlns:a16="http://schemas.microsoft.com/office/drawing/2014/main" id="{457E1C5E-C743-62AF-D351-EED2B190312C}"/>
              </a:ext>
            </a:extLst>
          </p:cNvPr>
          <p:cNvSpPr/>
          <p:nvPr/>
        </p:nvSpPr>
        <p:spPr bwMode="gray">
          <a:xfrm>
            <a:off x="5470901" y="5466662"/>
            <a:ext cx="146813" cy="123634"/>
          </a:xfrm>
          <a:prstGeom prst="triangle">
            <a:avLst/>
          </a:prstGeom>
          <a:solidFill>
            <a:srgbClr val="076D7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8" name="文本框 17">
            <a:extLst>
              <a:ext uri="{FF2B5EF4-FFF2-40B4-BE49-F238E27FC236}">
                <a16:creationId xmlns:a16="http://schemas.microsoft.com/office/drawing/2014/main" id="{B583BB19-2D81-E894-6826-65C7E84CE0A1}"/>
              </a:ext>
            </a:extLst>
          </p:cNvPr>
          <p:cNvSpPr txBox="1"/>
          <p:nvPr/>
        </p:nvSpPr>
        <p:spPr bwMode="gray">
          <a:xfrm>
            <a:off x="5633695" y="5466662"/>
            <a:ext cx="1247389" cy="138243"/>
          </a:xfrm>
          <a:prstGeom prst="rect">
            <a:avLst/>
          </a:prstGeom>
          <a:noFill/>
        </p:spPr>
        <p:txBody>
          <a:bodyPr wrap="square" lIns="0" tIns="0" rIns="0" bIns="0" rtlCol="0">
            <a:spAutoFit/>
          </a:bodyPr>
          <a:lstStyle/>
          <a:p>
            <a:pPr algn="l">
              <a:lnSpc>
                <a:spcPct val="140000"/>
              </a:lnSpc>
            </a:pPr>
            <a:r>
              <a:rPr lang="en-US" altLang="zh-CN" sz="700"/>
              <a:t>China PK(for NDA) discussion </a:t>
            </a:r>
            <a:endParaRPr lang="zh-CN" altLang="en-US" sz="700"/>
          </a:p>
        </p:txBody>
      </p:sp>
      <p:sp>
        <p:nvSpPr>
          <p:cNvPr id="21" name="文本框 20">
            <a:extLst>
              <a:ext uri="{FF2B5EF4-FFF2-40B4-BE49-F238E27FC236}">
                <a16:creationId xmlns:a16="http://schemas.microsoft.com/office/drawing/2014/main" id="{C35F0E92-788F-10A0-2813-A16079F721D2}"/>
              </a:ext>
            </a:extLst>
          </p:cNvPr>
          <p:cNvSpPr txBox="1"/>
          <p:nvPr/>
        </p:nvSpPr>
        <p:spPr bwMode="gray">
          <a:xfrm>
            <a:off x="5136293" y="5846805"/>
            <a:ext cx="6913604" cy="10120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ts val="2025"/>
              </a:lnSpc>
            </a:pPr>
            <a:r>
              <a:rPr lang="en-US" altLang="zh-CN" sz="1400" b="1">
                <a:cs typeface="Arial"/>
              </a:rPr>
              <a:t>Project Update BI 1839100 (TRPA-1 </a:t>
            </a:r>
            <a:r>
              <a:rPr lang="en-US" altLang="zh-CN" sz="1400" b="1" err="1">
                <a:cs typeface="Arial"/>
              </a:rPr>
              <a:t>inh</a:t>
            </a:r>
            <a:r>
              <a:rPr lang="en-US" altLang="zh-CN" sz="1400" b="1">
                <a:cs typeface="Arial"/>
              </a:rPr>
              <a:t>) discontinued:</a:t>
            </a:r>
            <a:r>
              <a:rPr lang="en-US" altLang="zh-CN" sz="1400">
                <a:cs typeface="Arial"/>
              </a:rPr>
              <a:t>​</a:t>
            </a:r>
          </a:p>
          <a:p>
            <a:pPr marL="285750" indent="-285750">
              <a:lnSpc>
                <a:spcPts val="2025"/>
              </a:lnSpc>
              <a:buFont typeface="Arial,Sans-Serif"/>
              <a:buChar char="•"/>
            </a:pPr>
            <a:r>
              <a:rPr lang="en-US" altLang="zh-CN" sz="1400">
                <a:cs typeface="Arial"/>
              </a:rPr>
              <a:t>pre-specified </a:t>
            </a:r>
            <a:r>
              <a:rPr lang="en-US" altLang="zh-CN" sz="1400" err="1">
                <a:cs typeface="Arial"/>
              </a:rPr>
              <a:t>PoCP</a:t>
            </a:r>
            <a:r>
              <a:rPr lang="en-US" altLang="zh-CN" sz="1400">
                <a:cs typeface="Arial"/>
              </a:rPr>
              <a:t> criteria in Ph </a:t>
            </a:r>
            <a:r>
              <a:rPr lang="en-US" altLang="zh-CN" sz="1400" err="1">
                <a:cs typeface="Arial"/>
              </a:rPr>
              <a:t>IIa</a:t>
            </a:r>
            <a:r>
              <a:rPr lang="en-US" altLang="zh-CN" sz="1400">
                <a:cs typeface="Arial"/>
              </a:rPr>
              <a:t> study conducted in IPF patients not met. ​</a:t>
            </a:r>
          </a:p>
          <a:p>
            <a:pPr marL="285750" indent="-285750">
              <a:lnSpc>
                <a:spcPts val="2025"/>
              </a:lnSpc>
              <a:buFont typeface="Arial,Sans-Serif"/>
              <a:buChar char="•"/>
            </a:pPr>
            <a:r>
              <a:rPr lang="en-US" altLang="zh-CN" sz="1400">
                <a:cs typeface="Arial"/>
              </a:rPr>
              <a:t>IUEC decision of discontinuation. ​</a:t>
            </a:r>
          </a:p>
          <a:p>
            <a:pPr marL="285750" indent="-285750">
              <a:lnSpc>
                <a:spcPts val="2025"/>
              </a:lnSpc>
              <a:buFont typeface="Arial,Sans-Serif"/>
              <a:buChar char="•"/>
            </a:pPr>
            <a:r>
              <a:rPr lang="en-US" altLang="zh-CN" sz="1400">
                <a:cs typeface="Arial"/>
              </a:rPr>
              <a:t>Terminate and wrap up activities for all clinical and non-clinical ongoing.</a:t>
            </a:r>
          </a:p>
        </p:txBody>
      </p:sp>
    </p:spTree>
    <p:extLst>
      <p:ext uri="{BB962C8B-B14F-4D97-AF65-F5344CB8AC3E}">
        <p14:creationId xmlns:p14="http://schemas.microsoft.com/office/powerpoint/2010/main" val="4240178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 name="OTLSHAPE_T_5a934a26f311425e8ebaa0f45e6533ad_Shape">
            <a:extLst>
              <a:ext uri="{FF2B5EF4-FFF2-40B4-BE49-F238E27FC236}">
                <a16:creationId xmlns:a16="http://schemas.microsoft.com/office/drawing/2014/main" id="{A1E70551-578A-4B35-ACAC-04BA6E603952}"/>
              </a:ext>
            </a:extLst>
          </p:cNvPr>
          <p:cNvSpPr/>
          <p:nvPr>
            <p:custDataLst>
              <p:tags r:id="rId1"/>
            </p:custDataLst>
          </p:nvPr>
        </p:nvSpPr>
        <p:spPr bwMode="auto">
          <a:xfrm>
            <a:off x="9434061" y="2921863"/>
            <a:ext cx="1974499" cy="256032"/>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itle 2"/>
          <p:cNvSpPr>
            <a:spLocks noGrp="1"/>
          </p:cNvSpPr>
          <p:nvPr>
            <p:ph type="title"/>
          </p:nvPr>
        </p:nvSpPr>
        <p:spPr>
          <a:xfrm>
            <a:off x="43155" y="-175008"/>
            <a:ext cx="11233151" cy="720000"/>
          </a:xfrm>
        </p:spPr>
        <p:txBody>
          <a:bodyPr vert="horz" wrap="square" lIns="0" tIns="0" rIns="0" bIns="0" rtlCol="0" anchor="t" anchorCtr="0">
            <a:noAutofit/>
          </a:bodyPr>
          <a:lstStyle/>
          <a:p>
            <a:br>
              <a:rPr lang="en-US" altLang="zh-CN" b="1">
                <a:latin typeface="Calibri" panose="020F0502020204030204" pitchFamily="34" charset="0"/>
                <a:cs typeface="Calibri" panose="020F0502020204030204" pitchFamily="34" charset="0"/>
              </a:rPr>
            </a:br>
            <a:r>
              <a:rPr lang="en-US" altLang="zh-CN" b="1" err="1">
                <a:latin typeface="Calibri" panose="020F0502020204030204" pitchFamily="34" charset="0"/>
                <a:cs typeface="Calibri" panose="020F0502020204030204" pitchFamily="34" charset="0"/>
              </a:rPr>
              <a:t>Avenciguat</a:t>
            </a:r>
            <a:r>
              <a:rPr lang="en-US" altLang="zh-CN">
                <a:latin typeface="Calibri" panose="020F0502020204030204" pitchFamily="34" charset="0"/>
                <a:cs typeface="Calibri" panose="020F0502020204030204" pitchFamily="34" charset="0"/>
              </a:rPr>
              <a:t> </a:t>
            </a:r>
            <a:r>
              <a:rPr lang="en-US" altLang="zh-CN" b="1">
                <a:latin typeface="Calibri" panose="020F0502020204030204" pitchFamily="34" charset="0"/>
                <a:cs typeface="Calibri" panose="020F0502020204030204" pitchFamily="34" charset="0"/>
              </a:rPr>
              <a:t>(</a:t>
            </a:r>
            <a:r>
              <a:rPr lang="en-US" altLang="zh-CN" b="1" err="1">
                <a:latin typeface="Calibri" panose="020F0502020204030204" pitchFamily="34" charset="0"/>
                <a:cs typeface="Calibri" panose="020F0502020204030204" pitchFamily="34" charset="0"/>
              </a:rPr>
              <a:t>sGC</a:t>
            </a:r>
            <a:r>
              <a:rPr lang="en-US" altLang="zh-CN" b="1">
                <a:latin typeface="Calibri" panose="020F0502020204030204" pitchFamily="34" charset="0"/>
                <a:cs typeface="Calibri" panose="020F0502020204030204" pitchFamily="34" charset="0"/>
              </a:rPr>
              <a:t> Activator): Systemic Sclerosis (SSc)</a:t>
            </a:r>
            <a:r>
              <a:rPr lang="zh-CN" altLang="en-US" b="1">
                <a:latin typeface="Calibri" panose="020F0502020204030204" pitchFamily="34" charset="0"/>
                <a:cs typeface="Calibri" panose="020F0502020204030204" pitchFamily="34" charset="0"/>
              </a:rPr>
              <a:t>： </a:t>
            </a:r>
            <a:r>
              <a:rPr lang="en-US" altLang="zh-CN">
                <a:latin typeface="Calibri" panose="020F0502020204030204" pitchFamily="34" charset="0"/>
                <a:cs typeface="Calibri" panose="020F0502020204030204" pitchFamily="34" charset="0"/>
              </a:rPr>
              <a:t>Ph2 </a:t>
            </a:r>
            <a:endParaRPr lang="en-US" b="1">
              <a:latin typeface="Calibri" panose="020F0502020204030204" pitchFamily="34" charset="0"/>
              <a:cs typeface="Calibri" panose="020F0502020204030204" pitchFamily="34" charset="0"/>
            </a:endParaRPr>
          </a:p>
        </p:txBody>
      </p:sp>
      <p:sp>
        <p:nvSpPr>
          <p:cNvPr id="11" name="灯片编号占位符 10"/>
          <p:cNvSpPr>
            <a:spLocks noGrp="1"/>
          </p:cNvSpPr>
          <p:nvPr>
            <p:ph type="sldNum" sz="quarter" idx="20"/>
          </p:nvPr>
        </p:nvSpPr>
        <p:spPr/>
        <p:txBody>
          <a:bodyPr/>
          <a:lstStyle/>
          <a:p>
            <a:pPr marL="0" marR="0" lvl="0" indent="0" algn="r" defTabSz="121902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000" b="0" i="0" u="none" strike="noStrike" kern="1200" cap="none" spc="0" normalizeH="0" baseline="0" noProof="0">
                <a:ln>
                  <a:noFill/>
                </a:ln>
                <a:solidFill>
                  <a:srgbClr val="FFFFFF">
                    <a:lumMod val="50000"/>
                  </a:srgbClr>
                </a:solidFill>
                <a:effectLst/>
                <a:uLnTx/>
                <a:uFillTx/>
                <a:latin typeface="BISansCond" panose="02000006050000020004" pitchFamily="2" charset="0"/>
                <a:ea typeface="+mn-ea"/>
                <a:cs typeface="+mn-cs"/>
              </a:rPr>
              <a:pPr marL="0" marR="0" lvl="0" indent="0" algn="r" defTabSz="1219020" rtl="0" eaLnBrk="1" fontAlgn="auto" latinLnBrk="0" hangingPunct="1">
                <a:lnSpc>
                  <a:spcPct val="100000"/>
                </a:lnSpc>
                <a:spcBef>
                  <a:spcPts val="0"/>
                </a:spcBef>
                <a:spcAft>
                  <a:spcPts val="0"/>
                </a:spcAft>
                <a:buClrTx/>
                <a:buSzTx/>
                <a:buFontTx/>
                <a:buNone/>
                <a:tabLst/>
                <a:defRPr/>
              </a:pPr>
              <a:t>62</a:t>
            </a:fld>
            <a:endParaRPr kumimoji="0" lang="en-GB" sz="1000" b="0" i="0" u="none" strike="noStrike" kern="1200" cap="none" spc="0" normalizeH="0" baseline="0" noProof="0">
              <a:ln>
                <a:noFill/>
              </a:ln>
              <a:solidFill>
                <a:srgbClr val="FFFFFF">
                  <a:lumMod val="50000"/>
                </a:srgbClr>
              </a:solidFill>
              <a:effectLst/>
              <a:uLnTx/>
              <a:uFillTx/>
              <a:latin typeface="BISansCond" panose="02000006050000020004" pitchFamily="2" charset="0"/>
              <a:ea typeface="+mn-ea"/>
              <a:cs typeface="+mn-cs"/>
            </a:endParaRPr>
          </a:p>
        </p:txBody>
      </p:sp>
      <p:graphicFrame>
        <p:nvGraphicFramePr>
          <p:cNvPr id="4" name="Table 3">
            <a:extLst>
              <a:ext uri="{FF2B5EF4-FFF2-40B4-BE49-F238E27FC236}">
                <a16:creationId xmlns:a16="http://schemas.microsoft.com/office/drawing/2014/main" id="{EB1832F7-86BE-4DEE-91F1-447638E4A957}"/>
              </a:ext>
            </a:extLst>
          </p:cNvPr>
          <p:cNvGraphicFramePr>
            <a:graphicFrameLocks noGrp="1"/>
          </p:cNvGraphicFramePr>
          <p:nvPr/>
        </p:nvGraphicFramePr>
        <p:xfrm>
          <a:off x="43155" y="982328"/>
          <a:ext cx="11708466" cy="685800"/>
        </p:xfrm>
        <a:graphic>
          <a:graphicData uri="http://schemas.openxmlformats.org/drawingml/2006/table">
            <a:tbl>
              <a:tblPr firstRow="1" bandRow="1"/>
              <a:tblGrid>
                <a:gridCol w="532203">
                  <a:extLst>
                    <a:ext uri="{9D8B030D-6E8A-4147-A177-3AD203B41FA5}">
                      <a16:colId xmlns:a16="http://schemas.microsoft.com/office/drawing/2014/main" val="3091663135"/>
                    </a:ext>
                  </a:extLst>
                </a:gridCol>
                <a:gridCol w="532203">
                  <a:extLst>
                    <a:ext uri="{9D8B030D-6E8A-4147-A177-3AD203B41FA5}">
                      <a16:colId xmlns:a16="http://schemas.microsoft.com/office/drawing/2014/main" val="2003423086"/>
                    </a:ext>
                  </a:extLst>
                </a:gridCol>
                <a:gridCol w="532203">
                  <a:extLst>
                    <a:ext uri="{9D8B030D-6E8A-4147-A177-3AD203B41FA5}">
                      <a16:colId xmlns:a16="http://schemas.microsoft.com/office/drawing/2014/main" val="2466911814"/>
                    </a:ext>
                  </a:extLst>
                </a:gridCol>
                <a:gridCol w="532203">
                  <a:extLst>
                    <a:ext uri="{9D8B030D-6E8A-4147-A177-3AD203B41FA5}">
                      <a16:colId xmlns:a16="http://schemas.microsoft.com/office/drawing/2014/main" val="3023231563"/>
                    </a:ext>
                  </a:extLst>
                </a:gridCol>
                <a:gridCol w="532203">
                  <a:extLst>
                    <a:ext uri="{9D8B030D-6E8A-4147-A177-3AD203B41FA5}">
                      <a16:colId xmlns:a16="http://schemas.microsoft.com/office/drawing/2014/main" val="3411862845"/>
                    </a:ext>
                  </a:extLst>
                </a:gridCol>
                <a:gridCol w="532203">
                  <a:extLst>
                    <a:ext uri="{9D8B030D-6E8A-4147-A177-3AD203B41FA5}">
                      <a16:colId xmlns:a16="http://schemas.microsoft.com/office/drawing/2014/main" val="2851474774"/>
                    </a:ext>
                  </a:extLst>
                </a:gridCol>
                <a:gridCol w="532203">
                  <a:extLst>
                    <a:ext uri="{9D8B030D-6E8A-4147-A177-3AD203B41FA5}">
                      <a16:colId xmlns:a16="http://schemas.microsoft.com/office/drawing/2014/main" val="107595344"/>
                    </a:ext>
                  </a:extLst>
                </a:gridCol>
                <a:gridCol w="532203">
                  <a:extLst>
                    <a:ext uri="{9D8B030D-6E8A-4147-A177-3AD203B41FA5}">
                      <a16:colId xmlns:a16="http://schemas.microsoft.com/office/drawing/2014/main" val="1666999431"/>
                    </a:ext>
                  </a:extLst>
                </a:gridCol>
                <a:gridCol w="532203">
                  <a:extLst>
                    <a:ext uri="{9D8B030D-6E8A-4147-A177-3AD203B41FA5}">
                      <a16:colId xmlns:a16="http://schemas.microsoft.com/office/drawing/2014/main" val="3696607442"/>
                    </a:ext>
                  </a:extLst>
                </a:gridCol>
                <a:gridCol w="532203">
                  <a:extLst>
                    <a:ext uri="{9D8B030D-6E8A-4147-A177-3AD203B41FA5}">
                      <a16:colId xmlns:a16="http://schemas.microsoft.com/office/drawing/2014/main" val="223989776"/>
                    </a:ext>
                  </a:extLst>
                </a:gridCol>
                <a:gridCol w="532203">
                  <a:extLst>
                    <a:ext uri="{9D8B030D-6E8A-4147-A177-3AD203B41FA5}">
                      <a16:colId xmlns:a16="http://schemas.microsoft.com/office/drawing/2014/main" val="124731204"/>
                    </a:ext>
                  </a:extLst>
                </a:gridCol>
                <a:gridCol w="532203">
                  <a:extLst>
                    <a:ext uri="{9D8B030D-6E8A-4147-A177-3AD203B41FA5}">
                      <a16:colId xmlns:a16="http://schemas.microsoft.com/office/drawing/2014/main" val="3066978585"/>
                    </a:ext>
                  </a:extLst>
                </a:gridCol>
                <a:gridCol w="532203">
                  <a:extLst>
                    <a:ext uri="{9D8B030D-6E8A-4147-A177-3AD203B41FA5}">
                      <a16:colId xmlns:a16="http://schemas.microsoft.com/office/drawing/2014/main" val="1064917641"/>
                    </a:ext>
                  </a:extLst>
                </a:gridCol>
                <a:gridCol w="532203">
                  <a:extLst>
                    <a:ext uri="{9D8B030D-6E8A-4147-A177-3AD203B41FA5}">
                      <a16:colId xmlns:a16="http://schemas.microsoft.com/office/drawing/2014/main" val="4221117315"/>
                    </a:ext>
                  </a:extLst>
                </a:gridCol>
                <a:gridCol w="532203">
                  <a:extLst>
                    <a:ext uri="{9D8B030D-6E8A-4147-A177-3AD203B41FA5}">
                      <a16:colId xmlns:a16="http://schemas.microsoft.com/office/drawing/2014/main" val="3266065341"/>
                    </a:ext>
                  </a:extLst>
                </a:gridCol>
                <a:gridCol w="532203">
                  <a:extLst>
                    <a:ext uri="{9D8B030D-6E8A-4147-A177-3AD203B41FA5}">
                      <a16:colId xmlns:a16="http://schemas.microsoft.com/office/drawing/2014/main" val="2374051224"/>
                    </a:ext>
                  </a:extLst>
                </a:gridCol>
                <a:gridCol w="532203">
                  <a:extLst>
                    <a:ext uri="{9D8B030D-6E8A-4147-A177-3AD203B41FA5}">
                      <a16:colId xmlns:a16="http://schemas.microsoft.com/office/drawing/2014/main" val="1840388365"/>
                    </a:ext>
                  </a:extLst>
                </a:gridCol>
                <a:gridCol w="532203">
                  <a:extLst>
                    <a:ext uri="{9D8B030D-6E8A-4147-A177-3AD203B41FA5}">
                      <a16:colId xmlns:a16="http://schemas.microsoft.com/office/drawing/2014/main" val="267750830"/>
                    </a:ext>
                  </a:extLst>
                </a:gridCol>
                <a:gridCol w="532203">
                  <a:extLst>
                    <a:ext uri="{9D8B030D-6E8A-4147-A177-3AD203B41FA5}">
                      <a16:colId xmlns:a16="http://schemas.microsoft.com/office/drawing/2014/main" val="3966469970"/>
                    </a:ext>
                  </a:extLst>
                </a:gridCol>
                <a:gridCol w="532203">
                  <a:extLst>
                    <a:ext uri="{9D8B030D-6E8A-4147-A177-3AD203B41FA5}">
                      <a16:colId xmlns:a16="http://schemas.microsoft.com/office/drawing/2014/main" val="2522973146"/>
                    </a:ext>
                  </a:extLst>
                </a:gridCol>
                <a:gridCol w="532203">
                  <a:extLst>
                    <a:ext uri="{9D8B030D-6E8A-4147-A177-3AD203B41FA5}">
                      <a16:colId xmlns:a16="http://schemas.microsoft.com/office/drawing/2014/main" val="497803062"/>
                    </a:ext>
                  </a:extLst>
                </a:gridCol>
                <a:gridCol w="532203">
                  <a:extLst>
                    <a:ext uri="{9D8B030D-6E8A-4147-A177-3AD203B41FA5}">
                      <a16:colId xmlns:a16="http://schemas.microsoft.com/office/drawing/2014/main" val="1926872917"/>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a:cs typeface="Arial"/>
                        </a:rPr>
                        <a:t>2022</a:t>
                      </a:r>
                      <a:endParaRPr lang="zh-CN" altLang="en-US" sz="1100" b="1">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a:cs typeface="Arial"/>
                        </a:rPr>
                        <a:t>2023</a:t>
                      </a:r>
                      <a:endParaRPr lang="zh-CN" altLang="en-US" sz="1100" b="1">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a:cs typeface="Arial"/>
                        </a:rPr>
                        <a:t>2024</a:t>
                      </a:r>
                      <a:endParaRPr lang="zh-CN" altLang="en-US" sz="1100" b="1">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a:cs typeface="Arial"/>
                        </a:rPr>
                        <a:t>2025</a:t>
                      </a:r>
                      <a:endParaRPr lang="zh-CN" altLang="en-US" sz="1100" b="1">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a:ea typeface="+mn-ea"/>
                          <a:cs typeface="Arial"/>
                        </a:rPr>
                        <a:t>2026</a:t>
                      </a:r>
                      <a:endParaRPr lang="zh-CN" altLang="en-US" sz="1100" b="1" kern="1200">
                        <a:solidFill>
                          <a:schemeClr val="lt1"/>
                        </a:solidFill>
                        <a:latin typeface="Arial"/>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a:ea typeface="+mn-ea"/>
                          <a:cs typeface="Arial"/>
                        </a:rPr>
                        <a:t>2027</a:t>
                      </a:r>
                      <a:endParaRPr lang="zh-CN" altLang="en-US" sz="1100" b="1" kern="1200">
                        <a:solidFill>
                          <a:schemeClr val="lt1"/>
                        </a:solidFill>
                        <a:latin typeface="Arial"/>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algn="ctr" defTabSz="914400" rtl="0" eaLnBrk="1" latinLnBrk="0" hangingPunct="1"/>
                      <a:r>
                        <a:rPr lang="en-US" altLang="zh-CN" sz="1100" b="1" kern="1200">
                          <a:solidFill>
                            <a:schemeClr val="lt1"/>
                          </a:solidFill>
                          <a:latin typeface="Arial"/>
                          <a:ea typeface="+mn-ea"/>
                          <a:cs typeface="Arial"/>
                        </a:rPr>
                        <a:t>2028</a:t>
                      </a:r>
                      <a:endParaRPr lang="zh-CN" altLang="en-US" sz="1100" b="1" kern="1200">
                        <a:solidFill>
                          <a:schemeClr val="lt1"/>
                        </a:solidFill>
                        <a:latin typeface="Arial"/>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algn="ctr" defTabSz="914400" rtl="0" eaLnBrk="1" latinLnBrk="0" hangingPunct="1"/>
                      <a:r>
                        <a:rPr lang="en-US" altLang="zh-CN" sz="1100" b="1" kern="1200">
                          <a:solidFill>
                            <a:schemeClr val="lt1"/>
                          </a:solidFill>
                          <a:latin typeface="Arial"/>
                          <a:ea typeface="+mn-ea"/>
                          <a:cs typeface="Arial"/>
                        </a:rPr>
                        <a:t>2029</a:t>
                      </a:r>
                      <a:endParaRPr lang="zh-CN" altLang="en-US" sz="1100" b="1" kern="1200">
                        <a:solidFill>
                          <a:schemeClr val="lt1"/>
                        </a:solidFill>
                        <a:latin typeface="Arial"/>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H1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H2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H1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H2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cxnSp>
        <p:nvCxnSpPr>
          <p:cNvPr id="148" name="Straight Connector 147">
            <a:extLst>
              <a:ext uri="{FF2B5EF4-FFF2-40B4-BE49-F238E27FC236}">
                <a16:creationId xmlns:a16="http://schemas.microsoft.com/office/drawing/2014/main" id="{9C165100-0114-4167-8FF0-BFF01B293D04}"/>
              </a:ext>
            </a:extLst>
          </p:cNvPr>
          <p:cNvCxnSpPr>
            <a:cxnSpLocks/>
          </p:cNvCxnSpPr>
          <p:nvPr/>
        </p:nvCxnSpPr>
        <p:spPr bwMode="auto">
          <a:xfrm flipH="1">
            <a:off x="-953294" y="4281023"/>
            <a:ext cx="131430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 name="Isosceles Triangle 1"/>
          <p:cNvSpPr/>
          <p:nvPr/>
        </p:nvSpPr>
        <p:spPr>
          <a:xfrm rot="16200000" flipH="1">
            <a:off x="-372869" y="1209808"/>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Cond"/>
              <a:ea typeface="+mn-ea"/>
              <a:cs typeface="+mn-cs"/>
            </a:endParaRPr>
          </a:p>
        </p:txBody>
      </p:sp>
      <p:sp>
        <p:nvSpPr>
          <p:cNvPr id="129" name="Isosceles Triangle 128"/>
          <p:cNvSpPr/>
          <p:nvPr/>
        </p:nvSpPr>
        <p:spPr>
          <a:xfrm rot="5400000">
            <a:off x="11541098" y="1263252"/>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Cond"/>
              <a:ea typeface="+mn-ea"/>
              <a:cs typeface="+mn-cs"/>
            </a:endParaRPr>
          </a:p>
        </p:txBody>
      </p:sp>
      <p:sp>
        <p:nvSpPr>
          <p:cNvPr id="130" name="TextBox 19"/>
          <p:cNvSpPr txBox="1"/>
          <p:nvPr/>
        </p:nvSpPr>
        <p:spPr>
          <a:xfrm>
            <a:off x="-21987" y="2102630"/>
            <a:ext cx="619208" cy="328423"/>
          </a:xfrm>
          <a:prstGeom prst="rect">
            <a:avLst/>
          </a:prstGeom>
          <a:noFill/>
          <a:ln>
            <a:solidFill>
              <a:schemeClr val="accent1"/>
            </a:solidFill>
          </a:ln>
        </p:spPr>
        <p:txBody>
          <a:bodyPr wrap="square" lIns="0" tIns="0" rIns="0" bIns="0" rtlCol="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a:t>
            </a:r>
          </a:p>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1366-0031</a:t>
            </a:r>
          </a:p>
        </p:txBody>
      </p:sp>
      <p:sp>
        <p:nvSpPr>
          <p:cNvPr id="198" name="TextBox 149"/>
          <p:cNvSpPr txBox="1"/>
          <p:nvPr/>
        </p:nvSpPr>
        <p:spPr>
          <a:xfrm>
            <a:off x="-21987" y="4984150"/>
            <a:ext cx="619208" cy="328423"/>
          </a:xfrm>
          <a:prstGeom prst="rect">
            <a:avLst/>
          </a:prstGeom>
          <a:noFill/>
          <a:ln>
            <a:solidFill>
              <a:schemeClr val="accent1"/>
            </a:solidFill>
          </a:ln>
        </p:spPr>
        <p:txBody>
          <a:bodyPr wrap="square" lIns="0" tIns="0" rIns="0" bIns="0" rtlCol="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a:t>
            </a:r>
          </a:p>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1366-0031</a:t>
            </a:r>
          </a:p>
        </p:txBody>
      </p:sp>
      <p:sp>
        <p:nvSpPr>
          <p:cNvPr id="86" name="OTLSHAPE_T_e17f3958430f4cff8650518c93c7635e_StartDate">
            <a:extLst>
              <a:ext uri="{FF2B5EF4-FFF2-40B4-BE49-F238E27FC236}">
                <a16:creationId xmlns:a16="http://schemas.microsoft.com/office/drawing/2014/main" id="{9224C17E-1AA1-4096-A3FD-25D6FD8BA444}"/>
              </a:ext>
            </a:extLst>
          </p:cNvPr>
          <p:cNvSpPr txBox="1"/>
          <p:nvPr>
            <p:custDataLst>
              <p:tags r:id="rId2"/>
            </p:custDataLst>
          </p:nvPr>
        </p:nvSpPr>
        <p:spPr>
          <a:xfrm>
            <a:off x="9483380" y="2969548"/>
            <a:ext cx="1882989" cy="164212"/>
          </a:xfrm>
          <a:prstGeom prst="rect">
            <a:avLst/>
          </a:prstGeom>
          <a:noFill/>
        </p:spPr>
        <p:txBody>
          <a:bodyPr vert="horz" wrap="square" lIns="0" tIns="0" rIns="0" bIns="0" rtlCol="0" anchor="ctr" anchorCtr="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a:t>
            </a:r>
          </a:p>
        </p:txBody>
      </p:sp>
      <p:sp>
        <p:nvSpPr>
          <p:cNvPr id="37" name="TextBox 19"/>
          <p:cNvSpPr txBox="1"/>
          <p:nvPr/>
        </p:nvSpPr>
        <p:spPr>
          <a:xfrm>
            <a:off x="-21987" y="2946333"/>
            <a:ext cx="619208" cy="328423"/>
          </a:xfrm>
          <a:prstGeom prst="rect">
            <a:avLst/>
          </a:prstGeom>
          <a:noFill/>
          <a:ln>
            <a:solidFill>
              <a:schemeClr val="accent1"/>
            </a:solidFill>
          </a:ln>
        </p:spPr>
        <p:txBody>
          <a:bodyPr wrap="square" lIns="0" tIns="0" rIns="0" bIns="0" rtlCol="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1366-0033</a:t>
            </a:r>
          </a:p>
        </p:txBody>
      </p:sp>
      <p:sp>
        <p:nvSpPr>
          <p:cNvPr id="53" name="TextBox 149"/>
          <p:cNvSpPr txBox="1"/>
          <p:nvPr/>
        </p:nvSpPr>
        <p:spPr>
          <a:xfrm>
            <a:off x="-17436" y="5511470"/>
            <a:ext cx="619208" cy="328423"/>
          </a:xfrm>
          <a:prstGeom prst="rect">
            <a:avLst/>
          </a:prstGeom>
          <a:noFill/>
          <a:ln>
            <a:solidFill>
              <a:schemeClr val="accent1"/>
            </a:solidFill>
          </a:ln>
        </p:spPr>
        <p:txBody>
          <a:bodyPr wrap="square" lIns="0" tIns="0" rIns="0" bIns="0" rtlCol="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1366-0033</a:t>
            </a:r>
          </a:p>
        </p:txBody>
      </p:sp>
      <p:sp>
        <p:nvSpPr>
          <p:cNvPr id="58" name="OTLSHAPE_T_5a934a26f311425e8ebaa0f45e6533ad_Shape">
            <a:extLst>
              <a:ext uri="{FF2B5EF4-FFF2-40B4-BE49-F238E27FC236}">
                <a16:creationId xmlns:a16="http://schemas.microsoft.com/office/drawing/2014/main" id="{A1E70551-578A-4B35-ACAC-04BA6E603952}"/>
              </a:ext>
            </a:extLst>
          </p:cNvPr>
          <p:cNvSpPr/>
          <p:nvPr>
            <p:custDataLst>
              <p:tags r:id="rId3"/>
            </p:custDataLst>
          </p:nvPr>
        </p:nvSpPr>
        <p:spPr bwMode="auto">
          <a:xfrm>
            <a:off x="9427309" y="5445471"/>
            <a:ext cx="2021555" cy="256032"/>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3" name="OTLSHAPE_T_e17f3958430f4cff8650518c93c7635e_StartDate">
            <a:extLst>
              <a:ext uri="{FF2B5EF4-FFF2-40B4-BE49-F238E27FC236}">
                <a16:creationId xmlns:a16="http://schemas.microsoft.com/office/drawing/2014/main" id="{9224C17E-1AA1-4096-A3FD-25D6FD8BA444}"/>
              </a:ext>
            </a:extLst>
          </p:cNvPr>
          <p:cNvSpPr txBox="1"/>
          <p:nvPr>
            <p:custDataLst>
              <p:tags r:id="rId4"/>
            </p:custDataLst>
          </p:nvPr>
        </p:nvSpPr>
        <p:spPr>
          <a:xfrm>
            <a:off x="9445085" y="5503879"/>
            <a:ext cx="1850385" cy="164212"/>
          </a:xfrm>
          <a:prstGeom prst="rect">
            <a:avLst/>
          </a:prstGeom>
          <a:noFill/>
        </p:spPr>
        <p:txBody>
          <a:bodyPr vert="horz" wrap="square" lIns="0" tIns="0" rIns="0" bIns="0" rtlCol="0" anchor="ctr" anchorCtr="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Recruitment Window: TBD</a:t>
            </a:r>
          </a:p>
        </p:txBody>
      </p:sp>
      <p:sp>
        <p:nvSpPr>
          <p:cNvPr id="40" name="Freeform: Shape 147">
            <a:extLst>
              <a:ext uri="{FF2B5EF4-FFF2-40B4-BE49-F238E27FC236}">
                <a16:creationId xmlns:a16="http://schemas.microsoft.com/office/drawing/2014/main" id="{469F5FF1-4B8E-465D-97EF-9CE5D974FE0D}"/>
              </a:ext>
            </a:extLst>
          </p:cNvPr>
          <p:cNvSpPr/>
          <p:nvPr/>
        </p:nvSpPr>
        <p:spPr bwMode="auto">
          <a:xfrm>
            <a:off x="-13974" y="1618392"/>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1219020"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Global</a:t>
            </a: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46" name="Oval 4">
            <a:extLst>
              <a:ext uri="{FF2B5EF4-FFF2-40B4-BE49-F238E27FC236}">
                <a16:creationId xmlns:a16="http://schemas.microsoft.com/office/drawing/2014/main" id="{1629834C-75E8-4773-BA88-2CA38E81E009}"/>
              </a:ext>
            </a:extLst>
          </p:cNvPr>
          <p:cNvSpPr/>
          <p:nvPr/>
        </p:nvSpPr>
        <p:spPr>
          <a:xfrm>
            <a:off x="-29797" y="1522052"/>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902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sp>
        <p:nvSpPr>
          <p:cNvPr id="48" name="Rectangle: Rounded Corners 116">
            <a:extLst>
              <a:ext uri="{FF2B5EF4-FFF2-40B4-BE49-F238E27FC236}">
                <a16:creationId xmlns:a16="http://schemas.microsoft.com/office/drawing/2014/main" id="{85DDDECC-056A-4A99-8642-D99AB653A4E9}"/>
              </a:ext>
            </a:extLst>
          </p:cNvPr>
          <p:cNvSpPr/>
          <p:nvPr/>
        </p:nvSpPr>
        <p:spPr bwMode="auto">
          <a:xfrm>
            <a:off x="999689" y="1572504"/>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1219020" rtl="0" eaLnBrk="0" fontAlgn="base" latinLnBrk="0" hangingPunct="0">
              <a:lnSpc>
                <a:spcPct val="100000"/>
              </a:lnSpc>
              <a:spcBef>
                <a:spcPct val="0"/>
              </a:spcBef>
              <a:spcAft>
                <a:spcPct val="0"/>
              </a:spcAft>
              <a:buClrTx/>
              <a:buSzTx/>
              <a:buFontTx/>
              <a:buNone/>
              <a:tabLst/>
              <a:defRPr/>
            </a:pP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pic>
        <p:nvPicPr>
          <p:cNvPr id="50" name="Picture 6" descr="Image result for world circle png">
            <a:extLst>
              <a:ext uri="{FF2B5EF4-FFF2-40B4-BE49-F238E27FC236}">
                <a16:creationId xmlns:a16="http://schemas.microsoft.com/office/drawing/2014/main" id="{83F43E03-B86F-4D53-B73E-3C7043A74D33}"/>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l="4094" t="4010" r="4094" b="4010"/>
          <a:stretch/>
        </p:blipFill>
        <p:spPr bwMode="auto">
          <a:xfrm>
            <a:off x="6942" y="1558268"/>
            <a:ext cx="373767" cy="374797"/>
          </a:xfrm>
          <a:prstGeom prst="rect">
            <a:avLst/>
          </a:prstGeom>
          <a:noFill/>
          <a:extLst>
            <a:ext uri="{909E8E84-426E-40DD-AFC4-6F175D3DCCD1}">
              <a14:hiddenFill xmlns:a14="http://schemas.microsoft.com/office/drawing/2010/main">
                <a:solidFill>
                  <a:srgbClr val="FFFFFF"/>
                </a:solidFill>
              </a14:hiddenFill>
            </a:ext>
          </a:extLst>
        </p:spPr>
      </p:pic>
      <p:sp>
        <p:nvSpPr>
          <p:cNvPr id="51" name="Freeform: Shape 152">
            <a:extLst>
              <a:ext uri="{FF2B5EF4-FFF2-40B4-BE49-F238E27FC236}">
                <a16:creationId xmlns:a16="http://schemas.microsoft.com/office/drawing/2014/main" id="{808EC121-D3B7-4E05-908F-C8EFBD0CB71E}"/>
              </a:ext>
            </a:extLst>
          </p:cNvPr>
          <p:cNvSpPr/>
          <p:nvPr/>
        </p:nvSpPr>
        <p:spPr bwMode="auto">
          <a:xfrm>
            <a:off x="-1610" y="4515200"/>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1219020"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China</a:t>
            </a: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52" name="Oval 134">
            <a:extLst>
              <a:ext uri="{FF2B5EF4-FFF2-40B4-BE49-F238E27FC236}">
                <a16:creationId xmlns:a16="http://schemas.microsoft.com/office/drawing/2014/main" id="{FEFADB89-8F35-407D-93F6-37544172D655}"/>
              </a:ext>
            </a:extLst>
          </p:cNvPr>
          <p:cNvSpPr/>
          <p:nvPr/>
        </p:nvSpPr>
        <p:spPr>
          <a:xfrm>
            <a:off x="-17436" y="4418856"/>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902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sp>
        <p:nvSpPr>
          <p:cNvPr id="55" name="Rectangle: Rounded Corners 116">
            <a:extLst>
              <a:ext uri="{FF2B5EF4-FFF2-40B4-BE49-F238E27FC236}">
                <a16:creationId xmlns:a16="http://schemas.microsoft.com/office/drawing/2014/main" id="{07FF067D-CE54-4150-AA18-A64493FAA508}"/>
              </a:ext>
            </a:extLst>
          </p:cNvPr>
          <p:cNvSpPr/>
          <p:nvPr/>
        </p:nvSpPr>
        <p:spPr bwMode="auto">
          <a:xfrm>
            <a:off x="1012051" y="4469312"/>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1219020" rtl="0" eaLnBrk="0" fontAlgn="base" latinLnBrk="0" hangingPunct="0">
              <a:lnSpc>
                <a:spcPct val="100000"/>
              </a:lnSpc>
              <a:spcBef>
                <a:spcPct val="0"/>
              </a:spcBef>
              <a:spcAft>
                <a:spcPct val="0"/>
              </a:spcAft>
              <a:buClrTx/>
              <a:buSzTx/>
              <a:buFontTx/>
              <a:buNone/>
              <a:tabLst/>
              <a:defRPr/>
            </a:pP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pic>
        <p:nvPicPr>
          <p:cNvPr id="57"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18787" y="4455072"/>
            <a:ext cx="374799" cy="374797"/>
          </a:xfrm>
          <a:prstGeom prst="rect">
            <a:avLst/>
          </a:prstGeom>
          <a:noFill/>
          <a:extLst>
            <a:ext uri="{909E8E84-426E-40DD-AFC4-6F175D3DCCD1}">
              <a14:hiddenFill xmlns:a14="http://schemas.microsoft.com/office/drawing/2010/main">
                <a:solidFill>
                  <a:srgbClr val="FFFFFF"/>
                </a:solidFill>
              </a14:hiddenFill>
            </a:ext>
          </a:extLst>
        </p:spPr>
      </p:pic>
      <p:sp>
        <p:nvSpPr>
          <p:cNvPr id="61" name="TextBox 60">
            <a:extLst>
              <a:ext uri="{FF2B5EF4-FFF2-40B4-BE49-F238E27FC236}">
                <a16:creationId xmlns:a16="http://schemas.microsoft.com/office/drawing/2014/main" id="{8BFDDB80-E2AA-4C17-95F9-1BECAA375F07}"/>
              </a:ext>
            </a:extLst>
          </p:cNvPr>
          <p:cNvSpPr txBox="1"/>
          <p:nvPr/>
        </p:nvSpPr>
        <p:spPr>
          <a:xfrm>
            <a:off x="11408560" y="2863745"/>
            <a:ext cx="478765" cy="153888"/>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kern="0">
                <a:solidFill>
                  <a:srgbClr val="44546A"/>
                </a:solidFill>
                <a:latin typeface="Calibri" panose="020F0502020204030204" pitchFamily="34" charset="0"/>
              </a:defRPr>
            </a:lvl1p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rgbClr val="44546A"/>
                </a:solidFill>
                <a:effectLst/>
                <a:uLnTx/>
                <a:uFillTx/>
                <a:latin typeface="Calibri" panose="020F0502020204030204" pitchFamily="34" charset="0"/>
                <a:ea typeface="+mn-ea"/>
                <a:cs typeface="+mn-cs"/>
              </a:rPr>
              <a:t>2029 Oct</a:t>
            </a:r>
            <a:endParaRPr kumimoji="0" lang="zh-CN" altLang="en-US" sz="1000" b="1" i="0" u="none" strike="noStrike" kern="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2" name="Rectangle 61">
            <a:extLst>
              <a:ext uri="{FF2B5EF4-FFF2-40B4-BE49-F238E27FC236}">
                <a16:creationId xmlns:a16="http://schemas.microsoft.com/office/drawing/2014/main" id="{34984A34-96B5-4D78-BCB7-9A9DDA32B9E5}"/>
              </a:ext>
            </a:extLst>
          </p:cNvPr>
          <p:cNvSpPr/>
          <p:nvPr/>
        </p:nvSpPr>
        <p:spPr>
          <a:xfrm>
            <a:off x="1867223" y="2403417"/>
            <a:ext cx="365805"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FSS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7" name="Star: 4 Points 143">
            <a:extLst>
              <a:ext uri="{FF2B5EF4-FFF2-40B4-BE49-F238E27FC236}">
                <a16:creationId xmlns:a16="http://schemas.microsoft.com/office/drawing/2014/main" id="{F1FDD055-A0FA-41DD-93F4-7E80DD5BE0C5}"/>
              </a:ext>
            </a:extLst>
          </p:cNvPr>
          <p:cNvSpPr/>
          <p:nvPr/>
        </p:nvSpPr>
        <p:spPr bwMode="auto">
          <a:xfrm>
            <a:off x="8573973" y="219878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84" name="矩形 20">
            <a:extLst>
              <a:ext uri="{FF2B5EF4-FFF2-40B4-BE49-F238E27FC236}">
                <a16:creationId xmlns:a16="http://schemas.microsoft.com/office/drawing/2014/main" id="{2BCAA66A-AC30-487C-87CB-EBF69E597891}"/>
              </a:ext>
            </a:extLst>
          </p:cNvPr>
          <p:cNvSpPr/>
          <p:nvPr/>
        </p:nvSpPr>
        <p:spPr>
          <a:xfrm>
            <a:off x="1003124" y="5004467"/>
            <a:ext cx="1072216" cy="277712"/>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1" rIns="68580" bIns="34291" numCol="1" rtlCol="0" anchor="ctr" anchorCtr="0" compatLnSpc="1">
            <a:prstTxWarp prst="textNoShape">
              <a:avLst/>
            </a:prstTxWarp>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China Ph2b CTA sub.-1st SIV (6M) </a:t>
            </a:r>
          </a:p>
        </p:txBody>
      </p:sp>
      <p:sp>
        <p:nvSpPr>
          <p:cNvPr id="87" name="Isosceles Triangle 86">
            <a:extLst>
              <a:ext uri="{FF2B5EF4-FFF2-40B4-BE49-F238E27FC236}">
                <a16:creationId xmlns:a16="http://schemas.microsoft.com/office/drawing/2014/main" id="{F72A18E3-4444-4700-86D7-C52454F4453F}"/>
              </a:ext>
            </a:extLst>
          </p:cNvPr>
          <p:cNvSpPr/>
          <p:nvPr/>
        </p:nvSpPr>
        <p:spPr>
          <a:xfrm>
            <a:off x="966861" y="5251611"/>
            <a:ext cx="92539" cy="91791"/>
          </a:xfrm>
          <a:prstGeom prst="triangle">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26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err="1">
              <a:ln>
                <a:noFill/>
              </a:ln>
              <a:solidFill>
                <a:srgbClr val="000000"/>
              </a:solidFill>
              <a:effectLst/>
              <a:uLnTx/>
              <a:uFillTx/>
              <a:latin typeface="BISansOpti"/>
              <a:ea typeface="+mn-ea"/>
              <a:cs typeface="+mn-cs"/>
            </a:endParaRPr>
          </a:p>
        </p:txBody>
      </p:sp>
      <p:sp>
        <p:nvSpPr>
          <p:cNvPr id="89" name="矩形 20">
            <a:extLst>
              <a:ext uri="{FF2B5EF4-FFF2-40B4-BE49-F238E27FC236}">
                <a16:creationId xmlns:a16="http://schemas.microsoft.com/office/drawing/2014/main" id="{7BD92CFC-0106-4FF4-A530-1AD27981172B}"/>
              </a:ext>
            </a:extLst>
          </p:cNvPr>
          <p:cNvSpPr/>
          <p:nvPr/>
        </p:nvSpPr>
        <p:spPr>
          <a:xfrm>
            <a:off x="2075343" y="5002754"/>
            <a:ext cx="4019348" cy="270641"/>
          </a:xfrm>
          <a:prstGeom prst="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ctr" anchorCtr="0" compatLnSpc="1">
            <a:prstTxWarp prst="textNoShape">
              <a:avLst/>
            </a:prstTxWarp>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Ph2 1366.31 recruit. wind.  ~22m</a:t>
            </a:r>
          </a:p>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CN ML: 16 sites/24 patients; TW: 1 patient</a:t>
            </a:r>
          </a:p>
        </p:txBody>
      </p:sp>
      <p:sp>
        <p:nvSpPr>
          <p:cNvPr id="93" name="Rechteck 85">
            <a:extLst>
              <a:ext uri="{FF2B5EF4-FFF2-40B4-BE49-F238E27FC236}">
                <a16:creationId xmlns:a16="http://schemas.microsoft.com/office/drawing/2014/main" id="{89F1A44D-1840-4032-9CB7-814843983D00}"/>
              </a:ext>
            </a:extLst>
          </p:cNvPr>
          <p:cNvSpPr/>
          <p:nvPr/>
        </p:nvSpPr>
        <p:spPr>
          <a:xfrm>
            <a:off x="696147" y="5320741"/>
            <a:ext cx="635983" cy="194925"/>
          </a:xfrm>
          <a:prstGeom prst="rect">
            <a:avLst/>
          </a:prstGeom>
        </p:spPr>
        <p:txBody>
          <a:bodyPr wrap="square">
            <a:spAutoFit/>
          </a:bodyPr>
          <a:lstStyle/>
          <a:p>
            <a:pPr marL="0" marR="0" lvl="0" indent="0" algn="ctr" defTabSz="914242" rtl="0" eaLnBrk="1" fontAlgn="auto" latinLnBrk="0" hangingPunct="1">
              <a:lnSpc>
                <a:spcPts val="800"/>
              </a:lnSpc>
              <a:spcBef>
                <a:spcPts val="0"/>
              </a:spcBef>
              <a:spcAft>
                <a:spcPts val="0"/>
              </a:spcAft>
              <a:buClrTx/>
              <a:buSzTx/>
              <a:buFontTx/>
              <a:buNone/>
              <a:tabLst/>
              <a:defRPr/>
            </a:pPr>
            <a:r>
              <a:rPr kumimoji="0" lang="en-US" sz="675" b="1" i="0" u="none" strike="noStrike" kern="1200" cap="none" spc="0" normalizeH="0" baseline="0" noProof="0">
                <a:ln>
                  <a:noFill/>
                </a:ln>
                <a:solidFill>
                  <a:srgbClr val="000000"/>
                </a:solidFill>
                <a:effectLst/>
                <a:uLnTx/>
                <a:uFillTx/>
                <a:latin typeface="BISansOpti"/>
                <a:ea typeface="+mn-ea"/>
                <a:cs typeface="+mn-cs"/>
              </a:rPr>
              <a:t>CTA</a:t>
            </a:r>
          </a:p>
        </p:txBody>
      </p:sp>
      <p:sp>
        <p:nvSpPr>
          <p:cNvPr id="96" name="OTLSHAPE_T_e17f3958430f4cff8650518c93c7635e_StartDate">
            <a:extLst>
              <a:ext uri="{FF2B5EF4-FFF2-40B4-BE49-F238E27FC236}">
                <a16:creationId xmlns:a16="http://schemas.microsoft.com/office/drawing/2014/main" id="{B0A18133-3C1F-4383-9DE5-E6DBAFFCED97}"/>
              </a:ext>
            </a:extLst>
          </p:cNvPr>
          <p:cNvSpPr txBox="1"/>
          <p:nvPr>
            <p:custDataLst>
              <p:tags r:id="rId5"/>
            </p:custDataLst>
          </p:nvPr>
        </p:nvSpPr>
        <p:spPr>
          <a:xfrm>
            <a:off x="1643728" y="4858192"/>
            <a:ext cx="840493" cy="107722"/>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Dec 2022</a:t>
            </a:r>
            <a:endParaRPr kumimoji="0" lang="zh-CN" altLang="en-US" sz="7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7" name="Rectangle 96">
            <a:extLst>
              <a:ext uri="{FF2B5EF4-FFF2-40B4-BE49-F238E27FC236}">
                <a16:creationId xmlns:a16="http://schemas.microsoft.com/office/drawing/2014/main" id="{789576B9-DBB4-48B9-A996-21E17AA8ECFC}"/>
              </a:ext>
            </a:extLst>
          </p:cNvPr>
          <p:cNvSpPr/>
          <p:nvPr/>
        </p:nvSpPr>
        <p:spPr>
          <a:xfrm>
            <a:off x="1917033" y="5361254"/>
            <a:ext cx="381835" cy="184666"/>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1</a:t>
            </a:r>
            <a:r>
              <a:rPr kumimoji="0" lang="en-US" altLang="zh-CN" sz="600" b="1" i="0" u="none" strike="noStrike" kern="1200" cap="none" spc="0" normalizeH="0" baseline="30000" noProof="0">
                <a:ln>
                  <a:noFill/>
                </a:ln>
                <a:solidFill>
                  <a:srgbClr val="44546A"/>
                </a:solidFill>
                <a:effectLst/>
                <a:uLnTx/>
                <a:uFillTx/>
                <a:latin typeface="Calibri" panose="020F0502020204030204" pitchFamily="34" charset="0"/>
                <a:ea typeface="+mn-ea"/>
                <a:cs typeface="+mn-cs"/>
              </a:rPr>
              <a:t>st</a:t>
            </a:r>
            <a:r>
              <a:rPr kumimoji="0" lang="en-US" altLang="zh-CN" sz="6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 SIV</a:t>
            </a:r>
            <a:endParaRPr kumimoji="0" lang="zh-CN" altLang="en-US" sz="6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8" name="Star: 4 Points 143">
            <a:extLst>
              <a:ext uri="{FF2B5EF4-FFF2-40B4-BE49-F238E27FC236}">
                <a16:creationId xmlns:a16="http://schemas.microsoft.com/office/drawing/2014/main" id="{6E271F91-73DC-486A-BF92-0A18EDD24992}"/>
              </a:ext>
            </a:extLst>
          </p:cNvPr>
          <p:cNvSpPr/>
          <p:nvPr/>
        </p:nvSpPr>
        <p:spPr bwMode="auto">
          <a:xfrm>
            <a:off x="2012564" y="5212775"/>
            <a:ext cx="153824" cy="153888"/>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18" rtl="0" eaLnBrk="0" fontAlgn="base" latinLnBrk="0" hangingPunct="0">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102" name="OTLSHAPE_M_39ea6ebc19a94c9fab6ef5006c31df58_Date">
            <a:extLst>
              <a:ext uri="{FF2B5EF4-FFF2-40B4-BE49-F238E27FC236}">
                <a16:creationId xmlns:a16="http://schemas.microsoft.com/office/drawing/2014/main" id="{642F01DB-B99F-4D80-8584-E2E7C47D2ADA}"/>
              </a:ext>
            </a:extLst>
          </p:cNvPr>
          <p:cNvSpPr txBox="1"/>
          <p:nvPr>
            <p:custDataLst>
              <p:tags r:id="rId6"/>
            </p:custDataLst>
          </p:nvPr>
        </p:nvSpPr>
        <p:spPr>
          <a:xfrm>
            <a:off x="6471711" y="1985865"/>
            <a:ext cx="921796" cy="153888"/>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kern="0">
                <a:solidFill>
                  <a:srgbClr val="44546A"/>
                </a:solidFill>
                <a:latin typeface="Calibri" panose="020F0502020204030204" pitchFamily="34" charset="0"/>
              </a:defRPr>
            </a:lvl1p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rgbClr val="44546A"/>
                </a:solidFill>
                <a:effectLst/>
                <a:uLnTx/>
                <a:uFillTx/>
                <a:latin typeface="Calibri" panose="020F0502020204030204" pitchFamily="34" charset="0"/>
                <a:ea typeface="+mn-ea"/>
                <a:cs typeface="+mn-cs"/>
              </a:rPr>
              <a:t>Apr 2025</a:t>
            </a:r>
            <a:endParaRPr kumimoji="0" lang="zh-CN" altLang="en-US" sz="1000" b="1" i="0" u="none" strike="noStrike" kern="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03" name="矩形 20">
            <a:extLst>
              <a:ext uri="{FF2B5EF4-FFF2-40B4-BE49-F238E27FC236}">
                <a16:creationId xmlns:a16="http://schemas.microsoft.com/office/drawing/2014/main" id="{88ADF3F5-8D4E-46D6-B602-6ED584E51F57}"/>
              </a:ext>
            </a:extLst>
          </p:cNvPr>
          <p:cNvSpPr/>
          <p:nvPr/>
        </p:nvSpPr>
        <p:spPr>
          <a:xfrm>
            <a:off x="6103111" y="5005767"/>
            <a:ext cx="2420337" cy="276999"/>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LSS-Key results</a:t>
            </a:r>
          </a:p>
        </p:txBody>
      </p:sp>
      <p:sp>
        <p:nvSpPr>
          <p:cNvPr id="105" name="TextBox 104">
            <a:extLst>
              <a:ext uri="{FF2B5EF4-FFF2-40B4-BE49-F238E27FC236}">
                <a16:creationId xmlns:a16="http://schemas.microsoft.com/office/drawing/2014/main" id="{339D6B94-4843-42D3-9D53-254BBFBFF495}"/>
              </a:ext>
            </a:extLst>
          </p:cNvPr>
          <p:cNvSpPr txBox="1"/>
          <p:nvPr/>
        </p:nvSpPr>
        <p:spPr>
          <a:xfrm>
            <a:off x="8909012" y="2844919"/>
            <a:ext cx="525050" cy="153888"/>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kern="0">
                <a:solidFill>
                  <a:srgbClr val="44546A"/>
                </a:solidFill>
                <a:latin typeface="Calibri" panose="020F0502020204030204" pitchFamily="34" charset="0"/>
              </a:defRPr>
            </a:lvl1p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rgbClr val="44546A"/>
                </a:solidFill>
                <a:effectLst/>
                <a:uLnTx/>
                <a:uFillTx/>
                <a:latin typeface="Calibri" panose="020F0502020204030204" pitchFamily="34" charset="0"/>
                <a:ea typeface="+mn-ea"/>
                <a:cs typeface="+mn-cs"/>
              </a:rPr>
              <a:t>2026 Sep</a:t>
            </a:r>
            <a:endParaRPr kumimoji="0" lang="zh-CN" altLang="en-US" sz="1000" b="1" i="0" u="none" strike="noStrike" kern="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88" name="OTLSHAPE_T_e17f3958430f4cff8650518c93c7635e_StartDate">
            <a:extLst>
              <a:ext uri="{FF2B5EF4-FFF2-40B4-BE49-F238E27FC236}">
                <a16:creationId xmlns:a16="http://schemas.microsoft.com/office/drawing/2014/main" id="{B555F102-5B52-4610-A6D9-66E25F269809}"/>
              </a:ext>
            </a:extLst>
          </p:cNvPr>
          <p:cNvSpPr txBox="1"/>
          <p:nvPr>
            <p:custDataLst>
              <p:tags r:id="rId7"/>
            </p:custDataLst>
          </p:nvPr>
        </p:nvSpPr>
        <p:spPr>
          <a:xfrm>
            <a:off x="652392" y="4871204"/>
            <a:ext cx="840493" cy="107722"/>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Jun 2022</a:t>
            </a:r>
            <a:endParaRPr kumimoji="0" lang="zh-CN" altLang="en-US" sz="7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grpSp>
        <p:nvGrpSpPr>
          <p:cNvPr id="94" name="Group 93">
            <a:extLst>
              <a:ext uri="{FF2B5EF4-FFF2-40B4-BE49-F238E27FC236}">
                <a16:creationId xmlns:a16="http://schemas.microsoft.com/office/drawing/2014/main" id="{8CA2D186-99EC-466F-9E24-BEA99F2ECDCD}"/>
              </a:ext>
            </a:extLst>
          </p:cNvPr>
          <p:cNvGrpSpPr/>
          <p:nvPr/>
        </p:nvGrpSpPr>
        <p:grpSpPr>
          <a:xfrm>
            <a:off x="8199864" y="1397205"/>
            <a:ext cx="546747" cy="5273324"/>
            <a:chOff x="750361" y="1117893"/>
            <a:chExt cx="546747" cy="3954991"/>
          </a:xfrm>
        </p:grpSpPr>
        <p:cxnSp>
          <p:nvCxnSpPr>
            <p:cNvPr id="100" name="Straight Connector 99">
              <a:extLst>
                <a:ext uri="{FF2B5EF4-FFF2-40B4-BE49-F238E27FC236}">
                  <a16:creationId xmlns:a16="http://schemas.microsoft.com/office/drawing/2014/main" id="{BF5FE6AA-25B7-4F2C-B9AC-FAE01DE0759D}"/>
                </a:ext>
              </a:extLst>
            </p:cNvPr>
            <p:cNvCxnSpPr>
              <a:cxnSpLocks/>
            </p:cNvCxnSpPr>
            <p:nvPr/>
          </p:nvCxnSpPr>
          <p:spPr bwMode="auto">
            <a:xfrm flipV="1">
              <a:off x="1063002" y="129791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01" name="OTLSHAPE_T_e17f3958430f4cff8650518c93c7635e_StartDate">
              <a:extLst>
                <a:ext uri="{FF2B5EF4-FFF2-40B4-BE49-F238E27FC236}">
                  <a16:creationId xmlns:a16="http://schemas.microsoft.com/office/drawing/2014/main" id="{652D871A-8217-4BD8-A503-BA3EEDA62A16}"/>
                </a:ext>
              </a:extLst>
            </p:cNvPr>
            <p:cNvSpPr txBox="1"/>
            <p:nvPr>
              <p:custDataLst>
                <p:tags r:id="rId16"/>
              </p:custDataLst>
            </p:nvPr>
          </p:nvSpPr>
          <p:spPr>
            <a:xfrm>
              <a:off x="750361" y="1117893"/>
              <a:ext cx="546747" cy="123159"/>
            </a:xfrm>
            <a:prstGeom prst="rect">
              <a:avLst/>
            </a:prstGeom>
            <a:noFill/>
            <a:ln w="12700">
              <a:noFill/>
            </a:ln>
          </p:spPr>
          <p:txBody>
            <a:bodyPr vert="horz" wrap="square" lIns="0" tIns="0" rIns="0" bIns="0" rtlCol="0" anchor="ctr" anchorCtr="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108" name="TextBox 107">
            <a:extLst>
              <a:ext uri="{FF2B5EF4-FFF2-40B4-BE49-F238E27FC236}">
                <a16:creationId xmlns:a16="http://schemas.microsoft.com/office/drawing/2014/main" id="{5DFEA8EC-7991-4674-8181-76CD550E3CF1}"/>
              </a:ext>
            </a:extLst>
          </p:cNvPr>
          <p:cNvSpPr txBox="1"/>
          <p:nvPr/>
        </p:nvSpPr>
        <p:spPr>
          <a:xfrm>
            <a:off x="1867223" y="5995125"/>
            <a:ext cx="1552099" cy="830997"/>
          </a:xfrm>
          <a:prstGeom prst="rect">
            <a:avLst/>
          </a:prstGeom>
          <a:noFill/>
        </p:spPr>
        <p:txBody>
          <a:bodyPr wrap="square">
            <a:spAutoFit/>
          </a:bodyPr>
          <a:lstStyle/>
          <a:p>
            <a:pPr marL="0" marR="0" lvl="0" indent="0" algn="l" defTabSz="121902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err="1">
                <a:ln>
                  <a:noFill/>
                </a:ln>
                <a:solidFill>
                  <a:srgbClr val="000000"/>
                </a:solidFill>
                <a:effectLst/>
                <a:uLnTx/>
                <a:uFillTx/>
                <a:latin typeface="BISansCond"/>
                <a:ea typeface="+mn-ea"/>
                <a:cs typeface="+mn-cs"/>
              </a:rPr>
              <a:t>sGC</a:t>
            </a:r>
            <a:r>
              <a:rPr kumimoji="0" lang="en-US" altLang="zh-CN" sz="800" b="0" i="0" u="none" strike="noStrike" kern="1200" cap="none" spc="0" normalizeH="0" baseline="0" noProof="0">
                <a:ln>
                  <a:noFill/>
                </a:ln>
                <a:solidFill>
                  <a:srgbClr val="000000"/>
                </a:solidFill>
                <a:effectLst/>
                <a:uLnTx/>
                <a:uFillTx/>
                <a:latin typeface="BISansCond"/>
                <a:ea typeface="+mn-ea"/>
                <a:cs typeface="+mn-cs"/>
              </a:rPr>
              <a:t>:</a:t>
            </a:r>
            <a:r>
              <a:rPr kumimoji="0" lang="zh-CN" altLang="en-US" sz="800" b="0" i="0" u="none" strike="noStrike" kern="1200" cap="none" spc="0" normalizeH="0" baseline="0" noProof="0">
                <a:ln>
                  <a:noFill/>
                </a:ln>
                <a:solidFill>
                  <a:srgbClr val="000000"/>
                </a:solidFill>
                <a:effectLst/>
                <a:uLnTx/>
                <a:uFillTx/>
                <a:latin typeface="BISansCond"/>
                <a:ea typeface="+mn-ea"/>
                <a:cs typeface="+mn-cs"/>
              </a:rPr>
              <a:t> </a:t>
            </a:r>
            <a:r>
              <a:rPr kumimoji="0" lang="en-US" altLang="zh-CN" sz="800" b="0" i="0" u="none" strike="noStrike" kern="1200" cap="none" spc="0" normalizeH="0" baseline="0" noProof="0">
                <a:ln>
                  <a:noFill/>
                </a:ln>
                <a:solidFill>
                  <a:srgbClr val="000000"/>
                </a:solidFill>
                <a:effectLst/>
                <a:uLnTx/>
                <a:uFillTx/>
                <a:latin typeface="BISansCond"/>
                <a:ea typeface="+mn-ea"/>
                <a:cs typeface="+mn-cs"/>
              </a:rPr>
              <a:t>soluble guanylate cyclase</a:t>
            </a:r>
          </a:p>
          <a:p>
            <a:pPr marL="0" marR="0" lvl="0" indent="0" algn="l" defTabSz="121902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0000"/>
                </a:solidFill>
                <a:effectLst/>
                <a:uLnTx/>
                <a:uFillTx/>
                <a:latin typeface="BISansCond"/>
                <a:ea typeface="+mn-ea"/>
                <a:cs typeface="+mn-cs"/>
              </a:rPr>
              <a:t>LSS: Last subject screening</a:t>
            </a:r>
          </a:p>
          <a:p>
            <a:pPr marL="0" marR="0" lvl="0" indent="0" algn="l" defTabSz="121902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0000"/>
                </a:solidFill>
                <a:effectLst/>
                <a:uLnTx/>
                <a:uFillTx/>
                <a:latin typeface="BISansCond"/>
                <a:ea typeface="+mn-ea"/>
                <a:cs typeface="+mn-cs"/>
              </a:rPr>
              <a:t>LSC: Last subject complete</a:t>
            </a:r>
          </a:p>
          <a:p>
            <a:pPr marL="0" marR="0" lvl="0" indent="0" algn="l" defTabSz="121902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0000"/>
                </a:solidFill>
                <a:effectLst/>
                <a:uLnTx/>
                <a:uFillTx/>
                <a:latin typeface="BISansCond"/>
                <a:ea typeface="+mn-ea"/>
                <a:cs typeface="+mn-cs"/>
              </a:rPr>
              <a:t>SQV : site qualification visit </a:t>
            </a:r>
          </a:p>
          <a:p>
            <a:pPr marL="0" marR="0" lvl="0" indent="0" algn="l" defTabSz="121902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0000"/>
                </a:solidFill>
                <a:effectLst/>
                <a:uLnTx/>
                <a:uFillTx/>
                <a:latin typeface="BISansCond"/>
                <a:ea typeface="+mn-ea"/>
                <a:cs typeface="+mn-cs"/>
              </a:rPr>
              <a:t>FSS: First subject screening</a:t>
            </a:r>
          </a:p>
          <a:p>
            <a:pPr marL="0" marR="0" lvl="0" indent="0" algn="l" defTabSz="121902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0000"/>
                </a:solidFill>
                <a:effectLst/>
                <a:uLnTx/>
                <a:uFillTx/>
                <a:latin typeface="BISansCond"/>
                <a:ea typeface="+mn-ea"/>
                <a:cs typeface="+mn-cs"/>
              </a:rPr>
              <a:t>CN ML: China mainland</a:t>
            </a:r>
            <a:endParaRPr kumimoji="0" lang="zh-CN" altLang="en-US" sz="800" b="0" i="0" u="none" strike="noStrike" kern="1200" cap="none" spc="0" normalizeH="0" baseline="0" noProof="0">
              <a:ln>
                <a:noFill/>
              </a:ln>
              <a:solidFill>
                <a:srgbClr val="000000"/>
              </a:solidFill>
              <a:effectLst/>
              <a:uLnTx/>
              <a:uFillTx/>
              <a:latin typeface="BISansCond"/>
              <a:ea typeface="+mn-ea"/>
              <a:cs typeface="+mn-cs"/>
            </a:endParaRPr>
          </a:p>
        </p:txBody>
      </p:sp>
      <p:sp>
        <p:nvSpPr>
          <p:cNvPr id="6" name="OTLSHAPE_M_39ea6ebc19a94c9fab6ef5006c31df58_Title">
            <a:extLst>
              <a:ext uri="{FF2B5EF4-FFF2-40B4-BE49-F238E27FC236}">
                <a16:creationId xmlns:a16="http://schemas.microsoft.com/office/drawing/2014/main" id="{F70A7CB1-FD75-2DCF-7A9C-EC2BCEEDBB24}"/>
              </a:ext>
            </a:extLst>
          </p:cNvPr>
          <p:cNvSpPr txBox="1"/>
          <p:nvPr>
            <p:custDataLst>
              <p:tags r:id="rId8"/>
            </p:custDataLst>
          </p:nvPr>
        </p:nvSpPr>
        <p:spPr>
          <a:xfrm>
            <a:off x="11295465" y="3509516"/>
            <a:ext cx="1418307" cy="307777"/>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50" b="1" i="0" u="none" strike="noStrike" kern="0" cap="none" spc="0" normalizeH="0" baseline="0">
                <a:ln>
                  <a:noFill/>
                </a:ln>
                <a:solidFill>
                  <a:srgbClr val="44546A"/>
                </a:solidFill>
                <a:effectLst/>
                <a:uLnTx/>
                <a:uFillTx/>
                <a:latin typeface="Calibri" panose="020F0502020204030204" pitchFamily="34" charset="0"/>
              </a:defRPr>
            </a:lvl1p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rgbClr val="44546A"/>
                </a:solidFill>
                <a:effectLst/>
                <a:uLnTx/>
                <a:uFillTx/>
                <a:latin typeface="Calibri" panose="020F0502020204030204" pitchFamily="34" charset="0"/>
                <a:ea typeface="+mn-ea"/>
                <a:cs typeface="+mn-cs"/>
              </a:rPr>
              <a:t>Launch</a:t>
            </a:r>
          </a:p>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rgbClr val="44546A"/>
                </a:solidFill>
                <a:effectLst/>
                <a:uLnTx/>
                <a:uFillTx/>
                <a:latin typeface="Calibri" panose="020F0502020204030204" pitchFamily="34" charset="0"/>
                <a:ea typeface="+mn-ea"/>
                <a:cs typeface="+mn-cs"/>
              </a:rPr>
              <a:t>Sep 2030</a:t>
            </a:r>
          </a:p>
        </p:txBody>
      </p:sp>
      <p:sp>
        <p:nvSpPr>
          <p:cNvPr id="8" name="五角星 55">
            <a:extLst>
              <a:ext uri="{FF2B5EF4-FFF2-40B4-BE49-F238E27FC236}">
                <a16:creationId xmlns:a16="http://schemas.microsoft.com/office/drawing/2014/main" id="{E87A99A7-43C5-A51D-B255-23369B77F513}"/>
              </a:ext>
            </a:extLst>
          </p:cNvPr>
          <p:cNvSpPr/>
          <p:nvPr/>
        </p:nvSpPr>
        <p:spPr bwMode="auto">
          <a:xfrm>
            <a:off x="11393872" y="3219327"/>
            <a:ext cx="203981" cy="179684"/>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02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Cond"/>
              <a:ea typeface="+mn-ea"/>
              <a:cs typeface="+mn-cs"/>
            </a:endParaRPr>
          </a:p>
        </p:txBody>
      </p:sp>
      <p:sp>
        <p:nvSpPr>
          <p:cNvPr id="9" name="OTLSHAPE_M_39ea6ebc19a94c9fab6ef5006c31df58_Title">
            <a:extLst>
              <a:ext uri="{FF2B5EF4-FFF2-40B4-BE49-F238E27FC236}">
                <a16:creationId xmlns:a16="http://schemas.microsoft.com/office/drawing/2014/main" id="{F12E7DF4-1C3E-D60F-9B9B-40E4CBF36F1E}"/>
              </a:ext>
            </a:extLst>
          </p:cNvPr>
          <p:cNvSpPr txBox="1"/>
          <p:nvPr>
            <p:custDataLst>
              <p:tags r:id="rId9"/>
            </p:custDataLst>
          </p:nvPr>
        </p:nvSpPr>
        <p:spPr>
          <a:xfrm>
            <a:off x="11086605" y="3502078"/>
            <a:ext cx="724512" cy="307777"/>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50" b="1" i="0" u="none" strike="noStrike" kern="0" cap="none" spc="0" normalizeH="0" baseline="0">
                <a:ln>
                  <a:noFill/>
                </a:ln>
                <a:solidFill>
                  <a:srgbClr val="44546A"/>
                </a:solidFill>
                <a:effectLst/>
                <a:uLnTx/>
                <a:uFillTx/>
                <a:latin typeface="Calibri" panose="020F0502020204030204" pitchFamily="34" charset="0"/>
              </a:defRPr>
            </a:lvl1p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rgbClr val="44546A"/>
                </a:solidFill>
                <a:effectLst/>
                <a:uLnTx/>
                <a:uFillTx/>
                <a:latin typeface="Calibri" panose="020F0502020204030204" pitchFamily="34" charset="0"/>
                <a:ea typeface="+mn-ea"/>
                <a:cs typeface="+mn-cs"/>
              </a:rPr>
              <a:t>NDA sub</a:t>
            </a:r>
          </a:p>
          <a:p>
            <a:pPr marL="0" marR="0" lvl="0" indent="0" algn="ctr" defTabSz="1219020" rtl="0" eaLnBrk="1" fontAlgn="auto" latinLnBrk="0" hangingPunct="1">
              <a:lnSpc>
                <a:spcPct val="100000"/>
              </a:lnSpc>
              <a:spcBef>
                <a:spcPts val="0"/>
              </a:spcBef>
              <a:spcAft>
                <a:spcPts val="0"/>
              </a:spcAft>
              <a:buClrTx/>
              <a:buSzTx/>
              <a:buFontTx/>
              <a:buNone/>
              <a:tabLst/>
              <a:defRPr/>
            </a:pPr>
            <a:r>
              <a:rPr lang="en-US" altLang="zh-CN" sz="1000"/>
              <a:t>Jan</a:t>
            </a:r>
            <a:r>
              <a:rPr kumimoji="0" lang="en-US" altLang="zh-CN" sz="1000" b="1" i="0" u="none" strike="noStrike" kern="0" cap="none" spc="0" normalizeH="0" baseline="0" noProof="0">
                <a:ln>
                  <a:noFill/>
                </a:ln>
                <a:solidFill>
                  <a:srgbClr val="44546A"/>
                </a:solidFill>
                <a:effectLst/>
                <a:uLnTx/>
                <a:uFillTx/>
                <a:latin typeface="Calibri" panose="020F0502020204030204" pitchFamily="34" charset="0"/>
                <a:ea typeface="+mn-ea"/>
                <a:cs typeface="+mn-cs"/>
              </a:rPr>
              <a:t> 2030</a:t>
            </a:r>
          </a:p>
        </p:txBody>
      </p:sp>
      <p:sp>
        <p:nvSpPr>
          <p:cNvPr id="13" name="五角星 55">
            <a:extLst>
              <a:ext uri="{FF2B5EF4-FFF2-40B4-BE49-F238E27FC236}">
                <a16:creationId xmlns:a16="http://schemas.microsoft.com/office/drawing/2014/main" id="{0E16D7F1-E647-91AA-786D-03902318F494}"/>
              </a:ext>
            </a:extLst>
          </p:cNvPr>
          <p:cNvSpPr/>
          <p:nvPr/>
        </p:nvSpPr>
        <p:spPr bwMode="auto">
          <a:xfrm>
            <a:off x="11448864" y="5970111"/>
            <a:ext cx="203981" cy="179684"/>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02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Cond"/>
              <a:ea typeface="+mn-ea"/>
              <a:cs typeface="+mn-cs"/>
            </a:endParaRPr>
          </a:p>
        </p:txBody>
      </p:sp>
      <p:sp>
        <p:nvSpPr>
          <p:cNvPr id="14" name="OTLSHAPE_M_39ea6ebc19a94c9fab6ef5006c31df58_Title">
            <a:extLst>
              <a:ext uri="{FF2B5EF4-FFF2-40B4-BE49-F238E27FC236}">
                <a16:creationId xmlns:a16="http://schemas.microsoft.com/office/drawing/2014/main" id="{4C4EE173-8724-127B-64ED-A729EE5E28A9}"/>
              </a:ext>
            </a:extLst>
          </p:cNvPr>
          <p:cNvSpPr txBox="1"/>
          <p:nvPr>
            <p:custDataLst>
              <p:tags r:id="rId10"/>
            </p:custDataLst>
          </p:nvPr>
        </p:nvSpPr>
        <p:spPr>
          <a:xfrm>
            <a:off x="10414331" y="5916709"/>
            <a:ext cx="1034535" cy="307777"/>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50" b="1" i="0" u="none" strike="noStrike" kern="0" cap="none" spc="0" normalizeH="0" baseline="0">
                <a:ln>
                  <a:noFill/>
                </a:ln>
                <a:solidFill>
                  <a:srgbClr val="44546A"/>
                </a:solidFill>
                <a:effectLst/>
                <a:uLnTx/>
                <a:uFillTx/>
                <a:latin typeface="Calibri" panose="020F0502020204030204" pitchFamily="34" charset="0"/>
              </a:defRPr>
            </a:lvl1p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rgbClr val="44546A"/>
                </a:solidFill>
                <a:effectLst/>
                <a:uLnTx/>
                <a:uFillTx/>
                <a:latin typeface="Calibri" panose="020F0502020204030204" pitchFamily="34" charset="0"/>
                <a:ea typeface="+mn-ea"/>
                <a:cs typeface="+mn-cs"/>
              </a:rPr>
              <a:t>China NDA sub </a:t>
            </a:r>
          </a:p>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rgbClr val="44546A"/>
                </a:solidFill>
                <a:effectLst/>
                <a:uLnTx/>
                <a:uFillTx/>
                <a:latin typeface="Calibri" panose="020F0502020204030204" pitchFamily="34" charset="0"/>
                <a:ea typeface="+mn-ea"/>
                <a:cs typeface="+mn-cs"/>
              </a:rPr>
              <a:t>Feb 2030</a:t>
            </a:r>
          </a:p>
        </p:txBody>
      </p:sp>
      <p:sp>
        <p:nvSpPr>
          <p:cNvPr id="15" name="OTLSHAPE_M_39ea6ebc19a94c9fab6ef5006c31df58_Title">
            <a:extLst>
              <a:ext uri="{FF2B5EF4-FFF2-40B4-BE49-F238E27FC236}">
                <a16:creationId xmlns:a16="http://schemas.microsoft.com/office/drawing/2014/main" id="{3627FCA7-FFB1-F5CC-D087-A2A264940093}"/>
              </a:ext>
            </a:extLst>
          </p:cNvPr>
          <p:cNvSpPr txBox="1"/>
          <p:nvPr>
            <p:custDataLst>
              <p:tags r:id="rId11"/>
            </p:custDataLst>
          </p:nvPr>
        </p:nvSpPr>
        <p:spPr>
          <a:xfrm>
            <a:off x="10936542" y="6284721"/>
            <a:ext cx="1552099" cy="461665"/>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50" b="1" i="0" u="none" strike="noStrike" kern="0" cap="none" spc="0" normalizeH="0" baseline="0">
                <a:ln>
                  <a:noFill/>
                </a:ln>
                <a:solidFill>
                  <a:srgbClr val="44546A"/>
                </a:solidFill>
                <a:effectLst/>
                <a:uLnTx/>
                <a:uFillTx/>
                <a:latin typeface="Calibri" panose="020F0502020204030204" pitchFamily="34" charset="0"/>
              </a:defRPr>
            </a:lvl1p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chemeClr val="tx1"/>
                </a:solidFill>
                <a:effectLst/>
                <a:uLnTx/>
                <a:uFillTx/>
                <a:latin typeface="Calibri" panose="020F0502020204030204" pitchFamily="34" charset="0"/>
                <a:ea typeface="+mn-ea"/>
                <a:cs typeface="+mn-cs"/>
              </a:rPr>
              <a:t>China NDA App </a:t>
            </a:r>
          </a:p>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chemeClr val="tx1"/>
                </a:solidFill>
                <a:effectLst/>
                <a:uLnTx/>
                <a:uFillTx/>
                <a:latin typeface="Calibri" panose="020F0502020204030204" pitchFamily="34" charset="0"/>
                <a:ea typeface="+mn-ea"/>
                <a:cs typeface="+mn-cs"/>
              </a:rPr>
              <a:t>Feb 2031 (best) </a:t>
            </a:r>
          </a:p>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chemeClr val="tx1"/>
                </a:solidFill>
                <a:effectLst/>
                <a:uLnTx/>
                <a:uFillTx/>
                <a:latin typeface="Calibri" panose="020F0502020204030204" pitchFamily="34" charset="0"/>
                <a:ea typeface="+mn-ea"/>
                <a:cs typeface="+mn-cs"/>
              </a:rPr>
              <a:t>Jul 2031 (base)</a:t>
            </a:r>
          </a:p>
        </p:txBody>
      </p:sp>
      <p:pic>
        <p:nvPicPr>
          <p:cNvPr id="16" name="Picture 15" descr="Traffic light - Simple English Wikipedia, the free ...">
            <a:extLst>
              <a:ext uri="{FF2B5EF4-FFF2-40B4-BE49-F238E27FC236}">
                <a16:creationId xmlns:a16="http://schemas.microsoft.com/office/drawing/2014/main" id="{CD70FB91-8DE2-5494-200C-2F5F1A7C6F11}"/>
              </a:ext>
            </a:extLst>
          </p:cNvPr>
          <p:cNvPicPr>
            <a:picLocks noChangeAspect="1"/>
          </p:cNvPicPr>
          <p:nvPr/>
        </p:nvPicPr>
        <p:blipFill rotWithShape="1">
          <a:blip r:embed="rId21" cstate="print">
            <a:extLst>
              <a:ext uri="{28A0092B-C50C-407E-A947-70E740481C1C}">
                <a14:useLocalDpi xmlns:a14="http://schemas.microsoft.com/office/drawing/2010/main"/>
              </a:ext>
            </a:extLst>
          </a:blip>
          <a:srcRect/>
          <a:stretch/>
        </p:blipFill>
        <p:spPr>
          <a:xfrm rot="16200000" flipV="1">
            <a:off x="10653587" y="-450097"/>
            <a:ext cx="698504" cy="1726513"/>
          </a:xfrm>
          <a:prstGeom prst="rect">
            <a:avLst/>
          </a:prstGeom>
        </p:spPr>
      </p:pic>
      <p:sp>
        <p:nvSpPr>
          <p:cNvPr id="17" name="OTLSHAPE_T_5a934a26f311425e8ebaa0f45e6533ad_Shape">
            <a:extLst>
              <a:ext uri="{FF2B5EF4-FFF2-40B4-BE49-F238E27FC236}">
                <a16:creationId xmlns:a16="http://schemas.microsoft.com/office/drawing/2014/main" id="{BC61BA49-4F97-C1E3-2051-73D94539201F}"/>
              </a:ext>
            </a:extLst>
          </p:cNvPr>
          <p:cNvSpPr/>
          <p:nvPr/>
        </p:nvSpPr>
        <p:spPr bwMode="auto">
          <a:xfrm>
            <a:off x="2031407" y="2150451"/>
            <a:ext cx="4063896" cy="256032"/>
          </a:xfrm>
          <a:prstGeom prst="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Ph2 N=200 </a:t>
            </a:r>
          </a:p>
        </p:txBody>
      </p:sp>
      <p:sp>
        <p:nvSpPr>
          <p:cNvPr id="18" name="OTLSHAPE_T_e17f3958430f4cff8650518c93c7635e_StartDate">
            <a:extLst>
              <a:ext uri="{FF2B5EF4-FFF2-40B4-BE49-F238E27FC236}">
                <a16:creationId xmlns:a16="http://schemas.microsoft.com/office/drawing/2014/main" id="{33D17CCD-39D1-F06C-058C-A44C1141B8A3}"/>
              </a:ext>
            </a:extLst>
          </p:cNvPr>
          <p:cNvSpPr txBox="1"/>
          <p:nvPr>
            <p:custDataLst>
              <p:tags r:id="rId12"/>
            </p:custDataLst>
          </p:nvPr>
        </p:nvSpPr>
        <p:spPr>
          <a:xfrm>
            <a:off x="1556508" y="2006164"/>
            <a:ext cx="840493" cy="153888"/>
          </a:xfrm>
          <a:prstGeom prst="rect">
            <a:avLst/>
          </a:prstGeom>
          <a:noFill/>
        </p:spPr>
        <p:txBody>
          <a:bodyPr vert="horz" wrap="square" lIns="0" tIns="0" rIns="0" bIns="0" rtlCol="0" anchor="ctr" anchorCtr="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Dec 2022</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9" name="OTLSHAPE_T_5a934a26f311425e8ebaa0f45e6533ad_Shape">
            <a:extLst>
              <a:ext uri="{FF2B5EF4-FFF2-40B4-BE49-F238E27FC236}">
                <a16:creationId xmlns:a16="http://schemas.microsoft.com/office/drawing/2014/main" id="{8E5F07A3-427C-B8EC-6111-4706D271A558}"/>
              </a:ext>
            </a:extLst>
          </p:cNvPr>
          <p:cNvSpPr/>
          <p:nvPr/>
        </p:nvSpPr>
        <p:spPr bwMode="auto">
          <a:xfrm>
            <a:off x="6094688" y="2144516"/>
            <a:ext cx="2417817" cy="256032"/>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LSS-key results </a:t>
            </a:r>
          </a:p>
        </p:txBody>
      </p:sp>
      <p:sp>
        <p:nvSpPr>
          <p:cNvPr id="20" name="OTLSHAPE_T_e17f3958430f4cff8650518c93c7635e_StartDate">
            <a:extLst>
              <a:ext uri="{FF2B5EF4-FFF2-40B4-BE49-F238E27FC236}">
                <a16:creationId xmlns:a16="http://schemas.microsoft.com/office/drawing/2014/main" id="{58CF46E9-698C-806E-DF26-40981B3F5E4F}"/>
              </a:ext>
            </a:extLst>
          </p:cNvPr>
          <p:cNvSpPr txBox="1"/>
          <p:nvPr>
            <p:custDataLst>
              <p:tags r:id="rId13"/>
            </p:custDataLst>
          </p:nvPr>
        </p:nvSpPr>
        <p:spPr>
          <a:xfrm>
            <a:off x="5638668" y="1985865"/>
            <a:ext cx="840493" cy="153888"/>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rgbClr val="44546A"/>
                </a:solidFill>
                <a:effectLst/>
                <a:uLnTx/>
                <a:uFillTx/>
                <a:latin typeface="Calibri" panose="020F0502020204030204" pitchFamily="34" charset="0"/>
                <a:ea typeface="+mn-ea"/>
                <a:cs typeface="+mn-cs"/>
              </a:rPr>
              <a:t>Oct 2024</a:t>
            </a:r>
            <a:endParaRPr kumimoji="0" lang="zh-CN" altLang="en-US" sz="1000" b="1" i="0" u="none" strike="noStrike" kern="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5" name="Star: 4 Points 143">
            <a:extLst>
              <a:ext uri="{FF2B5EF4-FFF2-40B4-BE49-F238E27FC236}">
                <a16:creationId xmlns:a16="http://schemas.microsoft.com/office/drawing/2014/main" id="{2E0BDA15-E7DB-422A-9F9B-FFCBEE86CC6B}"/>
              </a:ext>
            </a:extLst>
          </p:cNvPr>
          <p:cNvSpPr/>
          <p:nvPr/>
        </p:nvSpPr>
        <p:spPr bwMode="auto">
          <a:xfrm>
            <a:off x="1947257" y="232099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22" name="OTLSHAPE_T_e17f3958430f4cff8650518c93c7635e_StartDate">
            <a:extLst>
              <a:ext uri="{FF2B5EF4-FFF2-40B4-BE49-F238E27FC236}">
                <a16:creationId xmlns:a16="http://schemas.microsoft.com/office/drawing/2014/main" id="{22F5E4EB-3F20-7947-300C-36F54DA43572}"/>
              </a:ext>
            </a:extLst>
          </p:cNvPr>
          <p:cNvSpPr txBox="1"/>
          <p:nvPr>
            <p:custDataLst>
              <p:tags r:id="rId14"/>
            </p:custDataLst>
          </p:nvPr>
        </p:nvSpPr>
        <p:spPr>
          <a:xfrm>
            <a:off x="8358572" y="1999076"/>
            <a:ext cx="840493" cy="153888"/>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rgbClr val="44546A"/>
                </a:solidFill>
                <a:effectLst/>
                <a:uLnTx/>
                <a:uFillTx/>
                <a:latin typeface="Calibri" panose="020F0502020204030204" pitchFamily="34" charset="0"/>
                <a:ea typeface="+mn-ea"/>
                <a:cs typeface="+mn-cs"/>
              </a:rPr>
              <a:t>Dec 2025</a:t>
            </a:r>
            <a:endParaRPr kumimoji="0" lang="zh-CN" altLang="en-US" sz="1000" b="1" i="0" u="none" strike="noStrike" kern="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23" name="Rectangle 22">
            <a:extLst>
              <a:ext uri="{FF2B5EF4-FFF2-40B4-BE49-F238E27FC236}">
                <a16:creationId xmlns:a16="http://schemas.microsoft.com/office/drawing/2014/main" id="{CB29C92A-47C1-DE2B-CDA9-79D1BC299E79}"/>
              </a:ext>
            </a:extLst>
          </p:cNvPr>
          <p:cNvSpPr/>
          <p:nvPr/>
        </p:nvSpPr>
        <p:spPr>
          <a:xfrm>
            <a:off x="8723662" y="2106941"/>
            <a:ext cx="1180130" cy="400110"/>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Decision: go/no go</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 early launch</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28" name="Rectangle 27">
            <a:extLst>
              <a:ext uri="{FF2B5EF4-FFF2-40B4-BE49-F238E27FC236}">
                <a16:creationId xmlns:a16="http://schemas.microsoft.com/office/drawing/2014/main" id="{59C26044-095D-F88E-2320-8BACEF53113A}"/>
              </a:ext>
            </a:extLst>
          </p:cNvPr>
          <p:cNvSpPr/>
          <p:nvPr/>
        </p:nvSpPr>
        <p:spPr>
          <a:xfrm>
            <a:off x="5884259" y="2403417"/>
            <a:ext cx="487295" cy="246221"/>
          </a:xfrm>
          <a:prstGeom prst="rect">
            <a:avLst/>
          </a:prstGeom>
        </p:spPr>
        <p:txBody>
          <a:bodyPr wrap="squar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LSS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pic>
        <p:nvPicPr>
          <p:cNvPr id="29" name="Graphic 28" descr="Flag with solid fill">
            <a:extLst>
              <a:ext uri="{FF2B5EF4-FFF2-40B4-BE49-F238E27FC236}">
                <a16:creationId xmlns:a16="http://schemas.microsoft.com/office/drawing/2014/main" id="{5DF27B44-E3E0-3FA3-2983-08F6D5C22EAA}"/>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1907336" y="3211887"/>
            <a:ext cx="194560" cy="194560"/>
          </a:xfrm>
          <a:prstGeom prst="rect">
            <a:avLst/>
          </a:prstGeom>
        </p:spPr>
      </p:pic>
      <p:pic>
        <p:nvPicPr>
          <p:cNvPr id="31" name="Graphic 30" descr="Flag with solid fill">
            <a:extLst>
              <a:ext uri="{FF2B5EF4-FFF2-40B4-BE49-F238E27FC236}">
                <a16:creationId xmlns:a16="http://schemas.microsoft.com/office/drawing/2014/main" id="{B325AF42-DE14-813B-BF28-F0118DE0FCDA}"/>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2044619" y="6019733"/>
            <a:ext cx="194560" cy="194560"/>
          </a:xfrm>
          <a:prstGeom prst="rect">
            <a:avLst/>
          </a:prstGeom>
        </p:spPr>
      </p:pic>
      <p:sp>
        <p:nvSpPr>
          <p:cNvPr id="32" name="Isosceles Triangle 31">
            <a:extLst>
              <a:ext uri="{FF2B5EF4-FFF2-40B4-BE49-F238E27FC236}">
                <a16:creationId xmlns:a16="http://schemas.microsoft.com/office/drawing/2014/main" id="{ECAB9B1D-F34C-4A83-80D2-9820530CD1D9}"/>
              </a:ext>
            </a:extLst>
          </p:cNvPr>
          <p:cNvSpPr/>
          <p:nvPr/>
        </p:nvSpPr>
        <p:spPr>
          <a:xfrm>
            <a:off x="6814141" y="2385778"/>
            <a:ext cx="92539" cy="91791"/>
          </a:xfrm>
          <a:prstGeom prst="triangle">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26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err="1">
              <a:ln>
                <a:noFill/>
              </a:ln>
              <a:solidFill>
                <a:srgbClr val="000000"/>
              </a:solidFill>
              <a:effectLst/>
              <a:uLnTx/>
              <a:uFillTx/>
              <a:latin typeface="BISansOpti"/>
              <a:ea typeface="+mn-ea"/>
              <a:cs typeface="+mn-cs"/>
            </a:endParaRPr>
          </a:p>
        </p:txBody>
      </p:sp>
      <p:sp>
        <p:nvSpPr>
          <p:cNvPr id="33" name="OTLSHAPE_M_39ea6ebc19a94c9fab6ef5006c31df58_Date">
            <a:extLst>
              <a:ext uri="{FF2B5EF4-FFF2-40B4-BE49-F238E27FC236}">
                <a16:creationId xmlns:a16="http://schemas.microsoft.com/office/drawing/2014/main" id="{DA655C1C-BDEF-76AC-1645-47C67B998D00}"/>
              </a:ext>
            </a:extLst>
          </p:cNvPr>
          <p:cNvSpPr txBox="1"/>
          <p:nvPr>
            <p:custDataLst>
              <p:tags r:id="rId15"/>
            </p:custDataLst>
          </p:nvPr>
        </p:nvSpPr>
        <p:spPr>
          <a:xfrm>
            <a:off x="6275585" y="2403409"/>
            <a:ext cx="1442569" cy="246221"/>
          </a:xfrm>
          <a:prstGeom prst="rect">
            <a:avLst/>
          </a:prstGeom>
        </p:spPr>
        <p:txBody>
          <a:bodyPr wrap="square">
            <a:spAutoFit/>
          </a:bodyPr>
          <a:lstStyle>
            <a:defPPr>
              <a:defRPr lang="de-DE"/>
            </a:defPPr>
            <a:lvl1pPr marR="0" lvl="0" indent="0" algn="ctr" defTabSz="914378"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IA 160 patient 24W </a:t>
            </a:r>
          </a:p>
        </p:txBody>
      </p:sp>
      <p:pic>
        <p:nvPicPr>
          <p:cNvPr id="5" name="图片 4">
            <a:extLst>
              <a:ext uri="{FF2B5EF4-FFF2-40B4-BE49-F238E27FC236}">
                <a16:creationId xmlns:a16="http://schemas.microsoft.com/office/drawing/2014/main" id="{9D8D8986-CEC5-9485-A55F-9E369A8DCD54}"/>
              </a:ext>
            </a:extLst>
          </p:cNvPr>
          <p:cNvPicPr>
            <a:picLocks noChangeAspect="1"/>
          </p:cNvPicPr>
          <p:nvPr/>
        </p:nvPicPr>
        <p:blipFill>
          <a:blip r:embed="rId24"/>
          <a:stretch>
            <a:fillRect/>
          </a:stretch>
        </p:blipFill>
        <p:spPr>
          <a:xfrm>
            <a:off x="3265082" y="5543271"/>
            <a:ext cx="3909567" cy="1280385"/>
          </a:xfrm>
          <a:prstGeom prst="rect">
            <a:avLst/>
          </a:prstGeom>
        </p:spPr>
      </p:pic>
      <p:sp>
        <p:nvSpPr>
          <p:cNvPr id="7" name="等腰三角形 6">
            <a:extLst>
              <a:ext uri="{FF2B5EF4-FFF2-40B4-BE49-F238E27FC236}">
                <a16:creationId xmlns:a16="http://schemas.microsoft.com/office/drawing/2014/main" id="{359BF06A-8C40-D1D2-0BD0-1153A873944C}"/>
              </a:ext>
            </a:extLst>
          </p:cNvPr>
          <p:cNvSpPr/>
          <p:nvPr/>
        </p:nvSpPr>
        <p:spPr bwMode="gray">
          <a:xfrm>
            <a:off x="8219586" y="6130994"/>
            <a:ext cx="146813" cy="123634"/>
          </a:xfrm>
          <a:prstGeom prst="triangle">
            <a:avLst/>
          </a:prstGeom>
          <a:solidFill>
            <a:srgbClr val="076D7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0" name="文本框 9">
            <a:extLst>
              <a:ext uri="{FF2B5EF4-FFF2-40B4-BE49-F238E27FC236}">
                <a16:creationId xmlns:a16="http://schemas.microsoft.com/office/drawing/2014/main" id="{D82463B7-7841-598C-DE88-3A679980CC4C}"/>
              </a:ext>
            </a:extLst>
          </p:cNvPr>
          <p:cNvSpPr txBox="1"/>
          <p:nvPr/>
        </p:nvSpPr>
        <p:spPr bwMode="gray">
          <a:xfrm>
            <a:off x="8382380" y="6130994"/>
            <a:ext cx="1247389" cy="138243"/>
          </a:xfrm>
          <a:prstGeom prst="rect">
            <a:avLst/>
          </a:prstGeom>
          <a:noFill/>
        </p:spPr>
        <p:txBody>
          <a:bodyPr wrap="square" lIns="0" tIns="0" rIns="0" bIns="0" rtlCol="0">
            <a:spAutoFit/>
          </a:bodyPr>
          <a:lstStyle/>
          <a:p>
            <a:pPr algn="l">
              <a:lnSpc>
                <a:spcPct val="140000"/>
              </a:lnSpc>
            </a:pPr>
            <a:r>
              <a:rPr lang="en-US" altLang="zh-CN" sz="700"/>
              <a:t>China PK(for NDA) discussion </a:t>
            </a:r>
            <a:endParaRPr lang="zh-CN" altLang="en-US" sz="700"/>
          </a:p>
        </p:txBody>
      </p:sp>
      <p:pic>
        <p:nvPicPr>
          <p:cNvPr id="21" name="图片 20">
            <a:extLst>
              <a:ext uri="{FF2B5EF4-FFF2-40B4-BE49-F238E27FC236}">
                <a16:creationId xmlns:a16="http://schemas.microsoft.com/office/drawing/2014/main" id="{D24D003A-1FE3-C192-DCBC-303D2CEBB1A8}"/>
              </a:ext>
            </a:extLst>
          </p:cNvPr>
          <p:cNvPicPr>
            <a:picLocks noChangeAspect="1"/>
          </p:cNvPicPr>
          <p:nvPr/>
        </p:nvPicPr>
        <p:blipFill>
          <a:blip r:embed="rId25"/>
          <a:stretch>
            <a:fillRect/>
          </a:stretch>
        </p:blipFill>
        <p:spPr>
          <a:xfrm>
            <a:off x="-29797" y="3386673"/>
            <a:ext cx="2273417" cy="806491"/>
          </a:xfrm>
          <a:prstGeom prst="rect">
            <a:avLst/>
          </a:prstGeom>
        </p:spPr>
      </p:pic>
    </p:spTree>
    <p:extLst>
      <p:ext uri="{BB962C8B-B14F-4D97-AF65-F5344CB8AC3E}">
        <p14:creationId xmlns:p14="http://schemas.microsoft.com/office/powerpoint/2010/main" val="35343523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624419-2486-28D3-C49C-503C0EE14402}"/>
              </a:ext>
            </a:extLst>
          </p:cNvPr>
          <p:cNvSpPr>
            <a:spLocks noGrp="1"/>
          </p:cNvSpPr>
          <p:nvPr>
            <p:ph type="title"/>
          </p:nvPr>
        </p:nvSpPr>
        <p:spPr>
          <a:xfrm>
            <a:off x="191441" y="78936"/>
            <a:ext cx="11233151" cy="720000"/>
          </a:xfrm>
        </p:spPr>
        <p:txBody>
          <a:bodyPr/>
          <a:lstStyle/>
          <a:p>
            <a:r>
              <a:rPr lang="de-AT" altLang="zh-CN">
                <a:solidFill>
                  <a:schemeClr val="bg2">
                    <a:lumMod val="90000"/>
                    <a:lumOff val="10000"/>
                  </a:schemeClr>
                </a:solidFill>
              </a:rPr>
              <a:t>BI 3000202 (cGAS inhi) in SLE (1509-0004, ph2)</a:t>
            </a:r>
            <a:br>
              <a:rPr lang="de-AT" altLang="zh-CN">
                <a:solidFill>
                  <a:schemeClr val="bg2">
                    <a:lumMod val="90000"/>
                    <a:lumOff val="10000"/>
                  </a:schemeClr>
                </a:solidFill>
              </a:rPr>
            </a:br>
            <a:r>
              <a:rPr lang="en-US" altLang="zh-CN"/>
              <a:t>Timeline / Current status_10Nov2025</a:t>
            </a:r>
            <a:endParaRPr lang="zh-CN" altLang="en-US"/>
          </a:p>
        </p:txBody>
      </p:sp>
      <p:sp>
        <p:nvSpPr>
          <p:cNvPr id="5" name="灯片编号占位符 4">
            <a:extLst>
              <a:ext uri="{FF2B5EF4-FFF2-40B4-BE49-F238E27FC236}">
                <a16:creationId xmlns:a16="http://schemas.microsoft.com/office/drawing/2014/main" id="{524AA4F5-7392-2CEB-30C9-05F1B0782943}"/>
              </a:ext>
            </a:extLst>
          </p:cNvPr>
          <p:cNvSpPr>
            <a:spLocks noGrp="1"/>
          </p:cNvSpPr>
          <p:nvPr>
            <p:ph type="sldNum" sz="quarter" idx="11"/>
          </p:nvPr>
        </p:nvSpPr>
        <p:spPr/>
        <p:txBody>
          <a:bodyPr/>
          <a:lstStyle/>
          <a:p>
            <a:fld id="{8FF9B0DE-3FEB-4AA0-B465-B80EF7C1333D}" type="slidenum">
              <a:rPr lang="en-US" smtClean="0"/>
              <a:pPr/>
              <a:t>63</a:t>
            </a:fld>
            <a:endParaRPr lang="en-US"/>
          </a:p>
        </p:txBody>
      </p:sp>
      <p:graphicFrame>
        <p:nvGraphicFramePr>
          <p:cNvPr id="6" name="表格 5">
            <a:extLst>
              <a:ext uri="{FF2B5EF4-FFF2-40B4-BE49-F238E27FC236}">
                <a16:creationId xmlns:a16="http://schemas.microsoft.com/office/drawing/2014/main" id="{691F1C66-FED6-72AF-3F5E-0AF9621BA9C5}"/>
              </a:ext>
            </a:extLst>
          </p:cNvPr>
          <p:cNvGraphicFramePr>
            <a:graphicFrameLocks noGrp="1"/>
          </p:cNvGraphicFramePr>
          <p:nvPr>
            <p:extLst>
              <p:ext uri="{D42A27DB-BD31-4B8C-83A1-F6EECF244321}">
                <p14:modId xmlns:p14="http://schemas.microsoft.com/office/powerpoint/2010/main" val="4039116140"/>
              </p:ext>
            </p:extLst>
          </p:nvPr>
        </p:nvGraphicFramePr>
        <p:xfrm>
          <a:off x="1941337" y="937284"/>
          <a:ext cx="8486857" cy="5453234"/>
        </p:xfrm>
        <a:graphic>
          <a:graphicData uri="http://schemas.openxmlformats.org/drawingml/2006/table">
            <a:tbl>
              <a:tblPr firstRow="1" firstCol="1" bandRow="1">
                <a:tableStyleId>{72833802-FEF1-4C79-8D5D-14CF1EAF98D9}</a:tableStyleId>
              </a:tblPr>
              <a:tblGrid>
                <a:gridCol w="1708819">
                  <a:extLst>
                    <a:ext uri="{9D8B030D-6E8A-4147-A177-3AD203B41FA5}">
                      <a16:colId xmlns:a16="http://schemas.microsoft.com/office/drawing/2014/main" val="2857883068"/>
                    </a:ext>
                  </a:extLst>
                </a:gridCol>
                <a:gridCol w="1382292">
                  <a:extLst>
                    <a:ext uri="{9D8B030D-6E8A-4147-A177-3AD203B41FA5}">
                      <a16:colId xmlns:a16="http://schemas.microsoft.com/office/drawing/2014/main" val="138282354"/>
                    </a:ext>
                  </a:extLst>
                </a:gridCol>
                <a:gridCol w="1175493">
                  <a:extLst>
                    <a:ext uri="{9D8B030D-6E8A-4147-A177-3AD203B41FA5}">
                      <a16:colId xmlns:a16="http://schemas.microsoft.com/office/drawing/2014/main" val="2213218023"/>
                    </a:ext>
                  </a:extLst>
                </a:gridCol>
                <a:gridCol w="1440749">
                  <a:extLst>
                    <a:ext uri="{9D8B030D-6E8A-4147-A177-3AD203B41FA5}">
                      <a16:colId xmlns:a16="http://schemas.microsoft.com/office/drawing/2014/main" val="2691935666"/>
                    </a:ext>
                  </a:extLst>
                </a:gridCol>
                <a:gridCol w="1299255">
                  <a:extLst>
                    <a:ext uri="{9D8B030D-6E8A-4147-A177-3AD203B41FA5}">
                      <a16:colId xmlns:a16="http://schemas.microsoft.com/office/drawing/2014/main" val="2569668123"/>
                    </a:ext>
                  </a:extLst>
                </a:gridCol>
                <a:gridCol w="1480249">
                  <a:extLst>
                    <a:ext uri="{9D8B030D-6E8A-4147-A177-3AD203B41FA5}">
                      <a16:colId xmlns:a16="http://schemas.microsoft.com/office/drawing/2014/main" val="472454768"/>
                    </a:ext>
                  </a:extLst>
                </a:gridCol>
              </a:tblGrid>
              <a:tr h="457200">
                <a:tc rowSpan="2">
                  <a:txBody>
                    <a:bodyPr/>
                    <a:lstStyle/>
                    <a:p>
                      <a:pPr algn="ctr">
                        <a:lnSpc>
                          <a:spcPct val="150000"/>
                        </a:lnSpc>
                        <a:buNone/>
                      </a:pPr>
                      <a:r>
                        <a:rPr lang="en-US" sz="900" kern="100">
                          <a:effectLst/>
                          <a:latin typeface="Calibri" panose="020F0502020204030204" pitchFamily="34" charset="0"/>
                          <a:ea typeface="Calibri" panose="020F0502020204030204" pitchFamily="34" charset="0"/>
                          <a:cs typeface="Calibri" panose="020F0502020204030204" pitchFamily="34" charset="0"/>
                        </a:rPr>
                        <a:t>Milestones</a:t>
                      </a:r>
                      <a:endParaRPr lang="zh-CN" sz="12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50000"/>
                        </a:lnSpc>
                        <a:buNone/>
                      </a:pPr>
                      <a:r>
                        <a:rPr lang="en-US" sz="900" kern="100">
                          <a:effectLst/>
                        </a:rPr>
                        <a:t>Global</a:t>
                      </a:r>
                      <a:endParaRPr lang="zh-CN" sz="1200" kern="100">
                        <a:effectLst/>
                        <a:latin typeface="DengXian" panose="02010600030101010101" pitchFamily="2" charset="-122"/>
                        <a:ea typeface="DengXia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tc gridSpan="3">
                  <a:txBody>
                    <a:bodyPr/>
                    <a:lstStyle/>
                    <a:p>
                      <a:pPr algn="ctr">
                        <a:lnSpc>
                          <a:spcPct val="150000"/>
                        </a:lnSpc>
                        <a:buNone/>
                      </a:pPr>
                      <a:r>
                        <a:rPr lang="en-US" sz="900" kern="100">
                          <a:effectLst/>
                        </a:rPr>
                        <a:t>China</a:t>
                      </a:r>
                      <a:endParaRPr lang="zh-CN" altLang="en-US" sz="1200" kern="100">
                        <a:effectLst/>
                        <a:latin typeface="DengXian" panose="02010600030101010101" pitchFamily="2" charset="-122"/>
                        <a:ea typeface="DengXia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3892230"/>
                  </a:ext>
                </a:extLst>
              </a:tr>
              <a:tr h="290338">
                <a:tc vMerge="1">
                  <a:txBody>
                    <a:bodyPr/>
                    <a:lstStyle/>
                    <a:p>
                      <a:endParaRPr lang="zh-CN" altLang="en-US"/>
                    </a:p>
                  </a:txBody>
                  <a:tcPr/>
                </a:tc>
                <a:tc>
                  <a:txBody>
                    <a:bodyPr/>
                    <a:lstStyle/>
                    <a:p>
                      <a:pPr marL="0" algn="ctr" defTabSz="914400" rtl="0" eaLnBrk="1" latinLnBrk="0" hangingPunct="1">
                        <a:lnSpc>
                          <a:spcPct val="150000"/>
                        </a:lnSpc>
                        <a:buNone/>
                      </a:pPr>
                      <a:r>
                        <a:rPr lang="en-US" sz="1200" b="1" kern="100">
                          <a:solidFill>
                            <a:schemeClr val="bg1"/>
                          </a:solidFill>
                          <a:effectLst/>
                          <a:latin typeface="Calibri" panose="020F0502020204030204" pitchFamily="34" charset="0"/>
                          <a:ea typeface="Calibri" panose="020F0502020204030204" pitchFamily="34" charset="0"/>
                          <a:cs typeface="Calibri" panose="020F0502020204030204" pitchFamily="34" charset="0"/>
                        </a:rPr>
                        <a:t>Planned date</a:t>
                      </a:r>
                      <a:endParaRPr lang="zh-CN" altLang="en-US" sz="1200" b="1" kern="100">
                        <a:solidFill>
                          <a:schemeClr val="bg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algn="ctr" defTabSz="914400" rtl="0" eaLnBrk="1" latinLnBrk="0" hangingPunct="1">
                        <a:lnSpc>
                          <a:spcPct val="150000"/>
                        </a:lnSpc>
                        <a:buNone/>
                      </a:pPr>
                      <a:r>
                        <a:rPr lang="en-US" sz="1200" b="1" kern="100">
                          <a:solidFill>
                            <a:schemeClr val="bg1"/>
                          </a:solidFill>
                          <a:effectLst/>
                          <a:latin typeface="Calibri" panose="020F0502020204030204" pitchFamily="34" charset="0"/>
                          <a:ea typeface="Calibri" panose="020F0502020204030204" pitchFamily="34" charset="0"/>
                          <a:cs typeface="Calibri" panose="020F0502020204030204" pitchFamily="34" charset="0"/>
                        </a:rPr>
                        <a:t>Actual date</a:t>
                      </a:r>
                      <a:endParaRPr lang="zh-CN" altLang="en-US" sz="1200" b="1" kern="100">
                        <a:solidFill>
                          <a:schemeClr val="bg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algn="ctr" defTabSz="914400" rtl="0" eaLnBrk="1" latinLnBrk="0" hangingPunct="1">
                        <a:lnSpc>
                          <a:spcPct val="150000"/>
                        </a:lnSpc>
                        <a:buNone/>
                      </a:pPr>
                      <a:r>
                        <a:rPr lang="en-US" altLang="zh-CN" sz="1200" b="1" kern="100">
                          <a:solidFill>
                            <a:schemeClr val="bg1"/>
                          </a:solidFill>
                          <a:effectLst/>
                          <a:latin typeface="Calibri" panose="020F0502020204030204" pitchFamily="34" charset="0"/>
                          <a:ea typeface="DengXian" panose="02010600030101010101" pitchFamily="2" charset="-122"/>
                          <a:cs typeface="Calibri" panose="020F0502020204030204" pitchFamily="34" charset="0"/>
                        </a:rPr>
                        <a:t>30 CTA accelerate process</a:t>
                      </a:r>
                      <a:endParaRPr lang="zh-CN" altLang="en-US" sz="1200" b="1" kern="100">
                        <a:solidFill>
                          <a:schemeClr val="bg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algn="ctr" defTabSz="914400" rtl="0" eaLnBrk="1" latinLnBrk="0" hangingPunct="1">
                        <a:lnSpc>
                          <a:spcPct val="150000"/>
                        </a:lnSpc>
                        <a:buNone/>
                      </a:pPr>
                      <a:r>
                        <a:rPr lang="en-US" sz="1200" b="1" kern="100">
                          <a:solidFill>
                            <a:schemeClr val="bg1"/>
                          </a:solidFill>
                          <a:effectLst/>
                          <a:latin typeface="Calibri" panose="020F0502020204030204" pitchFamily="34" charset="0"/>
                          <a:ea typeface="Calibri" panose="020F0502020204030204" pitchFamily="34" charset="0"/>
                          <a:cs typeface="Calibri" panose="020F0502020204030204" pitchFamily="34" charset="0"/>
                        </a:rPr>
                        <a:t>Original </a:t>
                      </a:r>
                    </a:p>
                    <a:p>
                      <a:pPr marL="0" algn="ctr" defTabSz="914400" rtl="0" eaLnBrk="1" latinLnBrk="0" hangingPunct="1">
                        <a:lnSpc>
                          <a:spcPct val="150000"/>
                        </a:lnSpc>
                        <a:buNone/>
                      </a:pPr>
                      <a:r>
                        <a:rPr lang="en-US" sz="1200" b="1" kern="100">
                          <a:solidFill>
                            <a:schemeClr val="bg1"/>
                          </a:solidFill>
                          <a:effectLst/>
                          <a:latin typeface="Calibri" panose="020F0502020204030204" pitchFamily="34" charset="0"/>
                          <a:ea typeface="Calibri" panose="020F0502020204030204" pitchFamily="34" charset="0"/>
                          <a:cs typeface="Calibri" panose="020F0502020204030204" pitchFamily="34" charset="0"/>
                        </a:rPr>
                        <a:t>planned date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algn="ctr" defTabSz="914400" rtl="0" eaLnBrk="1" latinLnBrk="0" hangingPunct="1">
                        <a:lnSpc>
                          <a:spcPct val="150000"/>
                        </a:lnSpc>
                        <a:buNone/>
                      </a:pPr>
                      <a:r>
                        <a:rPr lang="en-US" sz="1200" b="1" kern="100">
                          <a:solidFill>
                            <a:schemeClr val="bg1"/>
                          </a:solidFill>
                          <a:effectLst/>
                          <a:latin typeface="Calibri" panose="020F0502020204030204" pitchFamily="34" charset="0"/>
                          <a:ea typeface="Calibri" panose="020F0502020204030204" pitchFamily="34" charset="0"/>
                          <a:cs typeface="Calibri" panose="020F0502020204030204" pitchFamily="34" charset="0"/>
                        </a:rPr>
                        <a:t>Actual date</a:t>
                      </a:r>
                      <a:endParaRPr lang="zh-CN" altLang="en-US" sz="1200" b="1" kern="100">
                        <a:solidFill>
                          <a:schemeClr val="bg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415115922"/>
                  </a:ext>
                </a:extLst>
              </a:tr>
              <a:tr h="327506">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TDO Final</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06-Oct-25</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06-Oct-25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3824964"/>
                  </a:ext>
                </a:extLst>
              </a:tr>
              <a:tr h="319093">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Final Protocol</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17-Nov-25</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30-Nov-25</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30-Nov-25</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3601034"/>
                  </a:ext>
                </a:extLst>
              </a:tr>
              <a:tr h="319093">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Final CTA Package</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27-Nov-25</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12-Dec-25</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17-Dec-25</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6651698"/>
                  </a:ext>
                </a:extLst>
              </a:tr>
              <a:tr h="319093">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CTA submission</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22-Dec-25</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19-Jan-25</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22-Dec-25</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7281088"/>
                  </a:ext>
                </a:extLst>
              </a:tr>
              <a:tr h="319093">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CTA approval</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J</a:t>
                      </a:r>
                      <a:r>
                        <a:rPr lang="en-US" altLang="zh-CN" sz="1000" kern="100">
                          <a:effectLst/>
                          <a:latin typeface="Calibri" panose="020F0502020204030204" pitchFamily="34" charset="0"/>
                          <a:ea typeface="Calibri" panose="020F0502020204030204" pitchFamily="34" charset="0"/>
                          <a:cs typeface="Calibri" panose="020F0502020204030204" pitchFamily="34" charset="0"/>
                        </a:rPr>
                        <a:t>an-26</a:t>
                      </a: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6-Mar-2026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31-Mar-26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575799"/>
                  </a:ext>
                </a:extLst>
              </a:tr>
              <a:tr h="319093">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First EC submission</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5-Jan-25</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15-Feb-26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362644"/>
                  </a:ext>
                </a:extLst>
              </a:tr>
              <a:tr h="319093">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First EC approval</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6-Feb-26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30-Mar-26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4259523"/>
                  </a:ext>
                </a:extLst>
              </a:tr>
              <a:tr h="319093">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HGRAC submission</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15-Mar-26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1-May-26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5074336"/>
                  </a:ext>
                </a:extLst>
              </a:tr>
              <a:tr h="319093">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HGRAC approval</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15-Apr-26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30-May-26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8911600"/>
                  </a:ext>
                </a:extLst>
              </a:tr>
              <a:tr h="319093">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First SIV</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06-Apr-26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30-Apr-26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22-Jun-26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4140617"/>
                  </a:ext>
                </a:extLst>
              </a:tr>
              <a:tr h="319093">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First Subject Screened</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07-Apr-26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15-May-26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30-Jul-26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423211"/>
                  </a:ext>
                </a:extLst>
              </a:tr>
              <a:tr h="319093">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First Subject Randomized</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12-May-26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15-Jun-26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30-Aug-26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2682917"/>
                  </a:ext>
                </a:extLst>
              </a:tr>
              <a:tr h="319093">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Last Subject Randomized</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25-Jun-28</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kern="100">
                          <a:effectLst/>
                          <a:latin typeface="Calibri" panose="020F0502020204030204" pitchFamily="34" charset="0"/>
                          <a:ea typeface="Calibri" panose="020F0502020204030204" pitchFamily="34" charset="0"/>
                          <a:cs typeface="Calibri" panose="020F0502020204030204" pitchFamily="34" charset="0"/>
                        </a:rPr>
                        <a:t>25-Jun-28</a:t>
                      </a:r>
                      <a:endParaRPr lang="zh-CN" alt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25-Jun-28</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6699715"/>
                  </a:ext>
                </a:extLst>
              </a:tr>
              <a:tr h="319093">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DBL</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15-Jul-29</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kern="100">
                          <a:effectLst/>
                          <a:latin typeface="Calibri" panose="020F0502020204030204" pitchFamily="34" charset="0"/>
                          <a:ea typeface="Calibri" panose="020F0502020204030204" pitchFamily="34" charset="0"/>
                          <a:cs typeface="Calibri" panose="020F0502020204030204" pitchFamily="34" charset="0"/>
                        </a:rPr>
                        <a:t>15-Jul-29</a:t>
                      </a:r>
                      <a:endParaRPr lang="zh-CN" alt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15-Jul-29</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7978475"/>
                  </a:ext>
                </a:extLst>
              </a:tr>
            </a:tbl>
          </a:graphicData>
        </a:graphic>
      </p:graphicFrame>
    </p:spTree>
    <p:extLst>
      <p:ext uri="{BB962C8B-B14F-4D97-AF65-F5344CB8AC3E}">
        <p14:creationId xmlns:p14="http://schemas.microsoft.com/office/powerpoint/2010/main" val="11267810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92DC7-16D8-0DEE-E29A-08DC445C059A}"/>
              </a:ext>
            </a:extLst>
          </p:cNvPr>
          <p:cNvSpPr>
            <a:spLocks noGrp="1"/>
          </p:cNvSpPr>
          <p:nvPr>
            <p:ph type="title"/>
          </p:nvPr>
        </p:nvSpPr>
        <p:spPr/>
        <p:txBody>
          <a:bodyPr/>
          <a:lstStyle/>
          <a:p>
            <a:r>
              <a:rPr lang="en-US"/>
              <a:t>Interaction to align with CDE on China participating in the Global Phase II trial of BI 3000202 in SLE – submitted on 27 May 2025</a:t>
            </a:r>
          </a:p>
        </p:txBody>
      </p:sp>
      <p:sp>
        <p:nvSpPr>
          <p:cNvPr id="5" name="Footer Placeholder 4">
            <a:extLst>
              <a:ext uri="{FF2B5EF4-FFF2-40B4-BE49-F238E27FC236}">
                <a16:creationId xmlns:a16="http://schemas.microsoft.com/office/drawing/2014/main" id="{B2080862-9E3A-EFF9-02FC-20174A907785}"/>
              </a:ext>
            </a:extLst>
          </p:cNvPr>
          <p:cNvSpPr>
            <a:spLocks noGrp="1"/>
          </p:cNvSpPr>
          <p:nvPr>
            <p:ph type="ftr" sz="quarter" idx="19"/>
          </p:nvPr>
        </p:nvSpPr>
        <p:spPr/>
        <p:txBody>
          <a:bodyPr/>
          <a:lstStyle/>
          <a:p>
            <a:r>
              <a:rPr lang="en-US"/>
              <a:t>CDE Feedback – 1509.0004  |    ONLY FOR INTERNAL USE</a:t>
            </a:r>
          </a:p>
        </p:txBody>
      </p:sp>
      <p:sp>
        <p:nvSpPr>
          <p:cNvPr id="6" name="Slide Number Placeholder 5">
            <a:extLst>
              <a:ext uri="{FF2B5EF4-FFF2-40B4-BE49-F238E27FC236}">
                <a16:creationId xmlns:a16="http://schemas.microsoft.com/office/drawing/2014/main" id="{EB2A5ECB-0F0A-F97B-61A2-1B48269C78C4}"/>
              </a:ext>
            </a:extLst>
          </p:cNvPr>
          <p:cNvSpPr>
            <a:spLocks noGrp="1"/>
          </p:cNvSpPr>
          <p:nvPr>
            <p:ph type="sldNum" sz="quarter" idx="20"/>
          </p:nvPr>
        </p:nvSpPr>
        <p:spPr/>
        <p:txBody>
          <a:bodyPr/>
          <a:lstStyle/>
          <a:p>
            <a:fld id="{DF4E8F9F-5B1F-4F5B-BE49-3245D8C18D9F}" type="slidenum">
              <a:rPr lang="en-US" smtClean="0"/>
              <a:pPr/>
              <a:t>64</a:t>
            </a:fld>
            <a:endParaRPr lang="en-US"/>
          </a:p>
        </p:txBody>
      </p:sp>
      <p:graphicFrame>
        <p:nvGraphicFramePr>
          <p:cNvPr id="9" name="Table 8">
            <a:extLst>
              <a:ext uri="{FF2B5EF4-FFF2-40B4-BE49-F238E27FC236}">
                <a16:creationId xmlns:a16="http://schemas.microsoft.com/office/drawing/2014/main" id="{B413327E-A8AB-F2A0-4322-05F4F0401D60}"/>
              </a:ext>
            </a:extLst>
          </p:cNvPr>
          <p:cNvGraphicFramePr>
            <a:graphicFrameLocks noGrp="1"/>
          </p:cNvGraphicFramePr>
          <p:nvPr/>
        </p:nvGraphicFramePr>
        <p:xfrm>
          <a:off x="513833" y="1772909"/>
          <a:ext cx="11164331" cy="4411849"/>
        </p:xfrm>
        <a:graphic>
          <a:graphicData uri="http://schemas.openxmlformats.org/drawingml/2006/table">
            <a:tbl>
              <a:tblPr firstRow="1" bandRow="1">
                <a:tableStyleId>{68D230F3-CF80-4859-8CE7-A43EE81993B5}</a:tableStyleId>
              </a:tblPr>
              <a:tblGrid>
                <a:gridCol w="5586646">
                  <a:extLst>
                    <a:ext uri="{9D8B030D-6E8A-4147-A177-3AD203B41FA5}">
                      <a16:colId xmlns:a16="http://schemas.microsoft.com/office/drawing/2014/main" val="1281572927"/>
                    </a:ext>
                  </a:extLst>
                </a:gridCol>
                <a:gridCol w="5577685">
                  <a:extLst>
                    <a:ext uri="{9D8B030D-6E8A-4147-A177-3AD203B41FA5}">
                      <a16:colId xmlns:a16="http://schemas.microsoft.com/office/drawing/2014/main" val="1538384520"/>
                    </a:ext>
                  </a:extLst>
                </a:gridCol>
              </a:tblGrid>
              <a:tr h="576028">
                <a:tc>
                  <a:txBody>
                    <a:bodyPr/>
                    <a:lstStyle/>
                    <a:p>
                      <a:pPr algn="ctr"/>
                      <a:r>
                        <a:rPr lang="en-US" altLang="zh-CN" sz="1400"/>
                        <a:t>Clinical division</a:t>
                      </a:r>
                    </a:p>
                  </a:txBody>
                  <a:tcPr/>
                </a:tc>
                <a:tc>
                  <a:txBody>
                    <a:bodyPr/>
                    <a:lstStyle/>
                    <a:p>
                      <a:pPr algn="ctr"/>
                      <a:r>
                        <a:rPr lang="en-US" altLang="zh-CN" sz="1400"/>
                        <a:t>Clin-pharm division</a:t>
                      </a:r>
                    </a:p>
                  </a:txBody>
                  <a:tcPr/>
                </a:tc>
                <a:extLst>
                  <a:ext uri="{0D108BD9-81ED-4DB2-BD59-A6C34878D82A}">
                    <a16:rowId xmlns:a16="http://schemas.microsoft.com/office/drawing/2014/main" val="973626430"/>
                  </a:ext>
                </a:extLst>
              </a:tr>
              <a:tr h="508261">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b="0">
                          <a:solidFill>
                            <a:schemeClr val="tx1"/>
                          </a:solidFill>
                        </a:rPr>
                        <a:t>July 25</a:t>
                      </a:r>
                      <a:r>
                        <a:rPr lang="en-US" altLang="zh-CN" sz="1200" b="0" baseline="30000">
                          <a:solidFill>
                            <a:schemeClr val="tx1"/>
                          </a:solidFill>
                        </a:rPr>
                        <a:t>th</a:t>
                      </a:r>
                      <a:r>
                        <a:rPr lang="en-US" altLang="zh-CN" sz="1200" b="0">
                          <a:solidFill>
                            <a:schemeClr val="tx1"/>
                          </a:solidFill>
                        </a:rPr>
                        <a:t> 2025</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b="0" kern="1200">
                          <a:solidFill>
                            <a:schemeClr val="tx1"/>
                          </a:solidFill>
                          <a:latin typeface="+mn-lt"/>
                          <a:ea typeface="+mn-ea"/>
                          <a:cs typeface="+mn-cs"/>
                        </a:rPr>
                        <a:t>Based on the briefing document, China join the global phase II MRCT is reasonable. </a:t>
                      </a:r>
                      <a:endParaRPr lang="en-US" sz="1600" b="0">
                        <a:solidFill>
                          <a:schemeClr val="tx1"/>
                        </a:solidFill>
                      </a:endParaRPr>
                    </a:p>
                  </a:txBody>
                  <a:tcPr>
                    <a:solidFill>
                      <a:schemeClr val="bg1"/>
                    </a:solidFill>
                  </a:tcPr>
                </a:tc>
                <a:tc>
                  <a:txBody>
                    <a:bodyPr/>
                    <a:lstStyle/>
                    <a:p>
                      <a:r>
                        <a:rPr lang="en-US" sz="1200" b="0" kern="1200">
                          <a:solidFill>
                            <a:schemeClr val="tx1"/>
                          </a:solidFill>
                          <a:latin typeface="+mn-lt"/>
                          <a:ea typeface="+mn-ea"/>
                          <a:cs typeface="+mn-cs"/>
                        </a:rPr>
                        <a:t>Aug 20</a:t>
                      </a:r>
                      <a:r>
                        <a:rPr lang="en-US" sz="1200" b="0" kern="1200" baseline="30000">
                          <a:solidFill>
                            <a:schemeClr val="tx1"/>
                          </a:solidFill>
                          <a:latin typeface="+mn-lt"/>
                          <a:ea typeface="+mn-ea"/>
                          <a:cs typeface="+mn-cs"/>
                        </a:rPr>
                        <a:t>th</a:t>
                      </a:r>
                      <a:r>
                        <a:rPr lang="en-US" sz="1200" b="0" kern="1200">
                          <a:solidFill>
                            <a:schemeClr val="tx1"/>
                          </a:solidFill>
                          <a:latin typeface="+mn-lt"/>
                          <a:ea typeface="+mn-ea"/>
                          <a:cs typeface="+mn-cs"/>
                        </a:rPr>
                        <a:t> 2025</a:t>
                      </a:r>
                    </a:p>
                    <a:p>
                      <a:pPr marL="171450" indent="-171450">
                        <a:buFont typeface="Arial" panose="020B0604020202020204" pitchFamily="34" charset="0"/>
                        <a:buChar char="•"/>
                      </a:pPr>
                      <a:r>
                        <a:rPr lang="en-US" sz="1200" b="0">
                          <a:solidFill>
                            <a:schemeClr val="tx1"/>
                          </a:solidFill>
                        </a:rPr>
                        <a:t>Agree with China join the global Phase II clinical trial. </a:t>
                      </a:r>
                    </a:p>
                    <a:p>
                      <a:endParaRPr lang="en-US" sz="1200" b="0">
                        <a:solidFill>
                          <a:schemeClr val="tx1"/>
                        </a:solidFill>
                      </a:endParaRPr>
                    </a:p>
                  </a:txBody>
                  <a:tcPr>
                    <a:solidFill>
                      <a:schemeClr val="bg1"/>
                    </a:solidFill>
                  </a:tcPr>
                </a:tc>
                <a:extLst>
                  <a:ext uri="{0D108BD9-81ED-4DB2-BD59-A6C34878D82A}">
                    <a16:rowId xmlns:a16="http://schemas.microsoft.com/office/drawing/2014/main" val="1688272033"/>
                  </a:ext>
                </a:extLst>
              </a:tr>
              <a:tr h="1118173">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b="0" kern="1200">
                          <a:solidFill>
                            <a:schemeClr val="tx1"/>
                          </a:solidFill>
                          <a:latin typeface="+mn-lt"/>
                          <a:ea typeface="+mn-ea"/>
                          <a:cs typeface="+mn-cs"/>
                        </a:rPr>
                        <a:t>When submit the CTA, please provide the rationale that no safety risk to increase exposure in Asian SLE patients. The final review decision shall prevail. </a:t>
                      </a:r>
                    </a:p>
                    <a:p>
                      <a:pPr marL="285750" indent="-285750">
                        <a:buFont typeface="Arial" panose="020B0604020202020204" pitchFamily="34" charset="0"/>
                        <a:buChar char="•"/>
                      </a:pPr>
                      <a:endParaRPr lang="en-US" sz="1600" b="0">
                        <a:solidFill>
                          <a:schemeClr val="tx1"/>
                        </a:solidFill>
                      </a:endParaRPr>
                    </a:p>
                  </a:txBody>
                  <a:tcPr>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sng">
                          <a:solidFill>
                            <a:schemeClr val="tx1"/>
                          </a:solidFill>
                        </a:rPr>
                        <a:t>It is recommended </a:t>
                      </a:r>
                      <a:r>
                        <a:rPr lang="en-US" sz="1200" b="0">
                          <a:solidFill>
                            <a:schemeClr val="tx1"/>
                          </a:solidFill>
                        </a:rPr>
                        <a:t>that in the global Phase II clinical trial, </a:t>
                      </a:r>
                      <a:r>
                        <a:rPr lang="en-US" sz="1200" b="1">
                          <a:solidFill>
                            <a:schemeClr val="tx1"/>
                          </a:solidFill>
                        </a:rPr>
                        <a:t>enroll Chinese patients in low-dose (25mgBID) arm firstly and compare the PK, PD and safety data obtained from these Chinese patients with the entire population. If the above characteristics are basically consistent, then enroll Chinese patients in higher dose arms.</a:t>
                      </a:r>
                    </a:p>
                  </a:txBody>
                  <a:tcPr>
                    <a:solidFill>
                      <a:schemeClr val="bg1"/>
                    </a:solidFill>
                  </a:tcPr>
                </a:tc>
                <a:extLst>
                  <a:ext uri="{0D108BD9-81ED-4DB2-BD59-A6C34878D82A}">
                    <a16:rowId xmlns:a16="http://schemas.microsoft.com/office/drawing/2014/main" val="3594896261"/>
                  </a:ext>
                </a:extLst>
              </a:tr>
              <a:tr h="544871">
                <a:tc>
                  <a:txBody>
                    <a:bodyPr/>
                    <a:lstStyle/>
                    <a:p>
                      <a:r>
                        <a:rPr lang="en-US" sz="1200" b="1" i="1" kern="1200">
                          <a:solidFill>
                            <a:schemeClr val="tx1"/>
                          </a:solidFill>
                          <a:latin typeface="+mn-lt"/>
                          <a:ea typeface="+mn-ea"/>
                          <a:cs typeface="+mn-cs"/>
                          <a:sym typeface="Wingdings" panose="05000000000000000000" pitchFamily="2" charset="2"/>
                        </a:rPr>
                        <a:t> </a:t>
                      </a:r>
                      <a:r>
                        <a:rPr lang="en-US" sz="1200" b="1" i="1" kern="1200">
                          <a:solidFill>
                            <a:schemeClr val="tx1"/>
                          </a:solidFill>
                          <a:latin typeface="+mn-lt"/>
                          <a:ea typeface="+mn-ea"/>
                          <a:cs typeface="+mn-cs"/>
                        </a:rPr>
                        <a:t>Justify in the CTA that increased exposure poses no safety risk for Asian SLE patients.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de-DE" sz="1200" b="1" i="1" kern="1200">
                          <a:solidFill>
                            <a:srgbClr val="0070C0"/>
                          </a:solidFill>
                          <a:latin typeface="+mn-lt"/>
                          <a:ea typeface="+mn-ea"/>
                          <a:cs typeface="+mn-cs"/>
                        </a:rPr>
                        <a:t>Strategy to push back CDE‘s recommendation (submitted on 27 Aug</a:t>
                      </a:r>
                      <a:r>
                        <a:rPr lang="zh-CN" altLang="en-US" sz="1200" b="1" i="1" kern="1200">
                          <a:solidFill>
                            <a:srgbClr val="0070C0"/>
                          </a:solidFill>
                          <a:latin typeface="+mn-lt"/>
                          <a:ea typeface="+mn-ea"/>
                          <a:cs typeface="+mn-cs"/>
                        </a:rPr>
                        <a:t>）</a:t>
                      </a:r>
                      <a:endParaRPr lang="en-US" altLang="zh-CN" sz="1200" b="1" i="1" kern="1200">
                        <a:solidFill>
                          <a:srgbClr val="0070C0"/>
                        </a:solidFill>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altLang="zh-CN" sz="1200" b="0" i="1" kern="1200">
                          <a:solidFill>
                            <a:schemeClr val="tx1"/>
                          </a:solidFill>
                          <a:latin typeface="+mn-lt"/>
                          <a:ea typeface="+mn-ea"/>
                          <a:cs typeface="+mn-cs"/>
                        </a:rPr>
                        <a:t>Alignment meeting on 26 Aug  – global &amp; local teams</a:t>
                      </a:r>
                      <a:endParaRPr lang="en-US" sz="1200" b="0" i="1" kern="1200">
                        <a:solidFill>
                          <a:schemeClr val="tx1"/>
                        </a:solidFill>
                        <a:latin typeface="+mn-lt"/>
                        <a:ea typeface="+mn-ea"/>
                        <a:cs typeface="+mn-cs"/>
                      </a:endParaRPr>
                    </a:p>
                  </a:txBody>
                  <a:tcPr/>
                </a:tc>
                <a:extLst>
                  <a:ext uri="{0D108BD9-81ED-4DB2-BD59-A6C34878D82A}">
                    <a16:rowId xmlns:a16="http://schemas.microsoft.com/office/drawing/2014/main" val="2651650213"/>
                  </a:ext>
                </a:extLst>
              </a:tr>
              <a:tr h="709737">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a:solidFill>
                            <a:schemeClr val="tx1"/>
                          </a:solidFill>
                          <a:latin typeface="+mn-lt"/>
                          <a:ea typeface="+mn-ea"/>
                          <a:cs typeface="+mn-cs"/>
                        </a:rPr>
                        <a:t>N.A</a:t>
                      </a:r>
                      <a:endParaRPr lang="en-US" sz="1200" kern="120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1" kern="1200">
                          <a:solidFill>
                            <a:schemeClr val="tx1"/>
                          </a:solidFill>
                          <a:latin typeface="+mn-lt"/>
                          <a:ea typeface="+mn-ea"/>
                          <a:cs typeface="+mn-cs"/>
                        </a:rPr>
                        <a:t>CDE accepted with further comment on 29 Aug: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a:solidFill>
                            <a:schemeClr val="tx1"/>
                          </a:solidFill>
                          <a:latin typeface="+mn-lt"/>
                          <a:ea typeface="+mn-ea"/>
                          <a:cs typeface="+mn-cs"/>
                        </a:rPr>
                        <a:t>Suggest to comprehensively consider the available data to ensure the safety of the subjects. When submit the CTA, please provide the detailed rationale that no safety risk to increase exposure in Asian SLE patients.</a:t>
                      </a:r>
                    </a:p>
                  </a:txBody>
                  <a:tcPr/>
                </a:tc>
                <a:extLst>
                  <a:ext uri="{0D108BD9-81ED-4DB2-BD59-A6C34878D82A}">
                    <a16:rowId xmlns:a16="http://schemas.microsoft.com/office/drawing/2014/main" val="4213476897"/>
                  </a:ext>
                </a:extLst>
              </a:tr>
              <a:tr h="70973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1" kern="1200">
                          <a:solidFill>
                            <a:schemeClr val="tx1"/>
                          </a:solidFill>
                          <a:latin typeface="+mn-lt"/>
                          <a:ea typeface="+mn-ea"/>
                          <a:cs typeface="+mn-cs"/>
                          <a:sym typeface="Wingdings" panose="05000000000000000000" pitchFamily="2" charset="2"/>
                        </a:rPr>
                        <a:t> </a:t>
                      </a:r>
                      <a:r>
                        <a:rPr lang="en-US" altLang="zh-CN" sz="1200" b="1" i="1" kern="1200">
                          <a:solidFill>
                            <a:schemeClr val="tx1"/>
                          </a:solidFill>
                          <a:latin typeface="+mn-lt"/>
                          <a:ea typeface="+mn-ea"/>
                          <a:cs typeface="+mn-cs"/>
                        </a:rPr>
                        <a:t>Justify in the CTA that increased exposure poses no safety risk for Asian SLE patients.</a:t>
                      </a:r>
                      <a:endParaRPr lang="en-US" sz="1200" b="0" i="0" kern="1200">
                        <a:solidFill>
                          <a:schemeClr val="tx1"/>
                        </a:solidFill>
                        <a:latin typeface="+mn-lt"/>
                        <a:ea typeface="+mn-ea"/>
                        <a:cs typeface="+mn-cs"/>
                      </a:endParaRPr>
                    </a:p>
                  </a:txBody>
                  <a:tcPr/>
                </a:tc>
                <a:extLst>
                  <a:ext uri="{0D108BD9-81ED-4DB2-BD59-A6C34878D82A}">
                    <a16:rowId xmlns:a16="http://schemas.microsoft.com/office/drawing/2014/main" val="2842855320"/>
                  </a:ext>
                </a:extLst>
              </a:tr>
            </a:tbl>
          </a:graphicData>
        </a:graphic>
      </p:graphicFrame>
      <p:sp>
        <p:nvSpPr>
          <p:cNvPr id="7" name="文本框 6">
            <a:extLst>
              <a:ext uri="{FF2B5EF4-FFF2-40B4-BE49-F238E27FC236}">
                <a16:creationId xmlns:a16="http://schemas.microsoft.com/office/drawing/2014/main" id="{3EA83EA0-943B-214B-3A57-DEF22F232284}"/>
              </a:ext>
            </a:extLst>
          </p:cNvPr>
          <p:cNvSpPr txBox="1"/>
          <p:nvPr/>
        </p:nvSpPr>
        <p:spPr bwMode="gray">
          <a:xfrm>
            <a:off x="404261" y="1321483"/>
            <a:ext cx="11164331" cy="369332"/>
          </a:xfrm>
          <a:prstGeom prst="rect">
            <a:avLst/>
          </a:prstGeom>
          <a:noFill/>
        </p:spPr>
        <p:txBody>
          <a:bodyPr wrap="square">
            <a:spAutoFit/>
          </a:bodyPr>
          <a:lstStyle/>
          <a:p>
            <a:r>
              <a:rPr lang="en-US" altLang="zh-CN"/>
              <a:t>Feedback from CDE regarding China integration in global phase II study - 1509.0004</a:t>
            </a:r>
            <a:endParaRPr lang="zh-CN" altLang="en-US"/>
          </a:p>
        </p:txBody>
      </p:sp>
    </p:spTree>
    <p:extLst>
      <p:ext uri="{BB962C8B-B14F-4D97-AF65-F5344CB8AC3E}">
        <p14:creationId xmlns:p14="http://schemas.microsoft.com/office/powerpoint/2010/main" val="11418107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DD0D59-1024-F3D1-B653-7418A57C8147}"/>
              </a:ext>
            </a:extLst>
          </p:cNvPr>
          <p:cNvSpPr>
            <a:spLocks noGrp="1"/>
          </p:cNvSpPr>
          <p:nvPr>
            <p:ph type="title"/>
          </p:nvPr>
        </p:nvSpPr>
        <p:spPr>
          <a:xfrm>
            <a:off x="479424" y="229154"/>
            <a:ext cx="11233151" cy="720000"/>
          </a:xfrm>
        </p:spPr>
        <p:txBody>
          <a:bodyPr/>
          <a:lstStyle/>
          <a:p>
            <a:r>
              <a:rPr lang="en-US" altLang="zh-CN"/>
              <a:t>Leading PI  endorsed by ad hoc PEC (9</a:t>
            </a:r>
            <a:r>
              <a:rPr lang="en-US" altLang="zh-CN" baseline="30000"/>
              <a:t>th</a:t>
            </a:r>
            <a:r>
              <a:rPr lang="en-US" altLang="zh-CN"/>
              <a:t> Oct) </a:t>
            </a:r>
            <a:endParaRPr lang="zh-CN" altLang="en-US"/>
          </a:p>
        </p:txBody>
      </p:sp>
      <p:sp>
        <p:nvSpPr>
          <p:cNvPr id="4" name="页脚占位符 3">
            <a:extLst>
              <a:ext uri="{FF2B5EF4-FFF2-40B4-BE49-F238E27FC236}">
                <a16:creationId xmlns:a16="http://schemas.microsoft.com/office/drawing/2014/main" id="{1AD27BDA-7769-56ED-4105-0D7D06F37DD5}"/>
              </a:ext>
            </a:extLst>
          </p:cNvPr>
          <p:cNvSpPr>
            <a:spLocks noGrp="1"/>
          </p:cNvSpPr>
          <p:nvPr>
            <p:ph type="ftr" sz="quarter" idx="10"/>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58458A60-D1DE-3492-3F87-E15B6925AFD1}"/>
              </a:ext>
            </a:extLst>
          </p:cNvPr>
          <p:cNvSpPr>
            <a:spLocks noGrp="1"/>
          </p:cNvSpPr>
          <p:nvPr>
            <p:ph type="sldNum" sz="quarter" idx="11"/>
          </p:nvPr>
        </p:nvSpPr>
        <p:spPr/>
        <p:txBody>
          <a:bodyPr/>
          <a:lstStyle/>
          <a:p>
            <a:fld id="{8FF9B0DE-3FEB-4AA0-B465-B80EF7C1333D}" type="slidenum">
              <a:rPr lang="en-US" smtClean="0"/>
              <a:pPr/>
              <a:t>65</a:t>
            </a:fld>
            <a:endParaRPr lang="en-US"/>
          </a:p>
        </p:txBody>
      </p:sp>
      <p:graphicFrame>
        <p:nvGraphicFramePr>
          <p:cNvPr id="6" name="Table 7">
            <a:extLst>
              <a:ext uri="{FF2B5EF4-FFF2-40B4-BE49-F238E27FC236}">
                <a16:creationId xmlns:a16="http://schemas.microsoft.com/office/drawing/2014/main" id="{F20FA117-78DB-C92C-A5C6-54A5B223A5D8}"/>
              </a:ext>
            </a:extLst>
          </p:cNvPr>
          <p:cNvGraphicFramePr>
            <a:graphicFrameLocks noGrp="1"/>
          </p:cNvGraphicFramePr>
          <p:nvPr/>
        </p:nvGraphicFramePr>
        <p:xfrm>
          <a:off x="208722" y="769289"/>
          <a:ext cx="11817795" cy="5384674"/>
        </p:xfrm>
        <a:graphic>
          <a:graphicData uri="http://schemas.openxmlformats.org/drawingml/2006/table">
            <a:tbl>
              <a:tblPr>
                <a:tableStyleId>{9DCAF9ED-07DC-4A11-8D7F-57B35C25682E}</a:tableStyleId>
              </a:tblPr>
              <a:tblGrid>
                <a:gridCol w="898551">
                  <a:extLst>
                    <a:ext uri="{9D8B030D-6E8A-4147-A177-3AD203B41FA5}">
                      <a16:colId xmlns:a16="http://schemas.microsoft.com/office/drawing/2014/main" val="3487906960"/>
                    </a:ext>
                  </a:extLst>
                </a:gridCol>
                <a:gridCol w="1132003">
                  <a:extLst>
                    <a:ext uri="{9D8B030D-6E8A-4147-A177-3AD203B41FA5}">
                      <a16:colId xmlns:a16="http://schemas.microsoft.com/office/drawing/2014/main" val="1297868549"/>
                    </a:ext>
                  </a:extLst>
                </a:gridCol>
                <a:gridCol w="2096668">
                  <a:extLst>
                    <a:ext uri="{9D8B030D-6E8A-4147-A177-3AD203B41FA5}">
                      <a16:colId xmlns:a16="http://schemas.microsoft.com/office/drawing/2014/main" val="3048021620"/>
                    </a:ext>
                  </a:extLst>
                </a:gridCol>
                <a:gridCol w="1754135">
                  <a:extLst>
                    <a:ext uri="{9D8B030D-6E8A-4147-A177-3AD203B41FA5}">
                      <a16:colId xmlns:a16="http://schemas.microsoft.com/office/drawing/2014/main" val="4232741382"/>
                    </a:ext>
                  </a:extLst>
                </a:gridCol>
                <a:gridCol w="1956869">
                  <a:extLst>
                    <a:ext uri="{9D8B030D-6E8A-4147-A177-3AD203B41FA5}">
                      <a16:colId xmlns:a16="http://schemas.microsoft.com/office/drawing/2014/main" val="2567549892"/>
                    </a:ext>
                  </a:extLst>
                </a:gridCol>
                <a:gridCol w="2344828">
                  <a:extLst>
                    <a:ext uri="{9D8B030D-6E8A-4147-A177-3AD203B41FA5}">
                      <a16:colId xmlns:a16="http://schemas.microsoft.com/office/drawing/2014/main" val="3054250715"/>
                    </a:ext>
                  </a:extLst>
                </a:gridCol>
                <a:gridCol w="891441">
                  <a:extLst>
                    <a:ext uri="{9D8B030D-6E8A-4147-A177-3AD203B41FA5}">
                      <a16:colId xmlns:a16="http://schemas.microsoft.com/office/drawing/2014/main" val="3009150049"/>
                    </a:ext>
                  </a:extLst>
                </a:gridCol>
                <a:gridCol w="743300">
                  <a:extLst>
                    <a:ext uri="{9D8B030D-6E8A-4147-A177-3AD203B41FA5}">
                      <a16:colId xmlns:a16="http://schemas.microsoft.com/office/drawing/2014/main" val="3134179571"/>
                    </a:ext>
                  </a:extLst>
                </a:gridCol>
              </a:tblGrid>
              <a:tr h="814579">
                <a:tc>
                  <a:txBody>
                    <a:bodyPr/>
                    <a:lstStyle/>
                    <a:p>
                      <a:pPr algn="ctr" rtl="0" fontAlgn="t"/>
                      <a:r>
                        <a:rPr lang="en-US" sz="1050" b="1" u="none" strike="noStrike">
                          <a:solidFill>
                            <a:srgbClr val="000000"/>
                          </a:solidFill>
                          <a:effectLst/>
                        </a:rPr>
                        <a:t>Potential investigator name</a:t>
                      </a:r>
                      <a:r>
                        <a:rPr lang="en-US" sz="1050" b="1" u="none" strike="noStrike">
                          <a:solidFill>
                            <a:schemeClr val="accent1"/>
                          </a:solidFill>
                          <a:effectLst/>
                        </a:rPr>
                        <a:t>**</a:t>
                      </a:r>
                      <a:endParaRPr lang="en-US" sz="1050" b="1" i="0" u="none" strike="noStrike">
                        <a:solidFill>
                          <a:schemeClr val="accent1"/>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u="none" strike="noStrike">
                          <a:solidFill>
                            <a:srgbClr val="000000"/>
                          </a:solidFill>
                          <a:effectLst/>
                        </a:rPr>
                        <a:t>Hospital/</a:t>
                      </a:r>
                    </a:p>
                    <a:p>
                      <a:pPr algn="ctr" rtl="0" fontAlgn="t"/>
                      <a:r>
                        <a:rPr lang="en-US" sz="1050" b="1" u="none" strike="noStrike">
                          <a:solidFill>
                            <a:srgbClr val="000000"/>
                          </a:solidFill>
                          <a:effectLst/>
                        </a:rPr>
                        <a:t>department</a:t>
                      </a:r>
                      <a:r>
                        <a:rPr lang="en-US" sz="1050" b="1" u="none" strike="noStrike">
                          <a:solidFill>
                            <a:schemeClr val="accent1"/>
                          </a:solidFill>
                          <a:effectLst/>
                        </a:rPr>
                        <a:t>**</a:t>
                      </a:r>
                      <a:endParaRPr lang="en-US" sz="1050" b="1" i="0" u="none" strike="noStrike">
                        <a:solidFill>
                          <a:schemeClr val="accent1"/>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u="none" strike="noStrike">
                          <a:solidFill>
                            <a:srgbClr val="000000"/>
                          </a:solidFill>
                          <a:effectLst/>
                        </a:rPr>
                        <a:t>Academic experience, especially in clinical studies</a:t>
                      </a:r>
                    </a:p>
                    <a:p>
                      <a:pPr algn="ctr" rtl="0" fontAlgn="t"/>
                      <a:r>
                        <a:rPr lang="en-US" sz="1050" b="1" u="sng" strike="noStrike">
                          <a:solidFill>
                            <a:srgbClr val="000000"/>
                          </a:solidFill>
                          <a:effectLst/>
                        </a:rPr>
                        <a:t>(weight 15%**)</a:t>
                      </a:r>
                      <a:endParaRPr lang="en-US" sz="1050" b="1" i="0" u="sng" strike="noStrike">
                        <a:solidFill>
                          <a:srgbClr val="000000"/>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u="none" strike="noStrike">
                          <a:solidFill>
                            <a:srgbClr val="000000"/>
                          </a:solidFill>
                          <a:effectLst/>
                        </a:rPr>
                        <a:t>Impact in Therapeutic Area </a:t>
                      </a:r>
                      <a:r>
                        <a:rPr lang="en-US" sz="1050" b="1" u="sng" strike="noStrike">
                          <a:solidFill>
                            <a:srgbClr val="000000"/>
                          </a:solidFill>
                          <a:effectLst/>
                        </a:rPr>
                        <a:t>(weight 20%**)</a:t>
                      </a:r>
                      <a:endParaRPr lang="en-US" sz="1050" b="1" i="0" u="sng" strike="noStrike">
                        <a:solidFill>
                          <a:srgbClr val="000000"/>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u="none" strike="noStrike">
                          <a:solidFill>
                            <a:srgbClr val="000000"/>
                          </a:solidFill>
                          <a:effectLst/>
                        </a:rPr>
                        <a:t>Leading PI  feasibility</a:t>
                      </a:r>
                    </a:p>
                    <a:p>
                      <a:pPr algn="ctr" rtl="0" fontAlgn="t"/>
                      <a:r>
                        <a:rPr lang="en-US" sz="1050" b="1" u="sng" strike="noStrike">
                          <a:solidFill>
                            <a:srgbClr val="000000"/>
                          </a:solidFill>
                          <a:effectLst/>
                        </a:rPr>
                        <a:t>(weight 30%**)</a:t>
                      </a:r>
                      <a:endParaRPr lang="en-US" sz="1050" b="1" i="0" u="sng" strike="noStrike">
                        <a:solidFill>
                          <a:srgbClr val="000000"/>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u="none" strike="noStrike">
                          <a:solidFill>
                            <a:srgbClr val="000000"/>
                          </a:solidFill>
                          <a:effectLst/>
                        </a:rPr>
                        <a:t>Leading site start up timeline feasibility</a:t>
                      </a:r>
                    </a:p>
                    <a:p>
                      <a:pPr algn="ctr" rtl="0" fontAlgn="t"/>
                      <a:r>
                        <a:rPr lang="en-US" sz="1050" b="1" u="sng" strike="noStrike">
                          <a:solidFill>
                            <a:srgbClr val="000000"/>
                          </a:solidFill>
                          <a:effectLst/>
                        </a:rPr>
                        <a:t>(weight 35%**)</a:t>
                      </a:r>
                      <a:endParaRPr lang="en-US" sz="1050" b="1" i="0" u="sng" strike="noStrike">
                        <a:solidFill>
                          <a:srgbClr val="000000"/>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i="0" u="none" strike="noStrike">
                          <a:solidFill>
                            <a:srgbClr val="000000"/>
                          </a:solidFill>
                          <a:effectLst/>
                          <a:latin typeface="Arial"/>
                        </a:rPr>
                        <a:t> Total Grade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u="none" strike="noStrike">
                          <a:solidFill>
                            <a:srgbClr val="000000"/>
                          </a:solidFill>
                          <a:effectLst/>
                        </a:rPr>
                        <a:t>Finial proposal for leading PI selection (Y/N)</a:t>
                      </a:r>
                      <a:endParaRPr lang="en-US" sz="1050" b="1" i="0" u="none" strike="noStrike">
                        <a:solidFill>
                          <a:srgbClr val="000000"/>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823203632"/>
                  </a:ext>
                </a:extLst>
              </a:tr>
              <a:tr h="3837762">
                <a:tc>
                  <a:txBody>
                    <a:bodyPr/>
                    <a:lstStyle/>
                    <a:p>
                      <a:pPr algn="ctr" rtl="0" fontAlgn="t"/>
                      <a:r>
                        <a:rPr lang="en-US" sz="1050" b="1" u="none" strike="noStrike">
                          <a:solidFill>
                            <a:srgbClr val="000000"/>
                          </a:solidFill>
                          <a:effectLst/>
                          <a:latin typeface="Calibri"/>
                          <a:ea typeface="Calibri"/>
                          <a:cs typeface="Calibri"/>
                        </a:rPr>
                        <a:t> </a:t>
                      </a:r>
                      <a:r>
                        <a:rPr lang="zh-CN" altLang="en-US" sz="1050" b="1" u="none" strike="noStrike">
                          <a:solidFill>
                            <a:srgbClr val="000000"/>
                          </a:solidFill>
                          <a:effectLst/>
                          <a:latin typeface="Calibri"/>
                          <a:cs typeface="Calibri"/>
                        </a:rPr>
                        <a:t>李梦涛</a:t>
                      </a:r>
                      <a:endParaRPr lang="en-US" sz="1050" b="1" i="0" u="none" strike="noStrike">
                        <a:solidFill>
                          <a:srgbClr val="000000"/>
                        </a:solidFill>
                        <a:effectLst/>
                        <a:latin typeface="Calibri"/>
                        <a:ea typeface="Calibri" panose="020F0502020204030204" pitchFamily="34" charset="0"/>
                        <a:cs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sz="1050" b="1" u="none" strike="noStrike">
                          <a:solidFill>
                            <a:srgbClr val="000000"/>
                          </a:solidFill>
                          <a:effectLst/>
                          <a:latin typeface="Calibri"/>
                          <a:ea typeface="Calibri"/>
                          <a:cs typeface="Calibri"/>
                        </a:rPr>
                        <a:t> </a:t>
                      </a:r>
                      <a:r>
                        <a:rPr lang="zh-CN" altLang="en-US" sz="1050" b="1" u="none" strike="noStrike">
                          <a:solidFill>
                            <a:srgbClr val="000000"/>
                          </a:solidFill>
                          <a:effectLst/>
                          <a:latin typeface="Calibri"/>
                          <a:cs typeface="Calibri"/>
                        </a:rPr>
                        <a:t>北京协和医院</a:t>
                      </a:r>
                      <a:endParaRPr lang="en-US" sz="1050" b="1" i="0" u="none" strike="noStrike">
                        <a:solidFill>
                          <a:srgbClr val="000000"/>
                        </a:solidFill>
                        <a:effectLst/>
                        <a:latin typeface="Calibri"/>
                        <a:ea typeface="Calibri" panose="020F0502020204030204" pitchFamily="34" charset="0"/>
                        <a:cs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zh-CN" sz="1050" b="0" i="0" u="none" strike="noStrike" kern="1200" noProof="0">
                          <a:solidFill>
                            <a:srgbClr val="000000"/>
                          </a:solidFill>
                          <a:effectLst/>
                          <a:latin typeface="Calibri"/>
                          <a:ea typeface="+mn-ea"/>
                          <a:cs typeface="+mn-cs"/>
                        </a:rPr>
                        <a:t>Prof</a:t>
                      </a:r>
                      <a:r>
                        <a:rPr lang="zh-CN" altLang="en-US" sz="1050" b="0" i="0" u="none" strike="noStrike" kern="1200" noProof="0">
                          <a:solidFill>
                            <a:srgbClr val="000000"/>
                          </a:solidFill>
                          <a:effectLst/>
                          <a:latin typeface="Calibri"/>
                          <a:ea typeface="+mn-ea"/>
                          <a:cs typeface="+mn-cs"/>
                        </a:rPr>
                        <a:t> </a:t>
                      </a:r>
                      <a:r>
                        <a:rPr lang="en-US" altLang="zh-CN" sz="1050" b="0" i="0" u="none" strike="noStrike" kern="1200" noProof="0">
                          <a:solidFill>
                            <a:srgbClr val="000000"/>
                          </a:solidFill>
                          <a:effectLst/>
                          <a:latin typeface="Calibri"/>
                          <a:ea typeface="+mn-ea"/>
                          <a:cs typeface="+mn-cs"/>
                        </a:rPr>
                        <a:t>Li</a:t>
                      </a:r>
                      <a:r>
                        <a:rPr lang="zh-CN" altLang="en-US" sz="1050" b="0" i="0" u="none" strike="noStrike" kern="1200" noProof="0">
                          <a:solidFill>
                            <a:srgbClr val="000000"/>
                          </a:solidFill>
                          <a:effectLst/>
                          <a:latin typeface="Calibri"/>
                          <a:ea typeface="+mn-ea"/>
                          <a:cs typeface="+mn-cs"/>
                        </a:rPr>
                        <a:t> </a:t>
                      </a:r>
                      <a:r>
                        <a:rPr lang="en-US" altLang="zh-CN" sz="1050" b="0" i="0" u="none" strike="noStrike" kern="1200" noProof="0">
                          <a:solidFill>
                            <a:srgbClr val="000000"/>
                          </a:solidFill>
                          <a:effectLst/>
                          <a:latin typeface="Calibri"/>
                          <a:ea typeface="+mn-ea"/>
                          <a:cs typeface="+mn-cs"/>
                        </a:rPr>
                        <a:t>focus</a:t>
                      </a:r>
                      <a:r>
                        <a:rPr lang="zh-CN" altLang="en-US" sz="1050" b="0" i="0" u="none" strike="noStrike" kern="1200" noProof="0">
                          <a:solidFill>
                            <a:srgbClr val="000000"/>
                          </a:solidFill>
                          <a:effectLst/>
                          <a:latin typeface="Calibri"/>
                          <a:ea typeface="+mn-ea"/>
                          <a:cs typeface="+mn-cs"/>
                        </a:rPr>
                        <a:t> </a:t>
                      </a:r>
                      <a:r>
                        <a:rPr lang="en-US" altLang="zh-CN" sz="1050" b="0" i="0" u="none" strike="noStrike" kern="1200" noProof="0">
                          <a:solidFill>
                            <a:srgbClr val="000000"/>
                          </a:solidFill>
                          <a:effectLst/>
                          <a:latin typeface="Calibri"/>
                          <a:ea typeface="+mn-ea"/>
                          <a:cs typeface="+mn-cs"/>
                        </a:rPr>
                        <a:t>on</a:t>
                      </a:r>
                      <a:r>
                        <a:rPr lang="zh-CN" altLang="en-US" sz="1050" b="0" i="0" u="none" strike="noStrike" kern="1200" noProof="0">
                          <a:solidFill>
                            <a:srgbClr val="000000"/>
                          </a:solidFill>
                          <a:effectLst/>
                          <a:latin typeface="Calibri"/>
                          <a:ea typeface="+mn-ea"/>
                          <a:cs typeface="+mn-cs"/>
                        </a:rPr>
                        <a:t> </a:t>
                      </a:r>
                      <a:r>
                        <a:rPr lang="en-US" altLang="zh-CN" sz="1050" b="0" i="0" u="none" strike="noStrike" kern="1200" noProof="0">
                          <a:solidFill>
                            <a:srgbClr val="000000"/>
                          </a:solidFill>
                          <a:effectLst/>
                          <a:latin typeface="Calibri"/>
                          <a:ea typeface="+mn-ea"/>
                          <a:cs typeface="+mn-cs"/>
                        </a:rPr>
                        <a:t>the</a:t>
                      </a:r>
                      <a:r>
                        <a:rPr lang="zh-CN" altLang="en-US" sz="1050" b="0" i="0" u="none" strike="noStrike" kern="1200" noProof="0">
                          <a:solidFill>
                            <a:srgbClr val="000000"/>
                          </a:solidFill>
                          <a:effectLst/>
                          <a:latin typeface="Calibri"/>
                          <a:ea typeface="+mn-ea"/>
                          <a:cs typeface="+mn-cs"/>
                        </a:rPr>
                        <a:t> </a:t>
                      </a:r>
                      <a:r>
                        <a:rPr lang="en-US" altLang="zh-CN" sz="1050" b="0" i="0" u="none" strike="noStrike" kern="1200" noProof="0">
                          <a:solidFill>
                            <a:srgbClr val="000000"/>
                          </a:solidFill>
                          <a:effectLst/>
                          <a:latin typeface="Calibri"/>
                          <a:ea typeface="+mn-ea"/>
                          <a:cs typeface="+mn-cs"/>
                        </a:rPr>
                        <a:t>treatment of SLE, sjogren syndrome, rheumatoid arthritis, spondyloarthritis, systemic vasculitis, scleroderma, dermatomyositis, connective tissue disease-related pulmonary hypertension and other rheumatoid immunopathy.</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050" b="1" u="none" strike="noStrike">
                          <a:solidFill>
                            <a:srgbClr val="000000"/>
                          </a:solidFill>
                          <a:effectLst/>
                          <a:latin typeface="Calibri"/>
                          <a:ea typeface="Calibri"/>
                          <a:cs typeface="Calibri"/>
                        </a:rPr>
                        <a:t> </a:t>
                      </a:r>
                      <a:r>
                        <a:rPr lang="en-US" sz="1050" b="1" i="0" u="none" strike="noStrike" kern="1200">
                          <a:solidFill>
                            <a:srgbClr val="000000"/>
                          </a:solidFill>
                          <a:effectLst/>
                          <a:latin typeface="Calibri"/>
                          <a:ea typeface="+mn-ea"/>
                          <a:cs typeface="+mn-cs"/>
                        </a:rPr>
                        <a:t>1. </a:t>
                      </a:r>
                      <a:r>
                        <a:rPr lang="en-US" altLang="zh-CN" sz="1050" b="1" i="0" u="none" strike="noStrike" kern="1200">
                          <a:solidFill>
                            <a:srgbClr val="000000"/>
                          </a:solidFill>
                          <a:effectLst/>
                          <a:latin typeface="Calibri"/>
                          <a:ea typeface="+mn-ea"/>
                          <a:cs typeface="+mn-cs"/>
                        </a:rPr>
                        <a:t>Clinical trial experience: </a:t>
                      </a:r>
                      <a:r>
                        <a:rPr lang="en-US" altLang="zh-CN" sz="1050" b="1" i="0" u="none" strike="noStrike" kern="1200">
                          <a:solidFill>
                            <a:srgbClr val="00E47C"/>
                          </a:solidFill>
                          <a:effectLst/>
                          <a:latin typeface="Calibri"/>
                          <a:ea typeface="Calibri"/>
                          <a:cs typeface="Calibri"/>
                        </a:rPr>
                        <a:t>China Leading PI and global SC member in 1305-0046 ph3b trial (SARD-ILD); China leading PI in Belimumab ph3 in CTD-ILD (GSK), and PIT565 ph1 (Novartis). </a:t>
                      </a:r>
                      <a:r>
                        <a:rPr lang="en-US" altLang="zh-CN" sz="1050" b="0" i="0" u="none" strike="noStrike" kern="1200">
                          <a:solidFill>
                            <a:srgbClr val="000000"/>
                          </a:solidFill>
                          <a:effectLst/>
                          <a:latin typeface="Calibri"/>
                          <a:ea typeface="Calibri"/>
                          <a:cs typeface="Calibri"/>
                        </a:rPr>
                        <a:t>Lead 3 China single center clinical studies​.</a:t>
                      </a:r>
                      <a:r>
                        <a:rPr lang="en-US" altLang="zh-CN" sz="1050" b="1" i="0" u="none" strike="noStrike" kern="1200">
                          <a:solidFill>
                            <a:srgbClr val="00E47C"/>
                          </a:solidFill>
                          <a:effectLst/>
                          <a:latin typeface="Calibri"/>
                          <a:ea typeface="+mn-ea"/>
                          <a:cs typeface="Calibri"/>
                        </a:rPr>
                        <a:t> </a:t>
                      </a:r>
                      <a:r>
                        <a:rPr lang="en-US" altLang="zh-CN" sz="1050" b="0" i="0" u="none" strike="noStrike" kern="1200">
                          <a:solidFill>
                            <a:srgbClr val="000000"/>
                          </a:solidFill>
                          <a:effectLst/>
                          <a:latin typeface="Calibri"/>
                          <a:ea typeface="Calibri"/>
                          <a:cs typeface="Calibri"/>
                        </a:rPr>
                        <a:t>Several sub-I experiences in global/local RCT (leading PI </a:t>
                      </a:r>
                      <a:r>
                        <a:rPr lang="zh-CN" altLang="zh-CN" sz="1050" b="0" i="0" u="none" strike="noStrike" kern="1200">
                          <a:solidFill>
                            <a:srgbClr val="000000"/>
                          </a:solidFill>
                          <a:effectLst/>
                          <a:latin typeface="Calibri"/>
                          <a:ea typeface="+mn-ea"/>
                          <a:cs typeface="Calibri"/>
                        </a:rPr>
                        <a:t>曾小峰）</a:t>
                      </a:r>
                      <a:r>
                        <a:rPr lang="en-US" altLang="zh-CN" sz="1050" b="0" i="0" u="none" strike="noStrike" kern="1200">
                          <a:solidFill>
                            <a:srgbClr val="000000"/>
                          </a:solidFill>
                          <a:effectLst/>
                          <a:latin typeface="Calibri"/>
                          <a:ea typeface="Calibri"/>
                          <a:cs typeface="Calibri"/>
                        </a:rPr>
                        <a:t> ​</a:t>
                      </a:r>
                      <a:endParaRPr lang="zh-CN" altLang="zh-CN" sz="1050" b="0" i="0" u="none" strike="noStrike" kern="1200">
                        <a:solidFill>
                          <a:srgbClr val="000000"/>
                        </a:solidFill>
                        <a:effectLst/>
                        <a:latin typeface="Calibri"/>
                        <a:ea typeface="+mn-ea"/>
                        <a:cs typeface="Calibri"/>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050" b="0" i="0" u="none" strike="noStrike" kern="1200" noProof="0">
                          <a:solidFill>
                            <a:srgbClr val="000000"/>
                          </a:solidFill>
                          <a:effectLst/>
                          <a:latin typeface="Calibri"/>
                          <a:ea typeface="+mn-ea"/>
                          <a:cs typeface="+mn-cs"/>
                        </a:rPr>
                        <a:t>2. &lt;Recommendations for diagnosis and treatment of systemic lupus erythematosus 2025&gt; author </a:t>
                      </a:r>
                    </a:p>
                    <a:p>
                      <a:pPr lvl="0" algn="l">
                        <a:buNone/>
                      </a:pPr>
                      <a:r>
                        <a:rPr lang="en-US" sz="1050" b="0" i="0" u="none" strike="noStrike" kern="1200" noProof="0">
                          <a:solidFill>
                            <a:srgbClr val="000000"/>
                          </a:solidFill>
                          <a:effectLst/>
                          <a:latin typeface="Calibri"/>
                          <a:ea typeface="+mn-ea"/>
                          <a:cs typeface="+mn-cs"/>
                        </a:rPr>
                        <a:t>3. Published 138 Sci-cite</a:t>
                      </a:r>
                      <a:r>
                        <a:rPr lang="en-US" altLang="zh-CN" sz="1050" b="0" i="0" u="none" strike="noStrike" kern="1200" noProof="0">
                          <a:solidFill>
                            <a:srgbClr val="000000"/>
                          </a:solidFill>
                          <a:effectLst/>
                          <a:latin typeface="Calibri"/>
                          <a:ea typeface="+mn-ea"/>
                          <a:cs typeface="+mn-cs"/>
                        </a:rPr>
                        <a:t>d</a:t>
                      </a:r>
                      <a:r>
                        <a:rPr lang="en-US" sz="1050" b="0" i="0" u="none" strike="noStrike" kern="1200" noProof="0">
                          <a:solidFill>
                            <a:srgbClr val="000000"/>
                          </a:solidFill>
                          <a:effectLst/>
                          <a:latin typeface="Calibri"/>
                          <a:ea typeface="+mn-ea"/>
                          <a:cs typeface="+mn-cs"/>
                        </a:rPr>
                        <a:t> papers related to SLE</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zh-CN" sz="1050" b="1" i="0" u="none" strike="noStrike" kern="1200">
                          <a:solidFill>
                            <a:schemeClr val="tx2"/>
                          </a:solidFill>
                          <a:effectLst/>
                          <a:latin typeface="Calibri"/>
                          <a:ea typeface="Calibri"/>
                          <a:cs typeface="Calibri"/>
                        </a:rPr>
                        <a:t>Grade: 9/10 (13.5)</a:t>
                      </a:r>
                      <a:endParaRPr lang="zh-CN" altLang="zh-CN" sz="1050" b="1" i="0" u="none" strike="noStrike" kern="1200">
                        <a:solidFill>
                          <a:schemeClr val="tx2"/>
                        </a:solidFill>
                        <a:effectLst/>
                        <a:latin typeface="Calibri"/>
                        <a:ea typeface="+mn-ea"/>
                        <a:cs typeface="Calibri"/>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sz="1050" b="1" i="0" u="none" strike="noStrike" kern="1200">
                          <a:solidFill>
                            <a:schemeClr val="tx2"/>
                          </a:solidFill>
                          <a:effectLst/>
                          <a:latin typeface="Calibri"/>
                          <a:ea typeface="+mn-ea"/>
                          <a:cs typeface="Calibri"/>
                        </a:rPr>
                        <a:t>第十二届中华医学会风湿病学分会委员会主任委员</a:t>
                      </a:r>
                      <a:r>
                        <a:rPr lang="zh-CN" altLang="en-US" sz="1050" b="0" i="0" u="none" strike="noStrike" kern="1200">
                          <a:solidFill>
                            <a:srgbClr val="000000"/>
                          </a:solidFill>
                          <a:effectLst/>
                          <a:latin typeface="Calibri"/>
                          <a:ea typeface="+mn-ea"/>
                          <a:cs typeface="Calibri"/>
                        </a:rPr>
                        <a:t>；</a:t>
                      </a:r>
                      <a:r>
                        <a:rPr lang="zh-CN" altLang="zh-CN" sz="1050" b="0" i="0" u="none" strike="noStrike" kern="1200">
                          <a:solidFill>
                            <a:srgbClr val="000000"/>
                          </a:solidFill>
                          <a:effectLst/>
                          <a:latin typeface="Calibri"/>
                          <a:ea typeface="+mn-ea"/>
                          <a:cs typeface="Calibri"/>
                        </a:rPr>
                        <a:t>北京医学会风湿病学分会主任委员</a:t>
                      </a:r>
                      <a:r>
                        <a:rPr lang="zh-CN" altLang="en-US" sz="1050" b="0" i="0" u="none" strike="noStrike" kern="1200">
                          <a:solidFill>
                            <a:srgbClr val="000000"/>
                          </a:solidFill>
                          <a:effectLst/>
                          <a:latin typeface="Calibri"/>
                          <a:ea typeface="+mn-ea"/>
                          <a:cs typeface="Calibri"/>
                        </a:rPr>
                        <a:t>；</a:t>
                      </a:r>
                      <a:r>
                        <a:rPr lang="zh-CN" altLang="zh-CN" sz="1050" b="0" i="0" u="none" strike="noStrike" kern="1200">
                          <a:solidFill>
                            <a:srgbClr val="000000"/>
                          </a:solidFill>
                          <a:effectLst/>
                          <a:latin typeface="Calibri"/>
                          <a:ea typeface="+mn-ea"/>
                          <a:cs typeface="Calibri"/>
                        </a:rPr>
                        <a:t>中国医师协会风湿免疫科医师分会副会长兼肺血管</a:t>
                      </a:r>
                      <a:r>
                        <a:rPr lang="en-US" altLang="zh-CN" sz="1050" b="0" i="0" u="none" strike="noStrike" kern="1200">
                          <a:solidFill>
                            <a:srgbClr val="000000"/>
                          </a:solidFill>
                          <a:effectLst/>
                          <a:latin typeface="Calibri"/>
                          <a:ea typeface="Calibri"/>
                          <a:cs typeface="Calibri"/>
                        </a:rPr>
                        <a:t>/</a:t>
                      </a:r>
                      <a:r>
                        <a:rPr lang="zh-CN" altLang="zh-CN" sz="1050" b="0" i="0" u="none" strike="noStrike" kern="1200">
                          <a:solidFill>
                            <a:srgbClr val="000000"/>
                          </a:solidFill>
                          <a:effectLst/>
                          <a:latin typeface="Calibri"/>
                          <a:ea typeface="+mn-ea"/>
                          <a:cs typeface="Calibri"/>
                        </a:rPr>
                        <a:t>间质病学组组长</a:t>
                      </a:r>
                      <a:r>
                        <a:rPr lang="zh-CN" altLang="en-US" sz="1050" b="0" i="0" u="none" strike="noStrike" kern="1200">
                          <a:solidFill>
                            <a:srgbClr val="000000"/>
                          </a:solidFill>
                          <a:effectLst/>
                          <a:latin typeface="Calibri"/>
                          <a:ea typeface="+mn-ea"/>
                          <a:cs typeface="Calibri"/>
                        </a:rPr>
                        <a:t>；</a:t>
                      </a:r>
                      <a:r>
                        <a:rPr lang="zh-CN" altLang="zh-CN" sz="1050" b="1" i="0" u="none" strike="noStrike" kern="1200">
                          <a:solidFill>
                            <a:schemeClr val="tx2"/>
                          </a:solidFill>
                          <a:effectLst/>
                          <a:latin typeface="Calibri"/>
                          <a:ea typeface="+mn-ea"/>
                          <a:cs typeface="Calibri"/>
                        </a:rPr>
                        <a:t>亚太抗风湿病联盟（</a:t>
                      </a:r>
                      <a:r>
                        <a:rPr lang="en-US" altLang="zh-CN" sz="1050" b="1" i="0" u="none" strike="noStrike" kern="1200">
                          <a:solidFill>
                            <a:schemeClr val="tx2"/>
                          </a:solidFill>
                          <a:effectLst/>
                          <a:latin typeface="Calibri"/>
                          <a:ea typeface="Calibri"/>
                          <a:cs typeface="Calibri"/>
                        </a:rPr>
                        <a:t>APLAR</a:t>
                      </a:r>
                      <a:r>
                        <a:rPr lang="zh-CN" altLang="zh-CN" sz="1050" b="1" i="0" u="none" strike="noStrike" kern="1200">
                          <a:solidFill>
                            <a:schemeClr val="tx2"/>
                          </a:solidFill>
                          <a:effectLst/>
                          <a:latin typeface="Calibri"/>
                          <a:ea typeface="+mn-ea"/>
                          <a:cs typeface="Calibri"/>
                        </a:rPr>
                        <a:t>）系统性红斑狼疮研究组成员</a:t>
                      </a:r>
                      <a:r>
                        <a:rPr lang="zh-CN" altLang="en-US" sz="1050" b="1" i="0" u="none" strike="noStrike" kern="1200">
                          <a:solidFill>
                            <a:schemeClr val="tx2"/>
                          </a:solidFill>
                          <a:effectLst/>
                          <a:latin typeface="Calibri"/>
                          <a:ea typeface="+mn-ea"/>
                          <a:cs typeface="Calibri"/>
                        </a:rPr>
                        <a:t>；</a:t>
                      </a:r>
                      <a:r>
                        <a:rPr lang="zh-CN" altLang="zh-CN" sz="1050" b="1" i="0" u="none" strike="noStrike" kern="1200">
                          <a:solidFill>
                            <a:schemeClr val="tx2"/>
                          </a:solidFill>
                          <a:effectLst/>
                          <a:latin typeface="Calibri"/>
                          <a:ea typeface="+mn-ea"/>
                          <a:cs typeface="Calibri"/>
                        </a:rPr>
                        <a:t>亚太系统性红斑狼疮协作组（</a:t>
                      </a:r>
                      <a:r>
                        <a:rPr lang="en-US" altLang="zh-CN" sz="1050" b="1" i="0" u="none" strike="noStrike" kern="1200">
                          <a:solidFill>
                            <a:schemeClr val="tx2"/>
                          </a:solidFill>
                          <a:effectLst/>
                          <a:latin typeface="Calibri"/>
                          <a:ea typeface="Calibri"/>
                          <a:cs typeface="Calibri"/>
                        </a:rPr>
                        <a:t>APLC</a:t>
                      </a:r>
                      <a:r>
                        <a:rPr lang="zh-CN" altLang="zh-CN" sz="1050" b="1" i="0" u="none" strike="noStrike" kern="1200">
                          <a:solidFill>
                            <a:schemeClr val="tx2"/>
                          </a:solidFill>
                          <a:effectLst/>
                          <a:latin typeface="Calibri"/>
                          <a:ea typeface="+mn-ea"/>
                          <a:cs typeface="Calibri"/>
                        </a:rPr>
                        <a:t>）成员</a:t>
                      </a:r>
                      <a:r>
                        <a:rPr lang="zh-CN" altLang="en-US" sz="1050" b="1" i="0" u="none" strike="noStrike" kern="1200">
                          <a:solidFill>
                            <a:schemeClr val="tx2"/>
                          </a:solidFill>
                          <a:effectLst/>
                          <a:latin typeface="Calibri"/>
                          <a:ea typeface="+mn-ea"/>
                          <a:cs typeface="Calibri"/>
                        </a:rPr>
                        <a:t>；</a:t>
                      </a:r>
                      <a:r>
                        <a:rPr lang="zh-CN" altLang="zh-CN" sz="1050" b="1" i="0" u="none" strike="noStrike" kern="1200">
                          <a:solidFill>
                            <a:schemeClr val="tx2"/>
                          </a:solidFill>
                          <a:effectLst/>
                          <a:latin typeface="Calibri"/>
                          <a:ea typeface="+mn-ea"/>
                          <a:cs typeface="Calibri"/>
                        </a:rPr>
                        <a:t>中国系统性红斑狼疮研究协作组（</a:t>
                      </a:r>
                      <a:r>
                        <a:rPr lang="en-US" altLang="zh-CN" sz="1050" b="1" i="0" u="none" strike="noStrike" kern="1200">
                          <a:solidFill>
                            <a:schemeClr val="tx2"/>
                          </a:solidFill>
                          <a:effectLst/>
                          <a:latin typeface="Calibri"/>
                          <a:ea typeface="Calibri"/>
                          <a:cs typeface="Calibri"/>
                        </a:rPr>
                        <a:t>CSTAR</a:t>
                      </a:r>
                      <a:r>
                        <a:rPr lang="zh-CN" altLang="zh-CN" sz="1050" b="1" i="0" u="none" strike="noStrike" kern="1200">
                          <a:solidFill>
                            <a:schemeClr val="tx2"/>
                          </a:solidFill>
                          <a:effectLst/>
                          <a:latin typeface="Calibri"/>
                          <a:ea typeface="+mn-ea"/>
                          <a:cs typeface="Calibri"/>
                        </a:rPr>
                        <a:t>）</a:t>
                      </a:r>
                      <a:r>
                        <a:rPr lang="zh-CN" altLang="zh-CN" sz="1050" b="0" i="0" u="none" strike="noStrike" kern="1200">
                          <a:solidFill>
                            <a:schemeClr val="tx1"/>
                          </a:solidFill>
                          <a:effectLst/>
                          <a:latin typeface="Calibri"/>
                          <a:ea typeface="+mn-ea"/>
                          <a:cs typeface="Calibri"/>
                        </a:rPr>
                        <a:t>、国家风湿病数据中心（</a:t>
                      </a:r>
                      <a:r>
                        <a:rPr lang="en-US" altLang="zh-CN" sz="1050" b="0" i="0" u="none" strike="noStrike" kern="1200">
                          <a:solidFill>
                            <a:schemeClr val="tx1"/>
                          </a:solidFill>
                          <a:effectLst/>
                          <a:latin typeface="Calibri"/>
                          <a:ea typeface="Calibri"/>
                          <a:cs typeface="Calibri"/>
                        </a:rPr>
                        <a:t>CRDC</a:t>
                      </a:r>
                      <a:r>
                        <a:rPr lang="zh-CN" altLang="zh-CN" sz="1050" b="0" i="0" u="none" strike="noStrike" kern="1200">
                          <a:solidFill>
                            <a:schemeClr val="tx1"/>
                          </a:solidFill>
                          <a:effectLst/>
                          <a:latin typeface="Calibri"/>
                          <a:ea typeface="+mn-ea"/>
                          <a:cs typeface="Calibri"/>
                        </a:rPr>
                        <a:t>）、中国风湿免疫病医联体联盟（</a:t>
                      </a:r>
                      <a:r>
                        <a:rPr lang="en-US" altLang="zh-CN" sz="1050" b="0" i="0" u="none" strike="noStrike" kern="1200">
                          <a:solidFill>
                            <a:schemeClr val="tx1"/>
                          </a:solidFill>
                          <a:effectLst/>
                          <a:latin typeface="Calibri"/>
                          <a:ea typeface="Calibri"/>
                          <a:cs typeface="Calibri"/>
                        </a:rPr>
                        <a:t>CRCA</a:t>
                      </a:r>
                      <a:r>
                        <a:rPr lang="zh-CN" altLang="zh-CN" sz="1050" b="0" i="0" u="none" strike="noStrike" kern="1200">
                          <a:solidFill>
                            <a:schemeClr val="tx1"/>
                          </a:solidFill>
                          <a:effectLst/>
                          <a:latin typeface="Calibri"/>
                          <a:ea typeface="+mn-ea"/>
                          <a:cs typeface="Calibri"/>
                        </a:rPr>
                        <a:t>）秘书长</a:t>
                      </a:r>
                      <a:r>
                        <a:rPr lang="zh-CN" altLang="zh-CN" sz="1050" b="0" i="0" u="none" strike="noStrike" kern="1200">
                          <a:solidFill>
                            <a:srgbClr val="000000"/>
                          </a:solidFill>
                          <a:effectLst/>
                          <a:latin typeface="Calibri"/>
                          <a:ea typeface="+mn-ea"/>
                          <a:cs typeface="Calibri"/>
                        </a:rPr>
                        <a:t>，国家皮肤与免疫疾病临床医学研究中心（</a:t>
                      </a:r>
                      <a:r>
                        <a:rPr lang="en-US" altLang="zh-CN" sz="1050" b="0" i="0" u="none" strike="noStrike" kern="1200">
                          <a:solidFill>
                            <a:srgbClr val="000000"/>
                          </a:solidFill>
                          <a:effectLst/>
                          <a:latin typeface="Calibri"/>
                          <a:ea typeface="Calibri"/>
                          <a:cs typeface="Calibri"/>
                        </a:rPr>
                        <a:t>NCRC-DID</a:t>
                      </a:r>
                      <a:r>
                        <a:rPr lang="zh-CN" altLang="zh-CN" sz="1050" b="0" i="0" u="none" strike="noStrike" kern="1200">
                          <a:solidFill>
                            <a:srgbClr val="000000"/>
                          </a:solidFill>
                          <a:effectLst/>
                          <a:latin typeface="Calibri"/>
                          <a:ea typeface="+mn-ea"/>
                          <a:cs typeface="Calibri"/>
                        </a:rPr>
                        <a:t>）办公室主任</a:t>
                      </a:r>
                      <a:endParaRPr lang="en-US" sz="1050" b="1" i="0" u="none" strike="noStrike">
                        <a:solidFill>
                          <a:srgbClr val="000000"/>
                        </a:solidFill>
                        <a:effectLst/>
                        <a:latin typeface="Calibri"/>
                        <a:ea typeface="Calibri"/>
                        <a:cs typeface="Calibri"/>
                      </a:endParaRP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en-US" altLang="zh-CN" sz="1050" b="1" i="0" u="none" strike="noStrike" kern="1200">
                          <a:solidFill>
                            <a:schemeClr val="tx2"/>
                          </a:solidFill>
                          <a:effectLst/>
                          <a:latin typeface="Calibri"/>
                          <a:ea typeface="Calibri"/>
                          <a:cs typeface="Calibri"/>
                        </a:rPr>
                        <a:t>Grade: 10/10 (20)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rtl="0" fontAlgn="t">
                        <a:lnSpc>
                          <a:spcPct val="150000"/>
                        </a:lnSpc>
                        <a:buFont typeface="Wingdings" panose="05000000000000000000" pitchFamily="2" charset="2"/>
                        <a:buChar char="v"/>
                      </a:pPr>
                      <a:r>
                        <a:rPr lang="en-US" sz="1050" b="1" u="none" strike="noStrike">
                          <a:solidFill>
                            <a:srgbClr val="000000"/>
                          </a:solidFill>
                          <a:effectLst/>
                          <a:latin typeface="Calibri"/>
                          <a:ea typeface="Calibri"/>
                          <a:cs typeface="Calibri"/>
                        </a:rPr>
                        <a:t>Leading PI of 1305-0046 (SARD-ILD,ph3)</a:t>
                      </a:r>
                    </a:p>
                    <a:p>
                      <a:pPr marL="171450" indent="-171450" algn="l" rtl="0" fontAlgn="t">
                        <a:lnSpc>
                          <a:spcPct val="150000"/>
                        </a:lnSpc>
                        <a:buFont typeface="Wingdings" panose="05000000000000000000" pitchFamily="2" charset="2"/>
                        <a:buChar char="v"/>
                      </a:pPr>
                      <a:r>
                        <a:rPr lang="en-US" sz="1050" b="1" i="0" u="none" strike="noStrike">
                          <a:solidFill>
                            <a:srgbClr val="000000"/>
                          </a:solidFill>
                          <a:effectLst/>
                          <a:latin typeface="Calibri"/>
                          <a:ea typeface="Calibri"/>
                          <a:cs typeface="Calibri"/>
                        </a:rPr>
                        <a:t>CTID: </a:t>
                      </a:r>
                      <a:r>
                        <a:rPr lang="en-US" sz="1050" b="1" i="0" u="none" strike="noStrike">
                          <a:solidFill>
                            <a:srgbClr val="FF0000"/>
                          </a:solidFill>
                          <a:effectLst/>
                          <a:latin typeface="Calibri"/>
                          <a:ea typeface="Calibri"/>
                          <a:cs typeface="Calibri"/>
                        </a:rPr>
                        <a:t>5</a:t>
                      </a:r>
                      <a:r>
                        <a:rPr lang="en-US" sz="1050" b="1" i="0" u="none" strike="noStrike">
                          <a:solidFill>
                            <a:srgbClr val="000000"/>
                          </a:solidFill>
                          <a:effectLst/>
                          <a:latin typeface="Calibri"/>
                          <a:ea typeface="Calibri"/>
                          <a:cs typeface="Calibri"/>
                        </a:rPr>
                        <a:t> leading I-III studies (</a:t>
                      </a:r>
                      <a:r>
                        <a:rPr lang="en-US" sz="1050" b="1" i="0" u="none" strike="noStrike">
                          <a:solidFill>
                            <a:srgbClr val="FF0000"/>
                          </a:solidFill>
                          <a:effectLst/>
                          <a:latin typeface="Calibri"/>
                          <a:ea typeface="Calibri"/>
                          <a:cs typeface="Calibri"/>
                        </a:rPr>
                        <a:t>2</a:t>
                      </a:r>
                      <a:r>
                        <a:rPr lang="zh-CN" altLang="en-US" sz="1050" b="1" i="0" u="none" strike="noStrike">
                          <a:solidFill>
                            <a:srgbClr val="000000"/>
                          </a:solidFill>
                          <a:effectLst/>
                          <a:latin typeface="Calibri"/>
                          <a:ea typeface="Calibri" panose="020F0502020204030204" pitchFamily="34" charset="0"/>
                          <a:cs typeface="Calibri"/>
                        </a:rPr>
                        <a:t> </a:t>
                      </a:r>
                      <a:r>
                        <a:rPr lang="en-US" altLang="zh-CN" sz="1050" b="1" i="0" u="none" strike="noStrike">
                          <a:solidFill>
                            <a:srgbClr val="000000"/>
                          </a:solidFill>
                          <a:effectLst/>
                          <a:latin typeface="Calibri"/>
                          <a:ea typeface="Calibri"/>
                          <a:cs typeface="Calibri"/>
                        </a:rPr>
                        <a:t>SLE ph1</a:t>
                      </a:r>
                      <a:r>
                        <a:rPr lang="zh-CN" altLang="en-US" sz="1050" b="1" i="0" u="none" strike="noStrike">
                          <a:solidFill>
                            <a:srgbClr val="000000"/>
                          </a:solidFill>
                          <a:effectLst/>
                          <a:latin typeface="Calibri"/>
                          <a:ea typeface="Calibri" panose="020F0502020204030204" pitchFamily="34" charset="0"/>
                          <a:cs typeface="Calibri"/>
                        </a:rPr>
                        <a:t> </a:t>
                      </a:r>
                      <a:r>
                        <a:rPr lang="en-US" altLang="zh-CN" sz="1050" b="1" i="0" u="none" strike="noStrike">
                          <a:solidFill>
                            <a:srgbClr val="000000"/>
                          </a:solidFill>
                          <a:effectLst/>
                          <a:latin typeface="Calibri"/>
                          <a:ea typeface="Calibri"/>
                          <a:cs typeface="Calibri"/>
                        </a:rPr>
                        <a:t>studies, collaborate with MNCs like Novartis and GSK, and other local biotechs.)</a:t>
                      </a:r>
                    </a:p>
                    <a:p>
                      <a:pPr marL="171450" indent="-171450" algn="l" rtl="0" fontAlgn="t">
                        <a:lnSpc>
                          <a:spcPct val="150000"/>
                        </a:lnSpc>
                        <a:buFont typeface="Wingdings" panose="05000000000000000000" pitchFamily="2" charset="2"/>
                        <a:buChar char="v"/>
                      </a:pPr>
                      <a:r>
                        <a:rPr lang="en-US" altLang="zh-CN" sz="1050" b="1" i="0" u="none" strike="noStrike">
                          <a:solidFill>
                            <a:srgbClr val="000000"/>
                          </a:solidFill>
                          <a:effectLst/>
                          <a:latin typeface="Calibri"/>
                          <a:ea typeface="Calibri"/>
                          <a:cs typeface="Calibri"/>
                        </a:rPr>
                        <a:t>The experience of leading PI is limited, especially for MRCT.</a:t>
                      </a:r>
                    </a:p>
                    <a:p>
                      <a:pPr marL="0" indent="0" algn="l" rtl="0" fontAlgn="t">
                        <a:lnSpc>
                          <a:spcPct val="150000"/>
                        </a:lnSpc>
                        <a:buFont typeface="Wingdings" panose="05000000000000000000" pitchFamily="2" charset="2"/>
                        <a:buNone/>
                      </a:pPr>
                      <a:r>
                        <a:rPr lang="en-US" altLang="zh-CN" sz="1050" b="1" i="0" u="none" strike="noStrike">
                          <a:solidFill>
                            <a:schemeClr val="accent2"/>
                          </a:solidFill>
                          <a:effectLst/>
                          <a:latin typeface="Calibri"/>
                          <a:ea typeface="Calibri"/>
                          <a:cs typeface="Calibri"/>
                        </a:rPr>
                        <a:t>Grade</a:t>
                      </a:r>
                      <a:r>
                        <a:rPr lang="zh-CN" altLang="en-US" sz="1050" b="1" i="0" u="none" strike="noStrike">
                          <a:solidFill>
                            <a:schemeClr val="accent2"/>
                          </a:solidFill>
                          <a:effectLst/>
                          <a:latin typeface="Calibri"/>
                          <a:ea typeface="Calibri"/>
                          <a:cs typeface="Calibri"/>
                        </a:rPr>
                        <a:t>：</a:t>
                      </a:r>
                      <a:r>
                        <a:rPr lang="en-US" altLang="zh-CN" sz="1050" b="1" i="0" u="none" strike="noStrike">
                          <a:solidFill>
                            <a:schemeClr val="accent2"/>
                          </a:solidFill>
                          <a:effectLst/>
                          <a:latin typeface="Calibri"/>
                          <a:ea typeface="Calibri"/>
                          <a:cs typeface="Calibri"/>
                        </a:rPr>
                        <a:t>6/10 (18)</a:t>
                      </a:r>
                    </a:p>
                    <a:p>
                      <a:pPr marL="0" marR="0" lvl="0" indent="0" algn="l" defTabSz="914400" rtl="0" eaLnBrk="1" fontAlgn="t" latinLnBrk="0" hangingPunct="1">
                        <a:lnSpc>
                          <a:spcPct val="150000"/>
                        </a:lnSpc>
                        <a:spcBef>
                          <a:spcPts val="0"/>
                        </a:spcBef>
                        <a:spcAft>
                          <a:spcPts val="0"/>
                        </a:spcAft>
                        <a:buClrTx/>
                        <a:buSzTx/>
                        <a:buFont typeface="Wingdings" panose="05000000000000000000" pitchFamily="2" charset="2"/>
                        <a:buNone/>
                        <a:tabLst/>
                        <a:defRPr/>
                      </a:pPr>
                      <a:endParaRPr lang="en-US" altLang="zh-CN" sz="1050" b="1" i="0" u="none" strike="noStrike">
                        <a:solidFill>
                          <a:schemeClr val="accent2"/>
                        </a:solidFill>
                        <a:effectLst/>
                        <a:latin typeface="Calibri"/>
                        <a:ea typeface="Calibri"/>
                        <a:cs typeface="Calibri"/>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rtl="0" fontAlgn="t">
                        <a:lnSpc>
                          <a:spcPct val="150000"/>
                        </a:lnSpc>
                        <a:buFont typeface="Wingdings" panose="05000000000000000000" pitchFamily="2" charset="2"/>
                        <a:buChar char="v"/>
                      </a:pPr>
                      <a:r>
                        <a:rPr lang="en-US" sz="1050" b="1" u="none" strike="noStrike">
                          <a:solidFill>
                            <a:srgbClr val="FF0000"/>
                          </a:solidFill>
                          <a:effectLst/>
                          <a:latin typeface="Calibri"/>
                          <a:ea typeface="Calibri"/>
                          <a:cs typeface="Calibri"/>
                        </a:rPr>
                        <a:t>Trial Set up: </a:t>
                      </a:r>
                      <a:r>
                        <a:rPr lang="en-US" sz="1050" b="1" u="none" strike="noStrike">
                          <a:solidFill>
                            <a:srgbClr val="000000"/>
                          </a:solidFill>
                          <a:effectLst/>
                          <a:latin typeface="Calibri"/>
                          <a:ea typeface="Calibri"/>
                          <a:cs typeface="Calibri"/>
                        </a:rPr>
                        <a:t>2 weeks</a:t>
                      </a:r>
                    </a:p>
                    <a:p>
                      <a:pPr marL="171450" indent="-171450" algn="l" rtl="0" fontAlgn="t">
                        <a:lnSpc>
                          <a:spcPct val="150000"/>
                        </a:lnSpc>
                        <a:buFont typeface="Wingdings" panose="05000000000000000000" pitchFamily="2" charset="2"/>
                        <a:buChar char="v"/>
                      </a:pPr>
                      <a:r>
                        <a:rPr lang="en-US" sz="1050" b="1" u="none" strike="noStrike">
                          <a:solidFill>
                            <a:srgbClr val="FF0000"/>
                          </a:solidFill>
                          <a:effectLst/>
                          <a:latin typeface="Calibri"/>
                          <a:ea typeface="Calibri"/>
                          <a:cs typeface="Calibri"/>
                        </a:rPr>
                        <a:t>EC approval:</a:t>
                      </a:r>
                      <a:r>
                        <a:rPr lang="zh-CN" altLang="en-US" sz="1050" b="1" u="none" strike="noStrike">
                          <a:solidFill>
                            <a:srgbClr val="FF0000"/>
                          </a:solidFill>
                          <a:effectLst/>
                          <a:latin typeface="Calibri"/>
                          <a:cs typeface="Calibri"/>
                        </a:rPr>
                        <a:t> </a:t>
                      </a:r>
                      <a:r>
                        <a:rPr lang="en-US" altLang="zh-CN" sz="1050" b="1" u="none" strike="noStrike">
                          <a:solidFill>
                            <a:srgbClr val="000000"/>
                          </a:solidFill>
                          <a:effectLst/>
                          <a:latin typeface="Calibri"/>
                          <a:ea typeface="Calibri"/>
                          <a:cs typeface="Calibri"/>
                        </a:rPr>
                        <a:t>1-1.5 months</a:t>
                      </a:r>
                      <a:r>
                        <a:rPr lang="en-US" sz="1050" b="1" u="none" strike="noStrike">
                          <a:solidFill>
                            <a:srgbClr val="000000"/>
                          </a:solidFill>
                          <a:effectLst/>
                          <a:latin typeface="Calibri"/>
                          <a:ea typeface="Calibri"/>
                          <a:cs typeface="Calibri"/>
                        </a:rPr>
                        <a:t> </a:t>
                      </a:r>
                    </a:p>
                    <a:p>
                      <a:pPr marL="171450" indent="-171450" algn="l" rtl="0" fontAlgn="t">
                        <a:lnSpc>
                          <a:spcPct val="150000"/>
                        </a:lnSpc>
                        <a:buFont typeface="Wingdings" panose="05000000000000000000" pitchFamily="2" charset="2"/>
                        <a:buChar char="v"/>
                      </a:pPr>
                      <a:r>
                        <a:rPr lang="en-US" sz="1050" b="1" i="0" u="none" strike="noStrike">
                          <a:solidFill>
                            <a:srgbClr val="FF0000"/>
                          </a:solidFill>
                          <a:effectLst/>
                          <a:latin typeface="Calibri"/>
                          <a:ea typeface="Calibri"/>
                          <a:cs typeface="Calibri"/>
                        </a:rPr>
                        <a:t>HGRAC: </a:t>
                      </a:r>
                      <a:r>
                        <a:rPr lang="en-US" sz="1050" b="1" i="0" u="none" strike="noStrike">
                          <a:solidFill>
                            <a:srgbClr val="000000"/>
                          </a:solidFill>
                          <a:effectLst/>
                          <a:latin typeface="Calibri"/>
                          <a:ea typeface="Calibri"/>
                          <a:cs typeface="Calibri"/>
                        </a:rPr>
                        <a:t>2 weeks to get signature</a:t>
                      </a:r>
                    </a:p>
                    <a:p>
                      <a:pPr marL="171450" indent="-171450" algn="l" rtl="0" fontAlgn="t">
                        <a:lnSpc>
                          <a:spcPct val="150000"/>
                        </a:lnSpc>
                        <a:buFont typeface="Wingdings" panose="05000000000000000000" pitchFamily="2" charset="2"/>
                        <a:buChar char="v"/>
                      </a:pPr>
                      <a:r>
                        <a:rPr lang="en-US" sz="1050" b="1" i="0" u="none" strike="noStrike">
                          <a:solidFill>
                            <a:srgbClr val="FF0000"/>
                          </a:solidFill>
                          <a:effectLst/>
                          <a:latin typeface="Calibri"/>
                          <a:ea typeface="Calibri"/>
                          <a:cs typeface="Calibri"/>
                        </a:rPr>
                        <a:t>Contract negotiation: </a:t>
                      </a:r>
                      <a:r>
                        <a:rPr lang="en-US" sz="1050" b="1" i="0" u="none" strike="noStrike">
                          <a:solidFill>
                            <a:srgbClr val="000000"/>
                          </a:solidFill>
                          <a:effectLst/>
                          <a:latin typeface="Calibri"/>
                          <a:ea typeface="Calibri"/>
                          <a:cs typeface="Calibri"/>
                        </a:rPr>
                        <a:t>MSA (renew is under negociation), 2 months to finalize (risk: publication and IP sharing)</a:t>
                      </a:r>
                    </a:p>
                    <a:p>
                      <a:pPr marL="171450" indent="-171450" algn="l" rtl="0" fontAlgn="t">
                        <a:lnSpc>
                          <a:spcPct val="150000"/>
                        </a:lnSpc>
                        <a:buFont typeface="Wingdings" panose="05000000000000000000" pitchFamily="2" charset="2"/>
                        <a:buChar char="v"/>
                      </a:pPr>
                      <a:r>
                        <a:rPr lang="en-US" sz="1050" b="1" i="0" u="none" strike="noStrike">
                          <a:solidFill>
                            <a:srgbClr val="000000"/>
                          </a:solidFill>
                          <a:effectLst/>
                          <a:latin typeface="Calibri"/>
                          <a:ea typeface="Calibri"/>
                          <a:cs typeface="Calibri"/>
                        </a:rPr>
                        <a:t>EC submission </a:t>
                      </a:r>
                      <a:r>
                        <a:rPr lang="en-US" sz="1050" b="1" i="0" u="none" strike="noStrike">
                          <a:solidFill>
                            <a:srgbClr val="FF0000"/>
                          </a:solidFill>
                          <a:effectLst/>
                          <a:latin typeface="Calibri"/>
                          <a:ea typeface="Calibri"/>
                          <a:cs typeface="Calibri"/>
                        </a:rPr>
                        <a:t>ahead of CTA </a:t>
                      </a:r>
                      <a:r>
                        <a:rPr lang="en-US" sz="1050" b="1" i="0" u="none" strike="noStrike">
                          <a:solidFill>
                            <a:srgbClr val="000000"/>
                          </a:solidFill>
                          <a:effectLst/>
                          <a:latin typeface="Calibri"/>
                          <a:ea typeface="Calibri"/>
                          <a:cs typeface="Calibri"/>
                        </a:rPr>
                        <a:t>approval; </a:t>
                      </a:r>
                      <a:r>
                        <a:rPr lang="en-US" sz="1050" b="1" i="0" u="none" strike="noStrike">
                          <a:solidFill>
                            <a:srgbClr val="FF0000"/>
                          </a:solidFill>
                          <a:effectLst/>
                          <a:latin typeface="Calibri"/>
                          <a:ea typeface="Calibri"/>
                          <a:cs typeface="Calibri"/>
                        </a:rPr>
                        <a:t>b</a:t>
                      </a:r>
                      <a:r>
                        <a:rPr lang="en-US" altLang="zh-CN" sz="1050" b="1" i="0" u="none" strike="noStrike">
                          <a:solidFill>
                            <a:srgbClr val="FF0000"/>
                          </a:solidFill>
                          <a:effectLst/>
                          <a:latin typeface="Calibri"/>
                          <a:ea typeface="Calibri"/>
                          <a:cs typeface="Calibri"/>
                        </a:rPr>
                        <a:t>i-weekly </a:t>
                      </a:r>
                      <a:r>
                        <a:rPr lang="en-US" altLang="zh-CN" sz="1050" b="1" i="0" u="none" strike="noStrike">
                          <a:solidFill>
                            <a:srgbClr val="000000"/>
                          </a:solidFill>
                          <a:effectLst/>
                          <a:latin typeface="Calibri"/>
                          <a:ea typeface="Calibri"/>
                          <a:cs typeface="Calibri"/>
                        </a:rPr>
                        <a:t>EC meeting; </a:t>
                      </a:r>
                      <a:r>
                        <a:rPr lang="en-US" sz="1050" b="1" i="0" u="none" strike="noStrike">
                          <a:solidFill>
                            <a:srgbClr val="000000"/>
                          </a:solidFill>
                          <a:effectLst/>
                          <a:latin typeface="Calibri"/>
                          <a:ea typeface="Calibri"/>
                          <a:cs typeface="Calibri"/>
                        </a:rPr>
                        <a:t>EC/CTA in </a:t>
                      </a:r>
                      <a:r>
                        <a:rPr lang="en-US" sz="1050" b="1" i="0" u="none" strike="noStrike">
                          <a:solidFill>
                            <a:srgbClr val="FF0000"/>
                          </a:solidFill>
                          <a:effectLst/>
                          <a:latin typeface="Calibri"/>
                          <a:ea typeface="Calibri"/>
                          <a:cs typeface="Calibri"/>
                        </a:rPr>
                        <a:t>parallel review</a:t>
                      </a:r>
                    </a:p>
                    <a:p>
                      <a:pPr marL="0" indent="0" algn="l" rtl="0" fontAlgn="t">
                        <a:lnSpc>
                          <a:spcPct val="150000"/>
                        </a:lnSpc>
                        <a:buFont typeface="Wingdings" panose="05000000000000000000" pitchFamily="2" charset="2"/>
                        <a:buNone/>
                      </a:pPr>
                      <a:r>
                        <a:rPr lang="en-US" sz="1050" b="1" i="0" u="none" strike="noStrike">
                          <a:solidFill>
                            <a:srgbClr val="00B050"/>
                          </a:solidFill>
                          <a:effectLst/>
                          <a:latin typeface="Calibri"/>
                          <a:ea typeface="Calibri"/>
                          <a:cs typeface="Calibri"/>
                        </a:rPr>
                        <a:t>Summary: </a:t>
                      </a:r>
                      <a:r>
                        <a:rPr lang="en-US" sz="1050" b="1" i="0" u="none" strike="noStrike">
                          <a:solidFill>
                            <a:srgbClr val="FF0000"/>
                          </a:solidFill>
                          <a:effectLst/>
                          <a:latin typeface="Calibri"/>
                          <a:ea typeface="Calibri"/>
                          <a:cs typeface="Calibri"/>
                        </a:rPr>
                        <a:t>4-6 </a:t>
                      </a:r>
                      <a:r>
                        <a:rPr lang="en-US" sz="1050" b="1" i="0" u="none" strike="noStrike">
                          <a:solidFill>
                            <a:srgbClr val="000000"/>
                          </a:solidFill>
                          <a:effectLst/>
                          <a:latin typeface="Calibri"/>
                          <a:ea typeface="Calibri"/>
                          <a:cs typeface="Calibri"/>
                        </a:rPr>
                        <a:t>months for initiation meets the 6 months benchmark of BI ;</a:t>
                      </a:r>
                    </a:p>
                    <a:p>
                      <a:pPr marL="0" indent="0" algn="l" rtl="0" fontAlgn="t">
                        <a:lnSpc>
                          <a:spcPct val="150000"/>
                        </a:lnSpc>
                        <a:buFont typeface="Wingdings" panose="05000000000000000000" pitchFamily="2" charset="2"/>
                        <a:buNone/>
                      </a:pPr>
                      <a:r>
                        <a:rPr lang="en-US" sz="1050" b="1" i="0" u="none" strike="noStrike">
                          <a:solidFill>
                            <a:srgbClr val="000000"/>
                          </a:solidFill>
                          <a:effectLst/>
                          <a:latin typeface="Calibri"/>
                          <a:ea typeface="Calibri"/>
                          <a:cs typeface="Calibri"/>
                        </a:rPr>
                        <a:t>Lading site for </a:t>
                      </a:r>
                      <a:r>
                        <a:rPr lang="en-US" sz="1050" b="1" i="1" u="none" strike="noStrike">
                          <a:solidFill>
                            <a:srgbClr val="000000"/>
                          </a:solidFill>
                          <a:effectLst/>
                          <a:latin typeface="Calibri"/>
                          <a:ea typeface="Calibri"/>
                          <a:cs typeface="Calibri"/>
                        </a:rPr>
                        <a:t>1305-0014 &amp; 1305-0023 &amp; 1305-0031 (ILD, ph3)/1305-0046 (SARD-ILD, ph3)/1366-003</a:t>
                      </a:r>
                      <a:r>
                        <a:rPr lang="en-US" sz="1050" b="1" i="0" u="none" strike="noStrike">
                          <a:solidFill>
                            <a:srgbClr val="000000"/>
                          </a:solidFill>
                          <a:effectLst/>
                          <a:latin typeface="Calibri"/>
                          <a:ea typeface="Calibri"/>
                          <a:cs typeface="Calibri"/>
                        </a:rPr>
                        <a:t>1(SSc, ph2) study</a:t>
                      </a:r>
                    </a:p>
                    <a:p>
                      <a:pPr marL="0" marR="0" lvl="0" indent="0" algn="l" defTabSz="914400" rtl="0" eaLnBrk="1" fontAlgn="t" latinLnBrk="0" hangingPunct="1">
                        <a:lnSpc>
                          <a:spcPct val="150000"/>
                        </a:lnSpc>
                        <a:spcBef>
                          <a:spcPts val="0"/>
                        </a:spcBef>
                        <a:spcAft>
                          <a:spcPts val="0"/>
                        </a:spcAft>
                        <a:buClrTx/>
                        <a:buSzTx/>
                        <a:buFont typeface="Wingdings" panose="05000000000000000000" pitchFamily="2" charset="2"/>
                        <a:buNone/>
                        <a:tabLst/>
                        <a:defRPr/>
                      </a:pPr>
                      <a:r>
                        <a:rPr lang="en-US" altLang="zh-CN" sz="1050" b="1" i="0" u="none" strike="noStrike">
                          <a:solidFill>
                            <a:srgbClr val="C00000"/>
                          </a:solidFill>
                          <a:effectLst/>
                          <a:latin typeface="Calibri"/>
                          <a:ea typeface="Calibri"/>
                          <a:cs typeface="Calibri"/>
                        </a:rPr>
                        <a:t>Risk: Potential publication per PI’s request and IP sharing.</a:t>
                      </a:r>
                      <a:endParaRPr lang="en-US" altLang="zh-CN" sz="1050" b="1" i="0" u="none" strike="noStrike">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t" latinLnBrk="0" hangingPunct="1">
                        <a:lnSpc>
                          <a:spcPct val="150000"/>
                        </a:lnSpc>
                        <a:spcBef>
                          <a:spcPts val="0"/>
                        </a:spcBef>
                        <a:spcAft>
                          <a:spcPts val="0"/>
                        </a:spcAft>
                        <a:buClrTx/>
                        <a:buSzTx/>
                        <a:buFont typeface="Wingdings" panose="05000000000000000000" pitchFamily="2" charset="2"/>
                        <a:buNone/>
                        <a:tabLst/>
                        <a:defRPr/>
                      </a:pPr>
                      <a:r>
                        <a:rPr lang="en-US" altLang="zh-CN" sz="1050" b="1" i="0" u="none" strike="noStrike">
                          <a:solidFill>
                            <a:schemeClr val="accent2"/>
                          </a:solidFill>
                          <a:effectLst/>
                          <a:latin typeface="Calibri"/>
                          <a:ea typeface="Calibri"/>
                          <a:cs typeface="Calibri"/>
                        </a:rPr>
                        <a:t>Grade: 9/10 (31.5%)</a:t>
                      </a:r>
                    </a:p>
                    <a:p>
                      <a:pPr marL="0" indent="0" algn="l" rtl="0" fontAlgn="t">
                        <a:lnSpc>
                          <a:spcPct val="150000"/>
                        </a:lnSpc>
                        <a:buFont typeface="Wingdings" panose="05000000000000000000" pitchFamily="2" charset="2"/>
                        <a:buNone/>
                      </a:pPr>
                      <a:endParaRPr lang="en-US" sz="10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sz="1050" b="1" i="0" u="none" strike="noStrike">
                          <a:solidFill>
                            <a:schemeClr val="accent2"/>
                          </a:solidFill>
                          <a:effectLst/>
                          <a:latin typeface="Calibri"/>
                          <a:ea typeface="Calibri"/>
                          <a:cs typeface="Calibri"/>
                        </a:rPr>
                        <a:t>81.25%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sz="1050" b="1" i="0" u="none" strike="noStrike" kern="1200">
                          <a:solidFill>
                            <a:srgbClr val="000000"/>
                          </a:solidFill>
                          <a:effectLst/>
                          <a:latin typeface="Calibri"/>
                          <a:ea typeface="Calibri"/>
                          <a:cs typeface="Calibri"/>
                        </a:rPr>
                        <a:t>Y</a:t>
                      </a:r>
                    </a:p>
                    <a:p>
                      <a:pPr algn="ctr" rtl="0" fontAlgn="t"/>
                      <a:r>
                        <a:rPr lang="en-US" altLang="zh-CN" sz="1050" b="1" i="0" u="none" strike="noStrike" kern="1200">
                          <a:solidFill>
                            <a:srgbClr val="000000"/>
                          </a:solidFill>
                          <a:effectLst/>
                          <a:latin typeface="Calibri"/>
                          <a:ea typeface="Calibri"/>
                          <a:cs typeface="Calibri"/>
                        </a:rPr>
                        <a:t>1509-0004</a:t>
                      </a:r>
                      <a:endParaRPr lang="en-US" sz="1050" b="1" i="0" u="none" strike="noStrike" kern="1200">
                        <a:solidFill>
                          <a:srgbClr val="000000"/>
                        </a:solidFill>
                        <a:effectLst/>
                        <a:latin typeface="Calibri"/>
                        <a:ea typeface="Calibri"/>
                        <a:cs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1550813"/>
                  </a:ext>
                </a:extLst>
              </a:tr>
            </a:tbl>
          </a:graphicData>
        </a:graphic>
      </p:graphicFrame>
    </p:spTree>
    <p:extLst>
      <p:ext uri="{BB962C8B-B14F-4D97-AF65-F5344CB8AC3E}">
        <p14:creationId xmlns:p14="http://schemas.microsoft.com/office/powerpoint/2010/main" val="40440343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MARKERSHAPE" val="OTL"/>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OTLMARKERSHAPE" val="OTL"/>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Lst>
</file>

<file path=ppt/tags/tag121.xml><?xml version="1.0" encoding="utf-8"?>
<p:tagLst xmlns:a="http://schemas.openxmlformats.org/drawingml/2006/main" xmlns:r="http://schemas.openxmlformats.org/officeDocument/2006/relationships" xmlns:p="http://schemas.openxmlformats.org/presentationml/2006/main">
  <p:tag name="OTLMARKERSHAPE" val="OTL"/>
</p:tagLst>
</file>

<file path=ppt/tags/tag122.xml><?xml version="1.0" encoding="utf-8"?>
<p:tagLst xmlns:a="http://schemas.openxmlformats.org/drawingml/2006/main" xmlns:r="http://schemas.openxmlformats.org/officeDocument/2006/relationships" xmlns:p="http://schemas.openxmlformats.org/presentationml/2006/main">
  <p:tag name="OTLMARKERSHAPE" val="OTL"/>
</p:tagLst>
</file>

<file path=ppt/tags/tag123.xml><?xml version="1.0" encoding="utf-8"?>
<p:tagLst xmlns:a="http://schemas.openxmlformats.org/drawingml/2006/main" xmlns:r="http://schemas.openxmlformats.org/officeDocument/2006/relationships" xmlns:p="http://schemas.openxmlformats.org/presentationml/2006/main">
  <p:tag name="OTLMARKERSHAPE" val="OTL"/>
</p:tagLst>
</file>

<file path=ppt/tags/tag124.xml><?xml version="1.0" encoding="utf-8"?>
<p:tagLst xmlns:a="http://schemas.openxmlformats.org/drawingml/2006/main" xmlns:r="http://schemas.openxmlformats.org/officeDocument/2006/relationships" xmlns:p="http://schemas.openxmlformats.org/presentationml/2006/main">
  <p:tag name="OTLMARKERSHAPE" val="OTL"/>
</p:tagLst>
</file>

<file path=ppt/tags/tag125.xml><?xml version="1.0" encoding="utf-8"?>
<p:tagLst xmlns:a="http://schemas.openxmlformats.org/drawingml/2006/main" xmlns:r="http://schemas.openxmlformats.org/officeDocument/2006/relationships" xmlns:p="http://schemas.openxmlformats.org/presentationml/2006/main">
  <p:tag name="OTLMARKERSHAPE" val="OTL"/>
</p:tagLst>
</file>

<file path=ppt/tags/tag126.xml><?xml version="1.0" encoding="utf-8"?>
<p:tagLst xmlns:a="http://schemas.openxmlformats.org/drawingml/2006/main" xmlns:r="http://schemas.openxmlformats.org/officeDocument/2006/relationships" xmlns:p="http://schemas.openxmlformats.org/presentationml/2006/main">
  <p:tag name="OTLMARKERSHAPE" val="OTL"/>
</p:tagLst>
</file>

<file path=ppt/tags/tag127.xml><?xml version="1.0" encoding="utf-8"?>
<p:tagLst xmlns:a="http://schemas.openxmlformats.org/drawingml/2006/main" xmlns:r="http://schemas.openxmlformats.org/officeDocument/2006/relationships" xmlns:p="http://schemas.openxmlformats.org/presentationml/2006/main">
  <p:tag name="OTLMARKERSHAPE" val="OTL"/>
</p:tagLst>
</file>

<file path=ppt/tags/tag128.xml><?xml version="1.0" encoding="utf-8"?>
<p:tagLst xmlns:a="http://schemas.openxmlformats.org/drawingml/2006/main" xmlns:r="http://schemas.openxmlformats.org/officeDocument/2006/relationships" xmlns:p="http://schemas.openxmlformats.org/presentationml/2006/main">
  <p:tag name="OTLMARKERSHAPE" val="OTL"/>
</p:tagLst>
</file>

<file path=ppt/tags/tag129.xml><?xml version="1.0" encoding="utf-8"?>
<p:tagLst xmlns:a="http://schemas.openxmlformats.org/drawingml/2006/main" xmlns:r="http://schemas.openxmlformats.org/officeDocument/2006/relationships" xmlns:p="http://schemas.openxmlformats.org/presentationml/2006/main">
  <p:tag name="OTLMARKERSHAPE" val="OTL"/>
</p:tagLst>
</file>

<file path=ppt/tags/tag130.xml><?xml version="1.0" encoding="utf-8"?>
<p:tagLst xmlns:a="http://schemas.openxmlformats.org/drawingml/2006/main" xmlns:r="http://schemas.openxmlformats.org/officeDocument/2006/relationships" xmlns:p="http://schemas.openxmlformats.org/presentationml/2006/main">
  <p:tag name="OTLMARKERSHAPE" val="OTL"/>
</p:tagLst>
</file>

<file path=ppt/tags/tag131.xml><?xml version="1.0" encoding="utf-8"?>
<p:tagLst xmlns:a="http://schemas.openxmlformats.org/drawingml/2006/main" xmlns:r="http://schemas.openxmlformats.org/officeDocument/2006/relationships" xmlns:p="http://schemas.openxmlformats.org/presentationml/2006/main">
  <p:tag name="OTLMARKERSHAPE" val="OTL"/>
</p:tagLst>
</file>

<file path=ppt/tags/tag132.xml><?xml version="1.0" encoding="utf-8"?>
<p:tagLst xmlns:a="http://schemas.openxmlformats.org/drawingml/2006/main" xmlns:r="http://schemas.openxmlformats.org/officeDocument/2006/relationships" xmlns:p="http://schemas.openxmlformats.org/presentationml/2006/main">
  <p:tag name="OTLMARKERSHAPE" val="OTL"/>
</p:tagLst>
</file>

<file path=ppt/tags/tag133.xml><?xml version="1.0" encoding="utf-8"?>
<p:tagLst xmlns:a="http://schemas.openxmlformats.org/drawingml/2006/main" xmlns:r="http://schemas.openxmlformats.org/officeDocument/2006/relationships" xmlns:p="http://schemas.openxmlformats.org/presentationml/2006/main">
  <p:tag name="OTLMARKERSHAPE" val="OTL"/>
</p:tagLst>
</file>

<file path=ppt/tags/tag134.xml><?xml version="1.0" encoding="utf-8"?>
<p:tagLst xmlns:a="http://schemas.openxmlformats.org/drawingml/2006/main" xmlns:r="http://schemas.openxmlformats.org/officeDocument/2006/relationships" xmlns:p="http://schemas.openxmlformats.org/presentationml/2006/main">
  <p:tag name="OTLMARKERSHAPE" val="OTL"/>
</p:tagLst>
</file>

<file path=ppt/tags/tag135.xml><?xml version="1.0" encoding="utf-8"?>
<p:tagLst xmlns:a="http://schemas.openxmlformats.org/drawingml/2006/main" xmlns:r="http://schemas.openxmlformats.org/officeDocument/2006/relationships" xmlns:p="http://schemas.openxmlformats.org/presentationml/2006/main">
  <p:tag name="OTLMARKERSHAPE" val="OTL"/>
</p:tagLst>
</file>

<file path=ppt/tags/tag136.xml><?xml version="1.0" encoding="utf-8"?>
<p:tagLst xmlns:a="http://schemas.openxmlformats.org/drawingml/2006/main" xmlns:r="http://schemas.openxmlformats.org/officeDocument/2006/relationships" xmlns:p="http://schemas.openxmlformats.org/presentationml/2006/main">
  <p:tag name="OTLMARKERSHAPE" val="OTL"/>
</p:tagLst>
</file>

<file path=ppt/tags/tag137.xml><?xml version="1.0" encoding="utf-8"?>
<p:tagLst xmlns:a="http://schemas.openxmlformats.org/drawingml/2006/main" xmlns:r="http://schemas.openxmlformats.org/officeDocument/2006/relationships" xmlns:p="http://schemas.openxmlformats.org/presentationml/2006/main">
  <p:tag name="OTLMARKERSHAPE" val="OTL"/>
</p:tagLst>
</file>

<file path=ppt/tags/tag138.xml><?xml version="1.0" encoding="utf-8"?>
<p:tagLst xmlns:a="http://schemas.openxmlformats.org/drawingml/2006/main" xmlns:r="http://schemas.openxmlformats.org/officeDocument/2006/relationships" xmlns:p="http://schemas.openxmlformats.org/presentationml/2006/main">
  <p:tag name="OTLMARKERSHAPE" val="OTL"/>
</p:tagLst>
</file>

<file path=ppt/tags/tag139.xml><?xml version="1.0" encoding="utf-8"?>
<p:tagLst xmlns:a="http://schemas.openxmlformats.org/drawingml/2006/main" xmlns:r="http://schemas.openxmlformats.org/officeDocument/2006/relationships" xmlns:p="http://schemas.openxmlformats.org/presentationml/2006/main">
  <p:tag name="OTLMARKERSHAPE" val="OTL"/>
</p:tagLst>
</file>

<file path=ppt/tags/tag140.xml><?xml version="1.0" encoding="utf-8"?>
<p:tagLst xmlns:a="http://schemas.openxmlformats.org/drawingml/2006/main" xmlns:r="http://schemas.openxmlformats.org/officeDocument/2006/relationships" xmlns:p="http://schemas.openxmlformats.org/presentationml/2006/main">
  <p:tag name="OTLMARKERSHAPE" val="OTL"/>
</p:tagLst>
</file>

<file path=ppt/tags/tag141.xml><?xml version="1.0" encoding="utf-8"?>
<p:tagLst xmlns:a="http://schemas.openxmlformats.org/drawingml/2006/main" xmlns:r="http://schemas.openxmlformats.org/officeDocument/2006/relationships" xmlns:p="http://schemas.openxmlformats.org/presentationml/2006/main">
  <p:tag name="OTLMARKERSHAPE" val="OTL"/>
</p:tagLst>
</file>

<file path=ppt/tags/tag142.xml><?xml version="1.0" encoding="utf-8"?>
<p:tagLst xmlns:a="http://schemas.openxmlformats.org/drawingml/2006/main" xmlns:r="http://schemas.openxmlformats.org/officeDocument/2006/relationships" xmlns:p="http://schemas.openxmlformats.org/presentationml/2006/main">
  <p:tag name="OTLMARKERSHAPE" val="OTL"/>
</p:tagLst>
</file>

<file path=ppt/tags/tag143.xml><?xml version="1.0" encoding="utf-8"?>
<p:tagLst xmlns:a="http://schemas.openxmlformats.org/drawingml/2006/main" xmlns:r="http://schemas.openxmlformats.org/officeDocument/2006/relationships" xmlns:p="http://schemas.openxmlformats.org/presentationml/2006/main">
  <p:tag name="OTLMARKERSHAPE" val="OTL"/>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OTLMARKERSHAPE" val="OTL"/>
</p:tagLst>
</file>

<file path=ppt/tags/tag148.xml><?xml version="1.0" encoding="utf-8"?>
<p:tagLst xmlns:a="http://schemas.openxmlformats.org/drawingml/2006/main" xmlns:r="http://schemas.openxmlformats.org/officeDocument/2006/relationships" xmlns:p="http://schemas.openxmlformats.org/presentationml/2006/main">
  <p:tag name="OTLMARKERSHAPE" val="OTL"/>
</p:tagLst>
</file>

<file path=ppt/tags/tag149.xml><?xml version="1.0" encoding="utf-8"?>
<p:tagLst xmlns:a="http://schemas.openxmlformats.org/drawingml/2006/main" xmlns:r="http://schemas.openxmlformats.org/officeDocument/2006/relationships" xmlns:p="http://schemas.openxmlformats.org/presentationml/2006/main">
  <p:tag name="OTLMARKERSHAPE" val="OTL"/>
</p:tagLst>
</file>

<file path=ppt/tags/tag150.xml><?xml version="1.0" encoding="utf-8"?>
<p:tagLst xmlns:a="http://schemas.openxmlformats.org/drawingml/2006/main" xmlns:r="http://schemas.openxmlformats.org/officeDocument/2006/relationships" xmlns:p="http://schemas.openxmlformats.org/presentationml/2006/main">
  <p:tag name="OTLMARKERSHAPE" val="OTL"/>
</p:tagLst>
</file>

<file path=ppt/tags/tag151.xml><?xml version="1.0" encoding="utf-8"?>
<p:tagLst xmlns:a="http://schemas.openxmlformats.org/drawingml/2006/main" xmlns:r="http://schemas.openxmlformats.org/officeDocument/2006/relationships" xmlns:p="http://schemas.openxmlformats.org/presentationml/2006/main">
  <p:tag name="OTLMARKERSHAPE" val="OTL"/>
</p:tagLst>
</file>

<file path=ppt/tags/tag152.xml><?xml version="1.0" encoding="utf-8"?>
<p:tagLst xmlns:a="http://schemas.openxmlformats.org/drawingml/2006/main" xmlns:r="http://schemas.openxmlformats.org/officeDocument/2006/relationships" xmlns:p="http://schemas.openxmlformats.org/presentationml/2006/main">
  <p:tag name="OTLMARKERSHAPE" val="OTL"/>
</p:tagLst>
</file>

<file path=ppt/tags/tag153.xml><?xml version="1.0" encoding="utf-8"?>
<p:tagLst xmlns:a="http://schemas.openxmlformats.org/drawingml/2006/main" xmlns:r="http://schemas.openxmlformats.org/officeDocument/2006/relationships" xmlns:p="http://schemas.openxmlformats.org/presentationml/2006/main">
  <p:tag name="OTLMARKERSHAPE" val="OTL"/>
</p:tagLst>
</file>

<file path=ppt/tags/tag154.xml><?xml version="1.0" encoding="utf-8"?>
<p:tagLst xmlns:a="http://schemas.openxmlformats.org/drawingml/2006/main" xmlns:r="http://schemas.openxmlformats.org/officeDocument/2006/relationships" xmlns:p="http://schemas.openxmlformats.org/presentationml/2006/main">
  <p:tag name="OTLMARKERSHAPE" val="OTL"/>
</p:tagLst>
</file>

<file path=ppt/tags/tag155.xml><?xml version="1.0" encoding="utf-8"?>
<p:tagLst xmlns:a="http://schemas.openxmlformats.org/drawingml/2006/main" xmlns:r="http://schemas.openxmlformats.org/officeDocument/2006/relationships" xmlns:p="http://schemas.openxmlformats.org/presentationml/2006/main">
  <p:tag name="OTLMARKERSHAPE" val="OTL"/>
</p:tagLst>
</file>

<file path=ppt/tags/tag156.xml><?xml version="1.0" encoding="utf-8"?>
<p:tagLst xmlns:a="http://schemas.openxmlformats.org/drawingml/2006/main" xmlns:r="http://schemas.openxmlformats.org/officeDocument/2006/relationships" xmlns:p="http://schemas.openxmlformats.org/presentationml/2006/main">
  <p:tag name="OTLMARKERSHAPE" val="OTL"/>
</p:tagLst>
</file>

<file path=ppt/tags/tag157.xml><?xml version="1.0" encoding="utf-8"?>
<p:tagLst xmlns:a="http://schemas.openxmlformats.org/drawingml/2006/main" xmlns:r="http://schemas.openxmlformats.org/officeDocument/2006/relationships" xmlns:p="http://schemas.openxmlformats.org/presentationml/2006/main">
  <p:tag name="OTLMARKERSHAPE" val="OTL"/>
</p:tagLst>
</file>

<file path=ppt/tags/tag158.xml><?xml version="1.0" encoding="utf-8"?>
<p:tagLst xmlns:a="http://schemas.openxmlformats.org/drawingml/2006/main" xmlns:r="http://schemas.openxmlformats.org/officeDocument/2006/relationships" xmlns:p="http://schemas.openxmlformats.org/presentationml/2006/main">
  <p:tag name="OTLMARKERSHAPE" val="OTL"/>
</p:tagLst>
</file>

<file path=ppt/tags/tag159.xml><?xml version="1.0" encoding="utf-8"?>
<p:tagLst xmlns:a="http://schemas.openxmlformats.org/drawingml/2006/main" xmlns:r="http://schemas.openxmlformats.org/officeDocument/2006/relationships" xmlns:p="http://schemas.openxmlformats.org/presentationml/2006/main">
  <p:tag name="OTLMARKERSHAPE" val="OTL"/>
</p:tagLst>
</file>

<file path=ppt/tags/tag160.xml><?xml version="1.0" encoding="utf-8"?>
<p:tagLst xmlns:a="http://schemas.openxmlformats.org/drawingml/2006/main" xmlns:r="http://schemas.openxmlformats.org/officeDocument/2006/relationships" xmlns:p="http://schemas.openxmlformats.org/presentationml/2006/main">
  <p:tag name="OTLMARKERSHAPE" val="OTL"/>
</p:tagLst>
</file>

<file path=ppt/tags/tag161.xml><?xml version="1.0" encoding="utf-8"?>
<p:tagLst xmlns:a="http://schemas.openxmlformats.org/drawingml/2006/main" xmlns:r="http://schemas.openxmlformats.org/officeDocument/2006/relationships" xmlns:p="http://schemas.openxmlformats.org/presentationml/2006/main">
  <p:tag name="OTLMARKERSHAPE" val="OTL"/>
</p:tagLst>
</file>

<file path=ppt/tags/tag162.xml><?xml version="1.0" encoding="utf-8"?>
<p:tagLst xmlns:a="http://schemas.openxmlformats.org/drawingml/2006/main" xmlns:r="http://schemas.openxmlformats.org/officeDocument/2006/relationships" xmlns:p="http://schemas.openxmlformats.org/presentationml/2006/main">
  <p:tag name="OTLMARKERSHAPE" val="OTL"/>
</p:tagLst>
</file>

<file path=ppt/tags/tag163.xml><?xml version="1.0" encoding="utf-8"?>
<p:tagLst xmlns:a="http://schemas.openxmlformats.org/drawingml/2006/main" xmlns:r="http://schemas.openxmlformats.org/officeDocument/2006/relationships" xmlns:p="http://schemas.openxmlformats.org/presentationml/2006/main">
  <p:tag name="OTLMARKERSHAPE" val="OTL"/>
</p:tagLst>
</file>

<file path=ppt/tags/tag164.xml><?xml version="1.0" encoding="utf-8"?>
<p:tagLst xmlns:a="http://schemas.openxmlformats.org/drawingml/2006/main" xmlns:r="http://schemas.openxmlformats.org/officeDocument/2006/relationships" xmlns:p="http://schemas.openxmlformats.org/presentationml/2006/main">
  <p:tag name="OTLMARKERSHAPE" val="OTL"/>
</p:tagLst>
</file>

<file path=ppt/tags/tag165.xml><?xml version="1.0" encoding="utf-8"?>
<p:tagLst xmlns:a="http://schemas.openxmlformats.org/drawingml/2006/main" xmlns:r="http://schemas.openxmlformats.org/officeDocument/2006/relationships" xmlns:p="http://schemas.openxmlformats.org/presentationml/2006/main">
  <p:tag name="OTLMARKERSHAPE" val="OTL"/>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OTLMARKERSHAPE" val="OTL"/>
</p:tagLst>
</file>

<file path=ppt/tags/tag168.xml><?xml version="1.0" encoding="utf-8"?>
<p:tagLst xmlns:a="http://schemas.openxmlformats.org/drawingml/2006/main" xmlns:r="http://schemas.openxmlformats.org/officeDocument/2006/relationships" xmlns:p="http://schemas.openxmlformats.org/presentationml/2006/main">
  <p:tag name="OTLMARKERSHAPE" val="OTL"/>
</p:tagLst>
</file>

<file path=ppt/tags/tag169.xml><?xml version="1.0" encoding="utf-8"?>
<p:tagLst xmlns:a="http://schemas.openxmlformats.org/drawingml/2006/main" xmlns:r="http://schemas.openxmlformats.org/officeDocument/2006/relationships" xmlns:p="http://schemas.openxmlformats.org/presentationml/2006/main">
  <p:tag name="OTLMARKERSHAPE" val="OTL"/>
</p:tagLst>
</file>

<file path=ppt/tags/tag170.xml><?xml version="1.0" encoding="utf-8"?>
<p:tagLst xmlns:a="http://schemas.openxmlformats.org/drawingml/2006/main" xmlns:r="http://schemas.openxmlformats.org/officeDocument/2006/relationships" xmlns:p="http://schemas.openxmlformats.org/presentationml/2006/main">
  <p:tag name="OTLMARKERSHAPE" val="OTL"/>
</p:tagLst>
</file>

<file path=ppt/tags/tag171.xml><?xml version="1.0" encoding="utf-8"?>
<p:tagLst xmlns:a="http://schemas.openxmlformats.org/drawingml/2006/main" xmlns:r="http://schemas.openxmlformats.org/officeDocument/2006/relationships" xmlns:p="http://schemas.openxmlformats.org/presentationml/2006/main">
  <p:tag name="OTLMARKERSHAPE" val="OTL"/>
</p:tagLst>
</file>

<file path=ppt/tags/tag172.xml><?xml version="1.0" encoding="utf-8"?>
<p:tagLst xmlns:a="http://schemas.openxmlformats.org/drawingml/2006/main" xmlns:r="http://schemas.openxmlformats.org/officeDocument/2006/relationships" xmlns:p="http://schemas.openxmlformats.org/presentationml/2006/main">
  <p:tag name="OTLMARKERSHAPE" val="OTL"/>
</p:tagLst>
</file>

<file path=ppt/tags/tag173.xml><?xml version="1.0" encoding="utf-8"?>
<p:tagLst xmlns:a="http://schemas.openxmlformats.org/drawingml/2006/main" xmlns:r="http://schemas.openxmlformats.org/officeDocument/2006/relationships" xmlns:p="http://schemas.openxmlformats.org/presentationml/2006/main">
  <p:tag name="OTLMARKERSHAPE" val="OTL"/>
</p:tagLst>
</file>

<file path=ppt/tags/tag174.xml><?xml version="1.0" encoding="utf-8"?>
<p:tagLst xmlns:a="http://schemas.openxmlformats.org/drawingml/2006/main" xmlns:r="http://schemas.openxmlformats.org/officeDocument/2006/relationships" xmlns:p="http://schemas.openxmlformats.org/presentationml/2006/main">
  <p:tag name="OTLMARKERSHAPE" val="OTL"/>
</p:tagLst>
</file>

<file path=ppt/tags/tag175.xml><?xml version="1.0" encoding="utf-8"?>
<p:tagLst xmlns:a="http://schemas.openxmlformats.org/drawingml/2006/main" xmlns:r="http://schemas.openxmlformats.org/officeDocument/2006/relationships" xmlns:p="http://schemas.openxmlformats.org/presentationml/2006/main">
  <p:tag name="OTLMARKERSHAPE" val="OTL"/>
</p:tagLst>
</file>

<file path=ppt/tags/tag176.xml><?xml version="1.0" encoding="utf-8"?>
<p:tagLst xmlns:a="http://schemas.openxmlformats.org/drawingml/2006/main" xmlns:r="http://schemas.openxmlformats.org/officeDocument/2006/relationships" xmlns:p="http://schemas.openxmlformats.org/presentationml/2006/main">
  <p:tag name="OTLMARKERSHAPE" val="OTL"/>
</p:tagLst>
</file>

<file path=ppt/tags/tag177.xml><?xml version="1.0" encoding="utf-8"?>
<p:tagLst xmlns:a="http://schemas.openxmlformats.org/drawingml/2006/main" xmlns:r="http://schemas.openxmlformats.org/officeDocument/2006/relationships" xmlns:p="http://schemas.openxmlformats.org/presentationml/2006/main">
  <p:tag name="OTLMARKERSHAPE" val="OTL"/>
</p:tagLst>
</file>

<file path=ppt/tags/tag178.xml><?xml version="1.0" encoding="utf-8"?>
<p:tagLst xmlns:a="http://schemas.openxmlformats.org/drawingml/2006/main" xmlns:r="http://schemas.openxmlformats.org/officeDocument/2006/relationships" xmlns:p="http://schemas.openxmlformats.org/presentationml/2006/main">
  <p:tag name="OTLMARKERSHAPE" val="OTL"/>
</p:tagLst>
</file>

<file path=ppt/tags/tag179.xml><?xml version="1.0" encoding="utf-8"?>
<p:tagLst xmlns:a="http://schemas.openxmlformats.org/drawingml/2006/main" xmlns:r="http://schemas.openxmlformats.org/officeDocument/2006/relationships" xmlns:p="http://schemas.openxmlformats.org/presentationml/2006/main">
  <p:tag name="OTLMARKERSHAPE" val="OTL"/>
</p:tagLst>
</file>

<file path=ppt/tags/tag180.xml><?xml version="1.0" encoding="utf-8"?>
<p:tagLst xmlns:a="http://schemas.openxmlformats.org/drawingml/2006/main" xmlns:r="http://schemas.openxmlformats.org/officeDocument/2006/relationships" xmlns:p="http://schemas.openxmlformats.org/presentationml/2006/main">
  <p:tag name="OTLMARKERSHAPE" val="OTL"/>
</p:tagLst>
</file>

<file path=ppt/tags/tag181.xml><?xml version="1.0" encoding="utf-8"?>
<p:tagLst xmlns:a="http://schemas.openxmlformats.org/drawingml/2006/main" xmlns:r="http://schemas.openxmlformats.org/officeDocument/2006/relationships" xmlns:p="http://schemas.openxmlformats.org/presentationml/2006/main">
  <p:tag name="OTLMARKERSHAPE" val="OTL"/>
</p:tagLst>
</file>

<file path=ppt/tags/tag182.xml><?xml version="1.0" encoding="utf-8"?>
<p:tagLst xmlns:a="http://schemas.openxmlformats.org/drawingml/2006/main" xmlns:r="http://schemas.openxmlformats.org/officeDocument/2006/relationships" xmlns:p="http://schemas.openxmlformats.org/presentationml/2006/main">
  <p:tag name="OTLMARKERSHAPE" val="OTL"/>
</p:tagLst>
</file>

<file path=ppt/tags/tag183.xml><?xml version="1.0" encoding="utf-8"?>
<p:tagLst xmlns:a="http://schemas.openxmlformats.org/drawingml/2006/main" xmlns:r="http://schemas.openxmlformats.org/officeDocument/2006/relationships" xmlns:p="http://schemas.openxmlformats.org/presentationml/2006/main">
  <p:tag name="OTLMARKERSHAPE" val="OTL"/>
</p:tagLst>
</file>

<file path=ppt/tags/tag184.xml><?xml version="1.0" encoding="utf-8"?>
<p:tagLst xmlns:a="http://schemas.openxmlformats.org/drawingml/2006/main" xmlns:r="http://schemas.openxmlformats.org/officeDocument/2006/relationships" xmlns:p="http://schemas.openxmlformats.org/presentationml/2006/main">
  <p:tag name="OTLMARKERSHAPE" val="OTL"/>
</p:tagLst>
</file>

<file path=ppt/tags/tag185.xml><?xml version="1.0" encoding="utf-8"?>
<p:tagLst xmlns:a="http://schemas.openxmlformats.org/drawingml/2006/main" xmlns:r="http://schemas.openxmlformats.org/officeDocument/2006/relationships" xmlns:p="http://schemas.openxmlformats.org/presentationml/2006/main">
  <p:tag name="OTLMARKERSHAPE" val="OTL"/>
</p:tagLst>
</file>

<file path=ppt/tags/tag186.xml><?xml version="1.0" encoding="utf-8"?>
<p:tagLst xmlns:a="http://schemas.openxmlformats.org/drawingml/2006/main" xmlns:r="http://schemas.openxmlformats.org/officeDocument/2006/relationships" xmlns:p="http://schemas.openxmlformats.org/presentationml/2006/main">
  <p:tag name="OTLMARKERSHAPE" val="OTL"/>
</p:tagLst>
</file>

<file path=ppt/tags/tag187.xml><?xml version="1.0" encoding="utf-8"?>
<p:tagLst xmlns:a="http://schemas.openxmlformats.org/drawingml/2006/main" xmlns:r="http://schemas.openxmlformats.org/officeDocument/2006/relationships" xmlns:p="http://schemas.openxmlformats.org/presentationml/2006/main">
  <p:tag name="OTLMARKERSHAPE" val="OTL"/>
</p:tagLst>
</file>

<file path=ppt/tags/tag188.xml><?xml version="1.0" encoding="utf-8"?>
<p:tagLst xmlns:a="http://schemas.openxmlformats.org/drawingml/2006/main" xmlns:r="http://schemas.openxmlformats.org/officeDocument/2006/relationships" xmlns:p="http://schemas.openxmlformats.org/presentationml/2006/main">
  <p:tag name="OTLMARKERSHAPE" val="OTL"/>
</p:tagLst>
</file>

<file path=ppt/tags/tag189.xml><?xml version="1.0" encoding="utf-8"?>
<p:tagLst xmlns:a="http://schemas.openxmlformats.org/drawingml/2006/main" xmlns:r="http://schemas.openxmlformats.org/officeDocument/2006/relationships" xmlns:p="http://schemas.openxmlformats.org/presentationml/2006/main">
  <p:tag name="OTLMARKERSHAPE" val="OTL"/>
</p:tagLst>
</file>

<file path=ppt/tags/tag190.xml><?xml version="1.0" encoding="utf-8"?>
<p:tagLst xmlns:a="http://schemas.openxmlformats.org/drawingml/2006/main" xmlns:r="http://schemas.openxmlformats.org/officeDocument/2006/relationships" xmlns:p="http://schemas.openxmlformats.org/presentationml/2006/main">
  <p:tag name="OTLMARKERSHAPE" val="OTL"/>
</p:tagLst>
</file>

<file path=ppt/tags/tag191.xml><?xml version="1.0" encoding="utf-8"?>
<p:tagLst xmlns:a="http://schemas.openxmlformats.org/drawingml/2006/main" xmlns:r="http://schemas.openxmlformats.org/officeDocument/2006/relationships" xmlns:p="http://schemas.openxmlformats.org/presentationml/2006/main">
  <p:tag name="OTLMARKERSHAPE" val="OTL"/>
</p:tagLst>
</file>

<file path=ppt/tags/tag192.xml><?xml version="1.0" encoding="utf-8"?>
<p:tagLst xmlns:a="http://schemas.openxmlformats.org/drawingml/2006/main" xmlns:r="http://schemas.openxmlformats.org/officeDocument/2006/relationships" xmlns:p="http://schemas.openxmlformats.org/presentationml/2006/main">
  <p:tag name="OTLMARKERSHAPE" val="OTL"/>
</p:tagLst>
</file>

<file path=ppt/tags/tag193.xml><?xml version="1.0" encoding="utf-8"?>
<p:tagLst xmlns:a="http://schemas.openxmlformats.org/drawingml/2006/main" xmlns:r="http://schemas.openxmlformats.org/officeDocument/2006/relationships" xmlns:p="http://schemas.openxmlformats.org/presentationml/2006/main">
  <p:tag name="OTLMARKERSHAPE" val="OTL"/>
</p:tagLst>
</file>

<file path=ppt/tags/tag194.xml><?xml version="1.0" encoding="utf-8"?>
<p:tagLst xmlns:a="http://schemas.openxmlformats.org/drawingml/2006/main" xmlns:r="http://schemas.openxmlformats.org/officeDocument/2006/relationships" xmlns:p="http://schemas.openxmlformats.org/presentationml/2006/main">
  <p:tag name="OTLMARKERSHAPE" val="OTL"/>
</p:tagLst>
</file>

<file path=ppt/tags/tag195.xml><?xml version="1.0" encoding="utf-8"?>
<p:tagLst xmlns:a="http://schemas.openxmlformats.org/drawingml/2006/main" xmlns:r="http://schemas.openxmlformats.org/officeDocument/2006/relationships" xmlns:p="http://schemas.openxmlformats.org/presentationml/2006/main">
  <p:tag name="OTLMARKERSHAPE" val="OTL"/>
</p:tagLst>
</file>

<file path=ppt/tags/tag196.xml><?xml version="1.0" encoding="utf-8"?>
<p:tagLst xmlns:a="http://schemas.openxmlformats.org/drawingml/2006/main" xmlns:r="http://schemas.openxmlformats.org/officeDocument/2006/relationships" xmlns:p="http://schemas.openxmlformats.org/presentationml/2006/main">
  <p:tag name="OTLMARKERSHAPE" val="OTL"/>
</p:tagLst>
</file>

<file path=ppt/tags/tag197.xml><?xml version="1.0" encoding="utf-8"?>
<p:tagLst xmlns:a="http://schemas.openxmlformats.org/drawingml/2006/main" xmlns:r="http://schemas.openxmlformats.org/officeDocument/2006/relationships" xmlns:p="http://schemas.openxmlformats.org/presentationml/2006/main">
  <p:tag name="OTLMARKERSHAPE" val="OTL"/>
</p:tagLst>
</file>

<file path=ppt/tags/tag198.xml><?xml version="1.0" encoding="utf-8"?>
<p:tagLst xmlns:a="http://schemas.openxmlformats.org/drawingml/2006/main" xmlns:r="http://schemas.openxmlformats.org/officeDocument/2006/relationships" xmlns:p="http://schemas.openxmlformats.org/presentationml/2006/main">
  <p:tag name="OTLMARKERSHAPE" val="OTL"/>
</p:tagLst>
</file>

<file path=ppt/tags/tag199.xml><?xml version="1.0" encoding="utf-8"?>
<p:tagLst xmlns:a="http://schemas.openxmlformats.org/drawingml/2006/main" xmlns:r="http://schemas.openxmlformats.org/officeDocument/2006/relationships" xmlns:p="http://schemas.openxmlformats.org/presentationml/2006/main">
  <p:tag name="OTLMARKERSHAPE" val="OTL"/>
</p:tagLst>
</file>

<file path=ppt/tags/tag200.xml><?xml version="1.0" encoding="utf-8"?>
<p:tagLst xmlns:a="http://schemas.openxmlformats.org/drawingml/2006/main" xmlns:r="http://schemas.openxmlformats.org/officeDocument/2006/relationships" xmlns:p="http://schemas.openxmlformats.org/presentationml/2006/main">
  <p:tag name="OTLMARKERSHAPE" val="OTL"/>
</p:tagLst>
</file>

<file path=ppt/tags/tag201.xml><?xml version="1.0" encoding="utf-8"?>
<p:tagLst xmlns:a="http://schemas.openxmlformats.org/drawingml/2006/main" xmlns:r="http://schemas.openxmlformats.org/officeDocument/2006/relationships" xmlns:p="http://schemas.openxmlformats.org/presentationml/2006/main">
  <p:tag name="OTLMARKERSHAPE" val="OTL"/>
</p:tagLst>
</file>

<file path=ppt/tags/tag202.xml><?xml version="1.0" encoding="utf-8"?>
<p:tagLst xmlns:a="http://schemas.openxmlformats.org/drawingml/2006/main" xmlns:r="http://schemas.openxmlformats.org/officeDocument/2006/relationships" xmlns:p="http://schemas.openxmlformats.org/presentationml/2006/main">
  <p:tag name="OTLMARKERSHAPE" val="OTL"/>
</p:tagLst>
</file>

<file path=ppt/tags/tag203.xml><?xml version="1.0" encoding="utf-8"?>
<p:tagLst xmlns:a="http://schemas.openxmlformats.org/drawingml/2006/main" xmlns:r="http://schemas.openxmlformats.org/officeDocument/2006/relationships" xmlns:p="http://schemas.openxmlformats.org/presentationml/2006/main">
  <p:tag name="OTLMARKERSHAPE" val="OTL"/>
</p:tagLst>
</file>

<file path=ppt/tags/tag204.xml><?xml version="1.0" encoding="utf-8"?>
<p:tagLst xmlns:a="http://schemas.openxmlformats.org/drawingml/2006/main" xmlns:r="http://schemas.openxmlformats.org/officeDocument/2006/relationships" xmlns:p="http://schemas.openxmlformats.org/presentationml/2006/main">
  <p:tag name="OTLMARKERSHAPE" val="OTL"/>
</p:tagLst>
</file>

<file path=ppt/tags/tag205.xml><?xml version="1.0" encoding="utf-8"?>
<p:tagLst xmlns:a="http://schemas.openxmlformats.org/drawingml/2006/main" xmlns:r="http://schemas.openxmlformats.org/officeDocument/2006/relationships" xmlns:p="http://schemas.openxmlformats.org/presentationml/2006/main">
  <p:tag name="OTLMARKERSHAPE" val="OTL"/>
</p:tagLst>
</file>

<file path=ppt/tags/tag206.xml><?xml version="1.0" encoding="utf-8"?>
<p:tagLst xmlns:a="http://schemas.openxmlformats.org/drawingml/2006/main" xmlns:r="http://schemas.openxmlformats.org/officeDocument/2006/relationships" xmlns:p="http://schemas.openxmlformats.org/presentationml/2006/main">
  <p:tag name="OTLMARKERSHAPE" val="OTL"/>
</p:tagLst>
</file>

<file path=ppt/tags/tag207.xml><?xml version="1.0" encoding="utf-8"?>
<p:tagLst xmlns:a="http://schemas.openxmlformats.org/drawingml/2006/main" xmlns:r="http://schemas.openxmlformats.org/officeDocument/2006/relationships" xmlns:p="http://schemas.openxmlformats.org/presentationml/2006/main">
  <p:tag name="OTLMARKERSHAPE" val="OTL"/>
</p:tagLst>
</file>

<file path=ppt/tags/tag208.xml><?xml version="1.0" encoding="utf-8"?>
<p:tagLst xmlns:a="http://schemas.openxmlformats.org/drawingml/2006/main" xmlns:r="http://schemas.openxmlformats.org/officeDocument/2006/relationships" xmlns:p="http://schemas.openxmlformats.org/presentationml/2006/main">
  <p:tag name="OTLMARKERSHAPE" val="OTL"/>
</p:tagLst>
</file>

<file path=ppt/tags/tag209.xml><?xml version="1.0" encoding="utf-8"?>
<p:tagLst xmlns:a="http://schemas.openxmlformats.org/drawingml/2006/main" xmlns:r="http://schemas.openxmlformats.org/officeDocument/2006/relationships" xmlns:p="http://schemas.openxmlformats.org/presentationml/2006/main">
  <p:tag name="OTLMARKERSHAPE" val="OTL"/>
</p:tagLst>
</file>

<file path=ppt/tags/tag210.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4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3.xml><?xml version="1.0" encoding="utf-8"?>
<a:theme xmlns:a="http://schemas.openxmlformats.org/drawingml/2006/main" name="10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4.xml><?xml version="1.0" encoding="utf-8"?>
<a:theme xmlns:a="http://schemas.openxmlformats.org/drawingml/2006/main" name="9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5.xml><?xml version="1.0" encoding="utf-8"?>
<a:theme xmlns:a="http://schemas.openxmlformats.org/drawingml/2006/main" name="2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6.xml><?xml version="1.0" encoding="utf-8"?>
<a:theme xmlns:a="http://schemas.openxmlformats.org/drawingml/2006/main" name="5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7.xml><?xml version="1.0" encoding="utf-8"?>
<a:theme xmlns:a="http://schemas.openxmlformats.org/drawingml/2006/main" name="1_Boehringer Ingelheim 16:9 - ICP">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Master_1.0.potx  -  Read-Only" id="{A1D929EF-7ABB-41AB-91F0-FFCE0B17B5FE}" vid="{647E50AB-ED93-487D-93B2-6507CFF81AE5}"/>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089264629A9345B70E065414DFB55F" ma:contentTypeVersion="13" ma:contentTypeDescription="Create a new document." ma:contentTypeScope="" ma:versionID="5b3ecd571f2f479d86935419f04ebf61">
  <xsd:schema xmlns:xsd="http://www.w3.org/2001/XMLSchema" xmlns:xs="http://www.w3.org/2001/XMLSchema" xmlns:p="http://schemas.microsoft.com/office/2006/metadata/properties" xmlns:ns2="545a336c-45ba-4242-ba8b-2a24159e5b92" xmlns:ns3="6105e471-a007-4c69-b034-cfd36128fabd" targetNamespace="http://schemas.microsoft.com/office/2006/metadata/properties" ma:root="true" ma:fieldsID="407e22b21c13b20270037f8773d43d34" ns2:_="" ns3:_="">
    <xsd:import namespace="545a336c-45ba-4242-ba8b-2a24159e5b92"/>
    <xsd:import namespace="6105e471-a007-4c69-b034-cfd36128fab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5a336c-45ba-4242-ba8b-2a24159e5b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05e471-a007-4c69-b034-cfd36128fab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2547EA-3B63-4248-A5C4-D3F4ABDBF2E5}">
  <ds:schemaRefs>
    <ds:schemaRef ds:uri="545a336c-45ba-4242-ba8b-2a24159e5b92"/>
    <ds:schemaRef ds:uri="6105e471-a007-4c69-b034-cfd36128fa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D0452D6-F2D9-4FC2-9863-71052AA7BDFA}">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0E89AE9-096C-4008-8F14-FF16F0553995}">
  <ds:schemaRefs>
    <ds:schemaRef ds:uri="http://schemas.microsoft.com/sharepoint/v3/contenttype/forms"/>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65</Slides>
  <Notes>22</Notes>
  <HiddenSlides>26</HiddenSlides>
  <ScaleCrop>false</ScaleCrop>
  <HeadingPairs>
    <vt:vector size="4" baseType="variant">
      <vt:variant>
        <vt:lpstr>Theme</vt:lpstr>
      </vt:variant>
      <vt:variant>
        <vt:i4>7</vt:i4>
      </vt:variant>
      <vt:variant>
        <vt:lpstr>Slide Titles</vt:lpstr>
      </vt:variant>
      <vt:variant>
        <vt:i4>65</vt:i4>
      </vt:variant>
    </vt:vector>
  </HeadingPairs>
  <TitlesOfParts>
    <vt:vector size="72" baseType="lpstr">
      <vt:lpstr>1_Boehringer Ingelheim 16:9</vt:lpstr>
      <vt:lpstr>4_Boehringer Ingelheim 16:9</vt:lpstr>
      <vt:lpstr>10_Boehringer Ingelheim 16:9</vt:lpstr>
      <vt:lpstr>9_Boehringer Ingelheim 16:9</vt:lpstr>
      <vt:lpstr>2_Boehringer Ingelheim 16:9</vt:lpstr>
      <vt:lpstr>5_Boehringer Ingelheim 16:9</vt:lpstr>
      <vt:lpstr>1_Boehringer Ingelheim 16:9 - ICP</vt:lpstr>
      <vt:lpstr>Portfolio Executive Committee (PEC) Review Meeting  TA INFL</vt:lpstr>
      <vt:lpstr>Part I: Follow-up Actions from the Previous PEC</vt:lpstr>
      <vt:lpstr>Follow up actions from previous PEC (Nov. 2025)</vt:lpstr>
      <vt:lpstr>Part II: Pipeline Update</vt:lpstr>
      <vt:lpstr>TA INFL Portfolio Summary - Pipeline Projects</vt:lpstr>
      <vt:lpstr>TA INFL  Portfolio Summary - PMS Studies</vt:lpstr>
      <vt:lpstr>Update Nerandomilast</vt:lpstr>
      <vt:lpstr>Overview: China Development Plan - Nerandomilast</vt:lpstr>
      <vt:lpstr>Nerandomilast (PDE4b inhibitor): Idiopathic Pulmonary Fibrosis(IPF) and Progressive Pulmonary Fibrosis (PPF) Development Plan</vt:lpstr>
      <vt:lpstr>Nerandomilast NDA Update</vt:lpstr>
      <vt:lpstr>CN PPF PI Summary</vt:lpstr>
      <vt:lpstr>PowerPoint Presentation</vt:lpstr>
      <vt:lpstr>China Level Report: recruitment</vt:lpstr>
      <vt:lpstr>Global Level Report: recruitment</vt:lpstr>
      <vt:lpstr>PowerPoint Presentation</vt:lpstr>
      <vt:lpstr>PowerPoint Presentation</vt:lpstr>
      <vt:lpstr>Endorsed: Nerandomilast (PDE4b inhibitor): Systemic Sclerosis (SSc) Development Plan</vt:lpstr>
      <vt:lpstr>Under evaluation: Nerandomilast (PDE4b inhibitor): Idiopathic Inflammatory Myopathies (IIM) Development Plan</vt:lpstr>
      <vt:lpstr>Update Verducatib</vt:lpstr>
      <vt:lpstr>BI 1291583/verducatib (CatC/DPP-1 inhibitor): Bronchiectasis</vt:lpstr>
      <vt:lpstr>NDA Submission Strategy Snapshot</vt:lpstr>
      <vt:lpstr>BI 1291583/verducatib (CatC/DPP-1 inhibitor): Bronchiectasis</vt:lpstr>
      <vt:lpstr>Verducatib – Approval timeline in focus countries (adults + adols) (not finalized for socialization)</vt:lpstr>
      <vt:lpstr>PowerPoint Presentation</vt:lpstr>
      <vt:lpstr>PowerPoint Presentation</vt:lpstr>
      <vt:lpstr>PowerPoint Presentation</vt:lpstr>
      <vt:lpstr>PowerPoint Presentation</vt:lpstr>
      <vt:lpstr>Recruitment Status – by 12 Dec 2025</vt:lpstr>
      <vt:lpstr>Next step actions – trial acceleration</vt:lpstr>
      <vt:lpstr>Next step actions</vt:lpstr>
      <vt:lpstr>New Timeline Projection Breakdown</vt:lpstr>
      <vt:lpstr>Potential Impact of Trial Timeline Acceleration (by &gt;14 months) on China Activities</vt:lpstr>
      <vt:lpstr>Overview: Future Development Activities in China - verducatib</vt:lpstr>
      <vt:lpstr>Update Spesolimab</vt:lpstr>
      <vt:lpstr>Overview: China Development Plan - Spesolimab</vt:lpstr>
      <vt:lpstr>PowerPoint Presentation</vt:lpstr>
      <vt:lpstr>Spesolimab (Anti-IL36R): Pyoderma Gangrenosum (PG) </vt:lpstr>
      <vt:lpstr>Spesolimab (Anti-IL36R): Pyoderma Gangrenosum (PG) </vt:lpstr>
      <vt:lpstr>Global Recruitment Curve</vt:lpstr>
      <vt:lpstr>China Recruitment Curve</vt:lpstr>
      <vt:lpstr>Challenges and actions for PG Ph III study enrollment </vt:lpstr>
      <vt:lpstr>Update Early Pipeline</vt:lpstr>
      <vt:lpstr>Overview: China Development Plan – early assets</vt:lpstr>
      <vt:lpstr>Back-up</vt:lpstr>
      <vt:lpstr>SPEVIGO® (Spesolimab): - License out</vt:lpstr>
      <vt:lpstr>PowerPoint Presentation</vt:lpstr>
      <vt:lpstr>PowerPoint Presentation</vt:lpstr>
      <vt:lpstr>PowerPoint Presentation</vt:lpstr>
      <vt:lpstr>PowerPoint Presentation</vt:lpstr>
      <vt:lpstr>China is the current Top 1 recruiter  (cut-off date: Sep 15, 2025)</vt:lpstr>
      <vt:lpstr>1397-0014 Amendment for the inclusion of adolescents LCI</vt:lpstr>
      <vt:lpstr>1397-0018 trial (OLE) design (tbd Airtivity-on) Long term safety and efficacy of BI 1291583 in patients with bronchiectasis </vt:lpstr>
      <vt:lpstr>Key assessments AIRTIVITY  vs OLE trial comparison</vt:lpstr>
      <vt:lpstr>Competitive landscape in NCFBE/ ‘One’ BE  it’s all about differentiation</vt:lpstr>
      <vt:lpstr>In-Class Competitor landscape in NCFBE/ ‘One’ BE</vt:lpstr>
      <vt:lpstr>Competitor landscape beyond DPP1 inhibitors in NCFBE/ ‘One’ BE</vt:lpstr>
      <vt:lpstr>PowerPoint Presentation</vt:lpstr>
      <vt:lpstr>Local strategy to move forward… (draft)</vt:lpstr>
      <vt:lpstr>Ongoing: BI 1819479 (Autotaxin inhi): IPF/ PPF </vt:lpstr>
      <vt:lpstr>BI 1819479 (Autotaxin inhi): IPF (1462-0004) Trial Milestones and Performance Overview_12Aug2025</vt:lpstr>
      <vt:lpstr>Terminated: BI 1839100 (TRPA-1 antagonist): IPF/ PPF Cough</vt:lpstr>
      <vt:lpstr> Avenciguat (sGC Activator): Systemic Sclerosis (SSc)： Ph2 </vt:lpstr>
      <vt:lpstr>BI 3000202 (cGAS inhi) in SLE (1509-0004, ph2) Timeline / Current status_10Nov2025</vt:lpstr>
      <vt:lpstr>Interaction to align with CDE on China participating in the Global Phase II trial of BI 3000202 in SLE – submitted on 27 May 2025</vt:lpstr>
      <vt:lpstr>Leading PI  endorsed by ad hoc PEC (9th Oct)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Zhu,Julia (HP Medicine) BII-CN-S</dc:creator>
  <cp:revision>1</cp:revision>
  <dcterms:created xsi:type="dcterms:W3CDTF">2023-11-09T09:11:57Z</dcterms:created>
  <dcterms:modified xsi:type="dcterms:W3CDTF">2025-12-16T08:31:20Z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0x01010040089264629A9345B70E065414DFB55F</vt:lpwstr>
  </property>
  <property fmtid="{D5CDD505-2E9C-101B-9397-08002B2CF9AE}" pid="3" name="MediaServiceImageTags">
    <vt:lpwstr/>
  </property>
</Properties>
</file>