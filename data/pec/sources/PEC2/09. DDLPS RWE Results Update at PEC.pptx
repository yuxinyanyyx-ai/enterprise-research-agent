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sldIdLst>
    <p:sldId id="2147476061" r:id="rId5"/>
    <p:sldId id="2147476077" r:id="rId6"/>
    <p:sldId id="2147476078" r:id="rId7"/>
    <p:sldId id="2147476079" r:id="rId8"/>
    <p:sldId id="2147476071" r:id="rId9"/>
    <p:sldId id="2147476068" r:id="rId10"/>
    <p:sldId id="2147476054"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Dr.,Qiang (MED MA) BII-CN-B" initials="L(MBCB" lastIdx="6" clrIdx="0">
    <p:extLst>
      <p:ext uri="{19B8F6BF-5375-455C-9EA6-DF929625EA0E}">
        <p15:presenceInfo xmlns:p15="http://schemas.microsoft.com/office/powerpoint/2012/main" userId="S::qiang_2.li@boehringer-ingelheim.com::051ef0c9-db2b-4cf4-b303-f22050f532c7" providerId="AD"/>
      </p:ext>
    </p:extLst>
  </p:cmAuthor>
  <p:cmAuthor id="2" name="Fu,Dr.,Sherry (MED MA) BII-CN-S" initials="FB" lastIdx="1" clrIdx="1">
    <p:extLst>
      <p:ext uri="{19B8F6BF-5375-455C-9EA6-DF929625EA0E}">
        <p15:presenceInfo xmlns:p15="http://schemas.microsoft.com/office/powerpoint/2012/main" userId="S::sherry.fu@boehringer-ingelheim.com::7119f889-5e1a-42a3-bff4-e861cd4c12df" providerId="AD"/>
      </p:ext>
    </p:extLst>
  </p:cmAuthor>
  <p:cmAuthor id="3" name="Fu,Dr.,Sherry (MED MA) BII-CN-S" initials="SherryF" lastIdx="1" clrIdx="2">
    <p:extLst>
      <p:ext uri="{19B8F6BF-5375-455C-9EA6-DF929625EA0E}">
        <p15:presenceInfo xmlns:p15="http://schemas.microsoft.com/office/powerpoint/2012/main" userId="Fu,Dr.,Sherry (MED MA) BII-CN-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44" d="100"/>
          <a:sy n="144" d="100"/>
        </p:scale>
        <p:origin x="148" y="5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4-04-24T15:40:56.485" idx="1">
    <p:pos x="165" y="133"/>
    <p:text>Backup slide</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FD7AAC-BD0E-4D61-8B53-3D9F61489407}" type="datetimeFigureOut">
              <a:rPr lang="zh-CN" altLang="en-US" smtClean="0"/>
              <a:t>2024/4/24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60EB89-4402-40D0-B73A-6578C04090EB}" type="slidenum">
              <a:rPr lang="zh-CN" altLang="en-US" smtClean="0"/>
              <a:t>‹#›</a:t>
            </a:fld>
            <a:endParaRPr lang="zh-CN" altLang="en-US"/>
          </a:p>
        </p:txBody>
      </p:sp>
    </p:spTree>
    <p:extLst>
      <p:ext uri="{BB962C8B-B14F-4D97-AF65-F5344CB8AC3E}">
        <p14:creationId xmlns:p14="http://schemas.microsoft.com/office/powerpoint/2010/main" val="2972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Calibri" panose="020F0502020204030204"/>
                <a:ea typeface="+mn-ea"/>
                <a:cs typeface="+mn-cs"/>
              </a:rPr>
              <a:t>Presentation title    |    ONLY FOR INTERNAL USE</a:t>
            </a:r>
            <a:endParaRPr kumimoji="0" lang="en-US" sz="800" b="0" i="0" u="none" strike="noStrike" kern="1200" cap="none" spc="0" normalizeH="0" baseline="0" noProof="0" dirty="0">
              <a:ln>
                <a:noFill/>
              </a:ln>
              <a:solidFill>
                <a:srgbClr val="E7E6E6"/>
              </a:solidFill>
              <a:effectLst/>
              <a:uLnTx/>
              <a:uFillTx/>
              <a:latin typeface="Calibri" panose="020F0502020204030204"/>
              <a:ea typeface="+mn-ea"/>
              <a:cs typeface="+mn-cs"/>
            </a:endParaRP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srgbClr val="E7E6E6"/>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2877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pPr marL="228600" indent="-228600">
              <a:buAutoNum type="arabicPeriod"/>
            </a:pPr>
            <a:r>
              <a:rPr lang="zh-CN" altLang="en-US" dirty="0"/>
              <a:t>中美结果 一致， </a:t>
            </a:r>
            <a:endParaRPr lang="en-US" altLang="zh-CN" dirty="0"/>
          </a:p>
          <a:p>
            <a:pPr marL="228600" indent="-228600">
              <a:buAutoNum type="arabicPeriod"/>
            </a:pPr>
            <a:r>
              <a:rPr lang="en-US" altLang="zh-CN" dirty="0"/>
              <a:t>Risk </a:t>
            </a:r>
            <a:r>
              <a:rPr lang="zh-CN" altLang="en-US" dirty="0"/>
              <a:t>比较低</a:t>
            </a:r>
            <a:endParaRPr lang="en-US" altLang="zh-CN" dirty="0"/>
          </a:p>
          <a:p>
            <a:endParaRPr lang="de-DE" dirty="0"/>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520683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5256103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0.png"/><Relationship Id="rId5" Type="http://schemas.openxmlformats.org/officeDocument/2006/relationships/image" Target="../media/image19.emf"/><Relationship Id="rId4" Type="http://schemas.openxmlformats.org/officeDocument/2006/relationships/oleObject" Target="../embeddings/oleObject1.bin"/></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19.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35959868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87675328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fr-FR"/>
              <a:t>Cliquez pour modifier les styles du texte du masque</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fr-FR"/>
              <a:t>Cliquez pour modifier les styles du texte du masque</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7810872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fr-FR"/>
              <a:t>Cliquez pour modifier les styles du texte du masque</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fr-FR"/>
              <a:t>Cliquez pour modifier les styles du texte du masque</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542065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fr-FR"/>
              <a:t>Cliquez pour modifier les styles du texte du masque</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9450698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53415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87841780"/>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ONLY FOR INTERNAL USE</a:t>
            </a:r>
          </a:p>
        </p:txBody>
      </p:sp>
    </p:spTree>
    <p:extLst>
      <p:ext uri="{BB962C8B-B14F-4D97-AF65-F5344CB8AC3E}">
        <p14:creationId xmlns:p14="http://schemas.microsoft.com/office/powerpoint/2010/main" val="881191111"/>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ONLY FOR INTERNAL USE</a:t>
            </a:r>
          </a:p>
        </p:txBody>
      </p:sp>
    </p:spTree>
    <p:extLst>
      <p:ext uri="{BB962C8B-B14F-4D97-AF65-F5344CB8AC3E}">
        <p14:creationId xmlns:p14="http://schemas.microsoft.com/office/powerpoint/2010/main" val="211527638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62828973"/>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821020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221426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83166392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23378048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02956611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41024843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ONLY FOR INTERNAL USE</a:t>
            </a:r>
          </a:p>
        </p:txBody>
      </p:sp>
    </p:spTree>
    <p:extLst>
      <p:ext uri="{BB962C8B-B14F-4D97-AF65-F5344CB8AC3E}">
        <p14:creationId xmlns:p14="http://schemas.microsoft.com/office/powerpoint/2010/main" val="168814088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ONLY FOR INTERNAL USE</a:t>
            </a:r>
          </a:p>
        </p:txBody>
      </p:sp>
    </p:spTree>
    <p:extLst>
      <p:ext uri="{BB962C8B-B14F-4D97-AF65-F5344CB8AC3E}">
        <p14:creationId xmlns:p14="http://schemas.microsoft.com/office/powerpoint/2010/main" val="363138965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6960371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250425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5829856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fr-FR"/>
              <a:t>Cliquez pour modifier les styles du texte du masque</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1613372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0922974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6931784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fr-FR"/>
              <a:t>Cliquez pour modifier les styles du texte du masque</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572877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fr-FR"/>
              <a:t>Cliquez pour modifier les styles du texte du masque</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88152342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fr-FR"/>
              <a:t>Cliquez pour modifier les styles du texte du masque</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71655276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fr-FR"/>
              <a:t>Cliquez pour modifier les styles du texte du masque</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54040118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fr-FR"/>
              <a:t>Cliquez pour modifier les styles du texte du masque</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77823908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9335019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9053814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4850121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2024</a:t>
            </a:fld>
            <a:r>
              <a:rPr lang="en-US" sz="900"/>
              <a:t> Boehringer Ingelheim International GmbH. All rights reserved.</a:t>
            </a:r>
          </a:p>
        </p:txBody>
      </p:sp>
    </p:spTree>
    <p:extLst>
      <p:ext uri="{BB962C8B-B14F-4D97-AF65-F5344CB8AC3E}">
        <p14:creationId xmlns:p14="http://schemas.microsoft.com/office/powerpoint/2010/main" val="715896773"/>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F3D8623-E0FA-4D60-8B83-3300411C31E2}"/>
              </a:ext>
            </a:extLst>
          </p:cNvPr>
          <p:cNvSpPr/>
          <p:nvPr userDrawn="1"/>
        </p:nvSpPr>
        <p:spPr>
          <a:xfrm>
            <a:off x="0" y="960312"/>
            <a:ext cx="12192000" cy="24384"/>
          </a:xfrm>
          <a:prstGeom prst="rect">
            <a:avLst/>
          </a:prstGeom>
          <a:gradFill flip="none" rotWithShape="1">
            <a:gsLst>
              <a:gs pos="0">
                <a:srgbClr val="ED2124"/>
              </a:gs>
              <a:gs pos="75000">
                <a:srgbClr val="FECD05"/>
              </a:gs>
              <a:gs pos="50000">
                <a:srgbClr val="F8981D"/>
              </a:gs>
              <a:gs pos="25000">
                <a:srgbClr val="0066CB"/>
              </a:gs>
              <a:gs pos="100000">
                <a:srgbClr val="049948"/>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algn="l"/>
            <a:endParaRPr lang="en-GB" sz="1400" err="1">
              <a:solidFill>
                <a:schemeClr val="bg1"/>
              </a:solidFill>
              <a:latin typeface="BISans" panose="02000503040000020004" pitchFamily="2" charset="0"/>
            </a:endParaRPr>
          </a:p>
        </p:txBody>
      </p:sp>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0" y="0"/>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err="1">
              <a:solidFill>
                <a:schemeClr val="bg1"/>
              </a:solidFill>
              <a:latin typeface="BISansOptiCond" panose="02000506040000020004" pitchFamily="2" charset="0"/>
              <a:ea typeface="+mj-ea"/>
              <a:sym typeface="BISansOptiCond" panose="02000506040000020004" pitchFamily="2" charset="0"/>
            </a:endParaRPr>
          </a:p>
        </p:txBody>
      </p:sp>
      <p:sp>
        <p:nvSpPr>
          <p:cNvPr id="8" name="Titel 7"/>
          <p:cNvSpPr>
            <a:spLocks noGrp="1"/>
          </p:cNvSpPr>
          <p:nvPr>
            <p:ph type="title" hasCustomPrompt="1"/>
          </p:nvPr>
        </p:nvSpPr>
        <p:spPr>
          <a:xfrm>
            <a:off x="519579" y="562552"/>
            <a:ext cx="9718189" cy="313932"/>
          </a:xfrm>
        </p:spPr>
        <p:txBody>
          <a:bodyPr anchor="b"/>
          <a:lstStyle>
            <a:lvl1pPr>
              <a:defRPr sz="2400">
                <a:latin typeface="+mj-lt"/>
              </a:defRPr>
            </a:lvl1pPr>
          </a:lstStyle>
          <a:p>
            <a:r>
              <a:rPr lang="en-GB" noProof="0"/>
              <a:t>Click to add headline</a:t>
            </a:r>
          </a:p>
        </p:txBody>
      </p:sp>
      <p:sp>
        <p:nvSpPr>
          <p:cNvPr id="10" name="Datumsplatzhalter 3">
            <a:extLst>
              <a:ext uri="{FF2B5EF4-FFF2-40B4-BE49-F238E27FC236}">
                <a16:creationId xmlns:a16="http://schemas.microsoft.com/office/drawing/2014/main" id="{F03D2F70-28FD-4FC0-B747-D49FE9BA467B}"/>
              </a:ext>
            </a:extLst>
          </p:cNvPr>
          <p:cNvSpPr>
            <a:spLocks noGrp="1"/>
          </p:cNvSpPr>
          <p:nvPr>
            <p:ph type="dt" sz="half" idx="2"/>
          </p:nvPr>
        </p:nvSpPr>
        <p:spPr>
          <a:xfrm>
            <a:off x="10938752" y="6521895"/>
            <a:ext cx="64"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endParaRPr lang="en-GB"/>
          </a:p>
        </p:txBody>
      </p:sp>
      <p:sp>
        <p:nvSpPr>
          <p:cNvPr id="11" name="Fußzeilenplatzhalter 4">
            <a:extLst>
              <a:ext uri="{FF2B5EF4-FFF2-40B4-BE49-F238E27FC236}">
                <a16:creationId xmlns:a16="http://schemas.microsoft.com/office/drawing/2014/main" id="{E70F3104-307E-48FC-9255-B8A9C5285874}"/>
              </a:ext>
            </a:extLst>
          </p:cNvPr>
          <p:cNvSpPr>
            <a:spLocks noGrp="1"/>
          </p:cNvSpPr>
          <p:nvPr>
            <p:ph type="ftr" sz="quarter" idx="3"/>
          </p:nvPr>
        </p:nvSpPr>
        <p:spPr>
          <a:xfrm>
            <a:off x="2313139" y="6521927"/>
            <a:ext cx="7674921" cy="164148"/>
          </a:xfrm>
          <a:prstGeom prst="rect">
            <a:avLst/>
          </a:prstGeom>
        </p:spPr>
        <p:txBody>
          <a:bodyPr vert="horz" wrap="square" lIns="0" tIns="0" rIns="0" bIns="0" rtlCol="0" anchor="ctr">
            <a:spAutoFit/>
          </a:bodyPr>
          <a:lstStyle>
            <a:lvl1pPr algn="l">
              <a:defRPr sz="1067" b="0" i="0">
                <a:solidFill>
                  <a:srgbClr val="7F7F7F"/>
                </a:solidFill>
                <a:latin typeface="BISans" panose="02000503040000020004" pitchFamily="2" charset="0"/>
                <a:cs typeface="BISans" panose="02000503040000020004" pitchFamily="2" charset="0"/>
              </a:defRPr>
            </a:lvl1pPr>
          </a:lstStyle>
          <a:p>
            <a:r>
              <a:rPr lang="en-GB"/>
              <a:t>ONLY FOR INTERNAL USE</a:t>
            </a:r>
          </a:p>
        </p:txBody>
      </p:sp>
      <p:pic>
        <p:nvPicPr>
          <p:cNvPr id="12" name="Grafik 6">
            <a:extLst>
              <a:ext uri="{FF2B5EF4-FFF2-40B4-BE49-F238E27FC236}">
                <a16:creationId xmlns:a16="http://schemas.microsoft.com/office/drawing/2014/main" id="{277261C7-01F2-4219-93B9-E624CB81F08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19579" y="6476994"/>
            <a:ext cx="840360" cy="254013"/>
          </a:xfrm>
          <a:prstGeom prst="rect">
            <a:avLst/>
          </a:prstGeom>
        </p:spPr>
      </p:pic>
      <p:grpSp>
        <p:nvGrpSpPr>
          <p:cNvPr id="23" name="Group 22">
            <a:extLst>
              <a:ext uri="{FF2B5EF4-FFF2-40B4-BE49-F238E27FC236}">
                <a16:creationId xmlns:a16="http://schemas.microsoft.com/office/drawing/2014/main" id="{D3DDCCDF-7AD3-4496-A635-83758D119F03}"/>
              </a:ext>
            </a:extLst>
          </p:cNvPr>
          <p:cNvGrpSpPr/>
          <p:nvPr userDrawn="1"/>
        </p:nvGrpSpPr>
        <p:grpSpPr>
          <a:xfrm>
            <a:off x="46991" y="44216"/>
            <a:ext cx="590549" cy="590549"/>
            <a:chOff x="35243" y="33162"/>
            <a:chExt cx="442912" cy="442912"/>
          </a:xfrm>
        </p:grpSpPr>
        <p:sp>
          <p:nvSpPr>
            <p:cNvPr id="24" name="Right Triangle 23">
              <a:extLst>
                <a:ext uri="{FF2B5EF4-FFF2-40B4-BE49-F238E27FC236}">
                  <a16:creationId xmlns:a16="http://schemas.microsoft.com/office/drawing/2014/main" id="{84CE4DDD-5698-45FD-9A2F-038F765BF558}"/>
                </a:ext>
              </a:extLst>
            </p:cNvPr>
            <p:cNvSpPr/>
            <p:nvPr/>
          </p:nvSpPr>
          <p:spPr>
            <a:xfrm rot="5400000">
              <a:off x="35243" y="33162"/>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26" name="Freeform: Shape 25">
              <a:extLst>
                <a:ext uri="{FF2B5EF4-FFF2-40B4-BE49-F238E27FC236}">
                  <a16:creationId xmlns:a16="http://schemas.microsoft.com/office/drawing/2014/main" id="{DFBE9029-1E66-41A2-94DC-AB31DEFED154}"/>
                </a:ext>
              </a:extLst>
            </p:cNvPr>
            <p:cNvSpPr/>
            <p:nvPr/>
          </p:nvSpPr>
          <p:spPr>
            <a:xfrm rot="5400000">
              <a:off x="83377" y="83679"/>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grpSp>
        <p:nvGrpSpPr>
          <p:cNvPr id="29" name="Group 28">
            <a:extLst>
              <a:ext uri="{FF2B5EF4-FFF2-40B4-BE49-F238E27FC236}">
                <a16:creationId xmlns:a16="http://schemas.microsoft.com/office/drawing/2014/main" id="{F9DA81A2-5DDF-419B-8B5D-6A481474D423}"/>
              </a:ext>
            </a:extLst>
          </p:cNvPr>
          <p:cNvGrpSpPr/>
          <p:nvPr userDrawn="1"/>
        </p:nvGrpSpPr>
        <p:grpSpPr>
          <a:xfrm>
            <a:off x="11560866" y="6225528"/>
            <a:ext cx="590549" cy="590549"/>
            <a:chOff x="8670649" y="4669146"/>
            <a:chExt cx="442912" cy="442912"/>
          </a:xfrm>
        </p:grpSpPr>
        <p:sp>
          <p:nvSpPr>
            <p:cNvPr id="30" name="Right Triangle 29">
              <a:extLst>
                <a:ext uri="{FF2B5EF4-FFF2-40B4-BE49-F238E27FC236}">
                  <a16:creationId xmlns:a16="http://schemas.microsoft.com/office/drawing/2014/main" id="{07C00581-8DCF-47A2-86B0-56094C876094}"/>
                </a:ext>
              </a:extLst>
            </p:cNvPr>
            <p:cNvSpPr/>
            <p:nvPr/>
          </p:nvSpPr>
          <p:spPr>
            <a:xfrm rot="10800000" flipV="1">
              <a:off x="8670649" y="4669146"/>
              <a:ext cx="442912" cy="442912"/>
            </a:xfrm>
            <a:prstGeom prst="r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a:endParaRPr lang="en-GB" sz="1400" err="1">
                <a:solidFill>
                  <a:schemeClr val="bg1"/>
                </a:solidFill>
                <a:latin typeface="BISans" panose="02000503040000020004" pitchFamily="2" charset="0"/>
              </a:endParaRPr>
            </a:p>
          </p:txBody>
        </p:sp>
        <p:sp>
          <p:nvSpPr>
            <p:cNvPr id="31" name="Freeform: Shape 30">
              <a:extLst>
                <a:ext uri="{FF2B5EF4-FFF2-40B4-BE49-F238E27FC236}">
                  <a16:creationId xmlns:a16="http://schemas.microsoft.com/office/drawing/2014/main" id="{3E2405E9-0ADF-4C56-8CA7-31B67AA6FC38}"/>
                </a:ext>
              </a:extLst>
            </p:cNvPr>
            <p:cNvSpPr/>
            <p:nvPr/>
          </p:nvSpPr>
          <p:spPr>
            <a:xfrm rot="5400000" flipH="1" flipV="1">
              <a:off x="8990036" y="4988535"/>
              <a:ext cx="76168" cy="76166"/>
            </a:xfrm>
            <a:custGeom>
              <a:avLst/>
              <a:gdLst>
                <a:gd name="connsiteX0" fmla="*/ 0 w 914400"/>
                <a:gd name="connsiteY0" fmla="*/ 0 h 914400"/>
                <a:gd name="connsiteX1" fmla="*/ 457200 w 914400"/>
                <a:gd name="connsiteY1" fmla="*/ 0 h 914400"/>
                <a:gd name="connsiteX2" fmla="*/ 457200 w 914400"/>
                <a:gd name="connsiteY2" fmla="*/ 457200 h 914400"/>
                <a:gd name="connsiteX3" fmla="*/ 914400 w 914400"/>
                <a:gd name="connsiteY3" fmla="*/ 457200 h 914400"/>
                <a:gd name="connsiteX4" fmla="*/ 914400 w 914400"/>
                <a:gd name="connsiteY4" fmla="*/ 914400 h 914400"/>
                <a:gd name="connsiteX5" fmla="*/ 0 w 914400"/>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914400">
                  <a:moveTo>
                    <a:pt x="0" y="0"/>
                  </a:moveTo>
                  <a:lnTo>
                    <a:pt x="457200" y="0"/>
                  </a:lnTo>
                  <a:lnTo>
                    <a:pt x="457200" y="457200"/>
                  </a:lnTo>
                  <a:lnTo>
                    <a:pt x="914400" y="457200"/>
                  </a:lnTo>
                  <a:lnTo>
                    <a:pt x="914400" y="914400"/>
                  </a:lnTo>
                  <a:lnTo>
                    <a:pt x="0" y="91440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l"/>
              <a:endParaRPr lang="en-GB" sz="1400" err="1">
                <a:solidFill>
                  <a:schemeClr val="bg1"/>
                </a:solidFill>
                <a:latin typeface="BISans" panose="02000503040000020004" pitchFamily="2" charset="0"/>
              </a:endParaRPr>
            </a:p>
          </p:txBody>
        </p:sp>
      </p:gr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41029" y="6524503"/>
            <a:ext cx="184346"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pic>
        <p:nvPicPr>
          <p:cNvPr id="4" name="Picture 3">
            <a:extLst>
              <a:ext uri="{FF2B5EF4-FFF2-40B4-BE49-F238E27FC236}">
                <a16:creationId xmlns:a16="http://schemas.microsoft.com/office/drawing/2014/main" id="{66734F46-75CD-E282-7B8F-FA0D3C0A07B9}"/>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10475303" y="102233"/>
            <a:ext cx="1334801" cy="757560"/>
          </a:xfrm>
          <a:prstGeom prst="rect">
            <a:avLst/>
          </a:prstGeom>
        </p:spPr>
      </p:pic>
    </p:spTree>
    <p:extLst>
      <p:ext uri="{BB962C8B-B14F-4D97-AF65-F5344CB8AC3E}">
        <p14:creationId xmlns:p14="http://schemas.microsoft.com/office/powerpoint/2010/main" val="2567089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11224719" y="6264143"/>
            <a:ext cx="520908" cy="365125"/>
          </a:xfrm>
        </p:spPr>
        <p:txBody>
          <a:bodyPr/>
          <a:lstStyle/>
          <a:p>
            <a:fld id="{DBB4437E-C8DB-4717-A182-F56AECCDC169}" type="slidenum">
              <a:rPr lang="en-GB" smtClean="0"/>
              <a:t>‹#›</a:t>
            </a:fld>
            <a:endParaRPr lang="en-GB"/>
          </a:p>
        </p:txBody>
      </p:sp>
      <p:sp>
        <p:nvSpPr>
          <p:cNvPr id="8" name="Text Placeholder 7">
            <a:extLst>
              <a:ext uri="{FF2B5EF4-FFF2-40B4-BE49-F238E27FC236}">
                <a16:creationId xmlns:a16="http://schemas.microsoft.com/office/drawing/2014/main" id="{C35A691C-E974-4761-A3A2-546069641617}"/>
              </a:ext>
            </a:extLst>
          </p:cNvPr>
          <p:cNvSpPr>
            <a:spLocks noGrp="1"/>
          </p:cNvSpPr>
          <p:nvPr>
            <p:ph type="body" sz="quarter" idx="13" hasCustomPrompt="1"/>
          </p:nvPr>
        </p:nvSpPr>
        <p:spPr>
          <a:xfrm>
            <a:off x="440267" y="6263084"/>
            <a:ext cx="10615084" cy="366184"/>
          </a:xfrm>
        </p:spPr>
        <p:txBody>
          <a:bodyPr anchor="b" anchorCtr="0"/>
          <a:lstStyle>
            <a:lvl1pPr marL="0" indent="0">
              <a:spcBef>
                <a:spcPts val="0"/>
              </a:spcBef>
              <a:spcAft>
                <a:spcPts val="0"/>
              </a:spcAft>
              <a:buNone/>
              <a:defRPr sz="933"/>
            </a:lvl1pPr>
            <a:lvl2pPr marL="457189" indent="0">
              <a:buNone/>
              <a:defRPr sz="1200"/>
            </a:lvl2pPr>
          </a:lstStyle>
          <a:p>
            <a:pPr lvl="0"/>
            <a:r>
              <a:rPr lang="en-US"/>
              <a:t>References 7pt Arial</a:t>
            </a:r>
          </a:p>
        </p:txBody>
      </p:sp>
      <p:sp>
        <p:nvSpPr>
          <p:cNvPr id="7" name="Title Placeholder 1">
            <a:extLst>
              <a:ext uri="{FF2B5EF4-FFF2-40B4-BE49-F238E27FC236}">
                <a16:creationId xmlns:a16="http://schemas.microsoft.com/office/drawing/2014/main" id="{9ABE46C9-844C-4244-8A2B-6B4D0C99A23E}"/>
              </a:ext>
            </a:extLst>
          </p:cNvPr>
          <p:cNvSpPr>
            <a:spLocks noGrp="1"/>
          </p:cNvSpPr>
          <p:nvPr>
            <p:ph type="title"/>
          </p:nvPr>
        </p:nvSpPr>
        <p:spPr>
          <a:xfrm>
            <a:off x="439712" y="365126"/>
            <a:ext cx="11305915" cy="949617"/>
          </a:xfrm>
          <a:prstGeom prst="rect">
            <a:avLst/>
          </a:prstGeom>
        </p:spPr>
        <p:txBody>
          <a:bodyPr vert="horz" lIns="91440" tIns="45720" rIns="91440" bIns="45720" rtlCol="0" anchor="b" anchorCtr="0">
            <a:noAutofit/>
          </a:bodyPr>
          <a:lstStyle/>
          <a:p>
            <a:r>
              <a:rPr lang="en-US"/>
              <a:t>Click to edit Master title style</a:t>
            </a:r>
          </a:p>
        </p:txBody>
      </p:sp>
    </p:spTree>
    <p:extLst>
      <p:ext uri="{BB962C8B-B14F-4D97-AF65-F5344CB8AC3E}">
        <p14:creationId xmlns:p14="http://schemas.microsoft.com/office/powerpoint/2010/main" val="13693094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0"/>
          </p:nvPr>
        </p:nvSpPr>
        <p:spPr>
          <a:xfrm>
            <a:off x="588435" y="1687514"/>
            <a:ext cx="10993967" cy="4437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46514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3" name="Foliennummernplatzhalter 5">
            <a:extLst>
              <a:ext uri="{FF2B5EF4-FFF2-40B4-BE49-F238E27FC236}">
                <a16:creationId xmlns:a16="http://schemas.microsoft.com/office/drawing/2014/main" id="{4DE612E4-BF97-4CEA-BF06-8E3C42ABD476}"/>
              </a:ext>
            </a:extLst>
          </p:cNvPr>
          <p:cNvSpPr>
            <a:spLocks noGrp="1"/>
          </p:cNvSpPr>
          <p:nvPr>
            <p:ph type="sldNum" sz="quarter" idx="4"/>
          </p:nvPr>
        </p:nvSpPr>
        <p:spPr>
          <a:xfrm>
            <a:off x="11802825" y="6524535"/>
            <a:ext cx="260756" cy="164148"/>
          </a:xfrm>
          <a:prstGeom prst="rect">
            <a:avLst/>
          </a:prstGeom>
        </p:spPr>
        <p:txBody>
          <a:bodyPr vert="horz" wrap="squar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Tree>
    <p:extLst>
      <p:ext uri="{BB962C8B-B14F-4D97-AF65-F5344CB8AC3E}">
        <p14:creationId xmlns:p14="http://schemas.microsoft.com/office/powerpoint/2010/main" val="1287210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with 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9" y="2119"/>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1" y="1"/>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err="1">
              <a:solidFill>
                <a:schemeClr val="bg1"/>
              </a:solidFill>
              <a:latin typeface="BISansOptiCond" panose="02000506040000020004" pitchFamily="2" charset="0"/>
              <a:ea typeface="+mj-ea"/>
              <a:sym typeface="BISansOptiCond" panose="02000506040000020004" pitchFamily="2" charset="0"/>
            </a:endParaRPr>
          </a:p>
        </p:txBody>
      </p:sp>
      <p:sp>
        <p:nvSpPr>
          <p:cNvPr id="10" name="Datumsplatzhalter 3">
            <a:extLst>
              <a:ext uri="{FF2B5EF4-FFF2-40B4-BE49-F238E27FC236}">
                <a16:creationId xmlns:a16="http://schemas.microsoft.com/office/drawing/2014/main" id="{F03D2F70-28FD-4FC0-B747-D49FE9BA467B}"/>
              </a:ext>
            </a:extLst>
          </p:cNvPr>
          <p:cNvSpPr>
            <a:spLocks noGrp="1"/>
          </p:cNvSpPr>
          <p:nvPr>
            <p:ph type="dt" sz="half" idx="2"/>
          </p:nvPr>
        </p:nvSpPr>
        <p:spPr>
          <a:xfrm>
            <a:off x="10938730" y="6521927"/>
            <a:ext cx="87" cy="164148"/>
          </a:xfrm>
          <a:prstGeom prst="rect">
            <a:avLst/>
          </a:prstGeom>
        </p:spPr>
        <p:txBody>
          <a:bodyPr vert="horz" wrap="squar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endParaRPr lang="en-GB"/>
          </a:p>
        </p:txBody>
      </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02825" y="6524535"/>
            <a:ext cx="260756" cy="164148"/>
          </a:xfrm>
          <a:prstGeom prst="rect">
            <a:avLst/>
          </a:prstGeom>
        </p:spPr>
        <p:txBody>
          <a:bodyPr vert="horz" wrap="squar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5" name="Text Placeholder 4">
            <a:extLst>
              <a:ext uri="{FF2B5EF4-FFF2-40B4-BE49-F238E27FC236}">
                <a16:creationId xmlns:a16="http://schemas.microsoft.com/office/drawing/2014/main" id="{241F2266-AC98-4563-810B-868E8E7298A7}"/>
              </a:ext>
            </a:extLst>
          </p:cNvPr>
          <p:cNvSpPr>
            <a:spLocks noGrp="1"/>
          </p:cNvSpPr>
          <p:nvPr>
            <p:ph type="body" sz="quarter" idx="10"/>
          </p:nvPr>
        </p:nvSpPr>
        <p:spPr>
          <a:xfrm>
            <a:off x="517100" y="1101300"/>
            <a:ext cx="11166901" cy="5223301"/>
          </a:xfrm>
        </p:spPr>
        <p:txBody>
          <a:bodyPr/>
          <a:lstStyle>
            <a:lvl1pPr>
              <a:spcBef>
                <a:spcPts val="1800"/>
              </a:spcBef>
              <a:defRPr/>
            </a:lvl1pPr>
            <a:lvl2pPr>
              <a:spcBef>
                <a:spcPts val="600"/>
              </a:spcBef>
              <a:defRPr/>
            </a:lvl2pPr>
            <a:lvl3pPr>
              <a:spcBef>
                <a:spcPts val="600"/>
              </a:spcBef>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3">
            <a:extLst>
              <a:ext uri="{FF2B5EF4-FFF2-40B4-BE49-F238E27FC236}">
                <a16:creationId xmlns:a16="http://schemas.microsoft.com/office/drawing/2014/main" id="{971F84FD-7F62-4F51-BE1B-EEE34497B39A}"/>
              </a:ext>
            </a:extLst>
          </p:cNvPr>
          <p:cNvSpPr>
            <a:spLocks noGrp="1"/>
          </p:cNvSpPr>
          <p:nvPr>
            <p:ph type="title"/>
          </p:nvPr>
        </p:nvSpPr>
        <p:spPr/>
        <p:txBody>
          <a:bodyPr/>
          <a:lstStyle/>
          <a:p>
            <a:r>
              <a:rPr lang="en-US"/>
              <a:t>Click to edit Master title style</a:t>
            </a:r>
            <a:endParaRPr lang="en-GB"/>
          </a:p>
        </p:txBody>
      </p:sp>
      <p:sp>
        <p:nvSpPr>
          <p:cNvPr id="6" name="Fußzeilenplatzhalter 4">
            <a:extLst>
              <a:ext uri="{FF2B5EF4-FFF2-40B4-BE49-F238E27FC236}">
                <a16:creationId xmlns:a16="http://schemas.microsoft.com/office/drawing/2014/main" id="{B7BDEF8A-EC62-7A11-0D24-49DCDCE092C5}"/>
              </a:ext>
            </a:extLst>
          </p:cNvPr>
          <p:cNvSpPr>
            <a:spLocks noGrp="1"/>
          </p:cNvSpPr>
          <p:nvPr>
            <p:ph type="ftr" sz="quarter" idx="3"/>
          </p:nvPr>
        </p:nvSpPr>
        <p:spPr>
          <a:xfrm>
            <a:off x="2313141" y="6521927"/>
            <a:ext cx="7674921" cy="164148"/>
          </a:xfrm>
          <a:prstGeom prst="rect">
            <a:avLst/>
          </a:prstGeom>
        </p:spPr>
        <p:txBody>
          <a:bodyPr vert="horz" wrap="square" lIns="0" tIns="0" rIns="0" bIns="0" rtlCol="0" anchor="ctr">
            <a:spAutoFit/>
          </a:bodyPr>
          <a:lstStyle>
            <a:lvl1pPr algn="l">
              <a:defRPr sz="1067" b="0" i="0">
                <a:solidFill>
                  <a:srgbClr val="7F7F7F"/>
                </a:solidFill>
                <a:latin typeface="BISans" panose="02000503040000020004" pitchFamily="2" charset="0"/>
                <a:cs typeface="BISans" panose="02000503040000020004" pitchFamily="2" charset="0"/>
              </a:defRPr>
            </a:lvl1pPr>
          </a:lstStyle>
          <a:p>
            <a:r>
              <a:rPr lang="it-IT"/>
              <a:t>ONLY FOR INTERNAL USE</a:t>
            </a:r>
            <a:endParaRPr lang="en-GB"/>
          </a:p>
        </p:txBody>
      </p:sp>
    </p:spTree>
    <p:extLst>
      <p:ext uri="{BB962C8B-B14F-4D97-AF65-F5344CB8AC3E}">
        <p14:creationId xmlns:p14="http://schemas.microsoft.com/office/powerpoint/2010/main" val="85346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9345519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3.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30.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slides/_rels/slide4.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29.svg"/><Relationship Id="rId2" Type="http://schemas.openxmlformats.org/officeDocument/2006/relationships/image" Target="../media/image30.png"/><Relationship Id="rId1" Type="http://schemas.openxmlformats.org/officeDocument/2006/relationships/slideLayout" Target="../slideLayouts/slideLayout30.xml"/><Relationship Id="rId6" Type="http://schemas.openxmlformats.org/officeDocument/2006/relationships/image" Target="../media/image28.png"/><Relationship Id="rId5" Type="http://schemas.openxmlformats.org/officeDocument/2006/relationships/image" Target="../media/image33.svg"/><Relationship Id="rId4"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30.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1.xml"/><Relationship Id="rId5" Type="http://schemas.openxmlformats.org/officeDocument/2006/relationships/comments" Target="../comments/comment1.xml"/><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E6A6F-7019-83BE-F31C-14632E900702}"/>
              </a:ext>
            </a:extLst>
          </p:cNvPr>
          <p:cNvSpPr>
            <a:spLocks noGrp="1"/>
          </p:cNvSpPr>
          <p:nvPr>
            <p:ph type="ctrTitle"/>
          </p:nvPr>
        </p:nvSpPr>
        <p:spPr>
          <a:xfrm>
            <a:off x="479425" y="2637000"/>
            <a:ext cx="10157815" cy="1584000"/>
          </a:xfrm>
        </p:spPr>
        <p:txBody>
          <a:bodyPr/>
          <a:lstStyle/>
          <a:p>
            <a:r>
              <a:rPr lang="en-US" altLang="zh-CN" sz="4000" dirty="0"/>
              <a:t>DDLPS RWE Results Update </a:t>
            </a:r>
            <a:br>
              <a:rPr lang="en-US" altLang="zh-CN" sz="4000" dirty="0"/>
            </a:br>
            <a:r>
              <a:rPr lang="en-US" altLang="zh-CN" sz="4000" dirty="0"/>
              <a:t>&amp; Publication Plan (1403-0024)</a:t>
            </a:r>
            <a:endParaRPr lang="zh-CN" altLang="en-US" sz="4000" dirty="0"/>
          </a:p>
        </p:txBody>
      </p:sp>
      <p:sp>
        <p:nvSpPr>
          <p:cNvPr id="3" name="副标题 2">
            <a:extLst>
              <a:ext uri="{FF2B5EF4-FFF2-40B4-BE49-F238E27FC236}">
                <a16:creationId xmlns:a16="http://schemas.microsoft.com/office/drawing/2014/main" id="{4EB2E6A9-5857-0088-87D6-BD48F48DB69D}"/>
              </a:ext>
            </a:extLst>
          </p:cNvPr>
          <p:cNvSpPr>
            <a:spLocks noGrp="1"/>
          </p:cNvSpPr>
          <p:nvPr>
            <p:ph type="subTitle" idx="1"/>
          </p:nvPr>
        </p:nvSpPr>
        <p:spPr/>
        <p:txBody>
          <a:bodyPr/>
          <a:lstStyle/>
          <a:p>
            <a:r>
              <a:rPr lang="en-US" altLang="zh-CN" sz="2000" dirty="0"/>
              <a:t>Sherry Fu</a:t>
            </a:r>
          </a:p>
          <a:p>
            <a:r>
              <a:rPr lang="en-US" altLang="zh-CN" sz="2000" dirty="0"/>
              <a:t>2024 Apr 25</a:t>
            </a:r>
            <a:endParaRPr lang="zh-CN" altLang="en-US" sz="2000" dirty="0"/>
          </a:p>
        </p:txBody>
      </p:sp>
      <p:sp>
        <p:nvSpPr>
          <p:cNvPr id="4" name="页脚占位符 3">
            <a:extLst>
              <a:ext uri="{FF2B5EF4-FFF2-40B4-BE49-F238E27FC236}">
                <a16:creationId xmlns:a16="http://schemas.microsoft.com/office/drawing/2014/main" id="{01775AC0-ED3D-BA2C-2D8C-08980A6DD617}"/>
              </a:ext>
            </a:extLst>
          </p:cNvPr>
          <p:cNvSpPr>
            <a:spLocks noGrp="1"/>
          </p:cNvSpPr>
          <p:nvPr>
            <p:ph type="ftr" sz="quarter" idx="19"/>
          </p:nvPr>
        </p:nvSpPr>
        <p:spPr>
          <a:xfrm>
            <a:off x="479425" y="6174206"/>
            <a:ext cx="5040000" cy="216000"/>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ONLY FOR INTERNAL USE</a:t>
            </a:r>
          </a:p>
        </p:txBody>
      </p:sp>
    </p:spTree>
    <p:extLst>
      <p:ext uri="{BB962C8B-B14F-4D97-AF65-F5344CB8AC3E}">
        <p14:creationId xmlns:p14="http://schemas.microsoft.com/office/powerpoint/2010/main" val="3582141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06089CCC-6F43-3973-7188-2838D8415489}"/>
              </a:ext>
            </a:extLst>
          </p:cNvPr>
          <p:cNvSpPr>
            <a:spLocks noGrp="1"/>
          </p:cNvSpPr>
          <p:nvPr>
            <p:ph type="body" sz="quarter" idx="48"/>
          </p:nvPr>
        </p:nvSpPr>
        <p:spPr>
          <a:xfrm>
            <a:off x="761051" y="1343509"/>
            <a:ext cx="792000" cy="540000"/>
          </a:xfrm>
          <a:noFill/>
        </p:spPr>
        <p:txBody>
          <a:bodyPr/>
          <a:lstStyle/>
          <a:p>
            <a:r>
              <a:rPr lang="en-US" sz="2400" dirty="0"/>
              <a:t>Background</a:t>
            </a:r>
          </a:p>
        </p:txBody>
      </p:sp>
      <p:sp>
        <p:nvSpPr>
          <p:cNvPr id="7" name="Title 6">
            <a:extLst>
              <a:ext uri="{FF2B5EF4-FFF2-40B4-BE49-F238E27FC236}">
                <a16:creationId xmlns:a16="http://schemas.microsoft.com/office/drawing/2014/main" id="{4452A64D-1261-40C3-84C0-E9225ECCFFDC}"/>
              </a:ext>
            </a:extLst>
          </p:cNvPr>
          <p:cNvSpPr>
            <a:spLocks noGrp="1"/>
          </p:cNvSpPr>
          <p:nvPr>
            <p:ph type="title"/>
          </p:nvPr>
        </p:nvSpPr>
        <p:spPr/>
        <p:txBody>
          <a:bodyPr/>
          <a:lstStyle/>
          <a:p>
            <a:r>
              <a:rPr lang="en-US" altLang="zh-CN" dirty="0">
                <a:solidFill>
                  <a:schemeClr val="bg2"/>
                </a:solidFill>
              </a:rPr>
              <a:t>Background &amp; Study Objectives</a:t>
            </a:r>
            <a:endParaRPr lang="en-US" dirty="0">
              <a:solidFill>
                <a:schemeClr val="bg2"/>
              </a:solidFill>
            </a:endParaRPr>
          </a:p>
        </p:txBody>
      </p:sp>
      <p:sp>
        <p:nvSpPr>
          <p:cNvPr id="5" name="Slide Number Placeholder 4">
            <a:extLst>
              <a:ext uri="{FF2B5EF4-FFF2-40B4-BE49-F238E27FC236}">
                <a16:creationId xmlns:a16="http://schemas.microsoft.com/office/drawing/2014/main" id="{F6FA9CCB-3398-F6CF-657E-D2493DD3D567}"/>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prstClr val="white"/>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8" name="Text Placeholder 7">
            <a:extLst>
              <a:ext uri="{FF2B5EF4-FFF2-40B4-BE49-F238E27FC236}">
                <a16:creationId xmlns:a16="http://schemas.microsoft.com/office/drawing/2014/main" id="{E53F9DEA-61C1-8242-2FF9-3C7A58226F2B}"/>
              </a:ext>
            </a:extLst>
          </p:cNvPr>
          <p:cNvSpPr>
            <a:spLocks noGrp="1"/>
          </p:cNvSpPr>
          <p:nvPr>
            <p:ph type="body" sz="quarter" idx="18"/>
          </p:nvPr>
        </p:nvSpPr>
        <p:spPr>
          <a:xfrm>
            <a:off x="2870985" y="1416433"/>
            <a:ext cx="7674077" cy="181359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a:lstStyle/>
          <a:p>
            <a:pPr marL="285750" lvl="0" indent="-285750">
              <a:lnSpc>
                <a:spcPct val="200000"/>
              </a:lnSpc>
              <a:buFont typeface="Arial" panose="020B0604020202020204" pitchFamily="34" charset="0"/>
              <a:buChar char="•"/>
            </a:pPr>
            <a:r>
              <a:rPr lang="en-US" altLang="zh-CN" sz="1400" dirty="0"/>
              <a:t>DDLPS as a rare tumor, patient journey and outcomes is poorly understood </a:t>
            </a:r>
          </a:p>
          <a:p>
            <a:pPr marL="285750" lvl="0" indent="-285750">
              <a:lnSpc>
                <a:spcPct val="200000"/>
              </a:lnSpc>
              <a:buFont typeface="Arial" panose="020B0604020202020204" pitchFamily="34" charset="0"/>
              <a:buChar char="•"/>
            </a:pPr>
            <a:r>
              <a:rPr lang="en-US" altLang="zh-CN" sz="1400" dirty="0"/>
              <a:t>In</a:t>
            </a:r>
            <a:r>
              <a:rPr lang="zh-CN" altLang="en-US" sz="1400" dirty="0"/>
              <a:t> </a:t>
            </a:r>
            <a:r>
              <a:rPr lang="en-US" altLang="zh-CN" sz="1400" dirty="0"/>
              <a:t>the</a:t>
            </a:r>
            <a:r>
              <a:rPr lang="zh-CN" altLang="en-US" sz="1400" dirty="0"/>
              <a:t> </a:t>
            </a:r>
            <a:r>
              <a:rPr lang="en-US" altLang="zh-CN" sz="1400" dirty="0"/>
              <a:t>CTN for MDM2 DDLPS,</a:t>
            </a:r>
            <a:r>
              <a:rPr lang="zh-CN" altLang="en-US" sz="1400" dirty="0"/>
              <a:t> </a:t>
            </a:r>
            <a:r>
              <a:rPr lang="en-US" altLang="zh-CN" sz="1400" dirty="0"/>
              <a:t>China</a:t>
            </a:r>
            <a:r>
              <a:rPr lang="zh-CN" altLang="en-US" sz="1400" dirty="0"/>
              <a:t> </a:t>
            </a:r>
            <a:r>
              <a:rPr lang="en-US" altLang="zh-CN" sz="1400" dirty="0"/>
              <a:t>authority</a:t>
            </a:r>
            <a:r>
              <a:rPr lang="zh-CN" altLang="en-US" sz="1400" dirty="0"/>
              <a:t> </a:t>
            </a:r>
            <a:r>
              <a:rPr lang="en-US" altLang="zh-CN" sz="1400" dirty="0"/>
              <a:t>suggests</a:t>
            </a:r>
            <a:r>
              <a:rPr lang="zh-CN" altLang="en-US" sz="1400" dirty="0"/>
              <a:t> </a:t>
            </a:r>
            <a:r>
              <a:rPr lang="en-US" altLang="zh-CN" sz="1400" dirty="0"/>
              <a:t>BI</a:t>
            </a:r>
            <a:r>
              <a:rPr lang="zh-CN" altLang="en-US" sz="1400" dirty="0"/>
              <a:t> </a:t>
            </a:r>
            <a:r>
              <a:rPr lang="en-US" altLang="zh-CN" sz="1400" dirty="0"/>
              <a:t>collecting</a:t>
            </a:r>
            <a:r>
              <a:rPr lang="zh-CN" altLang="en-US" sz="1400" dirty="0"/>
              <a:t> </a:t>
            </a:r>
            <a:r>
              <a:rPr lang="en-US" altLang="zh-CN" sz="1400" dirty="0"/>
              <a:t>patients</a:t>
            </a:r>
            <a:r>
              <a:rPr lang="zh-CN" altLang="en-US" sz="1400" dirty="0"/>
              <a:t>’ </a:t>
            </a:r>
            <a:r>
              <a:rPr lang="en-US" altLang="zh-CN" sz="1400" dirty="0"/>
              <a:t>survival</a:t>
            </a:r>
            <a:r>
              <a:rPr lang="zh-CN" altLang="en-US" sz="1400" dirty="0"/>
              <a:t> </a:t>
            </a:r>
            <a:r>
              <a:rPr lang="en-US" altLang="zh-CN" sz="1400" dirty="0"/>
              <a:t>and</a:t>
            </a:r>
            <a:r>
              <a:rPr lang="zh-CN" altLang="en-US" sz="1400" dirty="0"/>
              <a:t> </a:t>
            </a:r>
            <a:r>
              <a:rPr lang="en-US" altLang="zh-CN" sz="1400" dirty="0"/>
              <a:t>other</a:t>
            </a:r>
            <a:r>
              <a:rPr lang="zh-CN" altLang="en-US" sz="1400" dirty="0"/>
              <a:t> </a:t>
            </a:r>
            <a:r>
              <a:rPr lang="en-US" altLang="zh-CN" sz="1400" dirty="0"/>
              <a:t>related</a:t>
            </a:r>
            <a:r>
              <a:rPr lang="zh-CN" altLang="en-US" sz="1400" dirty="0"/>
              <a:t> </a:t>
            </a:r>
            <a:r>
              <a:rPr lang="en-US" altLang="zh-CN" sz="1400" dirty="0"/>
              <a:t>clinical</a:t>
            </a:r>
            <a:r>
              <a:rPr lang="zh-CN" altLang="en-US" sz="1400" dirty="0"/>
              <a:t> </a:t>
            </a:r>
            <a:r>
              <a:rPr lang="en-US" altLang="zh-CN" sz="1400" dirty="0"/>
              <a:t>data</a:t>
            </a:r>
            <a:r>
              <a:rPr lang="zh-CN" altLang="en-US" sz="1400" dirty="0"/>
              <a:t> </a:t>
            </a:r>
            <a:r>
              <a:rPr lang="en-US" altLang="zh-CN" sz="1400" dirty="0"/>
              <a:t>in</a:t>
            </a:r>
            <a:r>
              <a:rPr lang="zh-CN" altLang="en-US" sz="1400" dirty="0"/>
              <a:t> </a:t>
            </a:r>
            <a:r>
              <a:rPr lang="en-US" altLang="zh-CN" sz="1400" dirty="0"/>
              <a:t>real-world, to provide support for future analysis during NDA</a:t>
            </a:r>
            <a:endParaRPr lang="zh-CN" altLang="en-US" sz="1400" dirty="0"/>
          </a:p>
          <a:p>
            <a:endParaRPr lang="en-US" dirty="0"/>
          </a:p>
        </p:txBody>
      </p:sp>
      <p:sp>
        <p:nvSpPr>
          <p:cNvPr id="10" name="Text Placeholder 9">
            <a:extLst>
              <a:ext uri="{FF2B5EF4-FFF2-40B4-BE49-F238E27FC236}">
                <a16:creationId xmlns:a16="http://schemas.microsoft.com/office/drawing/2014/main" id="{434C07B4-59D4-DB23-1630-8E784E78FAA1}"/>
              </a:ext>
            </a:extLst>
          </p:cNvPr>
          <p:cNvSpPr>
            <a:spLocks noGrp="1"/>
          </p:cNvSpPr>
          <p:nvPr>
            <p:ph type="body" sz="quarter" idx="31"/>
          </p:nvPr>
        </p:nvSpPr>
        <p:spPr>
          <a:xfrm>
            <a:off x="1500924" y="4492432"/>
            <a:ext cx="792000" cy="540000"/>
          </a:xfrm>
          <a:noFill/>
        </p:spPr>
        <p:txBody>
          <a:bodyPr/>
          <a:lstStyle/>
          <a:p>
            <a:r>
              <a:rPr lang="en-US" altLang="zh-CN" sz="2400" dirty="0"/>
              <a:t>Study objectives</a:t>
            </a:r>
            <a:endParaRPr lang="zh-CN" altLang="en-US" sz="2400" dirty="0"/>
          </a:p>
          <a:p>
            <a:endParaRPr lang="en-US" dirty="0"/>
          </a:p>
        </p:txBody>
      </p:sp>
      <p:sp>
        <p:nvSpPr>
          <p:cNvPr id="4" name="Footer Placeholder 3">
            <a:extLst>
              <a:ext uri="{FF2B5EF4-FFF2-40B4-BE49-F238E27FC236}">
                <a16:creationId xmlns:a16="http://schemas.microsoft.com/office/drawing/2014/main" id="{A58087E8-89E6-5675-0624-9B985C759CBF}"/>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Presentation title    |    ONLY FOR INTERNAL USE</a:t>
            </a:r>
            <a:endParaRPr kumimoji="0" lang="en-US" sz="800" b="0" i="0" u="none" strike="noStrike" kern="1200" cap="none" spc="0" normalizeH="0" baseline="0" noProof="0" dirty="0">
              <a:ln>
                <a:noFill/>
              </a:ln>
              <a:solidFill>
                <a:prstClr val="white"/>
              </a:solidFill>
              <a:effectLst/>
              <a:uLnTx/>
              <a:uFillTx/>
              <a:latin typeface="Boehringer Forward Text"/>
              <a:ea typeface="+mn-ea"/>
              <a:cs typeface="+mn-cs"/>
            </a:endParaRPr>
          </a:p>
        </p:txBody>
      </p:sp>
      <p:sp>
        <p:nvSpPr>
          <p:cNvPr id="14" name="Text Placeholder 13">
            <a:extLst>
              <a:ext uri="{FF2B5EF4-FFF2-40B4-BE49-F238E27FC236}">
                <a16:creationId xmlns:a16="http://schemas.microsoft.com/office/drawing/2014/main" id="{840FE229-4C5D-EF3C-6D17-AE393EA3372A}"/>
              </a:ext>
            </a:extLst>
          </p:cNvPr>
          <p:cNvSpPr>
            <a:spLocks noGrp="1"/>
          </p:cNvSpPr>
          <p:nvPr>
            <p:ph type="body" sz="quarter" idx="39"/>
          </p:nvPr>
        </p:nvSpPr>
        <p:spPr>
          <a:xfrm>
            <a:off x="7232069" y="4005059"/>
            <a:ext cx="792000" cy="540000"/>
          </a:xfrm>
          <a:noFill/>
        </p:spPr>
        <p:txBody>
          <a:bodyPr/>
          <a:lstStyle/>
          <a:p>
            <a:r>
              <a:rPr lang="en-US" sz="2400" dirty="0"/>
              <a:t>Study design</a:t>
            </a:r>
          </a:p>
        </p:txBody>
      </p:sp>
      <p:sp>
        <p:nvSpPr>
          <p:cNvPr id="17" name="Text Placeholder 16">
            <a:extLst>
              <a:ext uri="{FF2B5EF4-FFF2-40B4-BE49-F238E27FC236}">
                <a16:creationId xmlns:a16="http://schemas.microsoft.com/office/drawing/2014/main" id="{BC349BA7-C4DA-75F6-C82F-D7BDE94C4D74}"/>
              </a:ext>
            </a:extLst>
          </p:cNvPr>
          <p:cNvSpPr>
            <a:spLocks noGrp="1"/>
          </p:cNvSpPr>
          <p:nvPr>
            <p:ph type="body" sz="quarter" idx="42"/>
          </p:nvPr>
        </p:nvSpPr>
        <p:spPr>
          <a:xfrm>
            <a:off x="694401" y="4762432"/>
            <a:ext cx="4464000" cy="112112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a:lstStyle/>
          <a:p>
            <a:pPr marL="285750" indent="-285750">
              <a:buFont typeface="Arial" panose="020B0604020202020204" pitchFamily="34" charset="0"/>
              <a:buChar char="•"/>
            </a:pPr>
            <a:r>
              <a:rPr lang="en-US" altLang="zh-CN" sz="1400" dirty="0"/>
              <a:t>To characterize patients with DDLPS and describe clinical outcomes</a:t>
            </a:r>
          </a:p>
          <a:p>
            <a:endParaRPr lang="en-US" dirty="0"/>
          </a:p>
        </p:txBody>
      </p:sp>
      <p:sp>
        <p:nvSpPr>
          <p:cNvPr id="21" name="Text Placeholder 20">
            <a:extLst>
              <a:ext uri="{FF2B5EF4-FFF2-40B4-BE49-F238E27FC236}">
                <a16:creationId xmlns:a16="http://schemas.microsoft.com/office/drawing/2014/main" id="{CA6D80E3-DD1F-5F9B-D67D-11FBAE84900C}"/>
              </a:ext>
            </a:extLst>
          </p:cNvPr>
          <p:cNvSpPr>
            <a:spLocks noGrp="1"/>
          </p:cNvSpPr>
          <p:nvPr>
            <p:ph type="body" sz="quarter" idx="46"/>
          </p:nvPr>
        </p:nvSpPr>
        <p:spPr>
          <a:xfrm>
            <a:off x="6151415" y="4762432"/>
            <a:ext cx="4464000" cy="1121129"/>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a:lstStyle/>
          <a:p>
            <a:pPr marL="285750" indent="-285750">
              <a:buFont typeface="Arial" panose="020B0604020202020204" pitchFamily="34" charset="0"/>
              <a:buChar char="•"/>
            </a:pPr>
            <a:r>
              <a:rPr lang="en-US" altLang="zh-CN" sz="1400" dirty="0"/>
              <a:t>Non-interventional study </a:t>
            </a:r>
          </a:p>
          <a:p>
            <a:pPr marL="285750" indent="-285750">
              <a:buFont typeface="Arial" panose="020B0604020202020204" pitchFamily="34" charset="0"/>
              <a:buChar char="•"/>
            </a:pPr>
            <a:r>
              <a:rPr lang="en-US" altLang="zh-CN" sz="1400" dirty="0"/>
              <a:t>Existing database established by NCC</a:t>
            </a:r>
          </a:p>
          <a:p>
            <a:pPr marL="285750" indent="-285750">
              <a:buFont typeface="Arial" panose="020B0604020202020204" pitchFamily="34" charset="0"/>
              <a:buChar char="•"/>
            </a:pPr>
            <a:r>
              <a:rPr lang="en-US" altLang="zh-CN" sz="1400" dirty="0"/>
              <a:t>Study period 2013 to 2021</a:t>
            </a:r>
            <a:endParaRPr lang="zh-CN" altLang="en-US" dirty="0"/>
          </a:p>
          <a:p>
            <a:endParaRPr lang="en-US" dirty="0"/>
          </a:p>
        </p:txBody>
      </p:sp>
      <p:pic>
        <p:nvPicPr>
          <p:cNvPr id="3" name="Grafik 6">
            <a:extLst>
              <a:ext uri="{FF2B5EF4-FFF2-40B4-BE49-F238E27FC236}">
                <a16:creationId xmlns:a16="http://schemas.microsoft.com/office/drawing/2014/main" id="{58F689D4-E0A0-01D7-B5BC-D4E58C319FE7}"/>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365" r="1"/>
          <a:stretch/>
        </p:blipFill>
        <p:spPr>
          <a:xfrm>
            <a:off x="875480" y="1818881"/>
            <a:ext cx="1368941" cy="1363963"/>
          </a:xfrm>
          <a:prstGeom prst="rect">
            <a:avLst/>
          </a:prstGeom>
        </p:spPr>
      </p:pic>
      <p:pic>
        <p:nvPicPr>
          <p:cNvPr id="11" name="图形 10" descr="双击手势 轮廓">
            <a:extLst>
              <a:ext uri="{FF2B5EF4-FFF2-40B4-BE49-F238E27FC236}">
                <a16:creationId xmlns:a16="http://schemas.microsoft.com/office/drawing/2014/main" id="{FEDBB638-AEDC-56A5-46A6-F8084031CEF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4401" y="3977674"/>
            <a:ext cx="594771" cy="594771"/>
          </a:xfrm>
          <a:prstGeom prst="rect">
            <a:avLst/>
          </a:prstGeom>
        </p:spPr>
      </p:pic>
      <p:pic>
        <p:nvPicPr>
          <p:cNvPr id="16" name="图形 15" descr="学校 轮廓">
            <a:extLst>
              <a:ext uri="{FF2B5EF4-FFF2-40B4-BE49-F238E27FC236}">
                <a16:creationId xmlns:a16="http://schemas.microsoft.com/office/drawing/2014/main" id="{75EAD315-3469-E430-28B7-13045699401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28317" y="3870299"/>
            <a:ext cx="710496" cy="710496"/>
          </a:xfrm>
          <a:prstGeom prst="rect">
            <a:avLst/>
          </a:prstGeom>
        </p:spPr>
      </p:pic>
    </p:spTree>
    <p:extLst>
      <p:ext uri="{BB962C8B-B14F-4D97-AF65-F5344CB8AC3E}">
        <p14:creationId xmlns:p14="http://schemas.microsoft.com/office/powerpoint/2010/main" val="3139659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ußzeilenplatzhalter 7">
            <a:extLst>
              <a:ext uri="{FF2B5EF4-FFF2-40B4-BE49-F238E27FC236}">
                <a16:creationId xmlns:a16="http://schemas.microsoft.com/office/drawing/2014/main" id="{EC139BD1-0E28-D064-DD84-506A383A8AD9}"/>
              </a:ext>
            </a:extLst>
          </p:cNvPr>
          <p:cNvSpPr>
            <a:spLocks noGrp="1"/>
          </p:cNvSpPr>
          <p:nvPr>
            <p:ph type="ftr" sz="quarter" idx="10"/>
          </p:nvPr>
        </p:nvSpPr>
        <p:spPr bwMode="gray">
          <a:xfrm>
            <a:off x="6312024" y="6246836"/>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Slide library    |     ONLY FOR INTERNAL USE</a:t>
            </a:r>
          </a:p>
        </p:txBody>
      </p:sp>
      <p:sp>
        <p:nvSpPr>
          <p:cNvPr id="9" name="Foliennummernplatzhalter 8">
            <a:extLst>
              <a:ext uri="{FF2B5EF4-FFF2-40B4-BE49-F238E27FC236}">
                <a16:creationId xmlns:a16="http://schemas.microsoft.com/office/drawing/2014/main" id="{05FE7309-B331-0FD2-33FB-C8F7D20596B6}"/>
              </a:ext>
            </a:extLst>
          </p:cNvPr>
          <p:cNvSpPr>
            <a:spLocks noGrp="1"/>
          </p:cNvSpPr>
          <p:nvPr>
            <p:ph type="sldNum" sz="quarter" idx="11"/>
          </p:nvPr>
        </p:nvSpPr>
        <p:spPr bwMode="gray">
          <a:xfrm>
            <a:off x="11424592" y="6246836"/>
            <a:ext cx="288000" cy="288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1" name="Title 1">
            <a:extLst>
              <a:ext uri="{FF2B5EF4-FFF2-40B4-BE49-F238E27FC236}">
                <a16:creationId xmlns:a16="http://schemas.microsoft.com/office/drawing/2014/main" id="{C21EF989-E451-F784-E393-6EEBDA87112E}"/>
              </a:ext>
            </a:extLst>
          </p:cNvPr>
          <p:cNvSpPr txBox="1">
            <a:spLocks/>
          </p:cNvSpPr>
          <p:nvPr/>
        </p:nvSpPr>
        <p:spPr bwMode="gray">
          <a:xfrm>
            <a:off x="752538" y="441966"/>
            <a:ext cx="11233151"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j-ea"/>
                <a:cs typeface="+mj-cs"/>
              </a:rPr>
              <a:t>DDLPS RWE Key Results</a:t>
            </a:r>
          </a:p>
        </p:txBody>
      </p:sp>
      <p:sp>
        <p:nvSpPr>
          <p:cNvPr id="6" name="Textplatzhalter 2">
            <a:extLst>
              <a:ext uri="{FF2B5EF4-FFF2-40B4-BE49-F238E27FC236}">
                <a16:creationId xmlns:a16="http://schemas.microsoft.com/office/drawing/2014/main" id="{B1086A7E-6BA8-67DD-1FC0-DC93AC1BFB27}"/>
              </a:ext>
            </a:extLst>
          </p:cNvPr>
          <p:cNvSpPr txBox="1">
            <a:spLocks/>
          </p:cNvSpPr>
          <p:nvPr/>
        </p:nvSpPr>
        <p:spPr bwMode="gray">
          <a:xfrm>
            <a:off x="1901434" y="1389249"/>
            <a:ext cx="9559053" cy="2579656"/>
          </a:xfrm>
          <a:prstGeom prst="rect">
            <a:avLst/>
          </a:prstGeom>
        </p:spPr>
        <p:txBody>
          <a:bodyPr vert="horz" lIns="0" tIns="0" rIns="0" bIns="0" rtlCol="0" anchor="t">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215900" marR="0" lvl="0" indent="-2159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r>
              <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rPr>
              <a:t>Demographics &amp; </a:t>
            </a:r>
            <a:r>
              <a:rPr lang="en-US" altLang="zh-CN" b="1" dirty="0">
                <a:solidFill>
                  <a:prstClr val="black"/>
                </a:solidFill>
                <a:latin typeface="Boehringer Forward Text"/>
              </a:rPr>
              <a:t>clinical characteristics</a:t>
            </a:r>
            <a:endPar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endParaRPr>
          </a:p>
          <a:p>
            <a:pPr lvl="1">
              <a:buFont typeface="Wingdings" panose="05000000000000000000" pitchFamily="2" charset="2"/>
              <a:buChar char="Ø"/>
              <a:defRPr/>
            </a:pPr>
            <a:r>
              <a:rPr lang="en-US" b="1" dirty="0">
                <a:solidFill>
                  <a:prstClr val="black"/>
                </a:solidFill>
                <a:latin typeface="Boehringer Forward Text"/>
              </a:rPr>
              <a:t>60% male, 80% initial diagnosis &lt;65, 76% never smokers, </a:t>
            </a:r>
            <a:r>
              <a:rPr lang="en-US" altLang="zh-CN" b="1" dirty="0">
                <a:solidFill>
                  <a:prstClr val="black"/>
                </a:solidFill>
                <a:latin typeface="Boehringer Forward Text"/>
              </a:rPr>
              <a:t>93% metastatic</a:t>
            </a:r>
          </a:p>
          <a:p>
            <a:pPr lvl="1">
              <a:buFont typeface="Wingdings" panose="05000000000000000000" pitchFamily="2" charset="2"/>
              <a:buChar char="Ø"/>
              <a:defRPr/>
            </a:pPr>
            <a:r>
              <a:rPr kumimoji="0" lang="en-US" b="1" i="0" u="none" strike="noStrike" kern="1200" cap="none" spc="0" normalizeH="0" baseline="0" noProof="0" dirty="0">
                <a:ln>
                  <a:noFill/>
                </a:ln>
                <a:solidFill>
                  <a:prstClr val="black"/>
                </a:solidFill>
                <a:effectLst/>
                <a:uLnTx/>
                <a:uFillTx/>
                <a:latin typeface="Boehringer Forward Text"/>
                <a:ea typeface="+mn-ea"/>
                <a:cs typeface="+mn-cs"/>
              </a:rPr>
              <a:t>Surgeries before 1L: 1 (61%), </a:t>
            </a:r>
            <a:r>
              <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rPr>
              <a:t>2 (20%), ≥3 (8%)</a:t>
            </a:r>
          </a:p>
          <a:p>
            <a:pPr>
              <a:defRPr/>
            </a:pPr>
            <a:r>
              <a:rPr kumimoji="0" lang="en-US" b="1" i="0" u="none" strike="noStrike" kern="1200" cap="none" spc="0" normalizeH="0" baseline="0" noProof="0" dirty="0">
                <a:ln>
                  <a:noFill/>
                </a:ln>
                <a:solidFill>
                  <a:prstClr val="black"/>
                </a:solidFill>
                <a:effectLst/>
                <a:uLnTx/>
                <a:uFillTx/>
                <a:latin typeface="Boehringer Forward Text"/>
                <a:ea typeface="+mn-ea"/>
                <a:cs typeface="+mn-cs"/>
              </a:rPr>
              <a:t>Survival</a:t>
            </a:r>
          </a:p>
          <a:p>
            <a:pPr lvl="1">
              <a:buFont typeface="Wingdings" panose="05000000000000000000" pitchFamily="2" charset="2"/>
              <a:buChar char="Ø"/>
              <a:defRPr/>
            </a:pPr>
            <a:r>
              <a:rPr kumimoji="0" lang="en-US" b="1" i="0" u="none" strike="noStrike" kern="1200" cap="none" spc="0" normalizeH="0" baseline="0" noProof="0" dirty="0">
                <a:ln>
                  <a:noFill/>
                </a:ln>
                <a:solidFill>
                  <a:prstClr val="black"/>
                </a:solidFill>
                <a:effectLst/>
                <a:uLnTx/>
                <a:uFillTx/>
                <a:latin typeface="Boehringer Forward Text"/>
                <a:ea typeface="+mn-ea"/>
                <a:cs typeface="+mn-cs"/>
              </a:rPr>
              <a:t>OS from 1L: 13.4 (12.4-16.5)m </a:t>
            </a:r>
          </a:p>
          <a:p>
            <a:pPr lvl="1">
              <a:buFont typeface="Wingdings" panose="05000000000000000000" pitchFamily="2" charset="2"/>
              <a:buChar char="Ø"/>
              <a:defRPr/>
            </a:pPr>
            <a:r>
              <a:rPr kumimoji="0" lang="en-US" b="1" i="0" u="none" strike="noStrike" kern="1200" cap="none" spc="0" normalizeH="0" baseline="0" noProof="0" dirty="0">
                <a:ln>
                  <a:noFill/>
                </a:ln>
                <a:solidFill>
                  <a:prstClr val="black"/>
                </a:solidFill>
                <a:effectLst/>
                <a:uLnTx/>
                <a:uFillTx/>
                <a:latin typeface="Boehringer Forward Text"/>
                <a:ea typeface="+mn-ea"/>
                <a:cs typeface="+mn-cs"/>
              </a:rPr>
              <a:t>OS from DDLPS diagnosis: 35.6m</a:t>
            </a:r>
            <a:r>
              <a:rPr lang="en-US" b="1" dirty="0">
                <a:solidFill>
                  <a:prstClr val="black"/>
                </a:solidFill>
                <a:latin typeface="Boehringer Forward Text"/>
              </a:rPr>
              <a:t>  </a:t>
            </a:r>
            <a:endParaRPr lang="en-US" b="1" i="0" u="none" strike="noStrike" kern="1200" cap="none" spc="0" normalizeH="0" baseline="0" noProof="0" dirty="0">
              <a:ln>
                <a:noFill/>
              </a:ln>
              <a:solidFill>
                <a:prstClr val="black"/>
              </a:solidFill>
              <a:effectLst/>
              <a:uLnTx/>
              <a:uFillTx/>
              <a:latin typeface="Boehringer Forward Text"/>
            </a:endParaRPr>
          </a:p>
          <a:p>
            <a:pPr marL="215900" marR="0" lvl="0" indent="-2159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r>
              <a:rPr kumimoji="0" lang="en-US" b="1" i="0" u="none" strike="noStrike" kern="1200" cap="none" spc="0" normalizeH="0" baseline="0" noProof="0" dirty="0">
                <a:ln>
                  <a:noFill/>
                </a:ln>
                <a:solidFill>
                  <a:prstClr val="black"/>
                </a:solidFill>
                <a:effectLst/>
                <a:uLnTx/>
                <a:uFillTx/>
                <a:latin typeface="Boehringer Forward Text"/>
                <a:ea typeface="+mn-ea"/>
                <a:cs typeface="+mn-cs"/>
              </a:rPr>
              <a:t>Treatment</a:t>
            </a:r>
            <a:endParaRPr lang="en-US" b="1" i="0" u="none" strike="noStrike" kern="1200" cap="none" spc="0" normalizeH="0" baseline="0" noProof="0" dirty="0">
              <a:ln>
                <a:noFill/>
              </a:ln>
              <a:solidFill>
                <a:prstClr val="black"/>
              </a:solidFill>
              <a:effectLst/>
              <a:uLnTx/>
              <a:uFillTx/>
              <a:latin typeface="Boehringer Forward Text"/>
            </a:endParaRPr>
          </a:p>
          <a:p>
            <a:pPr marL="431800" lvl="1" indent="-215900">
              <a:buFont typeface="Wingdings" panose="05000000000000000000" pitchFamily="2" charset="2"/>
              <a:buChar char="Ø"/>
              <a:defRPr/>
            </a:pPr>
            <a:r>
              <a:rPr kumimoji="0" lang="en-US" b="1" i="0" u="none" strike="noStrike" kern="1200" cap="none" spc="0" normalizeH="0" baseline="0" noProof="0" dirty="0">
                <a:ln>
                  <a:noFill/>
                </a:ln>
                <a:solidFill>
                  <a:prstClr val="black"/>
                </a:solidFill>
                <a:effectLst/>
                <a:uLnTx/>
                <a:uFillTx/>
                <a:latin typeface="Boehringer Forward Text"/>
                <a:ea typeface="+mn-ea"/>
                <a:cs typeface="+mn-cs"/>
              </a:rPr>
              <a:t>Total</a:t>
            </a:r>
            <a:r>
              <a:rPr lang="en-US" b="1" dirty="0">
                <a:solidFill>
                  <a:prstClr val="black"/>
                </a:solidFill>
                <a:latin typeface="Boehringer Forward Text"/>
              </a:rPr>
              <a:t> line of treatment</a:t>
            </a:r>
            <a:r>
              <a:rPr kumimoji="0" lang="en-US" b="1" i="0" u="none" strike="noStrike" kern="1200" cap="none" spc="0" normalizeH="0" baseline="0" noProof="0" dirty="0">
                <a:ln>
                  <a:noFill/>
                </a:ln>
                <a:solidFill>
                  <a:prstClr val="black"/>
                </a:solidFill>
                <a:effectLst/>
                <a:uLnTx/>
                <a:uFillTx/>
                <a:latin typeface="Boehringer Forward Text"/>
                <a:ea typeface="+mn-ea"/>
                <a:cs typeface="+mn-cs"/>
              </a:rPr>
              <a:t>: 1 (52%), 2 (29%), ≥3 (19%)</a:t>
            </a:r>
            <a:endParaRPr lang="en-US" b="1" i="0" u="none" strike="noStrike" kern="1200" cap="none" spc="0" normalizeH="0" baseline="0" noProof="0" dirty="0">
              <a:ln>
                <a:noFill/>
              </a:ln>
              <a:solidFill>
                <a:prstClr val="black"/>
              </a:solidFill>
              <a:effectLst/>
              <a:uLnTx/>
              <a:uFillTx/>
              <a:latin typeface="Boehringer Forward Text"/>
            </a:endParaRPr>
          </a:p>
          <a:p>
            <a:pPr marL="431800" lvl="1" indent="-215900">
              <a:buFont typeface="Wingdings" panose="05000000000000000000" pitchFamily="2" charset="2"/>
              <a:buChar char="Ø"/>
              <a:defRPr/>
            </a:pPr>
            <a:r>
              <a:rPr kumimoji="0" lang="en-US" b="1" i="0" u="none" strike="noStrike" kern="1200" cap="none" spc="0" normalizeH="0" baseline="0" noProof="0" dirty="0">
                <a:ln>
                  <a:noFill/>
                </a:ln>
                <a:solidFill>
                  <a:prstClr val="black"/>
                </a:solidFill>
                <a:effectLst/>
                <a:uLnTx/>
                <a:uFillTx/>
                <a:latin typeface="Boehringer Forward Text"/>
                <a:ea typeface="+mn-ea"/>
                <a:cs typeface="+mn-cs"/>
              </a:rPr>
              <a:t>1L:</a:t>
            </a:r>
            <a:r>
              <a:rPr lang="en-US" b="1" dirty="0">
                <a:solidFill>
                  <a:prstClr val="black"/>
                </a:solidFill>
                <a:latin typeface="Boehringer Forward Text"/>
              </a:rPr>
              <a:t> </a:t>
            </a:r>
            <a:r>
              <a:rPr kumimoji="0" lang="en-US" b="1" i="0" u="none" strike="noStrike" kern="1200" cap="none" spc="0" normalizeH="0" baseline="0" noProof="0" dirty="0">
                <a:ln>
                  <a:noFill/>
                </a:ln>
                <a:solidFill>
                  <a:prstClr val="black"/>
                </a:solidFill>
                <a:effectLst/>
                <a:uLnTx/>
                <a:uFillTx/>
                <a:latin typeface="Boehringer Forward Text"/>
                <a:ea typeface="+mn-ea"/>
                <a:cs typeface="+mn-cs"/>
              </a:rPr>
              <a:t> anthracycline-based (44%), </a:t>
            </a:r>
            <a:r>
              <a:rPr kumimoji="0" lang="en-US" b="1" i="0" u="none" strike="noStrike" kern="1200" cap="none" spc="0" normalizeH="0" baseline="0" noProof="0" dirty="0" err="1">
                <a:ln>
                  <a:noFill/>
                </a:ln>
                <a:solidFill>
                  <a:prstClr val="black"/>
                </a:solidFill>
                <a:effectLst/>
                <a:uLnTx/>
                <a:uFillTx/>
                <a:latin typeface="Boehringer Forward Text"/>
                <a:ea typeface="+mn-ea"/>
                <a:cs typeface="+mn-cs"/>
              </a:rPr>
              <a:t>anlotinib</a:t>
            </a:r>
            <a:r>
              <a:rPr kumimoji="0" lang="en-US" b="1" i="0" u="none" strike="noStrike" kern="1200" cap="none" spc="0" normalizeH="0" baseline="0" noProof="0" dirty="0">
                <a:ln>
                  <a:noFill/>
                </a:ln>
                <a:solidFill>
                  <a:prstClr val="black"/>
                </a:solidFill>
                <a:effectLst/>
                <a:uLnTx/>
                <a:uFillTx/>
                <a:latin typeface="Boehringer Forward Text"/>
                <a:ea typeface="+mn-ea"/>
                <a:cs typeface="+mn-cs"/>
              </a:rPr>
              <a:t>-based (29%)</a:t>
            </a:r>
            <a:endParaRPr lang="en-US" b="1" i="0" u="none" strike="noStrike" kern="1200" cap="none" spc="0" normalizeH="0" baseline="0" noProof="0" dirty="0">
              <a:ln>
                <a:noFill/>
              </a:ln>
              <a:solidFill>
                <a:prstClr val="black"/>
              </a:solidFill>
              <a:effectLst/>
              <a:uLnTx/>
              <a:uFillTx/>
              <a:latin typeface="Boehringer Forward Text"/>
            </a:endParaRPr>
          </a:p>
          <a:p>
            <a:pPr marL="215900" indent="-215900">
              <a:defRPr/>
            </a:pPr>
            <a:r>
              <a:rPr lang="en-US" b="1" i="0" u="none" strike="noStrike" kern="1200" cap="none" spc="0" normalizeH="0" baseline="0" noProof="0" dirty="0">
                <a:ln>
                  <a:noFill/>
                </a:ln>
                <a:solidFill>
                  <a:prstClr val="black"/>
                </a:solidFill>
                <a:effectLst/>
                <a:uLnTx/>
                <a:uFillTx/>
                <a:latin typeface="Boehringer Forward Text"/>
              </a:rPr>
              <a:t>Healthcare </a:t>
            </a:r>
            <a:r>
              <a:rPr lang="en-GB" altLang="zh-CN" b="1" dirty="0">
                <a:solidFill>
                  <a:prstClr val="black"/>
                </a:solidFill>
                <a:latin typeface="Boehringer Forward Text"/>
              </a:rPr>
              <a:t>resource utilization (HCRU,</a:t>
            </a:r>
            <a:r>
              <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rPr>
              <a:t> since 1L</a:t>
            </a:r>
            <a:r>
              <a:rPr lang="en-GB" altLang="zh-CN" b="1" dirty="0">
                <a:solidFill>
                  <a:prstClr val="black"/>
                </a:solidFill>
                <a:latin typeface="Boehringer Forward Text"/>
              </a:rPr>
              <a:t>) per patient</a:t>
            </a:r>
            <a:r>
              <a:rPr lang="en-US" altLang="zh-CN" b="1" i="0" u="none" strike="noStrike" kern="1200" cap="none" spc="0" normalizeH="0" baseline="0" noProof="0" dirty="0">
                <a:ln>
                  <a:noFill/>
                </a:ln>
                <a:solidFill>
                  <a:prstClr val="black"/>
                </a:solidFill>
                <a:effectLst/>
                <a:uLnTx/>
                <a:uFillTx/>
                <a:latin typeface="Boehringer Forward Text"/>
              </a:rPr>
              <a:t> </a:t>
            </a:r>
            <a:endParaRPr lang="en-GB" altLang="zh-CN" b="1" dirty="0">
              <a:solidFill>
                <a:prstClr val="black"/>
              </a:solidFill>
              <a:latin typeface="Boehringer Forward Text"/>
            </a:endParaRPr>
          </a:p>
          <a:p>
            <a:pPr lvl="1">
              <a:buFont typeface="Wingdings" panose="05000000000000000000" pitchFamily="2" charset="2"/>
              <a:buChar char="Ø"/>
              <a:defRPr/>
            </a:pPr>
            <a:r>
              <a:rPr lang="en-GB" altLang="zh-CN" b="1" dirty="0">
                <a:solidFill>
                  <a:prstClr val="black"/>
                </a:solidFill>
                <a:latin typeface="Boehringer Forward Text"/>
              </a:rPr>
              <a:t> 16 outpatient visits</a:t>
            </a:r>
          </a:p>
          <a:p>
            <a:pPr lvl="1">
              <a:buFont typeface="Wingdings" panose="05000000000000000000" pitchFamily="2" charset="2"/>
              <a:buChar char="Ø"/>
              <a:defRPr/>
            </a:pPr>
            <a:r>
              <a:rPr lang="en-GB" altLang="zh-CN" b="1" dirty="0">
                <a:solidFill>
                  <a:prstClr val="black"/>
                </a:solidFill>
                <a:latin typeface="Boehringer Forward Text"/>
              </a:rPr>
              <a:t>43 days of hospital stay</a:t>
            </a:r>
            <a:endParaRPr lang="en-US" b="1" i="0" u="none" strike="noStrike" kern="1200" cap="none" spc="0" normalizeH="0" baseline="0" noProof="0" dirty="0">
              <a:ln>
                <a:noFill/>
              </a:ln>
              <a:solidFill>
                <a:prstClr val="black"/>
              </a:solidFill>
              <a:effectLst/>
              <a:uLnTx/>
              <a:uFillTx/>
              <a:latin typeface="Boehringer Forward Text"/>
            </a:endParaRPr>
          </a:p>
          <a:p>
            <a:pPr marL="0" indent="0">
              <a:buNone/>
              <a:defRPr/>
            </a:pPr>
            <a:endParaRPr lang="en-US" sz="1800" b="1" i="0" u="none" strike="noStrike" kern="1200" cap="none" spc="0" normalizeH="0" baseline="0" noProof="0" dirty="0">
              <a:ln>
                <a:noFill/>
              </a:ln>
              <a:solidFill>
                <a:prstClr val="black"/>
              </a:solidFill>
              <a:effectLst/>
              <a:uLnTx/>
              <a:uFillTx/>
              <a:latin typeface="Boehringer Forward Text"/>
            </a:endParaRPr>
          </a:p>
        </p:txBody>
      </p:sp>
      <p:sp>
        <p:nvSpPr>
          <p:cNvPr id="12" name="Textplatzhalter 8">
            <a:extLst>
              <a:ext uri="{FF2B5EF4-FFF2-40B4-BE49-F238E27FC236}">
                <a16:creationId xmlns:a16="http://schemas.microsoft.com/office/drawing/2014/main" id="{77D158DB-D478-523A-15FC-060788376012}"/>
              </a:ext>
            </a:extLst>
          </p:cNvPr>
          <p:cNvSpPr txBox="1">
            <a:spLocks/>
          </p:cNvSpPr>
          <p:nvPr/>
        </p:nvSpPr>
        <p:spPr bwMode="gray">
          <a:xfrm>
            <a:off x="1972274" y="863048"/>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E47C"/>
                </a:solidFill>
                <a:effectLst/>
                <a:uLnTx/>
                <a:uFillTx/>
                <a:latin typeface="Boehringer Forward Head"/>
                <a:ea typeface="+mn-ea"/>
                <a:cs typeface="+mn-cs"/>
              </a:rPr>
              <a:t>Cohort 1: 275 Patients initiating 1L</a:t>
            </a:r>
            <a:r>
              <a:rPr kumimoji="0" lang="en-US" sz="4400" b="1" i="0" u="none" strike="noStrike" kern="1200" cap="none" spc="0" normalizeH="0" baseline="0" noProof="0" dirty="0">
                <a:ln>
                  <a:noFill/>
                </a:ln>
                <a:solidFill>
                  <a:srgbClr val="00E47C"/>
                </a:solidFill>
                <a:effectLst/>
                <a:uLnTx/>
                <a:uFillTx/>
                <a:latin typeface="Boehringer Forward Head"/>
                <a:ea typeface="+mn-ea"/>
                <a:cs typeface="+mn-cs"/>
              </a:rPr>
              <a:t> </a:t>
            </a:r>
          </a:p>
        </p:txBody>
      </p:sp>
      <p:sp>
        <p:nvSpPr>
          <p:cNvPr id="10" name="文本框 9">
            <a:extLst>
              <a:ext uri="{FF2B5EF4-FFF2-40B4-BE49-F238E27FC236}">
                <a16:creationId xmlns:a16="http://schemas.microsoft.com/office/drawing/2014/main" id="{C7EBCDFB-7E8D-989B-383C-59D9BCB0FC17}"/>
              </a:ext>
            </a:extLst>
          </p:cNvPr>
          <p:cNvSpPr txBox="1"/>
          <p:nvPr/>
        </p:nvSpPr>
        <p:spPr bwMode="gray">
          <a:xfrm>
            <a:off x="5560097" y="5577969"/>
            <a:ext cx="3755225" cy="703719"/>
          </a:xfrm>
          <a:prstGeom prst="rect">
            <a:avLst/>
          </a:prstGeom>
          <a:ln>
            <a:solidFill>
              <a:schemeClr val="tx2"/>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spAutoFit/>
          </a:bodyPr>
          <a:lstStyle/>
          <a:p>
            <a:pPr algn="ctr">
              <a:lnSpc>
                <a:spcPct val="150000"/>
              </a:lnSpc>
            </a:pPr>
            <a:r>
              <a:rPr lang="en-US" altLang="zh-CN" sz="1600" b="1" dirty="0"/>
              <a:t>Direct medical cost</a:t>
            </a:r>
          </a:p>
          <a:p>
            <a:pPr algn="ctr">
              <a:lnSpc>
                <a:spcPct val="150000"/>
              </a:lnSpc>
            </a:pPr>
            <a:r>
              <a:rPr lang="en-US" altLang="zh-CN" sz="1600" b="1" dirty="0"/>
              <a:t>135 thousand Yuan per patient</a:t>
            </a:r>
          </a:p>
        </p:txBody>
      </p:sp>
      <p:sp>
        <p:nvSpPr>
          <p:cNvPr id="13" name="箭头: 右 12">
            <a:extLst>
              <a:ext uri="{FF2B5EF4-FFF2-40B4-BE49-F238E27FC236}">
                <a16:creationId xmlns:a16="http://schemas.microsoft.com/office/drawing/2014/main" id="{5467295E-AC60-3D07-1EBC-D466C68B0460}"/>
              </a:ext>
            </a:extLst>
          </p:cNvPr>
          <p:cNvSpPr/>
          <p:nvPr/>
        </p:nvSpPr>
        <p:spPr bwMode="gray">
          <a:xfrm>
            <a:off x="4863464" y="5785829"/>
            <a:ext cx="624625" cy="288000"/>
          </a:xfrm>
          <a:prstGeom prst="rightArrow">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dirty="0">
              <a:solidFill>
                <a:schemeClr val="tx1"/>
              </a:solidFill>
            </a:endParaRPr>
          </a:p>
        </p:txBody>
      </p:sp>
      <p:pic>
        <p:nvPicPr>
          <p:cNvPr id="16" name="图形 15" descr="男医生 轮廓">
            <a:extLst>
              <a:ext uri="{FF2B5EF4-FFF2-40B4-BE49-F238E27FC236}">
                <a16:creationId xmlns:a16="http://schemas.microsoft.com/office/drawing/2014/main" id="{5337B609-7E84-5CC1-5496-9C4C5CDE4A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3186" y="4950241"/>
            <a:ext cx="717904" cy="717904"/>
          </a:xfrm>
          <a:prstGeom prst="rect">
            <a:avLst/>
          </a:prstGeom>
        </p:spPr>
      </p:pic>
      <p:pic>
        <p:nvPicPr>
          <p:cNvPr id="22" name="图形 21" descr="孩子 轮廓">
            <a:extLst>
              <a:ext uri="{FF2B5EF4-FFF2-40B4-BE49-F238E27FC236}">
                <a16:creationId xmlns:a16="http://schemas.microsoft.com/office/drawing/2014/main" id="{5AD9564C-7DC8-3896-009D-C8EF49C7AD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5290" y="1214916"/>
            <a:ext cx="787514" cy="787514"/>
          </a:xfrm>
          <a:prstGeom prst="rect">
            <a:avLst/>
          </a:prstGeom>
        </p:spPr>
      </p:pic>
      <p:pic>
        <p:nvPicPr>
          <p:cNvPr id="26" name="图形 25" descr="用路劲指引两个插针 轮廓">
            <a:extLst>
              <a:ext uri="{FF2B5EF4-FFF2-40B4-BE49-F238E27FC236}">
                <a16:creationId xmlns:a16="http://schemas.microsoft.com/office/drawing/2014/main" id="{07E2FE48-F204-8A5D-1FE9-011458644DE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5290" y="2497717"/>
            <a:ext cx="685800" cy="685800"/>
          </a:xfrm>
          <a:prstGeom prst="rect">
            <a:avLst/>
          </a:prstGeom>
        </p:spPr>
      </p:pic>
      <p:pic>
        <p:nvPicPr>
          <p:cNvPr id="28" name="图形 27" descr="条形图 轮廓">
            <a:extLst>
              <a:ext uri="{FF2B5EF4-FFF2-40B4-BE49-F238E27FC236}">
                <a16:creationId xmlns:a16="http://schemas.microsoft.com/office/drawing/2014/main" id="{D65BE4B2-12CC-5E30-F5DC-9231BBF0C8A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5290" y="3735248"/>
            <a:ext cx="685800" cy="685800"/>
          </a:xfrm>
          <a:prstGeom prst="rect">
            <a:avLst/>
          </a:prstGeom>
        </p:spPr>
      </p:pic>
    </p:spTree>
    <p:extLst>
      <p:ext uri="{BB962C8B-B14F-4D97-AF65-F5344CB8AC3E}">
        <p14:creationId xmlns:p14="http://schemas.microsoft.com/office/powerpoint/2010/main" val="1780830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702FEE-8313-08AF-082D-E5633C4B74F3}"/>
              </a:ext>
            </a:extLst>
          </p:cNvPr>
          <p:cNvSpPr>
            <a:spLocks noGrp="1"/>
          </p:cNvSpPr>
          <p:nvPr>
            <p:ph type="title"/>
          </p:nvPr>
        </p:nvSpPr>
        <p:spPr/>
        <p:txBody>
          <a:bodyPr/>
          <a:lstStyle/>
          <a:p>
            <a:r>
              <a:rPr kumimoji="0" lang="en-US" altLang="zh-CN" sz="2500" b="1" i="0" u="none" strike="noStrike" kern="1200" cap="none" spc="0" normalizeH="0" baseline="0" noProof="0" dirty="0">
                <a:ln>
                  <a:noFill/>
                </a:ln>
                <a:solidFill>
                  <a:srgbClr val="08312A"/>
                </a:solidFill>
                <a:effectLst/>
                <a:uLnTx/>
                <a:uFillTx/>
                <a:latin typeface="Boehringer Forward Head"/>
                <a:ea typeface="+mj-ea"/>
                <a:cs typeface="+mj-cs"/>
              </a:rPr>
              <a:t>DDLPS RWE Key Results (</a:t>
            </a:r>
            <a:r>
              <a:rPr kumimoji="0" lang="en-US" altLang="zh-CN" sz="2500" b="1" i="0" u="none" strike="noStrike" kern="1200" cap="none" spc="0" normalizeH="0" baseline="0" noProof="0" dirty="0" err="1">
                <a:ln>
                  <a:noFill/>
                </a:ln>
                <a:solidFill>
                  <a:srgbClr val="08312A"/>
                </a:solidFill>
                <a:effectLst/>
                <a:uLnTx/>
                <a:uFillTx/>
                <a:latin typeface="Boehringer Forward Head"/>
                <a:ea typeface="+mj-ea"/>
                <a:cs typeface="+mj-cs"/>
              </a:rPr>
              <a:t>cont</a:t>
            </a:r>
            <a:r>
              <a:rPr kumimoji="0" lang="en-US" altLang="zh-CN" sz="2500" b="1" i="0" u="none" strike="noStrike" kern="1200" cap="none" spc="0" normalizeH="0" baseline="0" noProof="0" dirty="0">
                <a:ln>
                  <a:noFill/>
                </a:ln>
                <a:solidFill>
                  <a:srgbClr val="08312A"/>
                </a:solidFill>
                <a:effectLst/>
                <a:uLnTx/>
                <a:uFillTx/>
                <a:latin typeface="Boehringer Forward Head"/>
                <a:ea typeface="+mj-ea"/>
                <a:cs typeface="+mj-cs"/>
              </a:rPr>
              <a:t>)</a:t>
            </a:r>
            <a:br>
              <a:rPr kumimoji="0" lang="en-US" altLang="zh-CN" sz="2500" b="1" i="0" u="none" strike="noStrike" kern="1200" cap="none" spc="0" normalizeH="0" baseline="0" noProof="0" dirty="0">
                <a:ln>
                  <a:noFill/>
                </a:ln>
                <a:solidFill>
                  <a:srgbClr val="08312A"/>
                </a:solidFill>
                <a:effectLst/>
                <a:uLnTx/>
                <a:uFillTx/>
                <a:latin typeface="Boehringer Forward Head"/>
                <a:ea typeface="+mj-ea"/>
                <a:cs typeface="+mj-cs"/>
              </a:rPr>
            </a:br>
            <a:endParaRPr lang="zh-CN" altLang="en-US" dirty="0"/>
          </a:p>
        </p:txBody>
      </p:sp>
      <p:sp>
        <p:nvSpPr>
          <p:cNvPr id="4" name="页脚占位符 3">
            <a:extLst>
              <a:ext uri="{FF2B5EF4-FFF2-40B4-BE49-F238E27FC236}">
                <a16:creationId xmlns:a16="http://schemas.microsoft.com/office/drawing/2014/main" id="{B7381B9A-FE74-9B1B-0E45-C1F3279C3382}"/>
              </a:ext>
            </a:extLst>
          </p:cNvPr>
          <p:cNvSpPr>
            <a:spLocks noGrp="1"/>
          </p:cNvSpPr>
          <p:nvPr>
            <p:ph type="ftr" sz="quarter" idx="10"/>
          </p:nvPr>
        </p:nvSpPr>
        <p:spPr/>
        <p:txBody>
          <a:bodyPr/>
          <a:lstStyle/>
          <a:p>
            <a:r>
              <a:rPr lang="en-US"/>
              <a:t>ONLY FOR INTERNAL USE</a:t>
            </a:r>
          </a:p>
        </p:txBody>
      </p:sp>
      <p:sp>
        <p:nvSpPr>
          <p:cNvPr id="5" name="灯片编号占位符 4">
            <a:extLst>
              <a:ext uri="{FF2B5EF4-FFF2-40B4-BE49-F238E27FC236}">
                <a16:creationId xmlns:a16="http://schemas.microsoft.com/office/drawing/2014/main" id="{1EA7D3EE-E77F-4291-58EB-E24DC8960968}"/>
              </a:ext>
            </a:extLst>
          </p:cNvPr>
          <p:cNvSpPr>
            <a:spLocks noGrp="1"/>
          </p:cNvSpPr>
          <p:nvPr>
            <p:ph type="sldNum" sz="quarter" idx="11"/>
          </p:nvPr>
        </p:nvSpPr>
        <p:spPr/>
        <p:txBody>
          <a:bodyPr/>
          <a:lstStyle/>
          <a:p>
            <a:fld id="{8FF9B0DE-3FEB-4AA0-B465-B80EF7C1333D}" type="slidenum">
              <a:rPr lang="en-US" smtClean="0"/>
              <a:pPr/>
              <a:t>4</a:t>
            </a:fld>
            <a:endParaRPr lang="en-US"/>
          </a:p>
        </p:txBody>
      </p:sp>
      <p:sp>
        <p:nvSpPr>
          <p:cNvPr id="7" name="Textplatzhalter 2">
            <a:extLst>
              <a:ext uri="{FF2B5EF4-FFF2-40B4-BE49-F238E27FC236}">
                <a16:creationId xmlns:a16="http://schemas.microsoft.com/office/drawing/2014/main" id="{AA866F2C-36D1-C0A4-2751-D660CA3AC54E}"/>
              </a:ext>
            </a:extLst>
          </p:cNvPr>
          <p:cNvSpPr txBox="1">
            <a:spLocks/>
          </p:cNvSpPr>
          <p:nvPr/>
        </p:nvSpPr>
        <p:spPr bwMode="gray">
          <a:xfrm>
            <a:off x="1914324" y="1671958"/>
            <a:ext cx="8434020" cy="1328824"/>
          </a:xfrm>
          <a:prstGeom prst="rect">
            <a:avLst/>
          </a:prstGeom>
          <a:solidFill>
            <a:schemeClr val="bg1"/>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a:lnSpc>
                <a:spcPct val="200000"/>
              </a:lnSpc>
              <a:defRPr/>
            </a:pPr>
            <a:r>
              <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rPr>
              <a:t>Demographics &amp; cl</a:t>
            </a:r>
            <a:r>
              <a:rPr lang="en-US" altLang="zh-CN" b="1" dirty="0" err="1">
                <a:solidFill>
                  <a:prstClr val="black"/>
                </a:solidFill>
                <a:latin typeface="Boehringer Forward Text"/>
              </a:rPr>
              <a:t>inical</a:t>
            </a:r>
            <a:r>
              <a:rPr lang="en-US" altLang="zh-CN" b="1" dirty="0">
                <a:solidFill>
                  <a:prstClr val="black"/>
                </a:solidFill>
                <a:latin typeface="Boehringer Forward Text"/>
              </a:rPr>
              <a:t> characteristics </a:t>
            </a:r>
            <a:endPar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endParaRPr>
          </a:p>
          <a:p>
            <a:pPr lvl="1">
              <a:lnSpc>
                <a:spcPct val="200000"/>
              </a:lnSpc>
              <a:buFont typeface="Wingdings" panose="05000000000000000000" pitchFamily="2" charset="2"/>
              <a:buChar char="Ø"/>
              <a:defRPr/>
            </a:pPr>
            <a:r>
              <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rPr>
              <a:t>55% male, 72% initial diagnosis &lt;65, 75% never smokers, </a:t>
            </a:r>
            <a:r>
              <a:rPr lang="en-US" altLang="zh-CN" b="1" dirty="0">
                <a:solidFill>
                  <a:prstClr val="black"/>
                </a:solidFill>
                <a:latin typeface="Boehringer Forward Text"/>
              </a:rPr>
              <a:t>55% metastatic</a:t>
            </a:r>
            <a:endPar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endParaRPr>
          </a:p>
          <a:p>
            <a:pPr lvl="1">
              <a:lnSpc>
                <a:spcPct val="200000"/>
              </a:lnSpc>
              <a:buFont typeface="Wingdings" panose="05000000000000000000" pitchFamily="2" charset="2"/>
              <a:buChar char="Ø"/>
              <a:defRPr/>
            </a:pPr>
            <a:r>
              <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rPr>
              <a:t>Surgeries before 1L: 1 (60%), 2 (27%), ≥3 (11%)</a:t>
            </a:r>
          </a:p>
          <a:p>
            <a:pPr marL="216000" marR="0" lvl="0" indent="-216000" algn="l" defTabSz="914400" rtl="0" eaLnBrk="1" fontAlgn="auto" latinLnBrk="0" hangingPunct="1">
              <a:lnSpc>
                <a:spcPct val="200000"/>
              </a:lnSpc>
              <a:spcBef>
                <a:spcPts val="0"/>
              </a:spcBef>
              <a:spcAft>
                <a:spcPts val="600"/>
              </a:spcAft>
              <a:buClrTx/>
              <a:buSzTx/>
              <a:buFont typeface="Arial" panose="020B0604020202020204" pitchFamily="34" charset="0"/>
              <a:buChar char="•"/>
              <a:tabLst/>
              <a:defRPr/>
            </a:pPr>
            <a:r>
              <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rPr>
              <a:t>Survival</a:t>
            </a:r>
          </a:p>
          <a:p>
            <a:pPr lvl="1">
              <a:lnSpc>
                <a:spcPct val="200000"/>
              </a:lnSpc>
              <a:buFont typeface="Wingdings" panose="05000000000000000000" pitchFamily="2" charset="2"/>
              <a:buChar char="Ø"/>
              <a:defRPr/>
            </a:pPr>
            <a:r>
              <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rPr>
              <a:t>OS from DDLPS diagnosis: 43.9m</a:t>
            </a:r>
          </a:p>
          <a:p>
            <a:pPr marL="216000" marR="0" lvl="0" indent="-216000" algn="l" defTabSz="914400" rtl="0" eaLnBrk="1" fontAlgn="auto" latinLnBrk="0" hangingPunct="1">
              <a:lnSpc>
                <a:spcPct val="200000"/>
              </a:lnSpc>
              <a:spcBef>
                <a:spcPts val="0"/>
              </a:spcBef>
              <a:spcAft>
                <a:spcPts val="600"/>
              </a:spcAft>
              <a:buClrTx/>
              <a:buSzTx/>
              <a:buFont typeface="Arial" panose="020B0604020202020204" pitchFamily="34" charset="0"/>
              <a:buChar char="•"/>
              <a:tabLst/>
              <a:defRPr/>
            </a:pPr>
            <a:r>
              <a:rPr lang="en-GB" altLang="zh-CN" b="1" dirty="0">
                <a:solidFill>
                  <a:prstClr val="black"/>
                </a:solidFill>
                <a:latin typeface="Boehringer Forward Text"/>
              </a:rPr>
              <a:t>HCRU </a:t>
            </a:r>
            <a:r>
              <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rPr>
              <a:t>since DDLPS diagnosis per patient</a:t>
            </a:r>
          </a:p>
          <a:p>
            <a:pPr lvl="1">
              <a:lnSpc>
                <a:spcPct val="200000"/>
              </a:lnSpc>
              <a:buFont typeface="Wingdings" panose="05000000000000000000" pitchFamily="2" charset="2"/>
              <a:buChar char="Ø"/>
              <a:defRPr/>
            </a:pPr>
            <a:r>
              <a:rPr kumimoji="0" lang="en-GB" altLang="zh-CN" b="1" i="0" u="none" strike="noStrike" kern="1200" cap="none" spc="0" normalizeH="0" baseline="0" noProof="0" dirty="0">
                <a:ln>
                  <a:noFill/>
                </a:ln>
                <a:solidFill>
                  <a:prstClr val="black"/>
                </a:solidFill>
                <a:effectLst/>
                <a:uLnTx/>
                <a:uFillTx/>
                <a:latin typeface="Boehringer Forward Text"/>
                <a:ea typeface="+mn-ea"/>
                <a:cs typeface="+mn-cs"/>
              </a:rPr>
              <a:t>9</a:t>
            </a:r>
            <a:r>
              <a:rPr lang="en-GB" altLang="zh-CN" b="1" dirty="0">
                <a:solidFill>
                  <a:prstClr val="black"/>
                </a:solidFill>
                <a:latin typeface="Boehringer Forward Text"/>
              </a:rPr>
              <a:t> outpatient visits </a:t>
            </a:r>
          </a:p>
          <a:p>
            <a:pPr lvl="1">
              <a:lnSpc>
                <a:spcPct val="200000"/>
              </a:lnSpc>
              <a:buFont typeface="Wingdings" panose="05000000000000000000" pitchFamily="2" charset="2"/>
              <a:buChar char="Ø"/>
              <a:defRPr/>
            </a:pPr>
            <a:r>
              <a:rPr lang="en-GB" altLang="zh-CN" b="1" dirty="0">
                <a:solidFill>
                  <a:prstClr val="black"/>
                </a:solidFill>
                <a:latin typeface="Boehringer Forward Text"/>
              </a:rPr>
              <a:t>44 days of hospital stay</a:t>
            </a:r>
            <a:endParaRPr kumimoji="0" lang="en-US" altLang="zh-CN" b="1" i="0" u="none" strike="noStrike" kern="1200" cap="none" spc="0" normalizeH="0" baseline="0" noProof="0" dirty="0">
              <a:ln>
                <a:noFill/>
              </a:ln>
              <a:solidFill>
                <a:prstClr val="black"/>
              </a:solidFill>
              <a:effectLst/>
              <a:uLnTx/>
              <a:uFillTx/>
              <a:latin typeface="Boehringer Forward Text"/>
              <a:ea typeface="+mn-ea"/>
              <a:cs typeface="+mn-cs"/>
            </a:endParaRPr>
          </a:p>
          <a:p>
            <a:pPr marL="216000" marR="0" lvl="0" indent="-216000" algn="l" defTabSz="914400" rtl="0" eaLnBrk="1" fontAlgn="auto" latinLnBrk="0" hangingPunct="1">
              <a:lnSpc>
                <a:spcPct val="200000"/>
              </a:lnSpc>
              <a:spcBef>
                <a:spcPts val="0"/>
              </a:spcBef>
              <a:spcAft>
                <a:spcPts val="600"/>
              </a:spcAft>
              <a:buClrTx/>
              <a:buSzTx/>
              <a:buFont typeface="Arial" panose="020B0604020202020204" pitchFamily="34" charset="0"/>
              <a:buChar char="•"/>
              <a:tabLst/>
              <a:defRPr/>
            </a:pPr>
            <a:endParaRPr kumimoji="0" lang="en-US" sz="1800" b="1" i="0" u="none" strike="noStrike" kern="1200" cap="none" spc="0" normalizeH="0" baseline="0" noProof="0" dirty="0">
              <a:ln>
                <a:noFill/>
              </a:ln>
              <a:solidFill>
                <a:prstClr val="black"/>
              </a:solidFill>
              <a:effectLst/>
              <a:uLnTx/>
              <a:uFillTx/>
              <a:latin typeface="Boehringer Forward Text"/>
              <a:ea typeface="+mn-ea"/>
              <a:cs typeface="+mn-cs"/>
            </a:endParaRPr>
          </a:p>
        </p:txBody>
      </p:sp>
      <p:sp>
        <p:nvSpPr>
          <p:cNvPr id="8" name="Textplatzhalter 8">
            <a:extLst>
              <a:ext uri="{FF2B5EF4-FFF2-40B4-BE49-F238E27FC236}">
                <a16:creationId xmlns:a16="http://schemas.microsoft.com/office/drawing/2014/main" id="{FF52CAF7-2B4E-813F-24C3-9A4D467BD578}"/>
              </a:ext>
            </a:extLst>
          </p:cNvPr>
          <p:cNvSpPr txBox="1">
            <a:spLocks/>
          </p:cNvSpPr>
          <p:nvPr/>
        </p:nvSpPr>
        <p:spPr bwMode="gray">
          <a:xfrm>
            <a:off x="1916259" y="1147158"/>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E47C"/>
                </a:solidFill>
                <a:effectLst/>
                <a:uLnTx/>
                <a:uFillTx/>
                <a:latin typeface="Boehringer Forward Head"/>
                <a:ea typeface="+mn-ea"/>
                <a:cs typeface="+mn-cs"/>
              </a:rPr>
              <a:t>Cohort 2: 1115 Patients NOT initiating 1L </a:t>
            </a:r>
          </a:p>
        </p:txBody>
      </p:sp>
      <p:sp>
        <p:nvSpPr>
          <p:cNvPr id="9" name="文本框 8">
            <a:extLst>
              <a:ext uri="{FF2B5EF4-FFF2-40B4-BE49-F238E27FC236}">
                <a16:creationId xmlns:a16="http://schemas.microsoft.com/office/drawing/2014/main" id="{2758F690-FB78-C271-C2BA-A0B3695A3287}"/>
              </a:ext>
            </a:extLst>
          </p:cNvPr>
          <p:cNvSpPr txBox="1"/>
          <p:nvPr/>
        </p:nvSpPr>
        <p:spPr bwMode="gray">
          <a:xfrm>
            <a:off x="5734240" y="5268877"/>
            <a:ext cx="3755225" cy="703719"/>
          </a:xfrm>
          <a:prstGeom prst="rect">
            <a:avLst/>
          </a:prstGeom>
          <a:ln>
            <a:solidFill>
              <a:schemeClr val="tx2"/>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spAutoFit/>
          </a:bodyPr>
          <a:lstStyle/>
          <a:p>
            <a:pPr algn="ctr">
              <a:lnSpc>
                <a:spcPct val="150000"/>
              </a:lnSpc>
            </a:pPr>
            <a:r>
              <a:rPr lang="en-US" altLang="zh-CN" sz="1600" b="1" dirty="0"/>
              <a:t>Direct medical cost</a:t>
            </a:r>
          </a:p>
          <a:p>
            <a:pPr algn="ctr">
              <a:lnSpc>
                <a:spcPct val="150000"/>
              </a:lnSpc>
            </a:pPr>
            <a:r>
              <a:rPr lang="en-US" altLang="zh-CN" sz="1600" b="1" dirty="0"/>
              <a:t>133 thousand Yuan per patient</a:t>
            </a:r>
          </a:p>
        </p:txBody>
      </p:sp>
      <p:sp>
        <p:nvSpPr>
          <p:cNvPr id="10" name="箭头: 右 9">
            <a:extLst>
              <a:ext uri="{FF2B5EF4-FFF2-40B4-BE49-F238E27FC236}">
                <a16:creationId xmlns:a16="http://schemas.microsoft.com/office/drawing/2014/main" id="{6DC2E4CF-EF0F-3209-326B-92354153A168}"/>
              </a:ext>
            </a:extLst>
          </p:cNvPr>
          <p:cNvSpPr/>
          <p:nvPr/>
        </p:nvSpPr>
        <p:spPr bwMode="gray">
          <a:xfrm>
            <a:off x="5013534" y="5476737"/>
            <a:ext cx="624625" cy="288000"/>
          </a:xfrm>
          <a:prstGeom prst="rightArrow">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dirty="0">
              <a:solidFill>
                <a:schemeClr val="tx1"/>
              </a:solidFill>
            </a:endParaRPr>
          </a:p>
        </p:txBody>
      </p:sp>
      <p:pic>
        <p:nvPicPr>
          <p:cNvPr id="11" name="图形 10" descr="孩子 轮廓">
            <a:extLst>
              <a:ext uri="{FF2B5EF4-FFF2-40B4-BE49-F238E27FC236}">
                <a16:creationId xmlns:a16="http://schemas.microsoft.com/office/drawing/2014/main" id="{DB293286-6441-43AB-7741-70F985052C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9613" y="1522834"/>
            <a:ext cx="840464" cy="840464"/>
          </a:xfrm>
          <a:prstGeom prst="rect">
            <a:avLst/>
          </a:prstGeom>
        </p:spPr>
      </p:pic>
      <p:pic>
        <p:nvPicPr>
          <p:cNvPr id="12" name="图形 11" descr="用路劲指引两个插针 轮廓">
            <a:extLst>
              <a:ext uri="{FF2B5EF4-FFF2-40B4-BE49-F238E27FC236}">
                <a16:creationId xmlns:a16="http://schemas.microsoft.com/office/drawing/2014/main" id="{9B23A22D-2865-34AD-4392-048C8FE097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6945" y="3240967"/>
            <a:ext cx="685800" cy="685800"/>
          </a:xfrm>
          <a:prstGeom prst="rect">
            <a:avLst/>
          </a:prstGeom>
        </p:spPr>
      </p:pic>
      <p:pic>
        <p:nvPicPr>
          <p:cNvPr id="13" name="图形 12" descr="男医生 轮廓">
            <a:extLst>
              <a:ext uri="{FF2B5EF4-FFF2-40B4-BE49-F238E27FC236}">
                <a16:creationId xmlns:a16="http://schemas.microsoft.com/office/drawing/2014/main" id="{28A3FB79-3757-A402-B602-C93BD0CF8E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0595" y="4431751"/>
            <a:ext cx="717904" cy="717904"/>
          </a:xfrm>
          <a:prstGeom prst="rect">
            <a:avLst/>
          </a:prstGeom>
        </p:spPr>
      </p:pic>
    </p:spTree>
    <p:extLst>
      <p:ext uri="{BB962C8B-B14F-4D97-AF65-F5344CB8AC3E}">
        <p14:creationId xmlns:p14="http://schemas.microsoft.com/office/powerpoint/2010/main" val="3540693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311D3E-EF3E-E15F-8A34-28240F822F5E}"/>
              </a:ext>
            </a:extLst>
          </p:cNvPr>
          <p:cNvSpPr>
            <a:spLocks noGrp="1"/>
          </p:cNvSpPr>
          <p:nvPr>
            <p:ph type="title"/>
          </p:nvPr>
        </p:nvSpPr>
        <p:spPr/>
        <p:txBody>
          <a:bodyPr/>
          <a:lstStyle/>
          <a:p>
            <a:r>
              <a:rPr lang="en-US" altLang="zh-CN" dirty="0"/>
              <a:t>Insight from RWE</a:t>
            </a:r>
            <a:endParaRPr lang="zh-CN" altLang="en-US" dirty="0"/>
          </a:p>
        </p:txBody>
      </p:sp>
      <p:sp>
        <p:nvSpPr>
          <p:cNvPr id="6" name="文本占位符 5">
            <a:extLst>
              <a:ext uri="{FF2B5EF4-FFF2-40B4-BE49-F238E27FC236}">
                <a16:creationId xmlns:a16="http://schemas.microsoft.com/office/drawing/2014/main" id="{BEFDFCA5-4748-FC04-5FE6-74A82DD6CB42}"/>
              </a:ext>
            </a:extLst>
          </p:cNvPr>
          <p:cNvSpPr>
            <a:spLocks noGrp="1"/>
          </p:cNvSpPr>
          <p:nvPr>
            <p:ph type="body" sz="quarter" idx="15"/>
          </p:nvPr>
        </p:nvSpPr>
        <p:spPr>
          <a:xfrm>
            <a:off x="479425" y="1412876"/>
            <a:ext cx="10216284" cy="4537074"/>
          </a:xfrm>
        </p:spPr>
        <p:txBody>
          <a:bodyPr/>
          <a:lstStyle/>
          <a:p>
            <a:pPr>
              <a:buFont typeface="Wingdings" panose="05000000000000000000" pitchFamily="2" charset="2"/>
              <a:buChar char="Ø"/>
            </a:pPr>
            <a:r>
              <a:rPr lang="en-GB" altLang="zh-CN" sz="1600" b="1" dirty="0">
                <a:solidFill>
                  <a:prstClr val="black"/>
                </a:solidFill>
                <a:latin typeface="Boehringer Forward Text"/>
              </a:rPr>
              <a:t>The 1</a:t>
            </a:r>
            <a:r>
              <a:rPr lang="en-GB" altLang="zh-CN" sz="1600" b="1" baseline="30000" dirty="0">
                <a:solidFill>
                  <a:prstClr val="black"/>
                </a:solidFill>
                <a:latin typeface="Boehringer Forward Text"/>
              </a:rPr>
              <a:t>st</a:t>
            </a:r>
            <a:r>
              <a:rPr lang="en-GB" altLang="zh-CN" sz="1600" b="1" dirty="0">
                <a:solidFill>
                  <a:prstClr val="black"/>
                </a:solidFill>
                <a:latin typeface="Boehringer Forward Text"/>
              </a:rPr>
              <a:t> and largest DDLPS cohort in China, </a:t>
            </a:r>
            <a:r>
              <a:rPr lang="en-US" altLang="zh-CN" sz="1600" b="1" dirty="0">
                <a:solidFill>
                  <a:prstClr val="black"/>
                </a:solidFill>
                <a:latin typeface="Boehringer Forward Text"/>
              </a:rPr>
              <a:t>provides detailed clinical characteristics and survival outcomes for patients in real-world setting.</a:t>
            </a:r>
            <a:endParaRPr lang="en-GB" altLang="zh-CN" sz="1600" b="1" dirty="0">
              <a:solidFill>
                <a:prstClr val="black"/>
              </a:solidFill>
              <a:latin typeface="Boehringer Forward Text"/>
            </a:endParaRPr>
          </a:p>
          <a:p>
            <a:pPr>
              <a:buFont typeface="Wingdings" panose="05000000000000000000" pitchFamily="2" charset="2"/>
              <a:buChar char="Ø"/>
            </a:pPr>
            <a:r>
              <a:rPr lang="en-US" altLang="zh-CN" sz="1600" b="1" dirty="0">
                <a:solidFill>
                  <a:prstClr val="black"/>
                </a:solidFill>
                <a:latin typeface="Boehringer Forward Text"/>
              </a:rPr>
              <a:t>Demographics and OS from this study align with results from US study, which only included 51</a:t>
            </a:r>
            <a:r>
              <a:rPr lang="en-US" altLang="zh-CN" sz="1600" b="1" dirty="0">
                <a:solidFill>
                  <a:prstClr val="black"/>
                </a:solidFill>
              </a:rPr>
              <a:t>metastatic DDLPS patient.</a:t>
            </a:r>
            <a:endParaRPr lang="en-GB" altLang="zh-CN" sz="1600" dirty="0">
              <a:solidFill>
                <a:srgbClr val="2C2C2E"/>
              </a:solidFill>
            </a:endParaRPr>
          </a:p>
          <a:p>
            <a:pPr>
              <a:buFont typeface="Wingdings" panose="05000000000000000000" pitchFamily="2" charset="2"/>
              <a:buChar char="Ø"/>
            </a:pPr>
            <a:r>
              <a:rPr lang="en-GB" altLang="zh-CN" sz="1600" b="1" dirty="0">
                <a:solidFill>
                  <a:prstClr val="black"/>
                </a:solidFill>
                <a:latin typeface="Boehringer Forward Text"/>
              </a:rPr>
              <a:t>DDLPS poses economic and HCRU burden due to need for specialist visits, repeated surgeries, in-clinic administration.</a:t>
            </a:r>
          </a:p>
          <a:p>
            <a:pPr>
              <a:buFont typeface="Wingdings" panose="05000000000000000000" pitchFamily="2" charset="2"/>
              <a:buChar char="Ø"/>
            </a:pPr>
            <a:r>
              <a:rPr lang="en-GB" altLang="zh-CN" sz="1600" b="1" dirty="0">
                <a:solidFill>
                  <a:prstClr val="black"/>
                </a:solidFill>
                <a:latin typeface="Boehringer Forward Text"/>
              </a:rPr>
              <a:t>Beyond surgery, there are limited and suboptimal systemic therapies available. There is a high unmet need for an effective therapy indicated for advanced DDLPS.</a:t>
            </a:r>
            <a:endParaRPr lang="en-GB" altLang="zh-CN" sz="1400" b="1" dirty="0">
              <a:solidFill>
                <a:prstClr val="black"/>
              </a:solidFill>
              <a:latin typeface="Boehringer Forward Text"/>
            </a:endParaRPr>
          </a:p>
          <a:p>
            <a:pPr>
              <a:buFont typeface="Wingdings" panose="05000000000000000000" pitchFamily="2" charset="2"/>
              <a:buChar char="Ø"/>
            </a:pPr>
            <a:endParaRPr lang="en-GB" altLang="zh-CN" b="0" dirty="0">
              <a:solidFill>
                <a:srgbClr val="2C2C2E"/>
              </a:solidFill>
            </a:endParaRPr>
          </a:p>
          <a:p>
            <a:pPr>
              <a:buFont typeface="Wingdings" panose="05000000000000000000" pitchFamily="2" charset="2"/>
              <a:buChar char="Ø"/>
            </a:pPr>
            <a:endParaRPr lang="zh-CN" altLang="en-US" dirty="0"/>
          </a:p>
        </p:txBody>
      </p:sp>
      <p:sp>
        <p:nvSpPr>
          <p:cNvPr id="4" name="页脚占位符 3">
            <a:extLst>
              <a:ext uri="{FF2B5EF4-FFF2-40B4-BE49-F238E27FC236}">
                <a16:creationId xmlns:a16="http://schemas.microsoft.com/office/drawing/2014/main" id="{B838B449-FA71-69B0-0863-125C52389007}"/>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dirty="0">
                <a:ln>
                  <a:noFill/>
                </a:ln>
                <a:solidFill>
                  <a:srgbClr val="08312A"/>
                </a:solidFill>
                <a:effectLst/>
                <a:uLnTx/>
                <a:uFillTx/>
                <a:latin typeface="Boehringer Forward Text"/>
                <a:ea typeface="+mn-ea"/>
                <a:cs typeface="+mn-cs"/>
              </a:rPr>
              <a:t>ONLY FOR INTERNAL USE</a:t>
            </a:r>
          </a:p>
        </p:txBody>
      </p:sp>
      <p:sp>
        <p:nvSpPr>
          <p:cNvPr id="5" name="灯片编号占位符 4">
            <a:extLst>
              <a:ext uri="{FF2B5EF4-FFF2-40B4-BE49-F238E27FC236}">
                <a16:creationId xmlns:a16="http://schemas.microsoft.com/office/drawing/2014/main" id="{F183AACA-B486-5764-5BD0-C2B956F1030B}"/>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1517498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28EE6308-174C-5C8E-4C60-975F7CED4650}"/>
              </a:ext>
            </a:extLst>
          </p:cNvPr>
          <p:cNvSpPr txBox="1">
            <a:spLocks/>
          </p:cNvSpPr>
          <p:nvPr/>
        </p:nvSpPr>
        <p:spPr bwMode="gray">
          <a:xfrm>
            <a:off x="8597813" y="2179194"/>
            <a:ext cx="2628245"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black"/>
                </a:solidFill>
                <a:effectLst/>
                <a:uLnTx/>
                <a:uFillTx/>
                <a:latin typeface="Boehringer Forward Text"/>
                <a:ea typeface="+mn-ea"/>
                <a:cs typeface="+mn-cs"/>
              </a:rPr>
              <a:t>25-29 Sep 2024, Xiamen</a:t>
            </a:r>
          </a:p>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black"/>
                </a:solidFill>
                <a:effectLst/>
                <a:uLnTx/>
                <a:uFillTx/>
                <a:latin typeface="Boehringer Forward Text"/>
                <a:ea typeface="+mn-ea"/>
                <a:cs typeface="+mn-cs"/>
              </a:rPr>
              <a:t>Oral presentation</a:t>
            </a:r>
          </a:p>
        </p:txBody>
      </p:sp>
      <p:sp>
        <p:nvSpPr>
          <p:cNvPr id="2" name="Textplatzhalter 2">
            <a:extLst>
              <a:ext uri="{FF2B5EF4-FFF2-40B4-BE49-F238E27FC236}">
                <a16:creationId xmlns:a16="http://schemas.microsoft.com/office/drawing/2014/main" id="{88623705-7572-84F0-4E97-955A4F8F5533}"/>
              </a:ext>
            </a:extLst>
          </p:cNvPr>
          <p:cNvSpPr txBox="1">
            <a:spLocks/>
          </p:cNvSpPr>
          <p:nvPr/>
        </p:nvSpPr>
        <p:spPr bwMode="gray">
          <a:xfrm>
            <a:off x="4640881" y="2179194"/>
            <a:ext cx="325047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black"/>
                </a:solidFill>
                <a:effectLst/>
                <a:uLnTx/>
                <a:uFillTx/>
                <a:latin typeface="Boehringer Forward Text"/>
                <a:ea typeface="+mn-ea"/>
                <a:cs typeface="+mn-cs"/>
              </a:rPr>
              <a:t>6-8 Dec 2024, Singapore </a:t>
            </a:r>
          </a:p>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black"/>
                </a:solidFill>
                <a:effectLst/>
                <a:uLnTx/>
                <a:uFillTx/>
                <a:latin typeface="Boehringer Forward Text"/>
                <a:ea typeface="+mn-ea"/>
                <a:cs typeface="+mn-cs"/>
              </a:rPr>
              <a:t>Poster </a:t>
            </a:r>
          </a:p>
        </p:txBody>
      </p:sp>
      <p:sp>
        <p:nvSpPr>
          <p:cNvPr id="13" name="Textplatzhalter 12">
            <a:extLst>
              <a:ext uri="{FF2B5EF4-FFF2-40B4-BE49-F238E27FC236}">
                <a16:creationId xmlns:a16="http://schemas.microsoft.com/office/drawing/2014/main" id="{4C1A02F3-852E-BC44-F9C0-4A2F38AB9C7E}"/>
              </a:ext>
            </a:extLst>
          </p:cNvPr>
          <p:cNvSpPr>
            <a:spLocks noGrp="1"/>
          </p:cNvSpPr>
          <p:nvPr>
            <p:ph type="body" sz="quarter" idx="13"/>
          </p:nvPr>
        </p:nvSpPr>
        <p:spPr bwMode="gray"/>
        <p:txBody>
          <a:bodyPr/>
          <a:lstStyle/>
          <a:p>
            <a:endParaRPr lang="en-US"/>
          </a:p>
        </p:txBody>
      </p:sp>
      <p:sp>
        <p:nvSpPr>
          <p:cNvPr id="8" name="Fußzeilenplatzhalter 7">
            <a:extLst>
              <a:ext uri="{FF2B5EF4-FFF2-40B4-BE49-F238E27FC236}">
                <a16:creationId xmlns:a16="http://schemas.microsoft.com/office/drawing/2014/main" id="{EC139BD1-0E28-D064-DD84-506A383A8AD9}"/>
              </a:ext>
            </a:extLst>
          </p:cNvPr>
          <p:cNvSpPr>
            <a:spLocks noGrp="1"/>
          </p:cNvSpPr>
          <p:nvPr>
            <p:ph type="ftr" sz="quarter" idx="10"/>
          </p:nvPr>
        </p:nvSpPr>
        <p:spPr bwMode="gray">
          <a:xfrm>
            <a:off x="6310184" y="6273572"/>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Slide library    |     ONLY FOR INTERNAL USE</a:t>
            </a:r>
          </a:p>
        </p:txBody>
      </p:sp>
      <p:sp>
        <p:nvSpPr>
          <p:cNvPr id="9" name="Foliennummernplatzhalter 8">
            <a:extLst>
              <a:ext uri="{FF2B5EF4-FFF2-40B4-BE49-F238E27FC236}">
                <a16:creationId xmlns:a16="http://schemas.microsoft.com/office/drawing/2014/main" id="{05FE7309-B331-0FD2-33FB-C8F7D20596B6}"/>
              </a:ext>
            </a:extLst>
          </p:cNvPr>
          <p:cNvSpPr>
            <a:spLocks noGrp="1"/>
          </p:cNvSpPr>
          <p:nvPr>
            <p:ph type="sldNum" sz="quarter" idx="11"/>
          </p:nvPr>
        </p:nvSpPr>
        <p:spPr bwMode="gray">
          <a:xfrm>
            <a:off x="11424592" y="6246836"/>
            <a:ext cx="288000" cy="288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7" name="Textplatzhalter 8">
            <a:extLst>
              <a:ext uri="{FF2B5EF4-FFF2-40B4-BE49-F238E27FC236}">
                <a16:creationId xmlns:a16="http://schemas.microsoft.com/office/drawing/2014/main" id="{67C03383-608B-EAF7-8495-C886678A2A7C}"/>
              </a:ext>
            </a:extLst>
          </p:cNvPr>
          <p:cNvSpPr txBox="1">
            <a:spLocks/>
          </p:cNvSpPr>
          <p:nvPr/>
        </p:nvSpPr>
        <p:spPr bwMode="gray">
          <a:xfrm>
            <a:off x="5033480" y="1470427"/>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00E47C"/>
                </a:solidFill>
                <a:effectLst/>
                <a:uLnTx/>
                <a:uFillTx/>
                <a:latin typeface="Boehringer Forward Head"/>
                <a:ea typeface="+mn-ea"/>
                <a:cs typeface="+mn-cs"/>
              </a:rPr>
              <a:t>ESMO Asia</a:t>
            </a:r>
          </a:p>
        </p:txBody>
      </p:sp>
      <p:sp>
        <p:nvSpPr>
          <p:cNvPr id="32" name="Textplatzhalter 8">
            <a:extLst>
              <a:ext uri="{FF2B5EF4-FFF2-40B4-BE49-F238E27FC236}">
                <a16:creationId xmlns:a16="http://schemas.microsoft.com/office/drawing/2014/main" id="{BA09C372-6B98-7381-9921-5F369A0B3B9A}"/>
              </a:ext>
            </a:extLst>
          </p:cNvPr>
          <p:cNvSpPr txBox="1">
            <a:spLocks/>
          </p:cNvSpPr>
          <p:nvPr/>
        </p:nvSpPr>
        <p:spPr bwMode="gray">
          <a:xfrm>
            <a:off x="9271416" y="1470357"/>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00E47C"/>
                </a:solidFill>
                <a:effectLst/>
                <a:uLnTx/>
                <a:uFillTx/>
                <a:latin typeface="Boehringer Forward Head"/>
                <a:ea typeface="+mn-ea"/>
                <a:cs typeface="+mn-cs"/>
              </a:rPr>
              <a:t>CSCO</a:t>
            </a:r>
          </a:p>
        </p:txBody>
      </p:sp>
      <p:sp>
        <p:nvSpPr>
          <p:cNvPr id="11" name="Title 1">
            <a:extLst>
              <a:ext uri="{FF2B5EF4-FFF2-40B4-BE49-F238E27FC236}">
                <a16:creationId xmlns:a16="http://schemas.microsoft.com/office/drawing/2014/main" id="{C21EF989-E451-F784-E393-6EEBDA87112E}"/>
              </a:ext>
            </a:extLst>
          </p:cNvPr>
          <p:cNvSpPr txBox="1">
            <a:spLocks/>
          </p:cNvSpPr>
          <p:nvPr/>
        </p:nvSpPr>
        <p:spPr bwMode="gray">
          <a:xfrm>
            <a:off x="752538" y="441966"/>
            <a:ext cx="11233151"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j-ea"/>
                <a:cs typeface="+mj-cs"/>
              </a:rPr>
              <a:t>1403-0024 DDLPS RWE Publication Plan &amp; Timelines</a:t>
            </a:r>
          </a:p>
        </p:txBody>
      </p:sp>
      <p:sp>
        <p:nvSpPr>
          <p:cNvPr id="6" name="Textplatzhalter 2">
            <a:extLst>
              <a:ext uri="{FF2B5EF4-FFF2-40B4-BE49-F238E27FC236}">
                <a16:creationId xmlns:a16="http://schemas.microsoft.com/office/drawing/2014/main" id="{B1086A7E-6BA8-67DD-1FC0-DC93AC1BFB27}"/>
              </a:ext>
            </a:extLst>
          </p:cNvPr>
          <p:cNvSpPr txBox="1">
            <a:spLocks/>
          </p:cNvSpPr>
          <p:nvPr/>
        </p:nvSpPr>
        <p:spPr bwMode="gray">
          <a:xfrm>
            <a:off x="965941" y="2179194"/>
            <a:ext cx="3250470" cy="252028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black"/>
                </a:solidFill>
                <a:effectLst/>
                <a:uLnTx/>
                <a:uFillTx/>
                <a:latin typeface="Boehringer Forward Text"/>
                <a:ea typeface="+mn-ea"/>
                <a:cs typeface="+mn-cs"/>
              </a:rPr>
              <a:t>13-16 Nov 2024, San Diego </a:t>
            </a:r>
          </a:p>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r>
              <a:rPr kumimoji="0" lang="en-US" altLang="zh-CN" sz="1600" b="1" i="0" u="none" strike="noStrike" kern="1200" cap="none" spc="0" normalizeH="0" baseline="0" noProof="0" dirty="0">
                <a:ln>
                  <a:noFill/>
                </a:ln>
                <a:solidFill>
                  <a:prstClr val="black"/>
                </a:solidFill>
                <a:effectLst/>
                <a:uLnTx/>
                <a:uFillTx/>
                <a:latin typeface="Boehringer Forward Text"/>
                <a:ea typeface="+mn-ea"/>
                <a:cs typeface="+mn-cs"/>
              </a:rPr>
              <a:t>Poster</a:t>
            </a:r>
            <a:endParaRPr kumimoji="0" lang="en-US" sz="1600" b="1" i="0" u="none" strike="noStrike" kern="1200" cap="none" spc="0" normalizeH="0" baseline="0" noProof="0" dirty="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4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Boehringer Forward Text"/>
                <a:ea typeface="+mn-ea"/>
                <a:cs typeface="+mn-cs"/>
              </a:rPr>
              <a:t> </a:t>
            </a:r>
          </a:p>
        </p:txBody>
      </p:sp>
      <p:sp>
        <p:nvSpPr>
          <p:cNvPr id="12" name="Textplatzhalter 8">
            <a:extLst>
              <a:ext uri="{FF2B5EF4-FFF2-40B4-BE49-F238E27FC236}">
                <a16:creationId xmlns:a16="http://schemas.microsoft.com/office/drawing/2014/main" id="{77D158DB-D478-523A-15FC-060788376012}"/>
              </a:ext>
            </a:extLst>
          </p:cNvPr>
          <p:cNvSpPr txBox="1">
            <a:spLocks/>
          </p:cNvSpPr>
          <p:nvPr/>
        </p:nvSpPr>
        <p:spPr bwMode="gray">
          <a:xfrm>
            <a:off x="1624584" y="1459522"/>
            <a:ext cx="2592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00E47C"/>
                </a:solidFill>
                <a:effectLst/>
                <a:uLnTx/>
                <a:uFillTx/>
                <a:latin typeface="Boehringer Forward Head"/>
                <a:ea typeface="+mn-ea"/>
                <a:cs typeface="+mn-cs"/>
              </a:rPr>
              <a:t>CTOS</a:t>
            </a:r>
          </a:p>
        </p:txBody>
      </p:sp>
      <p:sp>
        <p:nvSpPr>
          <p:cNvPr id="14" name="Title 1">
            <a:extLst>
              <a:ext uri="{FF2B5EF4-FFF2-40B4-BE49-F238E27FC236}">
                <a16:creationId xmlns:a16="http://schemas.microsoft.com/office/drawing/2014/main" id="{5FC41C4D-7C1B-D09A-1A97-8D028D97A383}"/>
              </a:ext>
            </a:extLst>
          </p:cNvPr>
          <p:cNvSpPr txBox="1">
            <a:spLocks/>
          </p:cNvSpPr>
          <p:nvPr/>
        </p:nvSpPr>
        <p:spPr bwMode="gray">
          <a:xfrm>
            <a:off x="752538" y="3439334"/>
            <a:ext cx="11233151"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500" b="1" i="0" u="none" strike="noStrike" kern="1200" cap="none" spc="0" normalizeH="0" baseline="0" noProof="0" dirty="0">
                <a:ln>
                  <a:noFill/>
                </a:ln>
                <a:solidFill>
                  <a:srgbClr val="08312A"/>
                </a:solidFill>
                <a:effectLst/>
                <a:uLnTx/>
                <a:uFillTx/>
                <a:latin typeface="Boehringer Forward Head"/>
                <a:ea typeface="+mj-ea"/>
                <a:cs typeface="+mj-cs"/>
              </a:rPr>
              <a:t>Study Timelines</a:t>
            </a:r>
          </a:p>
        </p:txBody>
      </p:sp>
      <p:cxnSp>
        <p:nvCxnSpPr>
          <p:cNvPr id="15" name="直接连接符 14">
            <a:extLst>
              <a:ext uri="{FF2B5EF4-FFF2-40B4-BE49-F238E27FC236}">
                <a16:creationId xmlns:a16="http://schemas.microsoft.com/office/drawing/2014/main" id="{9D9FA26E-8011-35BA-A763-3FAAAE1D0433}"/>
              </a:ext>
            </a:extLst>
          </p:cNvPr>
          <p:cNvCxnSpPr>
            <a:cxnSpLocks/>
          </p:cNvCxnSpPr>
          <p:nvPr/>
        </p:nvCxnSpPr>
        <p:spPr>
          <a:xfrm flipV="1">
            <a:off x="579550" y="5037009"/>
            <a:ext cx="10609786" cy="23956"/>
          </a:xfrm>
          <a:prstGeom prst="line">
            <a:avLst/>
          </a:prstGeom>
          <a:noFill/>
          <a:ln w="82550" cap="flat" cmpd="sng" algn="ctr">
            <a:solidFill>
              <a:schemeClr val="accent1">
                <a:lumMod val="90000"/>
                <a:lumOff val="10000"/>
              </a:schemeClr>
            </a:solidFill>
            <a:prstDash val="solid"/>
            <a:headEnd type="none"/>
            <a:tailEnd type="triangle"/>
          </a:ln>
          <a:effectLst/>
        </p:spPr>
      </p:cxnSp>
      <p:grpSp>
        <p:nvGrpSpPr>
          <p:cNvPr id="16" name="组合 15">
            <a:extLst>
              <a:ext uri="{FF2B5EF4-FFF2-40B4-BE49-F238E27FC236}">
                <a16:creationId xmlns:a16="http://schemas.microsoft.com/office/drawing/2014/main" id="{7F8A7084-5795-276A-9EF3-270CFBF87489}"/>
              </a:ext>
            </a:extLst>
          </p:cNvPr>
          <p:cNvGrpSpPr/>
          <p:nvPr/>
        </p:nvGrpSpPr>
        <p:grpSpPr>
          <a:xfrm>
            <a:off x="871875" y="5087407"/>
            <a:ext cx="999438" cy="496424"/>
            <a:chOff x="3257248" y="3539684"/>
            <a:chExt cx="1824400" cy="661897"/>
          </a:xfrm>
        </p:grpSpPr>
        <p:sp>
          <p:nvSpPr>
            <p:cNvPr id="17" name="流程图: 合并 16">
              <a:extLst>
                <a:ext uri="{FF2B5EF4-FFF2-40B4-BE49-F238E27FC236}">
                  <a16:creationId xmlns:a16="http://schemas.microsoft.com/office/drawing/2014/main" id="{0403F47A-D88D-C795-A1D0-5FC716043E98}"/>
                </a:ext>
              </a:extLst>
            </p:cNvPr>
            <p:cNvSpPr/>
            <p:nvPr/>
          </p:nvSpPr>
          <p:spPr>
            <a:xfrm rot="10800000">
              <a:off x="4081085" y="3539684"/>
              <a:ext cx="279500" cy="199198"/>
            </a:xfrm>
            <a:prstGeom prst="flowChartMerge">
              <a:avLst/>
            </a:prstGeom>
            <a:solidFill>
              <a:srgbClr val="2CEE86"/>
            </a:solidFill>
            <a:ln w="9525" cap="flat" cmpd="sng" algn="ctr">
              <a:noFill/>
              <a:prstDash val="solid"/>
              <a:tailEnd type="triangle"/>
            </a:ln>
            <a:effectLst/>
          </p:spPr>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Garamond" panose="02020404030301010803" pitchFamily="18" charset="0"/>
              </a:endParaRPr>
            </a:p>
          </p:txBody>
        </p:sp>
        <p:sp>
          <p:nvSpPr>
            <p:cNvPr id="18" name="文本框 64">
              <a:extLst>
                <a:ext uri="{FF2B5EF4-FFF2-40B4-BE49-F238E27FC236}">
                  <a16:creationId xmlns:a16="http://schemas.microsoft.com/office/drawing/2014/main" id="{6DA8AAC8-AF64-3F50-C537-E470F8B580BC}"/>
                </a:ext>
              </a:extLst>
            </p:cNvPr>
            <p:cNvSpPr txBox="1"/>
            <p:nvPr/>
          </p:nvSpPr>
          <p:spPr>
            <a:xfrm>
              <a:off x="3257248" y="3832250"/>
              <a:ext cx="1824400" cy="369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rPr>
                <a:t>23 Jan </a:t>
              </a:r>
              <a:r>
                <a:rPr kumimoji="0" lang="zh-CN" altLang="en-US"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rPr>
                <a:t>✔</a:t>
              </a:r>
            </a:p>
          </p:txBody>
        </p:sp>
      </p:grpSp>
      <p:sp>
        <p:nvSpPr>
          <p:cNvPr id="19" name="Rounded Rectangle 77">
            <a:extLst>
              <a:ext uri="{FF2B5EF4-FFF2-40B4-BE49-F238E27FC236}">
                <a16:creationId xmlns:a16="http://schemas.microsoft.com/office/drawing/2014/main" id="{319E411F-0277-7F39-C94E-71596CB4F21F}"/>
              </a:ext>
            </a:extLst>
          </p:cNvPr>
          <p:cNvSpPr/>
          <p:nvPr/>
        </p:nvSpPr>
        <p:spPr bwMode="auto">
          <a:xfrm>
            <a:off x="685880" y="4283871"/>
            <a:ext cx="1404000" cy="646916"/>
          </a:xfrm>
          <a:prstGeom prst="roundRect">
            <a:avLst/>
          </a:prstGeom>
          <a:solidFill>
            <a:schemeClr val="accent1">
              <a:lumMod val="90000"/>
              <a:lumOff val="10000"/>
            </a:schemeClr>
          </a:solidFill>
          <a:ln w="9525" cap="flat" cmpd="sng" algn="ctr">
            <a:solidFill>
              <a:srgbClr val="FFFFFF"/>
            </a:solidFill>
            <a:prstDash val="solid"/>
          </a:ln>
          <a:effectLst>
            <a:outerShdw blurRad="40000" dist="20000" dir="5400000" rotWithShape="0">
              <a:srgbClr val="000000">
                <a:alpha val="38000"/>
              </a:srgbClr>
            </a:outerShdw>
          </a:effectLst>
        </p:spPr>
        <p:txBody>
          <a:bodyPr anchor="ctr">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BISansOpti"/>
                <a:ea typeface="+mn-ea"/>
                <a:cs typeface="+mn-cs"/>
                <a:sym typeface="+mn-lt"/>
              </a:rPr>
              <a:t>Proposal Approval</a:t>
            </a:r>
            <a:endParaRPr kumimoji="0" lang="en-GB" sz="1200" b="1" i="0" u="none" strike="noStrike" kern="1200" cap="none" spc="0" normalizeH="0" baseline="0" noProof="0" dirty="0">
              <a:ln>
                <a:noFill/>
              </a:ln>
              <a:solidFill>
                <a:prstClr val="white"/>
              </a:solidFill>
              <a:effectLst/>
              <a:uLnTx/>
              <a:uFillTx/>
              <a:latin typeface="BISansOpti"/>
              <a:ea typeface="+mn-ea"/>
              <a:cs typeface="+mn-cs"/>
              <a:sym typeface="+mn-lt"/>
            </a:endParaRPr>
          </a:p>
        </p:txBody>
      </p:sp>
      <p:sp>
        <p:nvSpPr>
          <p:cNvPr id="20" name="Rounded Rectangle 77">
            <a:extLst>
              <a:ext uri="{FF2B5EF4-FFF2-40B4-BE49-F238E27FC236}">
                <a16:creationId xmlns:a16="http://schemas.microsoft.com/office/drawing/2014/main" id="{7FCCB666-5D64-CABF-6AC2-A576C7FC5660}"/>
              </a:ext>
            </a:extLst>
          </p:cNvPr>
          <p:cNvSpPr/>
          <p:nvPr/>
        </p:nvSpPr>
        <p:spPr bwMode="auto">
          <a:xfrm>
            <a:off x="2154636" y="4273037"/>
            <a:ext cx="1404000" cy="646916"/>
          </a:xfrm>
          <a:prstGeom prst="roundRect">
            <a:avLst/>
          </a:prstGeom>
          <a:solidFill>
            <a:schemeClr val="accent1">
              <a:lumMod val="90000"/>
              <a:lumOff val="10000"/>
            </a:schemeClr>
          </a:solidFill>
          <a:ln w="9525" cap="flat" cmpd="sng" algn="ctr">
            <a:solidFill>
              <a:srgbClr val="FFFFFF"/>
            </a:solidFill>
            <a:prstDash val="solid"/>
          </a:ln>
          <a:effectLst>
            <a:outerShdw blurRad="40000" dist="20000" dir="5400000" rotWithShape="0">
              <a:srgbClr val="000000">
                <a:alpha val="38000"/>
              </a:srgbClr>
            </a:outerShdw>
          </a:effectLst>
        </p:spPr>
        <p:txBody>
          <a:bodyPr anchor="ctr">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white"/>
                </a:solidFill>
                <a:effectLst/>
                <a:uLnTx/>
                <a:uFillTx/>
                <a:latin typeface="BISansOpti"/>
                <a:ea typeface="+mn-ea"/>
                <a:cs typeface="+mn-cs"/>
                <a:sym typeface="+mn-lt"/>
              </a:rPr>
              <a:t>Protocol Approval</a:t>
            </a:r>
          </a:p>
        </p:txBody>
      </p:sp>
      <p:grpSp>
        <p:nvGrpSpPr>
          <p:cNvPr id="21" name="组合 20">
            <a:extLst>
              <a:ext uri="{FF2B5EF4-FFF2-40B4-BE49-F238E27FC236}">
                <a16:creationId xmlns:a16="http://schemas.microsoft.com/office/drawing/2014/main" id="{B98ADAAA-439D-7573-0FC7-3E9E6F9EEB29}"/>
              </a:ext>
            </a:extLst>
          </p:cNvPr>
          <p:cNvGrpSpPr/>
          <p:nvPr/>
        </p:nvGrpSpPr>
        <p:grpSpPr>
          <a:xfrm>
            <a:off x="2467947" y="5094558"/>
            <a:ext cx="877239" cy="505950"/>
            <a:chOff x="3717664" y="3526984"/>
            <a:chExt cx="1601335" cy="674600"/>
          </a:xfrm>
        </p:grpSpPr>
        <p:sp>
          <p:nvSpPr>
            <p:cNvPr id="22" name="流程图: 合并 21">
              <a:extLst>
                <a:ext uri="{FF2B5EF4-FFF2-40B4-BE49-F238E27FC236}">
                  <a16:creationId xmlns:a16="http://schemas.microsoft.com/office/drawing/2014/main" id="{158E5D4D-DB5A-BDE1-4291-EAA289A4887F}"/>
                </a:ext>
              </a:extLst>
            </p:cNvPr>
            <p:cNvSpPr/>
            <p:nvPr/>
          </p:nvSpPr>
          <p:spPr>
            <a:xfrm rot="10800000">
              <a:off x="4314001" y="3526984"/>
              <a:ext cx="279500" cy="199197"/>
            </a:xfrm>
            <a:prstGeom prst="flowChartMerge">
              <a:avLst/>
            </a:prstGeom>
            <a:solidFill>
              <a:srgbClr val="2CEE86"/>
            </a:solidFill>
            <a:ln w="9525" cap="flat" cmpd="sng" algn="ctr">
              <a:noFill/>
              <a:prstDash val="solid"/>
              <a:tailEnd type="triangle"/>
            </a:ln>
            <a:effectLst/>
          </p:spPr>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Garamond" panose="02020404030301010803" pitchFamily="18" charset="0"/>
              </a:endParaRPr>
            </a:p>
          </p:txBody>
        </p:sp>
        <p:sp>
          <p:nvSpPr>
            <p:cNvPr id="23" name="文本框 64">
              <a:extLst>
                <a:ext uri="{FF2B5EF4-FFF2-40B4-BE49-F238E27FC236}">
                  <a16:creationId xmlns:a16="http://schemas.microsoft.com/office/drawing/2014/main" id="{C626FEFE-DA35-9D8F-DE60-EDC2EAD2D625}"/>
                </a:ext>
              </a:extLst>
            </p:cNvPr>
            <p:cNvSpPr txBox="1"/>
            <p:nvPr/>
          </p:nvSpPr>
          <p:spPr>
            <a:xfrm>
              <a:off x="3717664" y="3832252"/>
              <a:ext cx="160133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rPr>
                <a:t>23 May </a:t>
              </a:r>
              <a:r>
                <a:rPr kumimoji="0" lang="zh-CN" altLang="en-US"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rPr>
                <a:t>✔</a:t>
              </a:r>
              <a:endParaRPr kumimoji="0" lang="en-US" altLang="zh-CN"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endParaRPr>
            </a:p>
          </p:txBody>
        </p:sp>
      </p:grpSp>
      <p:grpSp>
        <p:nvGrpSpPr>
          <p:cNvPr id="24" name="组合 23">
            <a:extLst>
              <a:ext uri="{FF2B5EF4-FFF2-40B4-BE49-F238E27FC236}">
                <a16:creationId xmlns:a16="http://schemas.microsoft.com/office/drawing/2014/main" id="{69F60DC4-BA81-F5F9-33F7-12938D2BACE8}"/>
              </a:ext>
            </a:extLst>
          </p:cNvPr>
          <p:cNvGrpSpPr/>
          <p:nvPr/>
        </p:nvGrpSpPr>
        <p:grpSpPr>
          <a:xfrm>
            <a:off x="3925135" y="5092858"/>
            <a:ext cx="877239" cy="496425"/>
            <a:chOff x="3717664" y="3539684"/>
            <a:chExt cx="1601335" cy="661900"/>
          </a:xfrm>
        </p:grpSpPr>
        <p:sp>
          <p:nvSpPr>
            <p:cNvPr id="25" name="流程图: 合并 24">
              <a:extLst>
                <a:ext uri="{FF2B5EF4-FFF2-40B4-BE49-F238E27FC236}">
                  <a16:creationId xmlns:a16="http://schemas.microsoft.com/office/drawing/2014/main" id="{A455ADC3-4300-ECC5-4AB8-052013B64274}"/>
                </a:ext>
              </a:extLst>
            </p:cNvPr>
            <p:cNvSpPr/>
            <p:nvPr/>
          </p:nvSpPr>
          <p:spPr>
            <a:xfrm rot="10800000">
              <a:off x="4314001" y="3539684"/>
              <a:ext cx="279500" cy="199198"/>
            </a:xfrm>
            <a:prstGeom prst="flowChartMerge">
              <a:avLst/>
            </a:prstGeom>
            <a:solidFill>
              <a:srgbClr val="2CEE86"/>
            </a:solidFill>
            <a:ln w="9525" cap="flat" cmpd="sng" algn="ctr">
              <a:noFill/>
              <a:prstDash val="solid"/>
              <a:tailEnd type="triangle"/>
            </a:ln>
            <a:effectLst/>
          </p:spPr>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Garamond" panose="02020404030301010803" pitchFamily="18" charset="0"/>
              </a:endParaRPr>
            </a:p>
          </p:txBody>
        </p:sp>
        <p:sp>
          <p:nvSpPr>
            <p:cNvPr id="26" name="文本框 64">
              <a:extLst>
                <a:ext uri="{FF2B5EF4-FFF2-40B4-BE49-F238E27FC236}">
                  <a16:creationId xmlns:a16="http://schemas.microsoft.com/office/drawing/2014/main" id="{BDE8B760-A66E-9B9B-2581-4F4288954A01}"/>
                </a:ext>
              </a:extLst>
            </p:cNvPr>
            <p:cNvSpPr txBox="1"/>
            <p:nvPr/>
          </p:nvSpPr>
          <p:spPr>
            <a:xfrm>
              <a:off x="3717664" y="3832252"/>
              <a:ext cx="160133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rPr>
                <a:t>23 Nov </a:t>
              </a:r>
              <a:r>
                <a:rPr kumimoji="0" lang="zh-CN" altLang="en-US"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rPr>
                <a:t>✔</a:t>
              </a:r>
            </a:p>
          </p:txBody>
        </p:sp>
      </p:grpSp>
      <p:sp>
        <p:nvSpPr>
          <p:cNvPr id="28" name="Rounded Rectangle 77">
            <a:extLst>
              <a:ext uri="{FF2B5EF4-FFF2-40B4-BE49-F238E27FC236}">
                <a16:creationId xmlns:a16="http://schemas.microsoft.com/office/drawing/2014/main" id="{5892059F-0142-470B-1AB1-CAA2298686F1}"/>
              </a:ext>
            </a:extLst>
          </p:cNvPr>
          <p:cNvSpPr/>
          <p:nvPr/>
        </p:nvSpPr>
        <p:spPr bwMode="auto">
          <a:xfrm>
            <a:off x="3629480" y="4273037"/>
            <a:ext cx="1404000" cy="646916"/>
          </a:xfrm>
          <a:prstGeom prst="roundRect">
            <a:avLst/>
          </a:prstGeom>
          <a:solidFill>
            <a:schemeClr val="accent1">
              <a:lumMod val="90000"/>
              <a:lumOff val="10000"/>
            </a:schemeClr>
          </a:solidFill>
          <a:ln w="9525" cap="flat" cmpd="sng" algn="ctr">
            <a:solidFill>
              <a:srgbClr val="FFFFFF"/>
            </a:solidFill>
            <a:prstDash val="solid"/>
          </a:ln>
          <a:effectLst>
            <a:outerShdw blurRad="40000" dist="20000" dir="5400000" rotWithShape="0">
              <a:srgbClr val="000000">
                <a:alpha val="38000"/>
              </a:srgbClr>
            </a:outerShdw>
          </a:effectLst>
        </p:spPr>
        <p:txBody>
          <a:bodyPr anchor="ctr">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white"/>
                </a:solidFill>
                <a:effectLst/>
                <a:uLnTx/>
                <a:uFillTx/>
                <a:latin typeface="BISansOpti"/>
                <a:ea typeface="+mn-ea"/>
                <a:cs typeface="+mn-cs"/>
                <a:sym typeface="+mn-lt"/>
              </a:rPr>
              <a:t>EC Approval</a:t>
            </a:r>
          </a:p>
        </p:txBody>
      </p:sp>
      <p:sp>
        <p:nvSpPr>
          <p:cNvPr id="29" name="Rounded Rectangle 77">
            <a:extLst>
              <a:ext uri="{FF2B5EF4-FFF2-40B4-BE49-F238E27FC236}">
                <a16:creationId xmlns:a16="http://schemas.microsoft.com/office/drawing/2014/main" id="{B084C7B3-C9A1-1716-EF61-F4716F9405CE}"/>
              </a:ext>
            </a:extLst>
          </p:cNvPr>
          <p:cNvSpPr/>
          <p:nvPr/>
        </p:nvSpPr>
        <p:spPr bwMode="auto">
          <a:xfrm>
            <a:off x="6571619" y="4273037"/>
            <a:ext cx="1404000" cy="646916"/>
          </a:xfrm>
          <a:prstGeom prst="roundRect">
            <a:avLst/>
          </a:prstGeom>
          <a:solidFill>
            <a:schemeClr val="accent1">
              <a:lumMod val="90000"/>
              <a:lumOff val="10000"/>
            </a:schemeClr>
          </a:solidFill>
          <a:ln w="9525" cap="flat" cmpd="sng" algn="ctr">
            <a:solidFill>
              <a:srgbClr val="FFFFFF"/>
            </a:solidFill>
            <a:prstDash val="solid"/>
          </a:ln>
          <a:effectLst>
            <a:outerShdw blurRad="40000" dist="20000" dir="5400000" rotWithShape="0">
              <a:srgbClr val="000000">
                <a:alpha val="38000"/>
              </a:srgbClr>
            </a:outerShdw>
          </a:effectLst>
        </p:spPr>
        <p:txBody>
          <a:bodyPr anchor="ctr">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white"/>
                </a:solidFill>
                <a:effectLst/>
                <a:uLnTx/>
                <a:uFillTx/>
                <a:latin typeface="BISansOpti"/>
                <a:ea typeface="+mn-ea"/>
                <a:cs typeface="+mn-cs"/>
                <a:sym typeface="+mn-lt"/>
              </a:rPr>
              <a:t>Conference Abstract submission</a:t>
            </a:r>
            <a:endParaRPr kumimoji="0" lang="en-GB" altLang="zh-CN" sz="1200" b="1" i="0" u="none" strike="noStrike" kern="1200" cap="none" spc="0" normalizeH="0" baseline="0" noProof="0" dirty="0">
              <a:ln>
                <a:noFill/>
              </a:ln>
              <a:solidFill>
                <a:prstClr val="white"/>
              </a:solidFill>
              <a:effectLst/>
              <a:uLnTx/>
              <a:uFillTx/>
              <a:latin typeface="BISansOpti"/>
              <a:ea typeface="+mn-ea"/>
              <a:cs typeface="+mn-cs"/>
              <a:sym typeface="+mn-lt"/>
            </a:endParaRPr>
          </a:p>
        </p:txBody>
      </p:sp>
      <p:grpSp>
        <p:nvGrpSpPr>
          <p:cNvPr id="30" name="组合 29">
            <a:extLst>
              <a:ext uri="{FF2B5EF4-FFF2-40B4-BE49-F238E27FC236}">
                <a16:creationId xmlns:a16="http://schemas.microsoft.com/office/drawing/2014/main" id="{AEA04D7A-F803-9D9F-A0C4-669ABFE4E439}"/>
              </a:ext>
            </a:extLst>
          </p:cNvPr>
          <p:cNvGrpSpPr/>
          <p:nvPr/>
        </p:nvGrpSpPr>
        <p:grpSpPr>
          <a:xfrm>
            <a:off x="6921590" y="5091259"/>
            <a:ext cx="747213" cy="496426"/>
            <a:chOff x="3717664" y="3539684"/>
            <a:chExt cx="1363982" cy="661900"/>
          </a:xfrm>
        </p:grpSpPr>
        <p:sp>
          <p:nvSpPr>
            <p:cNvPr id="31" name="流程图: 合并 30">
              <a:extLst>
                <a:ext uri="{FF2B5EF4-FFF2-40B4-BE49-F238E27FC236}">
                  <a16:creationId xmlns:a16="http://schemas.microsoft.com/office/drawing/2014/main" id="{0F30FFE4-A76B-6440-049C-ED72C481194B}"/>
                </a:ext>
              </a:extLst>
            </p:cNvPr>
            <p:cNvSpPr/>
            <p:nvPr/>
          </p:nvSpPr>
          <p:spPr>
            <a:xfrm rot="10800000">
              <a:off x="4314001" y="3539684"/>
              <a:ext cx="279500" cy="199198"/>
            </a:xfrm>
            <a:prstGeom prst="flowChartMerge">
              <a:avLst/>
            </a:prstGeom>
            <a:solidFill>
              <a:srgbClr val="2CEE86"/>
            </a:solidFill>
            <a:ln w="9525" cap="flat" cmpd="sng" algn="ctr">
              <a:noFill/>
              <a:prstDash val="solid"/>
              <a:tailEnd type="triangle"/>
            </a:ln>
            <a:effectLst/>
          </p:spPr>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Garamond" panose="02020404030301010803" pitchFamily="18" charset="0"/>
              </a:endParaRPr>
            </a:p>
          </p:txBody>
        </p:sp>
        <p:sp>
          <p:nvSpPr>
            <p:cNvPr id="33" name="文本框 64">
              <a:extLst>
                <a:ext uri="{FF2B5EF4-FFF2-40B4-BE49-F238E27FC236}">
                  <a16:creationId xmlns:a16="http://schemas.microsoft.com/office/drawing/2014/main" id="{4BB08ADC-7BDC-145D-0D92-32FC9985FBA3}"/>
                </a:ext>
              </a:extLst>
            </p:cNvPr>
            <p:cNvSpPr txBox="1"/>
            <p:nvPr/>
          </p:nvSpPr>
          <p:spPr>
            <a:xfrm>
              <a:off x="3717664" y="3832252"/>
              <a:ext cx="1363982"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rPr>
                <a:t>24 Jun</a:t>
              </a:r>
              <a:endParaRPr kumimoji="0" lang="zh-CN" altLang="en-US"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endParaRPr>
            </a:p>
          </p:txBody>
        </p:sp>
      </p:grpSp>
      <p:grpSp>
        <p:nvGrpSpPr>
          <p:cNvPr id="34" name="组合 33">
            <a:extLst>
              <a:ext uri="{FF2B5EF4-FFF2-40B4-BE49-F238E27FC236}">
                <a16:creationId xmlns:a16="http://schemas.microsoft.com/office/drawing/2014/main" id="{BAE96AC7-2CF9-9C03-49F6-2B1BE6C469DB}"/>
              </a:ext>
            </a:extLst>
          </p:cNvPr>
          <p:cNvGrpSpPr/>
          <p:nvPr/>
        </p:nvGrpSpPr>
        <p:grpSpPr>
          <a:xfrm>
            <a:off x="9839881" y="5060965"/>
            <a:ext cx="747213" cy="496426"/>
            <a:chOff x="3717664" y="3539684"/>
            <a:chExt cx="1363982" cy="661900"/>
          </a:xfrm>
        </p:grpSpPr>
        <p:sp>
          <p:nvSpPr>
            <p:cNvPr id="35" name="流程图: 合并 34">
              <a:extLst>
                <a:ext uri="{FF2B5EF4-FFF2-40B4-BE49-F238E27FC236}">
                  <a16:creationId xmlns:a16="http://schemas.microsoft.com/office/drawing/2014/main" id="{95FC3E12-B990-904D-8034-23F3015854D4}"/>
                </a:ext>
              </a:extLst>
            </p:cNvPr>
            <p:cNvSpPr/>
            <p:nvPr/>
          </p:nvSpPr>
          <p:spPr>
            <a:xfrm rot="10800000">
              <a:off x="4314001" y="3539684"/>
              <a:ext cx="279500" cy="199198"/>
            </a:xfrm>
            <a:prstGeom prst="flowChartMerge">
              <a:avLst/>
            </a:prstGeom>
            <a:solidFill>
              <a:srgbClr val="2CEE86"/>
            </a:solidFill>
            <a:ln w="9525" cap="flat" cmpd="sng" algn="ctr">
              <a:noFill/>
              <a:prstDash val="solid"/>
              <a:tailEnd type="triangle"/>
            </a:ln>
            <a:effectLst/>
          </p:spPr>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Garamond" panose="02020404030301010803" pitchFamily="18" charset="0"/>
              </a:endParaRPr>
            </a:p>
          </p:txBody>
        </p:sp>
        <p:sp>
          <p:nvSpPr>
            <p:cNvPr id="36" name="文本框 64">
              <a:extLst>
                <a:ext uri="{FF2B5EF4-FFF2-40B4-BE49-F238E27FC236}">
                  <a16:creationId xmlns:a16="http://schemas.microsoft.com/office/drawing/2014/main" id="{1D348FD2-4F02-AD4D-9D80-5D0F502C6CD8}"/>
                </a:ext>
              </a:extLst>
            </p:cNvPr>
            <p:cNvSpPr txBox="1"/>
            <p:nvPr/>
          </p:nvSpPr>
          <p:spPr>
            <a:xfrm>
              <a:off x="3717664" y="3832252"/>
              <a:ext cx="1363982"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rPr>
                <a:t>24 Nov</a:t>
              </a:r>
              <a:endParaRPr kumimoji="0" lang="zh-CN" altLang="en-US"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endParaRPr>
            </a:p>
          </p:txBody>
        </p:sp>
      </p:grpSp>
      <p:sp>
        <p:nvSpPr>
          <p:cNvPr id="37" name="Rounded Rectangle 77">
            <a:extLst>
              <a:ext uri="{FF2B5EF4-FFF2-40B4-BE49-F238E27FC236}">
                <a16:creationId xmlns:a16="http://schemas.microsoft.com/office/drawing/2014/main" id="{72607DD8-979D-E374-98B4-66EB887D05BD}"/>
              </a:ext>
            </a:extLst>
          </p:cNvPr>
          <p:cNvSpPr/>
          <p:nvPr/>
        </p:nvSpPr>
        <p:spPr bwMode="auto">
          <a:xfrm>
            <a:off x="9499874" y="4268710"/>
            <a:ext cx="1404000" cy="646916"/>
          </a:xfrm>
          <a:prstGeom prst="roundRect">
            <a:avLst/>
          </a:prstGeom>
          <a:solidFill>
            <a:schemeClr val="accent1">
              <a:lumMod val="90000"/>
              <a:lumOff val="10000"/>
            </a:schemeClr>
          </a:solidFill>
          <a:ln w="9525" cap="flat" cmpd="sng" algn="ctr">
            <a:solidFill>
              <a:srgbClr val="FFFFFF"/>
            </a:solidFill>
            <a:prstDash val="solid"/>
          </a:ln>
          <a:effectLst>
            <a:outerShdw blurRad="40000" dist="20000" dir="5400000" rotWithShape="0">
              <a:srgbClr val="000000">
                <a:alpha val="38000"/>
              </a:srgbClr>
            </a:outerShdw>
          </a:effectLst>
        </p:spPr>
        <p:txBody>
          <a:bodyPr anchor="ctr">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white"/>
                </a:solidFill>
                <a:effectLst/>
                <a:uLnTx/>
                <a:uFillTx/>
                <a:latin typeface="BISansOpti"/>
                <a:ea typeface="+mn-ea"/>
                <a:cs typeface="+mn-cs"/>
                <a:sym typeface="+mn-lt"/>
              </a:rPr>
              <a:t>Results </a:t>
            </a:r>
            <a:r>
              <a:rPr kumimoji="0" lang="en-US" altLang="zh-CN" sz="1200" b="1" i="0" u="none" strike="noStrike" kern="1200" cap="none" spc="0" normalizeH="0" baseline="0" noProof="0" dirty="0" err="1">
                <a:ln>
                  <a:noFill/>
                </a:ln>
                <a:solidFill>
                  <a:prstClr val="white"/>
                </a:solidFill>
                <a:effectLst/>
                <a:uLnTx/>
                <a:uFillTx/>
                <a:latin typeface="BISansOpti"/>
                <a:ea typeface="+mn-ea"/>
                <a:cs typeface="+mn-cs"/>
                <a:sym typeface="+mn-lt"/>
              </a:rPr>
              <a:t>included</a:t>
            </a:r>
            <a:r>
              <a:rPr kumimoji="0" lang="en-US" altLang="zh-CN" sz="1200" b="1" i="0" u="none" strike="noStrike" kern="1200" cap="none" spc="0" normalizeH="0" baseline="0" noProof="0" dirty="0">
                <a:ln>
                  <a:noFill/>
                </a:ln>
                <a:solidFill>
                  <a:prstClr val="white"/>
                </a:solidFill>
                <a:effectLst/>
                <a:uLnTx/>
                <a:uFillTx/>
                <a:latin typeface="BISansOpti"/>
                <a:ea typeface="+mn-ea"/>
                <a:cs typeface="+mn-cs"/>
                <a:sym typeface="+mn-lt"/>
              </a:rPr>
              <a:t> in submission dossier</a:t>
            </a:r>
            <a:endParaRPr kumimoji="0" lang="en-GB" altLang="zh-CN" sz="1200" b="1" i="0" u="none" strike="noStrike" kern="1200" cap="none" spc="0" normalizeH="0" baseline="0" noProof="0" dirty="0">
              <a:ln>
                <a:noFill/>
              </a:ln>
              <a:solidFill>
                <a:prstClr val="white"/>
              </a:solidFill>
              <a:effectLst/>
              <a:uLnTx/>
              <a:uFillTx/>
              <a:latin typeface="BISansOpti"/>
              <a:ea typeface="+mn-ea"/>
              <a:cs typeface="+mn-cs"/>
              <a:sym typeface="+mn-lt"/>
            </a:endParaRPr>
          </a:p>
        </p:txBody>
      </p:sp>
      <p:sp>
        <p:nvSpPr>
          <p:cNvPr id="38" name="Rounded Rectangle 77">
            <a:extLst>
              <a:ext uri="{FF2B5EF4-FFF2-40B4-BE49-F238E27FC236}">
                <a16:creationId xmlns:a16="http://schemas.microsoft.com/office/drawing/2014/main" id="{8BCB0570-9ADF-3528-4E28-35BAE0C8323A}"/>
              </a:ext>
            </a:extLst>
          </p:cNvPr>
          <p:cNvSpPr/>
          <p:nvPr/>
        </p:nvSpPr>
        <p:spPr bwMode="auto">
          <a:xfrm>
            <a:off x="8038243" y="4272187"/>
            <a:ext cx="1404000" cy="646916"/>
          </a:xfrm>
          <a:prstGeom prst="roundRect">
            <a:avLst/>
          </a:prstGeom>
          <a:solidFill>
            <a:schemeClr val="accent1">
              <a:lumMod val="90000"/>
              <a:lumOff val="10000"/>
            </a:schemeClr>
          </a:solidFill>
          <a:ln w="9525" cap="flat" cmpd="sng" algn="ctr">
            <a:solidFill>
              <a:srgbClr val="FFFFFF"/>
            </a:solidFill>
            <a:prstDash val="solid"/>
          </a:ln>
          <a:effectLst>
            <a:outerShdw blurRad="40000" dist="20000" dir="5400000" rotWithShape="0">
              <a:srgbClr val="000000">
                <a:alpha val="38000"/>
              </a:srgbClr>
            </a:outerShdw>
          </a:effectLst>
        </p:spPr>
        <p:txBody>
          <a:bodyPr anchor="ctr">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white"/>
                </a:solidFill>
                <a:effectLst/>
                <a:uLnTx/>
                <a:uFillTx/>
                <a:latin typeface="BISansOpti"/>
                <a:ea typeface="+mn-ea"/>
                <a:cs typeface="+mn-cs"/>
                <a:sym typeface="+mn-lt"/>
              </a:rPr>
              <a:t>CSR</a:t>
            </a:r>
            <a:endParaRPr kumimoji="0" lang="en-GB" altLang="zh-CN" sz="1200" b="1" i="0" u="none" strike="noStrike" kern="1200" cap="none" spc="0" normalizeH="0" baseline="0" noProof="0" dirty="0">
              <a:ln>
                <a:noFill/>
              </a:ln>
              <a:solidFill>
                <a:prstClr val="white"/>
              </a:solidFill>
              <a:effectLst/>
              <a:uLnTx/>
              <a:uFillTx/>
              <a:latin typeface="BISansOpti"/>
              <a:ea typeface="+mn-ea"/>
              <a:cs typeface="+mn-cs"/>
              <a:sym typeface="+mn-lt"/>
            </a:endParaRPr>
          </a:p>
        </p:txBody>
      </p:sp>
      <p:grpSp>
        <p:nvGrpSpPr>
          <p:cNvPr id="39" name="组合 38">
            <a:extLst>
              <a:ext uri="{FF2B5EF4-FFF2-40B4-BE49-F238E27FC236}">
                <a16:creationId xmlns:a16="http://schemas.microsoft.com/office/drawing/2014/main" id="{C5A2A374-26FD-0A9F-C6E2-7365C1D69C24}"/>
              </a:ext>
            </a:extLst>
          </p:cNvPr>
          <p:cNvGrpSpPr/>
          <p:nvPr/>
        </p:nvGrpSpPr>
        <p:grpSpPr>
          <a:xfrm>
            <a:off x="8411038" y="5081731"/>
            <a:ext cx="747213" cy="496429"/>
            <a:chOff x="3717664" y="3539684"/>
            <a:chExt cx="1363982" cy="661905"/>
          </a:xfrm>
        </p:grpSpPr>
        <p:sp>
          <p:nvSpPr>
            <p:cNvPr id="40" name="流程图: 合并 39">
              <a:extLst>
                <a:ext uri="{FF2B5EF4-FFF2-40B4-BE49-F238E27FC236}">
                  <a16:creationId xmlns:a16="http://schemas.microsoft.com/office/drawing/2014/main" id="{4B8E6C9F-28EE-6499-B701-4E136140A638}"/>
                </a:ext>
              </a:extLst>
            </p:cNvPr>
            <p:cNvSpPr/>
            <p:nvPr/>
          </p:nvSpPr>
          <p:spPr>
            <a:xfrm rot="10800000">
              <a:off x="4314001" y="3539684"/>
              <a:ext cx="279500" cy="199198"/>
            </a:xfrm>
            <a:prstGeom prst="flowChartMerge">
              <a:avLst/>
            </a:prstGeom>
            <a:solidFill>
              <a:srgbClr val="2CEE86"/>
            </a:solidFill>
            <a:ln w="9525" cap="flat" cmpd="sng" algn="ctr">
              <a:noFill/>
              <a:prstDash val="solid"/>
              <a:tailEnd type="triangle"/>
            </a:ln>
            <a:effectLst/>
          </p:spPr>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Garamond" panose="02020404030301010803" pitchFamily="18" charset="0"/>
              </a:endParaRPr>
            </a:p>
          </p:txBody>
        </p:sp>
        <p:sp>
          <p:nvSpPr>
            <p:cNvPr id="41" name="文本框 64">
              <a:extLst>
                <a:ext uri="{FF2B5EF4-FFF2-40B4-BE49-F238E27FC236}">
                  <a16:creationId xmlns:a16="http://schemas.microsoft.com/office/drawing/2014/main" id="{7B910146-7702-7BE8-F76A-13F47CEDF829}"/>
                </a:ext>
              </a:extLst>
            </p:cNvPr>
            <p:cNvSpPr txBox="1"/>
            <p:nvPr/>
          </p:nvSpPr>
          <p:spPr>
            <a:xfrm>
              <a:off x="3717664" y="3832256"/>
              <a:ext cx="1363982" cy="36933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rPr>
                <a:t>24 Aug</a:t>
              </a:r>
              <a:endParaRPr kumimoji="0" lang="zh-CN" altLang="en-US"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endParaRPr>
            </a:p>
          </p:txBody>
        </p:sp>
      </p:grpSp>
      <p:grpSp>
        <p:nvGrpSpPr>
          <p:cNvPr id="43" name="组合 42">
            <a:extLst>
              <a:ext uri="{FF2B5EF4-FFF2-40B4-BE49-F238E27FC236}">
                <a16:creationId xmlns:a16="http://schemas.microsoft.com/office/drawing/2014/main" id="{6F6E6948-A243-D710-FE13-A4A5161872FB}"/>
              </a:ext>
            </a:extLst>
          </p:cNvPr>
          <p:cNvGrpSpPr/>
          <p:nvPr/>
        </p:nvGrpSpPr>
        <p:grpSpPr>
          <a:xfrm>
            <a:off x="5374708" y="5107035"/>
            <a:ext cx="877239" cy="496425"/>
            <a:chOff x="3717664" y="3539684"/>
            <a:chExt cx="1601335" cy="661900"/>
          </a:xfrm>
        </p:grpSpPr>
        <p:sp>
          <p:nvSpPr>
            <p:cNvPr id="44" name="流程图: 合并 43">
              <a:extLst>
                <a:ext uri="{FF2B5EF4-FFF2-40B4-BE49-F238E27FC236}">
                  <a16:creationId xmlns:a16="http://schemas.microsoft.com/office/drawing/2014/main" id="{65273922-6182-C6CB-2D8D-B42421849280}"/>
                </a:ext>
              </a:extLst>
            </p:cNvPr>
            <p:cNvSpPr/>
            <p:nvPr/>
          </p:nvSpPr>
          <p:spPr>
            <a:xfrm rot="10800000">
              <a:off x="4314001" y="3539684"/>
              <a:ext cx="279500" cy="199198"/>
            </a:xfrm>
            <a:prstGeom prst="flowChartMerge">
              <a:avLst/>
            </a:prstGeom>
            <a:solidFill>
              <a:srgbClr val="2CEE86"/>
            </a:solidFill>
            <a:ln w="9525" cap="flat" cmpd="sng" algn="ctr">
              <a:noFill/>
              <a:prstDash val="solid"/>
              <a:tailEnd type="triangle"/>
            </a:ln>
            <a:effectLst/>
          </p:spPr>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Garamond" panose="02020404030301010803" pitchFamily="18" charset="0"/>
              </a:endParaRPr>
            </a:p>
          </p:txBody>
        </p:sp>
        <p:sp>
          <p:nvSpPr>
            <p:cNvPr id="45" name="文本框 64">
              <a:extLst>
                <a:ext uri="{FF2B5EF4-FFF2-40B4-BE49-F238E27FC236}">
                  <a16:creationId xmlns:a16="http://schemas.microsoft.com/office/drawing/2014/main" id="{87266E78-7C53-B526-AF67-AEC3DFB3BD09}"/>
                </a:ext>
              </a:extLst>
            </p:cNvPr>
            <p:cNvSpPr txBox="1"/>
            <p:nvPr/>
          </p:nvSpPr>
          <p:spPr>
            <a:xfrm>
              <a:off x="3717664" y="3832252"/>
              <a:ext cx="160133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rPr>
                <a:t>24 Feb </a:t>
              </a:r>
              <a:r>
                <a:rPr kumimoji="0" lang="zh-CN" altLang="en-US" sz="1200" b="0" i="0" u="none" strike="noStrike" kern="1200" cap="none" spc="0" normalizeH="0" baseline="0" noProof="0" dirty="0">
                  <a:ln>
                    <a:noFill/>
                  </a:ln>
                  <a:solidFill>
                    <a:prstClr val="black"/>
                  </a:solidFill>
                  <a:effectLst/>
                  <a:uLnTx/>
                  <a:uFillTx/>
                  <a:latin typeface="BISansOpti"/>
                  <a:ea typeface="微软雅黑" panose="020B0503020204020204" pitchFamily="34" charset="-122"/>
                  <a:cs typeface="+mn-cs"/>
                  <a:sym typeface="Garamond" panose="02020404030301010803" pitchFamily="18" charset="0"/>
                </a:rPr>
                <a:t>✔</a:t>
              </a:r>
            </a:p>
          </p:txBody>
        </p:sp>
      </p:grpSp>
      <p:sp>
        <p:nvSpPr>
          <p:cNvPr id="46" name="Rounded Rectangle 77">
            <a:extLst>
              <a:ext uri="{FF2B5EF4-FFF2-40B4-BE49-F238E27FC236}">
                <a16:creationId xmlns:a16="http://schemas.microsoft.com/office/drawing/2014/main" id="{57E723FE-A143-9F74-92D4-BB14FDBFF2D9}"/>
              </a:ext>
            </a:extLst>
          </p:cNvPr>
          <p:cNvSpPr/>
          <p:nvPr/>
        </p:nvSpPr>
        <p:spPr bwMode="auto">
          <a:xfrm>
            <a:off x="5089683" y="4287214"/>
            <a:ext cx="1404000" cy="646916"/>
          </a:xfrm>
          <a:prstGeom prst="roundRect">
            <a:avLst/>
          </a:prstGeom>
          <a:solidFill>
            <a:schemeClr val="accent1">
              <a:lumMod val="90000"/>
              <a:lumOff val="10000"/>
            </a:schemeClr>
          </a:solidFill>
          <a:ln w="9525" cap="flat" cmpd="sng" algn="ctr">
            <a:solidFill>
              <a:srgbClr val="FFFFFF"/>
            </a:solidFill>
            <a:prstDash val="solid"/>
          </a:ln>
          <a:effectLst>
            <a:outerShdw blurRad="40000" dist="20000" dir="5400000" rotWithShape="0">
              <a:srgbClr val="000000">
                <a:alpha val="38000"/>
              </a:srgbClr>
            </a:outerShdw>
          </a:effectLst>
        </p:spPr>
        <p:txBody>
          <a:bodyPr anchor="ctr">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white"/>
                </a:solidFill>
                <a:effectLst/>
                <a:uLnTx/>
                <a:uFillTx/>
                <a:latin typeface="BISansOpti"/>
                <a:ea typeface="+mn-ea"/>
                <a:cs typeface="+mn-cs"/>
                <a:sym typeface="+mn-lt"/>
              </a:rPr>
              <a:t>Site Contract</a:t>
            </a:r>
          </a:p>
        </p:txBody>
      </p:sp>
      <p:pic>
        <p:nvPicPr>
          <p:cNvPr id="55" name="Grafik 20">
            <a:extLst>
              <a:ext uri="{FF2B5EF4-FFF2-40B4-BE49-F238E27FC236}">
                <a16:creationId xmlns:a16="http://schemas.microsoft.com/office/drawing/2014/main" id="{A75B86C2-F966-613F-A599-400BF0963C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898791" y="1423522"/>
            <a:ext cx="576000" cy="576000"/>
          </a:xfrm>
          <a:prstGeom prst="rect">
            <a:avLst/>
          </a:prstGeom>
        </p:spPr>
      </p:pic>
      <p:pic>
        <p:nvPicPr>
          <p:cNvPr id="56" name="Grafik 22">
            <a:extLst>
              <a:ext uri="{FF2B5EF4-FFF2-40B4-BE49-F238E27FC236}">
                <a16:creationId xmlns:a16="http://schemas.microsoft.com/office/drawing/2014/main" id="{4F2164ED-C286-FCF0-BB07-2C651062D6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bwMode="gray">
          <a:xfrm>
            <a:off x="4298351" y="1426850"/>
            <a:ext cx="576000" cy="576000"/>
          </a:xfrm>
          <a:prstGeom prst="rect">
            <a:avLst/>
          </a:prstGeom>
        </p:spPr>
      </p:pic>
      <p:pic>
        <p:nvPicPr>
          <p:cNvPr id="58" name="图形 57" descr="教室 轮廓">
            <a:extLst>
              <a:ext uri="{FF2B5EF4-FFF2-40B4-BE49-F238E27FC236}">
                <a16:creationId xmlns:a16="http://schemas.microsoft.com/office/drawing/2014/main" id="{C67D1DCD-97A9-5E32-8161-58B610DAF4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42464" y="1485288"/>
            <a:ext cx="576000" cy="576000"/>
          </a:xfrm>
          <a:prstGeom prst="rect">
            <a:avLst/>
          </a:prstGeom>
        </p:spPr>
      </p:pic>
    </p:spTree>
    <p:extLst>
      <p:ext uri="{BB962C8B-B14F-4D97-AF65-F5344CB8AC3E}">
        <p14:creationId xmlns:p14="http://schemas.microsoft.com/office/powerpoint/2010/main" val="1602159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E1BDCD36-2CE0-C11C-2576-77F56426F7B5}"/>
              </a:ext>
            </a:extLst>
          </p:cNvPr>
          <p:cNvGraphicFramePr>
            <a:graphicFrameLocks/>
          </p:cNvGraphicFramePr>
          <p:nvPr/>
        </p:nvGraphicFramePr>
        <p:xfrm>
          <a:off x="12682797" y="1370960"/>
          <a:ext cx="5707230" cy="4645440"/>
        </p:xfrm>
        <a:graphic>
          <a:graphicData uri="http://schemas.openxmlformats.org/drawingml/2006/table">
            <a:tbl>
              <a:tblPr firstRow="1" bandRow="1">
                <a:tableStyleId>{5C22544A-7EE6-4342-B048-85BDC9FD1C3A}</a:tableStyleId>
              </a:tblPr>
              <a:tblGrid>
                <a:gridCol w="1712131">
                  <a:extLst>
                    <a:ext uri="{9D8B030D-6E8A-4147-A177-3AD203B41FA5}">
                      <a16:colId xmlns:a16="http://schemas.microsoft.com/office/drawing/2014/main" val="3323556826"/>
                    </a:ext>
                  </a:extLst>
                </a:gridCol>
                <a:gridCol w="1270134">
                  <a:extLst>
                    <a:ext uri="{9D8B030D-6E8A-4147-A177-3AD203B41FA5}">
                      <a16:colId xmlns:a16="http://schemas.microsoft.com/office/drawing/2014/main" val="934697429"/>
                    </a:ext>
                  </a:extLst>
                </a:gridCol>
                <a:gridCol w="1491769">
                  <a:extLst>
                    <a:ext uri="{9D8B030D-6E8A-4147-A177-3AD203B41FA5}">
                      <a16:colId xmlns:a16="http://schemas.microsoft.com/office/drawing/2014/main" val="250596009"/>
                    </a:ext>
                  </a:extLst>
                </a:gridCol>
                <a:gridCol w="1233196">
                  <a:extLst>
                    <a:ext uri="{9D8B030D-6E8A-4147-A177-3AD203B41FA5}">
                      <a16:colId xmlns:a16="http://schemas.microsoft.com/office/drawing/2014/main" val="3218277932"/>
                    </a:ext>
                  </a:extLst>
                </a:gridCol>
              </a:tblGrid>
              <a:tr h="448776">
                <a:tc>
                  <a:txBody>
                    <a:bodyPr/>
                    <a:lstStyle/>
                    <a:p>
                      <a:endParaRPr lang="en-US" sz="1200"/>
                    </a:p>
                  </a:txBody>
                  <a:tcPr anchor="ctr"/>
                </a:tc>
                <a:tc>
                  <a:txBody>
                    <a:bodyPr/>
                    <a:lstStyle/>
                    <a:p>
                      <a:pPr marL="71755" marR="71755" algn="ctr">
                        <a:spcBef>
                          <a:spcPts val="300"/>
                        </a:spcBef>
                        <a:spcAft>
                          <a:spcPts val="300"/>
                        </a:spcAft>
                        <a:tabLst>
                          <a:tab pos="91440" algn="l"/>
                        </a:tabLst>
                      </a:pPr>
                      <a:r>
                        <a:rPr lang="en-US" sz="1200" b="1" kern="1200">
                          <a:solidFill>
                            <a:schemeClr val="lt1"/>
                          </a:solidFill>
                          <a:effectLst/>
                          <a:latin typeface="+mn-lt"/>
                          <a:ea typeface="+mn-ea"/>
                          <a:cs typeface="+mn-cs"/>
                        </a:rPr>
                        <a:t>1L</a:t>
                      </a:r>
                      <a:endParaRPr lang="zh-CN" altLang="en-US" sz="1200" b="1" kern="1200">
                        <a:solidFill>
                          <a:schemeClr val="lt1"/>
                        </a:solidFill>
                        <a:effectLst/>
                        <a:latin typeface="+mn-lt"/>
                        <a:ea typeface="+mn-ea"/>
                        <a:cs typeface="+mn-cs"/>
                      </a:endParaRPr>
                    </a:p>
                    <a:p>
                      <a:pPr marL="71755" marR="71755" algn="ctr">
                        <a:spcBef>
                          <a:spcPts val="300"/>
                        </a:spcBef>
                        <a:spcAft>
                          <a:spcPts val="300"/>
                        </a:spcAft>
                        <a:tabLst>
                          <a:tab pos="91440" algn="l"/>
                        </a:tabLst>
                      </a:pPr>
                      <a:r>
                        <a:rPr lang="en-US" sz="1200" b="1" kern="1200">
                          <a:solidFill>
                            <a:schemeClr val="lt1"/>
                          </a:solidFill>
                          <a:effectLst/>
                          <a:latin typeface="+mn-lt"/>
                          <a:ea typeface="+mn-ea"/>
                          <a:cs typeface="+mn-cs"/>
                        </a:rPr>
                        <a:t>(N=275)</a:t>
                      </a:r>
                      <a:endParaRPr lang="zh-CN" altLang="en-US" sz="1200" b="1" kern="1200">
                        <a:solidFill>
                          <a:schemeClr val="lt1"/>
                        </a:solidFill>
                        <a:effectLst/>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pt-BR" sz="1200" b="1" kern="1200">
                          <a:solidFill>
                            <a:schemeClr val="lt1"/>
                          </a:solidFill>
                          <a:effectLst/>
                          <a:latin typeface="+mn-lt"/>
                          <a:ea typeface="+mn-ea"/>
                          <a:cs typeface="+mn-cs"/>
                        </a:rPr>
                        <a:t>2L</a:t>
                      </a:r>
                      <a:endParaRPr lang="zh-CN" altLang="en-US" sz="1200" b="1" kern="1200">
                        <a:solidFill>
                          <a:schemeClr val="lt1"/>
                        </a:solidFill>
                        <a:effectLst/>
                        <a:latin typeface="+mn-lt"/>
                        <a:ea typeface="+mn-ea"/>
                        <a:cs typeface="+mn-cs"/>
                      </a:endParaRPr>
                    </a:p>
                    <a:p>
                      <a:pPr marL="71755" marR="71755" algn="ctr">
                        <a:spcBef>
                          <a:spcPts val="300"/>
                        </a:spcBef>
                        <a:spcAft>
                          <a:spcPts val="300"/>
                        </a:spcAft>
                        <a:tabLst>
                          <a:tab pos="91440" algn="l"/>
                        </a:tabLst>
                      </a:pPr>
                      <a:r>
                        <a:rPr lang="pt-BR" sz="1200" b="1" kern="1200">
                          <a:solidFill>
                            <a:schemeClr val="lt1"/>
                          </a:solidFill>
                          <a:effectLst/>
                          <a:latin typeface="+mn-lt"/>
                          <a:ea typeface="+mn-ea"/>
                          <a:cs typeface="+mn-cs"/>
                        </a:rPr>
                        <a:t>(N=103)</a:t>
                      </a:r>
                      <a:endParaRPr lang="zh-CN" altLang="en-US" sz="1200" b="1" kern="1200">
                        <a:solidFill>
                          <a:schemeClr val="lt1"/>
                        </a:solidFill>
                        <a:effectLst/>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pt-BR" sz="1200" b="1" kern="1200">
                          <a:solidFill>
                            <a:schemeClr val="lt1"/>
                          </a:solidFill>
                          <a:effectLst/>
                          <a:latin typeface="+mn-lt"/>
                          <a:ea typeface="+mn-ea"/>
                          <a:cs typeface="+mn-cs"/>
                        </a:rPr>
                        <a:t>3L</a:t>
                      </a:r>
                      <a:endParaRPr lang="zh-CN" altLang="en-US" sz="1200" b="1" kern="1200">
                        <a:solidFill>
                          <a:schemeClr val="lt1"/>
                        </a:solidFill>
                        <a:effectLst/>
                        <a:latin typeface="+mn-lt"/>
                        <a:ea typeface="+mn-ea"/>
                        <a:cs typeface="+mn-cs"/>
                      </a:endParaRPr>
                    </a:p>
                    <a:p>
                      <a:pPr marL="71755" marR="71755" algn="ctr">
                        <a:spcBef>
                          <a:spcPts val="300"/>
                        </a:spcBef>
                        <a:spcAft>
                          <a:spcPts val="300"/>
                        </a:spcAft>
                        <a:tabLst>
                          <a:tab pos="91440" algn="l"/>
                        </a:tabLst>
                      </a:pPr>
                      <a:r>
                        <a:rPr lang="pt-BR" sz="1200" b="1" kern="1200">
                          <a:solidFill>
                            <a:schemeClr val="lt1"/>
                          </a:solidFill>
                          <a:effectLst/>
                          <a:latin typeface="+mn-lt"/>
                          <a:ea typeface="+mn-ea"/>
                          <a:cs typeface="+mn-cs"/>
                        </a:rPr>
                        <a:t>(N=37)</a:t>
                      </a:r>
                      <a:endParaRPr lang="zh-CN" altLang="en-US" sz="1200" b="1" kern="1200">
                        <a:solidFill>
                          <a:schemeClr val="lt1"/>
                        </a:solidFill>
                        <a:effectLst/>
                        <a:latin typeface="+mn-lt"/>
                        <a:ea typeface="+mn-ea"/>
                        <a:cs typeface="+mn-cs"/>
                      </a:endParaRPr>
                    </a:p>
                  </a:txBody>
                  <a:tcPr marL="0" marR="0" marT="0" marB="0" anchor="ctr"/>
                </a:tc>
                <a:extLst>
                  <a:ext uri="{0D108BD9-81ED-4DB2-BD59-A6C34878D82A}">
                    <a16:rowId xmlns:a16="http://schemas.microsoft.com/office/drawing/2014/main" val="700115736"/>
                  </a:ext>
                </a:extLst>
              </a:tr>
              <a:tr h="345723">
                <a:tc gridSpan="4">
                  <a:txBody>
                    <a:bodyPr/>
                    <a:lstStyle/>
                    <a:p>
                      <a:r>
                        <a:rPr lang="en-US" altLang="zh-CN" sz="1200" kern="1200">
                          <a:solidFill>
                            <a:schemeClr val="dk1"/>
                          </a:solidFill>
                          <a:latin typeface="+mn-lt"/>
                          <a:ea typeface="+mn-ea"/>
                          <a:cs typeface="+mn-cs"/>
                        </a:rPr>
                        <a:t>OS from the start day of each LOT, months (95% CI)</a:t>
                      </a:r>
                      <a:endParaRPr lang="en-US" sz="1200" kern="1200">
                        <a:solidFill>
                          <a:schemeClr val="dk1"/>
                        </a:solidFill>
                        <a:latin typeface="+mn-lt"/>
                        <a:ea typeface="+mn-ea"/>
                        <a:cs typeface="+mn-cs"/>
                      </a:endParaRPr>
                    </a:p>
                  </a:txBody>
                  <a:tcPr anchor="ctr"/>
                </a:tc>
                <a:tc hMerge="1">
                  <a:txBody>
                    <a:bodyPr/>
                    <a:lstStyle/>
                    <a:p>
                      <a:pPr marL="71755" marR="71755" algn="ctr">
                        <a:spcBef>
                          <a:spcPts val="300"/>
                        </a:spcBef>
                        <a:spcAft>
                          <a:spcPts val="300"/>
                        </a:spcAft>
                        <a:tabLst>
                          <a:tab pos="91440" algn="l"/>
                        </a:tabLst>
                      </a:pPr>
                      <a:endParaRPr lang="zh-CN" altLang="en-US" sz="1200" kern="1200">
                        <a:solidFill>
                          <a:schemeClr val="dk1"/>
                        </a:solidFill>
                        <a:latin typeface="+mn-lt"/>
                        <a:ea typeface="+mn-ea"/>
                        <a:cs typeface="+mn-cs"/>
                      </a:endParaRPr>
                    </a:p>
                  </a:txBody>
                  <a:tcPr marL="0" marR="0" marT="0" marB="0"/>
                </a:tc>
                <a:tc hMerge="1">
                  <a:txBody>
                    <a:bodyPr/>
                    <a:lstStyle/>
                    <a:p>
                      <a:pPr marL="71755" marR="71755" algn="ctr">
                        <a:spcBef>
                          <a:spcPts val="300"/>
                        </a:spcBef>
                        <a:spcAft>
                          <a:spcPts val="300"/>
                        </a:spcAft>
                        <a:tabLst>
                          <a:tab pos="91440" algn="l"/>
                        </a:tabLst>
                      </a:pPr>
                      <a:endParaRPr lang="zh-CN" altLang="en-US" sz="1200" kern="1200">
                        <a:solidFill>
                          <a:schemeClr val="dk1"/>
                        </a:solidFill>
                        <a:latin typeface="+mn-lt"/>
                        <a:ea typeface="+mn-ea"/>
                        <a:cs typeface="+mn-cs"/>
                      </a:endParaRPr>
                    </a:p>
                  </a:txBody>
                  <a:tcPr marL="0" marR="0" marT="0" marB="0"/>
                </a:tc>
                <a:tc hMerge="1">
                  <a:txBody>
                    <a:bodyPr/>
                    <a:lstStyle/>
                    <a:p>
                      <a:pPr marL="71755" marR="71755" algn="ctr">
                        <a:spcBef>
                          <a:spcPts val="300"/>
                        </a:spcBef>
                        <a:spcAft>
                          <a:spcPts val="300"/>
                        </a:spcAft>
                        <a:tabLst>
                          <a:tab pos="91440" algn="l"/>
                        </a:tabLst>
                      </a:pPr>
                      <a:endParaRPr lang="zh-CN" altLang="en-US" sz="1200" kern="1200">
                        <a:solidFill>
                          <a:schemeClr val="dk1"/>
                        </a:solidFill>
                        <a:latin typeface="+mn-lt"/>
                        <a:ea typeface="+mn-ea"/>
                        <a:cs typeface="+mn-cs"/>
                      </a:endParaRPr>
                    </a:p>
                  </a:txBody>
                  <a:tcPr marL="0" marR="0" marT="0" marB="0"/>
                </a:tc>
                <a:extLst>
                  <a:ext uri="{0D108BD9-81ED-4DB2-BD59-A6C34878D82A}">
                    <a16:rowId xmlns:a16="http://schemas.microsoft.com/office/drawing/2014/main" val="3574801068"/>
                  </a:ext>
                </a:extLst>
              </a:tr>
              <a:tr h="486092">
                <a:tc>
                  <a:txBody>
                    <a:bodyPr/>
                    <a:lstStyle/>
                    <a:p>
                      <a:r>
                        <a:rPr lang="en-US" sz="1200" kern="1200">
                          <a:solidFill>
                            <a:schemeClr val="dk1"/>
                          </a:solidFill>
                          <a:latin typeface="+mn-lt"/>
                          <a:ea typeface="+mn-ea"/>
                          <a:cs typeface="+mn-cs"/>
                        </a:rPr>
                        <a:t>KM median</a:t>
                      </a:r>
                    </a:p>
                  </a:txBody>
                  <a:tcPr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13.4 </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(12.35-16.49)</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10.8</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 (9.07-18.07)</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6.8</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(3.94-NE)</a:t>
                      </a:r>
                      <a:endParaRPr lang="zh-CN" altLang="en-US" sz="1200" kern="1200">
                        <a:solidFill>
                          <a:schemeClr val="dk1"/>
                        </a:solidFill>
                        <a:latin typeface="+mn-lt"/>
                        <a:ea typeface="+mn-ea"/>
                        <a:cs typeface="+mn-cs"/>
                      </a:endParaRPr>
                    </a:p>
                  </a:txBody>
                  <a:tcPr marL="0" marR="0" marT="0" marB="0" anchor="ctr"/>
                </a:tc>
                <a:extLst>
                  <a:ext uri="{0D108BD9-81ED-4DB2-BD59-A6C34878D82A}">
                    <a16:rowId xmlns:a16="http://schemas.microsoft.com/office/drawing/2014/main" val="2800021813"/>
                  </a:ext>
                </a:extLst>
              </a:tr>
              <a:tr h="346662">
                <a:tc gridSpan="4">
                  <a:txBody>
                    <a:bodyPr/>
                    <a:lstStyle/>
                    <a:p>
                      <a:pPr marL="71755" marR="71755">
                        <a:spcBef>
                          <a:spcPts val="300"/>
                        </a:spcBef>
                        <a:spcAft>
                          <a:spcPts val="300"/>
                        </a:spcAft>
                        <a:tabLst>
                          <a:tab pos="91440" algn="l"/>
                        </a:tabLst>
                      </a:pPr>
                      <a:r>
                        <a:rPr lang="en-US" altLang="zh-CN" sz="1200" kern="1200">
                          <a:solidFill>
                            <a:schemeClr val="dk1"/>
                          </a:solidFill>
                          <a:latin typeface="+mn-lt"/>
                          <a:ea typeface="+mn-ea"/>
                          <a:cs typeface="+mn-cs"/>
                        </a:rPr>
                        <a:t>Survival rate,  % (95% CI)</a:t>
                      </a:r>
                      <a:endParaRPr lang="zh-CN" altLang="en-US" sz="1200" kern="1200">
                        <a:solidFill>
                          <a:schemeClr val="dk1"/>
                        </a:solidFill>
                        <a:latin typeface="+mn-lt"/>
                        <a:ea typeface="+mn-ea"/>
                        <a:cs typeface="+mn-cs"/>
                      </a:endParaRPr>
                    </a:p>
                  </a:txBody>
                  <a:tcPr marL="0" marR="0" marT="0" marB="0" anchor="ctr"/>
                </a:tc>
                <a:tc hMerge="1">
                  <a:txBody>
                    <a:bodyPr/>
                    <a:lstStyle/>
                    <a:p>
                      <a:pPr marL="71755" marR="71755" algn="ctr">
                        <a:spcBef>
                          <a:spcPts val="300"/>
                        </a:spcBef>
                        <a:spcAft>
                          <a:spcPts val="300"/>
                        </a:spcAft>
                        <a:tabLst>
                          <a:tab pos="91440" algn="l"/>
                        </a:tabLst>
                      </a:pPr>
                      <a:endParaRPr lang="zh-CN" altLang="en-US" sz="1200" kern="1200">
                        <a:solidFill>
                          <a:schemeClr val="dk1"/>
                        </a:solidFill>
                        <a:latin typeface="+mn-lt"/>
                        <a:ea typeface="+mn-ea"/>
                        <a:cs typeface="+mn-cs"/>
                      </a:endParaRPr>
                    </a:p>
                  </a:txBody>
                  <a:tcPr marL="0" marR="0" marT="0" marB="0"/>
                </a:tc>
                <a:tc hMerge="1">
                  <a:txBody>
                    <a:bodyPr/>
                    <a:lstStyle/>
                    <a:p>
                      <a:pPr marL="71755" marR="71755" algn="ctr">
                        <a:spcBef>
                          <a:spcPts val="300"/>
                        </a:spcBef>
                        <a:spcAft>
                          <a:spcPts val="300"/>
                        </a:spcAft>
                        <a:tabLst>
                          <a:tab pos="91440" algn="l"/>
                        </a:tabLst>
                      </a:pPr>
                      <a:endParaRPr lang="zh-CN" altLang="en-US" sz="1200" kern="1200">
                        <a:solidFill>
                          <a:schemeClr val="dk1"/>
                        </a:solidFill>
                        <a:latin typeface="+mn-lt"/>
                        <a:ea typeface="+mn-ea"/>
                        <a:cs typeface="+mn-cs"/>
                      </a:endParaRPr>
                    </a:p>
                  </a:txBody>
                  <a:tcPr marL="0" marR="0" marT="0" marB="0"/>
                </a:tc>
                <a:tc hMerge="1">
                  <a:txBody>
                    <a:bodyPr/>
                    <a:lstStyle/>
                    <a:p>
                      <a:pPr marL="71755" marR="71755" algn="ctr">
                        <a:spcBef>
                          <a:spcPts val="300"/>
                        </a:spcBef>
                        <a:spcAft>
                          <a:spcPts val="300"/>
                        </a:spcAft>
                        <a:tabLst>
                          <a:tab pos="91440" algn="l"/>
                        </a:tabLst>
                      </a:pPr>
                      <a:endParaRPr lang="zh-CN" altLang="en-US" sz="1200" kern="1200">
                        <a:solidFill>
                          <a:schemeClr val="dk1"/>
                        </a:solidFill>
                        <a:latin typeface="+mn-lt"/>
                        <a:ea typeface="+mn-ea"/>
                        <a:cs typeface="+mn-cs"/>
                      </a:endParaRPr>
                    </a:p>
                  </a:txBody>
                  <a:tcPr marL="0" marR="0" marT="0" marB="0"/>
                </a:tc>
                <a:extLst>
                  <a:ext uri="{0D108BD9-81ED-4DB2-BD59-A6C34878D82A}">
                    <a16:rowId xmlns:a16="http://schemas.microsoft.com/office/drawing/2014/main" val="3488175409"/>
                  </a:ext>
                </a:extLst>
              </a:tr>
              <a:tr h="486092">
                <a:tc>
                  <a:txBody>
                    <a:bodyPr/>
                    <a:lstStyle/>
                    <a:p>
                      <a:pPr marL="71755" marR="71755">
                        <a:spcBef>
                          <a:spcPts val="300"/>
                        </a:spcBef>
                        <a:spcAft>
                          <a:spcPts val="300"/>
                        </a:spcAft>
                        <a:tabLst>
                          <a:tab pos="91440" algn="l"/>
                        </a:tabLst>
                      </a:pPr>
                      <a:r>
                        <a:rPr lang="en-US" sz="1200" kern="1200">
                          <a:solidFill>
                            <a:schemeClr val="dk1"/>
                          </a:solidFill>
                          <a:latin typeface="+mn-lt"/>
                          <a:ea typeface="+mn-ea"/>
                          <a:cs typeface="+mn-cs"/>
                        </a:rPr>
                        <a:t>At 6 months</a:t>
                      </a: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73.65 </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(67.92-79.86)</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73.98 </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(64.55-84.78)</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59.13</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 (42.94-81.43)</a:t>
                      </a:r>
                      <a:endParaRPr lang="zh-CN" altLang="en-US" sz="1200" kern="1200">
                        <a:solidFill>
                          <a:schemeClr val="dk1"/>
                        </a:solidFill>
                        <a:latin typeface="+mn-lt"/>
                        <a:ea typeface="+mn-ea"/>
                        <a:cs typeface="+mn-cs"/>
                      </a:endParaRPr>
                    </a:p>
                  </a:txBody>
                  <a:tcPr marL="0" marR="0" marT="0" marB="0" anchor="ctr"/>
                </a:tc>
                <a:extLst>
                  <a:ext uri="{0D108BD9-81ED-4DB2-BD59-A6C34878D82A}">
                    <a16:rowId xmlns:a16="http://schemas.microsoft.com/office/drawing/2014/main" val="2531544950"/>
                  </a:ext>
                </a:extLst>
              </a:tr>
              <a:tr h="690708">
                <a:tc>
                  <a:txBody>
                    <a:bodyPr/>
                    <a:lstStyle/>
                    <a:p>
                      <a:pPr marL="71755" marR="71755">
                        <a:spcBef>
                          <a:spcPts val="300"/>
                        </a:spcBef>
                        <a:spcAft>
                          <a:spcPts val="300"/>
                        </a:spcAft>
                        <a:tabLst>
                          <a:tab pos="91440" algn="l"/>
                        </a:tabLst>
                      </a:pPr>
                      <a:r>
                        <a:rPr lang="en-US" sz="1200" kern="1200">
                          <a:solidFill>
                            <a:schemeClr val="dk1"/>
                          </a:solidFill>
                          <a:latin typeface="+mn-lt"/>
                          <a:ea typeface="+mn-ea"/>
                          <a:cs typeface="+mn-cs"/>
                        </a:rPr>
                        <a:t>At 12 months</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58.20 </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(51.17-66.21)</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47.02 </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(35.01-63.14)</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36.59</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 (20.52-65.23)</a:t>
                      </a:r>
                      <a:endParaRPr lang="zh-CN" altLang="en-US" sz="1200" kern="1200">
                        <a:solidFill>
                          <a:schemeClr val="dk1"/>
                        </a:solidFill>
                        <a:latin typeface="+mn-lt"/>
                        <a:ea typeface="+mn-ea"/>
                        <a:cs typeface="+mn-cs"/>
                      </a:endParaRPr>
                    </a:p>
                  </a:txBody>
                  <a:tcPr marL="0" marR="0" marT="0" marB="0" anchor="ctr"/>
                </a:tc>
                <a:extLst>
                  <a:ext uri="{0D108BD9-81ED-4DB2-BD59-A6C34878D82A}">
                    <a16:rowId xmlns:a16="http://schemas.microsoft.com/office/drawing/2014/main" val="513992424"/>
                  </a:ext>
                </a:extLst>
              </a:tr>
              <a:tr h="619202">
                <a:tc>
                  <a:txBody>
                    <a:bodyPr/>
                    <a:lstStyle/>
                    <a:p>
                      <a:pPr marL="71755" marR="71755">
                        <a:spcBef>
                          <a:spcPts val="300"/>
                        </a:spcBef>
                        <a:spcAft>
                          <a:spcPts val="300"/>
                        </a:spcAft>
                        <a:tabLst>
                          <a:tab pos="91440" algn="l"/>
                        </a:tabLst>
                      </a:pPr>
                      <a:r>
                        <a:rPr lang="en-US" sz="1200" kern="1200">
                          <a:solidFill>
                            <a:schemeClr val="dk1"/>
                          </a:solidFill>
                          <a:latin typeface="+mn-lt"/>
                          <a:ea typeface="+mn-ea"/>
                          <a:cs typeface="+mn-cs"/>
                        </a:rPr>
                        <a:t>At 18 months</a:t>
                      </a:r>
                      <a:endParaRPr lang="zh-CN" altLang="en-US" sz="1200" kern="1200">
                        <a:solidFill>
                          <a:schemeClr val="dk1"/>
                        </a:solidFill>
                        <a:latin typeface="+mn-lt"/>
                        <a:ea typeface="+mn-ea"/>
                        <a:cs typeface="+mn-cs"/>
                      </a:endParaRPr>
                    </a:p>
                  </a:txBody>
                  <a:tcPr marL="0" marR="0" marT="0" marB="0" anchor="ctr"/>
                </a:tc>
                <a:tc>
                  <a:txBody>
                    <a:bodyPr/>
                    <a:lstStyle/>
                    <a:p>
                      <a:pPr algn="ctr">
                        <a:spcBef>
                          <a:spcPts val="100"/>
                        </a:spcBef>
                        <a:spcAft>
                          <a:spcPts val="100"/>
                        </a:spcAft>
                      </a:pPr>
                      <a:r>
                        <a:rPr lang="en-US" sz="1200" kern="1200">
                          <a:solidFill>
                            <a:schemeClr val="dk1"/>
                          </a:solidFill>
                          <a:latin typeface="+mn-lt"/>
                          <a:ea typeface="+mn-ea"/>
                          <a:cs typeface="+mn-cs"/>
                        </a:rPr>
                        <a:t>33.84</a:t>
                      </a:r>
                    </a:p>
                    <a:p>
                      <a:pPr algn="ctr">
                        <a:spcBef>
                          <a:spcPts val="100"/>
                        </a:spcBef>
                        <a:spcAft>
                          <a:spcPts val="100"/>
                        </a:spcAft>
                      </a:pPr>
                      <a:r>
                        <a:rPr lang="en-US" sz="1200" kern="1200">
                          <a:solidFill>
                            <a:schemeClr val="dk1"/>
                          </a:solidFill>
                          <a:latin typeface="+mn-lt"/>
                          <a:ea typeface="+mn-ea"/>
                          <a:cs typeface="+mn-cs"/>
                        </a:rPr>
                        <a:t>(26.25-43.63)</a:t>
                      </a:r>
                      <a:endParaRPr lang="zh-CN" altLang="en-US" sz="1200" kern="1200">
                        <a:solidFill>
                          <a:schemeClr val="dk1"/>
                        </a:solidFill>
                        <a:latin typeface="+mn-lt"/>
                        <a:ea typeface="+mn-ea"/>
                        <a:cs typeface="+mn-cs"/>
                      </a:endParaRPr>
                    </a:p>
                  </a:txBody>
                  <a:tcPr marL="12700" marR="12700" marT="0" marB="0" anchor="ctr"/>
                </a:tc>
                <a:tc>
                  <a:txBody>
                    <a:bodyPr/>
                    <a:lstStyle/>
                    <a:p>
                      <a:pPr algn="ctr">
                        <a:spcBef>
                          <a:spcPts val="100"/>
                        </a:spcBef>
                        <a:spcAft>
                          <a:spcPts val="100"/>
                        </a:spcAft>
                      </a:pPr>
                      <a:r>
                        <a:rPr lang="en-US" sz="1200" kern="1200">
                          <a:solidFill>
                            <a:schemeClr val="dk1"/>
                          </a:solidFill>
                          <a:latin typeface="+mn-lt"/>
                          <a:ea typeface="+mn-ea"/>
                          <a:cs typeface="+mn-cs"/>
                        </a:rPr>
                        <a:t>34.47</a:t>
                      </a:r>
                    </a:p>
                    <a:p>
                      <a:pPr algn="ctr">
                        <a:spcBef>
                          <a:spcPts val="100"/>
                        </a:spcBef>
                        <a:spcAft>
                          <a:spcPts val="100"/>
                        </a:spcAft>
                      </a:pPr>
                      <a:r>
                        <a:rPr lang="en-US" sz="1200" kern="1200">
                          <a:solidFill>
                            <a:schemeClr val="dk1"/>
                          </a:solidFill>
                          <a:latin typeface="+mn-lt"/>
                          <a:ea typeface="+mn-ea"/>
                          <a:cs typeface="+mn-cs"/>
                        </a:rPr>
                        <a:t>(23.05-51.55)</a:t>
                      </a:r>
                      <a:endParaRPr lang="zh-CN" altLang="en-US" sz="1200" kern="1200">
                        <a:solidFill>
                          <a:schemeClr val="dk1"/>
                        </a:solidFill>
                        <a:latin typeface="+mn-lt"/>
                        <a:ea typeface="+mn-ea"/>
                        <a:cs typeface="+mn-cs"/>
                      </a:endParaRPr>
                    </a:p>
                  </a:txBody>
                  <a:tcPr marL="12700" marR="12700" marT="0" marB="0" anchor="ctr"/>
                </a:tc>
                <a:tc>
                  <a:txBody>
                    <a:bodyPr/>
                    <a:lstStyle/>
                    <a:p>
                      <a:pPr algn="ctr">
                        <a:spcBef>
                          <a:spcPts val="100"/>
                        </a:spcBef>
                        <a:spcAft>
                          <a:spcPts val="100"/>
                        </a:spcAft>
                      </a:pPr>
                      <a:r>
                        <a:rPr lang="en-US" sz="1200" kern="1200">
                          <a:solidFill>
                            <a:schemeClr val="dk1"/>
                          </a:solidFill>
                          <a:latin typeface="+mn-lt"/>
                          <a:ea typeface="+mn-ea"/>
                          <a:cs typeface="+mn-cs"/>
                        </a:rPr>
                        <a:t>24.39</a:t>
                      </a:r>
                    </a:p>
                    <a:p>
                      <a:pPr algn="ctr">
                        <a:spcBef>
                          <a:spcPts val="100"/>
                        </a:spcBef>
                        <a:spcAft>
                          <a:spcPts val="100"/>
                        </a:spcAft>
                      </a:pPr>
                      <a:r>
                        <a:rPr lang="en-US" sz="1200" kern="1200">
                          <a:solidFill>
                            <a:schemeClr val="dk1"/>
                          </a:solidFill>
                          <a:latin typeface="+mn-lt"/>
                          <a:ea typeface="+mn-ea"/>
                          <a:cs typeface="+mn-cs"/>
                        </a:rPr>
                        <a:t>(10.86-54.77)</a:t>
                      </a:r>
                      <a:endParaRPr lang="zh-CN" altLang="en-US" sz="1200" kern="1200">
                        <a:solidFill>
                          <a:schemeClr val="dk1"/>
                        </a:solidFill>
                        <a:latin typeface="+mn-lt"/>
                        <a:ea typeface="+mn-ea"/>
                        <a:cs typeface="+mn-cs"/>
                      </a:endParaRPr>
                    </a:p>
                  </a:txBody>
                  <a:tcPr marL="12700" marR="12700" marT="0" marB="0" anchor="ctr"/>
                </a:tc>
                <a:extLst>
                  <a:ext uri="{0D108BD9-81ED-4DB2-BD59-A6C34878D82A}">
                    <a16:rowId xmlns:a16="http://schemas.microsoft.com/office/drawing/2014/main" val="728169112"/>
                  </a:ext>
                </a:extLst>
              </a:tr>
              <a:tr h="619202">
                <a:tc>
                  <a:txBody>
                    <a:bodyPr/>
                    <a:lstStyle/>
                    <a:p>
                      <a:pPr marL="71755" marR="71755">
                        <a:spcBef>
                          <a:spcPts val="300"/>
                        </a:spcBef>
                        <a:spcAft>
                          <a:spcPts val="300"/>
                        </a:spcAft>
                        <a:tabLst>
                          <a:tab pos="91440" algn="l"/>
                        </a:tabLst>
                      </a:pPr>
                      <a:r>
                        <a:rPr lang="en-US" sz="1200" kern="1200">
                          <a:solidFill>
                            <a:schemeClr val="dk1"/>
                          </a:solidFill>
                          <a:latin typeface="+mn-lt"/>
                          <a:ea typeface="+mn-ea"/>
                          <a:cs typeface="+mn-cs"/>
                        </a:rPr>
                        <a:t>At 24 months</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27.63</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 (20.25-37.69)</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28.43</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 (17.53-46.11)</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NE </a:t>
                      </a:r>
                    </a:p>
                  </a:txBody>
                  <a:tcPr marL="0" marR="0" marT="0" marB="0" anchor="ctr"/>
                </a:tc>
                <a:extLst>
                  <a:ext uri="{0D108BD9-81ED-4DB2-BD59-A6C34878D82A}">
                    <a16:rowId xmlns:a16="http://schemas.microsoft.com/office/drawing/2014/main" val="3387284639"/>
                  </a:ext>
                </a:extLst>
              </a:tr>
              <a:tr h="602983">
                <a:tc>
                  <a:txBody>
                    <a:bodyPr/>
                    <a:lstStyle/>
                    <a:p>
                      <a:pPr marL="71755" marR="71755">
                        <a:spcBef>
                          <a:spcPts val="300"/>
                        </a:spcBef>
                        <a:spcAft>
                          <a:spcPts val="300"/>
                        </a:spcAft>
                        <a:tabLst>
                          <a:tab pos="91440" algn="l"/>
                        </a:tabLst>
                      </a:pPr>
                      <a:r>
                        <a:rPr lang="en-US" sz="1200" kern="1200">
                          <a:solidFill>
                            <a:schemeClr val="dk1"/>
                          </a:solidFill>
                          <a:latin typeface="+mn-lt"/>
                          <a:ea typeface="+mn-ea"/>
                          <a:cs typeface="+mn-cs"/>
                        </a:rPr>
                        <a:t>At 36 months</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19.28 </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(12.29-30.23)</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23.70</a:t>
                      </a:r>
                    </a:p>
                    <a:p>
                      <a:pPr marL="71755" marR="71755" algn="ctr">
                        <a:spcBef>
                          <a:spcPts val="300"/>
                        </a:spcBef>
                        <a:spcAft>
                          <a:spcPts val="300"/>
                        </a:spcAft>
                        <a:tabLst>
                          <a:tab pos="91440" algn="l"/>
                        </a:tabLst>
                      </a:pPr>
                      <a:r>
                        <a:rPr lang="en-US" sz="1200" kern="1200">
                          <a:solidFill>
                            <a:schemeClr val="dk1"/>
                          </a:solidFill>
                          <a:latin typeface="+mn-lt"/>
                          <a:ea typeface="+mn-ea"/>
                          <a:cs typeface="+mn-cs"/>
                        </a:rPr>
                        <a:t> (12.98-43.24)</a:t>
                      </a:r>
                      <a:endParaRPr lang="zh-CN" altLang="en-US" sz="1200" kern="1200">
                        <a:solidFill>
                          <a:schemeClr val="dk1"/>
                        </a:solidFill>
                        <a:latin typeface="+mn-lt"/>
                        <a:ea typeface="+mn-ea"/>
                        <a:cs typeface="+mn-cs"/>
                      </a:endParaRPr>
                    </a:p>
                  </a:txBody>
                  <a:tcPr marL="0" marR="0" marT="0" marB="0" anchor="ctr"/>
                </a:tc>
                <a:tc>
                  <a:txBody>
                    <a:bodyPr/>
                    <a:lstStyle/>
                    <a:p>
                      <a:pPr marL="71755" marR="71755" algn="ctr">
                        <a:spcBef>
                          <a:spcPts val="300"/>
                        </a:spcBef>
                        <a:spcAft>
                          <a:spcPts val="300"/>
                        </a:spcAft>
                        <a:tabLst>
                          <a:tab pos="91440" algn="l"/>
                        </a:tabLst>
                      </a:pPr>
                      <a:r>
                        <a:rPr lang="en-US" sz="1200" kern="1200">
                          <a:solidFill>
                            <a:schemeClr val="dk1"/>
                          </a:solidFill>
                          <a:latin typeface="+mn-lt"/>
                          <a:ea typeface="+mn-ea"/>
                          <a:cs typeface="+mn-cs"/>
                        </a:rPr>
                        <a:t>NE</a:t>
                      </a:r>
                    </a:p>
                  </a:txBody>
                  <a:tcPr marL="0" marR="0" marT="0" marB="0" anchor="ctr"/>
                </a:tc>
                <a:extLst>
                  <a:ext uri="{0D108BD9-81ED-4DB2-BD59-A6C34878D82A}">
                    <a16:rowId xmlns:a16="http://schemas.microsoft.com/office/drawing/2014/main" val="1633608966"/>
                  </a:ext>
                </a:extLst>
              </a:tr>
            </a:tbl>
          </a:graphicData>
        </a:graphic>
      </p:graphicFrame>
      <p:grpSp>
        <p:nvGrpSpPr>
          <p:cNvPr id="14" name="Group 13">
            <a:extLst>
              <a:ext uri="{FF2B5EF4-FFF2-40B4-BE49-F238E27FC236}">
                <a16:creationId xmlns:a16="http://schemas.microsoft.com/office/drawing/2014/main" id="{CDA4CB45-95D0-976E-7548-172B677B2CA6}"/>
              </a:ext>
            </a:extLst>
          </p:cNvPr>
          <p:cNvGrpSpPr/>
          <p:nvPr/>
        </p:nvGrpSpPr>
        <p:grpSpPr>
          <a:xfrm>
            <a:off x="266943" y="1578644"/>
            <a:ext cx="6239737" cy="3937023"/>
            <a:chOff x="218213" y="1616051"/>
            <a:chExt cx="6257494" cy="3884843"/>
          </a:xfrm>
        </p:grpSpPr>
        <p:grpSp>
          <p:nvGrpSpPr>
            <p:cNvPr id="13" name="Group 12">
              <a:extLst>
                <a:ext uri="{FF2B5EF4-FFF2-40B4-BE49-F238E27FC236}">
                  <a16:creationId xmlns:a16="http://schemas.microsoft.com/office/drawing/2014/main" id="{BF45545E-F224-0400-06EF-C8A650FC4891}"/>
                </a:ext>
              </a:extLst>
            </p:cNvPr>
            <p:cNvGrpSpPr/>
            <p:nvPr/>
          </p:nvGrpSpPr>
          <p:grpSpPr>
            <a:xfrm>
              <a:off x="218213" y="1616051"/>
              <a:ext cx="6257494" cy="3884843"/>
              <a:chOff x="218213" y="1616051"/>
              <a:chExt cx="6257494" cy="3884843"/>
            </a:xfrm>
          </p:grpSpPr>
          <p:pic>
            <p:nvPicPr>
              <p:cNvPr id="3" name="图片 2">
                <a:extLst>
                  <a:ext uri="{FF2B5EF4-FFF2-40B4-BE49-F238E27FC236}">
                    <a16:creationId xmlns:a16="http://schemas.microsoft.com/office/drawing/2014/main" id="{F8B80198-B99A-5284-D020-F550258AF73A}"/>
                  </a:ext>
                </a:extLst>
              </p:cNvPr>
              <p:cNvPicPr>
                <a:picLocks noChangeAspect="1"/>
              </p:cNvPicPr>
              <p:nvPr/>
            </p:nvPicPr>
            <p:blipFill rotWithShape="1">
              <a:blip r:embed="rId2">
                <a:extLst>
                  <a:ext uri="{28A0092B-C50C-407E-A947-70E740481C1C}">
                    <a14:useLocalDpi xmlns:a14="http://schemas.microsoft.com/office/drawing/2010/main" val="0"/>
                  </a:ext>
                </a:extLst>
              </a:blip>
              <a:srcRect b="1853"/>
              <a:stretch/>
            </p:blipFill>
            <p:spPr bwMode="auto">
              <a:xfrm>
                <a:off x="218213" y="1616051"/>
                <a:ext cx="6257494" cy="3884843"/>
              </a:xfrm>
              <a:prstGeom prst="rect">
                <a:avLst/>
              </a:prstGeom>
              <a:noFill/>
              <a:ln>
                <a:noFill/>
              </a:ln>
            </p:spPr>
          </p:pic>
          <p:pic>
            <p:nvPicPr>
              <p:cNvPr id="10" name="Picture 9">
                <a:extLst>
                  <a:ext uri="{FF2B5EF4-FFF2-40B4-BE49-F238E27FC236}">
                    <a16:creationId xmlns:a16="http://schemas.microsoft.com/office/drawing/2014/main" id="{94B45373-188E-F2BC-0FE9-BF2A90D25AC3}"/>
                  </a:ext>
                </a:extLst>
              </p:cNvPr>
              <p:cNvPicPr>
                <a:picLocks noChangeAspect="1"/>
              </p:cNvPicPr>
              <p:nvPr/>
            </p:nvPicPr>
            <p:blipFill>
              <a:blip r:embed="rId3"/>
              <a:stretch>
                <a:fillRect/>
              </a:stretch>
            </p:blipFill>
            <p:spPr>
              <a:xfrm>
                <a:off x="5472048" y="1653783"/>
                <a:ext cx="924054" cy="762106"/>
              </a:xfrm>
              <a:prstGeom prst="rect">
                <a:avLst/>
              </a:prstGeom>
            </p:spPr>
          </p:pic>
        </p:grpSp>
        <p:pic>
          <p:nvPicPr>
            <p:cNvPr id="11" name="图片 10">
              <a:extLst>
                <a:ext uri="{FF2B5EF4-FFF2-40B4-BE49-F238E27FC236}">
                  <a16:creationId xmlns:a16="http://schemas.microsoft.com/office/drawing/2014/main" id="{7CA72CC4-FB8D-BE0C-BAD0-420D494CCB25}"/>
                </a:ext>
              </a:extLst>
            </p:cNvPr>
            <p:cNvPicPr>
              <a:picLocks noChangeAspect="1"/>
            </p:cNvPicPr>
            <p:nvPr/>
          </p:nvPicPr>
          <p:blipFill>
            <a:blip r:embed="rId4"/>
            <a:stretch>
              <a:fillRect/>
            </a:stretch>
          </p:blipFill>
          <p:spPr>
            <a:xfrm>
              <a:off x="4824328" y="3449601"/>
              <a:ext cx="866165" cy="544634"/>
            </a:xfrm>
            <a:prstGeom prst="rect">
              <a:avLst/>
            </a:prstGeom>
          </p:spPr>
        </p:pic>
      </p:grpSp>
      <p:sp>
        <p:nvSpPr>
          <p:cNvPr id="12" name="文本框 11">
            <a:extLst>
              <a:ext uri="{FF2B5EF4-FFF2-40B4-BE49-F238E27FC236}">
                <a16:creationId xmlns:a16="http://schemas.microsoft.com/office/drawing/2014/main" id="{AC87F596-ED1D-3DCF-A971-AE8ED5CC2390}"/>
              </a:ext>
            </a:extLst>
          </p:cNvPr>
          <p:cNvSpPr txBox="1"/>
          <p:nvPr/>
        </p:nvSpPr>
        <p:spPr bwMode="gray">
          <a:xfrm>
            <a:off x="6674065" y="4512309"/>
            <a:ext cx="4986943" cy="272190"/>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a:t>
            </a:r>
            <a:r>
              <a:rPr kumimoji="0" lang="zh-CN" altLang="en-US" sz="1400" b="0" i="0" u="none" strike="noStrike" kern="1200" cap="none" spc="0" normalizeH="0" baseline="0" noProof="0">
                <a:ln>
                  <a:noFill/>
                </a:ln>
                <a:solidFill>
                  <a:prstClr val="black"/>
                </a:solidFill>
                <a:effectLst/>
                <a:uLnTx/>
                <a:uFillTx/>
                <a:latin typeface="Boehringer Forward Text"/>
                <a:ea typeface="+mn-ea"/>
                <a:cs typeface="+mn-cs"/>
              </a:rPr>
              <a:t>死亡数据截至</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2021</a:t>
            </a:r>
            <a:r>
              <a:rPr kumimoji="0" lang="zh-CN" altLang="en-US" sz="1400" b="0" i="0" u="none" strike="noStrike" kern="1200" cap="none" spc="0" normalizeH="0" baseline="0" noProof="0">
                <a:ln>
                  <a:noFill/>
                </a:ln>
                <a:solidFill>
                  <a:prstClr val="black"/>
                </a:solidFill>
                <a:effectLst/>
                <a:uLnTx/>
                <a:uFillTx/>
                <a:latin typeface="Boehringer Forward Text"/>
                <a:ea typeface="+mn-ea"/>
                <a:cs typeface="+mn-cs"/>
              </a:rPr>
              <a:t>年</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12</a:t>
            </a:r>
            <a:r>
              <a:rPr kumimoji="0" lang="zh-CN" altLang="en-US" sz="1400" b="0" i="0" u="none" strike="noStrike" kern="1200" cap="none" spc="0" normalizeH="0" baseline="0" noProof="0">
                <a:ln>
                  <a:noFill/>
                </a:ln>
                <a:solidFill>
                  <a:prstClr val="black"/>
                </a:solidFill>
                <a:effectLst/>
                <a:uLnTx/>
                <a:uFillTx/>
                <a:latin typeface="Boehringer Forward Text"/>
                <a:ea typeface="+mn-ea"/>
                <a:cs typeface="+mn-cs"/>
              </a:rPr>
              <a:t>月</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31</a:t>
            </a:r>
            <a:r>
              <a:rPr kumimoji="0" lang="zh-CN" altLang="en-US" sz="1400" b="0" i="0" u="none" strike="noStrike" kern="1200" cap="none" spc="0" normalizeH="0" baseline="0" noProof="0">
                <a:ln>
                  <a:noFill/>
                </a:ln>
                <a:solidFill>
                  <a:prstClr val="black"/>
                </a:solidFill>
                <a:effectLst/>
                <a:uLnTx/>
                <a:uFillTx/>
                <a:latin typeface="Boehringer Forward Text"/>
                <a:ea typeface="+mn-ea"/>
                <a:cs typeface="+mn-cs"/>
              </a:rPr>
              <a:t>日，待更新至</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2022</a:t>
            </a:r>
            <a:r>
              <a:rPr kumimoji="0" lang="zh-CN" altLang="en-US" sz="1400" b="0" i="0" u="none" strike="noStrike" kern="1200" cap="none" spc="0" normalizeH="0" baseline="0" noProof="0">
                <a:ln>
                  <a:noFill/>
                </a:ln>
                <a:solidFill>
                  <a:prstClr val="black"/>
                </a:solidFill>
                <a:effectLst/>
                <a:uLnTx/>
                <a:uFillTx/>
                <a:latin typeface="Boehringer Forward Text"/>
                <a:ea typeface="+mn-ea"/>
                <a:cs typeface="+mn-cs"/>
              </a:rPr>
              <a:t>年</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12</a:t>
            </a:r>
            <a:r>
              <a:rPr kumimoji="0" lang="zh-CN" altLang="en-US" sz="1400" b="0" i="0" u="none" strike="noStrike" kern="1200" cap="none" spc="0" normalizeH="0" baseline="0" noProof="0">
                <a:ln>
                  <a:noFill/>
                </a:ln>
                <a:solidFill>
                  <a:prstClr val="black"/>
                </a:solidFill>
                <a:effectLst/>
                <a:uLnTx/>
                <a:uFillTx/>
                <a:latin typeface="Boehringer Forward Text"/>
                <a:ea typeface="+mn-ea"/>
                <a:cs typeface="+mn-cs"/>
              </a:rPr>
              <a:t>月</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31</a:t>
            </a:r>
            <a:r>
              <a:rPr kumimoji="0" lang="zh-CN" altLang="en-US" sz="1400" b="0" i="0" u="none" strike="noStrike" kern="1200" cap="none" spc="0" normalizeH="0" baseline="0" noProof="0">
                <a:ln>
                  <a:noFill/>
                </a:ln>
                <a:solidFill>
                  <a:prstClr val="black"/>
                </a:solidFill>
                <a:effectLst/>
                <a:uLnTx/>
                <a:uFillTx/>
                <a:latin typeface="Boehringer Forward Text"/>
                <a:ea typeface="+mn-ea"/>
                <a:cs typeface="+mn-cs"/>
              </a:rPr>
              <a:t>日</a:t>
            </a:r>
          </a:p>
        </p:txBody>
      </p:sp>
      <p:sp>
        <p:nvSpPr>
          <p:cNvPr id="5" name="Footer Placeholder 4">
            <a:extLst>
              <a:ext uri="{FF2B5EF4-FFF2-40B4-BE49-F238E27FC236}">
                <a16:creationId xmlns:a16="http://schemas.microsoft.com/office/drawing/2014/main" id="{F8AEC365-A97C-AD79-4789-B437C7683696}"/>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ONLY FOR INTERNAL USE</a:t>
            </a:r>
          </a:p>
        </p:txBody>
      </p:sp>
      <p:sp>
        <p:nvSpPr>
          <p:cNvPr id="6" name="Slide Number Placeholder 5">
            <a:extLst>
              <a:ext uri="{FF2B5EF4-FFF2-40B4-BE49-F238E27FC236}">
                <a16:creationId xmlns:a16="http://schemas.microsoft.com/office/drawing/2014/main" id="{0B76D8C3-84FB-1445-D3A6-9332BFD9DBD8}"/>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8" name="Title 1">
            <a:extLst>
              <a:ext uri="{FF2B5EF4-FFF2-40B4-BE49-F238E27FC236}">
                <a16:creationId xmlns:a16="http://schemas.microsoft.com/office/drawing/2014/main" id="{42CCF2D0-55C9-0119-EE7C-F21346005F79}"/>
              </a:ext>
            </a:extLst>
          </p:cNvPr>
          <p:cNvSpPr txBox="1">
            <a:spLocks/>
          </p:cNvSpPr>
          <p:nvPr/>
        </p:nvSpPr>
        <p:spPr bwMode="gray">
          <a:xfrm>
            <a:off x="479424" y="477000"/>
            <a:ext cx="11233151"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2500" b="1" i="0" u="none" strike="noStrike" kern="1200" cap="none" spc="0" normalizeH="0" baseline="0" noProof="0" dirty="0">
                <a:ln>
                  <a:noFill/>
                </a:ln>
                <a:solidFill>
                  <a:srgbClr val="08312A"/>
                </a:solidFill>
                <a:effectLst/>
                <a:uLnTx/>
                <a:uFillTx/>
                <a:latin typeface="Boehringer Forward Head"/>
                <a:ea typeface="+mj-ea"/>
                <a:cs typeface="+mj-cs"/>
              </a:rPr>
              <a:t>Primary endpoint: OS from the start day of each line of therapy </a:t>
            </a:r>
            <a:endParaRPr kumimoji="0" lang="en-US" sz="2500" b="1" i="0" u="none" strike="noStrike" kern="1200" cap="none" spc="0" normalizeH="0" baseline="0" noProof="0" dirty="0">
              <a:ln>
                <a:noFill/>
              </a:ln>
              <a:solidFill>
                <a:srgbClr val="08312A"/>
              </a:solidFill>
              <a:effectLst/>
              <a:uLnTx/>
              <a:uFillTx/>
              <a:latin typeface="Boehringer Forward Head"/>
              <a:ea typeface="+mj-ea"/>
              <a:cs typeface="+mj-cs"/>
            </a:endParaRPr>
          </a:p>
        </p:txBody>
      </p:sp>
      <p:sp>
        <p:nvSpPr>
          <p:cNvPr id="15" name="文本框 8">
            <a:extLst>
              <a:ext uri="{FF2B5EF4-FFF2-40B4-BE49-F238E27FC236}">
                <a16:creationId xmlns:a16="http://schemas.microsoft.com/office/drawing/2014/main" id="{4F57AEE8-9042-BC17-1AFA-DA9AF756AEE6}"/>
              </a:ext>
            </a:extLst>
          </p:cNvPr>
          <p:cNvSpPr txBox="1"/>
          <p:nvPr/>
        </p:nvSpPr>
        <p:spPr bwMode="gray">
          <a:xfrm>
            <a:off x="6623265" y="1862187"/>
            <a:ext cx="5037743" cy="879664"/>
          </a:xfrm>
          <a:prstGeom prst="rect">
            <a:avLst/>
          </a:prstGeom>
          <a:solidFill>
            <a:schemeClr val="tx2">
              <a:lumMod val="50000"/>
            </a:schemeClr>
          </a:solidFill>
        </p:spPr>
        <p:txBody>
          <a:bodyPr wrap="square" lIns="0" tIns="0" rIns="0" bIns="0" rtlCol="0">
            <a:spAutoFit/>
          </a:bodyPr>
          <a:lstStyle/>
          <a:p>
            <a:pPr algn="l">
              <a:lnSpc>
                <a:spcPct val="140000"/>
              </a:lnSpc>
            </a:pPr>
            <a:r>
              <a:rPr lang="en-US" altLang="zh-CN" sz="1400" b="1" dirty="0">
                <a:solidFill>
                  <a:schemeClr val="bg1"/>
                </a:solidFill>
              </a:rPr>
              <a:t>US metastatic DDLPS :</a:t>
            </a:r>
          </a:p>
          <a:p>
            <a:pPr marL="285750" indent="-285750" algn="l">
              <a:lnSpc>
                <a:spcPct val="140000"/>
              </a:lnSpc>
              <a:buFont typeface="Wingdings" panose="05000000000000000000" pitchFamily="2" charset="2"/>
              <a:buChar char="l"/>
            </a:pPr>
            <a:r>
              <a:rPr lang="en-US" altLang="zh-CN" sz="1400" dirty="0">
                <a:solidFill>
                  <a:schemeClr val="bg1"/>
                </a:solidFill>
              </a:rPr>
              <a:t>1L OS 12.6 (8.6-19.8) months (N=51)</a:t>
            </a:r>
          </a:p>
          <a:p>
            <a:pPr marL="285750" indent="-285750" algn="l">
              <a:lnSpc>
                <a:spcPct val="140000"/>
              </a:lnSpc>
              <a:buFont typeface="Wingdings" panose="05000000000000000000" pitchFamily="2" charset="2"/>
              <a:buChar char="l"/>
            </a:pPr>
            <a:r>
              <a:rPr lang="en-US" altLang="zh-CN" sz="1400" dirty="0">
                <a:solidFill>
                  <a:schemeClr val="bg1"/>
                </a:solidFill>
              </a:rPr>
              <a:t>2L OS 9.8 (6.5-46.6) months (N=32)</a:t>
            </a:r>
          </a:p>
        </p:txBody>
      </p:sp>
      <p:graphicFrame>
        <p:nvGraphicFramePr>
          <p:cNvPr id="16" name="Inhaltsplatzhalter 11">
            <a:extLst>
              <a:ext uri="{FF2B5EF4-FFF2-40B4-BE49-F238E27FC236}">
                <a16:creationId xmlns:a16="http://schemas.microsoft.com/office/drawing/2014/main" id="{0970D95A-B50E-FB70-9945-5E946F0CD867}"/>
              </a:ext>
            </a:extLst>
          </p:cNvPr>
          <p:cNvGraphicFramePr>
            <a:graphicFrameLocks/>
          </p:cNvGraphicFramePr>
          <p:nvPr>
            <p:extLst>
              <p:ext uri="{D42A27DB-BD31-4B8C-83A1-F6EECF244321}">
                <p14:modId xmlns:p14="http://schemas.microsoft.com/office/powerpoint/2010/main" val="3138627169"/>
              </p:ext>
            </p:extLst>
          </p:nvPr>
        </p:nvGraphicFramePr>
        <p:xfrm>
          <a:off x="6623265" y="3152460"/>
          <a:ext cx="5037743" cy="1278436"/>
        </p:xfrm>
        <a:graphic>
          <a:graphicData uri="http://schemas.openxmlformats.org/drawingml/2006/table">
            <a:tbl>
              <a:tblPr firstRow="1" bandRow="1">
                <a:tableStyleId>{5C22544A-7EE6-4342-B048-85BDC9FD1C3A}</a:tableStyleId>
              </a:tblPr>
              <a:tblGrid>
                <a:gridCol w="1551593">
                  <a:extLst>
                    <a:ext uri="{9D8B030D-6E8A-4147-A177-3AD203B41FA5}">
                      <a16:colId xmlns:a16="http://schemas.microsoft.com/office/drawing/2014/main" val="2389719309"/>
                    </a:ext>
                  </a:extLst>
                </a:gridCol>
                <a:gridCol w="1181100">
                  <a:extLst>
                    <a:ext uri="{9D8B030D-6E8A-4147-A177-3AD203B41FA5}">
                      <a16:colId xmlns:a16="http://schemas.microsoft.com/office/drawing/2014/main" val="2275645487"/>
                    </a:ext>
                  </a:extLst>
                </a:gridCol>
                <a:gridCol w="1352550">
                  <a:extLst>
                    <a:ext uri="{9D8B030D-6E8A-4147-A177-3AD203B41FA5}">
                      <a16:colId xmlns:a16="http://schemas.microsoft.com/office/drawing/2014/main" val="418550560"/>
                    </a:ext>
                  </a:extLst>
                </a:gridCol>
                <a:gridCol w="952500">
                  <a:extLst>
                    <a:ext uri="{9D8B030D-6E8A-4147-A177-3AD203B41FA5}">
                      <a16:colId xmlns:a16="http://schemas.microsoft.com/office/drawing/2014/main" val="1039169739"/>
                    </a:ext>
                  </a:extLst>
                </a:gridCol>
              </a:tblGrid>
              <a:tr h="703997">
                <a:tc>
                  <a:txBody>
                    <a:bodyPr/>
                    <a:lstStyle/>
                    <a:p>
                      <a:r>
                        <a:rPr lang="en-US" sz="1200" dirty="0">
                          <a:solidFill>
                            <a:schemeClr val="tx1"/>
                          </a:solidFill>
                        </a:rPr>
                        <a:t>OS from the start day of each LOT, months (95% CI)*</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marR="71755" algn="ctr">
                        <a:spcBef>
                          <a:spcPts val="300"/>
                        </a:spcBef>
                        <a:spcAft>
                          <a:spcPts val="300"/>
                        </a:spcAft>
                        <a:tabLst>
                          <a:tab pos="91440" algn="l"/>
                        </a:tabLst>
                      </a:pPr>
                      <a:r>
                        <a:rPr lang="en-US" sz="1200" b="1" kern="1200">
                          <a:solidFill>
                            <a:srgbClr val="FF0000"/>
                          </a:solidFill>
                          <a:effectLst/>
                          <a:latin typeface="+mn-lt"/>
                          <a:ea typeface="+mn-ea"/>
                          <a:cs typeface="+mn-cs"/>
                        </a:rPr>
                        <a:t>1L</a:t>
                      </a:r>
                      <a:endParaRPr lang="zh-CN" altLang="en-US" sz="1200" b="1" kern="1200">
                        <a:solidFill>
                          <a:srgbClr val="FF0000"/>
                        </a:solidFill>
                        <a:effectLst/>
                        <a:latin typeface="+mn-lt"/>
                        <a:ea typeface="+mn-ea"/>
                        <a:cs typeface="+mn-cs"/>
                      </a:endParaRPr>
                    </a:p>
                    <a:p>
                      <a:pPr marL="71755" marR="71755" algn="ctr">
                        <a:spcBef>
                          <a:spcPts val="300"/>
                        </a:spcBef>
                        <a:spcAft>
                          <a:spcPts val="300"/>
                        </a:spcAft>
                        <a:tabLst>
                          <a:tab pos="91440" algn="l"/>
                        </a:tabLst>
                      </a:pPr>
                      <a:r>
                        <a:rPr lang="en-US" sz="1200" b="1" kern="1200">
                          <a:solidFill>
                            <a:srgbClr val="FF0000"/>
                          </a:solidFill>
                          <a:effectLst/>
                          <a:latin typeface="+mn-lt"/>
                          <a:ea typeface="+mn-ea"/>
                          <a:cs typeface="+mn-cs"/>
                        </a:rPr>
                        <a:t>N=275</a:t>
                      </a:r>
                      <a:endParaRPr lang="zh-CN" altLang="en-US" sz="1200" b="1" kern="1200">
                        <a:solidFill>
                          <a:srgbClr val="FF0000"/>
                        </a:solidFill>
                        <a:effectLst/>
                        <a:latin typeface="+mn-lt"/>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marR="71755" algn="ctr">
                        <a:spcBef>
                          <a:spcPts val="300"/>
                        </a:spcBef>
                        <a:spcAft>
                          <a:spcPts val="300"/>
                        </a:spcAft>
                        <a:tabLst>
                          <a:tab pos="91440" algn="l"/>
                        </a:tabLst>
                      </a:pPr>
                      <a:r>
                        <a:rPr lang="pt-BR" sz="1200" b="1" kern="1200" dirty="0">
                          <a:solidFill>
                            <a:srgbClr val="4040FF"/>
                          </a:solidFill>
                          <a:effectLst/>
                          <a:latin typeface="+mn-lt"/>
                          <a:ea typeface="+mn-ea"/>
                          <a:cs typeface="+mn-cs"/>
                        </a:rPr>
                        <a:t>2L</a:t>
                      </a:r>
                      <a:endParaRPr lang="zh-CN" altLang="en-US" sz="1200" b="1" kern="1200" dirty="0">
                        <a:solidFill>
                          <a:srgbClr val="4040FF"/>
                        </a:solidFill>
                        <a:effectLst/>
                        <a:latin typeface="+mn-lt"/>
                        <a:ea typeface="+mn-ea"/>
                        <a:cs typeface="+mn-cs"/>
                      </a:endParaRPr>
                    </a:p>
                    <a:p>
                      <a:pPr marL="71755" marR="71755" algn="ctr">
                        <a:spcBef>
                          <a:spcPts val="300"/>
                        </a:spcBef>
                        <a:spcAft>
                          <a:spcPts val="300"/>
                        </a:spcAft>
                        <a:tabLst>
                          <a:tab pos="91440" algn="l"/>
                        </a:tabLst>
                      </a:pPr>
                      <a:r>
                        <a:rPr lang="pt-BR" sz="1200" b="1" kern="1200" dirty="0">
                          <a:solidFill>
                            <a:srgbClr val="4040FF"/>
                          </a:solidFill>
                          <a:effectLst/>
                          <a:latin typeface="+mn-lt"/>
                          <a:ea typeface="+mn-ea"/>
                          <a:cs typeface="+mn-cs"/>
                        </a:rPr>
                        <a:t>N=104</a:t>
                      </a:r>
                      <a:endParaRPr lang="zh-CN" altLang="en-US" sz="1200" b="1" kern="1200" dirty="0">
                        <a:solidFill>
                          <a:srgbClr val="4040FF"/>
                        </a:solidFill>
                        <a:effectLst/>
                        <a:latin typeface="+mn-lt"/>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marR="71755" algn="ctr">
                        <a:spcBef>
                          <a:spcPts val="300"/>
                        </a:spcBef>
                        <a:spcAft>
                          <a:spcPts val="300"/>
                        </a:spcAft>
                        <a:tabLst>
                          <a:tab pos="91440" algn="l"/>
                        </a:tabLst>
                      </a:pPr>
                      <a:r>
                        <a:rPr lang="pt-BR" sz="1200" b="1" kern="1200">
                          <a:solidFill>
                            <a:srgbClr val="B14949"/>
                          </a:solidFill>
                          <a:effectLst/>
                          <a:latin typeface="+mn-lt"/>
                          <a:ea typeface="+mn-ea"/>
                          <a:cs typeface="+mn-cs"/>
                        </a:rPr>
                        <a:t>3L</a:t>
                      </a:r>
                      <a:endParaRPr lang="zh-CN" altLang="en-US" sz="1200" b="1" kern="1200">
                        <a:solidFill>
                          <a:srgbClr val="B14949"/>
                        </a:solidFill>
                        <a:effectLst/>
                        <a:latin typeface="+mn-lt"/>
                        <a:ea typeface="+mn-ea"/>
                        <a:cs typeface="+mn-cs"/>
                      </a:endParaRPr>
                    </a:p>
                    <a:p>
                      <a:pPr marL="71755" marR="71755" algn="ctr">
                        <a:spcBef>
                          <a:spcPts val="300"/>
                        </a:spcBef>
                        <a:spcAft>
                          <a:spcPts val="300"/>
                        </a:spcAft>
                        <a:tabLst>
                          <a:tab pos="91440" algn="l"/>
                        </a:tabLst>
                      </a:pPr>
                      <a:r>
                        <a:rPr lang="pt-BR" sz="1200" b="1" kern="1200">
                          <a:solidFill>
                            <a:srgbClr val="B14949"/>
                          </a:solidFill>
                          <a:effectLst/>
                          <a:latin typeface="+mn-lt"/>
                          <a:ea typeface="+mn-ea"/>
                          <a:cs typeface="+mn-cs"/>
                        </a:rPr>
                        <a:t>N=36</a:t>
                      </a:r>
                      <a:endParaRPr lang="zh-CN" altLang="en-US" sz="1200" b="1" kern="1200">
                        <a:solidFill>
                          <a:srgbClr val="B14949"/>
                        </a:solidFill>
                        <a:effectLst/>
                        <a:latin typeface="+mn-lt"/>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574439">
                <a:tc>
                  <a:txBody>
                    <a:bodyPr/>
                    <a:lstStyle/>
                    <a:p>
                      <a:r>
                        <a:rPr lang="en-US" sz="1200" kern="1200">
                          <a:solidFill>
                            <a:schemeClr val="tx1"/>
                          </a:solidFill>
                          <a:latin typeface="+mn-lt"/>
                          <a:ea typeface="+mn-ea"/>
                          <a:cs typeface="+mn-cs"/>
                        </a:rPr>
                        <a:t>KM median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marR="71755" algn="ctr">
                        <a:spcBef>
                          <a:spcPts val="300"/>
                        </a:spcBef>
                        <a:spcAft>
                          <a:spcPts val="300"/>
                        </a:spcAft>
                        <a:tabLst>
                          <a:tab pos="91440" algn="l"/>
                        </a:tabLst>
                      </a:pPr>
                      <a:r>
                        <a:rPr lang="en-US" sz="1200" kern="1200" dirty="0">
                          <a:solidFill>
                            <a:srgbClr val="FF0000"/>
                          </a:solidFill>
                          <a:latin typeface="+mn-lt"/>
                          <a:ea typeface="+mn-ea"/>
                          <a:cs typeface="+mn-cs"/>
                        </a:rPr>
                        <a:t>13.4 </a:t>
                      </a:r>
                    </a:p>
                    <a:p>
                      <a:pPr marL="71755" marR="71755" algn="ctr">
                        <a:spcBef>
                          <a:spcPts val="300"/>
                        </a:spcBef>
                        <a:spcAft>
                          <a:spcPts val="300"/>
                        </a:spcAft>
                        <a:tabLst>
                          <a:tab pos="91440" algn="l"/>
                        </a:tabLst>
                      </a:pPr>
                      <a:r>
                        <a:rPr lang="en-US" sz="1200" kern="1200" dirty="0">
                          <a:solidFill>
                            <a:srgbClr val="FF0000"/>
                          </a:solidFill>
                          <a:latin typeface="+mn-lt"/>
                          <a:ea typeface="+mn-ea"/>
                          <a:cs typeface="+mn-cs"/>
                        </a:rPr>
                        <a:t>(12.4-16.5)</a:t>
                      </a:r>
                      <a:endParaRPr lang="zh-CN" altLang="en-US" sz="1200" kern="1200" dirty="0">
                        <a:solidFill>
                          <a:srgbClr val="FF0000"/>
                        </a:solidFill>
                        <a:latin typeface="+mn-lt"/>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marR="71755" algn="ctr">
                        <a:spcBef>
                          <a:spcPts val="300"/>
                        </a:spcBef>
                        <a:spcAft>
                          <a:spcPts val="300"/>
                        </a:spcAft>
                        <a:tabLst>
                          <a:tab pos="91440" algn="l"/>
                        </a:tabLst>
                      </a:pPr>
                      <a:r>
                        <a:rPr lang="en-US" sz="1200" kern="1200" dirty="0">
                          <a:solidFill>
                            <a:srgbClr val="4040FF"/>
                          </a:solidFill>
                          <a:latin typeface="+mn-lt"/>
                          <a:ea typeface="+mn-ea"/>
                          <a:cs typeface="+mn-cs"/>
                        </a:rPr>
                        <a:t>10.8</a:t>
                      </a:r>
                    </a:p>
                    <a:p>
                      <a:pPr marL="71755" marR="71755" algn="ctr">
                        <a:spcBef>
                          <a:spcPts val="300"/>
                        </a:spcBef>
                        <a:spcAft>
                          <a:spcPts val="300"/>
                        </a:spcAft>
                        <a:tabLst>
                          <a:tab pos="91440" algn="l"/>
                        </a:tabLst>
                      </a:pPr>
                      <a:r>
                        <a:rPr lang="en-US" sz="1200" kern="1200" dirty="0">
                          <a:solidFill>
                            <a:srgbClr val="4040FF"/>
                          </a:solidFill>
                          <a:latin typeface="+mn-lt"/>
                          <a:ea typeface="+mn-ea"/>
                          <a:cs typeface="+mn-cs"/>
                        </a:rPr>
                        <a:t> (9.1-18.1)</a:t>
                      </a:r>
                      <a:endParaRPr lang="zh-CN" altLang="en-US" sz="1200" kern="1200" dirty="0">
                        <a:solidFill>
                          <a:srgbClr val="4040FF"/>
                        </a:solidFill>
                        <a:latin typeface="+mn-lt"/>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marR="71755" algn="ctr">
                        <a:spcBef>
                          <a:spcPts val="300"/>
                        </a:spcBef>
                        <a:spcAft>
                          <a:spcPts val="300"/>
                        </a:spcAft>
                        <a:tabLst>
                          <a:tab pos="91440" algn="l"/>
                        </a:tabLst>
                      </a:pPr>
                      <a:r>
                        <a:rPr lang="en-US" sz="1200" kern="1200" dirty="0">
                          <a:solidFill>
                            <a:srgbClr val="B14949"/>
                          </a:solidFill>
                          <a:latin typeface="+mn-lt"/>
                          <a:ea typeface="+mn-ea"/>
                          <a:cs typeface="+mn-cs"/>
                        </a:rPr>
                        <a:t>7.9</a:t>
                      </a:r>
                    </a:p>
                    <a:p>
                      <a:pPr marL="71755" marR="71755" algn="ctr">
                        <a:spcBef>
                          <a:spcPts val="300"/>
                        </a:spcBef>
                        <a:spcAft>
                          <a:spcPts val="300"/>
                        </a:spcAft>
                        <a:tabLst>
                          <a:tab pos="91440" algn="l"/>
                        </a:tabLst>
                      </a:pPr>
                      <a:r>
                        <a:rPr lang="en-US" sz="1200" kern="1200" dirty="0">
                          <a:solidFill>
                            <a:srgbClr val="B14949"/>
                          </a:solidFill>
                          <a:latin typeface="+mn-lt"/>
                          <a:ea typeface="+mn-ea"/>
                          <a:cs typeface="+mn-cs"/>
                        </a:rPr>
                        <a:t>(3.9-NE)</a:t>
                      </a:r>
                      <a:endParaRPr lang="zh-CN" altLang="en-US" sz="1200" kern="1200" dirty="0">
                        <a:solidFill>
                          <a:srgbClr val="B14949"/>
                        </a:solidFill>
                        <a:latin typeface="+mn-lt"/>
                        <a:ea typeface="+mn-ea"/>
                        <a:cs typeface="+mn-cs"/>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2231323"/>
                  </a:ext>
                </a:extLst>
              </a:tr>
            </a:tbl>
          </a:graphicData>
        </a:graphic>
      </p:graphicFrame>
    </p:spTree>
    <p:extLst>
      <p:ext uri="{BB962C8B-B14F-4D97-AF65-F5344CB8AC3E}">
        <p14:creationId xmlns:p14="http://schemas.microsoft.com/office/powerpoint/2010/main" val="25506281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Props1.xml><?xml version="1.0" encoding="utf-8"?>
<ds:datastoreItem xmlns:ds="http://schemas.openxmlformats.org/officeDocument/2006/customXml" ds:itemID="{67FB5438-482F-4135-A178-8F89FF90825E}"/>
</file>

<file path=customXml/itemProps2.xml><?xml version="1.0" encoding="utf-8"?>
<ds:datastoreItem xmlns:ds="http://schemas.openxmlformats.org/officeDocument/2006/customXml" ds:itemID="{3ADFF4BD-A8CB-407E-A9B8-36B034D58352}">
  <ds:schemaRefs>
    <ds:schemaRef ds:uri="http://schemas.microsoft.com/sharepoint/v3/contenttype/forms"/>
  </ds:schemaRefs>
</ds:datastoreItem>
</file>

<file path=customXml/itemProps3.xml><?xml version="1.0" encoding="utf-8"?>
<ds:datastoreItem xmlns:ds="http://schemas.openxmlformats.org/officeDocument/2006/customXml" ds:itemID="{4A4B4ADB-508F-4DFE-B5EB-336517CC0917}">
  <ds:schemaRefs>
    <ds:schemaRef ds:uri="http://schemas.microsoft.com/office/2006/metadata/properties"/>
    <ds:schemaRef ds:uri="2a2960ac-68b4-432b-aefe-dc0ce23fe426"/>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466f0e7b-b5a7-42e5-97ff-5e30e603c7b2"/>
    <ds:schemaRef ds:uri="http://purl.org/dc/elements/1.1/"/>
    <ds:schemaRef ds:uri="http://www.w3.org/XML/1998/namespace"/>
    <ds:schemaRef ds:uri="http://purl.org/dc/dcmitype/"/>
  </ds:schemaRefs>
</ds:datastoreItem>
</file>

<file path=docMetadata/LabelInfo.xml><?xml version="1.0" encoding="utf-8"?>
<clbl:labelList xmlns:clbl="http://schemas.microsoft.com/office/2020/mipLabelMetadata">
  <clbl:label id="{e1f8af86-ee95-4718-bd0d-375b37366c83}" enabled="0" method="" siteId="{e1f8af86-ee95-4718-bd0d-375b37366c83}" removed="1"/>
</clbl:labelList>
</file>

<file path=docProps/app.xml><?xml version="1.0" encoding="utf-8"?>
<Properties xmlns="http://schemas.openxmlformats.org/officeDocument/2006/extended-properties" xmlns:vt="http://schemas.openxmlformats.org/officeDocument/2006/docPropsVTypes">
  <TotalTime>395</TotalTime>
  <Words>767</Words>
  <Application>Microsoft Office PowerPoint</Application>
  <PresentationFormat>宽屏</PresentationFormat>
  <Paragraphs>160</Paragraphs>
  <Slides>7</Slides>
  <Notes>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7</vt:i4>
      </vt:variant>
    </vt:vector>
  </HeadingPairs>
  <TitlesOfParts>
    <vt:vector size="19" baseType="lpstr">
      <vt:lpstr>等线</vt:lpstr>
      <vt:lpstr>微软雅黑</vt:lpstr>
      <vt:lpstr>Arial</vt:lpstr>
      <vt:lpstr>BISans</vt:lpstr>
      <vt:lpstr>BISansOpti</vt:lpstr>
      <vt:lpstr>BISansOptiCond</vt:lpstr>
      <vt:lpstr>Boehringer Forward Head</vt:lpstr>
      <vt:lpstr>Boehringer Forward Text</vt:lpstr>
      <vt:lpstr>Calibri</vt:lpstr>
      <vt:lpstr>Wingdings</vt:lpstr>
      <vt:lpstr>Boehringer Ingelheim 16:9</vt:lpstr>
      <vt:lpstr>think-cell Slide</vt:lpstr>
      <vt:lpstr>DDLPS RWE Results Update  &amp; Publication Plan (1403-0024)</vt:lpstr>
      <vt:lpstr>Background &amp; Study Objectives</vt:lpstr>
      <vt:lpstr>PowerPoint 演示文稿</vt:lpstr>
      <vt:lpstr>DDLPS RWE Key Results (cont) </vt:lpstr>
      <vt:lpstr>Insight from RWE</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DDLPS RWE Results Update  &amp; Publication Plan</dc:title>
  <dc:creator>Fu,Dr.,Sherry (MED MA) BII-CN-S</dc:creator>
  <cp:lastModifiedBy>Fu,Dr.,Sherry (MED MA) BII-CN-S</cp:lastModifiedBy>
  <cp:revision>5</cp:revision>
  <dcterms:created xsi:type="dcterms:W3CDTF">2024-04-23T17:27:21Z</dcterms:created>
  <dcterms:modified xsi:type="dcterms:W3CDTF">2024-04-24T09:45:01Z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ies>
</file>