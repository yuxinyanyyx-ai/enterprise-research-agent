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816" r:id="rId4"/>
    <p:sldMasterId id="2147483854" r:id="rId5"/>
    <p:sldMasterId id="2147483923" r:id="rId6"/>
    <p:sldMasterId id="2147483967" r:id="rId7"/>
    <p:sldMasterId id="2147483976" r:id="rId8"/>
  </p:sldMasterIdLst>
  <p:notesMasterIdLst>
    <p:notesMasterId r:id="rId29"/>
  </p:notesMasterIdLst>
  <p:sldIdLst>
    <p:sldId id="2147474127" r:id="rId9"/>
    <p:sldId id="2147480137" r:id="rId10"/>
    <p:sldId id="2147480105" r:id="rId11"/>
    <p:sldId id="2147480138" r:id="rId12"/>
    <p:sldId id="2147480143" r:id="rId13"/>
    <p:sldId id="2147480156" r:id="rId14"/>
    <p:sldId id="2147480146" r:id="rId15"/>
    <p:sldId id="2147480142" r:id="rId16"/>
    <p:sldId id="2147474119" r:id="rId17"/>
    <p:sldId id="2147480155" r:id="rId18"/>
    <p:sldId id="2147480141" r:id="rId19"/>
    <p:sldId id="2147474118" r:id="rId20"/>
    <p:sldId id="2147480154" r:id="rId21"/>
    <p:sldId id="2147480149" r:id="rId22"/>
    <p:sldId id="2147480153" r:id="rId23"/>
    <p:sldId id="2147480119" r:id="rId24"/>
    <p:sldId id="2147480151" r:id="rId25"/>
    <p:sldId id="2147480112" r:id="rId26"/>
    <p:sldId id="2147480148" r:id="rId27"/>
    <p:sldId id="2147480152" r:id="rId28"/>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8" userDrawn="1">
          <p15:clr>
            <a:srgbClr val="A4A3A4"/>
          </p15:clr>
        </p15:guide>
        <p15:guide id="2" pos="3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7B1225C-0F8A-6FF2-3F0C-DB3C868EBB09}" name="Liu,Luoki (HP Medicine) BII-CN-S" initials="WL" userId="S::luoki.liu@boehringer-ingelheim.com::4eaafefd-fdd0-402a-890b-9cc9252585b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ang,Yuan (HP Medicine) BII-CN-S" initials="W(MBCS" lastIdx="4" clrIdx="0">
    <p:extLst>
      <p:ext uri="{19B8F6BF-5375-455C-9EA6-DF929625EA0E}">
        <p15:presenceInfo xmlns:p15="http://schemas.microsoft.com/office/powerpoint/2012/main" userId="S::yuan_2.wang@boehringer-ingelheim.com::358dc601-7626-4089-85ae-a53dd0075322" providerId="AD"/>
      </p:ext>
    </p:extLst>
  </p:cmAuthor>
  <p:cmAuthor id="2" name="Wu,Wenyan (HP Medicine) BII-CN-S" initials="W(MBCS" lastIdx="34" clrIdx="1">
    <p:extLst>
      <p:ext uri="{19B8F6BF-5375-455C-9EA6-DF929625EA0E}">
        <p15:presenceInfo xmlns:p15="http://schemas.microsoft.com/office/powerpoint/2012/main" userId="S::wenyan.wu@boehringer-ingelheim.com::4744b379-9ccd-4ca1-86a6-6236f3411c12" providerId="AD"/>
      </p:ext>
    </p:extLst>
  </p:cmAuthor>
  <p:cmAuthor id="3" name="Xiao,Jingbo (HP Medicine) BII-CN-S" initials="XB" lastIdx="5" clrIdx="2">
    <p:extLst>
      <p:ext uri="{19B8F6BF-5375-455C-9EA6-DF929625EA0E}">
        <p15:presenceInfo xmlns:p15="http://schemas.microsoft.com/office/powerpoint/2012/main" userId="S::jingbo.xiao@boehringer-ingelheim.com::240cea10-594f-4a4d-87cc-57b72bd70599" providerId="AD"/>
      </p:ext>
    </p:extLst>
  </p:cmAuthor>
  <p:cmAuthor id="4" name="Liang,Sarah (HP Medicine) BII-CN-S" initials="L(MBCS" lastIdx="8" clrIdx="3">
    <p:extLst>
      <p:ext uri="{19B8F6BF-5375-455C-9EA6-DF929625EA0E}">
        <p15:presenceInfo xmlns:p15="http://schemas.microsoft.com/office/powerpoint/2012/main" userId="S::sarah.liang@boehringer-ingelheim.com::b5b94567-963a-4c9d-af99-146fb15290a2" providerId="AD"/>
      </p:ext>
    </p:extLst>
  </p:cmAuthor>
  <p:cmAuthor id="5" name="Zheng,Dr.,Raven (HP Medicine) BII-CN-S" initials="ZB" lastIdx="1" clrIdx="4">
    <p:extLst>
      <p:ext uri="{19B8F6BF-5375-455C-9EA6-DF929625EA0E}">
        <p15:presenceInfo xmlns:p15="http://schemas.microsoft.com/office/powerpoint/2012/main" userId="S::raven.zheng@boehringer-ingelheim.com::da291d12-50a2-4cab-8c44-2d904d758f6b" providerId="AD"/>
      </p:ext>
    </p:extLst>
  </p:cmAuthor>
  <p:cmAuthor id="6" name="Huang,Yuhui (MED MA) BII-CN-S" initials="YH" lastIdx="1" clrIdx="5">
    <p:extLst>
      <p:ext uri="{19B8F6BF-5375-455C-9EA6-DF929625EA0E}">
        <p15:presenceInfo xmlns:p15="http://schemas.microsoft.com/office/powerpoint/2012/main" userId="S::yuhui.huang@boehringer-ingelheim.com::ed0729b3-cbbe-426e-8bd8-9fdc9d531cf2" providerId="AD"/>
      </p:ext>
    </p:extLst>
  </p:cmAuthor>
  <p:cmAuthor id="7" name="Guo,Evan (HP Medicine) BII-CN-S" initials="YG" lastIdx="42" clrIdx="6">
    <p:extLst>
      <p:ext uri="{19B8F6BF-5375-455C-9EA6-DF929625EA0E}">
        <p15:presenceInfo xmlns:p15="http://schemas.microsoft.com/office/powerpoint/2012/main" userId="S::evan.guo@boehringer-ingelheim.com::7e89ea02-9183-43bf-a54b-f5405e393301" providerId="AD"/>
      </p:ext>
    </p:extLst>
  </p:cmAuthor>
  <p:cmAuthor id="8" name="Lan Hong" initials="LH" lastIdx="4" clrIdx="7">
    <p:extLst>
      <p:ext uri="{19B8F6BF-5375-455C-9EA6-DF929625EA0E}">
        <p15:presenceInfo xmlns:p15="http://schemas.microsoft.com/office/powerpoint/2012/main" userId="c568b555cb552180" providerId="Windows Live"/>
      </p:ext>
    </p:extLst>
  </p:cmAuthor>
  <p:cmAuthor id="9" name="Yan,Dr.,Shijia (MED BDS) BII-CN-S" initials="YB" lastIdx="3" clrIdx="8">
    <p:extLst>
      <p:ext uri="{19B8F6BF-5375-455C-9EA6-DF929625EA0E}">
        <p15:presenceInfo xmlns:p15="http://schemas.microsoft.com/office/powerpoint/2012/main" userId="S::shijia.yan@boehringer-ingelheim.com::430f0cc2-85a8-4ae7-b8a1-52d7eaf2fba3" providerId="AD"/>
      </p:ext>
    </p:extLst>
  </p:cmAuthor>
  <p:cmAuthor id="10" name="Wang,Vicky (HP Medicine) BII-CN-S" initials="XW" lastIdx="3" clrIdx="9">
    <p:extLst>
      <p:ext uri="{19B8F6BF-5375-455C-9EA6-DF929625EA0E}">
        <p15:presenceInfo xmlns:p15="http://schemas.microsoft.com/office/powerpoint/2012/main" userId="S::vicky_2.wang@boehringer-ingelheim.com::e0d03f24-feb7-4adf-9b97-3ff8a6f38e37" providerId="AD"/>
      </p:ext>
    </p:extLst>
  </p:cmAuthor>
  <p:cmAuthor id="11" name="Liu,Luoki (HP Medicine) BII-CN-S" initials="WL" lastIdx="29" clrIdx="10">
    <p:extLst>
      <p:ext uri="{19B8F6BF-5375-455C-9EA6-DF929625EA0E}">
        <p15:presenceInfo xmlns:p15="http://schemas.microsoft.com/office/powerpoint/2012/main" userId="S::luoki.liu@boehringer-ingelheim.com::4eaafefd-fdd0-402a-890b-9cc9252585be" providerId="AD"/>
      </p:ext>
    </p:extLst>
  </p:cmAuthor>
  <p:cmAuthor id="12" name="Shi,Cherry (HP Medicine) BII-CN-S" initials="QS" lastIdx="18" clrIdx="11">
    <p:extLst>
      <p:ext uri="{19B8F6BF-5375-455C-9EA6-DF929625EA0E}">
        <p15:presenceInfo xmlns:p15="http://schemas.microsoft.com/office/powerpoint/2012/main" userId="S::cherry.shi@boehringer-ingelheim.com::d1fa847a-fc45-456f-9c70-a123cc9ed61e" providerId="AD"/>
      </p:ext>
    </p:extLst>
  </p:cmAuthor>
  <p:cmAuthor id="13" name="Tian,Liqun (HP Medicine) BII-CN-S" initials="TB" lastIdx="3" clrIdx="12">
    <p:extLst>
      <p:ext uri="{19B8F6BF-5375-455C-9EA6-DF929625EA0E}">
        <p15:presenceInfo xmlns:p15="http://schemas.microsoft.com/office/powerpoint/2012/main" userId="S::liqun.tian@boehringer-ingelheim.com::5424a580-e195-4277-8a43-0a39a25c1936" providerId="AD"/>
      </p:ext>
    </p:extLst>
  </p:cmAuthor>
  <p:cmAuthor id="14" name="Wang,Yanling (DEV) BII-CN-S" initials="YW" lastIdx="1" clrIdx="13">
    <p:extLst>
      <p:ext uri="{19B8F6BF-5375-455C-9EA6-DF929625EA0E}">
        <p15:presenceInfo xmlns:p15="http://schemas.microsoft.com/office/powerpoint/2012/main" userId="S::yanling.wang@boehringer-ingelheim.com::d9010881-f349-42be-a396-c6208d9b3f9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584B"/>
    <a:srgbClr val="1AA28B"/>
    <a:srgbClr val="00E47C"/>
    <a:srgbClr val="08312A"/>
    <a:srgbClr val="E7FAEC"/>
    <a:srgbClr val="ADB7B0"/>
    <a:srgbClr val="CBF5D7"/>
    <a:srgbClr val="F4DFDB"/>
    <a:srgbClr val="879AAC"/>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20"/>
    <p:restoredTop sz="94153" autoAdjust="0"/>
  </p:normalViewPr>
  <p:slideViewPr>
    <p:cSldViewPr snapToGrid="0">
      <p:cViewPr varScale="1">
        <p:scale>
          <a:sx n="98" d="100"/>
          <a:sy n="98" d="100"/>
        </p:scale>
        <p:origin x="360" y="64"/>
      </p:cViewPr>
      <p:guideLst>
        <p:guide orient="horz" pos="418"/>
        <p:guide pos="363"/>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commentAuthors" Target="commentAuthors.xml"/><Relationship Id="rId35"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列1</c:v>
                </c:pt>
              </c:strCache>
            </c:strRef>
          </c:tx>
          <c:dPt>
            <c:idx val="0"/>
            <c:bubble3D val="0"/>
            <c:spPr>
              <a:solidFill>
                <a:schemeClr val="bg1">
                  <a:lumMod val="75000"/>
                </a:schemeClr>
              </a:solidFill>
              <a:ln w="19050">
                <a:solidFill>
                  <a:schemeClr val="lt1"/>
                </a:solidFill>
              </a:ln>
              <a:effectLst/>
            </c:spPr>
            <c:extLst>
              <c:ext xmlns:c16="http://schemas.microsoft.com/office/drawing/2014/chart" uri="{C3380CC4-5D6E-409C-BE32-E72D297353CC}">
                <c16:uniqueId val="{00000001-E1E1-4242-9028-5D87C8D264F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407-4C1A-BC17-525F8F9199F7}"/>
              </c:ext>
            </c:extLst>
          </c:dPt>
          <c:dPt>
            <c:idx val="2"/>
            <c:bubble3D val="0"/>
            <c:spPr>
              <a:solidFill>
                <a:srgbClr val="1AA28B"/>
              </a:solidFill>
              <a:ln w="19050">
                <a:solidFill>
                  <a:schemeClr val="lt1"/>
                </a:solidFill>
              </a:ln>
              <a:effectLst/>
            </c:spPr>
            <c:extLst>
              <c:ext xmlns:c16="http://schemas.microsoft.com/office/drawing/2014/chart" uri="{C3380CC4-5D6E-409C-BE32-E72D297353CC}">
                <c16:uniqueId val="{00000003-E1E1-4242-9028-5D87C8D264FC}"/>
              </c:ext>
            </c:extLst>
          </c:dPt>
          <c:dPt>
            <c:idx val="3"/>
            <c:bubble3D val="0"/>
            <c:spPr>
              <a:solidFill>
                <a:srgbClr val="0E584B"/>
              </a:solidFill>
              <a:ln w="19050">
                <a:solidFill>
                  <a:schemeClr val="lt1"/>
                </a:solidFill>
              </a:ln>
              <a:effectLst/>
            </c:spPr>
            <c:extLst>
              <c:ext xmlns:c16="http://schemas.microsoft.com/office/drawing/2014/chart" uri="{C3380CC4-5D6E-409C-BE32-E72D297353CC}">
                <c16:uniqueId val="{00000002-E1E1-4242-9028-5D87C8D264F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4-E1E1-4242-9028-5D87C8D264FC}"/>
              </c:ext>
            </c:extLst>
          </c:dPt>
          <c:dLbls>
            <c:dLbl>
              <c:idx val="2"/>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zh-CN"/>
                </a:p>
              </c:txPr>
              <c:showLegendKey val="0"/>
              <c:showVal val="1"/>
              <c:showCatName val="0"/>
              <c:showSerName val="0"/>
              <c:showPercent val="0"/>
              <c:showBubbleSize val="0"/>
              <c:extLst>
                <c:ext xmlns:c16="http://schemas.microsoft.com/office/drawing/2014/chart" uri="{C3380CC4-5D6E-409C-BE32-E72D297353CC}">
                  <c16:uniqueId val="{00000003-E1E1-4242-9028-5D87C8D264FC}"/>
                </c:ext>
              </c:extLst>
            </c:dLbl>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Times New Roman" panose="02020603050405020304" pitchFamily="18" charset="0"/>
                      <a:ea typeface="+mn-ea"/>
                      <a:cs typeface="Times New Roman" panose="02020603050405020304" pitchFamily="18" charset="0"/>
                    </a:defRPr>
                  </a:pPr>
                  <a:endParaRPr lang="zh-CN"/>
                </a:p>
              </c:txPr>
              <c:showLegendKey val="0"/>
              <c:showVal val="1"/>
              <c:showCatName val="0"/>
              <c:showSerName val="0"/>
              <c:showPercent val="0"/>
              <c:showBubbleSize val="0"/>
              <c:extLst>
                <c:ext xmlns:c16="http://schemas.microsoft.com/office/drawing/2014/chart" uri="{C3380CC4-5D6E-409C-BE32-E72D297353CC}">
                  <c16:uniqueId val="{00000002-E1E1-4242-9028-5D87C8D264FC}"/>
                </c:ext>
              </c:extLst>
            </c:dLbl>
            <c:dLbl>
              <c:idx val="4"/>
              <c:layout>
                <c:manualLayout>
                  <c:x val="1.1836761008316618E-2"/>
                  <c:y val="2.05516597244714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1E1-4242-9028-5D87C8D264F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＜140</c:v>
                </c:pt>
                <c:pt idx="1">
                  <c:v>140-159</c:v>
                </c:pt>
                <c:pt idx="2">
                  <c:v>160-179</c:v>
                </c:pt>
                <c:pt idx="3">
                  <c:v>≥180</c:v>
                </c:pt>
                <c:pt idx="4">
                  <c:v>Unknown</c:v>
                </c:pt>
              </c:strCache>
            </c:strRef>
          </c:cat>
          <c:val>
            <c:numRef>
              <c:f>Sheet1!$B$2:$B$6</c:f>
              <c:numCache>
                <c:formatCode>0%</c:formatCode>
                <c:ptCount val="5"/>
                <c:pt idx="0" formatCode="0.00%">
                  <c:v>0.246</c:v>
                </c:pt>
                <c:pt idx="1">
                  <c:v>0.27</c:v>
                </c:pt>
                <c:pt idx="2">
                  <c:v>0.23</c:v>
                </c:pt>
                <c:pt idx="3" formatCode="0.00%">
                  <c:v>0.253</c:v>
                </c:pt>
                <c:pt idx="4" formatCode="0.00%">
                  <c:v>1E-3</c:v>
                </c:pt>
              </c:numCache>
            </c:numRef>
          </c:val>
          <c:extLst>
            <c:ext xmlns:c16="http://schemas.microsoft.com/office/drawing/2014/chart" uri="{C3380CC4-5D6E-409C-BE32-E72D297353CC}">
              <c16:uniqueId val="{00000000-E1E1-4242-9028-5D87C8D264FC}"/>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5.3274966153052682E-2"/>
          <c:y val="0.76983233280356722"/>
          <c:w val="0.87077583650312684"/>
          <c:h val="8.6371202820062817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列1</c:v>
                </c:pt>
              </c:strCache>
            </c:strRef>
          </c:tx>
          <c:dPt>
            <c:idx val="0"/>
            <c:bubble3D val="0"/>
            <c:spPr>
              <a:solidFill>
                <a:schemeClr val="bg1">
                  <a:lumMod val="75000"/>
                </a:schemeClr>
              </a:solidFill>
              <a:ln w="19050">
                <a:solidFill>
                  <a:schemeClr val="lt1"/>
                </a:solidFill>
              </a:ln>
              <a:effectLst/>
            </c:spPr>
            <c:extLst>
              <c:ext xmlns:c16="http://schemas.microsoft.com/office/drawing/2014/chart" uri="{C3380CC4-5D6E-409C-BE32-E72D297353CC}">
                <c16:uniqueId val="{00000001-97A9-4FC3-873E-CF61558EEBF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7A9-4FC3-873E-CF61558EEBFC}"/>
              </c:ext>
            </c:extLst>
          </c:dPt>
          <c:dPt>
            <c:idx val="2"/>
            <c:bubble3D val="0"/>
            <c:spPr>
              <a:solidFill>
                <a:srgbClr val="1AA28B"/>
              </a:solidFill>
              <a:ln w="19050">
                <a:solidFill>
                  <a:schemeClr val="lt1"/>
                </a:solidFill>
              </a:ln>
              <a:effectLst/>
            </c:spPr>
            <c:extLst>
              <c:ext xmlns:c16="http://schemas.microsoft.com/office/drawing/2014/chart" uri="{C3380CC4-5D6E-409C-BE32-E72D297353CC}">
                <c16:uniqueId val="{00000005-97A9-4FC3-873E-CF61558EEBFC}"/>
              </c:ext>
            </c:extLst>
          </c:dPt>
          <c:dPt>
            <c:idx val="3"/>
            <c:bubble3D val="0"/>
            <c:spPr>
              <a:solidFill>
                <a:srgbClr val="0E584B"/>
              </a:solidFill>
              <a:ln w="19050">
                <a:solidFill>
                  <a:schemeClr val="lt1"/>
                </a:solidFill>
              </a:ln>
              <a:effectLst/>
            </c:spPr>
            <c:extLst>
              <c:ext xmlns:c16="http://schemas.microsoft.com/office/drawing/2014/chart" uri="{C3380CC4-5D6E-409C-BE32-E72D297353CC}">
                <c16:uniqueId val="{00000007-97A9-4FC3-873E-CF61558EEBF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97A9-4FC3-873E-CF61558EEBFC}"/>
              </c:ext>
            </c:extLst>
          </c:dPt>
          <c:dLbls>
            <c:dLbl>
              <c:idx val="2"/>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zh-CN"/>
                </a:p>
              </c:txPr>
              <c:showLegendKey val="0"/>
              <c:showVal val="1"/>
              <c:showCatName val="0"/>
              <c:showSerName val="0"/>
              <c:showPercent val="0"/>
              <c:showBubbleSize val="0"/>
              <c:extLst>
                <c:ext xmlns:c16="http://schemas.microsoft.com/office/drawing/2014/chart" uri="{C3380CC4-5D6E-409C-BE32-E72D297353CC}">
                  <c16:uniqueId val="{00000005-97A9-4FC3-873E-CF61558EEBFC}"/>
                </c:ext>
              </c:extLst>
            </c:dLbl>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Times New Roman" panose="02020603050405020304" pitchFamily="18" charset="0"/>
                      <a:ea typeface="+mn-ea"/>
                      <a:cs typeface="Times New Roman" panose="02020603050405020304" pitchFamily="18" charset="0"/>
                    </a:defRPr>
                  </a:pPr>
                  <a:endParaRPr lang="zh-CN"/>
                </a:p>
              </c:txPr>
              <c:showLegendKey val="0"/>
              <c:showVal val="1"/>
              <c:showCatName val="0"/>
              <c:showSerName val="0"/>
              <c:showPercent val="0"/>
              <c:showBubbleSize val="0"/>
              <c:extLst>
                <c:ext xmlns:c16="http://schemas.microsoft.com/office/drawing/2014/chart" uri="{C3380CC4-5D6E-409C-BE32-E72D297353CC}">
                  <c16:uniqueId val="{00000007-97A9-4FC3-873E-CF61558EEBFC}"/>
                </c:ext>
              </c:extLst>
            </c:dLbl>
            <c:dLbl>
              <c:idx val="4"/>
              <c:layout>
                <c:manualLayout>
                  <c:x val="-1.2636193669009091E-3"/>
                  <c:y val="6.20278240172337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7A9-4FC3-873E-CF61558EEBF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＜140</c:v>
                </c:pt>
                <c:pt idx="1">
                  <c:v>140-159</c:v>
                </c:pt>
                <c:pt idx="2">
                  <c:v>160-179</c:v>
                </c:pt>
                <c:pt idx="3">
                  <c:v>≥180</c:v>
                </c:pt>
              </c:strCache>
            </c:strRef>
          </c:cat>
          <c:val>
            <c:numRef>
              <c:f>Sheet1!$B$2:$B$5</c:f>
              <c:numCache>
                <c:formatCode>0.00%</c:formatCode>
                <c:ptCount val="4"/>
                <c:pt idx="0">
                  <c:v>0.184</c:v>
                </c:pt>
                <c:pt idx="1">
                  <c:v>0.27900000000000003</c:v>
                </c:pt>
                <c:pt idx="2">
                  <c:v>0.26100000000000001</c:v>
                </c:pt>
                <c:pt idx="3">
                  <c:v>0.27600000000000002</c:v>
                </c:pt>
              </c:numCache>
            </c:numRef>
          </c:val>
          <c:extLst>
            <c:ext xmlns:c16="http://schemas.microsoft.com/office/drawing/2014/chart" uri="{C3380CC4-5D6E-409C-BE32-E72D297353CC}">
              <c16:uniqueId val="{0000000A-97A9-4FC3-873E-CF61558EEBFC}"/>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5.3274966153052682E-2"/>
          <c:y val="0.76983233280356722"/>
          <c:w val="0.87077583650312684"/>
          <c:h val="8.6371202820062817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BISansOpti"/>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BISansOpti"/>
              </a:defRPr>
            </a:lvl1pPr>
          </a:lstStyle>
          <a:p>
            <a:fld id="{1704522E-CA49-444F-A3F4-1E49B55AA7A5}" type="datetimeFigureOut">
              <a:rPr lang="de-DE" smtClean="0"/>
              <a:pPr/>
              <a:t>21.04.2026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BISansOpti"/>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BISansOpti"/>
              </a:defRPr>
            </a:lvl1pPr>
          </a:lstStyle>
          <a:p>
            <a:fld id="{240BD463-D209-4FAB-A722-B2AFE81AC984}" type="slidenum">
              <a:rPr lang="de-DE" smtClean="0"/>
              <a:pPr/>
              <a:t>‹#›</a:t>
            </a:fld>
            <a:endParaRPr lang="de-DE"/>
          </a:p>
        </p:txBody>
      </p:sp>
    </p:spTree>
    <p:extLst>
      <p:ext uri="{BB962C8B-B14F-4D97-AF65-F5344CB8AC3E}">
        <p14:creationId xmlns:p14="http://schemas.microsoft.com/office/powerpoint/2010/main" val="1985401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ISansOpti"/>
        <a:ea typeface="+mn-ea"/>
        <a:cs typeface="+mn-cs"/>
      </a:defRPr>
    </a:lvl1pPr>
    <a:lvl2pPr marL="457200" algn="l" defTabSz="914400" rtl="0" eaLnBrk="1" latinLnBrk="0" hangingPunct="1">
      <a:defRPr sz="1200" kern="1200">
        <a:solidFill>
          <a:schemeClr val="tx1"/>
        </a:solidFill>
        <a:latin typeface="BISansOpti"/>
        <a:ea typeface="+mn-ea"/>
        <a:cs typeface="+mn-cs"/>
      </a:defRPr>
    </a:lvl2pPr>
    <a:lvl3pPr marL="914400" algn="l" defTabSz="914400" rtl="0" eaLnBrk="1" latinLnBrk="0" hangingPunct="1">
      <a:defRPr sz="1200" kern="1200">
        <a:solidFill>
          <a:schemeClr val="tx1"/>
        </a:solidFill>
        <a:latin typeface="BISansOpti"/>
        <a:ea typeface="+mn-ea"/>
        <a:cs typeface="+mn-cs"/>
      </a:defRPr>
    </a:lvl3pPr>
    <a:lvl4pPr marL="1371600" algn="l" defTabSz="914400" rtl="0" eaLnBrk="1" latinLnBrk="0" hangingPunct="1">
      <a:defRPr sz="1200" kern="1200">
        <a:solidFill>
          <a:schemeClr val="tx1"/>
        </a:solidFill>
        <a:latin typeface="BISansOpti"/>
        <a:ea typeface="+mn-ea"/>
        <a:cs typeface="+mn-cs"/>
      </a:defRPr>
    </a:lvl4pPr>
    <a:lvl5pPr marL="1828800" algn="l" defTabSz="914400" rtl="0" eaLnBrk="1" latinLnBrk="0" hangingPunct="1">
      <a:defRPr sz="1200" kern="1200">
        <a:solidFill>
          <a:schemeClr val="tx1"/>
        </a:solidFill>
        <a:latin typeface="BISansOpti"/>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87580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dirty="0">
              <a:effectLst/>
            </a:endParaRPr>
          </a:p>
        </p:txBody>
      </p:sp>
      <p:sp>
        <p:nvSpPr>
          <p:cNvPr id="4" name="灯片编号占位符 3"/>
          <p:cNvSpPr>
            <a:spLocks noGrp="1"/>
          </p:cNvSpPr>
          <p:nvPr>
            <p:ph type="sldNum" sz="quarter" idx="5"/>
          </p:nvPr>
        </p:nvSpPr>
        <p:spPr/>
        <p:txBody>
          <a:bodyPr/>
          <a:lstStyle/>
          <a:p>
            <a:fld id="{240BD463-D209-4FAB-A722-B2AFE81AC984}" type="slidenum">
              <a:rPr lang="de-DE" smtClean="0"/>
              <a:pPr/>
              <a:t>2</a:t>
            </a:fld>
            <a:endParaRPr lang="de-DE"/>
          </a:p>
        </p:txBody>
      </p:sp>
    </p:spTree>
    <p:extLst>
      <p:ext uri="{BB962C8B-B14F-4D97-AF65-F5344CB8AC3E}">
        <p14:creationId xmlns:p14="http://schemas.microsoft.com/office/powerpoint/2010/main" val="1431237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BISansOpti"/>
                <a:ea typeface="+mn-ea"/>
                <a:cs typeface="+mn-cs"/>
              </a:rPr>
              <a:t>Thus, without a clear benefit of 1 versus another strategy, it is reasonable to adhere to BP recommendations of the IVT clinical trial protocols. </a:t>
            </a:r>
          </a:p>
          <a:p>
            <a:r>
              <a:rPr lang="en-US" altLang="zh-CN" sz="1200" b="0" i="0" u="none" strike="noStrike" kern="1200" baseline="0" dirty="0">
                <a:solidFill>
                  <a:schemeClr val="tx1"/>
                </a:solidFill>
                <a:latin typeface="BISansOpti"/>
                <a:ea typeface="+mn-ea"/>
                <a:cs typeface="+mn-cs"/>
              </a:rPr>
              <a:t>Because several major RCTs of thrombectomy had preprocedural BP managed &lt;185/110 mm Hg, it is reasonable to use this level as a guideline until additional data become available. </a:t>
            </a:r>
            <a:endParaRPr lang="zh-CN" altLang="en-US" dirty="0"/>
          </a:p>
        </p:txBody>
      </p:sp>
      <p:sp>
        <p:nvSpPr>
          <p:cNvPr id="4" name="灯片编号占位符 3"/>
          <p:cNvSpPr>
            <a:spLocks noGrp="1"/>
          </p:cNvSpPr>
          <p:nvPr>
            <p:ph type="sldNum" sz="quarter" idx="5"/>
          </p:nvPr>
        </p:nvSpPr>
        <p:spPr/>
        <p:txBody>
          <a:bodyPr/>
          <a:lstStyle/>
          <a:p>
            <a:fld id="{240BD463-D209-4FAB-A722-B2AFE81AC984}" type="slidenum">
              <a:rPr lang="de-DE" smtClean="0"/>
              <a:pPr/>
              <a:t>3</a:t>
            </a:fld>
            <a:endParaRPr lang="de-DE"/>
          </a:p>
        </p:txBody>
      </p:sp>
    </p:spTree>
    <p:extLst>
      <p:ext uri="{BB962C8B-B14F-4D97-AF65-F5344CB8AC3E}">
        <p14:creationId xmlns:p14="http://schemas.microsoft.com/office/powerpoint/2010/main" val="390694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effectLst/>
              </a:rPr>
              <a:t>Metalyse</a:t>
            </a:r>
            <a:r>
              <a:rPr lang="en-US" altLang="zh-CN" dirty="0">
                <a:effectLst/>
              </a:rPr>
              <a:t> PI contraindication for hypertension pts</a:t>
            </a:r>
            <a:endParaRPr lang="zh-CN" altLang="en-US" dirty="0"/>
          </a:p>
        </p:txBody>
      </p:sp>
      <p:sp>
        <p:nvSpPr>
          <p:cNvPr id="4" name="灯片编号占位符 3"/>
          <p:cNvSpPr>
            <a:spLocks noGrp="1"/>
          </p:cNvSpPr>
          <p:nvPr>
            <p:ph type="sldNum" sz="quarter" idx="5"/>
          </p:nvPr>
        </p:nvSpPr>
        <p:spPr/>
        <p:txBody>
          <a:bodyPr/>
          <a:lstStyle/>
          <a:p>
            <a:fld id="{240BD463-D209-4FAB-A722-B2AFE81AC984}" type="slidenum">
              <a:rPr lang="de-DE" smtClean="0"/>
              <a:pPr/>
              <a:t>4</a:t>
            </a:fld>
            <a:endParaRPr lang="de-DE"/>
          </a:p>
        </p:txBody>
      </p:sp>
    </p:spTree>
    <p:extLst>
      <p:ext uri="{BB962C8B-B14F-4D97-AF65-F5344CB8AC3E}">
        <p14:creationId xmlns:p14="http://schemas.microsoft.com/office/powerpoint/2010/main" val="3643289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Rapid declines or fluctuating blood pressure could compromise cerebral perfusion, particularly in patients with impaired cerebral autoregulation</a:t>
            </a:r>
          </a:p>
          <a:p>
            <a:r>
              <a:rPr lang="en-US" altLang="zh-CN" dirty="0"/>
              <a:t>thrombolysis is administered only if blood pressure decreases below the threshold values, which can result in the delayed initiation of treatment</a:t>
            </a:r>
          </a:p>
          <a:p>
            <a:r>
              <a:rPr lang="en-US" altLang="zh-CN" dirty="0"/>
              <a:t>and fewer patients receiving the treatment overall.</a:t>
            </a:r>
            <a:endParaRPr lang="zh-CN" altLang="en-US" dirty="0"/>
          </a:p>
        </p:txBody>
      </p:sp>
      <p:sp>
        <p:nvSpPr>
          <p:cNvPr id="4" name="灯片编号占位符 3"/>
          <p:cNvSpPr>
            <a:spLocks noGrp="1"/>
          </p:cNvSpPr>
          <p:nvPr>
            <p:ph type="sldNum" sz="quarter" idx="5"/>
          </p:nvPr>
        </p:nvSpPr>
        <p:spPr/>
        <p:txBody>
          <a:bodyPr/>
          <a:lstStyle/>
          <a:p>
            <a:fld id="{240BD463-D209-4FAB-A722-B2AFE81AC984}" type="slidenum">
              <a:rPr lang="de-DE" smtClean="0"/>
              <a:pPr/>
              <a:t>5</a:t>
            </a:fld>
            <a:endParaRPr lang="de-DE"/>
          </a:p>
        </p:txBody>
      </p:sp>
    </p:spTree>
    <p:extLst>
      <p:ext uri="{BB962C8B-B14F-4D97-AF65-F5344CB8AC3E}">
        <p14:creationId xmlns:p14="http://schemas.microsoft.com/office/powerpoint/2010/main" val="2899594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E34D2-EF27-858E-305A-AFA65945C2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4BCB9C-46EE-E6F4-D7B8-E3871D43AC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2947A1-29A8-B1F6-B9BF-ED3512C4A8EF}"/>
              </a:ext>
            </a:extLst>
          </p:cNvPr>
          <p:cNvSpPr>
            <a:spLocks noGrp="1"/>
          </p:cNvSpPr>
          <p:nvPr>
            <p:ph type="body" idx="1"/>
          </p:nvPr>
        </p:nvSpPr>
        <p:spPr/>
        <p:txBody>
          <a:bodyPr/>
          <a:lstStyle/>
          <a:p>
            <a:r>
              <a:rPr lang="en-US" altLang="zh-CN" dirty="0"/>
              <a:t>Rapid declines or fluctuating blood pressure could compromise cerebral perfusion, particularly in patients with impaired cerebral autoregulation</a:t>
            </a:r>
          </a:p>
          <a:p>
            <a:r>
              <a:rPr lang="en-US" altLang="zh-CN" dirty="0"/>
              <a:t>thrombolysis is administered only if blood pressure decreases below the threshold values, which can result in the delayed initiation of treatment</a:t>
            </a:r>
          </a:p>
          <a:p>
            <a:r>
              <a:rPr lang="en-US" altLang="zh-CN" dirty="0"/>
              <a:t>and fewer patients receiving the treatment overall.</a:t>
            </a:r>
            <a:endParaRPr lang="zh-CN" altLang="en-US" dirty="0"/>
          </a:p>
        </p:txBody>
      </p:sp>
      <p:sp>
        <p:nvSpPr>
          <p:cNvPr id="4" name="灯片编号占位符 3">
            <a:extLst>
              <a:ext uri="{FF2B5EF4-FFF2-40B4-BE49-F238E27FC236}">
                <a16:creationId xmlns:a16="http://schemas.microsoft.com/office/drawing/2014/main" id="{A11CC6BB-52A8-46A3-3830-53092C6F2509}"/>
              </a:ext>
            </a:extLst>
          </p:cNvPr>
          <p:cNvSpPr>
            <a:spLocks noGrp="1"/>
          </p:cNvSpPr>
          <p:nvPr>
            <p:ph type="sldNum" sz="quarter" idx="5"/>
          </p:nvPr>
        </p:nvSpPr>
        <p:spPr/>
        <p:txBody>
          <a:bodyPr/>
          <a:lstStyle/>
          <a:p>
            <a:fld id="{240BD463-D209-4FAB-A722-B2AFE81AC984}" type="slidenum">
              <a:rPr lang="de-DE" smtClean="0"/>
              <a:pPr/>
              <a:t>6</a:t>
            </a:fld>
            <a:endParaRPr lang="de-DE"/>
          </a:p>
        </p:txBody>
      </p:sp>
    </p:spTree>
    <p:extLst>
      <p:ext uri="{BB962C8B-B14F-4D97-AF65-F5344CB8AC3E}">
        <p14:creationId xmlns:p14="http://schemas.microsoft.com/office/powerpoint/2010/main" val="1110264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fontAlgn="base"/>
            <a:endParaRPr lang="zh-CN" altLang="zh-CN" sz="1200" u="none" strike="noStrike" kern="1200" dirty="0">
              <a:solidFill>
                <a:schemeClr val="tx1"/>
              </a:solidFill>
              <a:effectLst/>
              <a:latin typeface="BISansOpti"/>
              <a:ea typeface="+mn-ea"/>
              <a:cs typeface="+mn-cs"/>
            </a:endParaRPr>
          </a:p>
        </p:txBody>
      </p:sp>
      <p:sp>
        <p:nvSpPr>
          <p:cNvPr id="4" name="灯片编号占位符 3"/>
          <p:cNvSpPr>
            <a:spLocks noGrp="1"/>
          </p:cNvSpPr>
          <p:nvPr>
            <p:ph type="sldNum" sz="quarter" idx="5"/>
          </p:nvPr>
        </p:nvSpPr>
        <p:spPr/>
        <p:txBody>
          <a:bodyPr/>
          <a:lstStyle/>
          <a:p>
            <a:fld id="{240BD463-D209-4FAB-A722-B2AFE81AC984}" type="slidenum">
              <a:rPr lang="de-DE" smtClean="0"/>
              <a:pPr/>
              <a:t>8</a:t>
            </a:fld>
            <a:endParaRPr lang="de-DE"/>
          </a:p>
        </p:txBody>
      </p:sp>
    </p:spTree>
    <p:extLst>
      <p:ext uri="{BB962C8B-B14F-4D97-AF65-F5344CB8AC3E}">
        <p14:creationId xmlns:p14="http://schemas.microsoft.com/office/powerpoint/2010/main" val="815873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选择序数分析作为主要终点，是基于以下几点证据充分的考量：</a:t>
            </a:r>
          </a:p>
          <a:p>
            <a:r>
              <a:rPr lang="en-US" altLang="zh-CN" dirty="0"/>
              <a:t>1.</a:t>
            </a:r>
            <a:r>
              <a:rPr lang="zh-CN" altLang="en-US" dirty="0"/>
              <a:t>方法学优势：多个方法学研究证实，序数分析比任何二分法有更高统计效能，能更敏感地检测整体治疗效果，特别适合我们这种样本量有限的研究。</a:t>
            </a:r>
          </a:p>
          <a:p>
            <a:r>
              <a:rPr lang="en-US" altLang="zh-CN" dirty="0"/>
              <a:t>2.</a:t>
            </a:r>
            <a:r>
              <a:rPr lang="zh-CN" altLang="en-US" dirty="0"/>
              <a:t>避免阈值争议：不同研究使用不同二分阈值导致结论不可比。我们的初步分析显示，治疗可能产生‘整体右移’效应，序数分析能捕捉这种模式，而二分法可能因阈值选择而错过。</a:t>
            </a:r>
          </a:p>
          <a:p>
            <a:r>
              <a:rPr lang="en-US" altLang="zh-CN" dirty="0"/>
              <a:t>3.</a:t>
            </a:r>
            <a:r>
              <a:rPr lang="zh-CN" altLang="en-US" dirty="0"/>
              <a:t>全面反映患者获益：从</a:t>
            </a:r>
            <a:r>
              <a:rPr lang="en-US" altLang="zh-CN" dirty="0"/>
              <a:t>5</a:t>
            </a:r>
            <a:r>
              <a:rPr lang="zh-CN" altLang="en-US" dirty="0"/>
              <a:t>到</a:t>
            </a:r>
            <a:r>
              <a:rPr lang="en-US" altLang="zh-CN" dirty="0"/>
              <a:t>4</a:t>
            </a:r>
            <a:r>
              <a:rPr lang="zh-CN" altLang="en-US" dirty="0"/>
              <a:t>的改善对重症患者和医疗系统都有意义，序数分析赋予所有改善平等权重，更符合患者中心原则。</a:t>
            </a:r>
          </a:p>
          <a:p>
            <a:r>
              <a:rPr lang="zh-CN" altLang="en-US" dirty="0"/>
              <a:t>为平衡方法与临床需求，我们主要分析采用序数方法，但预设二分法（</a:t>
            </a:r>
            <a:r>
              <a:rPr lang="en-US" altLang="zh-CN" dirty="0"/>
              <a:t>0-1</a:t>
            </a:r>
            <a:r>
              <a:rPr lang="zh-CN" altLang="en-US" dirty="0"/>
              <a:t>、</a:t>
            </a:r>
            <a:r>
              <a:rPr lang="en-US" altLang="zh-CN" dirty="0"/>
              <a:t>0-2</a:t>
            </a:r>
            <a:r>
              <a:rPr lang="zh-CN" altLang="en-US" dirty="0"/>
              <a:t>）作为次要分析，增强临床解释。这样既能保证研究灵敏度，又能提供临床实用的结果。</a:t>
            </a:r>
          </a:p>
          <a:p>
            <a:endParaRPr lang="zh-CN" altLang="en-US" dirty="0"/>
          </a:p>
        </p:txBody>
      </p:sp>
      <p:sp>
        <p:nvSpPr>
          <p:cNvPr id="4" name="灯片编号占位符 3"/>
          <p:cNvSpPr>
            <a:spLocks noGrp="1"/>
          </p:cNvSpPr>
          <p:nvPr>
            <p:ph type="sldNum" sz="quarter" idx="5"/>
          </p:nvPr>
        </p:nvSpPr>
        <p:spPr/>
        <p:txBody>
          <a:bodyPr/>
          <a:lstStyle/>
          <a:p>
            <a:fld id="{240BD463-D209-4FAB-A722-B2AFE81AC984}" type="slidenum">
              <a:rPr lang="de-DE" smtClean="0"/>
              <a:pPr/>
              <a:t>9</a:t>
            </a:fld>
            <a:endParaRPr lang="de-DE"/>
          </a:p>
        </p:txBody>
      </p:sp>
    </p:spTree>
    <p:extLst>
      <p:ext uri="{BB962C8B-B14F-4D97-AF65-F5344CB8AC3E}">
        <p14:creationId xmlns:p14="http://schemas.microsoft.com/office/powerpoint/2010/main" val="2786076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3244-8245-9EDA-7CA6-6A359AB03D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7C7DC6-D82E-CC50-FC09-890AB5F925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AA7872-80B6-91C5-4072-545F705019E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01A627C-2254-8425-377E-10B1502914A1}"/>
              </a:ext>
            </a:extLst>
          </p:cNvPr>
          <p:cNvSpPr>
            <a:spLocks noGrp="1"/>
          </p:cNvSpPr>
          <p:nvPr>
            <p:ph type="sldNum" sz="quarter" idx="5"/>
          </p:nvPr>
        </p:nvSpPr>
        <p:spPr/>
        <p:txBody>
          <a:bodyPr/>
          <a:lstStyle/>
          <a:p>
            <a:fld id="{240BD463-D209-4FAB-A722-B2AFE81AC984}" type="slidenum">
              <a:rPr lang="de-DE" smtClean="0"/>
              <a:pPr/>
              <a:t>11</a:t>
            </a:fld>
            <a:endParaRPr lang="de-DE"/>
          </a:p>
        </p:txBody>
      </p:sp>
    </p:spTree>
    <p:extLst>
      <p:ext uri="{BB962C8B-B14F-4D97-AF65-F5344CB8AC3E}">
        <p14:creationId xmlns:p14="http://schemas.microsoft.com/office/powerpoint/2010/main" val="3530296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HOPE: 40.3% vs. 26.3%</a:t>
            </a: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3371670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0BD463-D209-4FAB-A722-B2AFE81AC984}" type="slidenum">
              <a:rPr lang="de-DE" smtClean="0"/>
              <a:pPr/>
              <a:t>16</a:t>
            </a:fld>
            <a:endParaRPr lang="de-DE"/>
          </a:p>
        </p:txBody>
      </p:sp>
    </p:spTree>
    <p:extLst>
      <p:ext uri="{BB962C8B-B14F-4D97-AF65-F5344CB8AC3E}">
        <p14:creationId xmlns:p14="http://schemas.microsoft.com/office/powerpoint/2010/main" val="4148534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0BD463-D209-4FAB-A722-B2AFE81AC984}" type="slidenum">
              <a:rPr lang="de-DE" smtClean="0"/>
              <a:pPr/>
              <a:t>17</a:t>
            </a:fld>
            <a:endParaRPr lang="de-DE"/>
          </a:p>
        </p:txBody>
      </p:sp>
    </p:spTree>
    <p:extLst>
      <p:ext uri="{BB962C8B-B14F-4D97-AF65-F5344CB8AC3E}">
        <p14:creationId xmlns:p14="http://schemas.microsoft.com/office/powerpoint/2010/main" val="39876598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0BD463-D209-4FAB-A722-B2AFE81AC984}" type="slidenum">
              <a:rPr lang="de-DE" smtClean="0"/>
              <a:pPr/>
              <a:t>18</a:t>
            </a:fld>
            <a:endParaRPr lang="de-DE"/>
          </a:p>
        </p:txBody>
      </p:sp>
    </p:spTree>
    <p:extLst>
      <p:ext uri="{BB962C8B-B14F-4D97-AF65-F5344CB8AC3E}">
        <p14:creationId xmlns:p14="http://schemas.microsoft.com/office/powerpoint/2010/main" val="2163763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20.svg"/><Relationship Id="rId4" Type="http://schemas.openxmlformats.org/officeDocument/2006/relationships/image" Target="../media/image1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27.emf"/></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6.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 Id="rId6" Type="http://schemas.openxmlformats.org/officeDocument/2006/relationships/image" Target="../media/image16.png"/><Relationship Id="rId5" Type="http://schemas.openxmlformats.org/officeDocument/2006/relationships/image" Target="../media/image20.svg"/><Relationship Id="rId4" Type="http://schemas.openxmlformats.org/officeDocument/2006/relationships/image" Target="../media/image19.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4.xml"/><Relationship Id="rId5" Type="http://schemas.openxmlformats.org/officeDocument/2006/relationships/tags" Target="../tags/tag12.xml"/><Relationship Id="rId4" Type="http://schemas.openxmlformats.org/officeDocument/2006/relationships/tags" Target="../tags/tag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GB" noProof="0"/>
              <a:t>Presentation title, date, author</a:t>
            </a:r>
          </a:p>
        </p:txBody>
      </p:sp>
    </p:spTree>
    <p:extLst>
      <p:ext uri="{BB962C8B-B14F-4D97-AF65-F5344CB8AC3E}">
        <p14:creationId xmlns:p14="http://schemas.microsoft.com/office/powerpoint/2010/main" val="927769522"/>
      </p:ext>
    </p:extLst>
  </p:cSld>
  <p:clrMapOvr>
    <a:masterClrMapping/>
  </p:clrMapOvr>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GB" noProof="0"/>
              <a:t>Presentation title, date, author</a:t>
            </a:r>
          </a:p>
        </p:txBody>
      </p:sp>
    </p:spTree>
    <p:extLst>
      <p:ext uri="{BB962C8B-B14F-4D97-AF65-F5344CB8AC3E}">
        <p14:creationId xmlns:p14="http://schemas.microsoft.com/office/powerpoint/2010/main" val="626060046"/>
      </p:ext>
    </p:extLst>
  </p:cSld>
  <p:clrMapOvr>
    <a:masterClrMapping/>
  </p:clrMapOvr>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GB" noProof="0"/>
              <a:t>Presentation title, date, author</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257005711"/>
      </p:ext>
    </p:extLst>
  </p:cSld>
  <p:clrMapOvr>
    <a:masterClrMapping/>
  </p:clrMapOvr>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GB" noProof="0"/>
              <a:t>Presentation title, date, author</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500141996"/>
      </p:ext>
    </p:extLst>
  </p:cSld>
  <p:clrMapOvr>
    <a:masterClrMapping/>
  </p:clrMapOvr>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GB" noProof="0"/>
              <a:t>Presentation title, date, author</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2791564308"/>
      </p:ext>
    </p:extLst>
  </p:cSld>
  <p:clrMapOvr>
    <a:masterClrMapping/>
  </p:clrMapOvr>
  <p:hf hdr="0" dt="0"/>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69" y="1059657"/>
            <a:ext cx="8424863" cy="3402806"/>
          </a:xfrm>
        </p:spPr>
        <p:txBody>
          <a:bodyPr/>
          <a:lstStyle>
            <a:lvl1pPr marL="270000" indent="-270000">
              <a:spcBef>
                <a:spcPts val="1350"/>
              </a:spcBef>
              <a:buFont typeface="+mj-lt"/>
              <a:buAutoNum type="arabicPeriod"/>
              <a:defRPr sz="1500"/>
            </a:lvl1pPr>
            <a:lvl2pPr marL="405000" indent="-135000">
              <a:spcBef>
                <a:spcPts val="150"/>
              </a:spcBef>
              <a:spcAft>
                <a:spcPts val="150"/>
              </a:spcAft>
              <a:buFont typeface="Arial" panose="020B0604020202020204" pitchFamily="34" charset="0"/>
              <a:buChar char="•"/>
              <a:defRPr/>
            </a:lvl2pPr>
            <a:lvl3pPr marL="405000" indent="-135000">
              <a:spcBef>
                <a:spcPts val="150"/>
              </a:spcBef>
              <a:spcAft>
                <a:spcPts val="150"/>
              </a:spcAft>
              <a:buFont typeface="Arial" panose="020B0604020202020204" pitchFamily="34" charset="0"/>
              <a:buChar char="•"/>
              <a:defRPr/>
            </a:lvl3pPr>
            <a:lvl4pPr marL="405000" indent="-135000">
              <a:spcBef>
                <a:spcPts val="150"/>
              </a:spcBef>
              <a:spcAft>
                <a:spcPts val="150"/>
              </a:spcAft>
              <a:buFont typeface="Arial" panose="020B0604020202020204" pitchFamily="34" charset="0"/>
              <a:buChar char="•"/>
              <a:defRPr/>
            </a:lvl4pPr>
            <a:lvl5pPr marL="405000" indent="-135000">
              <a:spcBef>
                <a:spcPts val="150"/>
              </a:spcBef>
              <a:spcAft>
                <a:spcPts val="150"/>
              </a:spcAft>
              <a:buFont typeface="Arial" panose="020B0604020202020204" pitchFamily="34" charset="0"/>
              <a:buChar char="•"/>
              <a:defRPr sz="1200"/>
            </a:lvl5pPr>
            <a:lvl6pPr marL="405000" indent="-135000">
              <a:spcBef>
                <a:spcPts val="150"/>
              </a:spcBef>
              <a:spcAft>
                <a:spcPts val="150"/>
              </a:spcAft>
              <a:buFont typeface="Arial" panose="020B0604020202020204" pitchFamily="34" charset="0"/>
              <a:buChar char="•"/>
              <a:defRPr sz="1200"/>
            </a:lvl6pPr>
            <a:lvl7pPr marL="405000" indent="-135000">
              <a:spcBef>
                <a:spcPts val="150"/>
              </a:spcBef>
              <a:spcAft>
                <a:spcPts val="150"/>
              </a:spcAft>
              <a:buFont typeface="Arial" panose="020B0604020202020204" pitchFamily="34" charset="0"/>
              <a:buChar char="•"/>
              <a:defRPr sz="1200"/>
            </a:lvl7pPr>
            <a:lvl8pPr marL="405000" indent="-135000">
              <a:spcBef>
                <a:spcPts val="150"/>
              </a:spcBef>
              <a:spcAft>
                <a:spcPts val="150"/>
              </a:spcAft>
              <a:buFont typeface="Arial" panose="020B0604020202020204" pitchFamily="34" charset="0"/>
              <a:buChar char="•"/>
              <a:defRPr sz="1200"/>
            </a:lvl8pPr>
            <a:lvl9pPr marL="405000" indent="-135000">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GB" noProof="0"/>
              <a:t>Presentation title, date, author</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143B55C4-4F5A-416B-997D-6CE47EB0A945}" type="slidenum">
              <a:rPr lang="en-GB" noProof="0" smtClean="0"/>
              <a:pPr/>
              <a:t>‹#›</a:t>
            </a:fld>
            <a:endParaRPr lang="en-GB" noProof="0"/>
          </a:p>
        </p:txBody>
      </p:sp>
    </p:spTree>
    <p:extLst>
      <p:ext uri="{BB962C8B-B14F-4D97-AF65-F5344CB8AC3E}">
        <p14:creationId xmlns:p14="http://schemas.microsoft.com/office/powerpoint/2010/main" val="2671138170"/>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GB" noProof="0"/>
              <a:t>Presentation title, date, author</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4271791676"/>
      </p:ext>
    </p:extLst>
  </p:cSld>
  <p:clrMapOvr>
    <a:masterClrMapping/>
  </p:clrMapOvr>
  <p:hf hdr="0" dt="0"/>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143B55C4-4F5A-416B-997D-6CE47EB0A945}" type="slidenum">
              <a:rPr lang="en-GB" noProof="0" smtClean="0"/>
              <a:pPr/>
              <a:t>‹#›</a:t>
            </a:fld>
            <a:endParaRPr lang="en-GB" noProof="0"/>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GB" noProof="0"/>
              <a:t>Presentation title, date, author</a:t>
            </a:r>
          </a:p>
        </p:txBody>
      </p:sp>
    </p:spTree>
    <p:extLst>
      <p:ext uri="{BB962C8B-B14F-4D97-AF65-F5344CB8AC3E}">
        <p14:creationId xmlns:p14="http://schemas.microsoft.com/office/powerpoint/2010/main" val="636071262"/>
      </p:ext>
    </p:extLst>
  </p:cSld>
  <p:clrMapOvr>
    <a:masterClrMapping/>
  </p:clrMapOvr>
  <p:hf hdr="0" dt="0"/>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GB" noProof="0"/>
              <a:t>Presentation title, date, author</a:t>
            </a:r>
          </a:p>
        </p:txBody>
      </p:sp>
    </p:spTree>
    <p:extLst>
      <p:ext uri="{BB962C8B-B14F-4D97-AF65-F5344CB8AC3E}">
        <p14:creationId xmlns:p14="http://schemas.microsoft.com/office/powerpoint/2010/main" val="92892773"/>
      </p:ext>
    </p:extLst>
  </p:cSld>
  <p:clrMapOvr>
    <a:masterClrMapping/>
  </p:clrMapOvr>
  <p:hf hdr="0" dt="0"/>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69" y="1059656"/>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9"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GB" noProof="0"/>
              <a:t>Presentation title, date, author</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4005334216"/>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GB" noProof="0"/>
              <a:t>Presentation title, date, author</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143B55C4-4F5A-416B-997D-6CE47EB0A945}" type="slidenum">
              <a:rPr lang="en-GB" noProof="0" smtClean="0"/>
              <a:pPr/>
              <a:t>‹#›</a:t>
            </a:fld>
            <a:endParaRPr lang="en-GB" noProof="0"/>
          </a:p>
        </p:txBody>
      </p:sp>
      <p:cxnSp>
        <p:nvCxnSpPr>
          <p:cNvPr id="2" name="Gerade Verbindung 10">
            <a:extLst>
              <a:ext uri="{FF2B5EF4-FFF2-40B4-BE49-F238E27FC236}">
                <a16:creationId xmlns:a16="http://schemas.microsoft.com/office/drawing/2014/main" id="{EA7A1FB2-0EFB-10BB-B24F-B1653BEA5A99}"/>
              </a:ext>
            </a:extLst>
          </p:cNvPr>
          <p:cNvCxnSpPr>
            <a:cxnSpLocks/>
          </p:cNvCxnSpPr>
          <p:nvPr userDrawn="1"/>
        </p:nvCxnSpPr>
        <p:spPr>
          <a:xfrm>
            <a:off x="371475" y="728590"/>
            <a:ext cx="8401050" cy="0"/>
          </a:xfrm>
          <a:prstGeom prst="line">
            <a:avLst/>
          </a:prstGeom>
          <a:ln w="254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136032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GB" noProof="0"/>
              <a:t>Presentation title, date, author</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2667784666"/>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GB" noProof="0"/>
              <a:t>Presentation title, date, author</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143B55C4-4F5A-416B-997D-6CE47EB0A945}" type="slidenum">
              <a:rPr lang="en-GB" noProof="0" smtClean="0"/>
              <a:pPr/>
              <a:t>‹#›</a:t>
            </a:fld>
            <a:endParaRPr lang="en-GB" noProof="0"/>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692111083"/>
      </p:ext>
    </p:extLst>
  </p:cSld>
  <p:clrMapOvr>
    <a:masterClrMapping/>
  </p:clrMapOvr>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143B55C4-4F5A-416B-997D-6CE47EB0A945}" type="slidenum">
              <a:rPr lang="en-GB" noProof="0" smtClean="0"/>
              <a:pPr/>
              <a:t>‹#›</a:t>
            </a:fld>
            <a:endParaRPr lang="en-GB" noProof="0"/>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GB" noProof="0"/>
              <a:t>Presentation title, date, author</a:t>
            </a:r>
          </a:p>
        </p:txBody>
      </p:sp>
      <p:sp>
        <p:nvSpPr>
          <p:cNvPr id="6" name="Arrow: Pentagon 5">
            <a:extLst>
              <a:ext uri="{FF2B5EF4-FFF2-40B4-BE49-F238E27FC236}">
                <a16:creationId xmlns:a16="http://schemas.microsoft.com/office/drawing/2014/main" id="{D538B7FC-6B3A-8F3A-BBDC-1EEFED308F78}"/>
              </a:ext>
            </a:extLst>
          </p:cNvPr>
          <p:cNvSpPr/>
          <p:nvPr/>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title first line, classification second line</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1742665633"/>
      </p:ext>
    </p:extLst>
  </p:cSld>
  <p:clrMapOvr>
    <a:masterClrMapping/>
  </p:clrMapOvr>
  <p:hf hdr="0" dt="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GB" noProof="0"/>
              <a:t>Presentation title, date, author</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143B55C4-4F5A-416B-997D-6CE47EB0A945}" type="slidenum">
              <a:rPr lang="en-GB" noProof="0" smtClean="0"/>
              <a:pPr/>
              <a:t>‹#›</a:t>
            </a:fld>
            <a:endParaRPr lang="en-GB" noProof="0"/>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3550076327"/>
      </p:ext>
    </p:extLst>
  </p:cSld>
  <p:clrMapOvr>
    <a:masterClrMapping/>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GB" noProof="0"/>
              <a:t>Presentation title, date, author</a:t>
            </a:r>
          </a:p>
        </p:txBody>
      </p:sp>
      <p:sp>
        <p:nvSpPr>
          <p:cNvPr id="7" name="Arrow: Pentagon 6">
            <a:extLst>
              <a:ext uri="{FF2B5EF4-FFF2-40B4-BE49-F238E27FC236}">
                <a16:creationId xmlns:a16="http://schemas.microsoft.com/office/drawing/2014/main" id="{1C2F19D9-5B8F-D889-26A0-5956F75299B0}"/>
              </a:ext>
            </a:extLst>
          </p:cNvPr>
          <p:cNvSpPr/>
          <p:nvPr/>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title first line, classification second line</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2598917731"/>
      </p:ext>
    </p:extLst>
  </p:cSld>
  <p:clrMapOvr>
    <a:masterClrMapping/>
  </p:clrMapOvr>
  <p:hf hdr="0" dt="0"/>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noProof="0" smtClean="0"/>
              <a:pPr/>
              <a:t>‹#›</a:t>
            </a:fld>
            <a:endParaRPr lang="en-GB" noProof="0"/>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GB" noProof="0"/>
              <a:t>Presentation title, date, author</a:t>
            </a:r>
          </a:p>
        </p:txBody>
      </p:sp>
    </p:spTree>
    <p:extLst>
      <p:ext uri="{BB962C8B-B14F-4D97-AF65-F5344CB8AC3E}">
        <p14:creationId xmlns:p14="http://schemas.microsoft.com/office/powerpoint/2010/main" val="1316025847"/>
      </p:ext>
    </p:extLst>
  </p:cSld>
  <p:clrMapOvr>
    <a:masterClrMapping/>
  </p:clrMapOvr>
  <p:hf hdr="0" dt="0"/>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6"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79"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noProof="0" smtClean="0"/>
              <a:pPr/>
              <a:t>‹#›</a:t>
            </a:fld>
            <a:endParaRPr lang="en-GB" noProof="0"/>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GB" noProof="0"/>
              <a:t>Presentation title, date, author</a:t>
            </a:r>
          </a:p>
        </p:txBody>
      </p:sp>
    </p:spTree>
    <p:extLst>
      <p:ext uri="{BB962C8B-B14F-4D97-AF65-F5344CB8AC3E}">
        <p14:creationId xmlns:p14="http://schemas.microsoft.com/office/powerpoint/2010/main" val="491737202"/>
      </p:ext>
    </p:extLst>
  </p:cSld>
  <p:clrMapOvr>
    <a:masterClrMapping/>
  </p:clrMapOvr>
  <p:hf hdr="0" dt="0"/>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7"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noProof="0" smtClean="0"/>
              <a:pPr/>
              <a:t>‹#›</a:t>
            </a:fld>
            <a:endParaRPr lang="en-GB" noProof="0"/>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GB" noProof="0"/>
              <a:t>Presentation title, date, author</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266099658"/>
      </p:ext>
    </p:extLst>
  </p:cSld>
  <p:clrMapOvr>
    <a:masterClrMapping/>
  </p:clrMapOvr>
  <p:hf hdr="0" dt="0"/>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7"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GB" noProof="0"/>
              <a:t>Presentation title, date, author</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981581804"/>
      </p:ext>
    </p:extLst>
  </p:cSld>
  <p:clrMapOvr>
    <a:masterClrMapping/>
  </p:clrMapOvr>
  <p:hf hdr="0" dt="0"/>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GB" noProof="0"/>
              <a:t>Presentation title, date, author</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437533003"/>
      </p:ext>
    </p:extLst>
  </p:cSld>
  <p:clrMapOvr>
    <a:masterClrMapping/>
  </p:clrMapOvr>
  <p:hf hdr="0" dt="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GB" noProof="0"/>
              <a:t>Presentation title, date, author</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143B55C4-4F5A-416B-997D-6CE47EB0A945}" type="slidenum">
              <a:rPr lang="en-GB" noProof="0" smtClean="0"/>
              <a:pPr/>
              <a:t>‹#›</a:t>
            </a:fld>
            <a:endParaRPr lang="en-GB" noProof="0"/>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393597059"/>
      </p:ext>
    </p:extLst>
  </p:cSld>
  <p:clrMapOvr>
    <a:masterClrMapping/>
  </p:clrMapOvr>
  <p:hf hdr="0" dt="0"/>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GB" noProof="0"/>
              <a:t>Presentation title, date, author</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653588046"/>
      </p:ext>
    </p:extLst>
  </p:cSld>
  <p:clrMapOvr>
    <a:masterClrMapping/>
  </p:clrMapOvr>
  <p:hf hdr="0" dt="0"/>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8"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GB" noProof="0"/>
              <a:t>Presentation title, date, author</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447485065"/>
      </p:ext>
    </p:extLst>
  </p:cSld>
  <p:clrMapOvr>
    <a:masterClrMapping/>
  </p:clrMapOvr>
  <p:hf hdr="0" dt="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7"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GB" noProof="0"/>
              <a:t>Presentation title, date, author</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347247953"/>
      </p:ext>
    </p:extLst>
  </p:cSld>
  <p:clrMapOvr>
    <a:masterClrMapping/>
  </p:clrMapOvr>
  <p:hf hdr="0" dt="0"/>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Times New Roman" panose="02020603050405020304" pitchFamily="18" charset="0"/>
              </a:defRPr>
            </a:lvl1pPr>
            <a:lvl2pPr marL="0" indent="0">
              <a:lnSpc>
                <a:spcPct val="120000"/>
              </a:lnSpc>
              <a:spcAft>
                <a:spcPts val="0"/>
              </a:spcAft>
              <a:buNone/>
              <a:defRPr sz="3000" b="1">
                <a:solidFill>
                  <a:schemeClr val="tx2"/>
                </a:solidFill>
                <a:latin typeface="Times New Roman" panose="02020603050405020304" pitchFamily="18" charset="0"/>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GB" noProof="0"/>
              <a:t>Presentation title, date, author</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
        <p:nvSpPr>
          <p:cNvPr id="3" name="Arrow: Pentagon 6">
            <a:extLst>
              <a:ext uri="{FF2B5EF4-FFF2-40B4-BE49-F238E27FC236}">
                <a16:creationId xmlns:a16="http://schemas.microsoft.com/office/drawing/2014/main" id="{1F1671DA-AF66-65E8-3B46-9A2A1A7C1B92}"/>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requires a picture in the background</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3110449042"/>
      </p:ext>
    </p:extLst>
  </p:cSld>
  <p:clrMapOvr>
    <a:masterClrMapping/>
  </p:clrMapOvr>
  <p:hf hdr="0" dt="0"/>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960"/>
            <a:ext cx="4104085" cy="3294000"/>
          </a:xfrm>
        </p:spPr>
        <p:txBody>
          <a:bodyPr/>
          <a:lstStyle>
            <a:lvl1pPr marL="0" indent="0">
              <a:lnSpc>
                <a:spcPct val="120000"/>
              </a:lnSpc>
              <a:spcAft>
                <a:spcPts val="0"/>
              </a:spcAft>
              <a:buNone/>
              <a:defRPr sz="2400" b="1">
                <a:solidFill>
                  <a:schemeClr val="bg1"/>
                </a:solidFill>
                <a:latin typeface="Times New Roman" panose="02020603050405020304" pitchFamily="18" charset="0"/>
              </a:defRPr>
            </a:lvl1pPr>
            <a:lvl2pPr marL="0" indent="0">
              <a:lnSpc>
                <a:spcPct val="120000"/>
              </a:lnSpc>
              <a:spcAft>
                <a:spcPts val="0"/>
              </a:spcAft>
              <a:buNone/>
              <a:defRPr sz="2400" b="1">
                <a:solidFill>
                  <a:schemeClr val="tx2"/>
                </a:solidFill>
                <a:latin typeface="Times New Roman" panose="02020603050405020304" pitchFamily="18" charset="0"/>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GB" noProof="0"/>
              <a:t>Presentation title, date, author</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
        <p:nvSpPr>
          <p:cNvPr id="3" name="Arrow: Pentagon 6">
            <a:extLst>
              <a:ext uri="{FF2B5EF4-FFF2-40B4-BE49-F238E27FC236}">
                <a16:creationId xmlns:a16="http://schemas.microsoft.com/office/drawing/2014/main" id="{10626C63-9EC1-F170-9293-A76090726AF6}"/>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requires two pictures in the background</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87442630"/>
      </p:ext>
    </p:extLst>
  </p:cSld>
  <p:clrMapOvr>
    <a:masterClrMapping/>
  </p:clrMapOvr>
  <p:hf hdr="0" dt="0"/>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Times New Roman" panose="02020603050405020304" pitchFamily="18" charset="0"/>
              </a:defRPr>
            </a:lvl1pPr>
            <a:lvl2pPr marL="0" indent="0">
              <a:lnSpc>
                <a:spcPct val="120000"/>
              </a:lnSpc>
              <a:spcAft>
                <a:spcPts val="0"/>
              </a:spcAft>
              <a:buNone/>
              <a:defRPr sz="2400" b="1">
                <a:solidFill>
                  <a:schemeClr val="tx2"/>
                </a:solidFill>
                <a:latin typeface="Times New Roman" panose="02020603050405020304" pitchFamily="18" charset="0"/>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GB" noProof="0"/>
              <a:t>Presentation title, date, author</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
        <p:nvSpPr>
          <p:cNvPr id="5" name="Arrow: Pentagon 6">
            <a:extLst>
              <a:ext uri="{FF2B5EF4-FFF2-40B4-BE49-F238E27FC236}">
                <a16:creationId xmlns:a16="http://schemas.microsoft.com/office/drawing/2014/main" id="{0DBDA80F-0715-C37D-E631-65B9559D2BA3}"/>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requires two pictures in the background</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2453285709"/>
      </p:ext>
    </p:extLst>
  </p:cSld>
  <p:clrMapOvr>
    <a:masterClrMapping/>
  </p:clrMapOvr>
  <p:hf hdr="0" dt="0"/>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Times New Roman" panose="02020603050405020304" pitchFamily="18" charset="0"/>
              </a:defRPr>
            </a:lvl1pPr>
            <a:lvl2pPr marL="0" indent="0">
              <a:lnSpc>
                <a:spcPct val="120000"/>
              </a:lnSpc>
              <a:spcAft>
                <a:spcPts val="0"/>
              </a:spcAft>
              <a:buNone/>
              <a:defRPr sz="2400" b="1">
                <a:solidFill>
                  <a:schemeClr val="tx2"/>
                </a:solidFill>
                <a:latin typeface="Times New Roman" panose="02020603050405020304" pitchFamily="18" charset="0"/>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GB" noProof="0"/>
              <a:t>Presentation title, date, author</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
        <p:nvSpPr>
          <p:cNvPr id="5" name="Arrow: Pentagon 6">
            <a:extLst>
              <a:ext uri="{FF2B5EF4-FFF2-40B4-BE49-F238E27FC236}">
                <a16:creationId xmlns:a16="http://schemas.microsoft.com/office/drawing/2014/main" id="{E400A93E-ECB0-FAFD-59FC-294C05F64D5E}"/>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requires two pictures in the background</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226121910"/>
      </p:ext>
    </p:extLst>
  </p:cSld>
  <p:clrMapOvr>
    <a:masterClrMapping/>
  </p:clrMapOvr>
  <p:hf hdr="0" dt="0"/>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GB" noProof="0"/>
              <a:t>Presentation title, date, author</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143B55C4-4F5A-416B-997D-6CE47EB0A945}" type="slidenum">
              <a:rPr lang="en-GB" noProof="0" smtClean="0"/>
              <a:pPr/>
              <a:t>‹#›</a:t>
            </a:fld>
            <a:endParaRPr lang="en-GB" noProof="0"/>
          </a:p>
        </p:txBody>
      </p:sp>
    </p:spTree>
    <p:extLst>
      <p:ext uri="{BB962C8B-B14F-4D97-AF65-F5344CB8AC3E}">
        <p14:creationId xmlns:p14="http://schemas.microsoft.com/office/powerpoint/2010/main" val="2475354185"/>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GB" noProof="0"/>
              <a:t>Presentation title, date, author</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143B55C4-4F5A-416B-997D-6CE47EB0A945}" type="slidenum">
              <a:rPr lang="en-GB" noProof="0" smtClean="0"/>
              <a:pPr/>
              <a:t>‹#›</a:t>
            </a:fld>
            <a:endParaRPr lang="en-GB" noProof="0"/>
          </a:p>
        </p:txBody>
      </p:sp>
    </p:spTree>
    <p:extLst>
      <p:ext uri="{BB962C8B-B14F-4D97-AF65-F5344CB8AC3E}">
        <p14:creationId xmlns:p14="http://schemas.microsoft.com/office/powerpoint/2010/main" val="2937483165"/>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8"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5"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GB" noProof="0"/>
              <a:t>Presentation title, date, author</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8000" indent="-108000">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989991008"/>
      </p:ext>
    </p:extLst>
  </p:cSld>
  <p:clrMapOvr>
    <a:masterClrMapping/>
  </p:clrMapOvr>
  <p:hf hdr="0" dt="0"/>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GB" noProof="0"/>
              <a:t>Presentation title, date, author</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143B55C4-4F5A-416B-997D-6CE47EB0A945}" type="slidenum">
              <a:rPr lang="en-GB" noProof="0" smtClean="0"/>
              <a:pPr/>
              <a:t>‹#›</a:t>
            </a:fld>
            <a:endParaRPr lang="en-GB" noProof="0"/>
          </a:p>
        </p:txBody>
      </p:sp>
      <p:sp>
        <p:nvSpPr>
          <p:cNvPr id="2" name="Rechteck 1">
            <a:extLst>
              <a:ext uri="{FF2B5EF4-FFF2-40B4-BE49-F238E27FC236}">
                <a16:creationId xmlns:a16="http://schemas.microsoft.com/office/drawing/2014/main" id="{3341D3C2-8E8C-C888-7E53-E3465CB0DDEB}"/>
              </a:ext>
            </a:extLst>
          </p:cNvPr>
          <p:cNvSpPr/>
          <p:nvPr/>
        </p:nvSpPr>
        <p:spPr bwMode="gray">
          <a:xfrm>
            <a:off x="359569"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Times New Roman" panose="02020603050405020304" pitchFamily="18" charset="0"/>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p:nvSpPr>
        <p:spPr bwMode="gray">
          <a:xfrm>
            <a:off x="359569"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latin typeface="Times New Roman" panose="02020603050405020304" pitchFamily="18" charset="0"/>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p:nvSpPr>
        <p:spPr bwMode="gray">
          <a:xfrm>
            <a:off x="356627" y="4272939"/>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latin typeface="Times New Roman" panose="02020603050405020304" pitchFamily="18" charset="0"/>
              </a:rPr>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p:nvSpPr>
        <p:spPr bwMode="gray">
          <a:xfrm>
            <a:off x="356628"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latin typeface="Times New Roman" panose="02020603050405020304" pitchFamily="18" charset="0"/>
              </a:rPr>
              <a:t>© </a:t>
            </a:r>
            <a:fld id="{2F99CDBD-C73A-474F-91D2-EC8081FF32A1}" type="datetimeyyyy">
              <a:rPr lang="en-US" sz="675" smtClean="0">
                <a:latin typeface="Times New Roman" panose="02020603050405020304" pitchFamily="18" charset="0"/>
              </a:rPr>
              <a:pPr marL="0" indent="0" algn="l">
                <a:buFont typeface="Arial" panose="020B0604020202020204" pitchFamily="34" charset="0"/>
                <a:buNone/>
              </a:pPr>
              <a:t>2026</a:t>
            </a:fld>
            <a:r>
              <a:rPr lang="en-US" sz="675">
                <a:latin typeface="Times New Roman" panose="02020603050405020304" pitchFamily="18" charset="0"/>
              </a:rPr>
              <a:t> Boehringer Ingelheim International GmbH. All rights reserved.</a:t>
            </a:r>
          </a:p>
        </p:txBody>
      </p:sp>
    </p:spTree>
    <p:extLst>
      <p:ext uri="{BB962C8B-B14F-4D97-AF65-F5344CB8AC3E}">
        <p14:creationId xmlns:p14="http://schemas.microsoft.com/office/powerpoint/2010/main" val="3105807373"/>
      </p:ext>
    </p:extLst>
  </p:cSld>
  <p:clrMapOvr>
    <a:masterClrMapping/>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with leading picture">
    <p:bg>
      <p:bgPr>
        <a:solidFill>
          <a:schemeClr val="tx1"/>
        </a:solidFill>
        <a:effectLst/>
      </p:bgPr>
    </p:bg>
    <p:spTree>
      <p:nvGrpSpPr>
        <p:cNvPr id="1" name=""/>
        <p:cNvGrpSpPr/>
        <p:nvPr/>
      </p:nvGrpSpPr>
      <p:grpSpPr>
        <a:xfrm>
          <a:off x="0" y="0"/>
          <a:ext cx="0" cy="0"/>
          <a:chOff x="0" y="0"/>
          <a:chExt cx="0" cy="0"/>
        </a:xfrm>
      </p:grpSpPr>
      <p:pic>
        <p:nvPicPr>
          <p:cNvPr id="5" name="Picture 10" descr="BI-Logo_36pt_blue_n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6738056" y="4452939"/>
            <a:ext cx="2159000"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8"/>
          <p:cNvSpPr>
            <a:spLocks noChangeArrowheads="1"/>
          </p:cNvSpPr>
          <p:nvPr/>
        </p:nvSpPr>
        <p:spPr bwMode="auto">
          <a:xfrm>
            <a:off x="0" y="1339454"/>
            <a:ext cx="9144000" cy="1875234"/>
          </a:xfrm>
          <a:prstGeom prst="rect">
            <a:avLst/>
          </a:prstGeom>
          <a:solidFill>
            <a:schemeClr val="accent4"/>
          </a:solidFill>
          <a:ln w="12700">
            <a:noFill/>
            <a:miter lim="800000"/>
            <a:headEnd/>
            <a:tailEnd/>
          </a:ln>
          <a:effectLst/>
        </p:spPr>
        <p:txBody>
          <a:bodyPr wrap="none" anchor="ctr"/>
          <a:lstStyle/>
          <a:p>
            <a:pPr>
              <a:defRPr/>
            </a:pPr>
            <a:endParaRPr lang="en-GB" sz="1350">
              <a:solidFill>
                <a:srgbClr val="003366"/>
              </a:solidFill>
              <a:latin typeface="Times New Roman" panose="02020603050405020304" pitchFamily="18" charset="0"/>
              <a:ea typeface="平成明朝" charset="-128"/>
            </a:endParaRPr>
          </a:p>
        </p:txBody>
      </p:sp>
      <p:grpSp>
        <p:nvGrpSpPr>
          <p:cNvPr id="7" name="Group 8"/>
          <p:cNvGrpSpPr>
            <a:grpSpLocks/>
          </p:cNvGrpSpPr>
          <p:nvPr/>
        </p:nvGrpSpPr>
        <p:grpSpPr bwMode="auto">
          <a:xfrm>
            <a:off x="0" y="0"/>
            <a:ext cx="9144000" cy="5143500"/>
            <a:chOff x="0" y="0"/>
            <a:chExt cx="5760" cy="4320"/>
          </a:xfrm>
        </p:grpSpPr>
        <p:sp>
          <p:nvSpPr>
            <p:cNvPr id="8" name="Line 9"/>
            <p:cNvSpPr>
              <a:spLocks noChangeShapeType="1"/>
            </p:cNvSpPr>
            <p:nvPr/>
          </p:nvSpPr>
          <p:spPr bwMode="auto">
            <a:xfrm flipH="1">
              <a:off x="0" y="3978"/>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9" name="Line 10"/>
            <p:cNvSpPr>
              <a:spLocks noChangeShapeType="1"/>
            </p:cNvSpPr>
            <p:nvPr/>
          </p:nvSpPr>
          <p:spPr bwMode="auto">
            <a:xfrm>
              <a:off x="22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0" name="Line 11"/>
            <p:cNvSpPr>
              <a:spLocks noChangeShapeType="1"/>
            </p:cNvSpPr>
            <p:nvPr/>
          </p:nvSpPr>
          <p:spPr bwMode="auto">
            <a:xfrm>
              <a:off x="5538"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1" name="Line 12"/>
            <p:cNvSpPr>
              <a:spLocks noChangeShapeType="1"/>
            </p:cNvSpPr>
            <p:nvPr/>
          </p:nvSpPr>
          <p:spPr bwMode="auto">
            <a:xfrm flipH="1">
              <a:off x="0" y="874"/>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grpSp>
      <p:sp>
        <p:nvSpPr>
          <p:cNvPr id="12" name="Rectangle 4"/>
          <p:cNvSpPr>
            <a:spLocks noGrp="1" noChangeArrowheads="1"/>
          </p:cNvSpPr>
          <p:nvPr>
            <p:ph type="subTitle" idx="1"/>
          </p:nvPr>
        </p:nvSpPr>
        <p:spPr bwMode="white">
          <a:xfrm>
            <a:off x="3571869" y="2143124"/>
            <a:ext cx="4786346" cy="461665"/>
          </a:xfrm>
        </p:spPr>
        <p:txBody>
          <a:bodyPr>
            <a:spAutoFit/>
          </a:bodyPr>
          <a:lstStyle>
            <a:lvl1pPr>
              <a:spcBef>
                <a:spcPct val="0"/>
              </a:spcBef>
              <a:defRPr>
                <a:solidFill>
                  <a:schemeClr val="bg1"/>
                </a:solidFill>
                <a:sym typeface="Symbol" pitchFamily="18" charset="2"/>
              </a:defRPr>
            </a:lvl1pPr>
          </a:lstStyle>
          <a:p>
            <a:r>
              <a:rPr lang="de-DE" noProof="0">
                <a:sym typeface="Symbol" pitchFamily="18" charset="2"/>
              </a:rPr>
              <a:t>Formatvorlage des Untertitelmasters durch Klicken bearbeiten</a:t>
            </a:r>
            <a:endParaRPr lang="en-GB" noProof="0">
              <a:sym typeface="Symbol" pitchFamily="18" charset="2"/>
            </a:endParaRPr>
          </a:p>
        </p:txBody>
      </p:sp>
      <p:sp>
        <p:nvSpPr>
          <p:cNvPr id="13" name="Rectangle 5"/>
          <p:cNvSpPr>
            <a:spLocks noGrp="1" noChangeArrowheads="1"/>
          </p:cNvSpPr>
          <p:nvPr>
            <p:ph type="ctrTitle"/>
          </p:nvPr>
        </p:nvSpPr>
        <p:spPr>
          <a:xfrm>
            <a:off x="3571869" y="1393024"/>
            <a:ext cx="4714908" cy="646331"/>
          </a:xfrm>
          <a:noFill/>
        </p:spPr>
        <p:txBody>
          <a:bodyPr anchor="b">
            <a:spAutoFit/>
          </a:bodyPr>
          <a:lstStyle>
            <a:lvl1pPr>
              <a:defRPr sz="2100"/>
            </a:lvl1pPr>
          </a:lstStyle>
          <a:p>
            <a:r>
              <a:rPr lang="de-DE" noProof="0"/>
              <a:t>Titelmasterformat durch Klicken bearbeiten</a:t>
            </a:r>
            <a:endParaRPr lang="en-GB" noProof="0"/>
          </a:p>
        </p:txBody>
      </p:sp>
      <p:sp>
        <p:nvSpPr>
          <p:cNvPr id="15" name="Bildplatzhalter 14"/>
          <p:cNvSpPr>
            <a:spLocks noGrp="1"/>
          </p:cNvSpPr>
          <p:nvPr>
            <p:ph type="pic" sz="quarter" idx="10"/>
          </p:nvPr>
        </p:nvSpPr>
        <p:spPr>
          <a:xfrm>
            <a:off x="0" y="1339445"/>
            <a:ext cx="3143240" cy="1875243"/>
          </a:xfrm>
        </p:spPr>
        <p:txBody>
          <a:bodyPr/>
          <a:lstStyle/>
          <a:p>
            <a:pPr lvl="0"/>
            <a:r>
              <a:rPr lang="de-DE" noProof="0"/>
              <a:t>Bild durch Klicken auf Symbol hinzufügen</a:t>
            </a:r>
            <a:endParaRPr lang="en-GB" noProof="0"/>
          </a:p>
        </p:txBody>
      </p:sp>
    </p:spTree>
    <p:extLst>
      <p:ext uri="{BB962C8B-B14F-4D97-AF65-F5344CB8AC3E}">
        <p14:creationId xmlns:p14="http://schemas.microsoft.com/office/powerpoint/2010/main" val="4157676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with leading color and picture">
    <p:bg>
      <p:bgPr>
        <a:solidFill>
          <a:schemeClr val="tx1"/>
        </a:solidFill>
        <a:effectLst/>
      </p:bgPr>
    </p:bg>
    <p:spTree>
      <p:nvGrpSpPr>
        <p:cNvPr id="1" name=""/>
        <p:cNvGrpSpPr/>
        <p:nvPr/>
      </p:nvGrpSpPr>
      <p:grpSpPr>
        <a:xfrm>
          <a:off x="0" y="0"/>
          <a:ext cx="0" cy="0"/>
          <a:chOff x="0" y="0"/>
          <a:chExt cx="0" cy="0"/>
        </a:xfrm>
      </p:grpSpPr>
      <p:pic>
        <p:nvPicPr>
          <p:cNvPr id="5" name="Picture 10" descr="BI-Logo_36pt_blue_n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6738056" y="4452939"/>
            <a:ext cx="2159000"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8"/>
          <p:cNvSpPr>
            <a:spLocks noChangeArrowheads="1"/>
          </p:cNvSpPr>
          <p:nvPr/>
        </p:nvSpPr>
        <p:spPr bwMode="auto">
          <a:xfrm>
            <a:off x="0" y="964408"/>
            <a:ext cx="9144000" cy="3107531"/>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fontAlgn="base">
              <a:spcBef>
                <a:spcPct val="0"/>
              </a:spcBef>
              <a:spcAft>
                <a:spcPct val="0"/>
              </a:spcAft>
            </a:pPr>
            <a:endParaRPr lang="en-GB" altLang="zh-TW" sz="1350">
              <a:solidFill>
                <a:srgbClr val="003366"/>
              </a:solidFill>
              <a:latin typeface="Times New Roman" panose="02020603050405020304" pitchFamily="18" charset="0"/>
              <a:ea typeface="平成明朝" charset="-128"/>
            </a:endParaRPr>
          </a:p>
        </p:txBody>
      </p:sp>
      <p:grpSp>
        <p:nvGrpSpPr>
          <p:cNvPr id="7" name="Group 8"/>
          <p:cNvGrpSpPr>
            <a:grpSpLocks/>
          </p:cNvGrpSpPr>
          <p:nvPr/>
        </p:nvGrpSpPr>
        <p:grpSpPr bwMode="auto">
          <a:xfrm>
            <a:off x="0" y="0"/>
            <a:ext cx="9144000" cy="5143500"/>
            <a:chOff x="0" y="0"/>
            <a:chExt cx="5760" cy="4320"/>
          </a:xfrm>
        </p:grpSpPr>
        <p:sp>
          <p:nvSpPr>
            <p:cNvPr id="8" name="Line 9"/>
            <p:cNvSpPr>
              <a:spLocks noChangeShapeType="1"/>
            </p:cNvSpPr>
            <p:nvPr/>
          </p:nvSpPr>
          <p:spPr bwMode="auto">
            <a:xfrm flipH="1">
              <a:off x="0" y="3978"/>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9" name="Line 10"/>
            <p:cNvSpPr>
              <a:spLocks noChangeShapeType="1"/>
            </p:cNvSpPr>
            <p:nvPr/>
          </p:nvSpPr>
          <p:spPr bwMode="auto">
            <a:xfrm>
              <a:off x="22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0" name="Line 11"/>
            <p:cNvSpPr>
              <a:spLocks noChangeShapeType="1"/>
            </p:cNvSpPr>
            <p:nvPr/>
          </p:nvSpPr>
          <p:spPr bwMode="auto">
            <a:xfrm>
              <a:off x="5538"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1" name="Line 12"/>
            <p:cNvSpPr>
              <a:spLocks noChangeShapeType="1"/>
            </p:cNvSpPr>
            <p:nvPr/>
          </p:nvSpPr>
          <p:spPr bwMode="auto">
            <a:xfrm flipH="1">
              <a:off x="0" y="874"/>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grpSp>
      <p:sp>
        <p:nvSpPr>
          <p:cNvPr id="64516" name="Rectangle 4"/>
          <p:cNvSpPr>
            <a:spLocks noGrp="1" noChangeArrowheads="1"/>
          </p:cNvSpPr>
          <p:nvPr>
            <p:ph type="subTitle" idx="1"/>
          </p:nvPr>
        </p:nvSpPr>
        <p:spPr bwMode="white">
          <a:xfrm>
            <a:off x="3571869" y="2143124"/>
            <a:ext cx="4786346" cy="461665"/>
          </a:xfrm>
        </p:spPr>
        <p:txBody>
          <a:bodyPr>
            <a:spAutoFit/>
          </a:bodyPr>
          <a:lstStyle>
            <a:lvl1pPr>
              <a:spcBef>
                <a:spcPct val="0"/>
              </a:spcBef>
              <a:defRPr>
                <a:solidFill>
                  <a:schemeClr val="bg1"/>
                </a:solidFill>
                <a:sym typeface="Symbol" pitchFamily="18" charset="2"/>
              </a:defRPr>
            </a:lvl1pPr>
          </a:lstStyle>
          <a:p>
            <a:r>
              <a:rPr lang="de-DE" noProof="0">
                <a:sym typeface="Symbol" pitchFamily="18" charset="2"/>
              </a:rPr>
              <a:t>Formatvorlage des Untertitelmasters durch Klicken bearbeiten</a:t>
            </a:r>
            <a:endParaRPr lang="en-GB" noProof="0">
              <a:sym typeface="Symbol" pitchFamily="18" charset="2"/>
            </a:endParaRPr>
          </a:p>
        </p:txBody>
      </p:sp>
      <p:sp>
        <p:nvSpPr>
          <p:cNvPr id="64517" name="Rectangle 5"/>
          <p:cNvSpPr>
            <a:spLocks noGrp="1" noChangeArrowheads="1"/>
          </p:cNvSpPr>
          <p:nvPr>
            <p:ph type="ctrTitle"/>
          </p:nvPr>
        </p:nvSpPr>
        <p:spPr>
          <a:xfrm>
            <a:off x="3571869" y="1393023"/>
            <a:ext cx="4714908" cy="646331"/>
          </a:xfrm>
          <a:noFill/>
        </p:spPr>
        <p:txBody>
          <a:bodyPr anchor="b">
            <a:noAutofit/>
          </a:bodyPr>
          <a:lstStyle>
            <a:lvl1pPr>
              <a:defRPr sz="2100"/>
            </a:lvl1pPr>
          </a:lstStyle>
          <a:p>
            <a:r>
              <a:rPr lang="de-DE" noProof="0"/>
              <a:t>Titelmasterformat durch Klicken bearbeiten</a:t>
            </a:r>
            <a:endParaRPr lang="en-GB" noProof="0"/>
          </a:p>
        </p:txBody>
      </p:sp>
      <p:sp>
        <p:nvSpPr>
          <p:cNvPr id="13" name="Bildplatzhalter 12"/>
          <p:cNvSpPr>
            <a:spLocks noGrp="1"/>
          </p:cNvSpPr>
          <p:nvPr>
            <p:ph type="pic" sz="quarter" idx="10"/>
          </p:nvPr>
        </p:nvSpPr>
        <p:spPr>
          <a:xfrm>
            <a:off x="1" y="964395"/>
            <a:ext cx="3214678" cy="3107543"/>
          </a:xfrm>
          <a:ln>
            <a:noFill/>
          </a:ln>
        </p:spPr>
        <p:txBody>
          <a:bodyPr/>
          <a:lstStyle/>
          <a:p>
            <a:pPr lvl="0"/>
            <a:r>
              <a:rPr lang="de-DE" noProof="0"/>
              <a:t>Bild durch Klicken auf Symbol hinzufügen</a:t>
            </a:r>
            <a:endParaRPr lang="en-GB" noProof="0"/>
          </a:p>
        </p:txBody>
      </p:sp>
    </p:spTree>
    <p:extLst>
      <p:ext uri="{BB962C8B-B14F-4D97-AF65-F5344CB8AC3E}">
        <p14:creationId xmlns:p14="http://schemas.microsoft.com/office/powerpoint/2010/main" val="73422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el 1"/>
          <p:cNvSpPr>
            <a:spLocks noGrp="1"/>
          </p:cNvSpPr>
          <p:nvPr>
            <p:ph type="title"/>
          </p:nvPr>
        </p:nvSpPr>
        <p:spPr>
          <a:xfrm>
            <a:off x="358776" y="80963"/>
            <a:ext cx="6780213" cy="507206"/>
          </a:xfrm>
        </p:spPr>
        <p:txBody>
          <a:bodyPr/>
          <a:lstStyle/>
          <a:p>
            <a:r>
              <a:rPr lang="de-DE" noProof="0"/>
              <a:t>Titelmasterformat durch Klicken bearbeiten</a:t>
            </a:r>
            <a:endParaRPr lang="en-GB" noProof="0"/>
          </a:p>
        </p:txBody>
      </p:sp>
      <p:sp>
        <p:nvSpPr>
          <p:cNvPr id="4" name="Inhaltsplatzhalter 3"/>
          <p:cNvSpPr>
            <a:spLocks noGrp="1"/>
          </p:cNvSpPr>
          <p:nvPr>
            <p:ph sz="half" idx="2"/>
          </p:nvPr>
        </p:nvSpPr>
        <p:spPr>
          <a:xfrm>
            <a:off x="4651375" y="944168"/>
            <a:ext cx="4141788" cy="3649265"/>
          </a:xfrm>
          <a:noFill/>
        </p:spPr>
        <p:txBody>
          <a:bodyPr/>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0" name="Inhaltsplatzhalter 3"/>
          <p:cNvSpPr>
            <a:spLocks noGrp="1"/>
          </p:cNvSpPr>
          <p:nvPr>
            <p:ph sz="half" idx="13"/>
          </p:nvPr>
        </p:nvSpPr>
        <p:spPr>
          <a:xfrm>
            <a:off x="358775" y="944168"/>
            <a:ext cx="4141788" cy="3649265"/>
          </a:xfrm>
          <a:noFill/>
        </p:spPr>
        <p:txBody>
          <a:bodyPr/>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428441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nterlink with pictur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8" name="Bildplatzhalter 7"/>
          <p:cNvSpPr>
            <a:spLocks noGrp="1"/>
          </p:cNvSpPr>
          <p:nvPr>
            <p:ph type="pic" sz="quarter" idx="13"/>
          </p:nvPr>
        </p:nvSpPr>
        <p:spPr>
          <a:xfrm>
            <a:off x="0" y="750096"/>
            <a:ext cx="9144000" cy="3857639"/>
          </a:xfrm>
        </p:spPr>
        <p:txBody>
          <a:bodyPr/>
          <a:lstStyle/>
          <a:p>
            <a:pPr lvl="0"/>
            <a:r>
              <a:rPr lang="de-DE" noProof="0"/>
              <a:t>Bild durch Klicken auf Symbol hinzufügen</a:t>
            </a:r>
            <a:endParaRPr lang="en-GB" noProof="0"/>
          </a:p>
        </p:txBody>
      </p:sp>
    </p:spTree>
    <p:extLst>
      <p:ext uri="{BB962C8B-B14F-4D97-AF65-F5344CB8AC3E}">
        <p14:creationId xmlns:p14="http://schemas.microsoft.com/office/powerpoint/2010/main" val="147980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raphic with text">
    <p:spTree>
      <p:nvGrpSpPr>
        <p:cNvPr id="1" name=""/>
        <p:cNvGrpSpPr/>
        <p:nvPr/>
      </p:nvGrpSpPr>
      <p:grpSpPr>
        <a:xfrm>
          <a:off x="0" y="0"/>
          <a:ext cx="0" cy="0"/>
          <a:chOff x="0" y="0"/>
          <a:chExt cx="0" cy="0"/>
        </a:xfrm>
      </p:grpSpPr>
      <p:sp>
        <p:nvSpPr>
          <p:cNvPr id="6" name="Rechteck 13"/>
          <p:cNvSpPr/>
          <p:nvPr userDrawn="1"/>
        </p:nvSpPr>
        <p:spPr bwMode="auto">
          <a:xfrm>
            <a:off x="357012" y="4286251"/>
            <a:ext cx="4143022" cy="321469"/>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lIns="0" tIns="0" rIns="0" bIns="0" anchor="ctr"/>
          <a:lstStyle/>
          <a:p>
            <a:pPr eaLnBrk="0" fontAlgn="base" hangingPunct="0">
              <a:spcBef>
                <a:spcPct val="0"/>
              </a:spcBef>
              <a:spcAft>
                <a:spcPct val="0"/>
              </a:spcAft>
              <a:defRPr/>
            </a:pPr>
            <a:endParaRPr lang="en-GB" sz="1050">
              <a:solidFill>
                <a:srgbClr val="003366"/>
              </a:solidFill>
              <a:latin typeface="Times New Roman" panose="02020603050405020304" pitchFamily="18" charset="0"/>
              <a:ea typeface="平成明朝" charset="-128"/>
            </a:endParaRPr>
          </a:p>
        </p:txBody>
      </p:sp>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4" name="Inhaltsplatzhalter 3"/>
          <p:cNvSpPr>
            <a:spLocks noGrp="1"/>
          </p:cNvSpPr>
          <p:nvPr>
            <p:ph sz="half" idx="2"/>
          </p:nvPr>
        </p:nvSpPr>
        <p:spPr>
          <a:xfrm>
            <a:off x="4651375" y="944168"/>
            <a:ext cx="4141788" cy="3649265"/>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1" name="Textplatzhalter 10"/>
          <p:cNvSpPr>
            <a:spLocks noGrp="1"/>
          </p:cNvSpPr>
          <p:nvPr>
            <p:ph type="body" sz="quarter" idx="14"/>
          </p:nvPr>
        </p:nvSpPr>
        <p:spPr>
          <a:xfrm>
            <a:off x="357190" y="4339857"/>
            <a:ext cx="4143375" cy="267878"/>
          </a:xfrm>
          <a:noFill/>
        </p:spPr>
        <p:txBody>
          <a:bodyPr/>
          <a:lstStyle>
            <a:lvl1pPr marL="202406"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3" name="Inhaltsplatzhalter 12"/>
          <p:cNvSpPr>
            <a:spLocks noGrp="1"/>
          </p:cNvSpPr>
          <p:nvPr>
            <p:ph sz="quarter" idx="15"/>
          </p:nvPr>
        </p:nvSpPr>
        <p:spPr>
          <a:xfrm>
            <a:off x="357189" y="954158"/>
            <a:ext cx="4143374" cy="3332093"/>
          </a:xfrm>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2718255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Graphic with white text">
    <p:spTree>
      <p:nvGrpSpPr>
        <p:cNvPr id="1" name=""/>
        <p:cNvGrpSpPr/>
        <p:nvPr/>
      </p:nvGrpSpPr>
      <p:grpSpPr>
        <a:xfrm>
          <a:off x="0" y="0"/>
          <a:ext cx="0" cy="0"/>
          <a:chOff x="0" y="0"/>
          <a:chExt cx="0" cy="0"/>
        </a:xfrm>
      </p:grpSpPr>
      <p:sp>
        <p:nvSpPr>
          <p:cNvPr id="6" name="Rechteck 13"/>
          <p:cNvSpPr/>
          <p:nvPr userDrawn="1"/>
        </p:nvSpPr>
        <p:spPr bwMode="auto">
          <a:xfrm>
            <a:off x="357012" y="4286251"/>
            <a:ext cx="4143022" cy="321469"/>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lIns="0" tIns="0" rIns="0" bIns="0" anchor="ctr"/>
          <a:lstStyle/>
          <a:p>
            <a:pPr eaLnBrk="0" fontAlgn="base" hangingPunct="0">
              <a:spcBef>
                <a:spcPct val="0"/>
              </a:spcBef>
              <a:spcAft>
                <a:spcPct val="0"/>
              </a:spcAft>
              <a:defRPr/>
            </a:pPr>
            <a:endParaRPr lang="en-GB" sz="1050">
              <a:solidFill>
                <a:srgbClr val="003366"/>
              </a:solidFill>
              <a:latin typeface="Times New Roman" panose="02020603050405020304" pitchFamily="18" charset="0"/>
              <a:ea typeface="平成明朝" charset="-128"/>
            </a:endParaRPr>
          </a:p>
        </p:txBody>
      </p:sp>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4" name="Inhaltsplatzhalter 3"/>
          <p:cNvSpPr>
            <a:spLocks noGrp="1"/>
          </p:cNvSpPr>
          <p:nvPr>
            <p:ph sz="half" idx="2"/>
          </p:nvPr>
        </p:nvSpPr>
        <p:spPr>
          <a:xfrm>
            <a:off x="4651375" y="944168"/>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1" name="Textplatzhalter 10"/>
          <p:cNvSpPr>
            <a:spLocks noGrp="1"/>
          </p:cNvSpPr>
          <p:nvPr>
            <p:ph type="body" sz="quarter" idx="14"/>
          </p:nvPr>
        </p:nvSpPr>
        <p:spPr>
          <a:xfrm>
            <a:off x="357190" y="4339857"/>
            <a:ext cx="4143375" cy="267878"/>
          </a:xfrm>
          <a:noFill/>
        </p:spPr>
        <p:txBody>
          <a:bodyPr/>
          <a:lstStyle>
            <a:lvl1pPr marL="202406"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3" name="Inhaltsplatzhalter 12"/>
          <p:cNvSpPr>
            <a:spLocks noGrp="1"/>
          </p:cNvSpPr>
          <p:nvPr>
            <p:ph sz="quarter" idx="15"/>
          </p:nvPr>
        </p:nvSpPr>
        <p:spPr>
          <a:xfrm>
            <a:off x="357189" y="954158"/>
            <a:ext cx="4143374" cy="3332093"/>
          </a:xfrm>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1844112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 white">
    <p:spTree>
      <p:nvGrpSpPr>
        <p:cNvPr id="1" name=""/>
        <p:cNvGrpSpPr/>
        <p:nvPr/>
      </p:nvGrpSpPr>
      <p:grpSpPr>
        <a:xfrm>
          <a:off x="0" y="0"/>
          <a:ext cx="0" cy="0"/>
          <a:chOff x="0" y="0"/>
          <a:chExt cx="0" cy="0"/>
        </a:xfrm>
      </p:grpSpPr>
      <p:sp>
        <p:nvSpPr>
          <p:cNvPr id="2" name="Titel 1"/>
          <p:cNvSpPr>
            <a:spLocks noGrp="1"/>
          </p:cNvSpPr>
          <p:nvPr>
            <p:ph type="title"/>
          </p:nvPr>
        </p:nvSpPr>
        <p:spPr>
          <a:xfrm>
            <a:off x="358776" y="80963"/>
            <a:ext cx="6780213" cy="507206"/>
          </a:xfrm>
        </p:spPr>
        <p:txBody>
          <a:bodyPr/>
          <a:lstStyle/>
          <a:p>
            <a:r>
              <a:rPr lang="de-DE" noProof="0"/>
              <a:t>Titelmasterformat durch Klicken bearbeiten</a:t>
            </a:r>
            <a:endParaRPr lang="en-GB" noProof="0"/>
          </a:p>
        </p:txBody>
      </p:sp>
      <p:sp>
        <p:nvSpPr>
          <p:cNvPr id="4" name="Inhaltsplatzhalter 3"/>
          <p:cNvSpPr>
            <a:spLocks noGrp="1"/>
          </p:cNvSpPr>
          <p:nvPr>
            <p:ph sz="half" idx="2"/>
          </p:nvPr>
        </p:nvSpPr>
        <p:spPr>
          <a:xfrm>
            <a:off x="4651375" y="944168"/>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0" name="Inhaltsplatzhalter 3"/>
          <p:cNvSpPr>
            <a:spLocks noGrp="1"/>
          </p:cNvSpPr>
          <p:nvPr>
            <p:ph sz="half" idx="13"/>
          </p:nvPr>
        </p:nvSpPr>
        <p:spPr>
          <a:xfrm>
            <a:off x="358775" y="944168"/>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2528012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Titel mit Bild blau">
    <p:bg>
      <p:bgPr>
        <a:solidFill>
          <a:schemeClr val="tx1"/>
        </a:solidFill>
        <a:effectLst/>
      </p:bgPr>
    </p:bg>
    <p:spTree>
      <p:nvGrpSpPr>
        <p:cNvPr id="1" name=""/>
        <p:cNvGrpSpPr/>
        <p:nvPr/>
      </p:nvGrpSpPr>
      <p:grpSpPr>
        <a:xfrm>
          <a:off x="0" y="0"/>
          <a:ext cx="0" cy="0"/>
          <a:chOff x="0" y="0"/>
          <a:chExt cx="0" cy="0"/>
        </a:xfrm>
      </p:grpSpPr>
      <p:pic>
        <p:nvPicPr>
          <p:cNvPr id="5" name="Picture 10" descr="BI-Logo_36pt_blue_n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6738056" y="4452939"/>
            <a:ext cx="2159000"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8"/>
          <p:cNvSpPr>
            <a:spLocks noChangeArrowheads="1"/>
          </p:cNvSpPr>
          <p:nvPr/>
        </p:nvSpPr>
        <p:spPr bwMode="auto">
          <a:xfrm>
            <a:off x="0" y="1339454"/>
            <a:ext cx="9144000" cy="1875234"/>
          </a:xfrm>
          <a:prstGeom prst="rect">
            <a:avLst/>
          </a:prstGeom>
          <a:solidFill>
            <a:schemeClr val="accent4"/>
          </a:solidFill>
          <a:ln w="12700">
            <a:noFill/>
            <a:miter lim="800000"/>
            <a:headEnd/>
            <a:tailEnd/>
          </a:ln>
          <a:effectLst/>
        </p:spPr>
        <p:txBody>
          <a:bodyPr wrap="none" anchor="ctr"/>
          <a:lstStyle/>
          <a:p>
            <a:pPr>
              <a:defRPr/>
            </a:pPr>
            <a:endParaRPr lang="de-DE" sz="1350">
              <a:solidFill>
                <a:srgbClr val="003366"/>
              </a:solidFill>
              <a:latin typeface="Times New Roman" panose="02020603050405020304" pitchFamily="18" charset="0"/>
              <a:ea typeface="平成明朝" charset="-128"/>
            </a:endParaRPr>
          </a:p>
        </p:txBody>
      </p:sp>
      <p:grpSp>
        <p:nvGrpSpPr>
          <p:cNvPr id="7" name="Group 8"/>
          <p:cNvGrpSpPr>
            <a:grpSpLocks/>
          </p:cNvGrpSpPr>
          <p:nvPr/>
        </p:nvGrpSpPr>
        <p:grpSpPr bwMode="auto">
          <a:xfrm>
            <a:off x="0" y="0"/>
            <a:ext cx="9144000" cy="5143500"/>
            <a:chOff x="0" y="0"/>
            <a:chExt cx="5760" cy="4320"/>
          </a:xfrm>
        </p:grpSpPr>
        <p:sp>
          <p:nvSpPr>
            <p:cNvPr id="8" name="Line 9"/>
            <p:cNvSpPr>
              <a:spLocks noChangeShapeType="1"/>
            </p:cNvSpPr>
            <p:nvPr/>
          </p:nvSpPr>
          <p:spPr bwMode="auto">
            <a:xfrm flipH="1">
              <a:off x="0" y="3978"/>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9" name="Line 10"/>
            <p:cNvSpPr>
              <a:spLocks noChangeShapeType="1"/>
            </p:cNvSpPr>
            <p:nvPr/>
          </p:nvSpPr>
          <p:spPr bwMode="auto">
            <a:xfrm>
              <a:off x="22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0" name="Line 11"/>
            <p:cNvSpPr>
              <a:spLocks noChangeShapeType="1"/>
            </p:cNvSpPr>
            <p:nvPr/>
          </p:nvSpPr>
          <p:spPr bwMode="auto">
            <a:xfrm>
              <a:off x="5538"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1" name="Line 12"/>
            <p:cNvSpPr>
              <a:spLocks noChangeShapeType="1"/>
            </p:cNvSpPr>
            <p:nvPr/>
          </p:nvSpPr>
          <p:spPr bwMode="auto">
            <a:xfrm flipH="1">
              <a:off x="0" y="874"/>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grpSp>
      <p:sp>
        <p:nvSpPr>
          <p:cNvPr id="12" name="Rectangle 4"/>
          <p:cNvSpPr>
            <a:spLocks noGrp="1" noChangeArrowheads="1"/>
          </p:cNvSpPr>
          <p:nvPr>
            <p:ph type="subTitle" idx="1"/>
          </p:nvPr>
        </p:nvSpPr>
        <p:spPr bwMode="white">
          <a:xfrm>
            <a:off x="3571869" y="2143124"/>
            <a:ext cx="4786346" cy="461665"/>
          </a:xfrm>
        </p:spPr>
        <p:txBody>
          <a:bodyPr>
            <a:spAutoFit/>
          </a:bodyPr>
          <a:lstStyle>
            <a:lvl1pPr>
              <a:spcBef>
                <a:spcPct val="0"/>
              </a:spcBef>
              <a:defRPr>
                <a:solidFill>
                  <a:schemeClr val="bg1"/>
                </a:solidFill>
                <a:sym typeface="Symbol" pitchFamily="18" charset="2"/>
              </a:defRPr>
            </a:lvl1pPr>
          </a:lstStyle>
          <a:p>
            <a:r>
              <a:rPr lang="de-DE" noProof="0">
                <a:sym typeface="Symbol" pitchFamily="18" charset="2"/>
              </a:rPr>
              <a:t>Formatvorlage des Untertitelmasters durch Klicken bearbeiten</a:t>
            </a:r>
            <a:endParaRPr lang="en-US" noProof="0">
              <a:sym typeface="Symbol" pitchFamily="18" charset="2"/>
            </a:endParaRPr>
          </a:p>
        </p:txBody>
      </p:sp>
      <p:sp>
        <p:nvSpPr>
          <p:cNvPr id="13" name="Rectangle 5"/>
          <p:cNvSpPr>
            <a:spLocks noGrp="1" noChangeArrowheads="1"/>
          </p:cNvSpPr>
          <p:nvPr>
            <p:ph type="ctrTitle"/>
          </p:nvPr>
        </p:nvSpPr>
        <p:spPr>
          <a:xfrm>
            <a:off x="3571869" y="1393023"/>
            <a:ext cx="4714908" cy="646331"/>
          </a:xfrm>
          <a:noFill/>
        </p:spPr>
        <p:txBody>
          <a:bodyPr anchor="b">
            <a:spAutoFit/>
          </a:bodyPr>
          <a:lstStyle>
            <a:lvl1pPr>
              <a:defRPr sz="2100"/>
            </a:lvl1pPr>
          </a:lstStyle>
          <a:p>
            <a:r>
              <a:rPr lang="de-DE" noProof="0"/>
              <a:t>Titelmasterformat durch Klicken bearbeiten</a:t>
            </a:r>
            <a:endParaRPr lang="en-US" noProof="0"/>
          </a:p>
        </p:txBody>
      </p:sp>
      <p:sp>
        <p:nvSpPr>
          <p:cNvPr id="15" name="Bildplatzhalter 14"/>
          <p:cNvSpPr>
            <a:spLocks noGrp="1"/>
          </p:cNvSpPr>
          <p:nvPr>
            <p:ph type="pic" sz="quarter" idx="10"/>
          </p:nvPr>
        </p:nvSpPr>
        <p:spPr>
          <a:xfrm>
            <a:off x="0" y="1339445"/>
            <a:ext cx="3143240" cy="1875243"/>
          </a:xfrm>
        </p:spPr>
        <p:txBody>
          <a:bodyPr/>
          <a:lstStyle/>
          <a:p>
            <a:pPr lvl="0"/>
            <a:r>
              <a:rPr lang="de-DE" noProof="0"/>
              <a:t>Bild durch Klicken auf Symbol hinzufügen</a:t>
            </a:r>
          </a:p>
        </p:txBody>
      </p:sp>
    </p:spTree>
    <p:extLst>
      <p:ext uri="{BB962C8B-B14F-4D97-AF65-F5344CB8AC3E}">
        <p14:creationId xmlns:p14="http://schemas.microsoft.com/office/powerpoint/2010/main" val="852314558"/>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Titelmasterformat durch Klicken bearbeiten</a:t>
            </a:r>
          </a:p>
        </p:txBody>
      </p:sp>
    </p:spTree>
    <p:extLst>
      <p:ext uri="{BB962C8B-B14F-4D97-AF65-F5344CB8AC3E}">
        <p14:creationId xmlns:p14="http://schemas.microsoft.com/office/powerpoint/2010/main" val="3535931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9" name="Gerade Verbindung 10">
            <a:extLst>
              <a:ext uri="{FF2B5EF4-FFF2-40B4-BE49-F238E27FC236}">
                <a16:creationId xmlns:a16="http://schemas.microsoft.com/office/drawing/2014/main" id="{FCAC3853-FC79-454C-911E-BD597A83AFB5}"/>
              </a:ext>
            </a:extLst>
          </p:cNvPr>
          <p:cNvCxnSpPr>
            <a:cxnSpLocks/>
          </p:cNvCxnSpPr>
          <p:nvPr userDrawn="1"/>
        </p:nvCxnSpPr>
        <p:spPr>
          <a:xfrm>
            <a:off x="371475" y="728590"/>
            <a:ext cx="8401050" cy="0"/>
          </a:xfrm>
          <a:prstGeom prst="line">
            <a:avLst/>
          </a:prstGeom>
          <a:ln w="25400">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5" name="标题 4">
            <a:extLst>
              <a:ext uri="{FF2B5EF4-FFF2-40B4-BE49-F238E27FC236}">
                <a16:creationId xmlns:a16="http://schemas.microsoft.com/office/drawing/2014/main" id="{94B9BCB1-A0D7-6C38-C39E-E7ECCB278517}"/>
              </a:ext>
            </a:extLst>
          </p:cNvPr>
          <p:cNvSpPr>
            <a:spLocks noGrp="1"/>
          </p:cNvSpPr>
          <p:nvPr>
            <p:ph type="title"/>
          </p:nvPr>
        </p:nvSpPr>
        <p:spPr>
          <a:xfrm>
            <a:off x="371475" y="223882"/>
            <a:ext cx="8401050" cy="328541"/>
          </a:xfrm>
          <a:prstGeom prst="rect">
            <a:avLst/>
          </a:prstGeom>
        </p:spPr>
        <p:txBody>
          <a:bodyPr anchor="b"/>
          <a:lstStyle>
            <a:lvl1pPr>
              <a:defRPr sz="2100"/>
            </a:lvl1pPr>
          </a:lstStyle>
          <a:p>
            <a:r>
              <a:rPr lang="zh-CN" altLang="en-US"/>
              <a:t>单击此处编辑母版标题样式</a:t>
            </a:r>
          </a:p>
        </p:txBody>
      </p:sp>
    </p:spTree>
    <p:extLst>
      <p:ext uri="{BB962C8B-B14F-4D97-AF65-F5344CB8AC3E}">
        <p14:creationId xmlns:p14="http://schemas.microsoft.com/office/powerpoint/2010/main" val="110895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709">
          <p15:clr>
            <a:srgbClr val="FBAE40"/>
          </p15:clr>
        </p15:guide>
        <p15:guide id="2" pos="257">
          <p15:clr>
            <a:srgbClr val="FBAE40"/>
          </p15:clr>
        </p15:guide>
        <p15:guide id="3" orient="horz" pos="3997">
          <p15:clr>
            <a:srgbClr val="FBAE40"/>
          </p15:clr>
        </p15:guide>
        <p15:guide id="4" pos="7423">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4"/>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78641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7386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6" y="3572754"/>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709240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8"/>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2"/>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4011636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392683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552865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049416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21/04/2026</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346744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21/04/2026</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01204"/>
            <a:ext cx="8408850" cy="415498"/>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067589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03292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6" y="1200152"/>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21/04/2026</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31882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21/04/2026</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1771575" y="659905"/>
            <a:ext cx="5065660" cy="415498"/>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87994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58443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21/04/2026</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04654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21/04/2026</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177115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21/04/2026</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772394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21/04/2026</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684246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6" y="1200152"/>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21/04/2026</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992055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21/04/2026</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027222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941226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000080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13681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5267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93220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03222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21/04/2026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558487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9"/>
            <a:ext cx="4626700" cy="769441"/>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219816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9"/>
            <a:ext cx="4626700" cy="923330"/>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444494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a:xfrm>
            <a:off x="7666705" y="4910732"/>
            <a:ext cx="537407" cy="153841"/>
          </a:xfrm>
        </p:spPr>
        <p:txBody>
          <a:bodyPr/>
          <a:lstStyle/>
          <a:p>
            <a:fld id="{C16525B2-4347-4F72-BAF7-76B19438D329}" type="datetimeFigureOut">
              <a:rPr lang="en-US" smtClean="0"/>
              <a:t>4/21/2026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3031214140"/>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Title with leading picture">
    <p:bg>
      <p:bgPr>
        <a:solidFill>
          <a:schemeClr val="tx1"/>
        </a:solidFill>
        <a:effectLst/>
      </p:bgPr>
    </p:bg>
    <p:spTree>
      <p:nvGrpSpPr>
        <p:cNvPr id="1" name=""/>
        <p:cNvGrpSpPr/>
        <p:nvPr/>
      </p:nvGrpSpPr>
      <p:grpSpPr>
        <a:xfrm>
          <a:off x="0" y="0"/>
          <a:ext cx="0" cy="0"/>
          <a:chOff x="0" y="0"/>
          <a:chExt cx="0" cy="0"/>
        </a:xfrm>
      </p:grpSpPr>
      <p:pic>
        <p:nvPicPr>
          <p:cNvPr id="5" name="Picture 10" descr="BI-Logo_36pt_blue_n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6738057" y="4452940"/>
            <a:ext cx="2159000"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8"/>
          <p:cNvSpPr>
            <a:spLocks noChangeArrowheads="1"/>
          </p:cNvSpPr>
          <p:nvPr/>
        </p:nvSpPr>
        <p:spPr bwMode="auto">
          <a:xfrm>
            <a:off x="0" y="1339454"/>
            <a:ext cx="9144000" cy="1875234"/>
          </a:xfrm>
          <a:prstGeom prst="rect">
            <a:avLst/>
          </a:prstGeom>
          <a:solidFill>
            <a:schemeClr val="accent4"/>
          </a:solidFill>
          <a:ln w="12700">
            <a:noFill/>
            <a:miter lim="800000"/>
            <a:headEnd/>
            <a:tailEnd/>
          </a:ln>
          <a:effectLst/>
        </p:spPr>
        <p:txBody>
          <a:bodyPr wrap="none" anchor="ctr"/>
          <a:lstStyle/>
          <a:p>
            <a:pPr>
              <a:defRPr/>
            </a:pPr>
            <a:endParaRPr lang="en-GB" sz="1350">
              <a:solidFill>
                <a:srgbClr val="003366"/>
              </a:solidFill>
              <a:ea typeface="平成明朝" charset="-128"/>
            </a:endParaRPr>
          </a:p>
        </p:txBody>
      </p:sp>
      <p:grpSp>
        <p:nvGrpSpPr>
          <p:cNvPr id="7" name="Group 8"/>
          <p:cNvGrpSpPr>
            <a:grpSpLocks/>
          </p:cNvGrpSpPr>
          <p:nvPr/>
        </p:nvGrpSpPr>
        <p:grpSpPr bwMode="auto">
          <a:xfrm>
            <a:off x="0" y="0"/>
            <a:ext cx="9144000" cy="5143500"/>
            <a:chOff x="0" y="0"/>
            <a:chExt cx="5760" cy="4320"/>
          </a:xfrm>
        </p:grpSpPr>
        <p:sp>
          <p:nvSpPr>
            <p:cNvPr id="8" name="Line 9"/>
            <p:cNvSpPr>
              <a:spLocks noChangeShapeType="1"/>
            </p:cNvSpPr>
            <p:nvPr/>
          </p:nvSpPr>
          <p:spPr bwMode="auto">
            <a:xfrm flipH="1">
              <a:off x="0" y="3978"/>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endParaRPr>
            </a:p>
          </p:txBody>
        </p:sp>
        <p:sp>
          <p:nvSpPr>
            <p:cNvPr id="9" name="Line 10"/>
            <p:cNvSpPr>
              <a:spLocks noChangeShapeType="1"/>
            </p:cNvSpPr>
            <p:nvPr/>
          </p:nvSpPr>
          <p:spPr bwMode="auto">
            <a:xfrm>
              <a:off x="22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endParaRPr>
            </a:p>
          </p:txBody>
        </p:sp>
        <p:sp>
          <p:nvSpPr>
            <p:cNvPr id="10" name="Line 11"/>
            <p:cNvSpPr>
              <a:spLocks noChangeShapeType="1"/>
            </p:cNvSpPr>
            <p:nvPr/>
          </p:nvSpPr>
          <p:spPr bwMode="auto">
            <a:xfrm>
              <a:off x="5538"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endParaRPr>
            </a:p>
          </p:txBody>
        </p:sp>
        <p:sp>
          <p:nvSpPr>
            <p:cNvPr id="11" name="Line 12"/>
            <p:cNvSpPr>
              <a:spLocks noChangeShapeType="1"/>
            </p:cNvSpPr>
            <p:nvPr/>
          </p:nvSpPr>
          <p:spPr bwMode="auto">
            <a:xfrm flipH="1">
              <a:off x="0" y="874"/>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endParaRPr>
            </a:p>
          </p:txBody>
        </p:sp>
      </p:grpSp>
      <p:sp>
        <p:nvSpPr>
          <p:cNvPr id="12" name="Rectangle 4"/>
          <p:cNvSpPr>
            <a:spLocks noGrp="1" noChangeArrowheads="1"/>
          </p:cNvSpPr>
          <p:nvPr>
            <p:ph type="subTitle" idx="1"/>
          </p:nvPr>
        </p:nvSpPr>
        <p:spPr bwMode="white">
          <a:xfrm>
            <a:off x="3571869" y="2143124"/>
            <a:ext cx="4786346" cy="615650"/>
          </a:xfrm>
        </p:spPr>
        <p:txBody>
          <a:bodyPr>
            <a:spAutoFit/>
          </a:bodyPr>
          <a:lstStyle>
            <a:lvl1pPr>
              <a:spcBef>
                <a:spcPct val="0"/>
              </a:spcBef>
              <a:defRPr>
                <a:solidFill>
                  <a:schemeClr val="bg1"/>
                </a:solidFill>
                <a:sym typeface="Symbol" pitchFamily="18" charset="2"/>
              </a:defRPr>
            </a:lvl1pPr>
          </a:lstStyle>
          <a:p>
            <a:r>
              <a:rPr lang="de-DE" noProof="0">
                <a:sym typeface="Symbol" pitchFamily="18" charset="2"/>
              </a:rPr>
              <a:t>Formatvorlage des Untertitelmasters durch Klicken bearbeiten</a:t>
            </a:r>
            <a:endParaRPr lang="en-GB" noProof="0">
              <a:sym typeface="Symbol" pitchFamily="18" charset="2"/>
            </a:endParaRPr>
          </a:p>
        </p:txBody>
      </p:sp>
      <p:sp>
        <p:nvSpPr>
          <p:cNvPr id="13" name="Rectangle 5"/>
          <p:cNvSpPr>
            <a:spLocks noGrp="1" noChangeArrowheads="1"/>
          </p:cNvSpPr>
          <p:nvPr>
            <p:ph type="ctrTitle"/>
          </p:nvPr>
        </p:nvSpPr>
        <p:spPr>
          <a:xfrm>
            <a:off x="3571869" y="1716190"/>
            <a:ext cx="4714908" cy="323165"/>
          </a:xfrm>
          <a:noFill/>
        </p:spPr>
        <p:txBody>
          <a:bodyPr anchor="b">
            <a:spAutoFit/>
          </a:bodyPr>
          <a:lstStyle>
            <a:lvl1pPr>
              <a:defRPr sz="2100"/>
            </a:lvl1pPr>
          </a:lstStyle>
          <a:p>
            <a:r>
              <a:rPr lang="de-DE" noProof="0"/>
              <a:t>Titelmasterformat durch Klicken bearbeiten</a:t>
            </a:r>
            <a:endParaRPr lang="en-GB" noProof="0"/>
          </a:p>
        </p:txBody>
      </p:sp>
      <p:sp>
        <p:nvSpPr>
          <p:cNvPr id="15" name="Bildplatzhalter 14"/>
          <p:cNvSpPr>
            <a:spLocks noGrp="1"/>
          </p:cNvSpPr>
          <p:nvPr>
            <p:ph type="pic" sz="quarter" idx="10"/>
          </p:nvPr>
        </p:nvSpPr>
        <p:spPr>
          <a:xfrm>
            <a:off x="1" y="1339445"/>
            <a:ext cx="3143240" cy="1875243"/>
          </a:xfrm>
        </p:spPr>
        <p:txBody>
          <a:bodyPr/>
          <a:lstStyle/>
          <a:p>
            <a:pPr lvl="0"/>
            <a:r>
              <a:rPr lang="de-DE" noProof="0"/>
              <a:t>Bild durch Klicken auf Symbol hinzufügen</a:t>
            </a:r>
            <a:endParaRPr lang="en-GB" noProof="0"/>
          </a:p>
        </p:txBody>
      </p:sp>
    </p:spTree>
    <p:extLst>
      <p:ext uri="{BB962C8B-B14F-4D97-AF65-F5344CB8AC3E}">
        <p14:creationId xmlns:p14="http://schemas.microsoft.com/office/powerpoint/2010/main" val="1841936170"/>
      </p:ext>
    </p:extLst>
  </p:cSld>
  <p:clrMapOvr>
    <a:masterClrMapping/>
  </p:clrMapOvr>
  <p:transition spd="med">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
  <p:cSld name="Standard sl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3918045184"/>
              </p:ext>
            </p:extLst>
          </p:nvPr>
        </p:nvGraphicFramePr>
        <p:xfrm>
          <a:off x="1589" y="1191"/>
          <a:ext cx="1588" cy="1191"/>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p:cNvPicPr/>
                      <p:nvPr/>
                    </p:nvPicPr>
                    <p:blipFill>
                      <a:blip r:embed="rId5"/>
                      <a:stretch>
                        <a:fillRect/>
                      </a:stretch>
                    </p:blipFill>
                    <p:spPr>
                      <a:xfrm>
                        <a:off x="1589" y="1191"/>
                        <a:ext cx="1588" cy="1191"/>
                      </a:xfrm>
                      <a:prstGeom prst="rect">
                        <a:avLst/>
                      </a:prstGeom>
                    </p:spPr>
                  </p:pic>
                </p:oleObj>
              </mc:Fallback>
            </mc:AlternateContent>
          </a:graphicData>
        </a:graphic>
      </p:graphicFrame>
      <p:sp>
        <p:nvSpPr>
          <p:cNvPr id="4" name="Rectangle 3" hidden="1"/>
          <p:cNvSpPr/>
          <p:nvPr userDrawn="1">
            <p:custDataLst>
              <p:tags r:id="rId2"/>
            </p:custDataLst>
          </p:nvPr>
        </p:nvSpPr>
        <p:spPr bwMode="auto">
          <a:xfrm>
            <a:off x="1" y="0"/>
            <a:ext cx="158750" cy="11906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pPr>
            <a:endParaRPr kumimoji="0" lang="de-DE" sz="1800" b="0" i="0" u="none" strike="noStrike" cap="none" normalizeH="0" baseline="0">
              <a:ln>
                <a:noFill/>
              </a:ln>
              <a:solidFill>
                <a:schemeClr val="tx1"/>
              </a:solidFill>
              <a:effectLst/>
              <a:latin typeface="Times New Roman" panose="02020603050405020304" pitchFamily="18" charset="0"/>
              <a:ea typeface="+mj-ea"/>
              <a:cs typeface="Times New Roman" panose="02020603050405020304" pitchFamily="18" charset="0"/>
              <a:sym typeface="Arial" panose="020B0604020202020204" pitchFamily="34" charset="0"/>
            </a:endParaRPr>
          </a:p>
        </p:txBody>
      </p:sp>
      <p:sp>
        <p:nvSpPr>
          <p:cNvPr id="2" name="Titel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de-DE" noProof="0"/>
              <a:t>Titelmasterformat durch Klicken bearbeiten</a:t>
            </a:r>
            <a:endParaRPr lang="en-GB" noProof="0"/>
          </a:p>
        </p:txBody>
      </p:sp>
      <p:sp>
        <p:nvSpPr>
          <p:cNvPr id="3" name="Inhaltsplatzhalter 2"/>
          <p:cNvSpPr>
            <a:spLocks noGrp="1"/>
          </p:cNvSpPr>
          <p:nvPr>
            <p:ph idx="1"/>
          </p:nvPr>
        </p:nvSpPr>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2654215548"/>
      </p:ext>
    </p:extLst>
  </p:cSld>
  <p:clrMapOvr>
    <a:masterClrMapping/>
  </p:clrMapOvr>
  <p:transition spd="med">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12" y="1195"/>
          <a:ext cx="1465"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1512" y="1195"/>
                        <a:ext cx="1465" cy="1190"/>
                      </a:xfrm>
                      <a:prstGeom prst="rect">
                        <a:avLst/>
                      </a:prstGeom>
                    </p:spPr>
                  </p:pic>
                </p:oleObj>
              </mc:Fallback>
            </mc:AlternateContent>
          </a:graphicData>
        </a:graphic>
      </p:graphicFrame>
      <p:sp>
        <p:nvSpPr>
          <p:cNvPr id="2" name="Title 1"/>
          <p:cNvSpPr>
            <a:spLocks noGrp="1"/>
          </p:cNvSpPr>
          <p:nvPr>
            <p:ph type="title"/>
          </p:nvPr>
        </p:nvSpPr>
        <p:spPr>
          <a:xfrm>
            <a:off x="402382" y="303499"/>
            <a:ext cx="7409981" cy="415498"/>
          </a:xfrm>
        </p:spPr>
        <p:txBody>
          <a:bodyPr/>
          <a:lstStyle>
            <a:lvl1pPr>
              <a:defRPr>
                <a:solidFill>
                  <a:schemeClr val="accent4"/>
                </a:solidFill>
              </a:defRPr>
            </a:lvl1pPr>
          </a:lstStyle>
          <a:p>
            <a:r>
              <a:rPr lang="en-US"/>
              <a:t>Click to edit Master title style</a:t>
            </a:r>
          </a:p>
        </p:txBody>
      </p:sp>
      <p:sp>
        <p:nvSpPr>
          <p:cNvPr id="3" name="Content Placeholder 2"/>
          <p:cNvSpPr>
            <a:spLocks noGrp="1"/>
          </p:cNvSpPr>
          <p:nvPr>
            <p:ph idx="1"/>
          </p:nvPr>
        </p:nvSpPr>
        <p:spPr>
          <a:xfrm>
            <a:off x="395536" y="1059588"/>
            <a:ext cx="8496944" cy="3535040"/>
          </a:xfrm>
        </p:spPr>
        <p:txBody>
          <a:bodyPr/>
          <a:lstStyle>
            <a:lvl1pPr>
              <a:defRPr>
                <a:solidFill>
                  <a:schemeClr val="tx1"/>
                </a:solidFill>
                <a:latin typeface="BISans"/>
                <a:sym typeface="BISans"/>
              </a:defRPr>
            </a:lvl1pPr>
            <a:lvl2pPr>
              <a:defRPr>
                <a:solidFill>
                  <a:schemeClr val="tx1"/>
                </a:solidFill>
                <a:latin typeface="BISans"/>
                <a:sym typeface="BISans"/>
              </a:defRPr>
            </a:lvl2pPr>
            <a:lvl3pPr>
              <a:defRPr>
                <a:solidFill>
                  <a:schemeClr val="tx1"/>
                </a:solidFill>
                <a:latin typeface="BISans"/>
                <a:sym typeface="BISans"/>
              </a:defRPr>
            </a:lvl3pPr>
            <a:lvl4pPr>
              <a:defRPr>
                <a:solidFill>
                  <a:schemeClr val="tx1"/>
                </a:solidFill>
                <a:latin typeface="BISans"/>
                <a:sym typeface="BISans"/>
              </a:defRPr>
            </a:lvl4pPr>
            <a:lvl5pPr>
              <a:defRPr>
                <a:solidFill>
                  <a:schemeClr val="tx1"/>
                </a:solidFill>
                <a:latin typeface="BISans"/>
                <a:sym typeface="BI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840842" y="4918866"/>
            <a:ext cx="3240360" cy="137160"/>
          </a:xfrm>
          <a:prstGeom prst="rect">
            <a:avLst/>
          </a:prstGeom>
          <a:solidFill>
            <a:schemeClr val="bg1"/>
          </a:solidFill>
        </p:spPr>
        <p:txBody>
          <a:bodyPr vert="horz" lIns="0" tIns="0" rIns="0" bIns="0" rtlCol="0" anchor="b">
            <a:normAutofit/>
          </a:bodyPr>
          <a:lstStyle>
            <a:lvl1pPr>
              <a:defRPr lang="en-GB" sz="750" dirty="0">
                <a:solidFill>
                  <a:prstClr val="black">
                    <a:tint val="75000"/>
                  </a:prstClr>
                </a:solidFill>
                <a:latin typeface="BISans"/>
                <a:cs typeface="Times New Roman" panose="02020603050405020304" pitchFamily="18" charset="0"/>
                <a:sym typeface="BISans"/>
              </a:defRPr>
            </a:lvl1pPr>
          </a:lstStyle>
          <a:p>
            <a:pPr>
              <a:spcBef>
                <a:spcPct val="20000"/>
              </a:spcBef>
              <a:buFont typeface="Arial" pitchFamily="34" charset="0"/>
              <a:buNone/>
            </a:pPr>
            <a:r>
              <a:rPr lang="en-US"/>
              <a:t>Corporate IBP 2016-2020</a:t>
            </a:r>
          </a:p>
        </p:txBody>
      </p:sp>
      <p:sp>
        <p:nvSpPr>
          <p:cNvPr id="6" name="Slide Number Placeholder 5"/>
          <p:cNvSpPr>
            <a:spLocks noGrp="1"/>
          </p:cNvSpPr>
          <p:nvPr>
            <p:ph type="sldNum" sz="quarter" idx="12"/>
          </p:nvPr>
        </p:nvSpPr>
        <p:spPr>
          <a:xfrm>
            <a:off x="7225218" y="4918866"/>
            <a:ext cx="648072" cy="137160"/>
          </a:xfrm>
          <a:prstGeom prst="rect">
            <a:avLst/>
          </a:prstGeom>
          <a:solidFill>
            <a:schemeClr val="bg1"/>
          </a:solidFill>
        </p:spPr>
        <p:txBody>
          <a:bodyPr vert="horz" lIns="0" tIns="0" rIns="0" bIns="0" rtlCol="0" anchor="b">
            <a:normAutofit/>
          </a:bodyPr>
          <a:lstStyle>
            <a:lvl1pPr algn="ctr">
              <a:defRPr lang="en-GB" sz="750" smtClean="0">
                <a:solidFill>
                  <a:prstClr val="black">
                    <a:tint val="75000"/>
                  </a:prstClr>
                </a:solidFill>
                <a:latin typeface="BISans"/>
                <a:cs typeface="Times New Roman" panose="02020603050405020304" pitchFamily="18" charset="0"/>
                <a:sym typeface="BISans"/>
              </a:defRPr>
            </a:lvl1pPr>
          </a:lstStyle>
          <a:p>
            <a:pPr>
              <a:spcBef>
                <a:spcPct val="20000"/>
              </a:spcBef>
              <a:buFont typeface="Arial" pitchFamily="34" charset="0"/>
              <a:buNone/>
            </a:pPr>
            <a:fld id="{E00C65CE-A437-4E9A-B655-EBDDF8B99677}" type="slidenum">
              <a:rPr lang="en-US" smtClean="0"/>
              <a:pPr>
                <a:spcBef>
                  <a:spcPct val="20000"/>
                </a:spcBef>
                <a:buFont typeface="Arial" pitchFamily="34" charset="0"/>
                <a:buNone/>
              </a:pPr>
              <a:t>‹#›</a:t>
            </a:fld>
            <a:endParaRPr lang="en-US"/>
          </a:p>
        </p:txBody>
      </p:sp>
      <p:sp>
        <p:nvSpPr>
          <p:cNvPr id="8" name="Text Placeholder 7"/>
          <p:cNvSpPr>
            <a:spLocks noGrp="1"/>
          </p:cNvSpPr>
          <p:nvPr>
            <p:ph type="body" sz="quarter" idx="13" hasCustomPrompt="1"/>
          </p:nvPr>
        </p:nvSpPr>
        <p:spPr>
          <a:xfrm>
            <a:off x="402407" y="4623978"/>
            <a:ext cx="7493067" cy="216024"/>
          </a:xfrm>
          <a:solidFill>
            <a:schemeClr val="bg1"/>
          </a:solidFill>
        </p:spPr>
        <p:txBody>
          <a:bodyPr vert="horz" lIns="0" tIns="0" rIns="0" bIns="0" rtlCol="0" anchor="b"/>
          <a:lstStyle>
            <a:lvl1pPr marL="0" indent="0">
              <a:buNone/>
              <a:defRPr lang="en-US" sz="750" dirty="0" smtClean="0">
                <a:solidFill>
                  <a:prstClr val="black">
                    <a:tint val="75000"/>
                  </a:prstClr>
                </a:solidFill>
                <a:cs typeface="Times New Roman" panose="02020603050405020304" pitchFamily="18" charset="0"/>
              </a:defRPr>
            </a:lvl1pPr>
            <a:lvl2pPr>
              <a:defRPr lang="en-US" sz="1350" dirty="0" smtClean="0">
                <a:latin typeface="+mn-lt"/>
              </a:defRPr>
            </a:lvl2pPr>
            <a:lvl3pPr>
              <a:defRPr lang="en-US" sz="1350" dirty="0" smtClean="0">
                <a:latin typeface="+mn-lt"/>
              </a:defRPr>
            </a:lvl3pPr>
            <a:lvl4pPr>
              <a:defRPr lang="en-US" sz="1350" dirty="0" smtClean="0">
                <a:latin typeface="+mn-lt"/>
              </a:defRPr>
            </a:lvl4pPr>
            <a:lvl5pPr>
              <a:defRPr lang="en-US" sz="1350" dirty="0">
                <a:latin typeface="+mn-lt"/>
              </a:defRPr>
            </a:lvl5pPr>
          </a:lstStyle>
          <a:p>
            <a:pPr marL="0" lvl="0"/>
            <a:r>
              <a:rPr lang="en-US"/>
              <a:t>Note:</a:t>
            </a:r>
            <a:br>
              <a:rPr lang="en-US"/>
            </a:br>
            <a:r>
              <a:rPr lang="en-US"/>
              <a:t>Source:</a:t>
            </a:r>
          </a:p>
        </p:txBody>
      </p:sp>
    </p:spTree>
    <p:extLst>
      <p:ext uri="{BB962C8B-B14F-4D97-AF65-F5344CB8AC3E}">
        <p14:creationId xmlns:p14="http://schemas.microsoft.com/office/powerpoint/2010/main" val="261768142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358776" y="944167"/>
            <a:ext cx="8426450" cy="335637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2" name="Titel 1"/>
          <p:cNvSpPr>
            <a:spLocks noGrp="1"/>
          </p:cNvSpPr>
          <p:nvPr>
            <p:ph type="title"/>
          </p:nvPr>
        </p:nvSpPr>
        <p:spPr/>
        <p:txBody>
          <a:bodyPr/>
          <a:lstStyle/>
          <a:p>
            <a:r>
              <a:rPr lang="de-DE" noProof="0"/>
              <a:t>Titelmasterformat durch Klicken bearbeiten</a:t>
            </a:r>
            <a:endParaRPr lang="en-US" noProof="0"/>
          </a:p>
        </p:txBody>
      </p:sp>
    </p:spTree>
    <p:extLst>
      <p:ext uri="{BB962C8B-B14F-4D97-AF65-F5344CB8AC3E}">
        <p14:creationId xmlns:p14="http://schemas.microsoft.com/office/powerpoint/2010/main" val="1788750061"/>
      </p:ext>
    </p:extLst>
  </p:cSld>
  <p:clrMapOvr>
    <a:masterClrMapping/>
  </p:clrMapOvr>
  <p:transition spd="med">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GB" noProof="0"/>
              <a:t>Presentation title, date, author</a:t>
            </a:r>
          </a:p>
        </p:txBody>
      </p:sp>
    </p:spTree>
    <p:extLst>
      <p:ext uri="{BB962C8B-B14F-4D97-AF65-F5344CB8AC3E}">
        <p14:creationId xmlns:p14="http://schemas.microsoft.com/office/powerpoint/2010/main" val="271608114"/>
      </p:ext>
    </p:extLst>
  </p:cSld>
  <p:clrMapOvr>
    <a:masterClrMapping/>
  </p:clrMapOvr>
  <p:hf hdr="0" dt="0"/>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GB" noProof="0"/>
              <a:t>Presentation title, date, author</a:t>
            </a:r>
          </a:p>
        </p:txBody>
      </p:sp>
    </p:spTree>
    <p:extLst>
      <p:ext uri="{BB962C8B-B14F-4D97-AF65-F5344CB8AC3E}">
        <p14:creationId xmlns:p14="http://schemas.microsoft.com/office/powerpoint/2010/main" val="256889756"/>
      </p:ext>
    </p:extLst>
  </p:cSld>
  <p:clrMapOvr>
    <a:masterClrMapping/>
  </p:clrMapOvr>
  <p:hf hdr="0" dt="0"/>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GB" noProof="0"/>
              <a:t>Presentation title, date, author</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373363718"/>
      </p:ext>
    </p:extLst>
  </p:cSld>
  <p:clrMapOvr>
    <a:masterClrMapping/>
  </p:clrMapOvr>
  <p:hf hdr="0" dt="0"/>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GB" noProof="0"/>
              <a:t>Presentation title, date, author</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463313739"/>
      </p:ext>
    </p:extLst>
  </p:cSld>
  <p:clrMapOvr>
    <a:masterClrMapping/>
  </p:clrMapOvr>
  <p:hf hdr="0" dt="0"/>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GB" noProof="0"/>
              <a:t>Presentation title, date, author</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185282113"/>
      </p:ext>
    </p:extLst>
  </p:cSld>
  <p:clrMapOvr>
    <a:masterClrMapping/>
  </p:clrMapOvr>
  <p:hf hdr="0" dt="0"/>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993" indent="-269993">
              <a:spcBef>
                <a:spcPts val="1350"/>
              </a:spcBef>
              <a:buFont typeface="+mj-lt"/>
              <a:buAutoNum type="arabicPeriod"/>
              <a:defRPr sz="1500"/>
            </a:lvl1pPr>
            <a:lvl2pPr marL="404990" indent="-134997">
              <a:spcBef>
                <a:spcPts val="150"/>
              </a:spcBef>
              <a:spcAft>
                <a:spcPts val="150"/>
              </a:spcAft>
              <a:buFont typeface="Arial" panose="020B0604020202020204" pitchFamily="34" charset="0"/>
              <a:buChar char="•"/>
              <a:defRPr/>
            </a:lvl2pPr>
            <a:lvl3pPr marL="404990" indent="-134997">
              <a:spcBef>
                <a:spcPts val="150"/>
              </a:spcBef>
              <a:spcAft>
                <a:spcPts val="150"/>
              </a:spcAft>
              <a:buFont typeface="Arial" panose="020B0604020202020204" pitchFamily="34" charset="0"/>
              <a:buChar char="•"/>
              <a:defRPr/>
            </a:lvl3pPr>
            <a:lvl4pPr marL="404990" indent="-134997">
              <a:spcBef>
                <a:spcPts val="150"/>
              </a:spcBef>
              <a:spcAft>
                <a:spcPts val="150"/>
              </a:spcAft>
              <a:buFont typeface="Arial" panose="020B0604020202020204" pitchFamily="34" charset="0"/>
              <a:buChar char="•"/>
              <a:defRPr/>
            </a:lvl4pPr>
            <a:lvl5pPr marL="404990" indent="-134997">
              <a:spcBef>
                <a:spcPts val="150"/>
              </a:spcBef>
              <a:spcAft>
                <a:spcPts val="150"/>
              </a:spcAft>
              <a:buFont typeface="Arial" panose="020B0604020202020204" pitchFamily="34" charset="0"/>
              <a:buChar char="•"/>
              <a:defRPr sz="1200"/>
            </a:lvl5pPr>
            <a:lvl6pPr marL="404990" indent="-134997">
              <a:spcBef>
                <a:spcPts val="150"/>
              </a:spcBef>
              <a:spcAft>
                <a:spcPts val="150"/>
              </a:spcAft>
              <a:buFont typeface="Arial" panose="020B0604020202020204" pitchFamily="34" charset="0"/>
              <a:buChar char="•"/>
              <a:defRPr sz="1200"/>
            </a:lvl6pPr>
            <a:lvl7pPr marL="404990" indent="-134997">
              <a:spcBef>
                <a:spcPts val="150"/>
              </a:spcBef>
              <a:spcAft>
                <a:spcPts val="150"/>
              </a:spcAft>
              <a:buFont typeface="Arial" panose="020B0604020202020204" pitchFamily="34" charset="0"/>
              <a:buChar char="•"/>
              <a:defRPr sz="1200"/>
            </a:lvl7pPr>
            <a:lvl8pPr marL="404990" indent="-134997">
              <a:spcBef>
                <a:spcPts val="150"/>
              </a:spcBef>
              <a:spcAft>
                <a:spcPts val="150"/>
              </a:spcAft>
              <a:buFont typeface="Arial" panose="020B0604020202020204" pitchFamily="34" charset="0"/>
              <a:buChar char="•"/>
              <a:defRPr sz="1200"/>
            </a:lvl8pPr>
            <a:lvl9pPr marL="404990" indent="-134997">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GB" noProof="0"/>
              <a:t>Presentation title, date, author</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143B55C4-4F5A-416B-997D-6CE47EB0A945}" type="slidenum">
              <a:rPr lang="en-GB" noProof="0" smtClean="0"/>
              <a:pPr/>
              <a:t>‹#›</a:t>
            </a:fld>
            <a:endParaRPr lang="en-GB" noProof="0"/>
          </a:p>
        </p:txBody>
      </p:sp>
    </p:spTree>
    <p:extLst>
      <p:ext uri="{BB962C8B-B14F-4D97-AF65-F5344CB8AC3E}">
        <p14:creationId xmlns:p14="http://schemas.microsoft.com/office/powerpoint/2010/main" val="859718063"/>
      </p:ext>
    </p:extLst>
  </p:cSld>
  <p:clrMapOvr>
    <a:masterClrMapping/>
  </p:clrMapOvr>
  <p:hf hd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GB" noProof="0"/>
              <a:t>Presentation title, date, author</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Times New Roman" panose="02020603050405020304" pitchFamily="18" charset="0"/>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098601808"/>
      </p:ext>
    </p:extLst>
  </p:cSld>
  <p:clrMapOvr>
    <a:masterClrMapping/>
  </p:clrMapOvr>
  <p:hf hdr="0" dt="0"/>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143B55C4-4F5A-416B-997D-6CE47EB0A945}" type="slidenum">
              <a:rPr lang="en-GB" noProof="0" smtClean="0"/>
              <a:pPr/>
              <a:t>‹#›</a:t>
            </a:fld>
            <a:endParaRPr lang="en-GB" noProof="0"/>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GB" noProof="0"/>
              <a:t>Presentation title, date, author</a:t>
            </a:r>
          </a:p>
        </p:txBody>
      </p:sp>
    </p:spTree>
    <p:extLst>
      <p:ext uri="{BB962C8B-B14F-4D97-AF65-F5344CB8AC3E}">
        <p14:creationId xmlns:p14="http://schemas.microsoft.com/office/powerpoint/2010/main" val="3490472373"/>
      </p:ext>
    </p:extLst>
  </p:cSld>
  <p:clrMapOvr>
    <a:masterClrMapping/>
  </p:clrMapOvr>
  <p:hf hdr="0" dt="0"/>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GB" noProof="0"/>
              <a:t>Presentation title, date, author</a:t>
            </a:r>
          </a:p>
        </p:txBody>
      </p:sp>
    </p:spTree>
    <p:extLst>
      <p:ext uri="{BB962C8B-B14F-4D97-AF65-F5344CB8AC3E}">
        <p14:creationId xmlns:p14="http://schemas.microsoft.com/office/powerpoint/2010/main" val="3016620632"/>
      </p:ext>
    </p:extLst>
  </p:cSld>
  <p:clrMapOvr>
    <a:masterClrMapping/>
  </p:clrMapOvr>
  <p:hf hdr="0" dt="0"/>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GB" noProof="0"/>
              <a:t>Presentation title, date, author</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497366685"/>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GB" noProof="0"/>
              <a:t>Presentation title, date, author</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143B55C4-4F5A-416B-997D-6CE47EB0A945}" type="slidenum">
              <a:rPr lang="en-GB" noProof="0" smtClean="0"/>
              <a:pPr/>
              <a:t>‹#›</a:t>
            </a:fld>
            <a:endParaRPr lang="en-GB" noProof="0"/>
          </a:p>
        </p:txBody>
      </p:sp>
    </p:spTree>
    <p:extLst>
      <p:ext uri="{BB962C8B-B14F-4D97-AF65-F5344CB8AC3E}">
        <p14:creationId xmlns:p14="http://schemas.microsoft.com/office/powerpoint/2010/main" val="3809372668"/>
      </p:ext>
    </p:extLst>
  </p:cSld>
  <p:clrMapOvr>
    <a:masterClrMapping/>
  </p:clrMapOvr>
  <p:hf hd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GB" noProof="0"/>
              <a:t>Presentation title, date, author</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626109176"/>
      </p:ext>
    </p:extLst>
  </p:cSld>
  <p:clrMapOvr>
    <a:masterClrMapping/>
  </p:clrMapOvr>
  <p:hf hd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GB" noProof="0"/>
              <a:t>Presentation title, date, author</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143B55C4-4F5A-416B-997D-6CE47EB0A945}" type="slidenum">
              <a:rPr lang="en-GB" noProof="0" smtClean="0"/>
              <a:pPr/>
              <a:t>‹#›</a:t>
            </a:fld>
            <a:endParaRPr lang="en-GB" noProof="0"/>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4149285494"/>
      </p:ext>
    </p:extLst>
  </p:cSld>
  <p:clrMapOvr>
    <a:masterClrMapping/>
  </p:clrMapOvr>
  <p:hf hdr="0" dt="0"/>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143B55C4-4F5A-416B-997D-6CE47EB0A945}" type="slidenum">
              <a:rPr lang="en-GB" noProof="0" smtClean="0"/>
              <a:pPr/>
              <a:t>‹#›</a:t>
            </a:fld>
            <a:endParaRPr lang="en-GB" noProof="0"/>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GB" noProof="0"/>
              <a:t>Presentation title, date, author</a:t>
            </a:r>
          </a:p>
        </p:txBody>
      </p:sp>
      <p:sp>
        <p:nvSpPr>
          <p:cNvPr id="6" name="Arrow: Pentagon 5">
            <a:extLst>
              <a:ext uri="{FF2B5EF4-FFF2-40B4-BE49-F238E27FC236}">
                <a16:creationId xmlns:a16="http://schemas.microsoft.com/office/drawing/2014/main" id="{D538B7FC-6B3A-8F3A-BBDC-1EEFED308F78}"/>
              </a:ext>
            </a:extLst>
          </p:cNvPr>
          <p:cNvSpPr/>
          <p:nvPr/>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title first line, classification second line</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3590162429"/>
      </p:ext>
    </p:extLst>
  </p:cSld>
  <p:clrMapOvr>
    <a:masterClrMapping/>
  </p:clrMapOvr>
  <p:hf hdr="0" dt="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GB" noProof="0"/>
              <a:t>Presentation title, date, author</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143B55C4-4F5A-416B-997D-6CE47EB0A945}" type="slidenum">
              <a:rPr lang="en-GB" noProof="0" smtClean="0"/>
              <a:pPr/>
              <a:t>‹#›</a:t>
            </a:fld>
            <a:endParaRPr lang="en-GB" noProof="0"/>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917099441"/>
      </p:ext>
    </p:extLst>
  </p:cSld>
  <p:clrMapOvr>
    <a:masterClrMapping/>
  </p:clrMapOvr>
  <p:hf hdr="0" dt="0"/>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Times New Roman" panose="02020603050405020304" pitchFamily="18" charset="0"/>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GB" noProof="0"/>
              <a:t>Presentation title, date, author</a:t>
            </a:r>
          </a:p>
        </p:txBody>
      </p:sp>
      <p:sp>
        <p:nvSpPr>
          <p:cNvPr id="7" name="Arrow: Pentagon 6">
            <a:extLst>
              <a:ext uri="{FF2B5EF4-FFF2-40B4-BE49-F238E27FC236}">
                <a16:creationId xmlns:a16="http://schemas.microsoft.com/office/drawing/2014/main" id="{1C2F19D9-5B8F-D889-26A0-5956F75299B0}"/>
              </a:ext>
            </a:extLst>
          </p:cNvPr>
          <p:cNvSpPr/>
          <p:nvPr/>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title first line, classification second line</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4292785461"/>
      </p:ext>
    </p:extLst>
  </p:cSld>
  <p:clrMapOvr>
    <a:masterClrMapping/>
  </p:clrMapOvr>
  <p:hf hdr="0" dt="0"/>
  <p:extLst>
    <p:ext uri="{DCECCB84-F9BA-43D5-87BE-67443E8EF086}">
      <p15:sldGuideLst xmlns:p15="http://schemas.microsoft.com/office/powerpoint/2012/main">
        <p15:guide id="2" pos="495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noProof="0" smtClean="0"/>
              <a:pPr/>
              <a:t>‹#›</a:t>
            </a:fld>
            <a:endParaRPr lang="en-GB" noProof="0"/>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GB" noProof="0"/>
              <a:t>Presentation title, date, author</a:t>
            </a:r>
          </a:p>
        </p:txBody>
      </p:sp>
    </p:spTree>
    <p:extLst>
      <p:ext uri="{BB962C8B-B14F-4D97-AF65-F5344CB8AC3E}">
        <p14:creationId xmlns:p14="http://schemas.microsoft.com/office/powerpoint/2010/main" val="3553502677"/>
      </p:ext>
    </p:extLst>
  </p:cSld>
  <p:clrMapOvr>
    <a:masterClrMapping/>
  </p:clrMapOvr>
  <p:hf hdr="0" dt="0"/>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noProof="0" smtClean="0"/>
              <a:pPr/>
              <a:t>‹#›</a:t>
            </a:fld>
            <a:endParaRPr lang="en-GB" noProof="0"/>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GB" noProof="0"/>
              <a:t>Presentation title, date, author</a:t>
            </a:r>
          </a:p>
        </p:txBody>
      </p:sp>
    </p:spTree>
    <p:extLst>
      <p:ext uri="{BB962C8B-B14F-4D97-AF65-F5344CB8AC3E}">
        <p14:creationId xmlns:p14="http://schemas.microsoft.com/office/powerpoint/2010/main" val="4253326017"/>
      </p:ext>
    </p:extLst>
  </p:cSld>
  <p:clrMapOvr>
    <a:masterClrMapping/>
  </p:clrMapOvr>
  <p:hf hdr="0" dt="0"/>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noProof="0" smtClean="0"/>
              <a:pPr/>
              <a:t>‹#›</a:t>
            </a:fld>
            <a:endParaRPr lang="en-GB" noProof="0"/>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GB" noProof="0"/>
              <a:t>Presentation title, date, author</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026682294"/>
      </p:ext>
    </p:extLst>
  </p:cSld>
  <p:clrMapOvr>
    <a:masterClrMapping/>
  </p:clrMapOvr>
  <p:hf hdr="0" dt="0"/>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GB" noProof="0"/>
              <a:t>Presentation title, date, author</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823194182"/>
      </p:ext>
    </p:extLst>
  </p:cSld>
  <p:clrMapOvr>
    <a:masterClrMapping/>
  </p:clrMapOvr>
  <p:hf hdr="0" dt="0"/>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GB" noProof="0"/>
              <a:t>Presentation title, date, author</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556365001"/>
      </p:ext>
    </p:extLst>
  </p:cSld>
  <p:clrMapOvr>
    <a:masterClrMapping/>
  </p:clrMapOvr>
  <p:hf hdr="0" dt="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GB" noProof="0"/>
              <a:t>Presentation title, date, author</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143B55C4-4F5A-416B-997D-6CE47EB0A945}" type="slidenum">
              <a:rPr lang="en-GB" noProof="0" smtClean="0"/>
              <a:pPr/>
              <a:t>‹#›</a:t>
            </a:fld>
            <a:endParaRPr lang="en-GB" noProof="0"/>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776250374"/>
      </p:ext>
    </p:extLst>
  </p:cSld>
  <p:clrMapOvr>
    <a:masterClrMapping/>
  </p:clrMapOvr>
  <p:hf hdr="0" dt="0"/>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GB" noProof="0"/>
              <a:t>Presentation title, date, author</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875996589"/>
      </p:ext>
    </p:extLst>
  </p:cSld>
  <p:clrMapOvr>
    <a:masterClrMapping/>
  </p:clrMapOvr>
  <p:hf hdr="0" dt="0"/>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GB" noProof="0"/>
              <a:t>Presentation title, date, author</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634779329"/>
      </p:ext>
    </p:extLst>
  </p:cSld>
  <p:clrMapOvr>
    <a:masterClrMapping/>
  </p:clrMapOvr>
  <p:hf hdr="0" dt="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GB" noProof="0"/>
              <a:t>Presentation title, date, author</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53324878"/>
      </p:ext>
    </p:extLst>
  </p:cSld>
  <p:clrMapOvr>
    <a:masterClrMapping/>
  </p:clrMapOvr>
  <p:hf hdr="0" dt="0"/>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Times New Roman" panose="02020603050405020304" pitchFamily="18" charset="0"/>
              </a:defRPr>
            </a:lvl1pPr>
            <a:lvl2pPr marL="0" indent="0">
              <a:lnSpc>
                <a:spcPct val="120000"/>
              </a:lnSpc>
              <a:spcAft>
                <a:spcPts val="0"/>
              </a:spcAft>
              <a:buNone/>
              <a:defRPr sz="3000" b="1">
                <a:solidFill>
                  <a:schemeClr val="tx2"/>
                </a:solidFill>
                <a:latin typeface="Times New Roman" panose="02020603050405020304" pitchFamily="18" charset="0"/>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GB" noProof="0"/>
              <a:t>Presentation title, date, author</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
        <p:nvSpPr>
          <p:cNvPr id="3" name="Arrow: Pentagon 6">
            <a:extLst>
              <a:ext uri="{FF2B5EF4-FFF2-40B4-BE49-F238E27FC236}">
                <a16:creationId xmlns:a16="http://schemas.microsoft.com/office/drawing/2014/main" id="{1F1671DA-AF66-65E8-3B46-9A2A1A7C1B92}"/>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requires a picture in the background</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565324508"/>
      </p:ext>
    </p:extLst>
  </p:cSld>
  <p:clrMapOvr>
    <a:masterClrMapping/>
  </p:clrMapOvr>
  <p:hf hdr="0" dt="0"/>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Times New Roman" panose="02020603050405020304" pitchFamily="18" charset="0"/>
              </a:defRPr>
            </a:lvl1pPr>
            <a:lvl2pPr marL="0" indent="0">
              <a:lnSpc>
                <a:spcPct val="120000"/>
              </a:lnSpc>
              <a:spcAft>
                <a:spcPts val="0"/>
              </a:spcAft>
              <a:buNone/>
              <a:defRPr sz="2400" b="1">
                <a:solidFill>
                  <a:schemeClr val="tx2"/>
                </a:solidFill>
                <a:latin typeface="Times New Roman" panose="02020603050405020304" pitchFamily="18" charset="0"/>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GB" noProof="0"/>
              <a:t>Presentation title, date, author</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
        <p:nvSpPr>
          <p:cNvPr id="3" name="Arrow: Pentagon 6">
            <a:extLst>
              <a:ext uri="{FF2B5EF4-FFF2-40B4-BE49-F238E27FC236}">
                <a16:creationId xmlns:a16="http://schemas.microsoft.com/office/drawing/2014/main" id="{10626C63-9EC1-F170-9293-A76090726AF6}"/>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requires two pictures in the background</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2810630900"/>
      </p:ext>
    </p:extLst>
  </p:cSld>
  <p:clrMapOvr>
    <a:masterClrMapping/>
  </p:clrMapOvr>
  <p:hf hdr="0" dt="0"/>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Times New Roman" panose="02020603050405020304" pitchFamily="18" charset="0"/>
              </a:defRPr>
            </a:lvl1pPr>
            <a:lvl2pPr marL="0" indent="0">
              <a:lnSpc>
                <a:spcPct val="120000"/>
              </a:lnSpc>
              <a:spcAft>
                <a:spcPts val="0"/>
              </a:spcAft>
              <a:buNone/>
              <a:defRPr sz="2400" b="1">
                <a:solidFill>
                  <a:schemeClr val="tx2"/>
                </a:solidFill>
                <a:latin typeface="Times New Roman" panose="02020603050405020304" pitchFamily="18" charset="0"/>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GB" noProof="0"/>
              <a:t>Presentation title, date, author</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
        <p:nvSpPr>
          <p:cNvPr id="5" name="Arrow: Pentagon 6">
            <a:extLst>
              <a:ext uri="{FF2B5EF4-FFF2-40B4-BE49-F238E27FC236}">
                <a16:creationId xmlns:a16="http://schemas.microsoft.com/office/drawing/2014/main" id="{0DBDA80F-0715-C37D-E631-65B9559D2BA3}"/>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requires two pictures in the background</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3543378909"/>
      </p:ext>
    </p:extLst>
  </p:cSld>
  <p:clrMapOvr>
    <a:masterClrMapping/>
  </p:clrMapOvr>
  <p:hf hdr="0" dt="0"/>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Times New Roman" panose="02020603050405020304" pitchFamily="18" charset="0"/>
              </a:defRPr>
            </a:lvl1pPr>
            <a:lvl2pPr marL="0" indent="0">
              <a:lnSpc>
                <a:spcPct val="120000"/>
              </a:lnSpc>
              <a:spcAft>
                <a:spcPts val="0"/>
              </a:spcAft>
              <a:buNone/>
              <a:defRPr sz="2400" b="1">
                <a:solidFill>
                  <a:schemeClr val="tx2"/>
                </a:solidFill>
                <a:latin typeface="Times New Roman" panose="02020603050405020304" pitchFamily="18" charset="0"/>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GB" noProof="0"/>
              <a:t>Presentation title, date, author</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
        <p:nvSpPr>
          <p:cNvPr id="5" name="Arrow: Pentagon 6">
            <a:extLst>
              <a:ext uri="{FF2B5EF4-FFF2-40B4-BE49-F238E27FC236}">
                <a16:creationId xmlns:a16="http://schemas.microsoft.com/office/drawing/2014/main" id="{E400A93E-ECB0-FAFD-59FC-294C05F64D5E}"/>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Times New Roman" panose="02020603050405020304" pitchFamily="18" charset="0"/>
              </a:rPr>
              <a:t>This layout requires two pictures in the background</a:t>
            </a:r>
            <a:endParaRPr lang="en-US" sz="6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2079326751"/>
      </p:ext>
    </p:extLst>
  </p:cSld>
  <p:clrMapOvr>
    <a:masterClrMapping/>
  </p:clrMapOvr>
  <p:hf hdr="0" dt="0"/>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GB" noProof="0"/>
              <a:t>Presentation title, date, author</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143B55C4-4F5A-416B-997D-6CE47EB0A945}" type="slidenum">
              <a:rPr lang="en-GB" noProof="0" smtClean="0"/>
              <a:pPr/>
              <a:t>‹#›</a:t>
            </a:fld>
            <a:endParaRPr lang="en-GB" noProof="0"/>
          </a:p>
        </p:txBody>
      </p:sp>
    </p:spTree>
    <p:extLst>
      <p:ext uri="{BB962C8B-B14F-4D97-AF65-F5344CB8AC3E}">
        <p14:creationId xmlns:p14="http://schemas.microsoft.com/office/powerpoint/2010/main" val="1114239632"/>
      </p:ext>
    </p:extLst>
  </p:cSld>
  <p:clrMapOvr>
    <a:masterClrMapping/>
  </p:clrMapOvr>
  <p:hf hd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GB" noProof="0"/>
              <a:t>Presentation title, date, author</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143B55C4-4F5A-416B-997D-6CE47EB0A945}" type="slidenum">
              <a:rPr lang="en-GB" noProof="0" smtClean="0"/>
              <a:pPr/>
              <a:t>‹#›</a:t>
            </a:fld>
            <a:endParaRPr lang="en-GB" noProof="0"/>
          </a:p>
        </p:txBody>
      </p:sp>
    </p:spTree>
    <p:extLst>
      <p:ext uri="{BB962C8B-B14F-4D97-AF65-F5344CB8AC3E}">
        <p14:creationId xmlns:p14="http://schemas.microsoft.com/office/powerpoint/2010/main" val="3352053557"/>
      </p:ext>
    </p:extLst>
  </p:cSld>
  <p:clrMapOvr>
    <a:masterClrMapping/>
  </p:clrMapOvr>
  <p:hf hd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GB" noProof="0"/>
              <a:t>Presentation title, date, author</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143B55C4-4F5A-416B-997D-6CE47EB0A945}" type="slidenum">
              <a:rPr lang="en-GB" noProof="0" smtClean="0"/>
              <a:pPr/>
              <a:t>‹#›</a:t>
            </a:fld>
            <a:endParaRPr lang="en-GB" noProof="0"/>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Times New Roman" panose="02020603050405020304" pitchFamily="18" charset="0"/>
                </a:rPr>
                <a:t>To insert a picture:</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Open the menu “Insert”</a:t>
              </a:r>
            </a:p>
            <a:p>
              <a:pPr marL="107997" indent="-107997">
                <a:lnSpc>
                  <a:spcPct val="120000"/>
                </a:lnSpc>
                <a:spcAft>
                  <a:spcPts val="450"/>
                </a:spcAft>
                <a:buFont typeface="+mj-lt"/>
                <a:buAutoNum type="arabicPeriod"/>
              </a:pPr>
              <a:r>
                <a:rPr lang="en-US" sz="675">
                  <a:solidFill>
                    <a:schemeClr val="tx1"/>
                  </a:solidFill>
                  <a:effectLst/>
                  <a:latin typeface="Times New Roman" panose="02020603050405020304" pitchFamily="18" charset="0"/>
                </a:rPr>
                <a:t>Choose “Pictures” and then the corresponding source where the image is located</a:t>
              </a:r>
              <a:endParaRPr lang="en-US" sz="675">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Times New Roman" panose="02020603050405020304" pitchFamily="18" charset="0"/>
                </a:rPr>
                <a:t>Now the image has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been loaded into the </a:t>
              </a:r>
              <a:br>
                <a:rPr lang="en-US" sz="675">
                  <a:solidFill>
                    <a:schemeClr val="tx1"/>
                  </a:solidFill>
                  <a:effectLst/>
                  <a:latin typeface="Times New Roman" panose="02020603050405020304" pitchFamily="18" charset="0"/>
                </a:rPr>
              </a:br>
              <a:r>
                <a:rPr lang="en-US" sz="675">
                  <a:solidFill>
                    <a:schemeClr val="tx1"/>
                  </a:solidFill>
                  <a:effectLst/>
                  <a:latin typeface="Times New Roman" panose="02020603050405020304" pitchFamily="18" charset="0"/>
                </a:rPr>
                <a:t>placeholder.</a:t>
              </a:r>
              <a:endParaRPr lang="en-US" sz="675">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2873869549"/>
      </p:ext>
    </p:extLst>
  </p:cSld>
  <p:clrMapOvr>
    <a:masterClrMapping/>
  </p:clrMapOvr>
  <p:hf hdr="0" dt="0"/>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GB" noProof="0"/>
              <a:t>Presentation title, date, author</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143B55C4-4F5A-416B-997D-6CE47EB0A945}" type="slidenum">
              <a:rPr lang="en-GB" noProof="0" smtClean="0"/>
              <a:pPr/>
              <a:t>‹#›</a:t>
            </a:fld>
            <a:endParaRPr lang="en-GB" noProof="0"/>
          </a:p>
        </p:txBody>
      </p:sp>
      <p:sp>
        <p:nvSpPr>
          <p:cNvPr id="2" name="Rechteck 1">
            <a:extLst>
              <a:ext uri="{FF2B5EF4-FFF2-40B4-BE49-F238E27FC236}">
                <a16:creationId xmlns:a16="http://schemas.microsoft.com/office/drawing/2014/main" id="{3341D3C2-8E8C-C888-7E53-E3465CB0DDEB}"/>
              </a:ext>
            </a:extLst>
          </p:cNvPr>
          <p:cNvSpPr/>
          <p:nvPr/>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Times New Roman" panose="02020603050405020304" pitchFamily="18" charset="0"/>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p:nvSpPr>
        <p:spPr bwMode="gray">
          <a:xfrm>
            <a:off x="359570"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latin typeface="Times New Roman" panose="02020603050405020304" pitchFamily="18" charset="0"/>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p:nvSpPr>
        <p:spPr bwMode="gray">
          <a:xfrm>
            <a:off x="356627" y="4272940"/>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latin typeface="Times New Roman" panose="02020603050405020304" pitchFamily="18" charset="0"/>
              </a:rPr>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p:nvSpPr>
        <p:spPr bwMode="gray">
          <a:xfrm>
            <a:off x="356629"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latin typeface="Times New Roman" panose="02020603050405020304" pitchFamily="18" charset="0"/>
              </a:rPr>
              <a:t>© </a:t>
            </a:r>
            <a:fld id="{2F99CDBD-C73A-474F-91D2-EC8081FF32A1}" type="datetimeyyyy">
              <a:rPr lang="en-US" sz="675" smtClean="0">
                <a:latin typeface="Times New Roman" panose="02020603050405020304" pitchFamily="18" charset="0"/>
              </a:rPr>
              <a:pPr marL="0" indent="0" algn="l">
                <a:buFont typeface="Arial" panose="020B0604020202020204" pitchFamily="34" charset="0"/>
                <a:buNone/>
              </a:pPr>
              <a:t>2026</a:t>
            </a:fld>
            <a:r>
              <a:rPr lang="en-US" sz="675">
                <a:latin typeface="Times New Roman" panose="02020603050405020304" pitchFamily="18" charset="0"/>
              </a:rPr>
              <a:t> Boehringer Ingelheim International GmbH. All rights reserved.</a:t>
            </a:r>
          </a:p>
        </p:txBody>
      </p:sp>
    </p:spTree>
    <p:extLst>
      <p:ext uri="{BB962C8B-B14F-4D97-AF65-F5344CB8AC3E}">
        <p14:creationId xmlns:p14="http://schemas.microsoft.com/office/powerpoint/2010/main" val="118640269"/>
      </p:ext>
    </p:extLst>
  </p:cSld>
  <p:clrMapOvr>
    <a:masterClrMapping/>
  </p:clrMapOvr>
  <p:hf hdr="0" dt="0"/>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with leading picture">
    <p:bg>
      <p:bgPr>
        <a:solidFill>
          <a:schemeClr val="tx1"/>
        </a:solidFill>
        <a:effectLst/>
      </p:bgPr>
    </p:bg>
    <p:spTree>
      <p:nvGrpSpPr>
        <p:cNvPr id="1" name=""/>
        <p:cNvGrpSpPr/>
        <p:nvPr/>
      </p:nvGrpSpPr>
      <p:grpSpPr>
        <a:xfrm>
          <a:off x="0" y="0"/>
          <a:ext cx="0" cy="0"/>
          <a:chOff x="0" y="0"/>
          <a:chExt cx="0" cy="0"/>
        </a:xfrm>
      </p:grpSpPr>
      <p:pic>
        <p:nvPicPr>
          <p:cNvPr id="5" name="Picture 10" descr="BI-Logo_36pt_blue_n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6738057" y="4452940"/>
            <a:ext cx="2159000"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8"/>
          <p:cNvSpPr>
            <a:spLocks noChangeArrowheads="1"/>
          </p:cNvSpPr>
          <p:nvPr/>
        </p:nvSpPr>
        <p:spPr bwMode="auto">
          <a:xfrm>
            <a:off x="0" y="1339454"/>
            <a:ext cx="9144000" cy="1875234"/>
          </a:xfrm>
          <a:prstGeom prst="rect">
            <a:avLst/>
          </a:prstGeom>
          <a:solidFill>
            <a:schemeClr val="accent4"/>
          </a:solidFill>
          <a:ln w="12700">
            <a:noFill/>
            <a:miter lim="800000"/>
            <a:headEnd/>
            <a:tailEnd/>
          </a:ln>
          <a:effectLst/>
        </p:spPr>
        <p:txBody>
          <a:bodyPr wrap="none" anchor="ctr"/>
          <a:lstStyle/>
          <a:p>
            <a:pPr>
              <a:defRPr/>
            </a:pPr>
            <a:endParaRPr lang="en-GB" sz="1350">
              <a:solidFill>
                <a:srgbClr val="003366"/>
              </a:solidFill>
              <a:latin typeface="Times New Roman" panose="02020603050405020304" pitchFamily="18" charset="0"/>
              <a:ea typeface="平成明朝" charset="-128"/>
            </a:endParaRPr>
          </a:p>
        </p:txBody>
      </p:sp>
      <p:grpSp>
        <p:nvGrpSpPr>
          <p:cNvPr id="7" name="Group 8"/>
          <p:cNvGrpSpPr>
            <a:grpSpLocks/>
          </p:cNvGrpSpPr>
          <p:nvPr/>
        </p:nvGrpSpPr>
        <p:grpSpPr bwMode="auto">
          <a:xfrm>
            <a:off x="0" y="0"/>
            <a:ext cx="9144000" cy="5143500"/>
            <a:chOff x="0" y="0"/>
            <a:chExt cx="5760" cy="4320"/>
          </a:xfrm>
        </p:grpSpPr>
        <p:sp>
          <p:nvSpPr>
            <p:cNvPr id="8" name="Line 9"/>
            <p:cNvSpPr>
              <a:spLocks noChangeShapeType="1"/>
            </p:cNvSpPr>
            <p:nvPr/>
          </p:nvSpPr>
          <p:spPr bwMode="auto">
            <a:xfrm flipH="1">
              <a:off x="0" y="3978"/>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9" name="Line 10"/>
            <p:cNvSpPr>
              <a:spLocks noChangeShapeType="1"/>
            </p:cNvSpPr>
            <p:nvPr/>
          </p:nvSpPr>
          <p:spPr bwMode="auto">
            <a:xfrm>
              <a:off x="22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0" name="Line 11"/>
            <p:cNvSpPr>
              <a:spLocks noChangeShapeType="1"/>
            </p:cNvSpPr>
            <p:nvPr/>
          </p:nvSpPr>
          <p:spPr bwMode="auto">
            <a:xfrm>
              <a:off x="5538"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1" name="Line 12"/>
            <p:cNvSpPr>
              <a:spLocks noChangeShapeType="1"/>
            </p:cNvSpPr>
            <p:nvPr/>
          </p:nvSpPr>
          <p:spPr bwMode="auto">
            <a:xfrm flipH="1">
              <a:off x="0" y="874"/>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grpSp>
      <p:sp>
        <p:nvSpPr>
          <p:cNvPr id="12" name="Rectangle 4"/>
          <p:cNvSpPr>
            <a:spLocks noGrp="1" noChangeArrowheads="1"/>
          </p:cNvSpPr>
          <p:nvPr>
            <p:ph type="subTitle" idx="1"/>
          </p:nvPr>
        </p:nvSpPr>
        <p:spPr bwMode="white">
          <a:xfrm>
            <a:off x="3571869" y="2143125"/>
            <a:ext cx="4786346" cy="236940"/>
          </a:xfrm>
        </p:spPr>
        <p:txBody>
          <a:bodyPr>
            <a:spAutoFit/>
          </a:bodyPr>
          <a:lstStyle>
            <a:lvl1pPr>
              <a:spcBef>
                <a:spcPct val="0"/>
              </a:spcBef>
              <a:defRPr>
                <a:solidFill>
                  <a:schemeClr val="bg1"/>
                </a:solidFill>
                <a:sym typeface="Symbol" pitchFamily="18" charset="2"/>
              </a:defRPr>
            </a:lvl1pPr>
          </a:lstStyle>
          <a:p>
            <a:r>
              <a:rPr lang="de-DE" noProof="0">
                <a:sym typeface="Symbol" pitchFamily="18" charset="2"/>
              </a:rPr>
              <a:t>Formatvorlage des Untertitelmasters durch Klicken bearbeiten</a:t>
            </a:r>
            <a:endParaRPr lang="en-GB" noProof="0">
              <a:sym typeface="Symbol" pitchFamily="18" charset="2"/>
            </a:endParaRPr>
          </a:p>
        </p:txBody>
      </p:sp>
      <p:sp>
        <p:nvSpPr>
          <p:cNvPr id="13" name="Rectangle 5"/>
          <p:cNvSpPr>
            <a:spLocks noGrp="1" noChangeArrowheads="1"/>
          </p:cNvSpPr>
          <p:nvPr>
            <p:ph type="ctrTitle"/>
          </p:nvPr>
        </p:nvSpPr>
        <p:spPr>
          <a:xfrm>
            <a:off x="3571869" y="1393025"/>
            <a:ext cx="4714908" cy="646331"/>
          </a:xfrm>
          <a:noFill/>
        </p:spPr>
        <p:txBody>
          <a:bodyPr anchor="b">
            <a:spAutoFit/>
          </a:bodyPr>
          <a:lstStyle>
            <a:lvl1pPr>
              <a:defRPr sz="2100"/>
            </a:lvl1pPr>
          </a:lstStyle>
          <a:p>
            <a:r>
              <a:rPr lang="de-DE" noProof="0"/>
              <a:t>Titelmasterformat durch Klicken bearbeiten</a:t>
            </a:r>
            <a:endParaRPr lang="en-GB" noProof="0"/>
          </a:p>
        </p:txBody>
      </p:sp>
      <p:sp>
        <p:nvSpPr>
          <p:cNvPr id="15" name="Bildplatzhalter 14"/>
          <p:cNvSpPr>
            <a:spLocks noGrp="1"/>
          </p:cNvSpPr>
          <p:nvPr>
            <p:ph type="pic" sz="quarter" idx="10"/>
          </p:nvPr>
        </p:nvSpPr>
        <p:spPr>
          <a:xfrm>
            <a:off x="1" y="1339445"/>
            <a:ext cx="3143240" cy="1875243"/>
          </a:xfrm>
        </p:spPr>
        <p:txBody>
          <a:bodyPr/>
          <a:lstStyle/>
          <a:p>
            <a:pPr lvl="0"/>
            <a:r>
              <a:rPr lang="de-DE" noProof="0"/>
              <a:t>Bild durch Klicken auf Symbol hinzufügen</a:t>
            </a:r>
            <a:endParaRPr lang="en-GB" noProof="0"/>
          </a:p>
        </p:txBody>
      </p:sp>
    </p:spTree>
    <p:extLst>
      <p:ext uri="{BB962C8B-B14F-4D97-AF65-F5344CB8AC3E}">
        <p14:creationId xmlns:p14="http://schemas.microsoft.com/office/powerpoint/2010/main" val="333734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le with leading color and picture">
    <p:bg>
      <p:bgPr>
        <a:solidFill>
          <a:schemeClr val="tx1"/>
        </a:solidFill>
        <a:effectLst/>
      </p:bgPr>
    </p:bg>
    <p:spTree>
      <p:nvGrpSpPr>
        <p:cNvPr id="1" name=""/>
        <p:cNvGrpSpPr/>
        <p:nvPr/>
      </p:nvGrpSpPr>
      <p:grpSpPr>
        <a:xfrm>
          <a:off x="0" y="0"/>
          <a:ext cx="0" cy="0"/>
          <a:chOff x="0" y="0"/>
          <a:chExt cx="0" cy="0"/>
        </a:xfrm>
      </p:grpSpPr>
      <p:pic>
        <p:nvPicPr>
          <p:cNvPr id="5" name="Picture 10" descr="BI-Logo_36pt_blue_n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6738057" y="4452940"/>
            <a:ext cx="2159000"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8"/>
          <p:cNvSpPr>
            <a:spLocks noChangeArrowheads="1"/>
          </p:cNvSpPr>
          <p:nvPr/>
        </p:nvSpPr>
        <p:spPr bwMode="auto">
          <a:xfrm>
            <a:off x="0" y="964409"/>
            <a:ext cx="9144000" cy="3107531"/>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fontAlgn="base">
              <a:spcBef>
                <a:spcPct val="0"/>
              </a:spcBef>
              <a:spcAft>
                <a:spcPct val="0"/>
              </a:spcAft>
            </a:pPr>
            <a:endParaRPr lang="en-GB" altLang="zh-TW" sz="1350">
              <a:solidFill>
                <a:srgbClr val="003366"/>
              </a:solidFill>
              <a:latin typeface="Times New Roman" panose="02020603050405020304" pitchFamily="18" charset="0"/>
              <a:ea typeface="平成明朝" charset="-128"/>
            </a:endParaRPr>
          </a:p>
        </p:txBody>
      </p:sp>
      <p:grpSp>
        <p:nvGrpSpPr>
          <p:cNvPr id="7" name="Group 8"/>
          <p:cNvGrpSpPr>
            <a:grpSpLocks/>
          </p:cNvGrpSpPr>
          <p:nvPr/>
        </p:nvGrpSpPr>
        <p:grpSpPr bwMode="auto">
          <a:xfrm>
            <a:off x="0" y="0"/>
            <a:ext cx="9144000" cy="5143500"/>
            <a:chOff x="0" y="0"/>
            <a:chExt cx="5760" cy="4320"/>
          </a:xfrm>
        </p:grpSpPr>
        <p:sp>
          <p:nvSpPr>
            <p:cNvPr id="8" name="Line 9"/>
            <p:cNvSpPr>
              <a:spLocks noChangeShapeType="1"/>
            </p:cNvSpPr>
            <p:nvPr/>
          </p:nvSpPr>
          <p:spPr bwMode="auto">
            <a:xfrm flipH="1">
              <a:off x="0" y="3978"/>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9" name="Line 10"/>
            <p:cNvSpPr>
              <a:spLocks noChangeShapeType="1"/>
            </p:cNvSpPr>
            <p:nvPr/>
          </p:nvSpPr>
          <p:spPr bwMode="auto">
            <a:xfrm>
              <a:off x="22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0" name="Line 11"/>
            <p:cNvSpPr>
              <a:spLocks noChangeShapeType="1"/>
            </p:cNvSpPr>
            <p:nvPr/>
          </p:nvSpPr>
          <p:spPr bwMode="auto">
            <a:xfrm>
              <a:off x="5538"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1" name="Line 12"/>
            <p:cNvSpPr>
              <a:spLocks noChangeShapeType="1"/>
            </p:cNvSpPr>
            <p:nvPr/>
          </p:nvSpPr>
          <p:spPr bwMode="auto">
            <a:xfrm flipH="1">
              <a:off x="0" y="874"/>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grpSp>
      <p:sp>
        <p:nvSpPr>
          <p:cNvPr id="64516" name="Rectangle 4"/>
          <p:cNvSpPr>
            <a:spLocks noGrp="1" noChangeArrowheads="1"/>
          </p:cNvSpPr>
          <p:nvPr>
            <p:ph type="subTitle" idx="1"/>
          </p:nvPr>
        </p:nvSpPr>
        <p:spPr bwMode="white">
          <a:xfrm>
            <a:off x="3571869" y="2143125"/>
            <a:ext cx="4786346" cy="236940"/>
          </a:xfrm>
        </p:spPr>
        <p:txBody>
          <a:bodyPr>
            <a:spAutoFit/>
          </a:bodyPr>
          <a:lstStyle>
            <a:lvl1pPr>
              <a:spcBef>
                <a:spcPct val="0"/>
              </a:spcBef>
              <a:defRPr>
                <a:solidFill>
                  <a:schemeClr val="bg1"/>
                </a:solidFill>
                <a:sym typeface="Symbol" pitchFamily="18" charset="2"/>
              </a:defRPr>
            </a:lvl1pPr>
          </a:lstStyle>
          <a:p>
            <a:r>
              <a:rPr lang="de-DE" noProof="0">
                <a:sym typeface="Symbol" pitchFamily="18" charset="2"/>
              </a:rPr>
              <a:t>Formatvorlage des Untertitelmasters durch Klicken bearbeiten</a:t>
            </a:r>
            <a:endParaRPr lang="en-GB" noProof="0">
              <a:sym typeface="Symbol" pitchFamily="18" charset="2"/>
            </a:endParaRPr>
          </a:p>
        </p:txBody>
      </p:sp>
      <p:sp>
        <p:nvSpPr>
          <p:cNvPr id="64517" name="Rectangle 5"/>
          <p:cNvSpPr>
            <a:spLocks noGrp="1" noChangeArrowheads="1"/>
          </p:cNvSpPr>
          <p:nvPr>
            <p:ph type="ctrTitle"/>
          </p:nvPr>
        </p:nvSpPr>
        <p:spPr>
          <a:xfrm>
            <a:off x="3571869" y="1393024"/>
            <a:ext cx="4714908" cy="646331"/>
          </a:xfrm>
          <a:noFill/>
        </p:spPr>
        <p:txBody>
          <a:bodyPr anchor="b">
            <a:noAutofit/>
          </a:bodyPr>
          <a:lstStyle>
            <a:lvl1pPr>
              <a:defRPr sz="2100"/>
            </a:lvl1pPr>
          </a:lstStyle>
          <a:p>
            <a:r>
              <a:rPr lang="de-DE" noProof="0"/>
              <a:t>Titelmasterformat durch Klicken bearbeiten</a:t>
            </a:r>
            <a:endParaRPr lang="en-GB" noProof="0"/>
          </a:p>
        </p:txBody>
      </p:sp>
      <p:sp>
        <p:nvSpPr>
          <p:cNvPr id="13" name="Bildplatzhalter 12"/>
          <p:cNvSpPr>
            <a:spLocks noGrp="1"/>
          </p:cNvSpPr>
          <p:nvPr>
            <p:ph type="pic" sz="quarter" idx="10"/>
          </p:nvPr>
        </p:nvSpPr>
        <p:spPr>
          <a:xfrm>
            <a:off x="2" y="964396"/>
            <a:ext cx="3214678" cy="3107543"/>
          </a:xfrm>
          <a:ln>
            <a:noFill/>
          </a:ln>
        </p:spPr>
        <p:txBody>
          <a:bodyPr/>
          <a:lstStyle/>
          <a:p>
            <a:pPr lvl="0"/>
            <a:r>
              <a:rPr lang="de-DE" noProof="0"/>
              <a:t>Bild durch Klicken auf Symbol hinzufügen</a:t>
            </a:r>
            <a:endParaRPr lang="en-GB" noProof="0"/>
          </a:p>
        </p:txBody>
      </p:sp>
    </p:spTree>
    <p:extLst>
      <p:ext uri="{BB962C8B-B14F-4D97-AF65-F5344CB8AC3E}">
        <p14:creationId xmlns:p14="http://schemas.microsoft.com/office/powerpoint/2010/main" val="96379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el 1"/>
          <p:cNvSpPr>
            <a:spLocks noGrp="1"/>
          </p:cNvSpPr>
          <p:nvPr>
            <p:ph type="title"/>
          </p:nvPr>
        </p:nvSpPr>
        <p:spPr>
          <a:xfrm>
            <a:off x="358777" y="80963"/>
            <a:ext cx="6780213" cy="507206"/>
          </a:xfrm>
        </p:spPr>
        <p:txBody>
          <a:bodyPr/>
          <a:lstStyle/>
          <a:p>
            <a:r>
              <a:rPr lang="de-DE" noProof="0"/>
              <a:t>Titelmasterformat durch Klicken bearbeiten</a:t>
            </a:r>
            <a:endParaRPr lang="en-GB" noProof="0"/>
          </a:p>
        </p:txBody>
      </p:sp>
      <p:sp>
        <p:nvSpPr>
          <p:cNvPr id="4" name="Inhaltsplatzhalter 3"/>
          <p:cNvSpPr>
            <a:spLocks noGrp="1"/>
          </p:cNvSpPr>
          <p:nvPr>
            <p:ph sz="half" idx="2"/>
          </p:nvPr>
        </p:nvSpPr>
        <p:spPr>
          <a:xfrm>
            <a:off x="4651375" y="944169"/>
            <a:ext cx="4141788" cy="3649265"/>
          </a:xfrm>
          <a:noFill/>
        </p:spPr>
        <p:txBody>
          <a:bodyPr/>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0" name="Inhaltsplatzhalter 3"/>
          <p:cNvSpPr>
            <a:spLocks noGrp="1"/>
          </p:cNvSpPr>
          <p:nvPr>
            <p:ph sz="half" idx="13"/>
          </p:nvPr>
        </p:nvSpPr>
        <p:spPr>
          <a:xfrm>
            <a:off x="358775" y="944169"/>
            <a:ext cx="4141788" cy="3649265"/>
          </a:xfrm>
          <a:noFill/>
        </p:spPr>
        <p:txBody>
          <a:bodyPr/>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4085654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Interlink with pictur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8" name="Bildplatzhalter 7"/>
          <p:cNvSpPr>
            <a:spLocks noGrp="1"/>
          </p:cNvSpPr>
          <p:nvPr>
            <p:ph type="pic" sz="quarter" idx="13"/>
          </p:nvPr>
        </p:nvSpPr>
        <p:spPr>
          <a:xfrm>
            <a:off x="0" y="750097"/>
            <a:ext cx="9144000" cy="3857639"/>
          </a:xfrm>
        </p:spPr>
        <p:txBody>
          <a:bodyPr/>
          <a:lstStyle/>
          <a:p>
            <a:pPr lvl="0"/>
            <a:r>
              <a:rPr lang="de-DE" noProof="0"/>
              <a:t>Bild durch Klicken auf Symbol hinzufügen</a:t>
            </a:r>
            <a:endParaRPr lang="en-GB" noProof="0"/>
          </a:p>
        </p:txBody>
      </p:sp>
    </p:spTree>
    <p:extLst>
      <p:ext uri="{BB962C8B-B14F-4D97-AF65-F5344CB8AC3E}">
        <p14:creationId xmlns:p14="http://schemas.microsoft.com/office/powerpoint/2010/main" val="3852151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Graphic with text">
    <p:spTree>
      <p:nvGrpSpPr>
        <p:cNvPr id="1" name=""/>
        <p:cNvGrpSpPr/>
        <p:nvPr/>
      </p:nvGrpSpPr>
      <p:grpSpPr>
        <a:xfrm>
          <a:off x="0" y="0"/>
          <a:ext cx="0" cy="0"/>
          <a:chOff x="0" y="0"/>
          <a:chExt cx="0" cy="0"/>
        </a:xfrm>
      </p:grpSpPr>
      <p:sp>
        <p:nvSpPr>
          <p:cNvPr id="6" name="Rechteck 13"/>
          <p:cNvSpPr/>
          <p:nvPr userDrawn="1"/>
        </p:nvSpPr>
        <p:spPr bwMode="auto">
          <a:xfrm>
            <a:off x="357012" y="4286252"/>
            <a:ext cx="4143022" cy="321469"/>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lIns="0" tIns="0" rIns="0" bIns="0" anchor="ctr"/>
          <a:lstStyle/>
          <a:p>
            <a:pPr eaLnBrk="0" fontAlgn="base" hangingPunct="0">
              <a:spcBef>
                <a:spcPct val="0"/>
              </a:spcBef>
              <a:spcAft>
                <a:spcPct val="0"/>
              </a:spcAft>
              <a:defRPr/>
            </a:pPr>
            <a:endParaRPr lang="en-GB" sz="1050">
              <a:solidFill>
                <a:srgbClr val="003366"/>
              </a:solidFill>
              <a:latin typeface="Times New Roman" panose="02020603050405020304" pitchFamily="18" charset="0"/>
              <a:ea typeface="平成明朝" charset="-128"/>
            </a:endParaRPr>
          </a:p>
        </p:txBody>
      </p:sp>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4" name="Inhaltsplatzhalter 3"/>
          <p:cNvSpPr>
            <a:spLocks noGrp="1"/>
          </p:cNvSpPr>
          <p:nvPr>
            <p:ph sz="half" idx="2"/>
          </p:nvPr>
        </p:nvSpPr>
        <p:spPr>
          <a:xfrm>
            <a:off x="4651375" y="944169"/>
            <a:ext cx="4141788" cy="3649265"/>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1" name="Textplatzhalter 10"/>
          <p:cNvSpPr>
            <a:spLocks noGrp="1"/>
          </p:cNvSpPr>
          <p:nvPr>
            <p:ph type="body" sz="quarter" idx="14"/>
          </p:nvPr>
        </p:nvSpPr>
        <p:spPr>
          <a:xfrm>
            <a:off x="357191" y="4339858"/>
            <a:ext cx="4143375" cy="267878"/>
          </a:xfrm>
          <a:noFill/>
        </p:spPr>
        <p:txBody>
          <a:bodyPr/>
          <a:lstStyle>
            <a:lvl1pPr marL="202401"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3" name="Inhaltsplatzhalter 12"/>
          <p:cNvSpPr>
            <a:spLocks noGrp="1"/>
          </p:cNvSpPr>
          <p:nvPr>
            <p:ph sz="quarter" idx="15"/>
          </p:nvPr>
        </p:nvSpPr>
        <p:spPr>
          <a:xfrm>
            <a:off x="357190" y="954159"/>
            <a:ext cx="4143374" cy="3332093"/>
          </a:xfrm>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2104903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Graphic with white text">
    <p:spTree>
      <p:nvGrpSpPr>
        <p:cNvPr id="1" name=""/>
        <p:cNvGrpSpPr/>
        <p:nvPr/>
      </p:nvGrpSpPr>
      <p:grpSpPr>
        <a:xfrm>
          <a:off x="0" y="0"/>
          <a:ext cx="0" cy="0"/>
          <a:chOff x="0" y="0"/>
          <a:chExt cx="0" cy="0"/>
        </a:xfrm>
      </p:grpSpPr>
      <p:sp>
        <p:nvSpPr>
          <p:cNvPr id="6" name="Rechteck 13"/>
          <p:cNvSpPr/>
          <p:nvPr userDrawn="1"/>
        </p:nvSpPr>
        <p:spPr bwMode="auto">
          <a:xfrm>
            <a:off x="357012" y="4286252"/>
            <a:ext cx="4143022" cy="321469"/>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lIns="0" tIns="0" rIns="0" bIns="0" anchor="ctr"/>
          <a:lstStyle/>
          <a:p>
            <a:pPr eaLnBrk="0" fontAlgn="base" hangingPunct="0">
              <a:spcBef>
                <a:spcPct val="0"/>
              </a:spcBef>
              <a:spcAft>
                <a:spcPct val="0"/>
              </a:spcAft>
              <a:defRPr/>
            </a:pPr>
            <a:endParaRPr lang="en-GB" sz="1050">
              <a:solidFill>
                <a:srgbClr val="003366"/>
              </a:solidFill>
              <a:latin typeface="Times New Roman" panose="02020603050405020304" pitchFamily="18" charset="0"/>
              <a:ea typeface="平成明朝" charset="-128"/>
            </a:endParaRPr>
          </a:p>
        </p:txBody>
      </p:sp>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4" name="Inhaltsplatzhalter 3"/>
          <p:cNvSpPr>
            <a:spLocks noGrp="1"/>
          </p:cNvSpPr>
          <p:nvPr>
            <p:ph sz="half" idx="2"/>
          </p:nvPr>
        </p:nvSpPr>
        <p:spPr>
          <a:xfrm>
            <a:off x="46513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1" name="Textplatzhalter 10"/>
          <p:cNvSpPr>
            <a:spLocks noGrp="1"/>
          </p:cNvSpPr>
          <p:nvPr>
            <p:ph type="body" sz="quarter" idx="14"/>
          </p:nvPr>
        </p:nvSpPr>
        <p:spPr>
          <a:xfrm>
            <a:off x="357191" y="4339858"/>
            <a:ext cx="4143375" cy="267878"/>
          </a:xfrm>
          <a:noFill/>
        </p:spPr>
        <p:txBody>
          <a:bodyPr/>
          <a:lstStyle>
            <a:lvl1pPr marL="202401"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3" name="Inhaltsplatzhalter 12"/>
          <p:cNvSpPr>
            <a:spLocks noGrp="1"/>
          </p:cNvSpPr>
          <p:nvPr>
            <p:ph sz="quarter" idx="15"/>
          </p:nvPr>
        </p:nvSpPr>
        <p:spPr>
          <a:xfrm>
            <a:off x="357190" y="954159"/>
            <a:ext cx="4143374" cy="3332093"/>
          </a:xfrm>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183209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wo column white">
    <p:spTree>
      <p:nvGrpSpPr>
        <p:cNvPr id="1" name=""/>
        <p:cNvGrpSpPr/>
        <p:nvPr/>
      </p:nvGrpSpPr>
      <p:grpSpPr>
        <a:xfrm>
          <a:off x="0" y="0"/>
          <a:ext cx="0" cy="0"/>
          <a:chOff x="0" y="0"/>
          <a:chExt cx="0" cy="0"/>
        </a:xfrm>
      </p:grpSpPr>
      <p:sp>
        <p:nvSpPr>
          <p:cNvPr id="2" name="Titel 1"/>
          <p:cNvSpPr>
            <a:spLocks noGrp="1"/>
          </p:cNvSpPr>
          <p:nvPr>
            <p:ph type="title"/>
          </p:nvPr>
        </p:nvSpPr>
        <p:spPr>
          <a:xfrm>
            <a:off x="358777" y="80963"/>
            <a:ext cx="6780213" cy="507206"/>
          </a:xfrm>
        </p:spPr>
        <p:txBody>
          <a:bodyPr/>
          <a:lstStyle/>
          <a:p>
            <a:r>
              <a:rPr lang="de-DE" noProof="0"/>
              <a:t>Titelmasterformat durch Klicken bearbeiten</a:t>
            </a:r>
            <a:endParaRPr lang="en-GB" noProof="0"/>
          </a:p>
        </p:txBody>
      </p:sp>
      <p:sp>
        <p:nvSpPr>
          <p:cNvPr id="4" name="Inhaltsplatzhalter 3"/>
          <p:cNvSpPr>
            <a:spLocks noGrp="1"/>
          </p:cNvSpPr>
          <p:nvPr>
            <p:ph sz="half" idx="2"/>
          </p:nvPr>
        </p:nvSpPr>
        <p:spPr>
          <a:xfrm>
            <a:off x="46513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0" name="Inhaltsplatzhalter 3"/>
          <p:cNvSpPr>
            <a:spLocks noGrp="1"/>
          </p:cNvSpPr>
          <p:nvPr>
            <p:ph sz="half" idx="13"/>
          </p:nvPr>
        </p:nvSpPr>
        <p:spPr>
          <a:xfrm>
            <a:off x="3587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Tree>
    <p:extLst>
      <p:ext uri="{BB962C8B-B14F-4D97-AF65-F5344CB8AC3E}">
        <p14:creationId xmlns:p14="http://schemas.microsoft.com/office/powerpoint/2010/main" val="254029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userDrawn="1">
  <p:cSld name="Titel mit Bild blau">
    <p:bg>
      <p:bgPr>
        <a:solidFill>
          <a:schemeClr val="tx1"/>
        </a:solidFill>
        <a:effectLst/>
      </p:bgPr>
    </p:bg>
    <p:spTree>
      <p:nvGrpSpPr>
        <p:cNvPr id="1" name=""/>
        <p:cNvGrpSpPr/>
        <p:nvPr/>
      </p:nvGrpSpPr>
      <p:grpSpPr>
        <a:xfrm>
          <a:off x="0" y="0"/>
          <a:ext cx="0" cy="0"/>
          <a:chOff x="0" y="0"/>
          <a:chExt cx="0" cy="0"/>
        </a:xfrm>
      </p:grpSpPr>
      <p:pic>
        <p:nvPicPr>
          <p:cNvPr id="5" name="Picture 10" descr="BI-Logo_36pt_blue_n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6738057" y="4452940"/>
            <a:ext cx="2159000"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8"/>
          <p:cNvSpPr>
            <a:spLocks noChangeArrowheads="1"/>
          </p:cNvSpPr>
          <p:nvPr/>
        </p:nvSpPr>
        <p:spPr bwMode="auto">
          <a:xfrm>
            <a:off x="0" y="1339454"/>
            <a:ext cx="9144000" cy="1875234"/>
          </a:xfrm>
          <a:prstGeom prst="rect">
            <a:avLst/>
          </a:prstGeom>
          <a:solidFill>
            <a:schemeClr val="accent4"/>
          </a:solidFill>
          <a:ln w="12700">
            <a:noFill/>
            <a:miter lim="800000"/>
            <a:headEnd/>
            <a:tailEnd/>
          </a:ln>
          <a:effectLst/>
        </p:spPr>
        <p:txBody>
          <a:bodyPr wrap="none" anchor="ctr"/>
          <a:lstStyle/>
          <a:p>
            <a:pPr>
              <a:defRPr/>
            </a:pPr>
            <a:endParaRPr lang="de-DE" sz="1350">
              <a:solidFill>
                <a:srgbClr val="003366"/>
              </a:solidFill>
              <a:latin typeface="Times New Roman" panose="02020603050405020304" pitchFamily="18" charset="0"/>
              <a:ea typeface="平成明朝" charset="-128"/>
            </a:endParaRPr>
          </a:p>
        </p:txBody>
      </p:sp>
      <p:grpSp>
        <p:nvGrpSpPr>
          <p:cNvPr id="7" name="Group 8"/>
          <p:cNvGrpSpPr>
            <a:grpSpLocks/>
          </p:cNvGrpSpPr>
          <p:nvPr/>
        </p:nvGrpSpPr>
        <p:grpSpPr bwMode="auto">
          <a:xfrm>
            <a:off x="0" y="0"/>
            <a:ext cx="9144000" cy="5143500"/>
            <a:chOff x="0" y="0"/>
            <a:chExt cx="5760" cy="4320"/>
          </a:xfrm>
        </p:grpSpPr>
        <p:sp>
          <p:nvSpPr>
            <p:cNvPr id="8" name="Line 9"/>
            <p:cNvSpPr>
              <a:spLocks noChangeShapeType="1"/>
            </p:cNvSpPr>
            <p:nvPr/>
          </p:nvSpPr>
          <p:spPr bwMode="auto">
            <a:xfrm flipH="1">
              <a:off x="0" y="3978"/>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9" name="Line 10"/>
            <p:cNvSpPr>
              <a:spLocks noChangeShapeType="1"/>
            </p:cNvSpPr>
            <p:nvPr/>
          </p:nvSpPr>
          <p:spPr bwMode="auto">
            <a:xfrm>
              <a:off x="22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0" name="Line 11"/>
            <p:cNvSpPr>
              <a:spLocks noChangeShapeType="1"/>
            </p:cNvSpPr>
            <p:nvPr/>
          </p:nvSpPr>
          <p:spPr bwMode="auto">
            <a:xfrm>
              <a:off x="5538"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sp>
          <p:nvSpPr>
            <p:cNvPr id="11" name="Line 12"/>
            <p:cNvSpPr>
              <a:spLocks noChangeShapeType="1"/>
            </p:cNvSpPr>
            <p:nvPr/>
          </p:nvSpPr>
          <p:spPr bwMode="auto">
            <a:xfrm flipH="1">
              <a:off x="0" y="874"/>
              <a:ext cx="576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prstDash val="dash"/>
                  <a:round/>
                  <a:headEnd/>
                  <a:tailEnd/>
                </a14:hiddenLine>
              </a:ext>
            </a:extLst>
          </p:spPr>
          <p:txBody>
            <a:bodyPr wrap="none" anchor="ctr"/>
            <a:lstStyle/>
            <a:p>
              <a:pPr fontAlgn="base">
                <a:spcBef>
                  <a:spcPct val="0"/>
                </a:spcBef>
                <a:spcAft>
                  <a:spcPct val="0"/>
                </a:spcAft>
              </a:pPr>
              <a:endParaRPr kumimoji="1" lang="zh-TW" altLang="en-US" sz="2100" b="1">
                <a:solidFill>
                  <a:srgbClr val="003366"/>
                </a:solidFill>
                <a:latin typeface="Times New Roman" panose="02020603050405020304" pitchFamily="18" charset="0"/>
              </a:endParaRPr>
            </a:p>
          </p:txBody>
        </p:sp>
      </p:grpSp>
      <p:sp>
        <p:nvSpPr>
          <p:cNvPr id="12" name="Rectangle 4"/>
          <p:cNvSpPr>
            <a:spLocks noGrp="1" noChangeArrowheads="1"/>
          </p:cNvSpPr>
          <p:nvPr>
            <p:ph type="subTitle" idx="1"/>
          </p:nvPr>
        </p:nvSpPr>
        <p:spPr bwMode="white">
          <a:xfrm>
            <a:off x="3571869" y="2143125"/>
            <a:ext cx="4786346" cy="236940"/>
          </a:xfrm>
        </p:spPr>
        <p:txBody>
          <a:bodyPr>
            <a:spAutoFit/>
          </a:bodyPr>
          <a:lstStyle>
            <a:lvl1pPr>
              <a:spcBef>
                <a:spcPct val="0"/>
              </a:spcBef>
              <a:defRPr>
                <a:solidFill>
                  <a:schemeClr val="bg1"/>
                </a:solidFill>
                <a:sym typeface="Symbol" pitchFamily="18" charset="2"/>
              </a:defRPr>
            </a:lvl1pPr>
          </a:lstStyle>
          <a:p>
            <a:r>
              <a:rPr lang="de-DE" noProof="0">
                <a:sym typeface="Symbol" pitchFamily="18" charset="2"/>
              </a:rPr>
              <a:t>Formatvorlage des Untertitelmasters durch Klicken bearbeiten</a:t>
            </a:r>
            <a:endParaRPr lang="en-US" noProof="0">
              <a:sym typeface="Symbol" pitchFamily="18" charset="2"/>
            </a:endParaRPr>
          </a:p>
        </p:txBody>
      </p:sp>
      <p:sp>
        <p:nvSpPr>
          <p:cNvPr id="13" name="Rectangle 5"/>
          <p:cNvSpPr>
            <a:spLocks noGrp="1" noChangeArrowheads="1"/>
          </p:cNvSpPr>
          <p:nvPr>
            <p:ph type="ctrTitle"/>
          </p:nvPr>
        </p:nvSpPr>
        <p:spPr>
          <a:xfrm>
            <a:off x="3571869" y="1393024"/>
            <a:ext cx="4714908" cy="646331"/>
          </a:xfrm>
          <a:noFill/>
        </p:spPr>
        <p:txBody>
          <a:bodyPr anchor="b">
            <a:spAutoFit/>
          </a:bodyPr>
          <a:lstStyle>
            <a:lvl1pPr>
              <a:defRPr sz="2100"/>
            </a:lvl1pPr>
          </a:lstStyle>
          <a:p>
            <a:r>
              <a:rPr lang="de-DE" noProof="0"/>
              <a:t>Titelmasterformat durch Klicken bearbeiten</a:t>
            </a:r>
            <a:endParaRPr lang="en-US" noProof="0"/>
          </a:p>
        </p:txBody>
      </p:sp>
      <p:sp>
        <p:nvSpPr>
          <p:cNvPr id="15" name="Bildplatzhalter 14"/>
          <p:cNvSpPr>
            <a:spLocks noGrp="1"/>
          </p:cNvSpPr>
          <p:nvPr>
            <p:ph type="pic" sz="quarter" idx="10"/>
          </p:nvPr>
        </p:nvSpPr>
        <p:spPr>
          <a:xfrm>
            <a:off x="1" y="1339445"/>
            <a:ext cx="3143240" cy="1875243"/>
          </a:xfrm>
        </p:spPr>
        <p:txBody>
          <a:bodyPr/>
          <a:lstStyle/>
          <a:p>
            <a:pPr lvl="0"/>
            <a:r>
              <a:rPr lang="de-DE" noProof="0"/>
              <a:t>Bild durch Klicken auf Symbol hinzufügen</a:t>
            </a:r>
          </a:p>
        </p:txBody>
      </p:sp>
    </p:spTree>
    <p:extLst>
      <p:ext uri="{BB962C8B-B14F-4D97-AF65-F5344CB8AC3E}">
        <p14:creationId xmlns:p14="http://schemas.microsoft.com/office/powerpoint/2010/main" val="1487519252"/>
      </p:ext>
    </p:extLst>
  </p:cSld>
  <p:clrMapOvr>
    <a:masterClrMapping/>
  </p:clrMapOvr>
  <p:transition spd="med">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Titelmasterformat durch Klicken bearbeiten</a:t>
            </a:r>
          </a:p>
        </p:txBody>
      </p:sp>
    </p:spTree>
    <p:extLst>
      <p:ext uri="{BB962C8B-B14F-4D97-AF65-F5344CB8AC3E}">
        <p14:creationId xmlns:p14="http://schemas.microsoft.com/office/powerpoint/2010/main" val="311907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9" name="Gerade Verbindung 10">
            <a:extLst>
              <a:ext uri="{FF2B5EF4-FFF2-40B4-BE49-F238E27FC236}">
                <a16:creationId xmlns:a16="http://schemas.microsoft.com/office/drawing/2014/main" id="{FCAC3853-FC79-454C-911E-BD597A83AFB5}"/>
              </a:ext>
            </a:extLst>
          </p:cNvPr>
          <p:cNvCxnSpPr>
            <a:cxnSpLocks/>
          </p:cNvCxnSpPr>
          <p:nvPr userDrawn="1"/>
        </p:nvCxnSpPr>
        <p:spPr>
          <a:xfrm>
            <a:off x="371475" y="728590"/>
            <a:ext cx="8401050" cy="0"/>
          </a:xfrm>
          <a:prstGeom prst="line">
            <a:avLst/>
          </a:prstGeom>
          <a:ln w="25400">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5" name="标题 4">
            <a:extLst>
              <a:ext uri="{FF2B5EF4-FFF2-40B4-BE49-F238E27FC236}">
                <a16:creationId xmlns:a16="http://schemas.microsoft.com/office/drawing/2014/main" id="{94B9BCB1-A0D7-6C38-C39E-E7ECCB278517}"/>
              </a:ext>
            </a:extLst>
          </p:cNvPr>
          <p:cNvSpPr>
            <a:spLocks noGrp="1"/>
          </p:cNvSpPr>
          <p:nvPr>
            <p:ph type="title"/>
          </p:nvPr>
        </p:nvSpPr>
        <p:spPr>
          <a:xfrm>
            <a:off x="371475" y="223883"/>
            <a:ext cx="8401050" cy="328541"/>
          </a:xfrm>
          <a:prstGeom prst="rect">
            <a:avLst/>
          </a:prstGeom>
        </p:spPr>
        <p:txBody>
          <a:bodyPr anchor="b"/>
          <a:lstStyle>
            <a:lvl1pPr>
              <a:defRPr sz="2100"/>
            </a:lvl1pPr>
          </a:lstStyle>
          <a:p>
            <a:r>
              <a:rPr lang="zh-CN" altLang="en-US"/>
              <a:t>单击此处编辑母版标题样式</a:t>
            </a:r>
          </a:p>
        </p:txBody>
      </p:sp>
    </p:spTree>
    <p:extLst>
      <p:ext uri="{BB962C8B-B14F-4D97-AF65-F5344CB8AC3E}">
        <p14:creationId xmlns:p14="http://schemas.microsoft.com/office/powerpoint/2010/main" val="560596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709">
          <p15:clr>
            <a:srgbClr val="FBAE40"/>
          </p15:clr>
        </p15:guide>
        <p15:guide id="2" pos="257">
          <p15:clr>
            <a:srgbClr val="FBAE40"/>
          </p15:clr>
        </p15:guide>
        <p15:guide id="3" orient="horz" pos="3997">
          <p15:clr>
            <a:srgbClr val="FBAE40"/>
          </p15:clr>
        </p15:guide>
        <p15:guide id="4" pos="7423">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7" name="任意多边形: 形状 26"/>
          <p:cNvSpPr/>
          <p:nvPr userDrawn="1"/>
        </p:nvSpPr>
        <p:spPr>
          <a:xfrm>
            <a:off x="0" y="4525805"/>
            <a:ext cx="9144000" cy="617694"/>
          </a:xfrm>
          <a:custGeom>
            <a:avLst/>
            <a:gdLst>
              <a:gd name="connsiteX0" fmla="*/ 12192000 w 12192000"/>
              <a:gd name="connsiteY0" fmla="*/ 0 h 823592"/>
              <a:gd name="connsiteX1" fmla="*/ 12192000 w 12192000"/>
              <a:gd name="connsiteY1" fmla="*/ 823592 h 823592"/>
              <a:gd name="connsiteX2" fmla="*/ 0 w 12192000"/>
              <a:gd name="connsiteY2" fmla="*/ 823592 h 823592"/>
              <a:gd name="connsiteX3" fmla="*/ 0 w 12192000"/>
              <a:gd name="connsiteY3" fmla="*/ 602517 h 823592"/>
              <a:gd name="connsiteX4" fmla="*/ 27690 w 12192000"/>
              <a:gd name="connsiteY4" fmla="*/ 610941 h 823592"/>
              <a:gd name="connsiteX5" fmla="*/ 116123 w 12192000"/>
              <a:gd name="connsiteY5" fmla="*/ 633294 h 823592"/>
              <a:gd name="connsiteX6" fmla="*/ 171792 w 12192000"/>
              <a:gd name="connsiteY6" fmla="*/ 633294 h 823592"/>
              <a:gd name="connsiteX7" fmla="*/ 366630 w 12192000"/>
              <a:gd name="connsiteY7" fmla="*/ 659935 h 823592"/>
              <a:gd name="connsiteX8" fmla="*/ 539201 w 12192000"/>
              <a:gd name="connsiteY8" fmla="*/ 652323 h 823592"/>
              <a:gd name="connsiteX9" fmla="*/ 4035167 w 12192000"/>
              <a:gd name="connsiteY9" fmla="*/ 194288 h 823592"/>
              <a:gd name="connsiteX10" fmla="*/ 8327186 w 12192000"/>
              <a:gd name="connsiteY10" fmla="*/ 559992 h 823592"/>
              <a:gd name="connsiteX11" fmla="*/ 10691229 w 12192000"/>
              <a:gd name="connsiteY11" fmla="*/ 467660 h 823592"/>
              <a:gd name="connsiteX12" fmla="*/ 12086839 w 12192000"/>
              <a:gd name="connsiteY12" fmla="*/ 47357 h 823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823592">
                <a:moveTo>
                  <a:pt x="12192000" y="0"/>
                </a:moveTo>
                <a:lnTo>
                  <a:pt x="12192000" y="823592"/>
                </a:lnTo>
                <a:lnTo>
                  <a:pt x="0" y="823592"/>
                </a:lnTo>
                <a:lnTo>
                  <a:pt x="0" y="602517"/>
                </a:lnTo>
                <a:lnTo>
                  <a:pt x="27690" y="610941"/>
                </a:lnTo>
                <a:cubicBezTo>
                  <a:pt x="63412" y="621252"/>
                  <a:pt x="93508" y="629091"/>
                  <a:pt x="116123" y="633294"/>
                </a:cubicBezTo>
                <a:cubicBezTo>
                  <a:pt x="297045" y="666913"/>
                  <a:pt x="137463" y="630122"/>
                  <a:pt x="171792" y="633294"/>
                </a:cubicBezTo>
                <a:cubicBezTo>
                  <a:pt x="206120" y="636465"/>
                  <a:pt x="305396" y="656764"/>
                  <a:pt x="366630" y="659935"/>
                </a:cubicBezTo>
                <a:cubicBezTo>
                  <a:pt x="427865" y="663107"/>
                  <a:pt x="539201" y="652323"/>
                  <a:pt x="539201" y="652323"/>
                </a:cubicBezTo>
                <a:cubicBezTo>
                  <a:pt x="1150624" y="587621"/>
                  <a:pt x="2737169" y="209677"/>
                  <a:pt x="4035167" y="194288"/>
                </a:cubicBezTo>
                <a:cubicBezTo>
                  <a:pt x="5333164" y="178900"/>
                  <a:pt x="7217843" y="514430"/>
                  <a:pt x="8327186" y="559992"/>
                </a:cubicBezTo>
                <a:cubicBezTo>
                  <a:pt x="9436530" y="605553"/>
                  <a:pt x="9989036" y="588221"/>
                  <a:pt x="10691229" y="467660"/>
                </a:cubicBezTo>
                <a:cubicBezTo>
                  <a:pt x="11217874" y="377239"/>
                  <a:pt x="11643576" y="239610"/>
                  <a:pt x="12086839" y="47357"/>
                </a:cubicBezTo>
                <a:close/>
              </a:path>
            </a:pathLst>
          </a:custGeom>
          <a:gradFill>
            <a:gsLst>
              <a:gs pos="0">
                <a:schemeClr val="accent2">
                  <a:alpha val="20000"/>
                </a:schemeClr>
              </a:gs>
              <a:gs pos="100000">
                <a:schemeClr val="accent1">
                  <a:alpha val="2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mn-ea"/>
            </a:endParaRPr>
          </a:p>
        </p:txBody>
      </p:sp>
      <p:sp>
        <p:nvSpPr>
          <p:cNvPr id="3" name="副标题 2"/>
          <p:cNvSpPr>
            <a:spLocks noGrp="1"/>
          </p:cNvSpPr>
          <p:nvPr userDrawn="1">
            <p:ph type="subTitle" idx="1" hasCustomPrompt="1"/>
          </p:nvPr>
        </p:nvSpPr>
        <p:spPr>
          <a:xfrm>
            <a:off x="3056911" y="2713027"/>
            <a:ext cx="3030176" cy="300082"/>
          </a:xfrm>
          <a:prstGeom prst="rect">
            <a:avLst/>
          </a:prstGeom>
          <a:noFill/>
          <a:ln w="9525">
            <a:noFill/>
          </a:ln>
        </p:spPr>
        <p:txBody>
          <a:bodyPr vert="horz" wrap="square" lIns="91440" tIns="45720" rIns="91440" bIns="45720" anchor="ctr" anchorCtr="0">
            <a:spAutoFit/>
          </a:bodyPr>
          <a:lstStyle>
            <a:lvl1pPr marL="171450" indent="-171450">
              <a:buFont typeface="Wingdings" panose="05000000000000000000" pitchFamily="2" charset="2"/>
              <a:buChar char="l"/>
              <a:defRPr lang="en-GB" dirty="0">
                <a:gradFill flip="none" rotWithShape="1">
                  <a:gsLst>
                    <a:gs pos="0">
                      <a:schemeClr val="accent2"/>
                    </a:gs>
                    <a:gs pos="100000">
                      <a:schemeClr val="accent1"/>
                    </a:gs>
                  </a:gsLst>
                  <a:lin ang="16200000" scaled="1"/>
                  <a:tileRect/>
                </a:gradFill>
                <a:latin typeface="+mj-ea"/>
                <a:ea typeface="+mj-ea"/>
              </a:defRPr>
            </a:lvl1pPr>
          </a:lstStyle>
          <a:p>
            <a:pPr marL="0" lvl="0" indent="0" algn="dist" eaLnBrk="0" fontAlgn="base" hangingPunct="0">
              <a:lnSpc>
                <a:spcPct val="100000"/>
              </a:lnSpc>
              <a:spcAft>
                <a:spcPct val="0"/>
              </a:spcAft>
              <a:buNone/>
            </a:pPr>
            <a:r>
              <a:rPr lang="zh-CN" altLang="en-US"/>
              <a:t>单击此处添加文本</a:t>
            </a:r>
            <a:endParaRPr lang="en-GB"/>
          </a:p>
        </p:txBody>
      </p:sp>
      <p:sp>
        <p:nvSpPr>
          <p:cNvPr id="19" name="任意多边形: 形状 18"/>
          <p:cNvSpPr/>
          <p:nvPr userDrawn="1"/>
        </p:nvSpPr>
        <p:spPr>
          <a:xfrm>
            <a:off x="0" y="4760119"/>
            <a:ext cx="9144000" cy="383381"/>
          </a:xfrm>
          <a:custGeom>
            <a:avLst/>
            <a:gdLst>
              <a:gd name="connsiteX0" fmla="*/ 2286000 w 12192000"/>
              <a:gd name="connsiteY0" fmla="*/ 1993 h 728662"/>
              <a:gd name="connsiteX1" fmla="*/ 12192000 w 12192000"/>
              <a:gd name="connsiteY1" fmla="*/ 189800 h 728662"/>
              <a:gd name="connsiteX2" fmla="*/ 12192000 w 12192000"/>
              <a:gd name="connsiteY2" fmla="*/ 728662 h 728662"/>
              <a:gd name="connsiteX3" fmla="*/ 0 w 12192000"/>
              <a:gd name="connsiteY3" fmla="*/ 728662 h 728662"/>
              <a:gd name="connsiteX4" fmla="*/ 0 w 12192000"/>
              <a:gd name="connsiteY4" fmla="*/ 189800 h 728662"/>
              <a:gd name="connsiteX5" fmla="*/ 2286000 w 12192000"/>
              <a:gd name="connsiteY5" fmla="*/ 1993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728662">
                <a:moveTo>
                  <a:pt x="2286000" y="1993"/>
                </a:moveTo>
                <a:cubicBezTo>
                  <a:pt x="5588000" y="-43916"/>
                  <a:pt x="8890000" y="724008"/>
                  <a:pt x="12192000" y="189800"/>
                </a:cubicBezTo>
                <a:lnTo>
                  <a:pt x="12192000" y="728662"/>
                </a:lnTo>
                <a:lnTo>
                  <a:pt x="0" y="728662"/>
                </a:lnTo>
                <a:lnTo>
                  <a:pt x="0" y="189800"/>
                </a:lnTo>
                <a:cubicBezTo>
                  <a:pt x="762000" y="66522"/>
                  <a:pt x="1524000" y="12587"/>
                  <a:pt x="2286000" y="1993"/>
                </a:cubicBezTo>
                <a:close/>
              </a:path>
            </a:pathLst>
          </a:custGeom>
          <a:gradFill>
            <a:gsLst>
              <a:gs pos="0">
                <a:schemeClr val="accent2"/>
              </a:gs>
              <a:gs pos="100000">
                <a:schemeClr val="accent1"/>
              </a:gs>
            </a:gsLst>
            <a:lin ang="5400000" scaled="1"/>
          </a:gradFill>
          <a:ln>
            <a:noFill/>
          </a:ln>
          <a:effectLst>
            <a:outerShdw blurRad="254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200" b="1" noProof="0">
              <a:solidFill>
                <a:schemeClr val="bg1"/>
              </a:solidFill>
              <a:latin typeface="+mj-ea"/>
              <a:ea typeface="+mj-ea"/>
            </a:endParaRPr>
          </a:p>
        </p:txBody>
      </p:sp>
      <p:sp>
        <p:nvSpPr>
          <p:cNvPr id="28" name="任意多边形: 形状 27"/>
          <p:cNvSpPr/>
          <p:nvPr userDrawn="1"/>
        </p:nvSpPr>
        <p:spPr>
          <a:xfrm>
            <a:off x="3291054" y="0"/>
            <a:ext cx="2561893" cy="54580"/>
          </a:xfrm>
          <a:custGeom>
            <a:avLst/>
            <a:gdLst>
              <a:gd name="connsiteX0" fmla="*/ 0 w 3415857"/>
              <a:gd name="connsiteY0" fmla="*/ 0 h 72773"/>
              <a:gd name="connsiteX1" fmla="*/ 3415857 w 3415857"/>
              <a:gd name="connsiteY1" fmla="*/ 0 h 72773"/>
              <a:gd name="connsiteX2" fmla="*/ 3402337 w 3415857"/>
              <a:gd name="connsiteY2" fmla="*/ 20052 h 72773"/>
              <a:gd name="connsiteX3" fmla="*/ 3275058 w 3415857"/>
              <a:gd name="connsiteY3" fmla="*/ 72773 h 72773"/>
              <a:gd name="connsiteX4" fmla="*/ 140798 w 3415857"/>
              <a:gd name="connsiteY4" fmla="*/ 72773 h 72773"/>
              <a:gd name="connsiteX5" fmla="*/ 13519 w 3415857"/>
              <a:gd name="connsiteY5" fmla="*/ 20052 h 7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5857" h="72773">
                <a:moveTo>
                  <a:pt x="0" y="0"/>
                </a:moveTo>
                <a:lnTo>
                  <a:pt x="3415857" y="0"/>
                </a:lnTo>
                <a:lnTo>
                  <a:pt x="3402337" y="20052"/>
                </a:lnTo>
                <a:cubicBezTo>
                  <a:pt x="3369764" y="52626"/>
                  <a:pt x="3324764" y="72773"/>
                  <a:pt x="3275058" y="72773"/>
                </a:cubicBezTo>
                <a:lnTo>
                  <a:pt x="140798" y="72773"/>
                </a:lnTo>
                <a:cubicBezTo>
                  <a:pt x="91093" y="72773"/>
                  <a:pt x="46093" y="52626"/>
                  <a:pt x="13519" y="20052"/>
                </a:cubicBezTo>
                <a:close/>
              </a:path>
            </a:pathLst>
          </a:custGeom>
          <a:gradFill>
            <a:gsLst>
              <a:gs pos="0">
                <a:schemeClr val="accent2"/>
              </a:gs>
              <a:gs pos="100000">
                <a:schemeClr val="accent1"/>
              </a:gs>
            </a:gsLst>
            <a:lin ang="5400000" scaled="1"/>
          </a:gradFill>
          <a:ln>
            <a:noFill/>
          </a:ln>
          <a:effectLst>
            <a:outerShdw blurRad="381000" dist="38100" dir="5400000" sx="102000" sy="102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4500">
              <a:solidFill>
                <a:srgbClr val="FFFFFF"/>
              </a:solidFill>
              <a:latin typeface="+mn-ea"/>
            </a:endParaRPr>
          </a:p>
        </p:txBody>
      </p:sp>
      <p:sp>
        <p:nvSpPr>
          <p:cNvPr id="4" name="标题 3"/>
          <p:cNvSpPr>
            <a:spLocks noGrp="1"/>
          </p:cNvSpPr>
          <p:nvPr>
            <p:ph type="ctrTitle" hasCustomPrompt="1"/>
          </p:nvPr>
        </p:nvSpPr>
        <p:spPr>
          <a:xfrm>
            <a:off x="1707574" y="1737102"/>
            <a:ext cx="5728850" cy="623248"/>
          </a:xfrm>
          <a:prstGeom prst="rect">
            <a:avLst/>
          </a:prstGeom>
        </p:spPr>
        <p:txBody>
          <a:bodyPr/>
          <a:lstStyle>
            <a:lvl1pPr>
              <a:defRPr sz="4500"/>
            </a:lvl1pPr>
          </a:lstStyle>
          <a:p>
            <a:pPr algn="dist"/>
            <a:r>
              <a:rPr lang="zh-CN" altLang="en-US">
                <a:gradFill>
                  <a:gsLst>
                    <a:gs pos="0">
                      <a:schemeClr val="accent2"/>
                    </a:gs>
                    <a:gs pos="85000">
                      <a:schemeClr val="accent1"/>
                    </a:gs>
                  </a:gsLst>
                  <a:lin ang="5400000" scaled="1"/>
                </a:gradFill>
              </a:rPr>
              <a:t>单击此处添加文本</a:t>
            </a:r>
          </a:p>
        </p:txBody>
      </p:sp>
      <p:sp>
        <p:nvSpPr>
          <p:cNvPr id="2" name="矩形: 圆角 1"/>
          <p:cNvSpPr/>
          <p:nvPr userDrawn="1"/>
        </p:nvSpPr>
        <p:spPr>
          <a:xfrm>
            <a:off x="3291054" y="3483890"/>
            <a:ext cx="2620695" cy="285635"/>
          </a:xfrm>
          <a:prstGeom prst="roundRect">
            <a:avLst>
              <a:gd name="adj" fmla="val 50000"/>
            </a:avLst>
          </a:prstGeom>
          <a:gradFill>
            <a:gsLst>
              <a:gs pos="0">
                <a:schemeClr val="accent2"/>
              </a:gs>
              <a:gs pos="100000">
                <a:schemeClr val="accent1"/>
              </a:gs>
            </a:gsLst>
            <a:lin ang="5400000" scaled="1"/>
          </a:gradFill>
          <a:ln>
            <a:noFill/>
          </a:ln>
          <a:effectLst>
            <a:outerShdw blurRad="254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b="1">
              <a:solidFill>
                <a:schemeClr val="bg1"/>
              </a:solidFill>
              <a:latin typeface="+mj-ea"/>
              <a:ea typeface="+mj-ea"/>
            </a:endParaRPr>
          </a:p>
        </p:txBody>
      </p:sp>
      <p:sp>
        <p:nvSpPr>
          <p:cNvPr id="8" name="文本占位符 7"/>
          <p:cNvSpPr>
            <a:spLocks noGrp="1"/>
          </p:cNvSpPr>
          <p:nvPr userDrawn="1">
            <p:ph type="body" sz="quarter" idx="13" hasCustomPrompt="1"/>
          </p:nvPr>
        </p:nvSpPr>
        <p:spPr>
          <a:xfrm>
            <a:off x="3291054" y="3512909"/>
            <a:ext cx="2620696" cy="244939"/>
          </a:xfrm>
          <a:prstGeom prst="rect">
            <a:avLst/>
          </a:prstGeom>
        </p:spPr>
        <p:txBody>
          <a:bodyPr vert="horz" wrap="square" lIns="91440" tIns="45720" rIns="91440" bIns="45720" rtlCol="0" anchor="b">
            <a:spAutoFit/>
          </a:bodyPr>
          <a:lstStyle>
            <a:lvl1pPr marL="0" indent="0" algn="ctr">
              <a:lnSpc>
                <a:spcPct val="120000"/>
              </a:lnSpc>
              <a:buNone/>
              <a:defRPr lang="en-US" altLang="zh-CN" sz="900" b="0" smtClean="0">
                <a:solidFill>
                  <a:schemeClr val="bg1"/>
                </a:solidFill>
              </a:defRPr>
            </a:lvl1pPr>
            <a:lvl2pPr>
              <a:defRPr lang="en-US" altLang="zh-CN" sz="1200" smtClean="0"/>
            </a:lvl2pPr>
            <a:lvl3pPr>
              <a:defRPr lang="en-US" altLang="zh-CN" sz="1050" smtClean="0"/>
            </a:lvl3pPr>
            <a:lvl4pPr>
              <a:defRPr lang="en-US" altLang="zh-CN" sz="900" smtClean="0"/>
            </a:lvl4pPr>
            <a:lvl5pPr>
              <a:defRPr lang="zh-CN" altLang="en-US" sz="900"/>
            </a:lvl5pPr>
          </a:lstStyle>
          <a:p>
            <a:r>
              <a:rPr lang="zh-CN" altLang="en-US"/>
              <a:t>汇报人 </a:t>
            </a:r>
            <a:r>
              <a:rPr lang="en-US" altLang="zh-CN"/>
              <a:t>/ OfficePLUS</a:t>
            </a:r>
          </a:p>
        </p:txBody>
      </p:sp>
    </p:spTree>
    <p:extLst>
      <p:ext uri="{BB962C8B-B14F-4D97-AF65-F5344CB8AC3E}">
        <p14:creationId xmlns:p14="http://schemas.microsoft.com/office/powerpoint/2010/main" val="228315518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3" name="任意多边形: 形状 12"/>
          <p:cNvSpPr/>
          <p:nvPr userDrawn="1"/>
        </p:nvSpPr>
        <p:spPr>
          <a:xfrm rot="5400000">
            <a:off x="7835764" y="2487769"/>
            <a:ext cx="2561893" cy="54580"/>
          </a:xfrm>
          <a:custGeom>
            <a:avLst/>
            <a:gdLst>
              <a:gd name="connsiteX0" fmla="*/ 0 w 3415857"/>
              <a:gd name="connsiteY0" fmla="*/ 0 h 72773"/>
              <a:gd name="connsiteX1" fmla="*/ 3415857 w 3415857"/>
              <a:gd name="connsiteY1" fmla="*/ 0 h 72773"/>
              <a:gd name="connsiteX2" fmla="*/ 3402337 w 3415857"/>
              <a:gd name="connsiteY2" fmla="*/ 20052 h 72773"/>
              <a:gd name="connsiteX3" fmla="*/ 3275058 w 3415857"/>
              <a:gd name="connsiteY3" fmla="*/ 72773 h 72773"/>
              <a:gd name="connsiteX4" fmla="*/ 140798 w 3415857"/>
              <a:gd name="connsiteY4" fmla="*/ 72773 h 72773"/>
              <a:gd name="connsiteX5" fmla="*/ 13519 w 3415857"/>
              <a:gd name="connsiteY5" fmla="*/ 20052 h 7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5857" h="72773">
                <a:moveTo>
                  <a:pt x="0" y="0"/>
                </a:moveTo>
                <a:lnTo>
                  <a:pt x="3415857" y="0"/>
                </a:lnTo>
                <a:lnTo>
                  <a:pt x="3402337" y="20052"/>
                </a:lnTo>
                <a:cubicBezTo>
                  <a:pt x="3369764" y="52626"/>
                  <a:pt x="3324764" y="72773"/>
                  <a:pt x="3275058" y="72773"/>
                </a:cubicBezTo>
                <a:lnTo>
                  <a:pt x="140798" y="72773"/>
                </a:lnTo>
                <a:cubicBezTo>
                  <a:pt x="91093" y="72773"/>
                  <a:pt x="46093" y="52626"/>
                  <a:pt x="13519" y="2005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1200" b="1">
              <a:solidFill>
                <a:schemeClr val="bg1"/>
              </a:solidFill>
              <a:latin typeface="+mn-ea"/>
              <a:ea typeface="+mn-ea"/>
            </a:endParaRPr>
          </a:p>
        </p:txBody>
      </p:sp>
      <p:sp>
        <p:nvSpPr>
          <p:cNvPr id="20" name="任意多边形: 形状 19"/>
          <p:cNvSpPr/>
          <p:nvPr userDrawn="1"/>
        </p:nvSpPr>
        <p:spPr>
          <a:xfrm>
            <a:off x="0" y="4525805"/>
            <a:ext cx="9144000" cy="617694"/>
          </a:xfrm>
          <a:custGeom>
            <a:avLst/>
            <a:gdLst>
              <a:gd name="connsiteX0" fmla="*/ 12192000 w 12192000"/>
              <a:gd name="connsiteY0" fmla="*/ 0 h 823592"/>
              <a:gd name="connsiteX1" fmla="*/ 12192000 w 12192000"/>
              <a:gd name="connsiteY1" fmla="*/ 823592 h 823592"/>
              <a:gd name="connsiteX2" fmla="*/ 0 w 12192000"/>
              <a:gd name="connsiteY2" fmla="*/ 823592 h 823592"/>
              <a:gd name="connsiteX3" fmla="*/ 0 w 12192000"/>
              <a:gd name="connsiteY3" fmla="*/ 602517 h 823592"/>
              <a:gd name="connsiteX4" fmla="*/ 27690 w 12192000"/>
              <a:gd name="connsiteY4" fmla="*/ 610941 h 823592"/>
              <a:gd name="connsiteX5" fmla="*/ 116123 w 12192000"/>
              <a:gd name="connsiteY5" fmla="*/ 633294 h 823592"/>
              <a:gd name="connsiteX6" fmla="*/ 171792 w 12192000"/>
              <a:gd name="connsiteY6" fmla="*/ 633294 h 823592"/>
              <a:gd name="connsiteX7" fmla="*/ 366630 w 12192000"/>
              <a:gd name="connsiteY7" fmla="*/ 659935 h 823592"/>
              <a:gd name="connsiteX8" fmla="*/ 539201 w 12192000"/>
              <a:gd name="connsiteY8" fmla="*/ 652323 h 823592"/>
              <a:gd name="connsiteX9" fmla="*/ 4035167 w 12192000"/>
              <a:gd name="connsiteY9" fmla="*/ 194288 h 823592"/>
              <a:gd name="connsiteX10" fmla="*/ 8327186 w 12192000"/>
              <a:gd name="connsiteY10" fmla="*/ 559992 h 823592"/>
              <a:gd name="connsiteX11" fmla="*/ 10691229 w 12192000"/>
              <a:gd name="connsiteY11" fmla="*/ 467660 h 823592"/>
              <a:gd name="connsiteX12" fmla="*/ 12086839 w 12192000"/>
              <a:gd name="connsiteY12" fmla="*/ 47357 h 823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823592">
                <a:moveTo>
                  <a:pt x="12192000" y="0"/>
                </a:moveTo>
                <a:lnTo>
                  <a:pt x="12192000" y="823592"/>
                </a:lnTo>
                <a:lnTo>
                  <a:pt x="0" y="823592"/>
                </a:lnTo>
                <a:lnTo>
                  <a:pt x="0" y="602517"/>
                </a:lnTo>
                <a:lnTo>
                  <a:pt x="27690" y="610941"/>
                </a:lnTo>
                <a:cubicBezTo>
                  <a:pt x="63412" y="621252"/>
                  <a:pt x="93508" y="629091"/>
                  <a:pt x="116123" y="633294"/>
                </a:cubicBezTo>
                <a:cubicBezTo>
                  <a:pt x="297045" y="666913"/>
                  <a:pt x="137463" y="630122"/>
                  <a:pt x="171792" y="633294"/>
                </a:cubicBezTo>
                <a:cubicBezTo>
                  <a:pt x="206120" y="636465"/>
                  <a:pt x="305396" y="656764"/>
                  <a:pt x="366630" y="659935"/>
                </a:cubicBezTo>
                <a:cubicBezTo>
                  <a:pt x="427865" y="663107"/>
                  <a:pt x="539201" y="652323"/>
                  <a:pt x="539201" y="652323"/>
                </a:cubicBezTo>
                <a:cubicBezTo>
                  <a:pt x="1150624" y="587621"/>
                  <a:pt x="2737169" y="209677"/>
                  <a:pt x="4035167" y="194288"/>
                </a:cubicBezTo>
                <a:cubicBezTo>
                  <a:pt x="5333164" y="178900"/>
                  <a:pt x="7217843" y="514430"/>
                  <a:pt x="8327186" y="559992"/>
                </a:cubicBezTo>
                <a:cubicBezTo>
                  <a:pt x="9436530" y="605553"/>
                  <a:pt x="9989036" y="588221"/>
                  <a:pt x="10691229" y="467660"/>
                </a:cubicBezTo>
                <a:cubicBezTo>
                  <a:pt x="11217874" y="377239"/>
                  <a:pt x="11643576" y="239610"/>
                  <a:pt x="12086839" y="47357"/>
                </a:cubicBezTo>
                <a:close/>
              </a:path>
            </a:pathLst>
          </a:custGeom>
          <a:gradFill>
            <a:gsLst>
              <a:gs pos="0">
                <a:schemeClr val="accent2">
                  <a:alpha val="20000"/>
                </a:schemeClr>
              </a:gs>
              <a:gs pos="100000">
                <a:schemeClr val="accent1">
                  <a:alpha val="2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mn-ea"/>
            </a:endParaRPr>
          </a:p>
        </p:txBody>
      </p:sp>
      <p:sp>
        <p:nvSpPr>
          <p:cNvPr id="21" name="任意多边形: 形状 20"/>
          <p:cNvSpPr/>
          <p:nvPr userDrawn="1"/>
        </p:nvSpPr>
        <p:spPr>
          <a:xfrm>
            <a:off x="0" y="4760119"/>
            <a:ext cx="9144000" cy="383381"/>
          </a:xfrm>
          <a:custGeom>
            <a:avLst/>
            <a:gdLst>
              <a:gd name="connsiteX0" fmla="*/ 2286000 w 12192000"/>
              <a:gd name="connsiteY0" fmla="*/ 1993 h 728662"/>
              <a:gd name="connsiteX1" fmla="*/ 12192000 w 12192000"/>
              <a:gd name="connsiteY1" fmla="*/ 189800 h 728662"/>
              <a:gd name="connsiteX2" fmla="*/ 12192000 w 12192000"/>
              <a:gd name="connsiteY2" fmla="*/ 728662 h 728662"/>
              <a:gd name="connsiteX3" fmla="*/ 0 w 12192000"/>
              <a:gd name="connsiteY3" fmla="*/ 728662 h 728662"/>
              <a:gd name="connsiteX4" fmla="*/ 0 w 12192000"/>
              <a:gd name="connsiteY4" fmla="*/ 189800 h 728662"/>
              <a:gd name="connsiteX5" fmla="*/ 2286000 w 12192000"/>
              <a:gd name="connsiteY5" fmla="*/ 1993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728662">
                <a:moveTo>
                  <a:pt x="2286000" y="1993"/>
                </a:moveTo>
                <a:cubicBezTo>
                  <a:pt x="5588000" y="-43916"/>
                  <a:pt x="8890000" y="724008"/>
                  <a:pt x="12192000" y="189800"/>
                </a:cubicBezTo>
                <a:lnTo>
                  <a:pt x="12192000" y="728662"/>
                </a:lnTo>
                <a:lnTo>
                  <a:pt x="0" y="728662"/>
                </a:lnTo>
                <a:lnTo>
                  <a:pt x="0" y="189800"/>
                </a:lnTo>
                <a:cubicBezTo>
                  <a:pt x="762000" y="66522"/>
                  <a:pt x="1524000" y="12587"/>
                  <a:pt x="2286000" y="1993"/>
                </a:cubicBezTo>
                <a:close/>
              </a:path>
            </a:pathLst>
          </a:custGeom>
          <a:gradFill>
            <a:gsLst>
              <a:gs pos="0">
                <a:schemeClr val="accent2"/>
              </a:gs>
              <a:gs pos="100000">
                <a:schemeClr val="accent1"/>
              </a:gs>
            </a:gsLst>
            <a:lin ang="5400000" scaled="1"/>
          </a:gradFill>
          <a:ln>
            <a:noFill/>
          </a:ln>
          <a:effectLst>
            <a:outerShdw blurRad="254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200" b="1" noProof="0">
              <a:solidFill>
                <a:schemeClr val="bg1"/>
              </a:solidFill>
              <a:latin typeface="+mj-ea"/>
              <a:ea typeface="+mj-ea"/>
            </a:endParaRPr>
          </a:p>
        </p:txBody>
      </p:sp>
      <p:grpSp>
        <p:nvGrpSpPr>
          <p:cNvPr id="22" name="组合 21"/>
          <p:cNvGrpSpPr/>
          <p:nvPr userDrawn="1"/>
        </p:nvGrpSpPr>
        <p:grpSpPr>
          <a:xfrm>
            <a:off x="752411" y="1310322"/>
            <a:ext cx="1724025" cy="2409473"/>
            <a:chOff x="754559" y="1735597"/>
            <a:chExt cx="2298700" cy="3212630"/>
          </a:xfrm>
        </p:grpSpPr>
        <p:sp>
          <p:nvSpPr>
            <p:cNvPr id="11" name="矩形: 圆角 10"/>
            <p:cNvSpPr/>
            <p:nvPr userDrawn="1"/>
          </p:nvSpPr>
          <p:spPr>
            <a:xfrm>
              <a:off x="754559" y="1735597"/>
              <a:ext cx="2298700" cy="3212630"/>
            </a:xfrm>
            <a:prstGeom prst="roundRect">
              <a:avLst>
                <a:gd name="adj" fmla="val 49763"/>
              </a:avLst>
            </a:prstGeom>
            <a:gradFill>
              <a:gsLst>
                <a:gs pos="0">
                  <a:schemeClr val="accent2"/>
                </a:gs>
                <a:gs pos="100000">
                  <a:schemeClr val="accent1"/>
                </a:gs>
              </a:gsLst>
              <a:lin ang="5400000" scaled="1"/>
            </a:gradFill>
            <a:ln>
              <a:noFill/>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ea typeface="汉仪旗黑-45S" panose="00020600040101010101" pitchFamily="18" charset="-122"/>
              </a:endParaRPr>
            </a:p>
          </p:txBody>
        </p:sp>
        <p:sp>
          <p:nvSpPr>
            <p:cNvPr id="12" name="文本框 11"/>
            <p:cNvSpPr txBox="1"/>
            <p:nvPr userDrawn="1"/>
          </p:nvSpPr>
          <p:spPr>
            <a:xfrm>
              <a:off x="1042448" y="3150311"/>
              <a:ext cx="1722923" cy="1231106"/>
            </a:xfrm>
            <a:prstGeom prst="rect">
              <a:avLst/>
            </a:prstGeom>
            <a:noFill/>
          </p:spPr>
          <p:txBody>
            <a:bodyPr wrap="square" rtlCol="0">
              <a:spAutoFit/>
            </a:bodyPr>
            <a:lstStyle/>
            <a:p>
              <a:pPr algn="ctr"/>
              <a:r>
                <a:rPr lang="zh-CN" altLang="en-US" sz="3600" b="1">
                  <a:solidFill>
                    <a:schemeClr val="bg1"/>
                  </a:solidFill>
                  <a:latin typeface="OPPOSans B" panose="00020600040101010101" pitchFamily="18" charset="-122"/>
                  <a:ea typeface="OPPOSans B" panose="00020600040101010101" pitchFamily="18" charset="-122"/>
                </a:rPr>
                <a:t>目录</a:t>
              </a:r>
              <a:endParaRPr lang="en-US" altLang="zh-CN" sz="3600" b="1">
                <a:solidFill>
                  <a:schemeClr val="bg1"/>
                </a:solidFill>
                <a:latin typeface="OPPOSans B" panose="00020600040101010101" pitchFamily="18" charset="-122"/>
                <a:ea typeface="OPPOSans B" panose="00020600040101010101" pitchFamily="18" charset="-122"/>
              </a:endParaRPr>
            </a:p>
            <a:p>
              <a:pPr algn="ctr"/>
              <a:r>
                <a:rPr lang="en-US" altLang="zh-CN" sz="1800" b="1">
                  <a:solidFill>
                    <a:schemeClr val="bg1"/>
                  </a:solidFill>
                  <a:latin typeface="OPPOSans B" panose="00020600040101010101" pitchFamily="18" charset="-122"/>
                  <a:ea typeface="OPPOSans B" panose="00020600040101010101" pitchFamily="18" charset="-122"/>
                </a:rPr>
                <a:t>Content</a:t>
              </a:r>
              <a:endParaRPr lang="zh-CN" altLang="en-US" sz="1800" b="1">
                <a:solidFill>
                  <a:schemeClr val="bg1"/>
                </a:solidFill>
                <a:latin typeface="OPPOSans B" panose="00020600040101010101" pitchFamily="18" charset="-122"/>
                <a:ea typeface="OPPOSans B" panose="00020600040101010101" pitchFamily="18" charset="-122"/>
              </a:endParaRPr>
            </a:p>
          </p:txBody>
        </p:sp>
        <p:sp>
          <p:nvSpPr>
            <p:cNvPr id="14" name="任意多边形: 形状 13"/>
            <p:cNvSpPr/>
            <p:nvPr userDrawn="1"/>
          </p:nvSpPr>
          <p:spPr>
            <a:xfrm>
              <a:off x="1689586" y="2499607"/>
              <a:ext cx="428646" cy="428083"/>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a:latin typeface="汉仪旗黑-45S" panose="00020600040101010101" pitchFamily="18" charset="-122"/>
              </a:endParaRPr>
            </a:p>
          </p:txBody>
        </p:sp>
      </p:grpSp>
      <p:sp>
        <p:nvSpPr>
          <p:cNvPr id="15" name="矩形: 圆角 14"/>
          <p:cNvSpPr/>
          <p:nvPr userDrawn="1"/>
        </p:nvSpPr>
        <p:spPr>
          <a:xfrm>
            <a:off x="467138" y="911629"/>
            <a:ext cx="2294571" cy="3206859"/>
          </a:xfrm>
          <a:prstGeom prst="roundRect">
            <a:avLst>
              <a:gd name="adj" fmla="val 49763"/>
            </a:avLst>
          </a:prstGeom>
          <a:gradFill>
            <a:gsLst>
              <a:gs pos="0">
                <a:schemeClr val="accent2">
                  <a:alpha val="10000"/>
                </a:schemeClr>
              </a:gs>
              <a:gs pos="100000">
                <a:schemeClr val="accent1">
                  <a:alpha val="10000"/>
                </a:schemeClr>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350" b="1">
              <a:ea typeface="汉仪旗黑-45S" panose="00020600040101010101" pitchFamily="18" charset="-122"/>
            </a:endParaRPr>
          </a:p>
        </p:txBody>
      </p:sp>
    </p:spTree>
    <p:extLst>
      <p:ext uri="{BB962C8B-B14F-4D97-AF65-F5344CB8AC3E}">
        <p14:creationId xmlns:p14="http://schemas.microsoft.com/office/powerpoint/2010/main" val="316872761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0" name="任意多边形: 形状 19"/>
          <p:cNvSpPr/>
          <p:nvPr userDrawn="1"/>
        </p:nvSpPr>
        <p:spPr>
          <a:xfrm>
            <a:off x="0" y="4525805"/>
            <a:ext cx="9144000" cy="617694"/>
          </a:xfrm>
          <a:custGeom>
            <a:avLst/>
            <a:gdLst>
              <a:gd name="connsiteX0" fmla="*/ 12192000 w 12192000"/>
              <a:gd name="connsiteY0" fmla="*/ 0 h 823592"/>
              <a:gd name="connsiteX1" fmla="*/ 12192000 w 12192000"/>
              <a:gd name="connsiteY1" fmla="*/ 823592 h 823592"/>
              <a:gd name="connsiteX2" fmla="*/ 0 w 12192000"/>
              <a:gd name="connsiteY2" fmla="*/ 823592 h 823592"/>
              <a:gd name="connsiteX3" fmla="*/ 0 w 12192000"/>
              <a:gd name="connsiteY3" fmla="*/ 602517 h 823592"/>
              <a:gd name="connsiteX4" fmla="*/ 27690 w 12192000"/>
              <a:gd name="connsiteY4" fmla="*/ 610941 h 823592"/>
              <a:gd name="connsiteX5" fmla="*/ 116123 w 12192000"/>
              <a:gd name="connsiteY5" fmla="*/ 633294 h 823592"/>
              <a:gd name="connsiteX6" fmla="*/ 171792 w 12192000"/>
              <a:gd name="connsiteY6" fmla="*/ 633294 h 823592"/>
              <a:gd name="connsiteX7" fmla="*/ 366630 w 12192000"/>
              <a:gd name="connsiteY7" fmla="*/ 659935 h 823592"/>
              <a:gd name="connsiteX8" fmla="*/ 539201 w 12192000"/>
              <a:gd name="connsiteY8" fmla="*/ 652323 h 823592"/>
              <a:gd name="connsiteX9" fmla="*/ 4035167 w 12192000"/>
              <a:gd name="connsiteY9" fmla="*/ 194288 h 823592"/>
              <a:gd name="connsiteX10" fmla="*/ 8327186 w 12192000"/>
              <a:gd name="connsiteY10" fmla="*/ 559992 h 823592"/>
              <a:gd name="connsiteX11" fmla="*/ 10691229 w 12192000"/>
              <a:gd name="connsiteY11" fmla="*/ 467660 h 823592"/>
              <a:gd name="connsiteX12" fmla="*/ 12086839 w 12192000"/>
              <a:gd name="connsiteY12" fmla="*/ 47357 h 823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823592">
                <a:moveTo>
                  <a:pt x="12192000" y="0"/>
                </a:moveTo>
                <a:lnTo>
                  <a:pt x="12192000" y="823592"/>
                </a:lnTo>
                <a:lnTo>
                  <a:pt x="0" y="823592"/>
                </a:lnTo>
                <a:lnTo>
                  <a:pt x="0" y="602517"/>
                </a:lnTo>
                <a:lnTo>
                  <a:pt x="27690" y="610941"/>
                </a:lnTo>
                <a:cubicBezTo>
                  <a:pt x="63412" y="621252"/>
                  <a:pt x="93508" y="629091"/>
                  <a:pt x="116123" y="633294"/>
                </a:cubicBezTo>
                <a:cubicBezTo>
                  <a:pt x="297045" y="666913"/>
                  <a:pt x="137463" y="630122"/>
                  <a:pt x="171792" y="633294"/>
                </a:cubicBezTo>
                <a:cubicBezTo>
                  <a:pt x="206120" y="636465"/>
                  <a:pt x="305396" y="656764"/>
                  <a:pt x="366630" y="659935"/>
                </a:cubicBezTo>
                <a:cubicBezTo>
                  <a:pt x="427865" y="663107"/>
                  <a:pt x="539201" y="652323"/>
                  <a:pt x="539201" y="652323"/>
                </a:cubicBezTo>
                <a:cubicBezTo>
                  <a:pt x="1150624" y="587621"/>
                  <a:pt x="2737169" y="209677"/>
                  <a:pt x="4035167" y="194288"/>
                </a:cubicBezTo>
                <a:cubicBezTo>
                  <a:pt x="5333164" y="178900"/>
                  <a:pt x="7217843" y="514430"/>
                  <a:pt x="8327186" y="559992"/>
                </a:cubicBezTo>
                <a:cubicBezTo>
                  <a:pt x="9436530" y="605553"/>
                  <a:pt x="9989036" y="588221"/>
                  <a:pt x="10691229" y="467660"/>
                </a:cubicBezTo>
                <a:cubicBezTo>
                  <a:pt x="11217874" y="377239"/>
                  <a:pt x="11643576" y="239610"/>
                  <a:pt x="12086839" y="47357"/>
                </a:cubicBezTo>
                <a:close/>
              </a:path>
            </a:pathLst>
          </a:custGeom>
          <a:gradFill>
            <a:gsLst>
              <a:gs pos="0">
                <a:schemeClr val="accent2">
                  <a:alpha val="20000"/>
                </a:schemeClr>
              </a:gs>
              <a:gs pos="100000">
                <a:schemeClr val="accent1">
                  <a:alpha val="2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mn-ea"/>
            </a:endParaRPr>
          </a:p>
        </p:txBody>
      </p:sp>
      <p:sp>
        <p:nvSpPr>
          <p:cNvPr id="21" name="任意多边形: 形状 20"/>
          <p:cNvSpPr/>
          <p:nvPr userDrawn="1"/>
        </p:nvSpPr>
        <p:spPr>
          <a:xfrm>
            <a:off x="0" y="4760119"/>
            <a:ext cx="9144000" cy="383381"/>
          </a:xfrm>
          <a:custGeom>
            <a:avLst/>
            <a:gdLst>
              <a:gd name="connsiteX0" fmla="*/ 2286000 w 12192000"/>
              <a:gd name="connsiteY0" fmla="*/ 1993 h 728662"/>
              <a:gd name="connsiteX1" fmla="*/ 12192000 w 12192000"/>
              <a:gd name="connsiteY1" fmla="*/ 189800 h 728662"/>
              <a:gd name="connsiteX2" fmla="*/ 12192000 w 12192000"/>
              <a:gd name="connsiteY2" fmla="*/ 728662 h 728662"/>
              <a:gd name="connsiteX3" fmla="*/ 0 w 12192000"/>
              <a:gd name="connsiteY3" fmla="*/ 728662 h 728662"/>
              <a:gd name="connsiteX4" fmla="*/ 0 w 12192000"/>
              <a:gd name="connsiteY4" fmla="*/ 189800 h 728662"/>
              <a:gd name="connsiteX5" fmla="*/ 2286000 w 12192000"/>
              <a:gd name="connsiteY5" fmla="*/ 1993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728662">
                <a:moveTo>
                  <a:pt x="2286000" y="1993"/>
                </a:moveTo>
                <a:cubicBezTo>
                  <a:pt x="5588000" y="-43916"/>
                  <a:pt x="8890000" y="724008"/>
                  <a:pt x="12192000" y="189800"/>
                </a:cubicBezTo>
                <a:lnTo>
                  <a:pt x="12192000" y="728662"/>
                </a:lnTo>
                <a:lnTo>
                  <a:pt x="0" y="728662"/>
                </a:lnTo>
                <a:lnTo>
                  <a:pt x="0" y="189800"/>
                </a:lnTo>
                <a:cubicBezTo>
                  <a:pt x="762000" y="66522"/>
                  <a:pt x="1524000" y="12587"/>
                  <a:pt x="2286000" y="1993"/>
                </a:cubicBezTo>
                <a:close/>
              </a:path>
            </a:pathLst>
          </a:custGeom>
          <a:gradFill>
            <a:gsLst>
              <a:gs pos="0">
                <a:schemeClr val="accent2"/>
              </a:gs>
              <a:gs pos="100000">
                <a:schemeClr val="accent1"/>
              </a:gs>
            </a:gsLst>
            <a:lin ang="5400000" scaled="1"/>
          </a:gradFill>
          <a:ln>
            <a:noFill/>
          </a:ln>
          <a:effectLst>
            <a:outerShdw blurRad="254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200" b="1" noProof="0">
              <a:solidFill>
                <a:schemeClr val="bg1"/>
              </a:solidFill>
              <a:latin typeface="+mj-ea"/>
              <a:ea typeface="+mj-ea"/>
            </a:endParaRPr>
          </a:p>
        </p:txBody>
      </p:sp>
      <p:sp>
        <p:nvSpPr>
          <p:cNvPr id="4" name="矩形: 圆角 3"/>
          <p:cNvSpPr/>
          <p:nvPr userDrawn="1"/>
        </p:nvSpPr>
        <p:spPr>
          <a:xfrm>
            <a:off x="2395358" y="1236198"/>
            <a:ext cx="4353284" cy="1464467"/>
          </a:xfrm>
          <a:prstGeom prst="roundRect">
            <a:avLst>
              <a:gd name="adj" fmla="val 49763"/>
            </a:avLst>
          </a:prstGeom>
          <a:gradFill>
            <a:gsLst>
              <a:gs pos="0">
                <a:schemeClr val="accent2">
                  <a:alpha val="10000"/>
                </a:schemeClr>
              </a:gs>
              <a:gs pos="100000">
                <a:schemeClr val="accent1">
                  <a:alpha val="10000"/>
                </a:schemeClr>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ea typeface="汉仪旗黑-45S" panose="00020600040101010101" pitchFamily="18" charset="-122"/>
            </a:endParaRPr>
          </a:p>
        </p:txBody>
      </p:sp>
      <p:sp>
        <p:nvSpPr>
          <p:cNvPr id="5" name="矩形: 圆角 4"/>
          <p:cNvSpPr/>
          <p:nvPr userDrawn="1"/>
        </p:nvSpPr>
        <p:spPr>
          <a:xfrm>
            <a:off x="2838476" y="1526548"/>
            <a:ext cx="3467049" cy="883767"/>
          </a:xfrm>
          <a:prstGeom prst="roundRect">
            <a:avLst>
              <a:gd name="adj" fmla="val 50000"/>
            </a:avLst>
          </a:prstGeom>
          <a:gradFill>
            <a:gsLst>
              <a:gs pos="0">
                <a:schemeClr val="accent2"/>
              </a:gs>
              <a:gs pos="100000">
                <a:schemeClr val="accent1"/>
              </a:gs>
            </a:gsLst>
            <a:lin ang="5400000" scaled="1"/>
          </a:gradFill>
          <a:ln>
            <a:noFill/>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ea typeface="汉仪旗黑-45S" panose="00020600040101010101" pitchFamily="18" charset="-122"/>
            </a:endParaRPr>
          </a:p>
        </p:txBody>
      </p:sp>
      <p:sp>
        <p:nvSpPr>
          <p:cNvPr id="8" name="任意多边形: 形状 7"/>
          <p:cNvSpPr/>
          <p:nvPr userDrawn="1"/>
        </p:nvSpPr>
        <p:spPr>
          <a:xfrm>
            <a:off x="3291054" y="3611759"/>
            <a:ext cx="2561893" cy="54580"/>
          </a:xfrm>
          <a:custGeom>
            <a:avLst/>
            <a:gdLst>
              <a:gd name="connsiteX0" fmla="*/ 0 w 3415857"/>
              <a:gd name="connsiteY0" fmla="*/ 0 h 72773"/>
              <a:gd name="connsiteX1" fmla="*/ 3415857 w 3415857"/>
              <a:gd name="connsiteY1" fmla="*/ 0 h 72773"/>
              <a:gd name="connsiteX2" fmla="*/ 3402337 w 3415857"/>
              <a:gd name="connsiteY2" fmla="*/ 20052 h 72773"/>
              <a:gd name="connsiteX3" fmla="*/ 3275058 w 3415857"/>
              <a:gd name="connsiteY3" fmla="*/ 72773 h 72773"/>
              <a:gd name="connsiteX4" fmla="*/ 140798 w 3415857"/>
              <a:gd name="connsiteY4" fmla="*/ 72773 h 72773"/>
              <a:gd name="connsiteX5" fmla="*/ 13519 w 3415857"/>
              <a:gd name="connsiteY5" fmla="*/ 20052 h 7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5857" h="72773">
                <a:moveTo>
                  <a:pt x="0" y="0"/>
                </a:moveTo>
                <a:lnTo>
                  <a:pt x="3415857" y="0"/>
                </a:lnTo>
                <a:lnTo>
                  <a:pt x="3402337" y="20052"/>
                </a:lnTo>
                <a:cubicBezTo>
                  <a:pt x="3369764" y="52626"/>
                  <a:pt x="3324764" y="72773"/>
                  <a:pt x="3275058" y="72773"/>
                </a:cubicBezTo>
                <a:lnTo>
                  <a:pt x="140798" y="72773"/>
                </a:lnTo>
                <a:cubicBezTo>
                  <a:pt x="91093" y="72773"/>
                  <a:pt x="46093" y="52626"/>
                  <a:pt x="13519" y="20052"/>
                </a:cubicBezTo>
                <a:close/>
              </a:path>
            </a:pathLst>
          </a:custGeom>
          <a:gradFill>
            <a:gsLst>
              <a:gs pos="0">
                <a:schemeClr val="accent2"/>
              </a:gs>
              <a:gs pos="100000">
                <a:schemeClr val="accent1"/>
              </a:gs>
            </a:gsLst>
            <a:lin ang="5400000" scaled="1"/>
          </a:gradFill>
          <a:ln>
            <a:noFill/>
          </a:ln>
          <a:effectLst>
            <a:outerShdw blurRad="381000" dist="38100" dir="5400000" sx="102000" sy="102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4500">
              <a:solidFill>
                <a:srgbClr val="FFFFFF"/>
              </a:solidFill>
              <a:latin typeface="+mn-ea"/>
            </a:endParaRPr>
          </a:p>
        </p:txBody>
      </p:sp>
      <p:sp>
        <p:nvSpPr>
          <p:cNvPr id="15" name="文本占位符 14"/>
          <p:cNvSpPr>
            <a:spLocks noGrp="1"/>
          </p:cNvSpPr>
          <p:nvPr userDrawn="1">
            <p:ph type="body" sz="quarter" idx="14" hasCustomPrompt="1"/>
          </p:nvPr>
        </p:nvSpPr>
        <p:spPr>
          <a:xfrm>
            <a:off x="2647595" y="2886743"/>
            <a:ext cx="3848811" cy="659091"/>
          </a:xfrm>
          <a:prstGeom prst="rect">
            <a:avLst/>
          </a:prstGeom>
          <a:noFill/>
          <a:effectLst/>
        </p:spPr>
        <p:txBody>
          <a:bodyPr wrap="none" lIns="0" tIns="0" rIns="0" bIns="0" rtlCol="0">
            <a:spAutoFit/>
          </a:bodyPr>
          <a:lstStyle>
            <a:lvl1pPr marL="0" indent="0">
              <a:buFontTx/>
              <a:buNone/>
              <a:defRPr lang="en-US" altLang="zh-CN" sz="4283" b="1" dirty="0">
                <a:gradFill>
                  <a:gsLst>
                    <a:gs pos="0">
                      <a:schemeClr val="accent2"/>
                    </a:gs>
                    <a:gs pos="100000">
                      <a:schemeClr val="accent1"/>
                    </a:gs>
                  </a:gsLst>
                  <a:lin ang="5400000" scaled="1"/>
                </a:gradFill>
                <a:latin typeface="+mj-ea"/>
                <a:ea typeface="+mj-ea"/>
              </a:defRPr>
            </a:lvl1pPr>
          </a:lstStyle>
          <a:p>
            <a:pPr marL="171450" marR="0" lvl="0" indent="-171450" algn="ctr" fontAlgn="auto">
              <a:lnSpc>
                <a:spcPct val="100000"/>
              </a:lnSpc>
              <a:spcBef>
                <a:spcPts val="0"/>
              </a:spcBef>
              <a:buClrTx/>
              <a:buSzTx/>
            </a:pPr>
            <a:r>
              <a:rPr lang="zh-CN" altLang="en-US"/>
              <a:t>单击输入节标题</a:t>
            </a:r>
            <a:endParaRPr lang="en-US" altLang="zh-CN"/>
          </a:p>
        </p:txBody>
      </p:sp>
      <p:sp>
        <p:nvSpPr>
          <p:cNvPr id="16" name="文本占位符 15"/>
          <p:cNvSpPr>
            <a:spLocks noGrp="1"/>
          </p:cNvSpPr>
          <p:nvPr>
            <p:ph type="body" sz="quarter" idx="15" hasCustomPrompt="1"/>
          </p:nvPr>
        </p:nvSpPr>
        <p:spPr>
          <a:xfrm>
            <a:off x="3646650" y="1699322"/>
            <a:ext cx="1850699" cy="623248"/>
          </a:xfrm>
          <a:prstGeom prst="rect">
            <a:avLst/>
          </a:prstGeom>
          <a:noFill/>
          <a:effectLst/>
        </p:spPr>
        <p:txBody>
          <a:bodyPr wrap="none" lIns="0" tIns="0" rIns="0" bIns="0" rtlCol="0">
            <a:spAutoFit/>
          </a:bodyPr>
          <a:lstStyle>
            <a:lvl1pPr marL="0" indent="0">
              <a:buFontTx/>
              <a:buNone/>
              <a:defRPr lang="en-US" altLang="zh-CN" sz="4050" b="1" dirty="0">
                <a:solidFill>
                  <a:schemeClr val="bg1"/>
                </a:solidFill>
                <a:latin typeface="+mj-ea"/>
                <a:ea typeface="+mj-ea"/>
              </a:defRPr>
            </a:lvl1pPr>
          </a:lstStyle>
          <a:p>
            <a:pPr marL="171450" marR="0" lvl="0" indent="-171450" algn="ctr" fontAlgn="auto">
              <a:lnSpc>
                <a:spcPct val="100000"/>
              </a:lnSpc>
              <a:spcBef>
                <a:spcPts val="0"/>
              </a:spcBef>
              <a:buClrTx/>
              <a:buSzTx/>
            </a:pPr>
            <a:r>
              <a:rPr lang="en-US" altLang="zh-CN"/>
              <a:t>PART 1</a:t>
            </a:r>
          </a:p>
        </p:txBody>
      </p:sp>
    </p:spTree>
    <p:extLst>
      <p:ext uri="{BB962C8B-B14F-4D97-AF65-F5344CB8AC3E}">
        <p14:creationId xmlns:p14="http://schemas.microsoft.com/office/powerpoint/2010/main" val="391393962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2" name="任意多边形: 形状 11"/>
          <p:cNvSpPr/>
          <p:nvPr userDrawn="1"/>
        </p:nvSpPr>
        <p:spPr>
          <a:xfrm>
            <a:off x="0" y="4525805"/>
            <a:ext cx="9144000" cy="617694"/>
          </a:xfrm>
          <a:custGeom>
            <a:avLst/>
            <a:gdLst>
              <a:gd name="connsiteX0" fmla="*/ 12192000 w 12192000"/>
              <a:gd name="connsiteY0" fmla="*/ 0 h 823592"/>
              <a:gd name="connsiteX1" fmla="*/ 12192000 w 12192000"/>
              <a:gd name="connsiteY1" fmla="*/ 823592 h 823592"/>
              <a:gd name="connsiteX2" fmla="*/ 0 w 12192000"/>
              <a:gd name="connsiteY2" fmla="*/ 823592 h 823592"/>
              <a:gd name="connsiteX3" fmla="*/ 0 w 12192000"/>
              <a:gd name="connsiteY3" fmla="*/ 602517 h 823592"/>
              <a:gd name="connsiteX4" fmla="*/ 27690 w 12192000"/>
              <a:gd name="connsiteY4" fmla="*/ 610941 h 823592"/>
              <a:gd name="connsiteX5" fmla="*/ 116123 w 12192000"/>
              <a:gd name="connsiteY5" fmla="*/ 633294 h 823592"/>
              <a:gd name="connsiteX6" fmla="*/ 171792 w 12192000"/>
              <a:gd name="connsiteY6" fmla="*/ 633294 h 823592"/>
              <a:gd name="connsiteX7" fmla="*/ 366630 w 12192000"/>
              <a:gd name="connsiteY7" fmla="*/ 659935 h 823592"/>
              <a:gd name="connsiteX8" fmla="*/ 539201 w 12192000"/>
              <a:gd name="connsiteY8" fmla="*/ 652323 h 823592"/>
              <a:gd name="connsiteX9" fmla="*/ 4035167 w 12192000"/>
              <a:gd name="connsiteY9" fmla="*/ 194288 h 823592"/>
              <a:gd name="connsiteX10" fmla="*/ 8327186 w 12192000"/>
              <a:gd name="connsiteY10" fmla="*/ 559992 h 823592"/>
              <a:gd name="connsiteX11" fmla="*/ 10691229 w 12192000"/>
              <a:gd name="connsiteY11" fmla="*/ 467660 h 823592"/>
              <a:gd name="connsiteX12" fmla="*/ 12086839 w 12192000"/>
              <a:gd name="connsiteY12" fmla="*/ 47357 h 823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823592">
                <a:moveTo>
                  <a:pt x="12192000" y="0"/>
                </a:moveTo>
                <a:lnTo>
                  <a:pt x="12192000" y="823592"/>
                </a:lnTo>
                <a:lnTo>
                  <a:pt x="0" y="823592"/>
                </a:lnTo>
                <a:lnTo>
                  <a:pt x="0" y="602517"/>
                </a:lnTo>
                <a:lnTo>
                  <a:pt x="27690" y="610941"/>
                </a:lnTo>
                <a:cubicBezTo>
                  <a:pt x="63412" y="621252"/>
                  <a:pt x="93508" y="629091"/>
                  <a:pt x="116123" y="633294"/>
                </a:cubicBezTo>
                <a:cubicBezTo>
                  <a:pt x="297045" y="666913"/>
                  <a:pt x="137463" y="630122"/>
                  <a:pt x="171792" y="633294"/>
                </a:cubicBezTo>
                <a:cubicBezTo>
                  <a:pt x="206120" y="636465"/>
                  <a:pt x="305396" y="656764"/>
                  <a:pt x="366630" y="659935"/>
                </a:cubicBezTo>
                <a:cubicBezTo>
                  <a:pt x="427865" y="663107"/>
                  <a:pt x="539201" y="652323"/>
                  <a:pt x="539201" y="652323"/>
                </a:cubicBezTo>
                <a:cubicBezTo>
                  <a:pt x="1150624" y="587621"/>
                  <a:pt x="2737169" y="209677"/>
                  <a:pt x="4035167" y="194288"/>
                </a:cubicBezTo>
                <a:cubicBezTo>
                  <a:pt x="5333164" y="178900"/>
                  <a:pt x="7217843" y="514430"/>
                  <a:pt x="8327186" y="559992"/>
                </a:cubicBezTo>
                <a:cubicBezTo>
                  <a:pt x="9436530" y="605553"/>
                  <a:pt x="9989036" y="588221"/>
                  <a:pt x="10691229" y="467660"/>
                </a:cubicBezTo>
                <a:cubicBezTo>
                  <a:pt x="11217874" y="377239"/>
                  <a:pt x="11643576" y="239610"/>
                  <a:pt x="12086839" y="47357"/>
                </a:cubicBezTo>
                <a:close/>
              </a:path>
            </a:pathLst>
          </a:custGeom>
          <a:gradFill>
            <a:gsLst>
              <a:gs pos="0">
                <a:schemeClr val="accent2">
                  <a:alpha val="20000"/>
                </a:schemeClr>
              </a:gs>
              <a:gs pos="100000">
                <a:schemeClr val="accent1">
                  <a:alpha val="2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mn-ea"/>
            </a:endParaRPr>
          </a:p>
        </p:txBody>
      </p:sp>
      <p:sp>
        <p:nvSpPr>
          <p:cNvPr id="13" name="任意多边形: 形状 12"/>
          <p:cNvSpPr/>
          <p:nvPr userDrawn="1"/>
        </p:nvSpPr>
        <p:spPr>
          <a:xfrm>
            <a:off x="0" y="4760119"/>
            <a:ext cx="9144000" cy="383381"/>
          </a:xfrm>
          <a:custGeom>
            <a:avLst/>
            <a:gdLst>
              <a:gd name="connsiteX0" fmla="*/ 2286000 w 12192000"/>
              <a:gd name="connsiteY0" fmla="*/ 1993 h 728662"/>
              <a:gd name="connsiteX1" fmla="*/ 12192000 w 12192000"/>
              <a:gd name="connsiteY1" fmla="*/ 189800 h 728662"/>
              <a:gd name="connsiteX2" fmla="*/ 12192000 w 12192000"/>
              <a:gd name="connsiteY2" fmla="*/ 728662 h 728662"/>
              <a:gd name="connsiteX3" fmla="*/ 0 w 12192000"/>
              <a:gd name="connsiteY3" fmla="*/ 728662 h 728662"/>
              <a:gd name="connsiteX4" fmla="*/ 0 w 12192000"/>
              <a:gd name="connsiteY4" fmla="*/ 189800 h 728662"/>
              <a:gd name="connsiteX5" fmla="*/ 2286000 w 12192000"/>
              <a:gd name="connsiteY5" fmla="*/ 1993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728662">
                <a:moveTo>
                  <a:pt x="2286000" y="1993"/>
                </a:moveTo>
                <a:cubicBezTo>
                  <a:pt x="5588000" y="-43916"/>
                  <a:pt x="8890000" y="724008"/>
                  <a:pt x="12192000" y="189800"/>
                </a:cubicBezTo>
                <a:lnTo>
                  <a:pt x="12192000" y="728662"/>
                </a:lnTo>
                <a:lnTo>
                  <a:pt x="0" y="728662"/>
                </a:lnTo>
                <a:lnTo>
                  <a:pt x="0" y="189800"/>
                </a:lnTo>
                <a:cubicBezTo>
                  <a:pt x="762000" y="66522"/>
                  <a:pt x="1524000" y="12587"/>
                  <a:pt x="2286000" y="1993"/>
                </a:cubicBezTo>
                <a:close/>
              </a:path>
            </a:pathLst>
          </a:custGeom>
          <a:gradFill>
            <a:gsLst>
              <a:gs pos="0">
                <a:schemeClr val="accent2"/>
              </a:gs>
              <a:gs pos="100000">
                <a:schemeClr val="accent1"/>
              </a:gs>
            </a:gsLst>
            <a:lin ang="5400000" scaled="1"/>
          </a:gradFill>
          <a:ln>
            <a:noFill/>
          </a:ln>
          <a:effectLst>
            <a:outerShdw blurRad="254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200" b="1" noProof="0">
              <a:solidFill>
                <a:schemeClr val="bg1"/>
              </a:solidFill>
              <a:latin typeface="+mj-ea"/>
              <a:ea typeface="+mj-ea"/>
            </a:endParaRPr>
          </a:p>
        </p:txBody>
      </p:sp>
      <p:sp>
        <p:nvSpPr>
          <p:cNvPr id="2" name="矩形: 圆角 1"/>
          <p:cNvSpPr/>
          <p:nvPr userDrawn="1"/>
        </p:nvSpPr>
        <p:spPr>
          <a:xfrm>
            <a:off x="3204222" y="275340"/>
            <a:ext cx="2735556" cy="463262"/>
          </a:xfrm>
          <a:prstGeom prst="roundRect">
            <a:avLst>
              <a:gd name="adj" fmla="val 50000"/>
            </a:avLst>
          </a:prstGeom>
          <a:gradFill>
            <a:gsLst>
              <a:gs pos="0">
                <a:schemeClr val="accent2"/>
              </a:gs>
              <a:gs pos="100000">
                <a:schemeClr val="accent1"/>
              </a:gs>
            </a:gsLst>
            <a:lin ang="5400000" scaled="1"/>
          </a:gradFill>
          <a:ln>
            <a:noFill/>
          </a:ln>
          <a:effectLst>
            <a:outerShdw blurRad="254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b="1">
              <a:solidFill>
                <a:schemeClr val="bg1"/>
              </a:solidFill>
              <a:latin typeface="+mj-ea"/>
              <a:ea typeface="+mj-ea"/>
            </a:endParaRPr>
          </a:p>
        </p:txBody>
      </p:sp>
      <p:sp>
        <p:nvSpPr>
          <p:cNvPr id="4" name="椭圆 3"/>
          <p:cNvSpPr/>
          <p:nvPr userDrawn="1"/>
        </p:nvSpPr>
        <p:spPr>
          <a:xfrm>
            <a:off x="3266810" y="328205"/>
            <a:ext cx="351000" cy="3510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800" b="1">
              <a:gradFill>
                <a:gsLst>
                  <a:gs pos="0">
                    <a:schemeClr val="accent2"/>
                  </a:gs>
                  <a:gs pos="100000">
                    <a:schemeClr val="accent1"/>
                  </a:gs>
                </a:gsLst>
                <a:lin ang="5400000" scaled="1"/>
              </a:gradFill>
              <a:latin typeface="+mj-ea"/>
              <a:ea typeface="+mj-ea"/>
            </a:endParaRPr>
          </a:p>
        </p:txBody>
      </p:sp>
      <p:sp>
        <p:nvSpPr>
          <p:cNvPr id="5" name="标题 4"/>
          <p:cNvSpPr>
            <a:spLocks noGrp="1"/>
          </p:cNvSpPr>
          <p:nvPr>
            <p:ph type="title" hasCustomPrompt="1"/>
          </p:nvPr>
        </p:nvSpPr>
        <p:spPr>
          <a:xfrm>
            <a:off x="3680399" y="296364"/>
            <a:ext cx="2103886" cy="415498"/>
          </a:xfrm>
          <a:prstGeom prst="rect">
            <a:avLst/>
          </a:prstGeom>
        </p:spPr>
        <p:txBody>
          <a:bodyPr vert="horz" wrap="square" lIns="91440" tIns="45720" rIns="91440" bIns="45720" rtlCol="0" anchor="b">
            <a:spAutoFit/>
          </a:bodyPr>
          <a:lstStyle>
            <a:lvl1pPr algn="dist">
              <a:lnSpc>
                <a:spcPct val="100000"/>
              </a:lnSpc>
              <a:defRPr lang="zh-CN" altLang="en-US" sz="2100">
                <a:solidFill>
                  <a:schemeClr val="bg1"/>
                </a:solidFill>
              </a:defRPr>
            </a:lvl1pPr>
          </a:lstStyle>
          <a:p>
            <a:pPr lvl="0" defTabSz="685800"/>
            <a:r>
              <a:rPr lang="zh-CN" altLang="en-US"/>
              <a:t>单击添加标题</a:t>
            </a:r>
          </a:p>
        </p:txBody>
      </p:sp>
      <p:sp>
        <p:nvSpPr>
          <p:cNvPr id="11" name="文本占位符 10"/>
          <p:cNvSpPr>
            <a:spLocks noGrp="1"/>
          </p:cNvSpPr>
          <p:nvPr>
            <p:ph type="body" idx="1" hasCustomPrompt="1"/>
          </p:nvPr>
        </p:nvSpPr>
        <p:spPr>
          <a:xfrm>
            <a:off x="3253310" y="314705"/>
            <a:ext cx="378000" cy="396583"/>
          </a:xfrm>
          <a:prstGeom prst="rect">
            <a:avLst/>
          </a:prstGeom>
        </p:spPr>
        <p:txBody>
          <a:bodyPr wrap="square">
            <a:spAutoFit/>
          </a:bodyPr>
          <a:lstStyle>
            <a:lvl1pPr marL="0" indent="0" algn="ctr">
              <a:lnSpc>
                <a:spcPct val="120000"/>
              </a:lnSpc>
              <a:spcBef>
                <a:spcPts val="0"/>
              </a:spcBef>
              <a:buNone/>
              <a:defRPr lang="en-US" altLang="zh-CN" sz="1800" b="1" kern="1200">
                <a:gradFill>
                  <a:gsLst>
                    <a:gs pos="20000">
                      <a:schemeClr val="accent2"/>
                    </a:gs>
                    <a:gs pos="100000">
                      <a:schemeClr val="accent1"/>
                    </a:gs>
                  </a:gsLst>
                  <a:lin ang="5400000" scaled="1"/>
                </a:gradFill>
                <a:latin typeface="+mj-ea"/>
                <a:ea typeface="+mj-ea"/>
                <a:cs typeface="+mn-cs"/>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ltLang="zh-CN"/>
              <a:t>1</a:t>
            </a:r>
            <a:endParaRPr lang="zh-CN" altLang="en-US"/>
          </a:p>
        </p:txBody>
      </p:sp>
    </p:spTree>
    <p:extLst>
      <p:ext uri="{BB962C8B-B14F-4D97-AF65-F5344CB8AC3E}">
        <p14:creationId xmlns:p14="http://schemas.microsoft.com/office/powerpoint/2010/main" val="85725727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99184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6" name="任意多边形: 形状 5"/>
          <p:cNvSpPr/>
          <p:nvPr userDrawn="1"/>
        </p:nvSpPr>
        <p:spPr>
          <a:xfrm>
            <a:off x="0" y="4525805"/>
            <a:ext cx="9144000" cy="617694"/>
          </a:xfrm>
          <a:custGeom>
            <a:avLst/>
            <a:gdLst>
              <a:gd name="connsiteX0" fmla="*/ 12192000 w 12192000"/>
              <a:gd name="connsiteY0" fmla="*/ 0 h 823592"/>
              <a:gd name="connsiteX1" fmla="*/ 12192000 w 12192000"/>
              <a:gd name="connsiteY1" fmla="*/ 823592 h 823592"/>
              <a:gd name="connsiteX2" fmla="*/ 0 w 12192000"/>
              <a:gd name="connsiteY2" fmla="*/ 823592 h 823592"/>
              <a:gd name="connsiteX3" fmla="*/ 0 w 12192000"/>
              <a:gd name="connsiteY3" fmla="*/ 602517 h 823592"/>
              <a:gd name="connsiteX4" fmla="*/ 27690 w 12192000"/>
              <a:gd name="connsiteY4" fmla="*/ 610941 h 823592"/>
              <a:gd name="connsiteX5" fmla="*/ 116123 w 12192000"/>
              <a:gd name="connsiteY5" fmla="*/ 633294 h 823592"/>
              <a:gd name="connsiteX6" fmla="*/ 171792 w 12192000"/>
              <a:gd name="connsiteY6" fmla="*/ 633294 h 823592"/>
              <a:gd name="connsiteX7" fmla="*/ 366630 w 12192000"/>
              <a:gd name="connsiteY7" fmla="*/ 659935 h 823592"/>
              <a:gd name="connsiteX8" fmla="*/ 539201 w 12192000"/>
              <a:gd name="connsiteY8" fmla="*/ 652323 h 823592"/>
              <a:gd name="connsiteX9" fmla="*/ 4035167 w 12192000"/>
              <a:gd name="connsiteY9" fmla="*/ 194288 h 823592"/>
              <a:gd name="connsiteX10" fmla="*/ 8327186 w 12192000"/>
              <a:gd name="connsiteY10" fmla="*/ 559992 h 823592"/>
              <a:gd name="connsiteX11" fmla="*/ 10691229 w 12192000"/>
              <a:gd name="connsiteY11" fmla="*/ 467660 h 823592"/>
              <a:gd name="connsiteX12" fmla="*/ 12086839 w 12192000"/>
              <a:gd name="connsiteY12" fmla="*/ 47357 h 823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823592">
                <a:moveTo>
                  <a:pt x="12192000" y="0"/>
                </a:moveTo>
                <a:lnTo>
                  <a:pt x="12192000" y="823592"/>
                </a:lnTo>
                <a:lnTo>
                  <a:pt x="0" y="823592"/>
                </a:lnTo>
                <a:lnTo>
                  <a:pt x="0" y="602517"/>
                </a:lnTo>
                <a:lnTo>
                  <a:pt x="27690" y="610941"/>
                </a:lnTo>
                <a:cubicBezTo>
                  <a:pt x="63412" y="621252"/>
                  <a:pt x="93508" y="629091"/>
                  <a:pt x="116123" y="633294"/>
                </a:cubicBezTo>
                <a:cubicBezTo>
                  <a:pt x="297045" y="666913"/>
                  <a:pt x="137463" y="630122"/>
                  <a:pt x="171792" y="633294"/>
                </a:cubicBezTo>
                <a:cubicBezTo>
                  <a:pt x="206120" y="636465"/>
                  <a:pt x="305396" y="656764"/>
                  <a:pt x="366630" y="659935"/>
                </a:cubicBezTo>
                <a:cubicBezTo>
                  <a:pt x="427865" y="663107"/>
                  <a:pt x="539201" y="652323"/>
                  <a:pt x="539201" y="652323"/>
                </a:cubicBezTo>
                <a:cubicBezTo>
                  <a:pt x="1150624" y="587621"/>
                  <a:pt x="2737169" y="209677"/>
                  <a:pt x="4035167" y="194288"/>
                </a:cubicBezTo>
                <a:cubicBezTo>
                  <a:pt x="5333164" y="178900"/>
                  <a:pt x="7217843" y="514430"/>
                  <a:pt x="8327186" y="559992"/>
                </a:cubicBezTo>
                <a:cubicBezTo>
                  <a:pt x="9436530" y="605553"/>
                  <a:pt x="9989036" y="588221"/>
                  <a:pt x="10691229" y="467660"/>
                </a:cubicBezTo>
                <a:cubicBezTo>
                  <a:pt x="11217874" y="377239"/>
                  <a:pt x="11643576" y="239610"/>
                  <a:pt x="12086839" y="47357"/>
                </a:cubicBezTo>
                <a:close/>
              </a:path>
            </a:pathLst>
          </a:custGeom>
          <a:gradFill>
            <a:gsLst>
              <a:gs pos="0">
                <a:schemeClr val="accent2">
                  <a:alpha val="20000"/>
                </a:schemeClr>
              </a:gs>
              <a:gs pos="100000">
                <a:schemeClr val="accent1">
                  <a:alpha val="2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mn-ea"/>
            </a:endParaRPr>
          </a:p>
        </p:txBody>
      </p:sp>
      <p:sp>
        <p:nvSpPr>
          <p:cNvPr id="15" name="任意多边形: 形状 14"/>
          <p:cNvSpPr/>
          <p:nvPr userDrawn="1"/>
        </p:nvSpPr>
        <p:spPr>
          <a:xfrm>
            <a:off x="0" y="4760119"/>
            <a:ext cx="9144000" cy="383381"/>
          </a:xfrm>
          <a:custGeom>
            <a:avLst/>
            <a:gdLst>
              <a:gd name="connsiteX0" fmla="*/ 2286000 w 12192000"/>
              <a:gd name="connsiteY0" fmla="*/ 1993 h 728662"/>
              <a:gd name="connsiteX1" fmla="*/ 12192000 w 12192000"/>
              <a:gd name="connsiteY1" fmla="*/ 189800 h 728662"/>
              <a:gd name="connsiteX2" fmla="*/ 12192000 w 12192000"/>
              <a:gd name="connsiteY2" fmla="*/ 728662 h 728662"/>
              <a:gd name="connsiteX3" fmla="*/ 0 w 12192000"/>
              <a:gd name="connsiteY3" fmla="*/ 728662 h 728662"/>
              <a:gd name="connsiteX4" fmla="*/ 0 w 12192000"/>
              <a:gd name="connsiteY4" fmla="*/ 189800 h 728662"/>
              <a:gd name="connsiteX5" fmla="*/ 2286000 w 12192000"/>
              <a:gd name="connsiteY5" fmla="*/ 1993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728662">
                <a:moveTo>
                  <a:pt x="2286000" y="1993"/>
                </a:moveTo>
                <a:cubicBezTo>
                  <a:pt x="5588000" y="-43916"/>
                  <a:pt x="8890000" y="724008"/>
                  <a:pt x="12192000" y="189800"/>
                </a:cubicBezTo>
                <a:lnTo>
                  <a:pt x="12192000" y="728662"/>
                </a:lnTo>
                <a:lnTo>
                  <a:pt x="0" y="728662"/>
                </a:lnTo>
                <a:lnTo>
                  <a:pt x="0" y="189800"/>
                </a:lnTo>
                <a:cubicBezTo>
                  <a:pt x="762000" y="66522"/>
                  <a:pt x="1524000" y="12587"/>
                  <a:pt x="2286000" y="1993"/>
                </a:cubicBezTo>
                <a:close/>
              </a:path>
            </a:pathLst>
          </a:custGeom>
          <a:gradFill>
            <a:gsLst>
              <a:gs pos="0">
                <a:schemeClr val="accent2"/>
              </a:gs>
              <a:gs pos="100000">
                <a:schemeClr val="accent1"/>
              </a:gs>
            </a:gsLst>
            <a:lin ang="5400000" scaled="1"/>
          </a:gradFill>
          <a:ln>
            <a:noFill/>
          </a:ln>
          <a:effectLst>
            <a:outerShdw blurRad="254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200" b="1" noProof="0">
              <a:solidFill>
                <a:schemeClr val="bg1"/>
              </a:solidFill>
              <a:latin typeface="+mj-ea"/>
              <a:ea typeface="+mj-ea"/>
            </a:endParaRPr>
          </a:p>
        </p:txBody>
      </p:sp>
      <p:sp>
        <p:nvSpPr>
          <p:cNvPr id="19" name="任意多边形: 形状 18"/>
          <p:cNvSpPr/>
          <p:nvPr userDrawn="1"/>
        </p:nvSpPr>
        <p:spPr>
          <a:xfrm>
            <a:off x="3291054" y="0"/>
            <a:ext cx="2561893" cy="54580"/>
          </a:xfrm>
          <a:custGeom>
            <a:avLst/>
            <a:gdLst>
              <a:gd name="connsiteX0" fmla="*/ 0 w 3415857"/>
              <a:gd name="connsiteY0" fmla="*/ 0 h 72773"/>
              <a:gd name="connsiteX1" fmla="*/ 3415857 w 3415857"/>
              <a:gd name="connsiteY1" fmla="*/ 0 h 72773"/>
              <a:gd name="connsiteX2" fmla="*/ 3402337 w 3415857"/>
              <a:gd name="connsiteY2" fmla="*/ 20052 h 72773"/>
              <a:gd name="connsiteX3" fmla="*/ 3275058 w 3415857"/>
              <a:gd name="connsiteY3" fmla="*/ 72773 h 72773"/>
              <a:gd name="connsiteX4" fmla="*/ 140798 w 3415857"/>
              <a:gd name="connsiteY4" fmla="*/ 72773 h 72773"/>
              <a:gd name="connsiteX5" fmla="*/ 13519 w 3415857"/>
              <a:gd name="connsiteY5" fmla="*/ 20052 h 7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5857" h="72773">
                <a:moveTo>
                  <a:pt x="0" y="0"/>
                </a:moveTo>
                <a:lnTo>
                  <a:pt x="3415857" y="0"/>
                </a:lnTo>
                <a:lnTo>
                  <a:pt x="3402337" y="20052"/>
                </a:lnTo>
                <a:cubicBezTo>
                  <a:pt x="3369764" y="52626"/>
                  <a:pt x="3324764" y="72773"/>
                  <a:pt x="3275058" y="72773"/>
                </a:cubicBezTo>
                <a:lnTo>
                  <a:pt x="140798" y="72773"/>
                </a:lnTo>
                <a:cubicBezTo>
                  <a:pt x="91093" y="72773"/>
                  <a:pt x="46093" y="52626"/>
                  <a:pt x="13519" y="20052"/>
                </a:cubicBezTo>
                <a:close/>
              </a:path>
            </a:pathLst>
          </a:custGeom>
          <a:gradFill>
            <a:gsLst>
              <a:gs pos="0">
                <a:schemeClr val="accent2"/>
              </a:gs>
              <a:gs pos="100000">
                <a:schemeClr val="accent1"/>
              </a:gs>
            </a:gsLst>
            <a:lin ang="5400000" scaled="1"/>
          </a:gradFill>
          <a:ln>
            <a:noFill/>
          </a:ln>
          <a:effectLst>
            <a:outerShdw blurRad="381000" dist="38100" dir="5400000" sx="102000" sy="102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4500">
              <a:solidFill>
                <a:srgbClr val="FFFFFF"/>
              </a:solidFill>
              <a:latin typeface="+mn-ea"/>
            </a:endParaRPr>
          </a:p>
        </p:txBody>
      </p:sp>
    </p:spTree>
    <p:extLst>
      <p:ext uri="{BB962C8B-B14F-4D97-AF65-F5344CB8AC3E}">
        <p14:creationId xmlns:p14="http://schemas.microsoft.com/office/powerpoint/2010/main" val="184830628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456300"/>
            <a:ext cx="8226900" cy="5292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456300" y="1117800"/>
            <a:ext cx="8226900" cy="3569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34221208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8BCBD30-92A3-41D3-B856-2D8D66AD7106}" type="datetime1">
              <a:rPr lang="zh-CN" altLang="en-US" smtClean="0"/>
              <a:t>2026/4/21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8052067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9D3D77D-49A0-4D11-AD82-4565438F9E92}" type="datetime1">
              <a:rPr lang="zh-CN" altLang="en-US" smtClean="0"/>
              <a:t>2026/4/21</a:t>
            </a:fld>
            <a:endParaRPr lang="zh-CN" altLang="en-US"/>
          </a:p>
        </p:txBody>
      </p:sp>
      <p:sp>
        <p:nvSpPr>
          <p:cNvPr id="5" name="页脚占位符 4"/>
          <p:cNvSpPr>
            <a:spLocks noGrp="1"/>
          </p:cNvSpPr>
          <p:nvPr>
            <p:ph type="ftr" sz="quarter" idx="11"/>
          </p:nvPr>
        </p:nvSpPr>
        <p:spPr/>
        <p:txBody>
          <a:bodyPr/>
          <a:lstStyle/>
          <a:p>
            <a:endParaRPr lang="zh-CN" altLang="en-US"/>
          </a:p>
        </p:txBody>
      </p:sp>
      <p:grpSp>
        <p:nvGrpSpPr>
          <p:cNvPr id="11" name="组合 10"/>
          <p:cNvGrpSpPr/>
          <p:nvPr userDrawn="1"/>
        </p:nvGrpSpPr>
        <p:grpSpPr>
          <a:xfrm>
            <a:off x="8539966" y="214158"/>
            <a:ext cx="359569" cy="522682"/>
            <a:chOff x="8512534" y="214157"/>
            <a:chExt cx="359569" cy="522682"/>
          </a:xfrm>
        </p:grpSpPr>
        <p:sp>
          <p:nvSpPr>
            <p:cNvPr id="12" name="Oval 40"/>
            <p:cNvSpPr>
              <a:spLocks noChangeArrowheads="1"/>
            </p:cNvSpPr>
            <p:nvPr userDrawn="1"/>
          </p:nvSpPr>
          <p:spPr bwMode="auto">
            <a:xfrm>
              <a:off x="8543491" y="686833"/>
              <a:ext cx="297656" cy="50006"/>
            </a:xfrm>
            <a:prstGeom prst="ellipse">
              <a:avLst/>
            </a:prstGeom>
            <a:solidFill>
              <a:schemeClr val="tx1">
                <a:lumMod val="65000"/>
                <a:lumOff val="35000"/>
              </a:schemeClr>
            </a:solidFill>
            <a:ln>
              <a:noFill/>
            </a:ln>
          </p:spPr>
          <p:txBody>
            <a:bodyPr vert="horz" wrap="square" lIns="91438" tIns="45718" rIns="91438" bIns="45718" numCol="1" anchor="t" anchorCtr="0" compatLnSpc="1"/>
            <a:lstStyle/>
            <a:p>
              <a:pPr defTabSz="513874"/>
              <a:endParaRPr lang="zh-CN" altLang="en-US" sz="1399">
                <a:solidFill>
                  <a:prstClr val="black"/>
                </a:solidFill>
              </a:endParaRPr>
            </a:p>
          </p:txBody>
        </p:sp>
        <p:sp>
          <p:nvSpPr>
            <p:cNvPr id="13" name="Freeform 41"/>
            <p:cNvSpPr/>
            <p:nvPr userDrawn="1"/>
          </p:nvSpPr>
          <p:spPr bwMode="auto">
            <a:xfrm>
              <a:off x="8512534" y="214157"/>
              <a:ext cx="359569" cy="497681"/>
            </a:xfrm>
            <a:custGeom>
              <a:avLst/>
              <a:gdLst>
                <a:gd name="T0" fmla="*/ 128 w 128"/>
                <a:gd name="T1" fmla="*/ 68 h 177"/>
                <a:gd name="T2" fmla="*/ 128 w 128"/>
                <a:gd name="T3" fmla="*/ 64 h 177"/>
                <a:gd name="T4" fmla="*/ 64 w 128"/>
                <a:gd name="T5" fmla="*/ 0 h 177"/>
                <a:gd name="T6" fmla="*/ 0 w 128"/>
                <a:gd name="T7" fmla="*/ 64 h 177"/>
                <a:gd name="T8" fmla="*/ 0 w 128"/>
                <a:gd name="T9" fmla="*/ 70 h 177"/>
                <a:gd name="T10" fmla="*/ 0 w 128"/>
                <a:gd name="T11" fmla="*/ 71 h 177"/>
                <a:gd name="T12" fmla="*/ 64 w 128"/>
                <a:gd name="T13" fmla="*/ 177 h 177"/>
                <a:gd name="T14" fmla="*/ 125 w 128"/>
                <a:gd name="T15" fmla="*/ 83 h 177"/>
                <a:gd name="T16" fmla="*/ 128 w 128"/>
                <a:gd name="T17" fmla="*/ 68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77">
                  <a:moveTo>
                    <a:pt x="128" y="68"/>
                  </a:moveTo>
                  <a:cubicBezTo>
                    <a:pt x="128" y="65"/>
                    <a:pt x="128" y="64"/>
                    <a:pt x="128" y="64"/>
                  </a:cubicBezTo>
                  <a:cubicBezTo>
                    <a:pt x="128" y="28"/>
                    <a:pt x="99" y="0"/>
                    <a:pt x="64" y="0"/>
                  </a:cubicBezTo>
                  <a:cubicBezTo>
                    <a:pt x="29" y="0"/>
                    <a:pt x="0" y="28"/>
                    <a:pt x="0" y="64"/>
                  </a:cubicBezTo>
                  <a:cubicBezTo>
                    <a:pt x="0" y="66"/>
                    <a:pt x="0" y="68"/>
                    <a:pt x="0" y="70"/>
                  </a:cubicBezTo>
                  <a:cubicBezTo>
                    <a:pt x="0" y="70"/>
                    <a:pt x="0" y="70"/>
                    <a:pt x="0" y="71"/>
                  </a:cubicBezTo>
                  <a:cubicBezTo>
                    <a:pt x="5" y="122"/>
                    <a:pt x="64" y="177"/>
                    <a:pt x="64" y="177"/>
                  </a:cubicBezTo>
                  <a:cubicBezTo>
                    <a:pt x="105" y="138"/>
                    <a:pt x="120" y="103"/>
                    <a:pt x="125" y="83"/>
                  </a:cubicBezTo>
                  <a:cubicBezTo>
                    <a:pt x="127" y="78"/>
                    <a:pt x="127" y="73"/>
                    <a:pt x="128" y="68"/>
                  </a:cubicBezTo>
                  <a:close/>
                </a:path>
              </a:pathLst>
            </a:custGeom>
            <a:solidFill>
              <a:srgbClr val="FC611F"/>
            </a:solidFill>
            <a:ln>
              <a:noFill/>
            </a:ln>
          </p:spPr>
          <p:txBody>
            <a:bodyPr vert="horz" wrap="square" lIns="91438" tIns="45718" rIns="91438" bIns="45718" numCol="1" anchor="t" anchorCtr="0" compatLnSpc="1"/>
            <a:lstStyle/>
            <a:p>
              <a:pPr defTabSz="513874"/>
              <a:endParaRPr lang="zh-CN" altLang="en-US" sz="1399">
                <a:solidFill>
                  <a:prstClr val="black"/>
                </a:solidFill>
              </a:endParaRPr>
            </a:p>
          </p:txBody>
        </p:sp>
        <p:sp>
          <p:nvSpPr>
            <p:cNvPr id="14" name="Oval 42"/>
            <p:cNvSpPr>
              <a:spLocks noChangeArrowheads="1"/>
            </p:cNvSpPr>
            <p:nvPr userDrawn="1"/>
          </p:nvSpPr>
          <p:spPr bwMode="auto">
            <a:xfrm>
              <a:off x="8557317" y="265733"/>
              <a:ext cx="270000" cy="270000"/>
            </a:xfrm>
            <a:prstGeom prst="ellipse">
              <a:avLst/>
            </a:prstGeom>
            <a:solidFill>
              <a:schemeClr val="bg1">
                <a:alpha val="32157"/>
              </a:schemeClr>
            </a:solidFill>
            <a:ln w="57150">
              <a:noFill/>
            </a:ln>
          </p:spPr>
          <p:txBody>
            <a:bodyPr vert="horz" wrap="square" lIns="91438" tIns="45718" rIns="91438" bIns="45718" numCol="1" anchor="t" anchorCtr="0" compatLnSpc="1"/>
            <a:lstStyle/>
            <a:p>
              <a:pPr defTabSz="513874"/>
              <a:endParaRPr lang="zh-CN" altLang="en-US" sz="1399">
                <a:solidFill>
                  <a:prstClr val="black"/>
                </a:solidFill>
              </a:endParaRPr>
            </a:p>
          </p:txBody>
        </p:sp>
      </p:grpSp>
      <p:sp>
        <p:nvSpPr>
          <p:cNvPr id="6" name="灯片编号占位符 5"/>
          <p:cNvSpPr>
            <a:spLocks noGrp="1"/>
          </p:cNvSpPr>
          <p:nvPr>
            <p:ph type="sldNum" sz="quarter" idx="12"/>
          </p:nvPr>
        </p:nvSpPr>
        <p:spPr>
          <a:xfrm>
            <a:off x="7649248" y="261670"/>
            <a:ext cx="2133600" cy="274637"/>
          </a:xfrm>
        </p:spPr>
        <p:txBody>
          <a:bodyPr/>
          <a:lstStyle>
            <a:lvl1pPr algn="ctr">
              <a:defRPr sz="1601">
                <a:solidFill>
                  <a:schemeClr val="bg1"/>
                </a:solidFill>
              </a:defRPr>
            </a:lvl1pPr>
          </a:lstStyle>
          <a:p>
            <a:fld id="{9C689EE7-C798-4E5C-9338-2BD7BFF69A97}" type="slidenum">
              <a:rPr lang="zh-CN" altLang="en-US" smtClean="0"/>
              <a:t>‹#›</a:t>
            </a:fld>
            <a:endParaRPr lang="zh-CN" altLang="en-US" dirty="0"/>
          </a:p>
        </p:txBody>
      </p:sp>
    </p:spTree>
    <p:extLst>
      <p:ext uri="{BB962C8B-B14F-4D97-AF65-F5344CB8AC3E}">
        <p14:creationId xmlns:p14="http://schemas.microsoft.com/office/powerpoint/2010/main" val="19981501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3E1FB8-671C-42D5-8780-4A37A3F9ABBB}" type="datetime1">
              <a:rPr lang="zh-CN" altLang="en-US" smtClean="0"/>
              <a:t>2026/4/21</a:t>
            </a:fld>
            <a:endParaRPr lang="zh-CN" altLang="en-US"/>
          </a:p>
        </p:txBody>
      </p:sp>
      <p:sp>
        <p:nvSpPr>
          <p:cNvPr id="5" name="页脚占位符 4"/>
          <p:cNvSpPr>
            <a:spLocks noGrp="1"/>
          </p:cNvSpPr>
          <p:nvPr>
            <p:ph type="ftr" sz="quarter" idx="11"/>
          </p:nvPr>
        </p:nvSpPr>
        <p:spPr/>
        <p:txBody>
          <a:bodyPr/>
          <a:lstStyle/>
          <a:p>
            <a:endParaRPr lang="zh-CN" altLang="en-US"/>
          </a:p>
        </p:txBody>
      </p:sp>
      <p:grpSp>
        <p:nvGrpSpPr>
          <p:cNvPr id="16" name="组合 15"/>
          <p:cNvGrpSpPr/>
          <p:nvPr userDrawn="1"/>
        </p:nvGrpSpPr>
        <p:grpSpPr>
          <a:xfrm>
            <a:off x="8539966" y="214158"/>
            <a:ext cx="359569" cy="522682"/>
            <a:chOff x="8512534" y="214157"/>
            <a:chExt cx="359569" cy="522682"/>
          </a:xfrm>
        </p:grpSpPr>
        <p:sp>
          <p:nvSpPr>
            <p:cNvPr id="17" name="Oval 40"/>
            <p:cNvSpPr>
              <a:spLocks noChangeArrowheads="1"/>
            </p:cNvSpPr>
            <p:nvPr userDrawn="1"/>
          </p:nvSpPr>
          <p:spPr bwMode="auto">
            <a:xfrm>
              <a:off x="8543491" y="686833"/>
              <a:ext cx="297656" cy="50006"/>
            </a:xfrm>
            <a:prstGeom prst="ellipse">
              <a:avLst/>
            </a:prstGeom>
            <a:solidFill>
              <a:schemeClr val="tx1">
                <a:lumMod val="65000"/>
                <a:lumOff val="35000"/>
              </a:schemeClr>
            </a:solidFill>
            <a:ln>
              <a:noFill/>
            </a:ln>
          </p:spPr>
          <p:txBody>
            <a:bodyPr vert="horz" wrap="square" lIns="91438" tIns="45718" rIns="91438" bIns="45718" numCol="1" anchor="t" anchorCtr="0" compatLnSpc="1"/>
            <a:lstStyle/>
            <a:p>
              <a:pPr defTabSz="513874"/>
              <a:endParaRPr lang="zh-CN" altLang="en-US" sz="1399">
                <a:solidFill>
                  <a:prstClr val="black"/>
                </a:solidFill>
              </a:endParaRPr>
            </a:p>
          </p:txBody>
        </p:sp>
        <p:sp>
          <p:nvSpPr>
            <p:cNvPr id="18" name="Freeform 41"/>
            <p:cNvSpPr/>
            <p:nvPr userDrawn="1"/>
          </p:nvSpPr>
          <p:spPr bwMode="auto">
            <a:xfrm>
              <a:off x="8512534" y="214157"/>
              <a:ext cx="359569" cy="497681"/>
            </a:xfrm>
            <a:custGeom>
              <a:avLst/>
              <a:gdLst>
                <a:gd name="T0" fmla="*/ 128 w 128"/>
                <a:gd name="T1" fmla="*/ 68 h 177"/>
                <a:gd name="T2" fmla="*/ 128 w 128"/>
                <a:gd name="T3" fmla="*/ 64 h 177"/>
                <a:gd name="T4" fmla="*/ 64 w 128"/>
                <a:gd name="T5" fmla="*/ 0 h 177"/>
                <a:gd name="T6" fmla="*/ 0 w 128"/>
                <a:gd name="T7" fmla="*/ 64 h 177"/>
                <a:gd name="T8" fmla="*/ 0 w 128"/>
                <a:gd name="T9" fmla="*/ 70 h 177"/>
                <a:gd name="T10" fmla="*/ 0 w 128"/>
                <a:gd name="T11" fmla="*/ 71 h 177"/>
                <a:gd name="T12" fmla="*/ 64 w 128"/>
                <a:gd name="T13" fmla="*/ 177 h 177"/>
                <a:gd name="T14" fmla="*/ 125 w 128"/>
                <a:gd name="T15" fmla="*/ 83 h 177"/>
                <a:gd name="T16" fmla="*/ 128 w 128"/>
                <a:gd name="T17" fmla="*/ 68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77">
                  <a:moveTo>
                    <a:pt x="128" y="68"/>
                  </a:moveTo>
                  <a:cubicBezTo>
                    <a:pt x="128" y="65"/>
                    <a:pt x="128" y="64"/>
                    <a:pt x="128" y="64"/>
                  </a:cubicBezTo>
                  <a:cubicBezTo>
                    <a:pt x="128" y="28"/>
                    <a:pt x="99" y="0"/>
                    <a:pt x="64" y="0"/>
                  </a:cubicBezTo>
                  <a:cubicBezTo>
                    <a:pt x="29" y="0"/>
                    <a:pt x="0" y="28"/>
                    <a:pt x="0" y="64"/>
                  </a:cubicBezTo>
                  <a:cubicBezTo>
                    <a:pt x="0" y="66"/>
                    <a:pt x="0" y="68"/>
                    <a:pt x="0" y="70"/>
                  </a:cubicBezTo>
                  <a:cubicBezTo>
                    <a:pt x="0" y="70"/>
                    <a:pt x="0" y="70"/>
                    <a:pt x="0" y="71"/>
                  </a:cubicBezTo>
                  <a:cubicBezTo>
                    <a:pt x="5" y="122"/>
                    <a:pt x="64" y="177"/>
                    <a:pt x="64" y="177"/>
                  </a:cubicBezTo>
                  <a:cubicBezTo>
                    <a:pt x="105" y="138"/>
                    <a:pt x="120" y="103"/>
                    <a:pt x="125" y="83"/>
                  </a:cubicBezTo>
                  <a:cubicBezTo>
                    <a:pt x="127" y="78"/>
                    <a:pt x="127" y="73"/>
                    <a:pt x="128" y="68"/>
                  </a:cubicBezTo>
                  <a:close/>
                </a:path>
              </a:pathLst>
            </a:custGeom>
            <a:solidFill>
              <a:srgbClr val="1C2B38"/>
            </a:solidFill>
            <a:ln>
              <a:noFill/>
            </a:ln>
          </p:spPr>
          <p:txBody>
            <a:bodyPr vert="horz" wrap="square" lIns="91438" tIns="45718" rIns="91438" bIns="45718" numCol="1" anchor="t" anchorCtr="0" compatLnSpc="1"/>
            <a:lstStyle/>
            <a:p>
              <a:pPr defTabSz="513874"/>
              <a:endParaRPr lang="zh-CN" altLang="en-US" sz="1399">
                <a:solidFill>
                  <a:prstClr val="black"/>
                </a:solidFill>
              </a:endParaRPr>
            </a:p>
          </p:txBody>
        </p:sp>
        <p:sp>
          <p:nvSpPr>
            <p:cNvPr id="19" name="Oval 42"/>
            <p:cNvSpPr>
              <a:spLocks noChangeArrowheads="1"/>
            </p:cNvSpPr>
            <p:nvPr userDrawn="1"/>
          </p:nvSpPr>
          <p:spPr bwMode="auto">
            <a:xfrm>
              <a:off x="8557317" y="265733"/>
              <a:ext cx="270000" cy="270000"/>
            </a:xfrm>
            <a:prstGeom prst="ellipse">
              <a:avLst/>
            </a:prstGeom>
            <a:solidFill>
              <a:schemeClr val="bg1">
                <a:alpha val="32157"/>
              </a:schemeClr>
            </a:solidFill>
            <a:ln w="57150">
              <a:noFill/>
            </a:ln>
          </p:spPr>
          <p:txBody>
            <a:bodyPr vert="horz" wrap="square" lIns="91438" tIns="45718" rIns="91438" bIns="45718" numCol="1" anchor="t" anchorCtr="0" compatLnSpc="1"/>
            <a:lstStyle/>
            <a:p>
              <a:pPr defTabSz="513874"/>
              <a:endParaRPr lang="zh-CN" altLang="en-US" sz="1399">
                <a:solidFill>
                  <a:prstClr val="black"/>
                </a:solidFill>
              </a:endParaRPr>
            </a:p>
          </p:txBody>
        </p:sp>
      </p:grpSp>
      <p:sp>
        <p:nvSpPr>
          <p:cNvPr id="20" name="灯片编号占位符 5"/>
          <p:cNvSpPr>
            <a:spLocks noGrp="1"/>
          </p:cNvSpPr>
          <p:nvPr>
            <p:ph type="sldNum" sz="quarter" idx="12"/>
          </p:nvPr>
        </p:nvSpPr>
        <p:spPr>
          <a:xfrm>
            <a:off x="7649248" y="261670"/>
            <a:ext cx="2133600" cy="274637"/>
          </a:xfrm>
        </p:spPr>
        <p:txBody>
          <a:bodyPr/>
          <a:lstStyle>
            <a:lvl1pPr algn="ctr">
              <a:defRPr sz="1601">
                <a:solidFill>
                  <a:schemeClr val="bg1"/>
                </a:solidFill>
              </a:defRPr>
            </a:lvl1pPr>
          </a:lstStyle>
          <a:p>
            <a:fld id="{58D60263-A96F-46DE-8AEE-71093E484CCF}" type="slidenum">
              <a:rPr lang="zh-CN" altLang="en-US" smtClean="0"/>
              <a:t>‹#›</a:t>
            </a:fld>
            <a:endParaRPr lang="zh-CN" altLang="en-US" dirty="0"/>
          </a:p>
        </p:txBody>
      </p:sp>
    </p:spTree>
    <p:extLst>
      <p:ext uri="{BB962C8B-B14F-4D97-AF65-F5344CB8AC3E}">
        <p14:creationId xmlns:p14="http://schemas.microsoft.com/office/powerpoint/2010/main" val="21229885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E389472F-A5DA-4179-B9F8-99F9FACC98FA}" type="datetime1">
              <a:rPr lang="zh-CN" altLang="en-US" smtClean="0"/>
              <a:t>2026/4/21</a:t>
            </a:fld>
            <a:endParaRPr lang="zh-CN" altLang="en-US"/>
          </a:p>
        </p:txBody>
      </p:sp>
      <p:sp>
        <p:nvSpPr>
          <p:cNvPr id="6" name="页脚占位符 5"/>
          <p:cNvSpPr>
            <a:spLocks noGrp="1"/>
          </p:cNvSpPr>
          <p:nvPr>
            <p:ph type="ftr" sz="quarter" idx="11"/>
          </p:nvPr>
        </p:nvSpPr>
        <p:spPr/>
        <p:txBody>
          <a:bodyPr/>
          <a:lstStyle/>
          <a:p>
            <a:endParaRPr lang="zh-CN" altLang="en-US"/>
          </a:p>
        </p:txBody>
      </p:sp>
      <p:grpSp>
        <p:nvGrpSpPr>
          <p:cNvPr id="18" name="组合 17"/>
          <p:cNvGrpSpPr/>
          <p:nvPr userDrawn="1"/>
        </p:nvGrpSpPr>
        <p:grpSpPr>
          <a:xfrm>
            <a:off x="8539966" y="214158"/>
            <a:ext cx="359569" cy="522682"/>
            <a:chOff x="8512534" y="214157"/>
            <a:chExt cx="359569" cy="522682"/>
          </a:xfrm>
        </p:grpSpPr>
        <p:sp>
          <p:nvSpPr>
            <p:cNvPr id="19" name="Oval 40"/>
            <p:cNvSpPr>
              <a:spLocks noChangeArrowheads="1"/>
            </p:cNvSpPr>
            <p:nvPr userDrawn="1"/>
          </p:nvSpPr>
          <p:spPr bwMode="auto">
            <a:xfrm>
              <a:off x="8543491" y="686833"/>
              <a:ext cx="297656" cy="50006"/>
            </a:xfrm>
            <a:prstGeom prst="ellipse">
              <a:avLst/>
            </a:prstGeom>
            <a:solidFill>
              <a:schemeClr val="tx1">
                <a:lumMod val="65000"/>
                <a:lumOff val="35000"/>
              </a:schemeClr>
            </a:solidFill>
            <a:ln>
              <a:noFill/>
            </a:ln>
          </p:spPr>
          <p:txBody>
            <a:bodyPr vert="horz" wrap="square" lIns="91438" tIns="45718" rIns="91438" bIns="45718" numCol="1" anchor="t" anchorCtr="0" compatLnSpc="1"/>
            <a:lstStyle/>
            <a:p>
              <a:pPr defTabSz="513874"/>
              <a:endParaRPr lang="zh-CN" altLang="en-US" sz="1399">
                <a:solidFill>
                  <a:prstClr val="black"/>
                </a:solidFill>
              </a:endParaRPr>
            </a:p>
          </p:txBody>
        </p:sp>
        <p:sp>
          <p:nvSpPr>
            <p:cNvPr id="20" name="Freeform 41"/>
            <p:cNvSpPr/>
            <p:nvPr userDrawn="1"/>
          </p:nvSpPr>
          <p:spPr bwMode="auto">
            <a:xfrm>
              <a:off x="8512534" y="214157"/>
              <a:ext cx="359569" cy="497681"/>
            </a:xfrm>
            <a:custGeom>
              <a:avLst/>
              <a:gdLst>
                <a:gd name="T0" fmla="*/ 128 w 128"/>
                <a:gd name="T1" fmla="*/ 68 h 177"/>
                <a:gd name="T2" fmla="*/ 128 w 128"/>
                <a:gd name="T3" fmla="*/ 64 h 177"/>
                <a:gd name="T4" fmla="*/ 64 w 128"/>
                <a:gd name="T5" fmla="*/ 0 h 177"/>
                <a:gd name="T6" fmla="*/ 0 w 128"/>
                <a:gd name="T7" fmla="*/ 64 h 177"/>
                <a:gd name="T8" fmla="*/ 0 w 128"/>
                <a:gd name="T9" fmla="*/ 70 h 177"/>
                <a:gd name="T10" fmla="*/ 0 w 128"/>
                <a:gd name="T11" fmla="*/ 71 h 177"/>
                <a:gd name="T12" fmla="*/ 64 w 128"/>
                <a:gd name="T13" fmla="*/ 177 h 177"/>
                <a:gd name="T14" fmla="*/ 125 w 128"/>
                <a:gd name="T15" fmla="*/ 83 h 177"/>
                <a:gd name="T16" fmla="*/ 128 w 128"/>
                <a:gd name="T17" fmla="*/ 68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77">
                  <a:moveTo>
                    <a:pt x="128" y="68"/>
                  </a:moveTo>
                  <a:cubicBezTo>
                    <a:pt x="128" y="65"/>
                    <a:pt x="128" y="64"/>
                    <a:pt x="128" y="64"/>
                  </a:cubicBezTo>
                  <a:cubicBezTo>
                    <a:pt x="128" y="28"/>
                    <a:pt x="99" y="0"/>
                    <a:pt x="64" y="0"/>
                  </a:cubicBezTo>
                  <a:cubicBezTo>
                    <a:pt x="29" y="0"/>
                    <a:pt x="0" y="28"/>
                    <a:pt x="0" y="64"/>
                  </a:cubicBezTo>
                  <a:cubicBezTo>
                    <a:pt x="0" y="66"/>
                    <a:pt x="0" y="68"/>
                    <a:pt x="0" y="70"/>
                  </a:cubicBezTo>
                  <a:cubicBezTo>
                    <a:pt x="0" y="70"/>
                    <a:pt x="0" y="70"/>
                    <a:pt x="0" y="71"/>
                  </a:cubicBezTo>
                  <a:cubicBezTo>
                    <a:pt x="5" y="122"/>
                    <a:pt x="64" y="177"/>
                    <a:pt x="64" y="177"/>
                  </a:cubicBezTo>
                  <a:cubicBezTo>
                    <a:pt x="105" y="138"/>
                    <a:pt x="120" y="103"/>
                    <a:pt x="125" y="83"/>
                  </a:cubicBezTo>
                  <a:cubicBezTo>
                    <a:pt x="127" y="78"/>
                    <a:pt x="127" y="73"/>
                    <a:pt x="128" y="68"/>
                  </a:cubicBezTo>
                  <a:close/>
                </a:path>
              </a:pathLst>
            </a:custGeom>
            <a:solidFill>
              <a:srgbClr val="464F5A"/>
            </a:solidFill>
            <a:ln>
              <a:noFill/>
            </a:ln>
          </p:spPr>
          <p:txBody>
            <a:bodyPr vert="horz" wrap="square" lIns="91438" tIns="45718" rIns="91438" bIns="45718" numCol="1" anchor="t" anchorCtr="0" compatLnSpc="1"/>
            <a:lstStyle/>
            <a:p>
              <a:pPr defTabSz="513874"/>
              <a:endParaRPr lang="zh-CN" altLang="en-US" sz="1399">
                <a:solidFill>
                  <a:prstClr val="black"/>
                </a:solidFill>
              </a:endParaRPr>
            </a:p>
          </p:txBody>
        </p:sp>
        <p:sp>
          <p:nvSpPr>
            <p:cNvPr id="21" name="Oval 42"/>
            <p:cNvSpPr>
              <a:spLocks noChangeArrowheads="1"/>
            </p:cNvSpPr>
            <p:nvPr userDrawn="1"/>
          </p:nvSpPr>
          <p:spPr bwMode="auto">
            <a:xfrm>
              <a:off x="8557317" y="265733"/>
              <a:ext cx="270000" cy="270000"/>
            </a:xfrm>
            <a:prstGeom prst="ellipse">
              <a:avLst/>
            </a:prstGeom>
            <a:solidFill>
              <a:schemeClr val="bg1">
                <a:alpha val="32157"/>
              </a:schemeClr>
            </a:solidFill>
            <a:ln w="57150">
              <a:noFill/>
            </a:ln>
          </p:spPr>
          <p:txBody>
            <a:bodyPr vert="horz" wrap="square" lIns="91438" tIns="45718" rIns="91438" bIns="45718" numCol="1" anchor="t" anchorCtr="0" compatLnSpc="1"/>
            <a:lstStyle/>
            <a:p>
              <a:pPr defTabSz="513874"/>
              <a:endParaRPr lang="zh-CN" altLang="en-US" sz="1399">
                <a:solidFill>
                  <a:prstClr val="black"/>
                </a:solidFill>
              </a:endParaRPr>
            </a:p>
          </p:txBody>
        </p:sp>
      </p:grpSp>
      <p:sp>
        <p:nvSpPr>
          <p:cNvPr id="22" name="灯片编号占位符 5"/>
          <p:cNvSpPr>
            <a:spLocks noGrp="1"/>
          </p:cNvSpPr>
          <p:nvPr>
            <p:ph type="sldNum" sz="quarter" idx="12"/>
          </p:nvPr>
        </p:nvSpPr>
        <p:spPr>
          <a:xfrm>
            <a:off x="7649248" y="261670"/>
            <a:ext cx="2133600" cy="274637"/>
          </a:xfrm>
        </p:spPr>
        <p:txBody>
          <a:bodyPr/>
          <a:lstStyle>
            <a:lvl1pPr algn="ctr">
              <a:defRPr sz="1601">
                <a:solidFill>
                  <a:schemeClr val="bg1"/>
                </a:solidFill>
              </a:defRPr>
            </a:lvl1pPr>
          </a:lstStyle>
          <a:p>
            <a:fld id="{15126A41-347E-4916-BBAE-EA725A5E32CB}" type="slidenum">
              <a:rPr lang="zh-CN" altLang="en-US" smtClean="0"/>
              <a:t>‹#›</a:t>
            </a:fld>
            <a:endParaRPr lang="zh-CN" altLang="en-US" dirty="0"/>
          </a:p>
        </p:txBody>
      </p:sp>
    </p:spTree>
    <p:extLst>
      <p:ext uri="{BB962C8B-B14F-4D97-AF65-F5344CB8AC3E}">
        <p14:creationId xmlns:p14="http://schemas.microsoft.com/office/powerpoint/2010/main" val="3580674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10879419-A016-494D-98D6-AC0758BAF85D}" type="datetime1">
              <a:rPr lang="zh-CN" altLang="en-US" smtClean="0"/>
              <a:t>2026/4/21</a:t>
            </a:fld>
            <a:endParaRPr lang="zh-CN" altLang="en-US"/>
          </a:p>
        </p:txBody>
      </p:sp>
      <p:sp>
        <p:nvSpPr>
          <p:cNvPr id="8" name="页脚占位符 7"/>
          <p:cNvSpPr>
            <a:spLocks noGrp="1"/>
          </p:cNvSpPr>
          <p:nvPr>
            <p:ph type="ftr" sz="quarter" idx="11"/>
          </p:nvPr>
        </p:nvSpPr>
        <p:spPr/>
        <p:txBody>
          <a:bodyPr/>
          <a:lstStyle/>
          <a:p>
            <a:endParaRPr lang="zh-CN" altLang="en-US"/>
          </a:p>
        </p:txBody>
      </p:sp>
      <p:grpSp>
        <p:nvGrpSpPr>
          <p:cNvPr id="20" name="组合 19"/>
          <p:cNvGrpSpPr/>
          <p:nvPr userDrawn="1"/>
        </p:nvGrpSpPr>
        <p:grpSpPr>
          <a:xfrm>
            <a:off x="8539966" y="214158"/>
            <a:ext cx="359569" cy="522682"/>
            <a:chOff x="8512534" y="214157"/>
            <a:chExt cx="359569" cy="522682"/>
          </a:xfrm>
        </p:grpSpPr>
        <p:sp>
          <p:nvSpPr>
            <p:cNvPr id="21" name="Oval 40"/>
            <p:cNvSpPr>
              <a:spLocks noChangeArrowheads="1"/>
            </p:cNvSpPr>
            <p:nvPr userDrawn="1"/>
          </p:nvSpPr>
          <p:spPr bwMode="auto">
            <a:xfrm>
              <a:off x="8543491" y="686833"/>
              <a:ext cx="297656" cy="50006"/>
            </a:xfrm>
            <a:prstGeom prst="ellipse">
              <a:avLst/>
            </a:prstGeom>
            <a:solidFill>
              <a:schemeClr val="tx1">
                <a:lumMod val="65000"/>
                <a:lumOff val="35000"/>
              </a:schemeClr>
            </a:solidFill>
            <a:ln>
              <a:noFill/>
            </a:ln>
          </p:spPr>
          <p:txBody>
            <a:bodyPr vert="horz" wrap="square" lIns="91438" tIns="45718" rIns="91438" bIns="45718" numCol="1" anchor="t" anchorCtr="0" compatLnSpc="1"/>
            <a:lstStyle/>
            <a:p>
              <a:pPr defTabSz="513874"/>
              <a:endParaRPr lang="zh-CN" altLang="en-US" sz="1399">
                <a:solidFill>
                  <a:prstClr val="black"/>
                </a:solidFill>
              </a:endParaRPr>
            </a:p>
          </p:txBody>
        </p:sp>
        <p:sp>
          <p:nvSpPr>
            <p:cNvPr id="22" name="Freeform 41"/>
            <p:cNvSpPr/>
            <p:nvPr userDrawn="1"/>
          </p:nvSpPr>
          <p:spPr bwMode="auto">
            <a:xfrm>
              <a:off x="8512534" y="214157"/>
              <a:ext cx="359569" cy="497681"/>
            </a:xfrm>
            <a:custGeom>
              <a:avLst/>
              <a:gdLst>
                <a:gd name="T0" fmla="*/ 128 w 128"/>
                <a:gd name="T1" fmla="*/ 68 h 177"/>
                <a:gd name="T2" fmla="*/ 128 w 128"/>
                <a:gd name="T3" fmla="*/ 64 h 177"/>
                <a:gd name="T4" fmla="*/ 64 w 128"/>
                <a:gd name="T5" fmla="*/ 0 h 177"/>
                <a:gd name="T6" fmla="*/ 0 w 128"/>
                <a:gd name="T7" fmla="*/ 64 h 177"/>
                <a:gd name="T8" fmla="*/ 0 w 128"/>
                <a:gd name="T9" fmla="*/ 70 h 177"/>
                <a:gd name="T10" fmla="*/ 0 w 128"/>
                <a:gd name="T11" fmla="*/ 71 h 177"/>
                <a:gd name="T12" fmla="*/ 64 w 128"/>
                <a:gd name="T13" fmla="*/ 177 h 177"/>
                <a:gd name="T14" fmla="*/ 125 w 128"/>
                <a:gd name="T15" fmla="*/ 83 h 177"/>
                <a:gd name="T16" fmla="*/ 128 w 128"/>
                <a:gd name="T17" fmla="*/ 68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77">
                  <a:moveTo>
                    <a:pt x="128" y="68"/>
                  </a:moveTo>
                  <a:cubicBezTo>
                    <a:pt x="128" y="65"/>
                    <a:pt x="128" y="64"/>
                    <a:pt x="128" y="64"/>
                  </a:cubicBezTo>
                  <a:cubicBezTo>
                    <a:pt x="128" y="28"/>
                    <a:pt x="99" y="0"/>
                    <a:pt x="64" y="0"/>
                  </a:cubicBezTo>
                  <a:cubicBezTo>
                    <a:pt x="29" y="0"/>
                    <a:pt x="0" y="28"/>
                    <a:pt x="0" y="64"/>
                  </a:cubicBezTo>
                  <a:cubicBezTo>
                    <a:pt x="0" y="66"/>
                    <a:pt x="0" y="68"/>
                    <a:pt x="0" y="70"/>
                  </a:cubicBezTo>
                  <a:cubicBezTo>
                    <a:pt x="0" y="70"/>
                    <a:pt x="0" y="70"/>
                    <a:pt x="0" y="71"/>
                  </a:cubicBezTo>
                  <a:cubicBezTo>
                    <a:pt x="5" y="122"/>
                    <a:pt x="64" y="177"/>
                    <a:pt x="64" y="177"/>
                  </a:cubicBezTo>
                  <a:cubicBezTo>
                    <a:pt x="105" y="138"/>
                    <a:pt x="120" y="103"/>
                    <a:pt x="125" y="83"/>
                  </a:cubicBezTo>
                  <a:cubicBezTo>
                    <a:pt x="127" y="78"/>
                    <a:pt x="127" y="73"/>
                    <a:pt x="128" y="68"/>
                  </a:cubicBezTo>
                  <a:close/>
                </a:path>
              </a:pathLst>
            </a:custGeom>
            <a:solidFill>
              <a:srgbClr val="FFC543"/>
            </a:solidFill>
            <a:ln>
              <a:noFill/>
            </a:ln>
          </p:spPr>
          <p:txBody>
            <a:bodyPr vert="horz" wrap="square" lIns="91438" tIns="45718" rIns="91438" bIns="45718" numCol="1" anchor="t" anchorCtr="0" compatLnSpc="1"/>
            <a:lstStyle/>
            <a:p>
              <a:pPr defTabSz="513874"/>
              <a:endParaRPr lang="zh-CN" altLang="en-US" sz="1399">
                <a:solidFill>
                  <a:prstClr val="black"/>
                </a:solidFill>
              </a:endParaRPr>
            </a:p>
          </p:txBody>
        </p:sp>
        <p:sp>
          <p:nvSpPr>
            <p:cNvPr id="23" name="Oval 42"/>
            <p:cNvSpPr>
              <a:spLocks noChangeArrowheads="1"/>
            </p:cNvSpPr>
            <p:nvPr userDrawn="1"/>
          </p:nvSpPr>
          <p:spPr bwMode="auto">
            <a:xfrm>
              <a:off x="8557317" y="265733"/>
              <a:ext cx="270000" cy="270000"/>
            </a:xfrm>
            <a:prstGeom prst="ellipse">
              <a:avLst/>
            </a:prstGeom>
            <a:solidFill>
              <a:schemeClr val="bg1">
                <a:alpha val="69000"/>
              </a:schemeClr>
            </a:solidFill>
            <a:ln w="57150">
              <a:noFill/>
            </a:ln>
          </p:spPr>
          <p:txBody>
            <a:bodyPr vert="horz" wrap="square" lIns="91438" tIns="45718" rIns="91438" bIns="45718" numCol="1" anchor="t" anchorCtr="0" compatLnSpc="1"/>
            <a:lstStyle/>
            <a:p>
              <a:pPr defTabSz="513874"/>
              <a:endParaRPr lang="zh-CN" altLang="en-US" sz="1399">
                <a:solidFill>
                  <a:prstClr val="black"/>
                </a:solidFill>
              </a:endParaRPr>
            </a:p>
          </p:txBody>
        </p:sp>
      </p:grpSp>
      <p:sp>
        <p:nvSpPr>
          <p:cNvPr id="24" name="灯片编号占位符 5"/>
          <p:cNvSpPr>
            <a:spLocks noGrp="1"/>
          </p:cNvSpPr>
          <p:nvPr>
            <p:ph type="sldNum" sz="quarter" idx="12"/>
          </p:nvPr>
        </p:nvSpPr>
        <p:spPr>
          <a:xfrm>
            <a:off x="7649248" y="261670"/>
            <a:ext cx="2133600" cy="274637"/>
          </a:xfrm>
        </p:spPr>
        <p:txBody>
          <a:bodyPr/>
          <a:lstStyle>
            <a:lvl1pPr algn="ctr">
              <a:defRPr sz="1601">
                <a:solidFill>
                  <a:srgbClr val="152C34"/>
                </a:solidFill>
              </a:defRPr>
            </a:lvl1pPr>
          </a:lstStyle>
          <a:p>
            <a:fld id="{9C689EE7-C798-4E5C-9338-2BD7BFF69A97}" type="slidenum">
              <a:rPr lang="zh-CN" altLang="en-US" smtClean="0"/>
              <a:t>‹#›</a:t>
            </a:fld>
            <a:endParaRPr lang="zh-CN" altLang="en-US" dirty="0"/>
          </a:p>
        </p:txBody>
      </p:sp>
    </p:spTree>
    <p:extLst>
      <p:ext uri="{BB962C8B-B14F-4D97-AF65-F5344CB8AC3E}">
        <p14:creationId xmlns:p14="http://schemas.microsoft.com/office/powerpoint/2010/main" val="27738467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F3516252-7B8A-42FB-B731-A593BE82547B}" type="datetime1">
              <a:rPr lang="zh-CN" altLang="en-US" smtClean="0"/>
              <a:t>2026/4/21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10229788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D0A479A-F0E9-408E-AC96-12A50DF6DFD5}" type="datetime1">
              <a:rPr lang="zh-CN" altLang="en-US" smtClean="0"/>
              <a:t>2026/4/21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29701909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78516493-6163-4328-B0E8-1451112E27BD}" type="datetime1">
              <a:rPr lang="zh-CN" altLang="en-US" smtClean="0"/>
              <a:t>2026/4/21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10078523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A765B05B-AFAC-47C2-9CCD-15FF9FAC62EE}" type="datetime1">
              <a:rPr lang="zh-CN" altLang="en-US" smtClean="0"/>
              <a:t>2026/4/21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31844342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E5EDAB2-564E-4532-81D9-99F974405A41}" type="datetime1">
              <a:rPr lang="zh-CN" altLang="en-US" smtClean="0"/>
              <a:t>2026/4/21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29809700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0034B0C-A1BD-45C6-8646-14FE5DDBB0A6}" type="datetime1">
              <a:rPr lang="zh-CN" altLang="en-US" smtClean="0"/>
              <a:t>2026/4/21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25616746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22193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3076CB3-27E0-44FC-A32A-88810EDA6F90}" type="datetime1">
              <a:rPr lang="zh-CN" altLang="en-US" smtClean="0"/>
              <a:t>2026/4/21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184127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3076CB3-27E0-44FC-A32A-88810EDA6F90}" type="datetime1">
              <a:rPr lang="zh-CN" altLang="en-US" smtClean="0"/>
              <a:t>2026/4/21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25534804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50" Type="http://schemas.openxmlformats.org/officeDocument/2006/relationships/image" Target="../media/image3.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2.sv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 Type="http://schemas.openxmlformats.org/officeDocument/2006/relationships/slideLayout" Target="../slideLayouts/slideLayout46.xml"/><Relationship Id="rId21" Type="http://schemas.openxmlformats.org/officeDocument/2006/relationships/slideLayout" Target="../slideLayouts/slideLayout64.xml"/><Relationship Id="rId34" Type="http://schemas.openxmlformats.org/officeDocument/2006/relationships/image" Target="../media/image22.png"/><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theme" Target="../theme/theme2.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8.xml"/><Relationship Id="rId18" Type="http://schemas.openxmlformats.org/officeDocument/2006/relationships/slideLayout" Target="../slideLayouts/slideLayout93.xml"/><Relationship Id="rId26" Type="http://schemas.openxmlformats.org/officeDocument/2006/relationships/slideLayout" Target="../slideLayouts/slideLayout101.xml"/><Relationship Id="rId39" Type="http://schemas.openxmlformats.org/officeDocument/2006/relationships/slideLayout" Target="../slideLayouts/slideLayout114.xml"/><Relationship Id="rId3" Type="http://schemas.openxmlformats.org/officeDocument/2006/relationships/slideLayout" Target="../slideLayouts/slideLayout78.xml"/><Relationship Id="rId21" Type="http://schemas.openxmlformats.org/officeDocument/2006/relationships/slideLayout" Target="../slideLayouts/slideLayout96.xml"/><Relationship Id="rId34" Type="http://schemas.openxmlformats.org/officeDocument/2006/relationships/slideLayout" Target="../slideLayouts/slideLayout109.xml"/><Relationship Id="rId42" Type="http://schemas.openxmlformats.org/officeDocument/2006/relationships/slideLayout" Target="../slideLayouts/slideLayout117.xml"/><Relationship Id="rId47" Type="http://schemas.openxmlformats.org/officeDocument/2006/relationships/image" Target="../media/image1.png"/><Relationship Id="rId50" Type="http://schemas.openxmlformats.org/officeDocument/2006/relationships/image" Target="../media/image3.emf"/><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33" Type="http://schemas.openxmlformats.org/officeDocument/2006/relationships/slideLayout" Target="../slideLayouts/slideLayout108.xml"/><Relationship Id="rId38" Type="http://schemas.openxmlformats.org/officeDocument/2006/relationships/slideLayout" Target="../slideLayouts/slideLayout113.xml"/><Relationship Id="rId46" Type="http://schemas.openxmlformats.org/officeDocument/2006/relationships/tags" Target="../tags/tag7.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slideLayout" Target="../slideLayouts/slideLayout95.xml"/><Relationship Id="rId29" Type="http://schemas.openxmlformats.org/officeDocument/2006/relationships/slideLayout" Target="../slideLayouts/slideLayout104.xml"/><Relationship Id="rId41" Type="http://schemas.openxmlformats.org/officeDocument/2006/relationships/slideLayout" Target="../slideLayouts/slideLayout116.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32" Type="http://schemas.openxmlformats.org/officeDocument/2006/relationships/slideLayout" Target="../slideLayouts/slideLayout107.xml"/><Relationship Id="rId37" Type="http://schemas.openxmlformats.org/officeDocument/2006/relationships/slideLayout" Target="../slideLayouts/slideLayout112.xml"/><Relationship Id="rId40" Type="http://schemas.openxmlformats.org/officeDocument/2006/relationships/slideLayout" Target="../slideLayouts/slideLayout115.xml"/><Relationship Id="rId45" Type="http://schemas.openxmlformats.org/officeDocument/2006/relationships/tags" Target="../tags/tag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28" Type="http://schemas.openxmlformats.org/officeDocument/2006/relationships/slideLayout" Target="../slideLayouts/slideLayout103.xml"/><Relationship Id="rId36" Type="http://schemas.openxmlformats.org/officeDocument/2006/relationships/slideLayout" Target="../slideLayouts/slideLayout111.xml"/><Relationship Id="rId49" Type="http://schemas.openxmlformats.org/officeDocument/2006/relationships/oleObject" Target="../embeddings/oleObject1.bin"/><Relationship Id="rId10" Type="http://schemas.openxmlformats.org/officeDocument/2006/relationships/slideLayout" Target="../slideLayouts/slideLayout85.xml"/><Relationship Id="rId19" Type="http://schemas.openxmlformats.org/officeDocument/2006/relationships/slideLayout" Target="../slideLayouts/slideLayout94.xml"/><Relationship Id="rId31" Type="http://schemas.openxmlformats.org/officeDocument/2006/relationships/slideLayout" Target="../slideLayouts/slideLayout106.xml"/><Relationship Id="rId44" Type="http://schemas.openxmlformats.org/officeDocument/2006/relationships/theme" Target="../theme/theme3.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slideLayout" Target="../slideLayouts/slideLayout102.xml"/><Relationship Id="rId30" Type="http://schemas.openxmlformats.org/officeDocument/2006/relationships/slideLayout" Target="../slideLayouts/slideLayout105.xml"/><Relationship Id="rId35" Type="http://schemas.openxmlformats.org/officeDocument/2006/relationships/slideLayout" Target="../slideLayouts/slideLayout110.xml"/><Relationship Id="rId43" Type="http://schemas.openxmlformats.org/officeDocument/2006/relationships/slideLayout" Target="../slideLayouts/slideLayout118.xml"/><Relationship Id="rId48" Type="http://schemas.openxmlformats.org/officeDocument/2006/relationships/image" Target="../media/image2.svg"/><Relationship Id="rId8" Type="http://schemas.openxmlformats.org/officeDocument/2006/relationships/slideLayout" Target="../slideLayouts/slideLayout8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21.xml"/><Relationship Id="rId7" Type="http://schemas.openxmlformats.org/officeDocument/2006/relationships/slideLayout" Target="../slideLayouts/slideLayout125.xml"/><Relationship Id="rId2" Type="http://schemas.openxmlformats.org/officeDocument/2006/relationships/slideLayout" Target="../slideLayouts/slideLayout120.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microsoft.com/office/2007/relationships/hdphoto" Target="../media/hdphoto1.wdp"/><Relationship Id="rId5" Type="http://schemas.openxmlformats.org/officeDocument/2006/relationships/slideLayout" Target="../slideLayouts/slideLayout123.xml"/><Relationship Id="rId10" Type="http://schemas.openxmlformats.org/officeDocument/2006/relationships/image" Target="../media/image29.png"/><Relationship Id="rId4" Type="http://schemas.openxmlformats.org/officeDocument/2006/relationships/slideLayout" Target="../slideLayouts/slideLayout122.xml"/><Relationship Id="rId9" Type="http://schemas.openxmlformats.org/officeDocument/2006/relationships/image" Target="../media/image28.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3.xml"/><Relationship Id="rId13" Type="http://schemas.openxmlformats.org/officeDocument/2006/relationships/slideLayout" Target="../slideLayouts/slideLayout138.xml"/><Relationship Id="rId3" Type="http://schemas.openxmlformats.org/officeDocument/2006/relationships/slideLayout" Target="../slideLayouts/slideLayout128.xml"/><Relationship Id="rId7" Type="http://schemas.openxmlformats.org/officeDocument/2006/relationships/slideLayout" Target="../slideLayouts/slideLayout132.xml"/><Relationship Id="rId12" Type="http://schemas.openxmlformats.org/officeDocument/2006/relationships/slideLayout" Target="../slideLayouts/slideLayout137.xml"/><Relationship Id="rId2" Type="http://schemas.openxmlformats.org/officeDocument/2006/relationships/slideLayout" Target="../slideLayouts/slideLayout127.xml"/><Relationship Id="rId16" Type="http://schemas.openxmlformats.org/officeDocument/2006/relationships/image" Target="../media/image30.png"/><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5" Type="http://schemas.openxmlformats.org/officeDocument/2006/relationships/slideLayout" Target="../slideLayouts/slideLayout130.xml"/><Relationship Id="rId15" Type="http://schemas.openxmlformats.org/officeDocument/2006/relationships/theme" Target="../theme/theme5.xml"/><Relationship Id="rId10" Type="http://schemas.openxmlformats.org/officeDocument/2006/relationships/slideLayout" Target="../slideLayouts/slideLayout135.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4" Type="http://schemas.openxmlformats.org/officeDocument/2006/relationships/slideLayout" Target="../slideLayouts/slideLayout1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69"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5"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latin typeface="Times New Roman" panose="02020603050405020304" pitchFamily="18" charset="0"/>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GB"/>
              <a:t>Presentation title, date, author</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latin typeface="Times New Roman" panose="02020603050405020304" pitchFamily="18" charset="0"/>
              </a:defRPr>
            </a:lvl1pPr>
          </a:lstStyle>
          <a:p>
            <a:fld id="{143B55C4-4F5A-416B-997D-6CE47EB0A945}" type="slidenum">
              <a:rPr lang="en-GB" smtClean="0"/>
              <a:pPr/>
              <a:t>‹#›</a:t>
            </a:fld>
            <a:endParaRPr lang="en-GB"/>
          </a:p>
        </p:txBody>
      </p:sp>
      <p:grpSp>
        <p:nvGrpSpPr>
          <p:cNvPr id="2082" name="Gruppieren 2081">
            <a:extLst>
              <a:ext uri="{FF2B5EF4-FFF2-40B4-BE49-F238E27FC236}">
                <a16:creationId xmlns:a16="http://schemas.microsoft.com/office/drawing/2014/main" id="{541D1760-5727-61F0-8478-5E672791C3A5}"/>
              </a:ext>
            </a:extLst>
          </p:cNvPr>
          <p:cNvGrpSpPr/>
          <p:nvPr/>
        </p:nvGrpSpPr>
        <p:grpSpPr bwMode="gray">
          <a:xfrm>
            <a:off x="360000" y="-128550"/>
            <a:ext cx="8424468" cy="54000"/>
            <a:chOff x="480000" y="-171400"/>
            <a:chExt cx="11232624" cy="72000"/>
          </a:xfrm>
        </p:grpSpPr>
        <p:cxnSp>
          <p:nvCxnSpPr>
            <p:cNvPr id="13" name="Gerader Verbinder 12"/>
            <p:cNvCxnSpPr/>
            <p:nvPr/>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p:nvGrpSpPr>
        <p:grpSpPr bwMode="gray">
          <a:xfrm>
            <a:off x="-126516" y="1059750"/>
            <a:ext cx="54000" cy="3402000"/>
            <a:chOff x="-456728" y="1628800"/>
            <a:chExt cx="216000" cy="4536504"/>
          </a:xfrm>
        </p:grpSpPr>
        <p:cxnSp>
          <p:nvCxnSpPr>
            <p:cNvPr id="23" name="Gerader Verbinder 22"/>
            <p:cNvCxnSpPr/>
            <p:nvPr/>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bwMode="gray">
          <a:xfrm>
            <a:off x="359568" y="4623751"/>
            <a:ext cx="926100" cy="279545"/>
          </a:xfrm>
          <a:prstGeom prst="rect">
            <a:avLst/>
          </a:prstGeom>
        </p:spPr>
      </p:pic>
      <p:graphicFrame>
        <p:nvGraphicFramePr>
          <p:cNvPr id="4" name="Object 2" hidden="1">
            <a:extLst>
              <a:ext uri="{FF2B5EF4-FFF2-40B4-BE49-F238E27FC236}">
                <a16:creationId xmlns:a16="http://schemas.microsoft.com/office/drawing/2014/main" id="{3F338B37-BA63-76C4-5EE9-2D12240C5ACA}"/>
              </a:ext>
            </a:extLst>
          </p:cNvPr>
          <p:cNvGraphicFramePr>
            <a:graphicFrameLocks noChangeAspect="1"/>
          </p:cNvGraphicFramePr>
          <p:nvPr userDrawn="1">
            <p:custDataLst>
              <p:tags r:id="rId45"/>
            </p:custDataLst>
            <p:extLst>
              <p:ext uri="{D42A27DB-BD31-4B8C-83A1-F6EECF244321}">
                <p14:modId xmlns:p14="http://schemas.microsoft.com/office/powerpoint/2010/main" val="1186888034"/>
              </p:ext>
            </p:extLst>
          </p:nvPr>
        </p:nvGraphicFramePr>
        <p:xfrm>
          <a:off x="1588" y="1191"/>
          <a:ext cx="1588" cy="1191"/>
        </p:xfrm>
        <a:graphic>
          <a:graphicData uri="http://schemas.openxmlformats.org/presentationml/2006/ole">
            <mc:AlternateContent xmlns:mc="http://schemas.openxmlformats.org/markup-compatibility/2006">
              <mc:Choice xmlns:v="urn:schemas-microsoft-com:vml" Requires="v">
                <p:oleObj name="think-cell Slide" r:id="rId49" imgW="395" imgH="394" progId="TCLayout.ActiveDocument.1">
                  <p:embed/>
                </p:oleObj>
              </mc:Choice>
              <mc:Fallback>
                <p:oleObj name="think-cell Slide" r:id="rId49" imgW="395" imgH="394" progId="TCLayout.ActiveDocument.1">
                  <p:embed/>
                  <p:pic>
                    <p:nvPicPr>
                      <p:cNvPr id="4" name="Object 2" hidden="1">
                        <a:extLst>
                          <a:ext uri="{FF2B5EF4-FFF2-40B4-BE49-F238E27FC236}">
                            <a16:creationId xmlns:a16="http://schemas.microsoft.com/office/drawing/2014/main" id="{3F338B37-BA63-76C4-5EE9-2D12240C5ACA}"/>
                          </a:ext>
                        </a:extLst>
                      </p:cNvPr>
                      <p:cNvPicPr/>
                      <p:nvPr/>
                    </p:nvPicPr>
                    <p:blipFill>
                      <a:blip r:embed="rId50"/>
                      <a:stretch>
                        <a:fillRect/>
                      </a:stretch>
                    </p:blipFill>
                    <p:spPr>
                      <a:xfrm>
                        <a:off x="1588" y="1191"/>
                        <a:ext cx="1588" cy="1191"/>
                      </a:xfrm>
                      <a:prstGeom prst="rect">
                        <a:avLst/>
                      </a:prstGeom>
                    </p:spPr>
                  </p:pic>
                </p:oleObj>
              </mc:Fallback>
            </mc:AlternateContent>
          </a:graphicData>
        </a:graphic>
      </p:graphicFrame>
      <p:sp>
        <p:nvSpPr>
          <p:cNvPr id="7" name="Rectangle 1" hidden="1">
            <a:extLst>
              <a:ext uri="{FF2B5EF4-FFF2-40B4-BE49-F238E27FC236}">
                <a16:creationId xmlns:a16="http://schemas.microsoft.com/office/drawing/2014/main" id="{985F36AB-269B-ADF9-336A-03802B343A7A}"/>
              </a:ext>
            </a:extLst>
          </p:cNvPr>
          <p:cNvSpPr/>
          <p:nvPr userDrawn="1">
            <p:custDataLst>
              <p:tags r:id="rId46"/>
            </p:custDataLst>
          </p:nvPr>
        </p:nvSpPr>
        <p:spPr bwMode="auto">
          <a:xfrm>
            <a:off x="0" y="0"/>
            <a:ext cx="158750" cy="11906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pPr>
            <a:endParaRPr kumimoji="0" lang="de-DE" sz="1800" b="0" i="0" u="none" strike="noStrike" cap="none" normalizeH="0" baseline="0">
              <a:ln>
                <a:noFill/>
              </a:ln>
              <a:solidFill>
                <a:schemeClr val="tx1"/>
              </a:solidFill>
              <a:effectLst/>
              <a:latin typeface="Times New Roman" panose="02020603050405020304" pitchFamily="18" charset="0"/>
              <a:ea typeface="+mj-ea"/>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4054462607"/>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 id="2147483834" r:id="rId18"/>
    <p:sldLayoutId id="2147483835" r:id="rId19"/>
    <p:sldLayoutId id="2147483836" r:id="rId20"/>
    <p:sldLayoutId id="2147483837" r:id="rId21"/>
    <p:sldLayoutId id="2147483838" r:id="rId22"/>
    <p:sldLayoutId id="2147483839" r:id="rId23"/>
    <p:sldLayoutId id="2147483840" r:id="rId24"/>
    <p:sldLayoutId id="2147483841" r:id="rId25"/>
    <p:sldLayoutId id="2147483842" r:id="rId26"/>
    <p:sldLayoutId id="2147483843" r:id="rId27"/>
    <p:sldLayoutId id="2147483844" r:id="rId28"/>
    <p:sldLayoutId id="2147483845" r:id="rId29"/>
    <p:sldLayoutId id="2147483846" r:id="rId30"/>
    <p:sldLayoutId id="2147483847" r:id="rId31"/>
    <p:sldLayoutId id="2147483848" r:id="rId32"/>
    <p:sldLayoutId id="2147483849" r:id="rId33"/>
    <p:sldLayoutId id="2147483786" r:id="rId34"/>
    <p:sldLayoutId id="2147483787" r:id="rId35"/>
    <p:sldLayoutId id="2147483788" r:id="rId36"/>
    <p:sldLayoutId id="2147483791" r:id="rId37"/>
    <p:sldLayoutId id="2147483793" r:id="rId38"/>
    <p:sldLayoutId id="2147483794" r:id="rId39"/>
    <p:sldLayoutId id="2147483795" r:id="rId40"/>
    <p:sldLayoutId id="2147483796" r:id="rId41"/>
    <p:sldLayoutId id="2147483797" r:id="rId42"/>
    <p:sldLayoutId id="2147483922"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100000"/>
        </a:lnSpc>
        <a:spcBef>
          <a:spcPct val="0"/>
        </a:spcBef>
        <a:buNone/>
        <a:defRPr sz="1875" b="1" kern="1200">
          <a:solidFill>
            <a:schemeClr val="bg2"/>
          </a:solidFill>
          <a:latin typeface="Times New Roman" panose="02020603050405020304" pitchFamily="18" charset="0"/>
          <a:ea typeface="+mj-ea"/>
          <a:cs typeface="+mj-cs"/>
        </a:defRPr>
      </a:lvl1pPr>
    </p:titleStyle>
    <p:body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Times New Roman" panose="02020603050405020304" pitchFamily="18" charset="0"/>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7"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415499"/>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602986" y="4910732"/>
            <a:ext cx="601126"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9FC3183C-1A43-43C0-8392-1DBE7E166C5E}" type="datetime1">
              <a:rPr lang="en-GB" noProof="0" smtClean="0"/>
              <a:pPr/>
              <a:t>21/04/2026</a:t>
            </a:fld>
            <a:endParaRPr lang="en-GB" noProof="0"/>
          </a:p>
        </p:txBody>
      </p:sp>
      <p:sp>
        <p:nvSpPr>
          <p:cNvPr id="5" name="Fußzeilenplatzhalter 4"/>
          <p:cNvSpPr>
            <a:spLocks noGrp="1"/>
          </p:cNvSpPr>
          <p:nvPr>
            <p:ph type="ftr" sz="quarter" idx="3"/>
          </p:nvPr>
        </p:nvSpPr>
        <p:spPr>
          <a:xfrm>
            <a:off x="1351329" y="4910708"/>
            <a:ext cx="6139718" cy="153888"/>
          </a:xfrm>
          <a:prstGeom prst="rect">
            <a:avLst/>
          </a:prstGeom>
        </p:spPr>
        <p:txBody>
          <a:bodyPr vert="horz" wrap="square" lIns="0" tIns="0" rIns="0" bIns="0" rtlCol="0" anchor="ctr">
            <a:spAutoFit/>
          </a:bodyPr>
          <a:lstStyle>
            <a:lvl1pPr algn="l">
              <a:defRPr sz="1000"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8628549" y="4910732"/>
            <a:ext cx="147877"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182827"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395302507"/>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 id="2147483868" r:id="rId14"/>
    <p:sldLayoutId id="2147483869" r:id="rId15"/>
    <p:sldLayoutId id="2147483870" r:id="rId16"/>
    <p:sldLayoutId id="2147483871" r:id="rId17"/>
    <p:sldLayoutId id="2147483872" r:id="rId18"/>
    <p:sldLayoutId id="2147483873" r:id="rId19"/>
    <p:sldLayoutId id="2147483874" r:id="rId20"/>
    <p:sldLayoutId id="2147483875" r:id="rId21"/>
    <p:sldLayoutId id="2147483876" r:id="rId22"/>
    <p:sldLayoutId id="2147483877" r:id="rId23"/>
    <p:sldLayoutId id="2147483878" r:id="rId24"/>
    <p:sldLayoutId id="2147483879" r:id="rId25"/>
    <p:sldLayoutId id="2147483880" r:id="rId26"/>
    <p:sldLayoutId id="2147483881" r:id="rId27"/>
    <p:sldLayoutId id="2147483882" r:id="rId28"/>
    <p:sldLayoutId id="2147483883" r:id="rId29"/>
    <p:sldLayoutId id="2147483884" r:id="rId30"/>
    <p:sldLayoutId id="2147483885" r:id="rId31"/>
    <p:sldLayoutId id="2147483886" r:id="rId3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8" rtl="0" eaLnBrk="1" latinLnBrk="0" hangingPunct="1">
        <a:spcBef>
          <a:spcPct val="0"/>
        </a:spcBef>
        <a:buNone/>
        <a:defRPr sz="2700" b="1" i="0" kern="1200">
          <a:solidFill>
            <a:srgbClr val="003366"/>
          </a:solidFill>
          <a:latin typeface="BISansOptiCond"/>
          <a:ea typeface="+mj-ea"/>
          <a:cs typeface="BISansOptiCond"/>
        </a:defRPr>
      </a:lvl1pPr>
    </p:titleStyle>
    <p:bodyStyle>
      <a:lvl1pPr marL="266693" indent="-266693" algn="l" defTabSz="914378"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39" indent="-184145"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34"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30"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26" indent="-177796" algn="l" defTabSz="914378"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latin typeface="Times New Roman" panose="02020603050405020304" pitchFamily="18" charset="0"/>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GB"/>
              <a:t>Presentation title, date, author</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latin typeface="Times New Roman" panose="02020603050405020304" pitchFamily="18" charset="0"/>
              </a:defRPr>
            </a:lvl1pPr>
          </a:lstStyle>
          <a:p>
            <a:fld id="{143B55C4-4F5A-416B-997D-6CE47EB0A945}" type="slidenum">
              <a:rPr lang="en-GB" smtClean="0"/>
              <a:pPr/>
              <a:t>‹#›</a:t>
            </a:fld>
            <a:endParaRPr lang="en-GB"/>
          </a:p>
        </p:txBody>
      </p:sp>
      <p:grpSp>
        <p:nvGrpSpPr>
          <p:cNvPr id="2082" name="Gruppieren 2081">
            <a:extLst>
              <a:ext uri="{FF2B5EF4-FFF2-40B4-BE49-F238E27FC236}">
                <a16:creationId xmlns:a16="http://schemas.microsoft.com/office/drawing/2014/main" id="{541D1760-5727-61F0-8478-5E672791C3A5}"/>
              </a:ext>
            </a:extLst>
          </p:cNvPr>
          <p:cNvGrpSpPr/>
          <p:nvPr/>
        </p:nvGrpSpPr>
        <p:grpSpPr bwMode="gray">
          <a:xfrm>
            <a:off x="360000" y="-128550"/>
            <a:ext cx="8424468" cy="54000"/>
            <a:chOff x="480000" y="-171400"/>
            <a:chExt cx="11232624" cy="72000"/>
          </a:xfrm>
        </p:grpSpPr>
        <p:cxnSp>
          <p:nvCxnSpPr>
            <p:cNvPr id="13" name="Gerader Verbinder 12"/>
            <p:cNvCxnSpPr/>
            <p:nvPr/>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p:nvGrpSpPr>
        <p:grpSpPr bwMode="gray">
          <a:xfrm>
            <a:off x="-126516" y="1059750"/>
            <a:ext cx="54000" cy="3402000"/>
            <a:chOff x="-456728" y="1628800"/>
            <a:chExt cx="216000" cy="4536504"/>
          </a:xfrm>
        </p:grpSpPr>
        <p:cxnSp>
          <p:nvCxnSpPr>
            <p:cNvPr id="23" name="Gerader Verbinder 22"/>
            <p:cNvCxnSpPr/>
            <p:nvPr/>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bwMode="gray">
          <a:xfrm>
            <a:off x="359568" y="4623752"/>
            <a:ext cx="926100" cy="279545"/>
          </a:xfrm>
          <a:prstGeom prst="rect">
            <a:avLst/>
          </a:prstGeom>
        </p:spPr>
      </p:pic>
      <p:graphicFrame>
        <p:nvGraphicFramePr>
          <p:cNvPr id="4" name="Object 2" hidden="1">
            <a:extLst>
              <a:ext uri="{FF2B5EF4-FFF2-40B4-BE49-F238E27FC236}">
                <a16:creationId xmlns:a16="http://schemas.microsoft.com/office/drawing/2014/main" id="{3F338B37-BA63-76C4-5EE9-2D12240C5ACA}"/>
              </a:ext>
            </a:extLst>
          </p:cNvPr>
          <p:cNvGraphicFramePr>
            <a:graphicFrameLocks noChangeAspect="1"/>
          </p:cNvGraphicFramePr>
          <p:nvPr userDrawn="1">
            <p:custDataLst>
              <p:tags r:id="rId45"/>
            </p:custDataLst>
            <p:extLst>
              <p:ext uri="{D42A27DB-BD31-4B8C-83A1-F6EECF244321}">
                <p14:modId xmlns:p14="http://schemas.microsoft.com/office/powerpoint/2010/main" val="1186888034"/>
              </p:ext>
            </p:extLst>
          </p:nvPr>
        </p:nvGraphicFramePr>
        <p:xfrm>
          <a:off x="1589" y="1192"/>
          <a:ext cx="1588" cy="1191"/>
        </p:xfrm>
        <a:graphic>
          <a:graphicData uri="http://schemas.openxmlformats.org/presentationml/2006/ole">
            <mc:AlternateContent xmlns:mc="http://schemas.openxmlformats.org/markup-compatibility/2006">
              <mc:Choice xmlns:v="urn:schemas-microsoft-com:vml" Requires="v">
                <p:oleObj name="think-cell Slide" r:id="rId49" imgW="395" imgH="394" progId="TCLayout.ActiveDocument.1">
                  <p:embed/>
                </p:oleObj>
              </mc:Choice>
              <mc:Fallback>
                <p:oleObj name="think-cell Slide" r:id="rId49" imgW="395" imgH="394" progId="TCLayout.ActiveDocument.1">
                  <p:embed/>
                  <p:pic>
                    <p:nvPicPr>
                      <p:cNvPr id="4" name="Object 2" hidden="1">
                        <a:extLst>
                          <a:ext uri="{FF2B5EF4-FFF2-40B4-BE49-F238E27FC236}">
                            <a16:creationId xmlns:a16="http://schemas.microsoft.com/office/drawing/2014/main" id="{3F338B37-BA63-76C4-5EE9-2D12240C5ACA}"/>
                          </a:ext>
                        </a:extLst>
                      </p:cNvPr>
                      <p:cNvPicPr/>
                      <p:nvPr/>
                    </p:nvPicPr>
                    <p:blipFill>
                      <a:blip r:embed="rId50"/>
                      <a:stretch>
                        <a:fillRect/>
                      </a:stretch>
                    </p:blipFill>
                    <p:spPr>
                      <a:xfrm>
                        <a:off x="1589" y="1192"/>
                        <a:ext cx="1588" cy="1191"/>
                      </a:xfrm>
                      <a:prstGeom prst="rect">
                        <a:avLst/>
                      </a:prstGeom>
                    </p:spPr>
                  </p:pic>
                </p:oleObj>
              </mc:Fallback>
            </mc:AlternateContent>
          </a:graphicData>
        </a:graphic>
      </p:graphicFrame>
      <p:sp>
        <p:nvSpPr>
          <p:cNvPr id="7" name="Rectangle 1" hidden="1">
            <a:extLst>
              <a:ext uri="{FF2B5EF4-FFF2-40B4-BE49-F238E27FC236}">
                <a16:creationId xmlns:a16="http://schemas.microsoft.com/office/drawing/2014/main" id="{985F36AB-269B-ADF9-336A-03802B343A7A}"/>
              </a:ext>
            </a:extLst>
          </p:cNvPr>
          <p:cNvSpPr/>
          <p:nvPr userDrawn="1">
            <p:custDataLst>
              <p:tags r:id="rId46"/>
            </p:custDataLst>
          </p:nvPr>
        </p:nvSpPr>
        <p:spPr bwMode="auto">
          <a:xfrm>
            <a:off x="1" y="1"/>
            <a:ext cx="158750" cy="11906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l" defTabSz="685783" rtl="0" eaLnBrk="0" fontAlgn="base" latinLnBrk="0" hangingPunct="0">
              <a:lnSpc>
                <a:spcPct val="100000"/>
              </a:lnSpc>
              <a:spcBef>
                <a:spcPct val="0"/>
              </a:spcBef>
              <a:spcAft>
                <a:spcPct val="0"/>
              </a:spcAft>
              <a:buClrTx/>
              <a:buSzTx/>
              <a:buFontTx/>
              <a:buNone/>
              <a:tabLst/>
            </a:pPr>
            <a:endParaRPr kumimoji="0" lang="de-DE" sz="1800" b="0" i="0" u="none" strike="noStrike" cap="none" normalizeH="0" baseline="0">
              <a:ln>
                <a:noFill/>
              </a:ln>
              <a:solidFill>
                <a:schemeClr val="tx1"/>
              </a:solidFill>
              <a:effectLst/>
              <a:latin typeface="Times New Roman" panose="02020603050405020304" pitchFamily="18" charset="0"/>
              <a:ea typeface="+mj-ea"/>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176031475"/>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 id="2147483940" r:id="rId17"/>
    <p:sldLayoutId id="2147483941" r:id="rId18"/>
    <p:sldLayoutId id="2147483942" r:id="rId19"/>
    <p:sldLayoutId id="2147483943" r:id="rId20"/>
    <p:sldLayoutId id="2147483944" r:id="rId21"/>
    <p:sldLayoutId id="2147483945" r:id="rId22"/>
    <p:sldLayoutId id="2147483946" r:id="rId23"/>
    <p:sldLayoutId id="2147483947" r:id="rId24"/>
    <p:sldLayoutId id="2147483948" r:id="rId25"/>
    <p:sldLayoutId id="2147483949" r:id="rId26"/>
    <p:sldLayoutId id="2147483950" r:id="rId27"/>
    <p:sldLayoutId id="2147483951" r:id="rId28"/>
    <p:sldLayoutId id="2147483952" r:id="rId29"/>
    <p:sldLayoutId id="2147483953" r:id="rId30"/>
    <p:sldLayoutId id="2147483954" r:id="rId31"/>
    <p:sldLayoutId id="2147483955" r:id="rId32"/>
    <p:sldLayoutId id="2147483956" r:id="rId33"/>
    <p:sldLayoutId id="2147483957" r:id="rId34"/>
    <p:sldLayoutId id="2147483958" r:id="rId35"/>
    <p:sldLayoutId id="2147483959" r:id="rId36"/>
    <p:sldLayoutId id="2147483960" r:id="rId37"/>
    <p:sldLayoutId id="2147483961" r:id="rId38"/>
    <p:sldLayoutId id="2147483962" r:id="rId39"/>
    <p:sldLayoutId id="2147483963" r:id="rId40"/>
    <p:sldLayoutId id="2147483964" r:id="rId41"/>
    <p:sldLayoutId id="2147483965" r:id="rId42"/>
    <p:sldLayoutId id="2147483966"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783" rtl="0" eaLnBrk="1" latinLnBrk="0" hangingPunct="1">
        <a:lnSpc>
          <a:spcPct val="100000"/>
        </a:lnSpc>
        <a:spcBef>
          <a:spcPct val="0"/>
        </a:spcBef>
        <a:buNone/>
        <a:defRPr sz="1875" b="1" kern="1200">
          <a:solidFill>
            <a:schemeClr val="bg2"/>
          </a:solidFill>
          <a:latin typeface="Times New Roman" panose="02020603050405020304" pitchFamily="18" charset="0"/>
          <a:ea typeface="+mj-ea"/>
          <a:cs typeface="+mj-cs"/>
        </a:defRPr>
      </a:lvl1pPr>
    </p:titleStyle>
    <p:bodyStyle>
      <a:lvl1pPr marL="161996" indent="-161996" algn="l" defTabSz="685783"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Times New Roman" panose="02020603050405020304" pitchFamily="18" charset="0"/>
          <a:ea typeface="+mn-ea"/>
          <a:cs typeface="+mn-cs"/>
        </a:defRPr>
      </a:lvl1pPr>
      <a:lvl2pPr marL="323992"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2pPr>
      <a:lvl3pPr marL="431990"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3pPr>
      <a:lvl4pPr marL="593985"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4pPr>
      <a:lvl5pPr marL="107997"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5pPr>
      <a:lvl6pPr marL="215995" indent="-107153"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6pPr>
      <a:lvl7pPr marL="323992"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7pPr>
      <a:lvl8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8pPr>
      <a:lvl9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9pPr>
    </p:bodyStyle>
    <p:other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9">
            <a:alphaModFix amt="5000"/>
            <a:duotone>
              <a:schemeClr val="accent1">
                <a:shade val="45000"/>
                <a:satMod val="135000"/>
              </a:schemeClr>
              <a:prstClr val="white"/>
            </a:duotone>
            <a:extLst>
              <a:ext uri="{28A0092B-C50C-407E-A947-70E740481C1C}">
                <a14:useLocalDpi xmlns:a14="http://schemas.microsoft.com/office/drawing/2010/main" val="0"/>
              </a:ext>
            </a:extLst>
          </a:blip>
          <a:srcRect t="394" b="16831"/>
          <a:stretch>
            <a:fillRect/>
          </a:stretch>
        </p:blipFill>
        <p:spPr>
          <a:xfrm>
            <a:off x="0" y="-1"/>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3" name="图片 2"/>
          <p:cNvPicPr>
            <a:picLocks noChangeAspect="1"/>
          </p:cNvPicPr>
          <p:nvPr userDrawn="1"/>
        </p:nvPicPr>
        <p:blipFill>
          <a:blip r:embed="rId10" cstate="print">
            <a:alphaModFix amt="15000"/>
            <a:duotone>
              <a:schemeClr val="accent1">
                <a:shade val="45000"/>
                <a:satMod val="135000"/>
              </a:schemeClr>
              <a:prstClr val="white"/>
            </a:duotone>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val="0"/>
              </a:ext>
            </a:extLst>
          </a:blip>
          <a:srcRect t="11071" r="25829"/>
          <a:stretch>
            <a:fillRect/>
          </a:stretch>
        </p:blipFill>
        <p:spPr>
          <a:xfrm flipH="1">
            <a:off x="0" y="0"/>
            <a:ext cx="5721696" cy="4574041"/>
          </a:xfrm>
          <a:custGeom>
            <a:avLst/>
            <a:gdLst>
              <a:gd name="connsiteX0" fmla="*/ 7628928 w 7628928"/>
              <a:gd name="connsiteY0" fmla="*/ 0 h 6098721"/>
              <a:gd name="connsiteX1" fmla="*/ 0 w 7628928"/>
              <a:gd name="connsiteY1" fmla="*/ 0 h 6098721"/>
              <a:gd name="connsiteX2" fmla="*/ 0 w 7628928"/>
              <a:gd name="connsiteY2" fmla="*/ 6098721 h 6098721"/>
              <a:gd name="connsiteX3" fmla="*/ 7628928 w 7628928"/>
              <a:gd name="connsiteY3" fmla="*/ 6098721 h 6098721"/>
            </a:gdLst>
            <a:ahLst/>
            <a:cxnLst>
              <a:cxn ang="0">
                <a:pos x="connsiteX0" y="connsiteY0"/>
              </a:cxn>
              <a:cxn ang="0">
                <a:pos x="connsiteX1" y="connsiteY1"/>
              </a:cxn>
              <a:cxn ang="0">
                <a:pos x="connsiteX2" y="connsiteY2"/>
              </a:cxn>
              <a:cxn ang="0">
                <a:pos x="connsiteX3" y="connsiteY3"/>
              </a:cxn>
            </a:cxnLst>
            <a:rect l="l" t="t" r="r" b="b"/>
            <a:pathLst>
              <a:path w="7628928" h="6098721">
                <a:moveTo>
                  <a:pt x="7628928" y="0"/>
                </a:moveTo>
                <a:lnTo>
                  <a:pt x="0" y="0"/>
                </a:lnTo>
                <a:lnTo>
                  <a:pt x="0" y="6098721"/>
                </a:lnTo>
                <a:lnTo>
                  <a:pt x="7628928" y="6098721"/>
                </a:lnTo>
                <a:close/>
              </a:path>
            </a:pathLst>
          </a:custGeom>
        </p:spPr>
      </p:pic>
      <p:pic>
        <p:nvPicPr>
          <p:cNvPr id="4" name="图片 3"/>
          <p:cNvPicPr>
            <a:picLocks noChangeAspect="1"/>
          </p:cNvPicPr>
          <p:nvPr userDrawn="1"/>
        </p:nvPicPr>
        <p:blipFill>
          <a:blip r:embed="rId10" cstate="print">
            <a:alphaModFix amt="15000"/>
            <a:duotone>
              <a:schemeClr val="accent1">
                <a:shade val="45000"/>
                <a:satMod val="135000"/>
              </a:schemeClr>
              <a:prstClr val="white"/>
            </a:duotone>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val="0"/>
              </a:ext>
            </a:extLst>
          </a:blip>
          <a:srcRect t="20049" r="29846" b="3012"/>
          <a:stretch>
            <a:fillRect/>
          </a:stretch>
        </p:blipFill>
        <p:spPr>
          <a:xfrm>
            <a:off x="2110157" y="0"/>
            <a:ext cx="7033844" cy="5143500"/>
          </a:xfrm>
          <a:custGeom>
            <a:avLst/>
            <a:gdLst>
              <a:gd name="connsiteX0" fmla="*/ 0 w 9378459"/>
              <a:gd name="connsiteY0" fmla="*/ 0 h 6858000"/>
              <a:gd name="connsiteX1" fmla="*/ 9378459 w 9378459"/>
              <a:gd name="connsiteY1" fmla="*/ 0 h 6858000"/>
              <a:gd name="connsiteX2" fmla="*/ 9378459 w 9378459"/>
              <a:gd name="connsiteY2" fmla="*/ 6858000 h 6858000"/>
              <a:gd name="connsiteX3" fmla="*/ 0 w 937845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378459" h="6858000">
                <a:moveTo>
                  <a:pt x="0" y="0"/>
                </a:moveTo>
                <a:lnTo>
                  <a:pt x="9378459" y="0"/>
                </a:lnTo>
                <a:lnTo>
                  <a:pt x="9378459" y="6858000"/>
                </a:lnTo>
                <a:lnTo>
                  <a:pt x="0" y="6858000"/>
                </a:lnTo>
                <a:close/>
              </a:path>
            </a:pathLst>
          </a:custGeom>
        </p:spPr>
      </p:pic>
    </p:spTree>
    <p:extLst>
      <p:ext uri="{BB962C8B-B14F-4D97-AF65-F5344CB8AC3E}">
        <p14:creationId xmlns:p14="http://schemas.microsoft.com/office/powerpoint/2010/main" val="1602970467"/>
      </p:ext>
    </p:extLst>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73" r:id="rId6"/>
    <p:sldLayoutId id="2147483974" r:id="rId7"/>
  </p:sldLayoutIdLst>
  <p:hf hdr="0" ftr="0" dt="0"/>
  <p:txStyles>
    <p:titleStyle>
      <a:lvl1pPr algn="l" defTabSz="685800" rtl="0" eaLnBrk="1" latinLnBrk="0" hangingPunct="1">
        <a:lnSpc>
          <a:spcPct val="90000"/>
        </a:lnSpc>
        <a:spcBef>
          <a:spcPct val="0"/>
        </a:spcBef>
        <a:buNone/>
        <a:defRPr lang="zh-CN" altLang="en-US" sz="21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135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2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0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9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9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4767264"/>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C3076CB3-27E0-44FC-A32A-88810EDA6F90}" type="datetime1">
              <a:rPr lang="zh-CN" altLang="en-US" smtClean="0"/>
              <a:t>2026/4/21</a:t>
            </a:fld>
            <a:endParaRPr lang="zh-CN" altLang="en-US"/>
          </a:p>
        </p:txBody>
      </p:sp>
      <p:sp>
        <p:nvSpPr>
          <p:cNvPr id="5" name="页脚占位符 4"/>
          <p:cNvSpPr>
            <a:spLocks noGrp="1"/>
          </p:cNvSpPr>
          <p:nvPr>
            <p:ph type="ftr" sz="quarter" idx="3"/>
          </p:nvPr>
        </p:nvSpPr>
        <p:spPr>
          <a:xfrm>
            <a:off x="3124200" y="4767264"/>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67B34C1-29DF-48A7-B438-B832F2B2885C}" type="slidenum">
              <a:rPr lang="zh-CN" altLang="en-US" smtClean="0"/>
              <a:t>‹#›</a:t>
            </a:fld>
            <a:endParaRPr lang="zh-CN" altLang="en-US"/>
          </a:p>
        </p:txBody>
      </p:sp>
    </p:spTree>
    <p:extLst>
      <p:ext uri="{BB962C8B-B14F-4D97-AF65-F5344CB8AC3E}">
        <p14:creationId xmlns:p14="http://schemas.microsoft.com/office/powerpoint/2010/main" val="3415493088"/>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 id="2147483990" r:id="rId14"/>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ftr="0" dt="0"/>
  <p:txStyles>
    <p:titleStyle>
      <a:lvl1pPr algn="ctr" defTabSz="914400" rtl="0" eaLnBrk="1" latinLnBrk="0" hangingPunct="1">
        <a:spcBef>
          <a:spcPct val="0"/>
        </a:spcBef>
        <a:buNone/>
        <a:defRPr sz="4399" kern="1200">
          <a:solidFill>
            <a:schemeClr val="tx1"/>
          </a:solidFill>
          <a:latin typeface="+mj-lt"/>
          <a:ea typeface="+mj-ea"/>
          <a:cs typeface="+mj-cs"/>
        </a:defRPr>
      </a:lvl1pPr>
    </p:titleStyle>
    <p:bodyStyle>
      <a:lvl1pPr marL="342900" indent="-342900" algn="l" defTabSz="914400" rtl="0" eaLnBrk="1" latinLnBrk="0" hangingPunct="1">
        <a:spcBef>
          <a:spcPts val="98"/>
        </a:spcBef>
        <a:buFont typeface="Arial" panose="020B0604020202020204" pitchFamily="34" charset="0"/>
        <a:buChar char="•"/>
        <a:defRPr sz="3199" kern="1200">
          <a:solidFill>
            <a:schemeClr val="tx1"/>
          </a:solidFill>
          <a:latin typeface="+mn-lt"/>
          <a:ea typeface="+mn-ea"/>
          <a:cs typeface="+mn-cs"/>
        </a:defRPr>
      </a:lvl1pPr>
      <a:lvl2pPr marL="742950" indent="-285750" algn="l" defTabSz="914400" rtl="0" eaLnBrk="1" latinLnBrk="0" hangingPunct="1">
        <a:spcBef>
          <a:spcPts val="98"/>
        </a:spcBef>
        <a:buFont typeface="Arial" panose="020B0604020202020204" pitchFamily="34" charset="0"/>
        <a:buChar char="–"/>
        <a:defRPr sz="2801" kern="1200">
          <a:solidFill>
            <a:schemeClr val="tx1"/>
          </a:solidFill>
          <a:latin typeface="+mn-lt"/>
          <a:ea typeface="+mn-ea"/>
          <a:cs typeface="+mn-cs"/>
        </a:defRPr>
      </a:lvl2pPr>
      <a:lvl3pPr marL="1143000" indent="-228600" algn="l" defTabSz="914400" rtl="0" eaLnBrk="1" latinLnBrk="0" hangingPunct="1">
        <a:spcBef>
          <a:spcPts val="98"/>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ts val="98"/>
        </a:spcBef>
        <a:buFont typeface="Arial" panose="020B0604020202020204" pitchFamily="34" charset="0"/>
        <a:buChar char="–"/>
        <a:defRPr sz="1999" kern="1200">
          <a:solidFill>
            <a:schemeClr val="tx1"/>
          </a:solidFill>
          <a:latin typeface="+mn-lt"/>
          <a:ea typeface="+mn-ea"/>
          <a:cs typeface="+mn-cs"/>
        </a:defRPr>
      </a:lvl4pPr>
      <a:lvl5pPr marL="2057400" indent="-228600" algn="l" defTabSz="914400" rtl="0" eaLnBrk="1" latinLnBrk="0" hangingPunct="1">
        <a:spcBef>
          <a:spcPts val="98"/>
        </a:spcBef>
        <a:buFont typeface="Arial" panose="020B0604020202020204" pitchFamily="34" charset="0"/>
        <a:buChar char="»"/>
        <a:defRPr sz="1999" kern="1200">
          <a:solidFill>
            <a:schemeClr val="tx1"/>
          </a:solidFill>
          <a:latin typeface="+mn-lt"/>
          <a:ea typeface="+mn-ea"/>
          <a:cs typeface="+mn-cs"/>
        </a:defRPr>
      </a:lvl5pPr>
      <a:lvl6pPr marL="2514600" indent="-228600" algn="l" defTabSz="914400" rtl="0" eaLnBrk="1" latinLnBrk="0" hangingPunct="1">
        <a:spcBef>
          <a:spcPts val="98"/>
        </a:spcBef>
        <a:buFont typeface="Arial" panose="020B0604020202020204" pitchFamily="34" charset="0"/>
        <a:buChar char="•"/>
        <a:defRPr sz="1999" kern="1200">
          <a:solidFill>
            <a:schemeClr val="tx1"/>
          </a:solidFill>
          <a:latin typeface="+mn-lt"/>
          <a:ea typeface="+mn-ea"/>
          <a:cs typeface="+mn-cs"/>
        </a:defRPr>
      </a:lvl6pPr>
      <a:lvl7pPr marL="2971800" indent="-228600" algn="l" defTabSz="914400" rtl="0" eaLnBrk="1" latinLnBrk="0" hangingPunct="1">
        <a:spcBef>
          <a:spcPts val="98"/>
        </a:spcBef>
        <a:buFont typeface="Arial" panose="020B0604020202020204" pitchFamily="34" charset="0"/>
        <a:buChar char="•"/>
        <a:defRPr sz="1999" kern="1200">
          <a:solidFill>
            <a:schemeClr val="tx1"/>
          </a:solidFill>
          <a:latin typeface="+mn-lt"/>
          <a:ea typeface="+mn-ea"/>
          <a:cs typeface="+mn-cs"/>
        </a:defRPr>
      </a:lvl7pPr>
      <a:lvl8pPr marL="3429000" indent="-228600" algn="l" defTabSz="914400" rtl="0" eaLnBrk="1" latinLnBrk="0" hangingPunct="1">
        <a:spcBef>
          <a:spcPts val="98"/>
        </a:spcBef>
        <a:buFont typeface="Arial" panose="020B0604020202020204" pitchFamily="34" charset="0"/>
        <a:buChar char="•"/>
        <a:defRPr sz="1999" kern="1200">
          <a:solidFill>
            <a:schemeClr val="tx1"/>
          </a:solidFill>
          <a:latin typeface="+mn-lt"/>
          <a:ea typeface="+mn-ea"/>
          <a:cs typeface="+mn-cs"/>
        </a:defRPr>
      </a:lvl8pPr>
      <a:lvl9pPr marL="3886200" indent="-228600" algn="l" defTabSz="914400" rtl="0" eaLnBrk="1" latinLnBrk="0" hangingPunct="1">
        <a:spcBef>
          <a:spcPts val="98"/>
        </a:spcBef>
        <a:buFont typeface="Arial" panose="020B0604020202020204" pitchFamily="34" charset="0"/>
        <a:buChar char="•"/>
        <a:defRPr sz="1999"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18.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8.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11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1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6.png"/><Relationship Id="rId7"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1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43.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3.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461931" y="1154354"/>
            <a:ext cx="7523271" cy="1593091"/>
          </a:xfrm>
        </p:spPr>
        <p:txBody>
          <a:bodyPr/>
          <a:lstStyle/>
          <a:p>
            <a:r>
              <a:rPr lang="en-US" altLang="zh-CN" sz="2800" b="1" dirty="0">
                <a:latin typeface="+mn-ea"/>
                <a:ea typeface="+mn-ea"/>
                <a:cs typeface="Times New Roman" panose="02020603050405020304" pitchFamily="18" charset="0"/>
              </a:rPr>
              <a:t>Blood Pressure Lowering and Thrombolysis: Concurrent vs Sequential Management in Acute Ischemic Stroke (BALANCE)</a:t>
            </a:r>
            <a:br>
              <a:rPr lang="en-US" altLang="zh-CN" sz="2800" b="1" dirty="0">
                <a:latin typeface="+mn-ea"/>
                <a:ea typeface="+mn-ea"/>
                <a:cs typeface="Times New Roman" panose="02020603050405020304" pitchFamily="18" charset="0"/>
              </a:rPr>
            </a:br>
            <a:endParaRPr lang="en-GB" sz="1600" b="1" dirty="0">
              <a:latin typeface="+mn-ea"/>
              <a:ea typeface="+mn-ea"/>
              <a:cs typeface="Times New Roman" panose="02020603050405020304" pitchFamily="18" charset="0"/>
            </a:endParaRPr>
          </a:p>
        </p:txBody>
      </p:sp>
      <p:sp>
        <p:nvSpPr>
          <p:cNvPr id="3" name="文本框 2">
            <a:extLst>
              <a:ext uri="{FF2B5EF4-FFF2-40B4-BE49-F238E27FC236}">
                <a16:creationId xmlns:a16="http://schemas.microsoft.com/office/drawing/2014/main" id="{C2D58DA8-7D58-7F8D-0C24-4175A40ED709}"/>
              </a:ext>
            </a:extLst>
          </p:cNvPr>
          <p:cNvSpPr txBox="1"/>
          <p:nvPr/>
        </p:nvSpPr>
        <p:spPr>
          <a:xfrm>
            <a:off x="410040" y="3337554"/>
            <a:ext cx="7748223" cy="138499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E47C"/>
                </a:solidFill>
                <a:latin typeface="+mn-ea"/>
                <a:cs typeface="Times New Roman" panose="02020603050405020304" pitchFamily="18" charset="0"/>
              </a:rPr>
              <a:t>IIS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E47C"/>
                </a:solidFill>
                <a:latin typeface="+mn-ea"/>
                <a:cs typeface="Times New Roman" panose="02020603050405020304" pitchFamily="18" charset="0"/>
              </a:rPr>
              <a:t>L</a:t>
            </a:r>
            <a:r>
              <a:rPr kumimoji="0" lang="en-US" altLang="zh-CN" sz="1400" b="0" i="0" u="none" strike="noStrike" kern="1200" cap="none" spc="0" normalizeH="0" baseline="0" noProof="0" dirty="0" err="1">
                <a:ln>
                  <a:noFill/>
                </a:ln>
                <a:solidFill>
                  <a:srgbClr val="00E47C"/>
                </a:solidFill>
                <a:effectLst/>
                <a:uLnTx/>
                <a:uFillTx/>
                <a:latin typeface="+mn-ea"/>
                <a:cs typeface="Times New Roman" panose="02020603050405020304" pitchFamily="18" charset="0"/>
              </a:rPr>
              <a:t>eading</a:t>
            </a:r>
            <a:r>
              <a:rPr kumimoji="0" lang="en-US" altLang="zh-CN" sz="1400" b="0" i="0" u="none" strike="noStrike" kern="1200" cap="none" spc="0" normalizeH="0" baseline="0" noProof="0" dirty="0">
                <a:ln>
                  <a:noFill/>
                </a:ln>
                <a:solidFill>
                  <a:srgbClr val="00E47C"/>
                </a:solidFill>
                <a:effectLst/>
                <a:uLnTx/>
                <a:uFillTx/>
                <a:latin typeface="+mn-ea"/>
                <a:cs typeface="Times New Roman" panose="02020603050405020304" pitchFamily="18" charset="0"/>
              </a:rPr>
              <a:t> PI - Prof. </a:t>
            </a:r>
            <a:r>
              <a:rPr lang="en-US" altLang="zh-CN" sz="1400" dirty="0">
                <a:solidFill>
                  <a:srgbClr val="00E47C"/>
                </a:solidFill>
                <a:latin typeface="+mn-ea"/>
                <a:cs typeface="Times New Roman" panose="02020603050405020304" pitchFamily="18" charset="0"/>
              </a:rPr>
              <a:t>Wu</a:t>
            </a:r>
            <a:r>
              <a:rPr kumimoji="0" lang="en-US" altLang="zh-CN" sz="1400" b="0" i="0" u="none" strike="noStrike" kern="1200" cap="none" spc="0" normalizeH="0" baseline="0" noProof="0" dirty="0">
                <a:ln>
                  <a:noFill/>
                </a:ln>
                <a:solidFill>
                  <a:srgbClr val="00E47C"/>
                </a:solidFill>
                <a:effectLst/>
                <a:uLnTx/>
                <a:uFillTx/>
                <a:latin typeface="+mn-ea"/>
                <a:cs typeface="Times New Roman" panose="02020603050405020304" pitchFamily="18" charset="0"/>
              </a:rPr>
              <a:t> </a:t>
            </a:r>
            <a:r>
              <a:rPr lang="en-US" altLang="zh-CN" sz="1400" dirty="0">
                <a:solidFill>
                  <a:srgbClr val="00E47C"/>
                </a:solidFill>
                <a:latin typeface="+mn-ea"/>
                <a:cs typeface="Times New Roman" panose="02020603050405020304" pitchFamily="18" charset="0"/>
              </a:rPr>
              <a:t>Bo (</a:t>
            </a:r>
            <a:r>
              <a:rPr kumimoji="0" lang="en-US" altLang="zh-CN" sz="1400" b="0" i="0" u="none" strike="noStrike" kern="1200" cap="none" spc="0" normalizeH="0" baseline="0" noProof="0" dirty="0">
                <a:ln>
                  <a:noFill/>
                </a:ln>
                <a:solidFill>
                  <a:srgbClr val="00E47C"/>
                </a:solidFill>
                <a:effectLst/>
                <a:uLnTx/>
                <a:uFillTx/>
                <a:latin typeface="+mn-ea"/>
                <a:cs typeface="Times New Roman" panose="02020603050405020304" pitchFamily="18" charset="0"/>
              </a:rPr>
              <a:t>West China Hospital)</a:t>
            </a:r>
            <a:r>
              <a:rPr lang="en-US" altLang="zh-CN" sz="1400" dirty="0">
                <a:solidFill>
                  <a:srgbClr val="00E47C"/>
                </a:solidFill>
                <a:latin typeface="+mn-ea"/>
                <a:cs typeface="Times New Roman" panose="02020603050405020304" pitchFamily="18" charset="0"/>
              </a:rPr>
              <a:t>;</a:t>
            </a:r>
            <a:r>
              <a:rPr lang="zh-CN" altLang="en-US" sz="1400" dirty="0">
                <a:solidFill>
                  <a:srgbClr val="00E47C"/>
                </a:solidFill>
                <a:latin typeface="+mn-ea"/>
                <a:cs typeface="Times New Roman" panose="02020603050405020304" pitchFamily="18" charset="0"/>
              </a:rPr>
              <a:t> </a:t>
            </a:r>
            <a:r>
              <a:rPr kumimoji="0" lang="en-US" altLang="zh-CN" sz="1400" b="0" i="0" u="none" strike="noStrike" kern="1200" cap="none" spc="0" normalizeH="0" baseline="0" noProof="0" dirty="0">
                <a:ln>
                  <a:noFill/>
                </a:ln>
                <a:solidFill>
                  <a:srgbClr val="00E47C"/>
                </a:solidFill>
                <a:effectLst/>
                <a:uLnTx/>
                <a:uFillTx/>
                <a:latin typeface="+mn-ea"/>
                <a:cs typeface="Times New Roman" panose="02020603050405020304" pitchFamily="18" charset="0"/>
              </a:rPr>
              <a:t>Bijoy K. Menon (University of Calgary, Canada) </a:t>
            </a:r>
          </a:p>
          <a:p>
            <a:pPr>
              <a:defRPr/>
            </a:pPr>
            <a:endParaRPr lang="en-US" altLang="zh-CN" sz="1400" dirty="0">
              <a:solidFill>
                <a:srgbClr val="00E47C"/>
              </a:solidFill>
              <a:latin typeface="+mn-ea"/>
              <a:cs typeface="Times New Roman" panose="02020603050405020304" pitchFamily="18" charset="0"/>
            </a:endParaRPr>
          </a:p>
          <a:p>
            <a:pPr>
              <a:defRPr/>
            </a:pPr>
            <a:endParaRPr lang="en-US" altLang="zh-CN" sz="1400" dirty="0">
              <a:solidFill>
                <a:srgbClr val="00E47C"/>
              </a:solidFill>
              <a:latin typeface="+mn-ea"/>
              <a:cs typeface="Times New Roman" panose="02020603050405020304" pitchFamily="18" charset="0"/>
            </a:endParaRPr>
          </a:p>
          <a:p>
            <a:pPr>
              <a:defRPr/>
            </a:pPr>
            <a:r>
              <a:rPr lang="en-US" altLang="zh-CN" sz="1400" dirty="0">
                <a:solidFill>
                  <a:srgbClr val="00E47C"/>
                </a:solidFill>
                <a:latin typeface="+mn-ea"/>
                <a:cs typeface="Times New Roman" panose="02020603050405020304" pitchFamily="18" charset="0"/>
              </a:rPr>
              <a:t>For PEC Endorsement</a:t>
            </a:r>
          </a:p>
          <a:p>
            <a:pPr>
              <a:defRPr/>
            </a:pPr>
            <a:endParaRPr lang="en-US" altLang="zh-CN" sz="1400" dirty="0">
              <a:solidFill>
                <a:srgbClr val="00E47C"/>
              </a:solidFill>
              <a:latin typeface="+mn-ea"/>
              <a:cs typeface="Times New Roman" panose="02020603050405020304" pitchFamily="18" charset="0"/>
            </a:endParaRPr>
          </a:p>
        </p:txBody>
      </p:sp>
    </p:spTree>
    <p:extLst>
      <p:ext uri="{BB962C8B-B14F-4D97-AF65-F5344CB8AC3E}">
        <p14:creationId xmlns:p14="http://schemas.microsoft.com/office/powerpoint/2010/main" val="263377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AE32A3-13E4-12ED-437F-CE94F5E365CC}"/>
              </a:ext>
            </a:extLst>
          </p:cNvPr>
          <p:cNvSpPr>
            <a:spLocks noGrp="1"/>
          </p:cNvSpPr>
          <p:nvPr>
            <p:ph type="title"/>
          </p:nvPr>
        </p:nvSpPr>
        <p:spPr>
          <a:xfrm>
            <a:off x="432769" y="282248"/>
            <a:ext cx="8622740" cy="336556"/>
          </a:xfrm>
        </p:spPr>
        <p:txBody>
          <a:bodyPr/>
          <a:lstStyle/>
          <a:p>
            <a:r>
              <a:rPr lang="en-US" altLang="zh-CN" sz="2000" dirty="0">
                <a:solidFill>
                  <a:srgbClr val="C00000"/>
                </a:solidFill>
                <a:latin typeface="+mn-ea"/>
                <a:ea typeface="+mn-ea"/>
              </a:rPr>
              <a:t>Nearly 30% </a:t>
            </a:r>
            <a:r>
              <a:rPr lang="en-US" altLang="zh-CN" sz="2000" dirty="0">
                <a:solidFill>
                  <a:schemeClr val="tx1"/>
                </a:solidFill>
                <a:latin typeface="+mn-ea"/>
                <a:ea typeface="+mn-ea"/>
                <a:cs typeface="Times New Roman" panose="02020603050405020304" pitchFamily="18" charset="0"/>
              </a:rPr>
              <a:t>of AIS patients present with a SBP ≥180 mmHg</a:t>
            </a:r>
            <a:endParaRPr lang="zh-CN" altLang="en-US" sz="2000" dirty="0">
              <a:solidFill>
                <a:schemeClr val="tx1"/>
              </a:solidFill>
              <a:latin typeface="+mn-ea"/>
              <a:ea typeface="+mn-ea"/>
            </a:endParaRPr>
          </a:p>
        </p:txBody>
      </p:sp>
      <p:sp>
        <p:nvSpPr>
          <p:cNvPr id="6" name="文本框 5">
            <a:extLst>
              <a:ext uri="{FF2B5EF4-FFF2-40B4-BE49-F238E27FC236}">
                <a16:creationId xmlns:a16="http://schemas.microsoft.com/office/drawing/2014/main" id="{53428001-7DE0-2567-91CC-135A64FE687A}"/>
              </a:ext>
            </a:extLst>
          </p:cNvPr>
          <p:cNvSpPr txBox="1"/>
          <p:nvPr/>
        </p:nvSpPr>
        <p:spPr>
          <a:xfrm>
            <a:off x="2075235" y="4654512"/>
            <a:ext cx="7068766" cy="461665"/>
          </a:xfrm>
          <a:prstGeom prst="rect">
            <a:avLst/>
          </a:prstGeom>
          <a:noFill/>
        </p:spPr>
        <p:txBody>
          <a:bodyPr wrap="square" rtlCol="0">
            <a:spAutoFit/>
          </a:bodyPr>
          <a:lstStyle/>
          <a:p>
            <a:pPr marL="180975" indent="-180975">
              <a:buFont typeface="+mj-lt"/>
              <a:buAutoNum type="arabicPeriod"/>
            </a:pPr>
            <a:r>
              <a:rPr lang="en-US" altLang="zh-CN" sz="800" dirty="0" err="1">
                <a:latin typeface="+mn-ea"/>
                <a:cs typeface="Times New Roman" panose="02020603050405020304" pitchFamily="18" charset="0"/>
              </a:rPr>
              <a:t>中华医学会神经病学分会</a:t>
            </a:r>
            <a:r>
              <a:rPr lang="en-CA" altLang="zh-CN" sz="800" dirty="0">
                <a:latin typeface="+mn-ea"/>
                <a:cs typeface="Times New Roman" panose="02020603050405020304" pitchFamily="18" charset="0"/>
              </a:rPr>
              <a:t>, </a:t>
            </a:r>
            <a:r>
              <a:rPr lang="en-US" altLang="zh-CN" sz="800" dirty="0" err="1">
                <a:latin typeface="+mn-ea"/>
                <a:cs typeface="Times New Roman" panose="02020603050405020304" pitchFamily="18" charset="0"/>
              </a:rPr>
              <a:t>中华医学会神经病学分会脑血管病学组</a:t>
            </a:r>
            <a:r>
              <a:rPr lang="en-CA" altLang="zh-CN" sz="800" dirty="0">
                <a:latin typeface="+mn-ea"/>
                <a:cs typeface="Times New Roman" panose="02020603050405020304" pitchFamily="18" charset="0"/>
              </a:rPr>
              <a:t>. </a:t>
            </a:r>
            <a:r>
              <a:rPr lang="en-US" altLang="zh-CN" sz="800" dirty="0" err="1">
                <a:latin typeface="+mn-ea"/>
                <a:cs typeface="Times New Roman" panose="02020603050405020304" pitchFamily="18" charset="0"/>
              </a:rPr>
              <a:t>中国急性缺血性卒中诊治指南</a:t>
            </a:r>
            <a:r>
              <a:rPr lang="en-CA" altLang="zh-CN" sz="800" dirty="0">
                <a:latin typeface="+mn-ea"/>
                <a:cs typeface="Times New Roman" panose="02020603050405020304" pitchFamily="18" charset="0"/>
              </a:rPr>
              <a:t>2023. </a:t>
            </a:r>
            <a:r>
              <a:rPr lang="en-US" altLang="zh-CN" sz="800" dirty="0" err="1">
                <a:latin typeface="+mn-ea"/>
                <a:cs typeface="Times New Roman" panose="02020603050405020304" pitchFamily="18" charset="0"/>
              </a:rPr>
              <a:t>中华神经科杂志</a:t>
            </a:r>
            <a:r>
              <a:rPr lang="en-CA" altLang="zh-CN" sz="800" dirty="0">
                <a:latin typeface="+mn-ea"/>
                <a:cs typeface="Times New Roman" panose="02020603050405020304" pitchFamily="18" charset="0"/>
              </a:rPr>
              <a:t> 2024; 57: 523–559.</a:t>
            </a:r>
          </a:p>
          <a:p>
            <a:pPr marL="180975" indent="-180975">
              <a:buFont typeface="+mj-lt"/>
              <a:buAutoNum type="arabicPeriod"/>
            </a:pPr>
            <a:r>
              <a:rPr lang="en-US" altLang="zh-CN" sz="800" dirty="0">
                <a:latin typeface="+mn-ea"/>
                <a:cs typeface="Times New Roman" panose="02020603050405020304" pitchFamily="18" charset="0"/>
              </a:rPr>
              <a:t>CAST(Chinese Acute Stroke Trial) Collaborative Group. Lancet. 1997; 349(9066):1641-9.</a:t>
            </a:r>
          </a:p>
          <a:p>
            <a:pPr marL="180975" indent="-180975">
              <a:buFont typeface="+mj-lt"/>
              <a:buAutoNum type="arabicPeriod"/>
            </a:pPr>
            <a:r>
              <a:rPr lang="en-US" altLang="zh-CN" sz="800" dirty="0">
                <a:latin typeface="+mn-ea"/>
                <a:cs typeface="Times New Roman" panose="02020603050405020304" pitchFamily="18" charset="0"/>
              </a:rPr>
              <a:t>Leonardi-Bee J, et al. Stroke. 2002; 33(5):1315-20.</a:t>
            </a:r>
            <a:endParaRPr lang="zh-CN" altLang="en-US" sz="800" dirty="0">
              <a:latin typeface="+mn-ea"/>
              <a:cs typeface="Times New Roman" panose="02020603050405020304" pitchFamily="18" charset="0"/>
            </a:endParaRPr>
          </a:p>
        </p:txBody>
      </p:sp>
      <p:sp>
        <p:nvSpPr>
          <p:cNvPr id="8" name="内容占位符 2">
            <a:extLst>
              <a:ext uri="{FF2B5EF4-FFF2-40B4-BE49-F238E27FC236}">
                <a16:creationId xmlns:a16="http://schemas.microsoft.com/office/drawing/2014/main" id="{CA087C76-C3F5-0DFC-1DCF-72C1DAE41CFA}"/>
              </a:ext>
            </a:extLst>
          </p:cNvPr>
          <p:cNvSpPr txBox="1">
            <a:spLocks/>
          </p:cNvSpPr>
          <p:nvPr/>
        </p:nvSpPr>
        <p:spPr bwMode="gray">
          <a:xfrm>
            <a:off x="601041" y="921887"/>
            <a:ext cx="7886700" cy="498475"/>
          </a:xfrm>
          <a:prstGeom prst="rect">
            <a:avLst/>
          </a:prstGeom>
        </p:spPr>
        <p:txBody>
          <a:bodyPr vert="horz" lIns="0" tIns="0" rIns="0" bIns="0" rtlCol="0">
            <a:noAutofit/>
          </a:bodyPr>
          <a:lstStyle>
            <a:lvl1pPr marL="161996" indent="-161996" algn="l" defTabSz="685783"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Times New Roman" panose="02020603050405020304" pitchFamily="18" charset="0"/>
                <a:ea typeface="+mn-ea"/>
                <a:cs typeface="+mn-cs"/>
              </a:defRPr>
            </a:lvl1pPr>
            <a:lvl2pPr marL="323992"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2pPr>
            <a:lvl3pPr marL="431990"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3pPr>
            <a:lvl4pPr marL="593985"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4pPr>
            <a:lvl5pPr marL="107997"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5pPr>
            <a:lvl6pPr marL="215995" indent="-107153"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6pPr>
            <a:lvl7pPr marL="323992"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7pPr>
            <a:lvl8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8pPr>
            <a:lvl9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Times New Roman" panose="02020603050405020304" pitchFamily="18" charset="0"/>
                <a:ea typeface="+mn-ea"/>
                <a:cs typeface="+mn-cs"/>
              </a:defRPr>
            </a:lvl9pPr>
          </a:lstStyle>
          <a:p>
            <a:pPr marL="214313" indent="-214313">
              <a:lnSpc>
                <a:spcPts val="1875"/>
              </a:lnSpc>
            </a:pPr>
            <a:r>
              <a:rPr lang="en-US" altLang="zh-CN" sz="1600" b="1" dirty="0">
                <a:latin typeface="+mn-ea"/>
                <a:cs typeface="Times New Roman" panose="02020603050405020304" pitchFamily="18" charset="0"/>
              </a:rPr>
              <a:t>75.3% - 81.6% of patients with acute ischemic stroke (AIS) present with a systolic blood pressure(SBP) ≥140 mmHg</a:t>
            </a:r>
            <a:r>
              <a:rPr lang="en-US" altLang="zh-CN" sz="1600" b="1" baseline="30000" dirty="0">
                <a:latin typeface="+mn-ea"/>
                <a:cs typeface="Times New Roman" panose="02020603050405020304" pitchFamily="18" charset="0"/>
              </a:rPr>
              <a:t>1</a:t>
            </a:r>
          </a:p>
          <a:p>
            <a:pPr marL="214313" indent="-214313">
              <a:lnSpc>
                <a:spcPts val="1875"/>
              </a:lnSpc>
            </a:pPr>
            <a:r>
              <a:rPr lang="en-US" altLang="zh-CN" sz="1600" b="1" dirty="0">
                <a:solidFill>
                  <a:srgbClr val="C00000"/>
                </a:solidFill>
                <a:latin typeface="+mn-ea"/>
                <a:cs typeface="Times New Roman" panose="02020603050405020304" pitchFamily="18" charset="0"/>
              </a:rPr>
              <a:t>25.3% - 27.6% </a:t>
            </a:r>
            <a:r>
              <a:rPr lang="en-US" altLang="zh-CN" sz="1600" b="1" dirty="0">
                <a:latin typeface="+mn-ea"/>
                <a:cs typeface="Times New Roman" panose="02020603050405020304" pitchFamily="18" charset="0"/>
              </a:rPr>
              <a:t>of patients with AIS present with a SBP ≥180 mmHg</a:t>
            </a:r>
            <a:r>
              <a:rPr lang="en-US" altLang="zh-CN" sz="1600" b="1" baseline="30000" dirty="0">
                <a:latin typeface="+mn-ea"/>
                <a:cs typeface="Times New Roman" panose="02020603050405020304" pitchFamily="18" charset="0"/>
              </a:rPr>
              <a:t>2-3</a:t>
            </a:r>
          </a:p>
          <a:p>
            <a:pPr marL="342900" lvl="1" indent="0">
              <a:buNone/>
            </a:pPr>
            <a:endParaRPr lang="en-US" altLang="zh-CN" sz="1600" dirty="0">
              <a:latin typeface="+mn-ea"/>
              <a:cs typeface="Times New Roman" panose="02020603050405020304" pitchFamily="18" charset="0"/>
            </a:endParaRPr>
          </a:p>
          <a:p>
            <a:pPr marL="0" indent="0">
              <a:buFont typeface="Arial" panose="020B0604020202020204" pitchFamily="34" charset="0"/>
              <a:buNone/>
            </a:pPr>
            <a:endParaRPr lang="en-US" altLang="zh-CN" sz="1600" dirty="0">
              <a:latin typeface="+mn-ea"/>
              <a:cs typeface="Times New Roman" panose="02020603050405020304" pitchFamily="18" charset="0"/>
            </a:endParaRPr>
          </a:p>
          <a:p>
            <a:endParaRPr lang="zh-CN" altLang="en-US" sz="1600" dirty="0">
              <a:latin typeface="+mn-ea"/>
              <a:cs typeface="Times New Roman" panose="02020603050405020304" pitchFamily="18" charset="0"/>
            </a:endParaRPr>
          </a:p>
        </p:txBody>
      </p:sp>
      <p:graphicFrame>
        <p:nvGraphicFramePr>
          <p:cNvPr id="11" name="图表 10">
            <a:extLst>
              <a:ext uri="{FF2B5EF4-FFF2-40B4-BE49-F238E27FC236}">
                <a16:creationId xmlns:a16="http://schemas.microsoft.com/office/drawing/2014/main" id="{EA27F51E-9AB7-C945-8A26-C37B9102FAE8}"/>
              </a:ext>
            </a:extLst>
          </p:cNvPr>
          <p:cNvGraphicFramePr/>
          <p:nvPr>
            <p:extLst>
              <p:ext uri="{D42A27DB-BD31-4B8C-83A1-F6EECF244321}">
                <p14:modId xmlns:p14="http://schemas.microsoft.com/office/powerpoint/2010/main" val="4140291421"/>
              </p:ext>
            </p:extLst>
          </p:nvPr>
        </p:nvGraphicFramePr>
        <p:xfrm>
          <a:off x="576263" y="2270318"/>
          <a:ext cx="3877750" cy="2655260"/>
        </p:xfrm>
        <a:graphic>
          <a:graphicData uri="http://schemas.openxmlformats.org/drawingml/2006/chart">
            <c:chart xmlns:c="http://schemas.openxmlformats.org/drawingml/2006/chart" xmlns:r="http://schemas.openxmlformats.org/officeDocument/2006/relationships" r:id="rId3"/>
          </a:graphicData>
        </a:graphic>
      </p:graphicFrame>
      <p:sp>
        <p:nvSpPr>
          <p:cNvPr id="13" name="文本框 12">
            <a:extLst>
              <a:ext uri="{FF2B5EF4-FFF2-40B4-BE49-F238E27FC236}">
                <a16:creationId xmlns:a16="http://schemas.microsoft.com/office/drawing/2014/main" id="{368A6A03-9C47-CEAF-CBEB-B786F298C273}"/>
              </a:ext>
            </a:extLst>
          </p:cNvPr>
          <p:cNvSpPr txBox="1"/>
          <p:nvPr/>
        </p:nvSpPr>
        <p:spPr>
          <a:xfrm>
            <a:off x="576263" y="1947200"/>
            <a:ext cx="3968128" cy="523220"/>
          </a:xfrm>
          <a:prstGeom prst="rect">
            <a:avLst/>
          </a:prstGeom>
          <a:noFill/>
        </p:spPr>
        <p:txBody>
          <a:bodyPr wrap="square" rtlCol="0">
            <a:spAutoFit/>
          </a:bodyPr>
          <a:lstStyle/>
          <a:p>
            <a:pPr algn="ctr"/>
            <a:r>
              <a:rPr lang="en-US" altLang="zh-CN" sz="1400" b="1" dirty="0">
                <a:latin typeface="+mn-ea"/>
                <a:cs typeface="Times New Roman" panose="02020603050405020304" pitchFamily="18" charset="0"/>
              </a:rPr>
              <a:t>CAST (Chinese Acute Stroke Trial):</a:t>
            </a:r>
          </a:p>
          <a:p>
            <a:pPr algn="ctr"/>
            <a:r>
              <a:rPr lang="en" altLang="zh-CN" sz="1400" b="1" dirty="0">
                <a:latin typeface="+mn-ea"/>
                <a:cs typeface="Times New Roman" panose="02020603050405020304" pitchFamily="18" charset="0"/>
              </a:rPr>
              <a:t>SBP in AIS (n=21,106)</a:t>
            </a:r>
            <a:r>
              <a:rPr lang="en" altLang="zh-CN" sz="1400" b="1" baseline="30000" dirty="0">
                <a:latin typeface="+mn-ea"/>
                <a:cs typeface="Times New Roman" panose="02020603050405020304" pitchFamily="18" charset="0"/>
              </a:rPr>
              <a:t>2</a:t>
            </a:r>
          </a:p>
        </p:txBody>
      </p:sp>
      <p:graphicFrame>
        <p:nvGraphicFramePr>
          <p:cNvPr id="15" name="图表 14">
            <a:extLst>
              <a:ext uri="{FF2B5EF4-FFF2-40B4-BE49-F238E27FC236}">
                <a16:creationId xmlns:a16="http://schemas.microsoft.com/office/drawing/2014/main" id="{B8EEEBF9-DB5A-0547-883D-BEBEA35BFBC0}"/>
              </a:ext>
            </a:extLst>
          </p:cNvPr>
          <p:cNvGraphicFramePr/>
          <p:nvPr>
            <p:extLst>
              <p:ext uri="{D42A27DB-BD31-4B8C-83A1-F6EECF244321}">
                <p14:modId xmlns:p14="http://schemas.microsoft.com/office/powerpoint/2010/main" val="2633148628"/>
              </p:ext>
            </p:extLst>
          </p:nvPr>
        </p:nvGraphicFramePr>
        <p:xfrm>
          <a:off x="4700026" y="2270318"/>
          <a:ext cx="3877750" cy="2655260"/>
        </p:xfrm>
        <a:graphic>
          <a:graphicData uri="http://schemas.openxmlformats.org/drawingml/2006/chart">
            <c:chart xmlns:c="http://schemas.openxmlformats.org/drawingml/2006/chart" xmlns:r="http://schemas.openxmlformats.org/officeDocument/2006/relationships" r:id="rId4"/>
          </a:graphicData>
        </a:graphic>
      </p:graphicFrame>
      <p:sp>
        <p:nvSpPr>
          <p:cNvPr id="16" name="文本框 15">
            <a:extLst>
              <a:ext uri="{FF2B5EF4-FFF2-40B4-BE49-F238E27FC236}">
                <a16:creationId xmlns:a16="http://schemas.microsoft.com/office/drawing/2014/main" id="{57182508-43F9-B24A-DC75-D01B4F30C678}"/>
              </a:ext>
            </a:extLst>
          </p:cNvPr>
          <p:cNvSpPr txBox="1"/>
          <p:nvPr/>
        </p:nvSpPr>
        <p:spPr>
          <a:xfrm>
            <a:off x="4700026" y="1947200"/>
            <a:ext cx="3968128" cy="523220"/>
          </a:xfrm>
          <a:prstGeom prst="rect">
            <a:avLst/>
          </a:prstGeom>
          <a:noFill/>
        </p:spPr>
        <p:txBody>
          <a:bodyPr wrap="square" rtlCol="0">
            <a:spAutoFit/>
          </a:bodyPr>
          <a:lstStyle/>
          <a:p>
            <a:pPr algn="ctr"/>
            <a:r>
              <a:rPr lang="en-US" altLang="zh-CN" sz="1400" b="1" dirty="0">
                <a:latin typeface="+mn-ea"/>
                <a:cs typeface="Times New Roman" panose="02020603050405020304" pitchFamily="18" charset="0"/>
              </a:rPr>
              <a:t>IST (International Stroke Trial)</a:t>
            </a:r>
            <a:r>
              <a:rPr lang="zh-CN" altLang="en-US" sz="1400" b="1" dirty="0">
                <a:latin typeface="+mn-ea"/>
                <a:cs typeface="Times New Roman" panose="02020603050405020304" pitchFamily="18" charset="0"/>
              </a:rPr>
              <a:t>：</a:t>
            </a:r>
            <a:endParaRPr lang="en-US" altLang="zh-CN" sz="1400" b="1" dirty="0">
              <a:latin typeface="+mn-ea"/>
              <a:cs typeface="Times New Roman" panose="02020603050405020304" pitchFamily="18" charset="0"/>
            </a:endParaRPr>
          </a:p>
          <a:p>
            <a:pPr algn="ctr"/>
            <a:r>
              <a:rPr lang="en" altLang="zh-CN" sz="1400" b="1" dirty="0">
                <a:latin typeface="+mn-ea"/>
                <a:cs typeface="Times New Roman" panose="02020603050405020304" pitchFamily="18" charset="0"/>
              </a:rPr>
              <a:t>SBP in AIS (n=17,398)</a:t>
            </a:r>
            <a:r>
              <a:rPr lang="en" altLang="zh-CN" sz="1400" b="1" baseline="30000" dirty="0">
                <a:latin typeface="+mn-ea"/>
                <a:cs typeface="Times New Roman" panose="02020603050405020304" pitchFamily="18" charset="0"/>
              </a:rPr>
              <a:t>3</a:t>
            </a:r>
          </a:p>
        </p:txBody>
      </p:sp>
    </p:spTree>
    <p:extLst>
      <p:ext uri="{BB962C8B-B14F-4D97-AF65-F5344CB8AC3E}">
        <p14:creationId xmlns:p14="http://schemas.microsoft.com/office/powerpoint/2010/main" val="191000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A0B1D1-D1E4-1C93-39C7-65C23E332C6C}"/>
              </a:ext>
            </a:extLst>
          </p:cNvPr>
          <p:cNvSpPr>
            <a:spLocks noGrp="1"/>
          </p:cNvSpPr>
          <p:nvPr>
            <p:ph type="title"/>
          </p:nvPr>
        </p:nvSpPr>
        <p:spPr>
          <a:xfrm>
            <a:off x="371475" y="116732"/>
            <a:ext cx="8401050" cy="591413"/>
          </a:xfrm>
        </p:spPr>
        <p:txBody>
          <a:bodyPr anchor="ctr"/>
          <a:lstStyle/>
          <a:p>
            <a:r>
              <a:rPr lang="en-US" altLang="zh-CN" sz="2000" dirty="0">
                <a:solidFill>
                  <a:schemeClr val="tx1"/>
                </a:solidFill>
                <a:latin typeface="+mn-ea"/>
                <a:ea typeface="+mn-ea"/>
                <a:cs typeface="Times New Roman" panose="02020603050405020304" pitchFamily="18" charset="0"/>
              </a:rPr>
              <a:t>Current guidelines recommend </a:t>
            </a:r>
            <a:r>
              <a:rPr lang="en-US" altLang="zh-CN" sz="2000" dirty="0">
                <a:solidFill>
                  <a:srgbClr val="C00000"/>
                </a:solidFill>
                <a:latin typeface="+mn-ea"/>
                <a:ea typeface="+mn-ea"/>
                <a:cs typeface="Times New Roman" panose="02020603050405020304" pitchFamily="18" charset="0"/>
              </a:rPr>
              <a:t>BP</a:t>
            </a:r>
            <a:r>
              <a:rPr lang="zh-CN" altLang="en-US" sz="2000" dirty="0">
                <a:solidFill>
                  <a:srgbClr val="C00000"/>
                </a:solidFill>
                <a:latin typeface="+mn-ea"/>
                <a:ea typeface="+mn-ea"/>
                <a:cs typeface="Times New Roman" panose="02020603050405020304" pitchFamily="18" charset="0"/>
              </a:rPr>
              <a:t>＜</a:t>
            </a:r>
            <a:r>
              <a:rPr lang="en-US" altLang="zh-CN" sz="2000" dirty="0">
                <a:solidFill>
                  <a:srgbClr val="C00000"/>
                </a:solidFill>
                <a:latin typeface="+mn-ea"/>
                <a:ea typeface="+mn-ea"/>
                <a:cs typeface="Times New Roman" panose="02020603050405020304" pitchFamily="18" charset="0"/>
              </a:rPr>
              <a:t>180/100 mmHg </a:t>
            </a:r>
            <a:r>
              <a:rPr lang="en-CA" altLang="zh-CN" sz="2000" dirty="0">
                <a:solidFill>
                  <a:schemeClr val="tx1"/>
                </a:solidFill>
                <a:latin typeface="+mn-ea"/>
                <a:ea typeface="+mn-ea"/>
                <a:cs typeface="Times New Roman" panose="02020603050405020304" pitchFamily="18" charset="0"/>
              </a:rPr>
              <a:t>prior to</a:t>
            </a:r>
            <a:r>
              <a:rPr lang="en-US" altLang="zh-CN" sz="2000" dirty="0">
                <a:solidFill>
                  <a:schemeClr val="tx1"/>
                </a:solidFill>
                <a:latin typeface="+mn-ea"/>
                <a:ea typeface="+mn-ea"/>
                <a:cs typeface="Times New Roman" panose="02020603050405020304" pitchFamily="18" charset="0"/>
              </a:rPr>
              <a:t> IVT</a:t>
            </a:r>
            <a:br>
              <a:rPr lang="en-US" altLang="zh-CN" sz="2000" dirty="0">
                <a:solidFill>
                  <a:schemeClr val="tx1"/>
                </a:solidFill>
                <a:latin typeface="+mn-ea"/>
                <a:ea typeface="+mn-ea"/>
                <a:cs typeface="Times New Roman" panose="02020603050405020304" pitchFamily="18" charset="0"/>
              </a:rPr>
            </a:br>
            <a:r>
              <a:rPr lang="en-US" altLang="zh-CN" sz="2000" dirty="0">
                <a:solidFill>
                  <a:schemeClr val="tx1"/>
                </a:solidFill>
                <a:latin typeface="+mn-ea"/>
                <a:ea typeface="+mn-ea"/>
                <a:cs typeface="Times New Roman" panose="02020603050405020304" pitchFamily="18" charset="0"/>
              </a:rPr>
              <a:t>however,</a:t>
            </a:r>
            <a:r>
              <a:rPr lang="zh-CN" altLang="en-US" sz="2000" dirty="0">
                <a:solidFill>
                  <a:schemeClr val="tx1"/>
                </a:solidFill>
                <a:latin typeface="+mn-ea"/>
                <a:ea typeface="+mn-ea"/>
                <a:cs typeface="Times New Roman" panose="02020603050405020304" pitchFamily="18" charset="0"/>
              </a:rPr>
              <a:t> </a:t>
            </a:r>
            <a:r>
              <a:rPr lang="en-US" altLang="zh-CN" sz="2000" dirty="0">
                <a:solidFill>
                  <a:schemeClr val="tx1"/>
                </a:solidFill>
                <a:latin typeface="+mn-ea"/>
                <a:ea typeface="+mn-ea"/>
                <a:cs typeface="Times New Roman" panose="02020603050405020304" pitchFamily="18" charset="0"/>
              </a:rPr>
              <a:t>there is no robust evidence for this strategy</a:t>
            </a:r>
            <a:endParaRPr lang="zh-CN" altLang="en-US" sz="2000" dirty="0">
              <a:solidFill>
                <a:schemeClr val="tx1"/>
              </a:solidFill>
              <a:latin typeface="+mn-ea"/>
              <a:ea typeface="+mn-ea"/>
              <a:cs typeface="Times New Roman" panose="02020603050405020304" pitchFamily="18" charset="0"/>
            </a:endParaRPr>
          </a:p>
        </p:txBody>
      </p:sp>
      <p:sp>
        <p:nvSpPr>
          <p:cNvPr id="3" name="文本框 2">
            <a:extLst>
              <a:ext uri="{FF2B5EF4-FFF2-40B4-BE49-F238E27FC236}">
                <a16:creationId xmlns:a16="http://schemas.microsoft.com/office/drawing/2014/main" id="{84636F78-CB8B-DA5A-87EE-FCE07FC9ADC0}"/>
              </a:ext>
            </a:extLst>
          </p:cNvPr>
          <p:cNvSpPr txBox="1"/>
          <p:nvPr/>
        </p:nvSpPr>
        <p:spPr>
          <a:xfrm>
            <a:off x="351304" y="771224"/>
            <a:ext cx="8401049" cy="307777"/>
          </a:xfrm>
          <a:prstGeom prst="rect">
            <a:avLst/>
          </a:prstGeom>
          <a:noFill/>
        </p:spPr>
        <p:txBody>
          <a:bodyPr wrap="square">
            <a:spAutoFit/>
          </a:bodyPr>
          <a:lstStyle/>
          <a:p>
            <a:pPr algn="ctr"/>
            <a:r>
              <a:rPr lang="en-US" altLang="zh-CN" sz="1400" b="1" dirty="0">
                <a:latin typeface="+mn-ea"/>
                <a:cs typeface="Times New Roman" panose="02020603050405020304" pitchFamily="18" charset="0"/>
              </a:rPr>
              <a:t>Current guidelines recommendations for blood pressure management in AIS</a:t>
            </a:r>
            <a:endParaRPr lang="zh-CN" altLang="en-US" sz="1400" b="1" dirty="0">
              <a:latin typeface="+mn-ea"/>
              <a:cs typeface="Times New Roman" panose="02020603050405020304" pitchFamily="18" charset="0"/>
            </a:endParaRPr>
          </a:p>
        </p:txBody>
      </p:sp>
      <p:graphicFrame>
        <p:nvGraphicFramePr>
          <p:cNvPr id="4" name="内容占位符 3">
            <a:extLst>
              <a:ext uri="{FF2B5EF4-FFF2-40B4-BE49-F238E27FC236}">
                <a16:creationId xmlns:a16="http://schemas.microsoft.com/office/drawing/2014/main" id="{26906B53-D981-8EB5-30E2-0231C7635E01}"/>
              </a:ext>
            </a:extLst>
          </p:cNvPr>
          <p:cNvGraphicFramePr>
            <a:graphicFrameLocks/>
          </p:cNvGraphicFramePr>
          <p:nvPr>
            <p:extLst>
              <p:ext uri="{D42A27DB-BD31-4B8C-83A1-F6EECF244321}">
                <p14:modId xmlns:p14="http://schemas.microsoft.com/office/powerpoint/2010/main" val="1125116863"/>
              </p:ext>
            </p:extLst>
          </p:nvPr>
        </p:nvGraphicFramePr>
        <p:xfrm>
          <a:off x="419100" y="1237267"/>
          <a:ext cx="8353425" cy="3166646"/>
        </p:xfrm>
        <a:graphic>
          <a:graphicData uri="http://schemas.openxmlformats.org/drawingml/2006/table">
            <a:tbl>
              <a:tblPr firstRow="1" bandRow="1">
                <a:tableStyleId>{69012ECD-51FC-41F1-AA8D-1B2483CD663E}</a:tableStyleId>
              </a:tblPr>
              <a:tblGrid>
                <a:gridCol w="2043774">
                  <a:extLst>
                    <a:ext uri="{9D8B030D-6E8A-4147-A177-3AD203B41FA5}">
                      <a16:colId xmlns:a16="http://schemas.microsoft.com/office/drawing/2014/main" val="2228898385"/>
                    </a:ext>
                  </a:extLst>
                </a:gridCol>
                <a:gridCol w="3998107">
                  <a:extLst>
                    <a:ext uri="{9D8B030D-6E8A-4147-A177-3AD203B41FA5}">
                      <a16:colId xmlns:a16="http://schemas.microsoft.com/office/drawing/2014/main" val="1203924362"/>
                    </a:ext>
                  </a:extLst>
                </a:gridCol>
                <a:gridCol w="1294689">
                  <a:extLst>
                    <a:ext uri="{9D8B030D-6E8A-4147-A177-3AD203B41FA5}">
                      <a16:colId xmlns:a16="http://schemas.microsoft.com/office/drawing/2014/main" val="2098826066"/>
                    </a:ext>
                  </a:extLst>
                </a:gridCol>
                <a:gridCol w="1016855">
                  <a:extLst>
                    <a:ext uri="{9D8B030D-6E8A-4147-A177-3AD203B41FA5}">
                      <a16:colId xmlns:a16="http://schemas.microsoft.com/office/drawing/2014/main" val="825754961"/>
                    </a:ext>
                  </a:extLst>
                </a:gridCol>
              </a:tblGrid>
              <a:tr h="664031">
                <a:tc>
                  <a:txBody>
                    <a:bodyPr/>
                    <a:lstStyle/>
                    <a:p>
                      <a:r>
                        <a:rPr lang="en-US" altLang="zh-CN" sz="1000" b="1" dirty="0">
                          <a:solidFill>
                            <a:schemeClr val="bg1"/>
                          </a:solidFill>
                          <a:latin typeface="+mn-ea"/>
                          <a:ea typeface="+mn-ea"/>
                          <a:cs typeface="Times New Roman" panose="02020603050405020304" pitchFamily="18" charset="0"/>
                        </a:rPr>
                        <a:t>G</a:t>
                      </a:r>
                      <a:r>
                        <a:rPr lang="en-US" altLang="zh-CN" sz="1000" b="1" dirty="0">
                          <a:latin typeface="+mn-ea"/>
                          <a:ea typeface="+mn-ea"/>
                          <a:cs typeface="Times New Roman" panose="02020603050405020304" pitchFamily="18" charset="0"/>
                        </a:rPr>
                        <a:t>uidelines</a:t>
                      </a:r>
                      <a:endParaRPr lang="zh-CN" altLang="en-US" sz="1000" dirty="0">
                        <a:solidFill>
                          <a:schemeClr val="bg1"/>
                        </a:solidFill>
                        <a:latin typeface="+mn-ea"/>
                        <a:ea typeface="+mn-ea"/>
                        <a:cs typeface="Times New Roman" panose="02020603050405020304" pitchFamily="18" charset="0"/>
                      </a:endParaRPr>
                    </a:p>
                  </a:txBody>
                  <a:tcPr marL="68580" marR="68580" marT="34290" marB="34290" anchor="ctr">
                    <a:solidFill>
                      <a:schemeClr val="bg2">
                        <a:lumMod val="90000"/>
                        <a:lumOff val="10000"/>
                      </a:schemeClr>
                    </a:solidFill>
                  </a:tcPr>
                </a:tc>
                <a:tc>
                  <a:txBody>
                    <a:bodyPr/>
                    <a:lstStyle/>
                    <a:p>
                      <a:r>
                        <a:rPr lang="en-US" altLang="zh-CN" sz="1000" b="1" kern="1200" dirty="0">
                          <a:solidFill>
                            <a:schemeClr val="bg1"/>
                          </a:solidFill>
                          <a:latin typeface="+mn-ea"/>
                          <a:ea typeface="+mn-ea"/>
                          <a:cs typeface="Times New Roman" panose="02020603050405020304" pitchFamily="18" charset="0"/>
                        </a:rPr>
                        <a:t>Recommendations</a:t>
                      </a:r>
                      <a:endParaRPr lang="zh-CN" altLang="en-US" sz="1000" b="1" kern="1200" dirty="0">
                        <a:solidFill>
                          <a:schemeClr val="bg1"/>
                        </a:solidFill>
                        <a:latin typeface="+mn-ea"/>
                        <a:ea typeface="+mn-ea"/>
                        <a:cs typeface="Times New Roman" panose="02020603050405020304" pitchFamily="18" charset="0"/>
                      </a:endParaRPr>
                    </a:p>
                  </a:txBody>
                  <a:tcPr marL="68580" marR="68580" marT="34290" marB="34290" anchor="ctr">
                    <a:solidFill>
                      <a:schemeClr val="bg2">
                        <a:lumMod val="90000"/>
                        <a:lumOff val="10000"/>
                      </a:schemeClr>
                    </a:solidFill>
                  </a:tcPr>
                </a:tc>
                <a:tc>
                  <a:txBody>
                    <a:bodyPr/>
                    <a:lstStyle/>
                    <a:p>
                      <a:pPr algn="ctr"/>
                      <a:r>
                        <a:rPr lang="en-US" altLang="zh-CN" sz="1000" b="1" kern="1200" dirty="0">
                          <a:solidFill>
                            <a:schemeClr val="bg1"/>
                          </a:solidFill>
                          <a:latin typeface="+mn-ea"/>
                          <a:ea typeface="+mn-ea"/>
                          <a:cs typeface="Times New Roman" panose="02020603050405020304" pitchFamily="18" charset="0"/>
                        </a:rPr>
                        <a:t>Class (Strength) of Recommendation</a:t>
                      </a:r>
                      <a:endParaRPr lang="zh-CN" altLang="en-US" sz="1000" b="1" kern="1200" dirty="0">
                        <a:solidFill>
                          <a:schemeClr val="bg1"/>
                        </a:solidFill>
                        <a:latin typeface="+mn-ea"/>
                        <a:ea typeface="+mn-ea"/>
                        <a:cs typeface="Times New Roman" panose="02020603050405020304" pitchFamily="18" charset="0"/>
                      </a:endParaRPr>
                    </a:p>
                  </a:txBody>
                  <a:tcPr marL="68580" marR="68580" marT="34290" marB="34290" anchor="ctr">
                    <a:solidFill>
                      <a:schemeClr val="bg2">
                        <a:lumMod val="90000"/>
                        <a:lumOff val="10000"/>
                      </a:schemeClr>
                    </a:solidFill>
                  </a:tcPr>
                </a:tc>
                <a:tc>
                  <a:txBody>
                    <a:bodyPr/>
                    <a:lstStyle/>
                    <a:p>
                      <a:pPr algn="ctr"/>
                      <a:r>
                        <a:rPr lang="en-US" altLang="zh-CN" sz="1000" b="1" kern="1200" dirty="0">
                          <a:solidFill>
                            <a:schemeClr val="bg1"/>
                          </a:solidFill>
                          <a:latin typeface="+mn-ea"/>
                          <a:ea typeface="+mn-ea"/>
                          <a:cs typeface="Times New Roman" panose="02020603050405020304" pitchFamily="18" charset="0"/>
                        </a:rPr>
                        <a:t>Level (Quality) of Evidence</a:t>
                      </a:r>
                      <a:endParaRPr lang="zh-CN" altLang="en-US" sz="1000" b="1" kern="1200" dirty="0">
                        <a:solidFill>
                          <a:schemeClr val="bg1"/>
                        </a:solidFill>
                        <a:latin typeface="+mn-ea"/>
                        <a:ea typeface="+mn-ea"/>
                        <a:cs typeface="Times New Roman" panose="02020603050405020304" pitchFamily="18" charset="0"/>
                      </a:endParaRPr>
                    </a:p>
                  </a:txBody>
                  <a:tcPr marL="68580" marR="68580" marT="34290" marB="34290" anchor="ctr">
                    <a:solidFill>
                      <a:schemeClr val="bg2">
                        <a:lumMod val="90000"/>
                        <a:lumOff val="10000"/>
                      </a:schemeClr>
                    </a:solidFill>
                  </a:tcPr>
                </a:tc>
                <a:extLst>
                  <a:ext uri="{0D108BD9-81ED-4DB2-BD59-A6C34878D82A}">
                    <a16:rowId xmlns:a16="http://schemas.microsoft.com/office/drawing/2014/main" val="3395580329"/>
                  </a:ext>
                </a:extLst>
              </a:tr>
              <a:tr h="756059">
                <a:tc>
                  <a:txBody>
                    <a:bodyPr/>
                    <a:lstStyle/>
                    <a:p>
                      <a:r>
                        <a:rPr lang="en-US" altLang="zh-CN" sz="1000" dirty="0">
                          <a:effectLst/>
                          <a:latin typeface="+mn-ea"/>
                          <a:ea typeface="+mn-ea"/>
                          <a:cs typeface="Times New Roman" panose="02020603050405020304" pitchFamily="18" charset="0"/>
                        </a:rPr>
                        <a:t>AHA/ASA-Guidelines for the Early Management of Patients With Acute Ischemic Stroke 2026</a:t>
                      </a:r>
                      <a:r>
                        <a:rPr lang="en-US" altLang="zh-CN" sz="1000" baseline="30000" dirty="0">
                          <a:effectLst/>
                          <a:latin typeface="+mn-ea"/>
                          <a:ea typeface="+mn-ea"/>
                          <a:cs typeface="Times New Roman" panose="02020603050405020304" pitchFamily="18" charset="0"/>
                        </a:rPr>
                        <a:t>1</a:t>
                      </a:r>
                      <a:endParaRPr lang="zh-CN" altLang="en-US" sz="1000" baseline="30000" dirty="0">
                        <a:latin typeface="+mn-ea"/>
                        <a:ea typeface="+mn-ea"/>
                        <a:cs typeface="Times New Roman" panose="02020603050405020304" pitchFamily="18" charset="0"/>
                      </a:endParaRPr>
                    </a:p>
                  </a:txBody>
                  <a:tcPr marL="68580" marR="68580" marT="34290" marB="34290" anchor="ctr"/>
                </a:tc>
                <a:tc>
                  <a:txBody>
                    <a:bodyPr/>
                    <a:lstStyle/>
                    <a:p>
                      <a:r>
                        <a:rPr lang="en-US" altLang="zh-CN" sz="1000" dirty="0">
                          <a:latin typeface="+mn-ea"/>
                          <a:ea typeface="+mn-ea"/>
                          <a:cs typeface="Times New Roman" panose="02020603050405020304" pitchFamily="18" charset="0"/>
                        </a:rPr>
                        <a:t>Patients with AIS who have elevated BP and are otherwise eligible for treatment with IVT should have their </a:t>
                      </a:r>
                      <a:r>
                        <a:rPr lang="en-US" altLang="zh-CN" sz="1000" b="1" dirty="0">
                          <a:solidFill>
                            <a:srgbClr val="C00000"/>
                          </a:solidFill>
                          <a:latin typeface="+mn-ea"/>
                          <a:ea typeface="+mn-ea"/>
                          <a:cs typeface="Times New Roman" panose="02020603050405020304" pitchFamily="18" charset="0"/>
                        </a:rPr>
                        <a:t>SBP lowered to &lt;185 mm Hg and DBP &lt;110 mm Hg </a:t>
                      </a:r>
                      <a:r>
                        <a:rPr lang="en-US" altLang="zh-CN" sz="1000" dirty="0">
                          <a:latin typeface="+mn-ea"/>
                          <a:ea typeface="+mn-ea"/>
                          <a:cs typeface="Times New Roman" panose="02020603050405020304" pitchFamily="18" charset="0"/>
                        </a:rPr>
                        <a:t>before IVT therapy is initiated to reduce hemorrhagic complications.</a:t>
                      </a:r>
                      <a:endParaRPr lang="zh-CN" altLang="en-US" sz="1000" dirty="0">
                        <a:latin typeface="+mn-ea"/>
                        <a:ea typeface="+mn-ea"/>
                        <a:cs typeface="Times New Roman" panose="02020603050405020304" pitchFamily="18" charset="0"/>
                      </a:endParaRPr>
                    </a:p>
                  </a:txBody>
                  <a:tcPr marL="68580" marR="68580" marT="34290" marB="34290" anchor="ctr"/>
                </a:tc>
                <a:tc>
                  <a:txBody>
                    <a:bodyPr/>
                    <a:lstStyle/>
                    <a:p>
                      <a:pPr algn="ctr"/>
                      <a:r>
                        <a:rPr lang="en-US" altLang="zh-CN" sz="1000" dirty="0">
                          <a:latin typeface="+mn-ea"/>
                          <a:ea typeface="+mn-ea"/>
                          <a:cs typeface="Times New Roman" panose="02020603050405020304" pitchFamily="18" charset="0"/>
                        </a:rPr>
                        <a:t>I</a:t>
                      </a:r>
                      <a:endParaRPr lang="zh-CN" altLang="en-US" sz="1000" dirty="0">
                        <a:latin typeface="+mn-ea"/>
                        <a:ea typeface="+mn-ea"/>
                        <a:cs typeface="Times New Roman" panose="02020603050405020304" pitchFamily="18" charset="0"/>
                      </a:endParaRPr>
                    </a:p>
                  </a:txBody>
                  <a:tcPr marL="68580" marR="68580" marT="34290" marB="34290" anchor="ctr"/>
                </a:tc>
                <a:tc>
                  <a:txBody>
                    <a:bodyPr/>
                    <a:lstStyle/>
                    <a:p>
                      <a:pPr algn="ctr"/>
                      <a:r>
                        <a:rPr lang="en-US" altLang="zh-CN" sz="1000" dirty="0">
                          <a:latin typeface="+mn-ea"/>
                          <a:ea typeface="+mn-ea"/>
                          <a:cs typeface="Times New Roman" panose="02020603050405020304" pitchFamily="18" charset="0"/>
                        </a:rPr>
                        <a:t>B-NR</a:t>
                      </a:r>
                      <a:endParaRPr lang="zh-CN" altLang="en-US" sz="10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1068506533"/>
                  </a:ext>
                </a:extLst>
              </a:tr>
              <a:tr h="1107715">
                <a:tc>
                  <a:txBody>
                    <a:bodyPr/>
                    <a:lstStyle/>
                    <a:p>
                      <a:r>
                        <a:rPr lang="en-US" altLang="zh-CN" sz="1000" dirty="0">
                          <a:effectLst/>
                          <a:latin typeface="+mn-ea"/>
                          <a:ea typeface="+mn-ea"/>
                          <a:cs typeface="Times New Roman" panose="02020603050405020304" pitchFamily="18" charset="0"/>
                        </a:rPr>
                        <a:t>European Stroke </a:t>
                      </a:r>
                      <a:r>
                        <a:rPr lang="en-US" altLang="zh-CN" sz="1000" dirty="0" err="1">
                          <a:effectLst/>
                          <a:latin typeface="+mn-ea"/>
                          <a:ea typeface="+mn-ea"/>
                          <a:cs typeface="Times New Roman" panose="02020603050405020304" pitchFamily="18" charset="0"/>
                        </a:rPr>
                        <a:t>Organisation</a:t>
                      </a:r>
                      <a:r>
                        <a:rPr lang="en-US" altLang="zh-CN" sz="1000" dirty="0">
                          <a:effectLst/>
                          <a:latin typeface="+mn-ea"/>
                          <a:ea typeface="+mn-ea"/>
                          <a:cs typeface="Times New Roman" panose="02020603050405020304" pitchFamily="18" charset="0"/>
                        </a:rPr>
                        <a:t> (ESO) guidelines on blood pressure management in acute </a:t>
                      </a:r>
                      <a:r>
                        <a:rPr lang="en-US" altLang="zh-CN" sz="1000" dirty="0" err="1">
                          <a:effectLst/>
                          <a:latin typeface="+mn-ea"/>
                          <a:ea typeface="+mn-ea"/>
                          <a:cs typeface="Times New Roman" panose="02020603050405020304" pitchFamily="18" charset="0"/>
                        </a:rPr>
                        <a:t>ischaemic</a:t>
                      </a:r>
                      <a:r>
                        <a:rPr lang="en-US" altLang="zh-CN" sz="1000" dirty="0">
                          <a:effectLst/>
                          <a:latin typeface="+mn-ea"/>
                          <a:ea typeface="+mn-ea"/>
                          <a:cs typeface="Times New Roman" panose="02020603050405020304" pitchFamily="18" charset="0"/>
                        </a:rPr>
                        <a:t> stroke and intracerebral </a:t>
                      </a:r>
                      <a:r>
                        <a:rPr lang="en-US" altLang="zh-CN" sz="1000" dirty="0" err="1">
                          <a:effectLst/>
                          <a:latin typeface="+mn-ea"/>
                          <a:ea typeface="+mn-ea"/>
                          <a:cs typeface="Times New Roman" panose="02020603050405020304" pitchFamily="18" charset="0"/>
                        </a:rPr>
                        <a:t>haemorrhage</a:t>
                      </a:r>
                      <a:r>
                        <a:rPr lang="en-US" altLang="zh-CN" sz="1000" dirty="0">
                          <a:effectLst/>
                          <a:latin typeface="+mn-ea"/>
                          <a:ea typeface="+mn-ea"/>
                          <a:cs typeface="Times New Roman" panose="02020603050405020304" pitchFamily="18" charset="0"/>
                        </a:rPr>
                        <a:t> 2021</a:t>
                      </a:r>
                      <a:r>
                        <a:rPr lang="en-US" altLang="zh-CN" sz="1000" baseline="30000" dirty="0">
                          <a:effectLst/>
                          <a:latin typeface="+mn-ea"/>
                          <a:ea typeface="+mn-ea"/>
                          <a:cs typeface="Times New Roman" panose="02020603050405020304" pitchFamily="18" charset="0"/>
                        </a:rPr>
                        <a:t>2</a:t>
                      </a:r>
                      <a:endParaRPr lang="zh-CN" altLang="en-US" sz="1000" baseline="30000" dirty="0">
                        <a:latin typeface="+mn-ea"/>
                        <a:ea typeface="+mn-ea"/>
                        <a:cs typeface="Times New Roman" panose="02020603050405020304" pitchFamily="18" charset="0"/>
                      </a:endParaRPr>
                    </a:p>
                  </a:txBody>
                  <a:tcPr marL="68580" marR="68580" marT="34290" marB="34290" anchor="ctr"/>
                </a:tc>
                <a:tc>
                  <a:txBody>
                    <a:bodyPr/>
                    <a:lstStyle/>
                    <a:p>
                      <a:r>
                        <a:rPr lang="en-US" altLang="zh-CN" sz="1000" dirty="0">
                          <a:latin typeface="+mn-ea"/>
                          <a:ea typeface="+mn-ea"/>
                          <a:cs typeface="Times New Roman" panose="02020603050405020304" pitchFamily="18" charset="0"/>
                        </a:rPr>
                        <a:t>For patients with acute </a:t>
                      </a:r>
                      <a:r>
                        <a:rPr lang="en-US" altLang="zh-CN" sz="1000" dirty="0" err="1">
                          <a:latin typeface="+mn-ea"/>
                          <a:ea typeface="+mn-ea"/>
                          <a:cs typeface="Times New Roman" panose="02020603050405020304" pitchFamily="18" charset="0"/>
                        </a:rPr>
                        <a:t>ischaemic</a:t>
                      </a:r>
                      <a:r>
                        <a:rPr lang="en-US" altLang="zh-CN" sz="1000" dirty="0">
                          <a:latin typeface="+mn-ea"/>
                          <a:ea typeface="+mn-ea"/>
                          <a:cs typeface="Times New Roman" panose="02020603050405020304" pitchFamily="18" charset="0"/>
                        </a:rPr>
                        <a:t> stroke of&lt;4.5 h duration, and with systolic blood pressure &gt;185mm Hg or diastolic blood pressure &gt;110mm Hg, which has subsequently been lowered to </a:t>
                      </a:r>
                      <a:r>
                        <a:rPr lang="en-US" altLang="zh-CN" sz="1000" b="1" dirty="0">
                          <a:solidFill>
                            <a:srgbClr val="C00000"/>
                          </a:solidFill>
                          <a:latin typeface="+mn-ea"/>
                          <a:ea typeface="+mn-ea"/>
                          <a:cs typeface="Times New Roman" panose="02020603050405020304" pitchFamily="18" charset="0"/>
                        </a:rPr>
                        <a:t>&lt;185 and &lt;110mm Hg</a:t>
                      </a:r>
                      <a:r>
                        <a:rPr lang="en-US" altLang="zh-CN" sz="1000" dirty="0">
                          <a:latin typeface="+mn-ea"/>
                          <a:ea typeface="+mn-ea"/>
                          <a:cs typeface="Times New Roman" panose="02020603050405020304" pitchFamily="18" charset="0"/>
                        </a:rPr>
                        <a:t>, we recommend intravenous thrombolysis with alteplase.</a:t>
                      </a:r>
                      <a:endParaRPr lang="zh-CN" altLang="en-US" sz="1000" dirty="0">
                        <a:latin typeface="+mn-ea"/>
                        <a:ea typeface="+mn-ea"/>
                        <a:cs typeface="Times New Roman" panose="02020603050405020304" pitchFamily="18" charset="0"/>
                      </a:endParaRPr>
                    </a:p>
                  </a:txBody>
                  <a:tcPr marL="68580" marR="68580" marT="34290" marB="34290" anchor="ctr"/>
                </a:tc>
                <a:tc>
                  <a:txBody>
                    <a:bodyPr/>
                    <a:lstStyle/>
                    <a:p>
                      <a:pPr algn="ctr"/>
                      <a:r>
                        <a:rPr lang="en-US" altLang="zh-CN" sz="1000" dirty="0">
                          <a:latin typeface="+mn-ea"/>
                          <a:ea typeface="+mn-ea"/>
                          <a:cs typeface="Times New Roman" panose="02020603050405020304" pitchFamily="18" charset="0"/>
                        </a:rPr>
                        <a:t>Strong</a:t>
                      </a:r>
                      <a:endParaRPr lang="zh-CN" altLang="en-US" sz="1000" dirty="0">
                        <a:latin typeface="+mn-ea"/>
                        <a:ea typeface="+mn-ea"/>
                        <a:cs typeface="Times New Roman" panose="02020603050405020304" pitchFamily="18" charset="0"/>
                      </a:endParaRPr>
                    </a:p>
                  </a:txBody>
                  <a:tcPr marL="68580" marR="68580" marT="34290" marB="34290" anchor="ctr"/>
                </a:tc>
                <a:tc>
                  <a:txBody>
                    <a:bodyPr/>
                    <a:lstStyle/>
                    <a:p>
                      <a:pPr algn="ctr"/>
                      <a:r>
                        <a:rPr lang="en-US" altLang="zh-CN" sz="1000" dirty="0">
                          <a:latin typeface="+mn-ea"/>
                          <a:ea typeface="+mn-ea"/>
                          <a:cs typeface="Times New Roman" panose="02020603050405020304" pitchFamily="18" charset="0"/>
                        </a:rPr>
                        <a:t>Low</a:t>
                      </a:r>
                      <a:endParaRPr lang="zh-CN" altLang="en-US" sz="10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2791057532"/>
                  </a:ext>
                </a:extLst>
              </a:tr>
              <a:tr h="638841">
                <a:tc>
                  <a:txBody>
                    <a:bodyPr/>
                    <a:lstStyle/>
                    <a:p>
                      <a:r>
                        <a:rPr lang="en-US" altLang="zh-CN" sz="1000" dirty="0">
                          <a:effectLst/>
                          <a:latin typeface="+mn-ea"/>
                          <a:ea typeface="+mn-ea"/>
                          <a:cs typeface="Times New Roman" panose="02020603050405020304" pitchFamily="18" charset="0"/>
                        </a:rPr>
                        <a:t>Chinese guidelines for diagnosis and treatment of acute ischemic stroke 2023</a:t>
                      </a:r>
                      <a:r>
                        <a:rPr lang="en-US" altLang="zh-CN" sz="1000" baseline="30000" dirty="0">
                          <a:effectLst/>
                          <a:latin typeface="+mn-ea"/>
                          <a:ea typeface="+mn-ea"/>
                          <a:cs typeface="Times New Roman" panose="02020603050405020304" pitchFamily="18" charset="0"/>
                        </a:rPr>
                        <a:t>3</a:t>
                      </a:r>
                      <a:endParaRPr lang="zh-CN" altLang="en-US" sz="1000" b="1" dirty="0">
                        <a:solidFill>
                          <a:schemeClr val="tx1"/>
                        </a:solidFill>
                        <a:latin typeface="+mn-ea"/>
                        <a:ea typeface="+mn-ea"/>
                        <a:cs typeface="Times New Roman" panose="02020603050405020304" pitchFamily="18" charset="0"/>
                      </a:endParaRPr>
                    </a:p>
                  </a:txBody>
                  <a:tcPr marL="68580" marR="68580" marT="34290" marB="34290" anchor="ctr"/>
                </a:tc>
                <a:tc>
                  <a:txBody>
                    <a:bodyPr/>
                    <a:lstStyle/>
                    <a:p>
                      <a:r>
                        <a:rPr lang="en-US" altLang="zh-CN" sz="1000" kern="1200" dirty="0">
                          <a:solidFill>
                            <a:schemeClr val="tx1"/>
                          </a:solidFill>
                          <a:effectLst/>
                          <a:latin typeface="+mn-ea"/>
                          <a:ea typeface="+mn-ea"/>
                          <a:cs typeface="Times New Roman" panose="02020603050405020304" pitchFamily="18" charset="0"/>
                        </a:rPr>
                        <a:t>In patients scheduled for thrombolysis, systolic blood pressure should be lowered to </a:t>
                      </a:r>
                      <a:r>
                        <a:rPr lang="en-US" altLang="zh-CN" sz="1000" b="1" kern="1200" dirty="0">
                          <a:solidFill>
                            <a:srgbClr val="C00000"/>
                          </a:solidFill>
                          <a:effectLst/>
                          <a:latin typeface="+mn-ea"/>
                          <a:ea typeface="+mn-ea"/>
                          <a:cs typeface="Times New Roman" panose="02020603050405020304" pitchFamily="18" charset="0"/>
                        </a:rPr>
                        <a:t>&lt;180 mmHg </a:t>
                      </a:r>
                      <a:r>
                        <a:rPr lang="en-US" altLang="zh-CN" sz="1000" kern="1200" dirty="0">
                          <a:solidFill>
                            <a:schemeClr val="tx1"/>
                          </a:solidFill>
                          <a:effectLst/>
                          <a:latin typeface="+mn-ea"/>
                          <a:ea typeface="+mn-ea"/>
                          <a:cs typeface="Times New Roman" panose="02020603050405020304" pitchFamily="18" charset="0"/>
                        </a:rPr>
                        <a:t>and diastolic blood pressure </a:t>
                      </a:r>
                      <a:r>
                        <a:rPr lang="en-US" altLang="zh-CN" sz="1000" b="1" kern="1200" dirty="0">
                          <a:solidFill>
                            <a:srgbClr val="C00000"/>
                          </a:solidFill>
                          <a:effectLst/>
                          <a:latin typeface="+mn-ea"/>
                          <a:ea typeface="+mn-ea"/>
                          <a:cs typeface="Times New Roman" panose="02020603050405020304" pitchFamily="18" charset="0"/>
                        </a:rPr>
                        <a:t>&lt;100 mmHg</a:t>
                      </a:r>
                      <a:r>
                        <a:rPr lang="en-US" altLang="zh-CN" sz="1000" kern="1200" dirty="0">
                          <a:solidFill>
                            <a:schemeClr val="tx1"/>
                          </a:solidFill>
                          <a:effectLst/>
                          <a:latin typeface="+mn-ea"/>
                          <a:ea typeface="+mn-ea"/>
                          <a:cs typeface="Times New Roman" panose="02020603050405020304" pitchFamily="18" charset="0"/>
                        </a:rPr>
                        <a:t>; the exact target values require further study</a:t>
                      </a:r>
                      <a:endParaRPr lang="zh-CN" altLang="en-US" sz="1000" kern="1200" dirty="0">
                        <a:solidFill>
                          <a:schemeClr val="tx1"/>
                        </a:solidFill>
                        <a:effectLst/>
                        <a:latin typeface="+mn-ea"/>
                        <a:ea typeface="+mn-ea"/>
                        <a:cs typeface="Times New Roman" panose="02020603050405020304" pitchFamily="18" charset="0"/>
                      </a:endParaRPr>
                    </a:p>
                  </a:txBody>
                  <a:tcPr marL="68580" marR="68580" marT="34290" marB="34290" anchor="ctr"/>
                </a:tc>
                <a:tc>
                  <a:txBody>
                    <a:bodyPr/>
                    <a:lstStyle/>
                    <a:p>
                      <a:pPr algn="ctr"/>
                      <a:r>
                        <a:rPr lang="en-US" altLang="zh-CN" sz="1000" kern="1200" dirty="0">
                          <a:solidFill>
                            <a:schemeClr val="tx1"/>
                          </a:solidFill>
                          <a:effectLst/>
                          <a:latin typeface="+mn-ea"/>
                          <a:ea typeface="+mn-ea"/>
                          <a:cs typeface="Times New Roman" panose="02020603050405020304" pitchFamily="18" charset="0"/>
                        </a:rPr>
                        <a:t>I</a:t>
                      </a:r>
                      <a:endParaRPr lang="zh-CN" altLang="en-US" sz="1000" kern="1200" dirty="0">
                        <a:solidFill>
                          <a:schemeClr val="tx1"/>
                        </a:solidFill>
                        <a:effectLst/>
                        <a:latin typeface="+mn-ea"/>
                        <a:ea typeface="+mn-ea"/>
                        <a:cs typeface="Times New Roman" panose="02020603050405020304" pitchFamily="18" charset="0"/>
                      </a:endParaRPr>
                    </a:p>
                  </a:txBody>
                  <a:tcPr marL="68580" marR="68580" marT="34290" marB="34290" anchor="ctr"/>
                </a:tc>
                <a:tc>
                  <a:txBody>
                    <a:bodyPr/>
                    <a:lstStyle/>
                    <a:p>
                      <a:pPr algn="ctr"/>
                      <a:r>
                        <a:rPr lang="en-US" altLang="zh-CN" sz="1000" kern="1200" dirty="0">
                          <a:solidFill>
                            <a:schemeClr val="tx1"/>
                          </a:solidFill>
                          <a:effectLst/>
                          <a:latin typeface="+mn-ea"/>
                          <a:ea typeface="+mn-ea"/>
                          <a:cs typeface="Times New Roman" panose="02020603050405020304" pitchFamily="18" charset="0"/>
                        </a:rPr>
                        <a:t>B</a:t>
                      </a:r>
                      <a:endParaRPr lang="zh-CN" altLang="en-US" sz="1000" kern="1200" dirty="0">
                        <a:solidFill>
                          <a:schemeClr val="tx1"/>
                        </a:solidFill>
                        <a:effectLst/>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3426281950"/>
                  </a:ext>
                </a:extLst>
              </a:tr>
            </a:tbl>
          </a:graphicData>
        </a:graphic>
      </p:graphicFrame>
      <p:sp>
        <p:nvSpPr>
          <p:cNvPr id="5" name="文本框 4">
            <a:extLst>
              <a:ext uri="{FF2B5EF4-FFF2-40B4-BE49-F238E27FC236}">
                <a16:creationId xmlns:a16="http://schemas.microsoft.com/office/drawing/2014/main" id="{C411C362-359B-56E4-C6F6-07817B31442A}"/>
              </a:ext>
            </a:extLst>
          </p:cNvPr>
          <p:cNvSpPr txBox="1"/>
          <p:nvPr/>
        </p:nvSpPr>
        <p:spPr>
          <a:xfrm>
            <a:off x="1869141" y="4633851"/>
            <a:ext cx="6844553" cy="461665"/>
          </a:xfrm>
          <a:prstGeom prst="rect">
            <a:avLst/>
          </a:prstGeom>
          <a:noFill/>
        </p:spPr>
        <p:txBody>
          <a:bodyPr wrap="square" rtlCol="0">
            <a:spAutoFit/>
          </a:bodyPr>
          <a:lstStyle/>
          <a:p>
            <a:pPr marL="180975" indent="-180975">
              <a:buFont typeface="+mj-lt"/>
              <a:buAutoNum type="arabicPeriod"/>
            </a:pPr>
            <a:r>
              <a:rPr lang="it-IT" altLang="zh-CN" sz="800" dirty="0">
                <a:latin typeface="+mn-ea"/>
                <a:cs typeface="Times New Roman" panose="02020603050405020304" pitchFamily="18" charset="0"/>
              </a:rPr>
              <a:t>Stroke. 2026;57:e00–e00. DOI: 10.1161/STR.0000000000000513</a:t>
            </a:r>
            <a:endParaRPr lang="nl-NL" altLang="zh-CN" sz="800" dirty="0">
              <a:latin typeface="+mn-ea"/>
              <a:cs typeface="Times New Roman" panose="02020603050405020304" pitchFamily="18" charset="0"/>
            </a:endParaRPr>
          </a:p>
          <a:p>
            <a:pPr marL="180975" indent="-180975">
              <a:buFont typeface="+mj-lt"/>
              <a:buAutoNum type="arabicPeriod"/>
            </a:pPr>
            <a:r>
              <a:rPr lang="nl-NL" altLang="zh-CN" sz="800" dirty="0">
                <a:latin typeface="+mn-ea"/>
                <a:cs typeface="Times New Roman" panose="02020603050405020304" pitchFamily="18" charset="0"/>
              </a:rPr>
              <a:t>Sandset EC, et al. Eur Stroke J. 2021; 6(2):XLVIII-LXXXIX. </a:t>
            </a:r>
          </a:p>
          <a:p>
            <a:pPr marL="180975" indent="-180975">
              <a:buFont typeface="+mj-lt"/>
              <a:buAutoNum type="arabicPeriod"/>
            </a:pPr>
            <a:r>
              <a:rPr lang="en-US" altLang="zh-CN" sz="800" dirty="0" err="1">
                <a:latin typeface="+mn-ea"/>
                <a:cs typeface="Times New Roman" panose="02020603050405020304" pitchFamily="18" charset="0"/>
              </a:rPr>
              <a:t>中华医学会神经病学分会</a:t>
            </a:r>
            <a:r>
              <a:rPr lang="en-CA" altLang="zh-CN" sz="800" dirty="0">
                <a:latin typeface="+mn-ea"/>
                <a:cs typeface="Times New Roman" panose="02020603050405020304" pitchFamily="18" charset="0"/>
              </a:rPr>
              <a:t>, </a:t>
            </a:r>
            <a:r>
              <a:rPr lang="en-US" altLang="zh-CN" sz="800" dirty="0" err="1">
                <a:latin typeface="+mn-ea"/>
                <a:cs typeface="Times New Roman" panose="02020603050405020304" pitchFamily="18" charset="0"/>
              </a:rPr>
              <a:t>中华医学会神经病学分会脑血管病学组</a:t>
            </a:r>
            <a:r>
              <a:rPr lang="en-CA" altLang="zh-CN" sz="800" dirty="0">
                <a:latin typeface="+mn-ea"/>
                <a:cs typeface="Times New Roman" panose="02020603050405020304" pitchFamily="18" charset="0"/>
              </a:rPr>
              <a:t>. </a:t>
            </a:r>
            <a:r>
              <a:rPr lang="en-US" altLang="zh-CN" sz="800" dirty="0" err="1">
                <a:latin typeface="+mn-ea"/>
                <a:cs typeface="Times New Roman" panose="02020603050405020304" pitchFamily="18" charset="0"/>
              </a:rPr>
              <a:t>中国急性缺血性卒中诊治指南</a:t>
            </a:r>
            <a:r>
              <a:rPr lang="en-CA" altLang="zh-CN" sz="800" dirty="0">
                <a:latin typeface="+mn-ea"/>
                <a:cs typeface="Times New Roman" panose="02020603050405020304" pitchFamily="18" charset="0"/>
              </a:rPr>
              <a:t>2023. </a:t>
            </a:r>
            <a:r>
              <a:rPr lang="en-US" altLang="zh-CN" sz="800" dirty="0" err="1">
                <a:latin typeface="+mn-ea"/>
                <a:cs typeface="Times New Roman" panose="02020603050405020304" pitchFamily="18" charset="0"/>
              </a:rPr>
              <a:t>中华神经科杂志</a:t>
            </a:r>
            <a:r>
              <a:rPr lang="en-CA" altLang="zh-CN" sz="800" dirty="0">
                <a:latin typeface="+mn-ea"/>
                <a:cs typeface="Times New Roman" panose="02020603050405020304" pitchFamily="18" charset="0"/>
              </a:rPr>
              <a:t> 2024; 57: 523–559.</a:t>
            </a:r>
            <a:r>
              <a:rPr lang="nl-NL" altLang="zh-CN" sz="800" dirty="0">
                <a:latin typeface="+mn-ea"/>
                <a:cs typeface="Times New Roman" panose="02020603050405020304" pitchFamily="18" charset="0"/>
              </a:rPr>
              <a:t> </a:t>
            </a:r>
            <a:endParaRPr lang="zh-CN" altLang="en-US" sz="800" dirty="0">
              <a:latin typeface="+mn-ea"/>
              <a:cs typeface="Times New Roman" panose="02020603050405020304" pitchFamily="18" charset="0"/>
            </a:endParaRPr>
          </a:p>
        </p:txBody>
      </p:sp>
      <p:sp>
        <p:nvSpPr>
          <p:cNvPr id="10" name="文本框 9">
            <a:extLst>
              <a:ext uri="{FF2B5EF4-FFF2-40B4-BE49-F238E27FC236}">
                <a16:creationId xmlns:a16="http://schemas.microsoft.com/office/drawing/2014/main" id="{C1C3D25B-8B9D-BD79-EEB1-9B6D02C35C50}"/>
              </a:ext>
            </a:extLst>
          </p:cNvPr>
          <p:cNvSpPr txBox="1"/>
          <p:nvPr/>
        </p:nvSpPr>
        <p:spPr bwMode="gray">
          <a:xfrm>
            <a:off x="7743825" y="1110487"/>
            <a:ext cx="1101860" cy="3407600"/>
          </a:xfrm>
          <a:prstGeom prst="rect">
            <a:avLst/>
          </a:prstGeom>
          <a:noFill/>
          <a:ln w="28575">
            <a:solidFill>
              <a:srgbClr val="C00000"/>
            </a:solidFill>
            <a:prstDash val="dash"/>
          </a:ln>
        </p:spPr>
        <p:txBody>
          <a:bodyPr wrap="square" lIns="0" tIns="0" rIns="0" bIns="0" rtlCol="0">
            <a:spAutoFit/>
          </a:bodyPr>
          <a:lstStyle/>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a:p>
            <a:pPr marL="180000" indent="-180000" algn="l">
              <a:lnSpc>
                <a:spcPct val="140000"/>
              </a:lnSpc>
              <a:buFont typeface="Arial" panose="020B0604020202020204" pitchFamily="34" charset="0"/>
              <a:buChar char="•"/>
            </a:pPr>
            <a:endParaRPr lang="en-US" altLang="zh-CN" sz="1600" dirty="0">
              <a:latin typeface="+mn-ea"/>
            </a:endParaRPr>
          </a:p>
        </p:txBody>
      </p:sp>
      <p:sp>
        <p:nvSpPr>
          <p:cNvPr id="6" name="文本框 5">
            <a:extLst>
              <a:ext uri="{FF2B5EF4-FFF2-40B4-BE49-F238E27FC236}">
                <a16:creationId xmlns:a16="http://schemas.microsoft.com/office/drawing/2014/main" id="{43E6655A-48BE-1C41-172A-4D0597DBCF7B}"/>
              </a:ext>
            </a:extLst>
          </p:cNvPr>
          <p:cNvSpPr txBox="1"/>
          <p:nvPr/>
        </p:nvSpPr>
        <p:spPr bwMode="gray">
          <a:xfrm>
            <a:off x="7804857" y="4615839"/>
            <a:ext cx="955390" cy="157992"/>
          </a:xfrm>
          <a:prstGeom prst="rect">
            <a:avLst/>
          </a:prstGeom>
          <a:noFill/>
        </p:spPr>
        <p:txBody>
          <a:bodyPr wrap="none" lIns="0" tIns="0" rIns="0" bIns="0" rtlCol="0">
            <a:spAutoFit/>
          </a:bodyPr>
          <a:lstStyle/>
          <a:p>
            <a:pPr algn="l">
              <a:lnSpc>
                <a:spcPct val="140000"/>
              </a:lnSpc>
            </a:pPr>
            <a:r>
              <a:rPr lang="en-US" altLang="zh-CN" sz="800" dirty="0">
                <a:latin typeface="+mn-ea"/>
              </a:rPr>
              <a:t>NR: nonrandomized </a:t>
            </a:r>
            <a:endParaRPr lang="zh-CN" altLang="en-US" sz="800" dirty="0">
              <a:latin typeface="+mn-ea"/>
            </a:endParaRPr>
          </a:p>
        </p:txBody>
      </p:sp>
    </p:spTree>
    <p:extLst>
      <p:ext uri="{BB962C8B-B14F-4D97-AF65-F5344CB8AC3E}">
        <p14:creationId xmlns:p14="http://schemas.microsoft.com/office/powerpoint/2010/main" val="1220493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30EBA0-7925-E8E9-E137-FAF139F36536}"/>
              </a:ext>
            </a:extLst>
          </p:cNvPr>
          <p:cNvSpPr>
            <a:spLocks noGrp="1"/>
          </p:cNvSpPr>
          <p:nvPr>
            <p:ph type="title"/>
          </p:nvPr>
        </p:nvSpPr>
        <p:spPr>
          <a:xfrm>
            <a:off x="371475" y="178421"/>
            <a:ext cx="8381636" cy="526404"/>
          </a:xfrm>
        </p:spPr>
        <p:txBody>
          <a:bodyPr/>
          <a:lstStyle/>
          <a:p>
            <a:r>
              <a:rPr lang="en-US" altLang="zh-CN" sz="2000" dirty="0" err="1">
                <a:solidFill>
                  <a:schemeClr val="tx1"/>
                </a:solidFill>
                <a:latin typeface="+mn-ea"/>
                <a:ea typeface="+mn-ea"/>
              </a:rPr>
              <a:t>Metalyse</a:t>
            </a:r>
            <a:r>
              <a:rPr lang="en-US" altLang="zh-CN" sz="2000" dirty="0">
                <a:solidFill>
                  <a:schemeClr val="tx1"/>
                </a:solidFill>
                <a:latin typeface="+mn-ea"/>
                <a:ea typeface="+mn-ea"/>
              </a:rPr>
              <a:t> / </a:t>
            </a:r>
            <a:r>
              <a:rPr lang="en-US" altLang="zh-CN" sz="2000" dirty="0" err="1">
                <a:solidFill>
                  <a:schemeClr val="tx1"/>
                </a:solidFill>
                <a:latin typeface="+mn-ea"/>
                <a:ea typeface="+mn-ea"/>
              </a:rPr>
              <a:t>Actilyse</a:t>
            </a:r>
            <a:r>
              <a:rPr lang="en-US" altLang="zh-CN" sz="2000" dirty="0">
                <a:solidFill>
                  <a:schemeClr val="tx1"/>
                </a:solidFill>
                <a:latin typeface="+mn-ea"/>
                <a:ea typeface="+mn-ea"/>
              </a:rPr>
              <a:t> contraindication for hypertension pts. with SBP</a:t>
            </a:r>
            <a:r>
              <a:rPr lang="zh-CN" altLang="en-US" sz="2000" dirty="0">
                <a:solidFill>
                  <a:schemeClr val="tx1"/>
                </a:solidFill>
                <a:latin typeface="+mn-ea"/>
                <a:ea typeface="+mn-ea"/>
              </a:rPr>
              <a:t>＞</a:t>
            </a:r>
            <a:r>
              <a:rPr lang="en-US" altLang="zh-CN" sz="2000" dirty="0">
                <a:solidFill>
                  <a:schemeClr val="tx1"/>
                </a:solidFill>
                <a:latin typeface="+mn-ea"/>
                <a:ea typeface="+mn-ea"/>
              </a:rPr>
              <a:t>185 or DBP </a:t>
            </a:r>
            <a:r>
              <a:rPr lang="zh-CN" altLang="en-US" sz="2000" dirty="0">
                <a:solidFill>
                  <a:schemeClr val="tx1"/>
                </a:solidFill>
                <a:latin typeface="+mn-ea"/>
                <a:ea typeface="+mn-ea"/>
              </a:rPr>
              <a:t>＞</a:t>
            </a:r>
            <a:r>
              <a:rPr lang="en-US" altLang="zh-CN" sz="2000" dirty="0">
                <a:solidFill>
                  <a:schemeClr val="tx1"/>
                </a:solidFill>
                <a:latin typeface="+mn-ea"/>
                <a:ea typeface="+mn-ea"/>
              </a:rPr>
              <a:t>110 mmHg</a:t>
            </a:r>
            <a:endParaRPr lang="zh-CN" altLang="en-US" sz="2000" dirty="0">
              <a:solidFill>
                <a:schemeClr val="tx1"/>
              </a:solidFill>
              <a:latin typeface="+mn-ea"/>
              <a:ea typeface="+mn-ea"/>
            </a:endParaRPr>
          </a:p>
        </p:txBody>
      </p:sp>
      <p:sp>
        <p:nvSpPr>
          <p:cNvPr id="8" name="文本框 7">
            <a:extLst>
              <a:ext uri="{FF2B5EF4-FFF2-40B4-BE49-F238E27FC236}">
                <a16:creationId xmlns:a16="http://schemas.microsoft.com/office/drawing/2014/main" id="{3687B7B0-51AB-2057-B5E8-C1DDFA2BE49A}"/>
              </a:ext>
            </a:extLst>
          </p:cNvPr>
          <p:cNvSpPr txBox="1"/>
          <p:nvPr/>
        </p:nvSpPr>
        <p:spPr>
          <a:xfrm>
            <a:off x="1417707" y="4683553"/>
            <a:ext cx="3591065" cy="338554"/>
          </a:xfrm>
          <a:prstGeom prst="rect">
            <a:avLst/>
          </a:prstGeom>
          <a:noFill/>
        </p:spPr>
        <p:txBody>
          <a:bodyPr wrap="square" rtlCol="0">
            <a:spAutoFit/>
          </a:bodyPr>
          <a:lstStyle/>
          <a:p>
            <a:pPr marL="180975" indent="-180975">
              <a:buFont typeface="+mj-lt"/>
              <a:buAutoNum type="arabicPeriod"/>
            </a:pPr>
            <a:r>
              <a:rPr lang="zh-CN" altLang="en-US" sz="800" dirty="0">
                <a:latin typeface="+mn-ea"/>
                <a:cs typeface="Times New Roman" panose="02020603050405020304" pitchFamily="18" charset="0"/>
              </a:rPr>
              <a:t>阿替普酶说明书</a:t>
            </a:r>
            <a:r>
              <a:rPr lang="en-US" altLang="zh-CN" sz="800" dirty="0">
                <a:latin typeface="+mn-ea"/>
                <a:cs typeface="Times New Roman" panose="02020603050405020304" pitchFamily="18" charset="0"/>
              </a:rPr>
              <a:t>. 2025</a:t>
            </a:r>
            <a:r>
              <a:rPr lang="zh-CN" altLang="en-US" sz="800" dirty="0">
                <a:latin typeface="+mn-ea"/>
                <a:cs typeface="Times New Roman" panose="02020603050405020304" pitchFamily="18" charset="0"/>
              </a:rPr>
              <a:t>年</a:t>
            </a:r>
            <a:r>
              <a:rPr lang="en-US" altLang="zh-CN" sz="800" dirty="0">
                <a:latin typeface="+mn-ea"/>
                <a:cs typeface="Times New Roman" panose="02020603050405020304" pitchFamily="18" charset="0"/>
              </a:rPr>
              <a:t>01</a:t>
            </a:r>
            <a:r>
              <a:rPr lang="zh-CN" altLang="en-US" sz="800" dirty="0">
                <a:latin typeface="+mn-ea"/>
                <a:cs typeface="Times New Roman" panose="02020603050405020304" pitchFamily="18" charset="0"/>
              </a:rPr>
              <a:t>月</a:t>
            </a:r>
            <a:r>
              <a:rPr lang="en-US" altLang="zh-CN" sz="800" dirty="0">
                <a:latin typeface="+mn-ea"/>
                <a:cs typeface="Times New Roman" panose="02020603050405020304" pitchFamily="18" charset="0"/>
              </a:rPr>
              <a:t>07</a:t>
            </a:r>
            <a:r>
              <a:rPr lang="zh-CN" altLang="en-US" sz="800" dirty="0">
                <a:latin typeface="+mn-ea"/>
                <a:cs typeface="Times New Roman" panose="02020603050405020304" pitchFamily="18" charset="0"/>
              </a:rPr>
              <a:t>日</a:t>
            </a:r>
            <a:endParaRPr lang="en-US" altLang="zh-CN" sz="800" dirty="0">
              <a:latin typeface="+mn-ea"/>
              <a:cs typeface="Times New Roman" panose="02020603050405020304" pitchFamily="18" charset="0"/>
            </a:endParaRPr>
          </a:p>
          <a:p>
            <a:pPr marL="180975" indent="-180975">
              <a:buFont typeface="+mj-lt"/>
              <a:buAutoNum type="arabicPeriod"/>
            </a:pPr>
            <a:r>
              <a:rPr lang="zh-CN" altLang="en-US" sz="800" dirty="0">
                <a:latin typeface="+mn-ea"/>
                <a:cs typeface="Times New Roman" panose="02020603050405020304" pitchFamily="18" charset="0"/>
              </a:rPr>
              <a:t>注射用替奈普酶说明书</a:t>
            </a:r>
            <a:r>
              <a:rPr lang="en-US" altLang="zh-CN" sz="800" dirty="0">
                <a:latin typeface="+mn-ea"/>
                <a:cs typeface="Times New Roman" panose="02020603050405020304" pitchFamily="18" charset="0"/>
              </a:rPr>
              <a:t>. </a:t>
            </a:r>
            <a:r>
              <a:rPr lang="zh-CN" altLang="en-US" sz="800" dirty="0">
                <a:latin typeface="+mn-ea"/>
                <a:cs typeface="Times New Roman" panose="02020603050405020304" pitchFamily="18" charset="0"/>
              </a:rPr>
              <a:t> 核准日期：</a:t>
            </a:r>
            <a:r>
              <a:rPr lang="en-US" altLang="zh-CN" sz="800" dirty="0">
                <a:latin typeface="+mn-ea"/>
                <a:cs typeface="Times New Roman" panose="02020603050405020304" pitchFamily="18" charset="0"/>
              </a:rPr>
              <a:t>2025</a:t>
            </a:r>
            <a:r>
              <a:rPr lang="zh-CN" altLang="en-US" sz="800" dirty="0">
                <a:latin typeface="+mn-ea"/>
                <a:cs typeface="Times New Roman" panose="02020603050405020304" pitchFamily="18" charset="0"/>
              </a:rPr>
              <a:t>年</a:t>
            </a:r>
            <a:r>
              <a:rPr lang="en-US" altLang="zh-CN" sz="800" dirty="0">
                <a:latin typeface="+mn-ea"/>
                <a:cs typeface="Times New Roman" panose="02020603050405020304" pitchFamily="18" charset="0"/>
              </a:rPr>
              <a:t>5</a:t>
            </a:r>
            <a:r>
              <a:rPr lang="zh-CN" altLang="en-US" sz="800" dirty="0">
                <a:latin typeface="+mn-ea"/>
                <a:cs typeface="Times New Roman" panose="02020603050405020304" pitchFamily="18" charset="0"/>
              </a:rPr>
              <a:t>月</a:t>
            </a:r>
            <a:r>
              <a:rPr lang="en-US" altLang="zh-CN" sz="800" dirty="0">
                <a:latin typeface="+mn-ea"/>
                <a:cs typeface="Times New Roman" panose="02020603050405020304" pitchFamily="18" charset="0"/>
              </a:rPr>
              <a:t>13</a:t>
            </a:r>
            <a:r>
              <a:rPr lang="zh-CN" altLang="en-US" sz="800" dirty="0">
                <a:latin typeface="+mn-ea"/>
                <a:cs typeface="Times New Roman" panose="02020603050405020304" pitchFamily="18" charset="0"/>
              </a:rPr>
              <a:t>日</a:t>
            </a:r>
            <a:r>
              <a:rPr lang="en-US" altLang="zh-CN" sz="800" dirty="0">
                <a:latin typeface="+mn-ea"/>
                <a:cs typeface="Times New Roman" panose="02020603050405020304" pitchFamily="18" charset="0"/>
              </a:rPr>
              <a:t>. </a:t>
            </a:r>
            <a:endParaRPr lang="zh-CN" altLang="en-US" sz="800" dirty="0">
              <a:latin typeface="+mn-ea"/>
              <a:cs typeface="Times New Roman" panose="02020603050405020304" pitchFamily="18" charset="0"/>
            </a:endParaRPr>
          </a:p>
        </p:txBody>
      </p:sp>
      <p:pic>
        <p:nvPicPr>
          <p:cNvPr id="15" name="图片 14" descr="文本&#10;&#10;AI 生成的内容可能不正确。">
            <a:extLst>
              <a:ext uri="{FF2B5EF4-FFF2-40B4-BE49-F238E27FC236}">
                <a16:creationId xmlns:a16="http://schemas.microsoft.com/office/drawing/2014/main" id="{DA68FC29-15E5-3B37-66BE-5302EE382700}"/>
              </a:ext>
            </a:extLst>
          </p:cNvPr>
          <p:cNvPicPr>
            <a:picLocks noChangeAspect="1"/>
          </p:cNvPicPr>
          <p:nvPr/>
        </p:nvPicPr>
        <p:blipFill>
          <a:blip r:embed="rId3"/>
          <a:stretch>
            <a:fillRect/>
          </a:stretch>
        </p:blipFill>
        <p:spPr>
          <a:xfrm>
            <a:off x="4742985" y="1600962"/>
            <a:ext cx="3236585" cy="3234900"/>
          </a:xfrm>
          <a:prstGeom prst="rect">
            <a:avLst/>
          </a:prstGeom>
        </p:spPr>
      </p:pic>
      <p:pic>
        <p:nvPicPr>
          <p:cNvPr id="6" name="图片 5">
            <a:extLst>
              <a:ext uri="{FF2B5EF4-FFF2-40B4-BE49-F238E27FC236}">
                <a16:creationId xmlns:a16="http://schemas.microsoft.com/office/drawing/2014/main" id="{4E8DE729-F8B6-EF5E-03F7-CF4AB2BCF76A}"/>
              </a:ext>
            </a:extLst>
          </p:cNvPr>
          <p:cNvPicPr>
            <a:picLocks noChangeAspect="1"/>
          </p:cNvPicPr>
          <p:nvPr/>
        </p:nvPicPr>
        <p:blipFill>
          <a:blip r:embed="rId4"/>
          <a:stretch>
            <a:fillRect/>
          </a:stretch>
        </p:blipFill>
        <p:spPr>
          <a:xfrm>
            <a:off x="624551" y="1499866"/>
            <a:ext cx="3776465" cy="2388645"/>
          </a:xfrm>
          <a:prstGeom prst="rect">
            <a:avLst/>
          </a:prstGeom>
        </p:spPr>
      </p:pic>
      <p:pic>
        <p:nvPicPr>
          <p:cNvPr id="12" name="图片 11">
            <a:extLst>
              <a:ext uri="{FF2B5EF4-FFF2-40B4-BE49-F238E27FC236}">
                <a16:creationId xmlns:a16="http://schemas.microsoft.com/office/drawing/2014/main" id="{1AB4EB14-2F8C-4F98-075D-50ECB4CE37F4}"/>
              </a:ext>
            </a:extLst>
          </p:cNvPr>
          <p:cNvPicPr>
            <a:picLocks noChangeAspect="1"/>
          </p:cNvPicPr>
          <p:nvPr/>
        </p:nvPicPr>
        <p:blipFill>
          <a:blip r:embed="rId5"/>
          <a:stretch>
            <a:fillRect/>
          </a:stretch>
        </p:blipFill>
        <p:spPr>
          <a:xfrm>
            <a:off x="937493" y="840635"/>
            <a:ext cx="2679456" cy="523421"/>
          </a:xfrm>
          <a:prstGeom prst="rect">
            <a:avLst/>
          </a:prstGeom>
        </p:spPr>
      </p:pic>
      <p:pic>
        <p:nvPicPr>
          <p:cNvPr id="14" name="图片 13">
            <a:extLst>
              <a:ext uri="{FF2B5EF4-FFF2-40B4-BE49-F238E27FC236}">
                <a16:creationId xmlns:a16="http://schemas.microsoft.com/office/drawing/2014/main" id="{9C87740C-6B8E-5D76-B599-A412C31966AC}"/>
              </a:ext>
            </a:extLst>
          </p:cNvPr>
          <p:cNvPicPr>
            <a:picLocks noChangeAspect="1"/>
          </p:cNvPicPr>
          <p:nvPr/>
        </p:nvPicPr>
        <p:blipFill>
          <a:blip r:embed="rId6"/>
          <a:stretch>
            <a:fillRect/>
          </a:stretch>
        </p:blipFill>
        <p:spPr>
          <a:xfrm>
            <a:off x="4742985" y="768808"/>
            <a:ext cx="3168846" cy="799797"/>
          </a:xfrm>
          <a:prstGeom prst="rect">
            <a:avLst/>
          </a:prstGeom>
        </p:spPr>
      </p:pic>
    </p:spTree>
    <p:extLst>
      <p:ext uri="{BB962C8B-B14F-4D97-AF65-F5344CB8AC3E}">
        <p14:creationId xmlns:p14="http://schemas.microsoft.com/office/powerpoint/2010/main" val="217449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E571C8-0280-BA73-5DD8-0B9BF33085D9}"/>
              </a:ext>
            </a:extLst>
          </p:cNvPr>
          <p:cNvSpPr>
            <a:spLocks noGrp="1"/>
          </p:cNvSpPr>
          <p:nvPr>
            <p:ph type="title"/>
          </p:nvPr>
        </p:nvSpPr>
        <p:spPr>
          <a:xfrm>
            <a:off x="371475" y="115533"/>
            <a:ext cx="8401050" cy="583340"/>
          </a:xfrm>
        </p:spPr>
        <p:txBody>
          <a:bodyPr/>
          <a:lstStyle/>
          <a:p>
            <a:r>
              <a:rPr lang="en-US" altLang="zh-CN" sz="2000" dirty="0">
                <a:solidFill>
                  <a:schemeClr val="tx1"/>
                </a:solidFill>
                <a:latin typeface="+mn-ea"/>
                <a:ea typeface="+mn-ea"/>
              </a:rPr>
              <a:t>Emerging evidence suggests that </a:t>
            </a:r>
            <a:r>
              <a:rPr lang="en-US" altLang="zh-CN" sz="2000" dirty="0">
                <a:solidFill>
                  <a:prstClr val="black"/>
                </a:solidFill>
                <a:latin typeface="+mn-ea"/>
                <a:ea typeface="+mn-ea"/>
              </a:rPr>
              <a:t>intensive </a:t>
            </a:r>
            <a:r>
              <a:rPr lang="en-US" altLang="zh-CN" sz="2000" dirty="0">
                <a:solidFill>
                  <a:schemeClr val="tx1"/>
                </a:solidFill>
                <a:latin typeface="+mn-ea"/>
                <a:ea typeface="+mn-ea"/>
              </a:rPr>
              <a:t>BP lowering does not improve outcomes</a:t>
            </a:r>
            <a:endParaRPr lang="zh-CN" altLang="en-US" sz="2000" dirty="0">
              <a:solidFill>
                <a:schemeClr val="tx1"/>
              </a:solidFill>
              <a:latin typeface="+mn-ea"/>
              <a:ea typeface="+mn-ea"/>
            </a:endParaRPr>
          </a:p>
        </p:txBody>
      </p:sp>
      <p:sp>
        <p:nvSpPr>
          <p:cNvPr id="5" name="文本框 4">
            <a:extLst>
              <a:ext uri="{FF2B5EF4-FFF2-40B4-BE49-F238E27FC236}">
                <a16:creationId xmlns:a16="http://schemas.microsoft.com/office/drawing/2014/main" id="{E7B66F8E-E250-2565-90D5-41DA39E3A2CF}"/>
              </a:ext>
            </a:extLst>
          </p:cNvPr>
          <p:cNvSpPr txBox="1"/>
          <p:nvPr/>
        </p:nvSpPr>
        <p:spPr bwMode="gray">
          <a:xfrm>
            <a:off x="4684620" y="2690908"/>
            <a:ext cx="4135126" cy="371705"/>
          </a:xfrm>
          <a:prstGeom prst="rect">
            <a:avLst/>
          </a:prstGeom>
          <a:noFill/>
        </p:spPr>
        <p:txBody>
          <a:bodyPr wrap="square" lIns="0" tIns="0" rIns="0" bIns="0" rtlCol="0">
            <a:spAutoFit/>
          </a:bodyPr>
          <a:lstStyle/>
          <a:p>
            <a:pPr algn="l">
              <a:lnSpc>
                <a:spcPts val="1500"/>
              </a:lnSpc>
            </a:pPr>
            <a:r>
              <a:rPr lang="en-US" altLang="zh-CN" sz="1200" b="1" dirty="0">
                <a:latin typeface="+mn-ea"/>
              </a:rPr>
              <a:t>ENCHANTED 2-MT: </a:t>
            </a:r>
            <a:r>
              <a:rPr lang="en-US" altLang="zh-CN" sz="1200" dirty="0">
                <a:latin typeface="+mn-ea"/>
              </a:rPr>
              <a:t>Intensive control of systolic BP should be avoided to patients who have received EVT (n=821) </a:t>
            </a:r>
            <a:endParaRPr lang="zh-CN" altLang="en-US" sz="1200" dirty="0">
              <a:latin typeface="+mn-ea"/>
            </a:endParaRPr>
          </a:p>
        </p:txBody>
      </p:sp>
      <p:sp>
        <p:nvSpPr>
          <p:cNvPr id="9" name="文本框 8">
            <a:extLst>
              <a:ext uri="{FF2B5EF4-FFF2-40B4-BE49-F238E27FC236}">
                <a16:creationId xmlns:a16="http://schemas.microsoft.com/office/drawing/2014/main" id="{2A265293-F801-C16B-D574-9E0A862F6D88}"/>
              </a:ext>
            </a:extLst>
          </p:cNvPr>
          <p:cNvSpPr txBox="1"/>
          <p:nvPr/>
        </p:nvSpPr>
        <p:spPr bwMode="gray">
          <a:xfrm>
            <a:off x="307601" y="740489"/>
            <a:ext cx="4264397" cy="461665"/>
          </a:xfrm>
          <a:prstGeom prst="rect">
            <a:avLst/>
          </a:prstGeom>
          <a:noFill/>
        </p:spPr>
        <p:txBody>
          <a:bodyPr wrap="square">
            <a:spAutoFit/>
          </a:bodyPr>
          <a:lstStyle/>
          <a:p>
            <a:r>
              <a:rPr lang="en-US" altLang="zh-CN" sz="1200" b="1" dirty="0">
                <a:latin typeface="+mn-ea"/>
              </a:rPr>
              <a:t>INTERACT4: </a:t>
            </a:r>
            <a:r>
              <a:rPr lang="en-US" altLang="zh-CN" sz="1200" dirty="0">
                <a:latin typeface="+mn-ea"/>
              </a:rPr>
              <a:t>Rapid initiation of intensive BP reduction had no benefit for AIS/TIA patients (n=2404)</a:t>
            </a:r>
            <a:endParaRPr lang="zh-CN" altLang="en-US" sz="1200" dirty="0">
              <a:latin typeface="+mn-ea"/>
            </a:endParaRPr>
          </a:p>
        </p:txBody>
      </p:sp>
      <p:pic>
        <p:nvPicPr>
          <p:cNvPr id="10" name="图片 9">
            <a:extLst>
              <a:ext uri="{FF2B5EF4-FFF2-40B4-BE49-F238E27FC236}">
                <a16:creationId xmlns:a16="http://schemas.microsoft.com/office/drawing/2014/main" id="{0B9DCA22-95A2-B963-3E0D-A1A53BE8427C}"/>
              </a:ext>
            </a:extLst>
          </p:cNvPr>
          <p:cNvPicPr>
            <a:picLocks noChangeAspect="1"/>
          </p:cNvPicPr>
          <p:nvPr/>
        </p:nvPicPr>
        <p:blipFill>
          <a:blip r:embed="rId3"/>
          <a:stretch>
            <a:fillRect/>
          </a:stretch>
        </p:blipFill>
        <p:spPr>
          <a:xfrm>
            <a:off x="775326" y="1220843"/>
            <a:ext cx="2901729" cy="1045647"/>
          </a:xfrm>
          <a:prstGeom prst="rect">
            <a:avLst/>
          </a:prstGeom>
        </p:spPr>
      </p:pic>
      <p:sp>
        <p:nvSpPr>
          <p:cNvPr id="11" name="文本框 10">
            <a:extLst>
              <a:ext uri="{FF2B5EF4-FFF2-40B4-BE49-F238E27FC236}">
                <a16:creationId xmlns:a16="http://schemas.microsoft.com/office/drawing/2014/main" id="{D4994356-F712-76B1-E3F0-906B1050BD6B}"/>
              </a:ext>
            </a:extLst>
          </p:cNvPr>
          <p:cNvSpPr txBox="1"/>
          <p:nvPr/>
        </p:nvSpPr>
        <p:spPr>
          <a:xfrm>
            <a:off x="324253" y="2664968"/>
            <a:ext cx="4264397" cy="507345"/>
          </a:xfrm>
          <a:prstGeom prst="rect">
            <a:avLst/>
          </a:prstGeom>
          <a:noFill/>
        </p:spPr>
        <p:txBody>
          <a:bodyPr wrap="square" rtlCol="0">
            <a:noAutofit/>
          </a:bodyPr>
          <a:lstStyle/>
          <a:p>
            <a:r>
              <a:rPr lang="en-US" altLang="zh-CN" sz="1200" b="1" dirty="0">
                <a:solidFill>
                  <a:prstClr val="black"/>
                </a:solidFill>
                <a:latin typeface="+mn-ea"/>
              </a:rPr>
              <a:t>ENCHANTED: </a:t>
            </a:r>
            <a:r>
              <a:rPr lang="en-US" altLang="zh-CN" sz="1200" dirty="0">
                <a:solidFill>
                  <a:prstClr val="black"/>
                </a:solidFill>
                <a:latin typeface="+mn-ea"/>
              </a:rPr>
              <a:t>intensive BP lowing after IVT was not associated with a significant difference in functional recovery (n=2227)</a:t>
            </a:r>
            <a:endParaRPr lang="zh-CN" altLang="en-US" sz="1200" dirty="0">
              <a:solidFill>
                <a:prstClr val="black"/>
              </a:solidFill>
              <a:latin typeface="+mn-ea"/>
            </a:endParaRPr>
          </a:p>
        </p:txBody>
      </p:sp>
      <p:pic>
        <p:nvPicPr>
          <p:cNvPr id="12" name="图片 11">
            <a:extLst>
              <a:ext uri="{FF2B5EF4-FFF2-40B4-BE49-F238E27FC236}">
                <a16:creationId xmlns:a16="http://schemas.microsoft.com/office/drawing/2014/main" id="{91625312-DE12-F25D-FDBD-58E9C1582B3E}"/>
              </a:ext>
            </a:extLst>
          </p:cNvPr>
          <p:cNvPicPr>
            <a:picLocks noChangeAspect="1"/>
          </p:cNvPicPr>
          <p:nvPr/>
        </p:nvPicPr>
        <p:blipFill>
          <a:blip r:embed="rId4"/>
          <a:stretch>
            <a:fillRect/>
          </a:stretch>
        </p:blipFill>
        <p:spPr>
          <a:xfrm>
            <a:off x="946824" y="3271408"/>
            <a:ext cx="2487071" cy="918110"/>
          </a:xfrm>
          <a:prstGeom prst="rect">
            <a:avLst/>
          </a:prstGeom>
        </p:spPr>
      </p:pic>
      <p:sp>
        <p:nvSpPr>
          <p:cNvPr id="13" name="文本框 12">
            <a:extLst>
              <a:ext uri="{FF2B5EF4-FFF2-40B4-BE49-F238E27FC236}">
                <a16:creationId xmlns:a16="http://schemas.microsoft.com/office/drawing/2014/main" id="{813AC20D-9F1E-C11E-7252-FCA67735563F}"/>
              </a:ext>
            </a:extLst>
          </p:cNvPr>
          <p:cNvSpPr txBox="1"/>
          <p:nvPr/>
        </p:nvSpPr>
        <p:spPr>
          <a:xfrm>
            <a:off x="4571999" y="747302"/>
            <a:ext cx="4200525" cy="507345"/>
          </a:xfrm>
          <a:prstGeom prst="rect">
            <a:avLst/>
          </a:prstGeom>
          <a:noFill/>
        </p:spPr>
        <p:txBody>
          <a:bodyPr wrap="square" rtlCol="0">
            <a:noAutofit/>
          </a:bodyPr>
          <a:lstStyle/>
          <a:p>
            <a:pPr>
              <a:lnSpc>
                <a:spcPts val="1500"/>
              </a:lnSpc>
            </a:pPr>
            <a:r>
              <a:rPr lang="en-US" altLang="zh-CN" sz="1200" b="1" dirty="0">
                <a:latin typeface="+mn-ea"/>
              </a:rPr>
              <a:t>RIGHT2: </a:t>
            </a:r>
            <a:r>
              <a:rPr lang="en-US" altLang="zh-CN" sz="1200" dirty="0">
                <a:latin typeface="+mn-ea"/>
              </a:rPr>
              <a:t>Glyceryl trinitrate(GTN) in the ambulance did not improve clinical outcomes despite lowering BP (n=597)</a:t>
            </a:r>
          </a:p>
        </p:txBody>
      </p:sp>
      <p:pic>
        <p:nvPicPr>
          <p:cNvPr id="17" name="图片 16">
            <a:extLst>
              <a:ext uri="{FF2B5EF4-FFF2-40B4-BE49-F238E27FC236}">
                <a16:creationId xmlns:a16="http://schemas.microsoft.com/office/drawing/2014/main" id="{0F20E32B-4395-E1D7-5CC6-B03CE8487BB2}"/>
              </a:ext>
            </a:extLst>
          </p:cNvPr>
          <p:cNvPicPr>
            <a:picLocks noChangeAspect="1"/>
          </p:cNvPicPr>
          <p:nvPr/>
        </p:nvPicPr>
        <p:blipFill>
          <a:blip r:embed="rId5"/>
          <a:stretch>
            <a:fillRect/>
          </a:stretch>
        </p:blipFill>
        <p:spPr>
          <a:xfrm>
            <a:off x="4923587" y="1153336"/>
            <a:ext cx="3035380" cy="1117773"/>
          </a:xfrm>
          <a:prstGeom prst="rect">
            <a:avLst/>
          </a:prstGeom>
        </p:spPr>
      </p:pic>
      <p:sp>
        <p:nvSpPr>
          <p:cNvPr id="19" name="文本框 18">
            <a:extLst>
              <a:ext uri="{FF2B5EF4-FFF2-40B4-BE49-F238E27FC236}">
                <a16:creationId xmlns:a16="http://schemas.microsoft.com/office/drawing/2014/main" id="{CAF65636-2584-9286-4B44-337A441349BD}"/>
              </a:ext>
            </a:extLst>
          </p:cNvPr>
          <p:cNvSpPr txBox="1"/>
          <p:nvPr/>
        </p:nvSpPr>
        <p:spPr bwMode="gray">
          <a:xfrm>
            <a:off x="8106382" y="1528097"/>
            <a:ext cx="797669" cy="461665"/>
          </a:xfrm>
          <a:prstGeom prst="rect">
            <a:avLst/>
          </a:prstGeom>
          <a:noFill/>
        </p:spPr>
        <p:txBody>
          <a:bodyPr wrap="square">
            <a:spAutoFit/>
          </a:bodyPr>
          <a:lstStyle/>
          <a:p>
            <a:r>
              <a:rPr lang="pl-PL" altLang="zh-CN" sz="800" dirty="0">
                <a:latin typeface="+mn-ea"/>
              </a:rPr>
              <a:t>acOR 1.15, 95% CI 0.85</a:t>
            </a:r>
            <a:r>
              <a:rPr lang="en-US" altLang="zh-CN" sz="800" dirty="0">
                <a:latin typeface="+mn-ea"/>
              </a:rPr>
              <a:t>-</a:t>
            </a:r>
            <a:r>
              <a:rPr lang="pl-PL" altLang="zh-CN" sz="800" dirty="0">
                <a:latin typeface="+mn-ea"/>
              </a:rPr>
              <a:t>1.54, p=0.36</a:t>
            </a:r>
            <a:endParaRPr lang="zh-CN" altLang="en-US" sz="800" dirty="0">
              <a:latin typeface="+mn-ea"/>
            </a:endParaRPr>
          </a:p>
        </p:txBody>
      </p:sp>
      <p:sp>
        <p:nvSpPr>
          <p:cNvPr id="23" name="文本框 22">
            <a:extLst>
              <a:ext uri="{FF2B5EF4-FFF2-40B4-BE49-F238E27FC236}">
                <a16:creationId xmlns:a16="http://schemas.microsoft.com/office/drawing/2014/main" id="{6E10A7B8-A529-27B8-217E-FAAC97F285F1}"/>
              </a:ext>
            </a:extLst>
          </p:cNvPr>
          <p:cNvSpPr txBox="1"/>
          <p:nvPr/>
        </p:nvSpPr>
        <p:spPr bwMode="gray">
          <a:xfrm>
            <a:off x="3557049" y="3357905"/>
            <a:ext cx="1031601" cy="584775"/>
          </a:xfrm>
          <a:prstGeom prst="rect">
            <a:avLst/>
          </a:prstGeom>
          <a:noFill/>
        </p:spPr>
        <p:txBody>
          <a:bodyPr wrap="square">
            <a:spAutoFit/>
          </a:bodyPr>
          <a:lstStyle/>
          <a:p>
            <a:r>
              <a:rPr lang="en-US" altLang="zh-CN" sz="800" dirty="0">
                <a:latin typeface="+mn-ea"/>
              </a:rPr>
              <a:t>Unadjusted OR 1·01, 95% CI 0·87–1·17, p=0·8702</a:t>
            </a:r>
            <a:endParaRPr lang="zh-CN" altLang="en-US" sz="800" dirty="0">
              <a:latin typeface="+mn-ea"/>
            </a:endParaRPr>
          </a:p>
        </p:txBody>
      </p:sp>
      <p:pic>
        <p:nvPicPr>
          <p:cNvPr id="28" name="图片 27">
            <a:extLst>
              <a:ext uri="{FF2B5EF4-FFF2-40B4-BE49-F238E27FC236}">
                <a16:creationId xmlns:a16="http://schemas.microsoft.com/office/drawing/2014/main" id="{B65A4F87-2683-6936-8177-CB521911C7AF}"/>
              </a:ext>
            </a:extLst>
          </p:cNvPr>
          <p:cNvPicPr>
            <a:picLocks noChangeAspect="1"/>
          </p:cNvPicPr>
          <p:nvPr/>
        </p:nvPicPr>
        <p:blipFill>
          <a:blip r:embed="rId6"/>
          <a:stretch>
            <a:fillRect/>
          </a:stretch>
        </p:blipFill>
        <p:spPr>
          <a:xfrm>
            <a:off x="5168630" y="3073635"/>
            <a:ext cx="2790337" cy="1053367"/>
          </a:xfrm>
          <a:prstGeom prst="rect">
            <a:avLst/>
          </a:prstGeom>
        </p:spPr>
      </p:pic>
      <p:sp>
        <p:nvSpPr>
          <p:cNvPr id="30" name="文本框 29">
            <a:extLst>
              <a:ext uri="{FF2B5EF4-FFF2-40B4-BE49-F238E27FC236}">
                <a16:creationId xmlns:a16="http://schemas.microsoft.com/office/drawing/2014/main" id="{8EB97A10-D0EC-3847-4781-114A6ECFDF11}"/>
              </a:ext>
            </a:extLst>
          </p:cNvPr>
          <p:cNvSpPr txBox="1"/>
          <p:nvPr/>
        </p:nvSpPr>
        <p:spPr bwMode="gray">
          <a:xfrm>
            <a:off x="8028557" y="3443893"/>
            <a:ext cx="881979" cy="338554"/>
          </a:xfrm>
          <a:prstGeom prst="rect">
            <a:avLst/>
          </a:prstGeom>
          <a:noFill/>
        </p:spPr>
        <p:txBody>
          <a:bodyPr wrap="square">
            <a:spAutoFit/>
          </a:bodyPr>
          <a:lstStyle/>
          <a:p>
            <a:r>
              <a:rPr lang="en-US" altLang="zh-CN" sz="800" dirty="0" err="1">
                <a:latin typeface="+mn-ea"/>
              </a:rPr>
              <a:t>cOR</a:t>
            </a:r>
            <a:r>
              <a:rPr lang="en-US" altLang="zh-CN" sz="800" dirty="0">
                <a:latin typeface="+mn-ea"/>
              </a:rPr>
              <a:t> 1·37 [95% CI 1·07–1·76]. </a:t>
            </a:r>
            <a:endParaRPr lang="zh-CN" altLang="en-US" sz="800" dirty="0">
              <a:latin typeface="+mn-ea"/>
            </a:endParaRPr>
          </a:p>
        </p:txBody>
      </p:sp>
      <p:sp>
        <p:nvSpPr>
          <p:cNvPr id="4" name="文本框 3">
            <a:extLst>
              <a:ext uri="{FF2B5EF4-FFF2-40B4-BE49-F238E27FC236}">
                <a16:creationId xmlns:a16="http://schemas.microsoft.com/office/drawing/2014/main" id="{2C059A2B-5E28-11A2-48CF-5C0339DD96F6}"/>
              </a:ext>
            </a:extLst>
          </p:cNvPr>
          <p:cNvSpPr txBox="1"/>
          <p:nvPr/>
        </p:nvSpPr>
        <p:spPr bwMode="gray">
          <a:xfrm>
            <a:off x="2282759" y="4715766"/>
            <a:ext cx="4987046" cy="338554"/>
          </a:xfrm>
          <a:prstGeom prst="rect">
            <a:avLst/>
          </a:prstGeom>
          <a:noFill/>
        </p:spPr>
        <p:txBody>
          <a:bodyPr wrap="square" numCol="2">
            <a:spAutoFit/>
          </a:bodyPr>
          <a:lstStyle/>
          <a:p>
            <a:r>
              <a:rPr lang="en-US" altLang="zh-CN" sz="800" dirty="0">
                <a:latin typeface="+mn-ea"/>
              </a:rPr>
              <a:t>1. N Engl J Med. 2024 May 30;390(20):1862-1872.</a:t>
            </a:r>
          </a:p>
          <a:p>
            <a:r>
              <a:rPr lang="nl-NL" altLang="zh-CN" sz="800" dirty="0">
                <a:latin typeface="+mn-ea"/>
              </a:rPr>
              <a:t>2. Stroke &amp; Vascular Neurology 2024;9:e001634. </a:t>
            </a:r>
            <a:endParaRPr lang="en-US" altLang="zh-CN" sz="800" dirty="0">
              <a:latin typeface="+mn-ea"/>
            </a:endParaRPr>
          </a:p>
        </p:txBody>
      </p:sp>
      <p:sp>
        <p:nvSpPr>
          <p:cNvPr id="6" name="文本框 5">
            <a:extLst>
              <a:ext uri="{FF2B5EF4-FFF2-40B4-BE49-F238E27FC236}">
                <a16:creationId xmlns:a16="http://schemas.microsoft.com/office/drawing/2014/main" id="{F5059DE8-F635-5695-8626-FD4FC9E41F39}"/>
              </a:ext>
            </a:extLst>
          </p:cNvPr>
          <p:cNvSpPr txBox="1"/>
          <p:nvPr/>
        </p:nvSpPr>
        <p:spPr bwMode="gray">
          <a:xfrm>
            <a:off x="369653" y="2293569"/>
            <a:ext cx="4085616" cy="345479"/>
          </a:xfrm>
          <a:prstGeom prst="rect">
            <a:avLst/>
          </a:prstGeom>
          <a:noFill/>
        </p:spPr>
        <p:txBody>
          <a:bodyPr wrap="square">
            <a:spAutoFit/>
          </a:bodyPr>
          <a:lstStyle/>
          <a:p>
            <a:pPr marL="171450" indent="-171450">
              <a:lnSpc>
                <a:spcPts val="1000"/>
              </a:lnSpc>
              <a:buFont typeface="Arial" panose="020B0604020202020204" pitchFamily="34" charset="0"/>
              <a:buChar char="•"/>
            </a:pPr>
            <a:r>
              <a:rPr lang="en-US" altLang="zh-CN" sz="800" dirty="0">
                <a:latin typeface="+mn-ea"/>
              </a:rPr>
              <a:t>An open-label, randomized trial, aim to evaluate whether very early BP control in the ambulance improves outcomes among patients with acute stroke</a:t>
            </a:r>
            <a:endParaRPr lang="zh-CN" altLang="en-US" sz="800" dirty="0">
              <a:latin typeface="+mn-ea"/>
            </a:endParaRPr>
          </a:p>
        </p:txBody>
      </p:sp>
      <p:sp>
        <p:nvSpPr>
          <p:cNvPr id="7" name="文本框 6">
            <a:extLst>
              <a:ext uri="{FF2B5EF4-FFF2-40B4-BE49-F238E27FC236}">
                <a16:creationId xmlns:a16="http://schemas.microsoft.com/office/drawing/2014/main" id="{2BFB5E85-8FCE-4E5E-21BD-C6E1D5F90033}"/>
              </a:ext>
            </a:extLst>
          </p:cNvPr>
          <p:cNvSpPr txBox="1"/>
          <p:nvPr/>
        </p:nvSpPr>
        <p:spPr bwMode="gray">
          <a:xfrm>
            <a:off x="4666033" y="2294791"/>
            <a:ext cx="4085616" cy="345479"/>
          </a:xfrm>
          <a:prstGeom prst="rect">
            <a:avLst/>
          </a:prstGeom>
          <a:noFill/>
        </p:spPr>
        <p:txBody>
          <a:bodyPr wrap="square">
            <a:spAutoFit/>
          </a:bodyPr>
          <a:lstStyle/>
          <a:p>
            <a:pPr marL="171450" indent="-171450">
              <a:lnSpc>
                <a:spcPts val="1000"/>
              </a:lnSpc>
              <a:buFont typeface="Arial" panose="020B0604020202020204" pitchFamily="34" charset="0"/>
              <a:buChar char="•"/>
            </a:pPr>
            <a:r>
              <a:rPr lang="en-US" altLang="zh-CN" sz="800" dirty="0">
                <a:latin typeface="+mn-ea"/>
              </a:rPr>
              <a:t>A prospective, </a:t>
            </a:r>
            <a:r>
              <a:rPr lang="en-US" altLang="zh-CN" sz="800" dirty="0" err="1">
                <a:latin typeface="+mn-ea"/>
              </a:rPr>
              <a:t>multicentre</a:t>
            </a:r>
            <a:r>
              <a:rPr lang="en-US" altLang="zh-CN" sz="800" dirty="0">
                <a:latin typeface="+mn-ea"/>
              </a:rPr>
              <a:t>, ambulance-based RCT,  aim to assess the effect of GTN given prehospital in patients with presumed stroke within 4 hours of onset </a:t>
            </a:r>
            <a:endParaRPr lang="zh-CN" altLang="en-US" sz="800" dirty="0">
              <a:latin typeface="+mn-ea"/>
            </a:endParaRPr>
          </a:p>
        </p:txBody>
      </p:sp>
      <p:sp>
        <p:nvSpPr>
          <p:cNvPr id="14" name="文本框 13">
            <a:extLst>
              <a:ext uri="{FF2B5EF4-FFF2-40B4-BE49-F238E27FC236}">
                <a16:creationId xmlns:a16="http://schemas.microsoft.com/office/drawing/2014/main" id="{B73441DB-414C-F664-05D8-074174839E0A}"/>
              </a:ext>
            </a:extLst>
          </p:cNvPr>
          <p:cNvSpPr txBox="1"/>
          <p:nvPr/>
        </p:nvSpPr>
        <p:spPr bwMode="gray">
          <a:xfrm>
            <a:off x="369652" y="4184853"/>
            <a:ext cx="4202345" cy="461665"/>
          </a:xfrm>
          <a:prstGeom prst="rect">
            <a:avLst/>
          </a:prstGeom>
          <a:noFill/>
        </p:spPr>
        <p:txBody>
          <a:bodyPr wrap="square">
            <a:spAutoFit/>
          </a:bodyPr>
          <a:lstStyle/>
          <a:p>
            <a:pPr marL="171450" indent="-171450">
              <a:buFont typeface="Arial" panose="020B0604020202020204" pitchFamily="34" charset="0"/>
              <a:buChar char="•"/>
            </a:pPr>
            <a:r>
              <a:rPr lang="en-US" altLang="zh-CN" sz="800" dirty="0">
                <a:latin typeface="+mn-ea"/>
              </a:rPr>
              <a:t>An international, </a:t>
            </a:r>
            <a:r>
              <a:rPr lang="en-US" altLang="zh-CN" sz="800" dirty="0" err="1">
                <a:latin typeface="+mn-ea"/>
              </a:rPr>
              <a:t>randomised</a:t>
            </a:r>
            <a:r>
              <a:rPr lang="en-US" altLang="zh-CN" sz="800" dirty="0">
                <a:latin typeface="+mn-ea"/>
              </a:rPr>
              <a:t>, open-label, blinded-endpoint, phase 3 trial. Intensive BP lowering compared with guideline-recommended BP lowering in patients treated with alteplase for acute </a:t>
            </a:r>
            <a:r>
              <a:rPr lang="en-US" altLang="zh-CN" sz="800" dirty="0" err="1">
                <a:latin typeface="+mn-ea"/>
              </a:rPr>
              <a:t>ischaemic</a:t>
            </a:r>
            <a:r>
              <a:rPr lang="en-US" altLang="zh-CN" sz="800" dirty="0">
                <a:latin typeface="+mn-ea"/>
              </a:rPr>
              <a:t> stroke.</a:t>
            </a:r>
            <a:endParaRPr lang="zh-CN" altLang="en-US" sz="800" dirty="0">
              <a:latin typeface="+mn-ea"/>
            </a:endParaRPr>
          </a:p>
        </p:txBody>
      </p:sp>
      <p:sp>
        <p:nvSpPr>
          <p:cNvPr id="15" name="文本框 14">
            <a:extLst>
              <a:ext uri="{FF2B5EF4-FFF2-40B4-BE49-F238E27FC236}">
                <a16:creationId xmlns:a16="http://schemas.microsoft.com/office/drawing/2014/main" id="{B87A54FD-3059-6887-DBA1-ADD69E17EA46}"/>
              </a:ext>
            </a:extLst>
          </p:cNvPr>
          <p:cNvSpPr txBox="1"/>
          <p:nvPr/>
        </p:nvSpPr>
        <p:spPr bwMode="gray">
          <a:xfrm>
            <a:off x="4760067" y="4167924"/>
            <a:ext cx="4025427" cy="461665"/>
          </a:xfrm>
          <a:prstGeom prst="rect">
            <a:avLst/>
          </a:prstGeom>
          <a:noFill/>
        </p:spPr>
        <p:txBody>
          <a:bodyPr wrap="square">
            <a:spAutoFit/>
          </a:bodyPr>
          <a:lstStyle/>
          <a:p>
            <a:pPr marL="171450" indent="-171450">
              <a:buFont typeface="Arial" panose="020B0604020202020204" pitchFamily="34" charset="0"/>
              <a:buChar char="•"/>
            </a:pPr>
            <a:r>
              <a:rPr lang="en-US" altLang="zh-CN" sz="800" dirty="0">
                <a:latin typeface="+mn-ea"/>
              </a:rPr>
              <a:t>A </a:t>
            </a:r>
            <a:r>
              <a:rPr lang="en-US" altLang="zh-CN" sz="800" dirty="0" err="1">
                <a:latin typeface="+mn-ea"/>
              </a:rPr>
              <a:t>multicentre</a:t>
            </a:r>
            <a:r>
              <a:rPr lang="en-US" altLang="zh-CN" sz="800" dirty="0">
                <a:latin typeface="+mn-ea"/>
              </a:rPr>
              <a:t>, open-label, blinded-endpoint, </a:t>
            </a:r>
            <a:r>
              <a:rPr lang="en-US" altLang="zh-CN" sz="800" dirty="0" err="1">
                <a:latin typeface="+mn-ea"/>
              </a:rPr>
              <a:t>randomised</a:t>
            </a:r>
            <a:r>
              <a:rPr lang="en-US" altLang="zh-CN" sz="800" dirty="0">
                <a:latin typeface="+mn-ea"/>
              </a:rPr>
              <a:t> controlled trial. Aim to compare the safety and efficacy of intensive BP lowering treatment  versus less intensive treatment  in patients after endovascular treatment. </a:t>
            </a:r>
            <a:endParaRPr lang="zh-CN" altLang="en-US" sz="800" dirty="0">
              <a:latin typeface="+mn-ea"/>
            </a:endParaRPr>
          </a:p>
        </p:txBody>
      </p:sp>
      <p:cxnSp>
        <p:nvCxnSpPr>
          <p:cNvPr id="8" name="直接连接符 7">
            <a:extLst>
              <a:ext uri="{FF2B5EF4-FFF2-40B4-BE49-F238E27FC236}">
                <a16:creationId xmlns:a16="http://schemas.microsoft.com/office/drawing/2014/main" id="{35A41064-2305-C5D1-7123-30DCD0FDDED7}"/>
              </a:ext>
            </a:extLst>
          </p:cNvPr>
          <p:cNvCxnSpPr/>
          <p:nvPr/>
        </p:nvCxnSpPr>
        <p:spPr bwMode="gray">
          <a:xfrm>
            <a:off x="337223" y="2639048"/>
            <a:ext cx="8448271"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08978C12-3E4B-CD45-ABA1-7CEB44D41057}"/>
              </a:ext>
            </a:extLst>
          </p:cNvPr>
          <p:cNvSpPr txBox="1"/>
          <p:nvPr/>
        </p:nvSpPr>
        <p:spPr bwMode="gray">
          <a:xfrm>
            <a:off x="5018090" y="4710365"/>
            <a:ext cx="3536052" cy="338554"/>
          </a:xfrm>
          <a:prstGeom prst="rect">
            <a:avLst/>
          </a:prstGeom>
          <a:noFill/>
        </p:spPr>
        <p:txBody>
          <a:bodyPr wrap="square" numCol="1">
            <a:spAutoFit/>
          </a:bodyPr>
          <a:lstStyle/>
          <a:p>
            <a:r>
              <a:rPr lang="en-US" altLang="zh-CN" sz="800" dirty="0">
                <a:latin typeface="+mn-ea"/>
              </a:rPr>
              <a:t>3. Lancet 2019; 393: 877–88. </a:t>
            </a:r>
          </a:p>
          <a:p>
            <a:r>
              <a:rPr lang="en-US" altLang="zh-CN" sz="800" dirty="0">
                <a:latin typeface="+mn-ea"/>
              </a:rPr>
              <a:t>4. Lancet. 2022 Nov 5;400(10363):1585-1596.</a:t>
            </a:r>
            <a:endParaRPr lang="zh-CN" altLang="en-US" sz="800" dirty="0">
              <a:latin typeface="+mn-ea"/>
            </a:endParaRPr>
          </a:p>
        </p:txBody>
      </p:sp>
    </p:spTree>
    <p:extLst>
      <p:ext uri="{BB962C8B-B14F-4D97-AF65-F5344CB8AC3E}">
        <p14:creationId xmlns:p14="http://schemas.microsoft.com/office/powerpoint/2010/main" val="12941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CE490-AA2D-9E55-AACB-FC7CA0A710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6FEDF8-08E2-777A-4414-BEF2134E5473}"/>
              </a:ext>
            </a:extLst>
          </p:cNvPr>
          <p:cNvSpPr>
            <a:spLocks noGrp="1"/>
          </p:cNvSpPr>
          <p:nvPr>
            <p:ph type="title"/>
          </p:nvPr>
        </p:nvSpPr>
        <p:spPr>
          <a:xfrm>
            <a:off x="371475" y="115533"/>
            <a:ext cx="8401050" cy="583340"/>
          </a:xfrm>
        </p:spPr>
        <p:txBody>
          <a:bodyPr/>
          <a:lstStyle/>
          <a:p>
            <a:r>
              <a:rPr lang="en-US" altLang="zh-CN" sz="2000" dirty="0">
                <a:solidFill>
                  <a:schemeClr val="tx1"/>
                </a:solidFill>
                <a:latin typeface="+mn-ea"/>
                <a:ea typeface="+mn-ea"/>
              </a:rPr>
              <a:t>Emerging evidence suggests that </a:t>
            </a:r>
            <a:r>
              <a:rPr lang="en-US" altLang="zh-CN" sz="2000" dirty="0">
                <a:solidFill>
                  <a:prstClr val="black"/>
                </a:solidFill>
                <a:latin typeface="+mn-ea"/>
                <a:ea typeface="+mn-ea"/>
              </a:rPr>
              <a:t>intensive </a:t>
            </a:r>
            <a:r>
              <a:rPr lang="en-US" altLang="zh-CN" sz="2000" dirty="0">
                <a:solidFill>
                  <a:schemeClr val="tx1"/>
                </a:solidFill>
                <a:latin typeface="+mn-ea"/>
                <a:ea typeface="+mn-ea"/>
              </a:rPr>
              <a:t>BP lowering does not improve outcomes</a:t>
            </a:r>
            <a:endParaRPr lang="zh-CN" altLang="en-US" sz="2000" dirty="0">
              <a:solidFill>
                <a:schemeClr val="tx1"/>
              </a:solidFill>
              <a:latin typeface="+mn-ea"/>
              <a:ea typeface="+mn-ea"/>
            </a:endParaRPr>
          </a:p>
        </p:txBody>
      </p:sp>
      <p:sp>
        <p:nvSpPr>
          <p:cNvPr id="5" name="文本框 4">
            <a:extLst>
              <a:ext uri="{FF2B5EF4-FFF2-40B4-BE49-F238E27FC236}">
                <a16:creationId xmlns:a16="http://schemas.microsoft.com/office/drawing/2014/main" id="{F3BBBBB6-A8EE-363E-9AEF-F2E6D800DFDE}"/>
              </a:ext>
            </a:extLst>
          </p:cNvPr>
          <p:cNvSpPr txBox="1"/>
          <p:nvPr/>
        </p:nvSpPr>
        <p:spPr bwMode="gray">
          <a:xfrm>
            <a:off x="5904499" y="903676"/>
            <a:ext cx="2863284" cy="564065"/>
          </a:xfrm>
          <a:prstGeom prst="rect">
            <a:avLst/>
          </a:prstGeom>
          <a:noFill/>
        </p:spPr>
        <p:txBody>
          <a:bodyPr wrap="square" lIns="0" tIns="0" rIns="0" bIns="0" rtlCol="0">
            <a:spAutoFit/>
          </a:bodyPr>
          <a:lstStyle/>
          <a:p>
            <a:pPr algn="l">
              <a:lnSpc>
                <a:spcPts val="1500"/>
              </a:lnSpc>
            </a:pPr>
            <a:r>
              <a:rPr lang="en-US" altLang="zh-CN" sz="1200" b="1" dirty="0">
                <a:latin typeface="+mn-ea"/>
              </a:rPr>
              <a:t>ENCHANTED 2-MT: </a:t>
            </a:r>
            <a:r>
              <a:rPr lang="en-US" altLang="zh-CN" sz="1200" dirty="0">
                <a:latin typeface="+mn-ea"/>
              </a:rPr>
              <a:t>Intensive control of systolic BP should be avoided to patients who have received EVT </a:t>
            </a:r>
            <a:endParaRPr lang="zh-CN" altLang="en-US" sz="1200" dirty="0">
              <a:latin typeface="+mn-ea"/>
            </a:endParaRPr>
          </a:p>
        </p:txBody>
      </p:sp>
      <p:sp>
        <p:nvSpPr>
          <p:cNvPr id="9" name="文本框 8">
            <a:extLst>
              <a:ext uri="{FF2B5EF4-FFF2-40B4-BE49-F238E27FC236}">
                <a16:creationId xmlns:a16="http://schemas.microsoft.com/office/drawing/2014/main" id="{A66A29A0-FA43-6EC3-4992-4127C9F37613}"/>
              </a:ext>
            </a:extLst>
          </p:cNvPr>
          <p:cNvSpPr txBox="1"/>
          <p:nvPr/>
        </p:nvSpPr>
        <p:spPr bwMode="gray">
          <a:xfrm>
            <a:off x="307601" y="868240"/>
            <a:ext cx="2801851" cy="646331"/>
          </a:xfrm>
          <a:prstGeom prst="rect">
            <a:avLst/>
          </a:prstGeom>
          <a:noFill/>
        </p:spPr>
        <p:txBody>
          <a:bodyPr wrap="square">
            <a:spAutoFit/>
          </a:bodyPr>
          <a:lstStyle/>
          <a:p>
            <a:r>
              <a:rPr lang="en-US" altLang="zh-CN" sz="1200" b="1" dirty="0">
                <a:latin typeface="+mn-ea"/>
              </a:rPr>
              <a:t>INTERACT4: </a:t>
            </a:r>
            <a:r>
              <a:rPr lang="en-US" altLang="zh-CN" sz="1200" dirty="0">
                <a:latin typeface="+mn-ea"/>
              </a:rPr>
              <a:t>Rapid intensive BP reduction was associated with poor functional outcome</a:t>
            </a:r>
            <a:endParaRPr lang="zh-CN" altLang="en-US" sz="1200" dirty="0">
              <a:latin typeface="+mn-ea"/>
            </a:endParaRPr>
          </a:p>
        </p:txBody>
      </p:sp>
      <p:sp>
        <p:nvSpPr>
          <p:cNvPr id="11" name="文本框 10">
            <a:extLst>
              <a:ext uri="{FF2B5EF4-FFF2-40B4-BE49-F238E27FC236}">
                <a16:creationId xmlns:a16="http://schemas.microsoft.com/office/drawing/2014/main" id="{1F6F0BB4-28D6-12AE-7F3E-F89648DAA9E2}"/>
              </a:ext>
            </a:extLst>
          </p:cNvPr>
          <p:cNvSpPr txBox="1"/>
          <p:nvPr/>
        </p:nvSpPr>
        <p:spPr>
          <a:xfrm>
            <a:off x="3121867" y="855545"/>
            <a:ext cx="2715671" cy="507345"/>
          </a:xfrm>
          <a:prstGeom prst="rect">
            <a:avLst/>
          </a:prstGeom>
          <a:noFill/>
        </p:spPr>
        <p:txBody>
          <a:bodyPr wrap="square" rtlCol="0">
            <a:noAutofit/>
          </a:bodyPr>
          <a:lstStyle/>
          <a:p>
            <a:r>
              <a:rPr lang="en-US" altLang="zh-CN" sz="1200" b="1" dirty="0">
                <a:solidFill>
                  <a:prstClr val="black"/>
                </a:solidFill>
                <a:latin typeface="+mn-ea"/>
              </a:rPr>
              <a:t>ENCHANTED: </a:t>
            </a:r>
            <a:r>
              <a:rPr lang="en-US" altLang="zh-CN" sz="1200" dirty="0">
                <a:solidFill>
                  <a:prstClr val="black"/>
                </a:solidFill>
                <a:latin typeface="+mn-ea"/>
              </a:rPr>
              <a:t>intensive BP lowing after IVT was not associated with a significant difference in functional recovery</a:t>
            </a:r>
            <a:endParaRPr lang="zh-CN" altLang="en-US" sz="1200" dirty="0">
              <a:solidFill>
                <a:prstClr val="black"/>
              </a:solidFill>
              <a:latin typeface="+mn-ea"/>
            </a:endParaRPr>
          </a:p>
        </p:txBody>
      </p:sp>
      <p:pic>
        <p:nvPicPr>
          <p:cNvPr id="12" name="图片 11">
            <a:extLst>
              <a:ext uri="{FF2B5EF4-FFF2-40B4-BE49-F238E27FC236}">
                <a16:creationId xmlns:a16="http://schemas.microsoft.com/office/drawing/2014/main" id="{FE2093D1-69CC-9764-6C7F-B689868F87A8}"/>
              </a:ext>
            </a:extLst>
          </p:cNvPr>
          <p:cNvPicPr>
            <a:picLocks noChangeAspect="1"/>
          </p:cNvPicPr>
          <p:nvPr/>
        </p:nvPicPr>
        <p:blipFill>
          <a:blip r:embed="rId3"/>
          <a:stretch>
            <a:fillRect/>
          </a:stretch>
        </p:blipFill>
        <p:spPr>
          <a:xfrm>
            <a:off x="3254866" y="1786571"/>
            <a:ext cx="2539406" cy="918110"/>
          </a:xfrm>
          <a:prstGeom prst="rect">
            <a:avLst/>
          </a:prstGeom>
        </p:spPr>
      </p:pic>
      <p:sp>
        <p:nvSpPr>
          <p:cNvPr id="23" name="文本框 22">
            <a:extLst>
              <a:ext uri="{FF2B5EF4-FFF2-40B4-BE49-F238E27FC236}">
                <a16:creationId xmlns:a16="http://schemas.microsoft.com/office/drawing/2014/main" id="{47D6F8ED-808F-2561-2199-3A17E7C2BDC3}"/>
              </a:ext>
            </a:extLst>
          </p:cNvPr>
          <p:cNvSpPr txBox="1"/>
          <p:nvPr/>
        </p:nvSpPr>
        <p:spPr bwMode="gray">
          <a:xfrm>
            <a:off x="3196328" y="2808801"/>
            <a:ext cx="2481214" cy="215444"/>
          </a:xfrm>
          <a:prstGeom prst="rect">
            <a:avLst/>
          </a:prstGeom>
          <a:noFill/>
        </p:spPr>
        <p:txBody>
          <a:bodyPr wrap="square">
            <a:spAutoFit/>
          </a:bodyPr>
          <a:lstStyle/>
          <a:p>
            <a:r>
              <a:rPr lang="en-US" altLang="zh-CN" sz="800" dirty="0">
                <a:latin typeface="+mn-ea"/>
              </a:rPr>
              <a:t>OR:1·01, 95% CI 0·87–1·17, p=0·8702</a:t>
            </a:r>
            <a:endParaRPr lang="zh-CN" altLang="en-US" sz="800" dirty="0">
              <a:latin typeface="+mn-ea"/>
            </a:endParaRPr>
          </a:p>
        </p:txBody>
      </p:sp>
      <p:pic>
        <p:nvPicPr>
          <p:cNvPr id="28" name="图片 27">
            <a:extLst>
              <a:ext uri="{FF2B5EF4-FFF2-40B4-BE49-F238E27FC236}">
                <a16:creationId xmlns:a16="http://schemas.microsoft.com/office/drawing/2014/main" id="{5A15E4F1-C955-FA48-F2EE-999C218FB8BF}"/>
              </a:ext>
            </a:extLst>
          </p:cNvPr>
          <p:cNvPicPr>
            <a:picLocks noChangeAspect="1"/>
          </p:cNvPicPr>
          <p:nvPr/>
        </p:nvPicPr>
        <p:blipFill>
          <a:blip r:embed="rId4"/>
          <a:stretch>
            <a:fillRect/>
          </a:stretch>
        </p:blipFill>
        <p:spPr>
          <a:xfrm>
            <a:off x="6002379" y="1733486"/>
            <a:ext cx="2745947" cy="1053367"/>
          </a:xfrm>
          <a:prstGeom prst="rect">
            <a:avLst/>
          </a:prstGeom>
        </p:spPr>
      </p:pic>
      <p:sp>
        <p:nvSpPr>
          <p:cNvPr id="30" name="文本框 29">
            <a:extLst>
              <a:ext uri="{FF2B5EF4-FFF2-40B4-BE49-F238E27FC236}">
                <a16:creationId xmlns:a16="http://schemas.microsoft.com/office/drawing/2014/main" id="{CF0F5377-5E5F-A148-E1E5-42FD96B5CED0}"/>
              </a:ext>
            </a:extLst>
          </p:cNvPr>
          <p:cNvSpPr txBox="1"/>
          <p:nvPr/>
        </p:nvSpPr>
        <p:spPr bwMode="gray">
          <a:xfrm>
            <a:off x="6025250" y="2809777"/>
            <a:ext cx="2441188" cy="215444"/>
          </a:xfrm>
          <a:prstGeom prst="rect">
            <a:avLst/>
          </a:prstGeom>
          <a:noFill/>
        </p:spPr>
        <p:txBody>
          <a:bodyPr wrap="square">
            <a:spAutoFit/>
          </a:bodyPr>
          <a:lstStyle/>
          <a:p>
            <a:r>
              <a:rPr lang="en-US" altLang="zh-CN" sz="800" dirty="0">
                <a:latin typeface="+mn-ea"/>
              </a:rPr>
              <a:t>OR: 1·37; 95%CI 1·07–1·76 </a:t>
            </a:r>
            <a:endParaRPr lang="zh-CN" altLang="en-US" sz="800" dirty="0">
              <a:latin typeface="+mn-ea"/>
            </a:endParaRPr>
          </a:p>
        </p:txBody>
      </p:sp>
      <p:sp>
        <p:nvSpPr>
          <p:cNvPr id="4" name="文本框 3">
            <a:extLst>
              <a:ext uri="{FF2B5EF4-FFF2-40B4-BE49-F238E27FC236}">
                <a16:creationId xmlns:a16="http://schemas.microsoft.com/office/drawing/2014/main" id="{504593AA-3374-5988-3E32-540C7AAA2129}"/>
              </a:ext>
            </a:extLst>
          </p:cNvPr>
          <p:cNvSpPr txBox="1"/>
          <p:nvPr/>
        </p:nvSpPr>
        <p:spPr bwMode="gray">
          <a:xfrm>
            <a:off x="1933184" y="4636096"/>
            <a:ext cx="2735331" cy="461665"/>
          </a:xfrm>
          <a:prstGeom prst="rect">
            <a:avLst/>
          </a:prstGeom>
          <a:noFill/>
        </p:spPr>
        <p:txBody>
          <a:bodyPr wrap="square" numCol="1">
            <a:spAutoFit/>
          </a:bodyPr>
          <a:lstStyle/>
          <a:p>
            <a:pPr marL="228600" indent="-228600">
              <a:buAutoNum type="arabicPeriod"/>
            </a:pPr>
            <a:r>
              <a:rPr lang="en-US" altLang="zh-CN" sz="800" dirty="0">
                <a:latin typeface="+mn-ea"/>
              </a:rPr>
              <a:t>N Engl J Med. 2024 May 30;390(20):1862-1872.</a:t>
            </a:r>
          </a:p>
          <a:p>
            <a:pPr marL="228600" indent="-228600">
              <a:buAutoNum type="arabicPeriod"/>
            </a:pPr>
            <a:r>
              <a:rPr lang="en-US" altLang="zh-CN" sz="800" dirty="0">
                <a:latin typeface="+mn-ea"/>
              </a:rPr>
              <a:t>Lancet 2019; 393: 877–88. </a:t>
            </a:r>
          </a:p>
          <a:p>
            <a:pPr marL="228600" indent="-228600">
              <a:buAutoNum type="arabicPeriod"/>
            </a:pPr>
            <a:r>
              <a:rPr lang="en-US" altLang="zh-CN" sz="800" dirty="0">
                <a:latin typeface="+mn-ea"/>
              </a:rPr>
              <a:t>Lancet. 2022 Nov 5;400(10363):1585-1596.</a:t>
            </a:r>
            <a:endParaRPr lang="zh-CN" altLang="en-US" sz="800" dirty="0">
              <a:latin typeface="+mn-ea"/>
            </a:endParaRPr>
          </a:p>
        </p:txBody>
      </p:sp>
      <p:sp>
        <p:nvSpPr>
          <p:cNvPr id="6" name="文本框 5">
            <a:extLst>
              <a:ext uri="{FF2B5EF4-FFF2-40B4-BE49-F238E27FC236}">
                <a16:creationId xmlns:a16="http://schemas.microsoft.com/office/drawing/2014/main" id="{3FCFFFD9-3BEF-27DB-81D7-28960F439DF4}"/>
              </a:ext>
            </a:extLst>
          </p:cNvPr>
          <p:cNvSpPr txBox="1"/>
          <p:nvPr/>
        </p:nvSpPr>
        <p:spPr bwMode="gray">
          <a:xfrm>
            <a:off x="412232" y="3456962"/>
            <a:ext cx="2735331" cy="468333"/>
          </a:xfrm>
          <a:prstGeom prst="rect">
            <a:avLst/>
          </a:prstGeom>
          <a:noFill/>
        </p:spPr>
        <p:txBody>
          <a:bodyPr wrap="square">
            <a:spAutoFit/>
          </a:bodyPr>
          <a:lstStyle/>
          <a:p>
            <a:pPr>
              <a:lnSpc>
                <a:spcPts val="1000"/>
              </a:lnSpc>
            </a:pPr>
            <a:r>
              <a:rPr lang="en-US" altLang="zh-CN" sz="800" dirty="0">
                <a:latin typeface="+mn-ea"/>
              </a:rPr>
              <a:t>An open-label, randomized trial, aim to evaluate whether very early BP control in the ambulance improves outcomes among patients with acute stroke</a:t>
            </a:r>
            <a:endParaRPr lang="zh-CN" altLang="en-US" sz="800" dirty="0">
              <a:latin typeface="+mn-ea"/>
            </a:endParaRPr>
          </a:p>
        </p:txBody>
      </p:sp>
      <p:sp>
        <p:nvSpPr>
          <p:cNvPr id="14" name="文本框 13">
            <a:extLst>
              <a:ext uri="{FF2B5EF4-FFF2-40B4-BE49-F238E27FC236}">
                <a16:creationId xmlns:a16="http://schemas.microsoft.com/office/drawing/2014/main" id="{2F27092E-3D4D-B67F-2C5D-936ABD08FA96}"/>
              </a:ext>
            </a:extLst>
          </p:cNvPr>
          <p:cNvSpPr txBox="1"/>
          <p:nvPr/>
        </p:nvSpPr>
        <p:spPr bwMode="gray">
          <a:xfrm>
            <a:off x="3214553" y="3469690"/>
            <a:ext cx="2691320" cy="584775"/>
          </a:xfrm>
          <a:prstGeom prst="rect">
            <a:avLst/>
          </a:prstGeom>
          <a:noFill/>
        </p:spPr>
        <p:txBody>
          <a:bodyPr wrap="square">
            <a:spAutoFit/>
          </a:bodyPr>
          <a:lstStyle/>
          <a:p>
            <a:r>
              <a:rPr lang="en-US" altLang="zh-CN" sz="800" dirty="0">
                <a:latin typeface="+mn-ea"/>
              </a:rPr>
              <a:t>An international, </a:t>
            </a:r>
            <a:r>
              <a:rPr lang="en-US" altLang="zh-CN" sz="800" dirty="0" err="1">
                <a:latin typeface="+mn-ea"/>
              </a:rPr>
              <a:t>randomised</a:t>
            </a:r>
            <a:r>
              <a:rPr lang="en-US" altLang="zh-CN" sz="800" dirty="0">
                <a:latin typeface="+mn-ea"/>
              </a:rPr>
              <a:t>, open-label, blinded-endpoint, phase 3 trial. Intensive BP lowering compared with guideline-recommended BP lowering in patients (n=2227) treated with alteplase for AIS.</a:t>
            </a:r>
            <a:endParaRPr lang="zh-CN" altLang="en-US" sz="800" dirty="0">
              <a:latin typeface="+mn-ea"/>
            </a:endParaRPr>
          </a:p>
        </p:txBody>
      </p:sp>
      <p:sp>
        <p:nvSpPr>
          <p:cNvPr id="15" name="文本框 14">
            <a:extLst>
              <a:ext uri="{FF2B5EF4-FFF2-40B4-BE49-F238E27FC236}">
                <a16:creationId xmlns:a16="http://schemas.microsoft.com/office/drawing/2014/main" id="{8D9FE4A5-2916-6372-19B4-C7982C18A44D}"/>
              </a:ext>
            </a:extLst>
          </p:cNvPr>
          <p:cNvSpPr txBox="1"/>
          <p:nvPr/>
        </p:nvSpPr>
        <p:spPr bwMode="gray">
          <a:xfrm>
            <a:off x="5844345" y="4205013"/>
            <a:ext cx="2989670" cy="584775"/>
          </a:xfrm>
          <a:prstGeom prst="rect">
            <a:avLst/>
          </a:prstGeom>
          <a:noFill/>
        </p:spPr>
        <p:txBody>
          <a:bodyPr wrap="square">
            <a:spAutoFit/>
          </a:bodyPr>
          <a:lstStyle/>
          <a:p>
            <a:r>
              <a:rPr lang="en-US" altLang="zh-CN" sz="800" dirty="0">
                <a:latin typeface="+mn-ea"/>
              </a:rPr>
              <a:t>A </a:t>
            </a:r>
            <a:r>
              <a:rPr lang="en-US" altLang="zh-CN" sz="800" dirty="0" err="1">
                <a:latin typeface="+mn-ea"/>
              </a:rPr>
              <a:t>multicentre</a:t>
            </a:r>
            <a:r>
              <a:rPr lang="en-US" altLang="zh-CN" sz="800" dirty="0">
                <a:latin typeface="+mn-ea"/>
              </a:rPr>
              <a:t>, open-label, blinded-endpoint, </a:t>
            </a:r>
            <a:r>
              <a:rPr lang="en-US" altLang="zh-CN" sz="800" dirty="0" err="1">
                <a:latin typeface="+mn-ea"/>
              </a:rPr>
              <a:t>randomised</a:t>
            </a:r>
            <a:r>
              <a:rPr lang="en-US" altLang="zh-CN" sz="800" dirty="0">
                <a:latin typeface="+mn-ea"/>
              </a:rPr>
              <a:t> controlled trial. Aim to compare the safety and efficacy of intensive BP lowering treatment  versus less intensive treatment in patients after endovascular treatment. </a:t>
            </a:r>
            <a:endParaRPr lang="zh-CN" altLang="en-US" sz="800" dirty="0">
              <a:latin typeface="+mn-ea"/>
            </a:endParaRPr>
          </a:p>
        </p:txBody>
      </p:sp>
      <p:cxnSp>
        <p:nvCxnSpPr>
          <p:cNvPr id="8" name="直接连接符 7">
            <a:extLst>
              <a:ext uri="{FF2B5EF4-FFF2-40B4-BE49-F238E27FC236}">
                <a16:creationId xmlns:a16="http://schemas.microsoft.com/office/drawing/2014/main" id="{2DCE7876-93FC-5D43-8DC0-60CA74AE9B1B}"/>
              </a:ext>
            </a:extLst>
          </p:cNvPr>
          <p:cNvCxnSpPr>
            <a:cxnSpLocks/>
          </p:cNvCxnSpPr>
          <p:nvPr/>
        </p:nvCxnSpPr>
        <p:spPr bwMode="gray">
          <a:xfrm>
            <a:off x="3102647" y="795334"/>
            <a:ext cx="6805" cy="3879594"/>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A3566B9C-2347-8EB6-67E3-5BB29DA06322}"/>
              </a:ext>
            </a:extLst>
          </p:cNvPr>
          <p:cNvPicPr>
            <a:picLocks noChangeAspect="1"/>
          </p:cNvPicPr>
          <p:nvPr/>
        </p:nvPicPr>
        <p:blipFill>
          <a:blip r:embed="rId5"/>
          <a:stretch>
            <a:fillRect/>
          </a:stretch>
        </p:blipFill>
        <p:spPr>
          <a:xfrm>
            <a:off x="457615" y="1586372"/>
            <a:ext cx="2626132" cy="1214560"/>
          </a:xfrm>
          <a:prstGeom prst="rect">
            <a:avLst/>
          </a:prstGeom>
        </p:spPr>
      </p:pic>
      <p:sp>
        <p:nvSpPr>
          <p:cNvPr id="21" name="文本框 20">
            <a:extLst>
              <a:ext uri="{FF2B5EF4-FFF2-40B4-BE49-F238E27FC236}">
                <a16:creationId xmlns:a16="http://schemas.microsoft.com/office/drawing/2014/main" id="{75F1843B-99F6-D747-9578-B6F6B64CFDFC}"/>
              </a:ext>
            </a:extLst>
          </p:cNvPr>
          <p:cNvSpPr txBox="1"/>
          <p:nvPr/>
        </p:nvSpPr>
        <p:spPr bwMode="gray">
          <a:xfrm>
            <a:off x="597638" y="2807549"/>
            <a:ext cx="1901323" cy="215444"/>
          </a:xfrm>
          <a:prstGeom prst="rect">
            <a:avLst/>
          </a:prstGeom>
          <a:noFill/>
        </p:spPr>
        <p:txBody>
          <a:bodyPr wrap="square">
            <a:spAutoFit/>
          </a:bodyPr>
          <a:lstStyle/>
          <a:p>
            <a:r>
              <a:rPr lang="en-US" altLang="zh-CN" sz="800" dirty="0">
                <a:latin typeface="+mn-ea"/>
              </a:rPr>
              <a:t>OR:1</a:t>
            </a:r>
            <a:r>
              <a:rPr lang="pl-PL" altLang="zh-CN" sz="800" dirty="0">
                <a:latin typeface="+mn-ea"/>
              </a:rPr>
              <a:t>.30; 95% CI</a:t>
            </a:r>
            <a:r>
              <a:rPr lang="en-US" altLang="zh-CN" sz="800" dirty="0">
                <a:latin typeface="+mn-ea"/>
              </a:rPr>
              <a:t>:</a:t>
            </a:r>
            <a:r>
              <a:rPr lang="zh-CN" altLang="en-US" sz="800" dirty="0">
                <a:latin typeface="+mn-ea"/>
              </a:rPr>
              <a:t> </a:t>
            </a:r>
            <a:r>
              <a:rPr lang="pl-PL" altLang="zh-CN" sz="800" dirty="0">
                <a:latin typeface="+mn-ea"/>
              </a:rPr>
              <a:t>1.06</a:t>
            </a:r>
            <a:r>
              <a:rPr lang="en-US" altLang="zh-CN" sz="800" dirty="0">
                <a:latin typeface="+mn-ea"/>
              </a:rPr>
              <a:t>-</a:t>
            </a:r>
            <a:r>
              <a:rPr lang="pl-PL" altLang="zh-CN" sz="800" dirty="0">
                <a:latin typeface="+mn-ea"/>
              </a:rPr>
              <a:t>1.60</a:t>
            </a:r>
            <a:endParaRPr lang="zh-CN" altLang="en-US" sz="800" dirty="0">
              <a:latin typeface="+mn-ea"/>
            </a:endParaRPr>
          </a:p>
        </p:txBody>
      </p:sp>
      <p:grpSp>
        <p:nvGrpSpPr>
          <p:cNvPr id="36" name="组合 35">
            <a:extLst>
              <a:ext uri="{FF2B5EF4-FFF2-40B4-BE49-F238E27FC236}">
                <a16:creationId xmlns:a16="http://schemas.microsoft.com/office/drawing/2014/main" id="{92E86DA4-C064-C64C-E611-C53D248E97A5}"/>
              </a:ext>
            </a:extLst>
          </p:cNvPr>
          <p:cNvGrpSpPr/>
          <p:nvPr/>
        </p:nvGrpSpPr>
        <p:grpSpPr>
          <a:xfrm>
            <a:off x="5851055" y="3077502"/>
            <a:ext cx="3006322" cy="906882"/>
            <a:chOff x="579096" y="1852982"/>
            <a:chExt cx="7977734" cy="1442494"/>
          </a:xfrm>
        </p:grpSpPr>
        <p:pic>
          <p:nvPicPr>
            <p:cNvPr id="31" name="图片 30">
              <a:extLst>
                <a:ext uri="{FF2B5EF4-FFF2-40B4-BE49-F238E27FC236}">
                  <a16:creationId xmlns:a16="http://schemas.microsoft.com/office/drawing/2014/main" id="{72829233-FBAC-1FBE-D8EE-00CBA4FA5BBF}"/>
                </a:ext>
              </a:extLst>
            </p:cNvPr>
            <p:cNvPicPr>
              <a:picLocks noChangeAspect="1"/>
            </p:cNvPicPr>
            <p:nvPr/>
          </p:nvPicPr>
          <p:blipFill>
            <a:blip r:embed="rId6"/>
            <a:stretch>
              <a:fillRect/>
            </a:stretch>
          </p:blipFill>
          <p:spPr>
            <a:xfrm>
              <a:off x="587170" y="2282810"/>
              <a:ext cx="7969660" cy="577880"/>
            </a:xfrm>
            <a:prstGeom prst="rect">
              <a:avLst/>
            </a:prstGeom>
          </p:spPr>
        </p:pic>
        <p:pic>
          <p:nvPicPr>
            <p:cNvPr id="33" name="图片 32">
              <a:extLst>
                <a:ext uri="{FF2B5EF4-FFF2-40B4-BE49-F238E27FC236}">
                  <a16:creationId xmlns:a16="http://schemas.microsoft.com/office/drawing/2014/main" id="{246BA8AF-44F6-43A1-A2A3-A37DD5929598}"/>
                </a:ext>
              </a:extLst>
            </p:cNvPr>
            <p:cNvPicPr>
              <a:picLocks noChangeAspect="1"/>
            </p:cNvPicPr>
            <p:nvPr/>
          </p:nvPicPr>
          <p:blipFill>
            <a:blip r:embed="rId7"/>
            <a:stretch>
              <a:fillRect/>
            </a:stretch>
          </p:blipFill>
          <p:spPr>
            <a:xfrm>
              <a:off x="587170" y="2870004"/>
              <a:ext cx="7969660" cy="425472"/>
            </a:xfrm>
            <a:prstGeom prst="rect">
              <a:avLst/>
            </a:prstGeom>
          </p:spPr>
        </p:pic>
        <p:pic>
          <p:nvPicPr>
            <p:cNvPr id="35" name="图片 34">
              <a:extLst>
                <a:ext uri="{FF2B5EF4-FFF2-40B4-BE49-F238E27FC236}">
                  <a16:creationId xmlns:a16="http://schemas.microsoft.com/office/drawing/2014/main" id="{43C43A37-B5AF-07CC-DA06-C041111DCA1B}"/>
                </a:ext>
              </a:extLst>
            </p:cNvPr>
            <p:cNvPicPr>
              <a:picLocks noChangeAspect="1"/>
            </p:cNvPicPr>
            <p:nvPr/>
          </p:nvPicPr>
          <p:blipFill>
            <a:blip r:embed="rId8"/>
            <a:stretch>
              <a:fillRect/>
            </a:stretch>
          </p:blipFill>
          <p:spPr>
            <a:xfrm>
              <a:off x="579096" y="1852982"/>
              <a:ext cx="7977734" cy="457223"/>
            </a:xfrm>
            <a:prstGeom prst="rect">
              <a:avLst/>
            </a:prstGeom>
          </p:spPr>
        </p:pic>
      </p:grpSp>
      <p:sp>
        <p:nvSpPr>
          <p:cNvPr id="40" name="矩形: 圆角 39">
            <a:extLst>
              <a:ext uri="{FF2B5EF4-FFF2-40B4-BE49-F238E27FC236}">
                <a16:creationId xmlns:a16="http://schemas.microsoft.com/office/drawing/2014/main" id="{811A5FA7-EE85-3570-DAA2-38C1576604D7}"/>
              </a:ext>
            </a:extLst>
          </p:cNvPr>
          <p:cNvSpPr/>
          <p:nvPr/>
        </p:nvSpPr>
        <p:spPr bwMode="gray">
          <a:xfrm>
            <a:off x="412231" y="1733486"/>
            <a:ext cx="2628649" cy="362715"/>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sp>
        <p:nvSpPr>
          <p:cNvPr id="41" name="矩形: 圆角 40">
            <a:extLst>
              <a:ext uri="{FF2B5EF4-FFF2-40B4-BE49-F238E27FC236}">
                <a16:creationId xmlns:a16="http://schemas.microsoft.com/office/drawing/2014/main" id="{1F60A72E-8E9E-5A3C-C16C-8D53675647D3}"/>
              </a:ext>
            </a:extLst>
          </p:cNvPr>
          <p:cNvSpPr/>
          <p:nvPr/>
        </p:nvSpPr>
        <p:spPr bwMode="gray">
          <a:xfrm>
            <a:off x="3191100" y="1701888"/>
            <a:ext cx="2628649" cy="531768"/>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sp>
        <p:nvSpPr>
          <p:cNvPr id="42" name="矩形: 圆角 41">
            <a:extLst>
              <a:ext uri="{FF2B5EF4-FFF2-40B4-BE49-F238E27FC236}">
                <a16:creationId xmlns:a16="http://schemas.microsoft.com/office/drawing/2014/main" id="{6C19828D-5901-6B71-C4B5-F8A173C751EB}"/>
              </a:ext>
            </a:extLst>
          </p:cNvPr>
          <p:cNvSpPr/>
          <p:nvPr/>
        </p:nvSpPr>
        <p:spPr bwMode="gray">
          <a:xfrm>
            <a:off x="5916250" y="1679193"/>
            <a:ext cx="2851533" cy="531768"/>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sp>
        <p:nvSpPr>
          <p:cNvPr id="43" name="矩形: 圆角 42">
            <a:extLst>
              <a:ext uri="{FF2B5EF4-FFF2-40B4-BE49-F238E27FC236}">
                <a16:creationId xmlns:a16="http://schemas.microsoft.com/office/drawing/2014/main" id="{5A4F54F2-F63F-E046-8DD9-69FF19600D6B}"/>
              </a:ext>
            </a:extLst>
          </p:cNvPr>
          <p:cNvSpPr/>
          <p:nvPr/>
        </p:nvSpPr>
        <p:spPr bwMode="gray">
          <a:xfrm>
            <a:off x="8476153" y="2991820"/>
            <a:ext cx="367614" cy="1174283"/>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spTree>
    <p:extLst>
      <p:ext uri="{BB962C8B-B14F-4D97-AF65-F5344CB8AC3E}">
        <p14:creationId xmlns:p14="http://schemas.microsoft.com/office/powerpoint/2010/main" val="2343414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5D2F06-862B-31AB-8D7F-0D0973BEBD0F}"/>
              </a:ext>
            </a:extLst>
          </p:cNvPr>
          <p:cNvSpPr>
            <a:spLocks noGrp="1"/>
          </p:cNvSpPr>
          <p:nvPr>
            <p:ph type="title"/>
          </p:nvPr>
        </p:nvSpPr>
        <p:spPr/>
        <p:txBody>
          <a:bodyPr/>
          <a:lstStyle/>
          <a:p>
            <a:r>
              <a:rPr lang="en-US" altLang="zh-CN" sz="2000" dirty="0">
                <a:solidFill>
                  <a:schemeClr val="tx1"/>
                </a:solidFill>
                <a:latin typeface="+mn-ea"/>
                <a:ea typeface="+mn-ea"/>
              </a:rPr>
              <a:t>Study Hypothesis</a:t>
            </a:r>
            <a:endParaRPr lang="en-US" altLang="zh-CN" sz="2000" dirty="0">
              <a:solidFill>
                <a:schemeClr val="tx1"/>
              </a:solidFill>
              <a:latin typeface="+mn-ea"/>
              <a:ea typeface="+mn-ea"/>
              <a:cs typeface="Calibri" panose="020F0502020204030204" charset="0"/>
            </a:endParaRPr>
          </a:p>
        </p:txBody>
      </p:sp>
      <p:sp>
        <p:nvSpPr>
          <p:cNvPr id="3" name="文本框 2">
            <a:extLst>
              <a:ext uri="{FF2B5EF4-FFF2-40B4-BE49-F238E27FC236}">
                <a16:creationId xmlns:a16="http://schemas.microsoft.com/office/drawing/2014/main" id="{4C512244-8C08-EB0D-5742-85D0597977B4}"/>
              </a:ext>
            </a:extLst>
          </p:cNvPr>
          <p:cNvSpPr txBox="1"/>
          <p:nvPr/>
        </p:nvSpPr>
        <p:spPr>
          <a:xfrm>
            <a:off x="371475" y="746365"/>
            <a:ext cx="8401050" cy="2371611"/>
          </a:xfrm>
          <a:prstGeom prst="rect">
            <a:avLst/>
          </a:prstGeom>
        </p:spPr>
        <p:txBody>
          <a:bodyPr wrap="square">
            <a:spAutoFit/>
          </a:bodyPr>
          <a:lstStyle/>
          <a:p>
            <a:pPr defTabSz="685800">
              <a:lnSpc>
                <a:spcPts val="2000"/>
              </a:lnSpc>
            </a:pPr>
            <a:r>
              <a:rPr lang="en-US" altLang="zh-CN" sz="1200" b="1" dirty="0">
                <a:solidFill>
                  <a:prstClr val="black"/>
                </a:solidFill>
                <a:latin typeface="+mn-ea"/>
              </a:rPr>
              <a:t>Implications of Recent BP Management Evidence</a:t>
            </a:r>
          </a:p>
          <a:p>
            <a:pPr marL="171450" indent="-171450" defTabSz="685800">
              <a:lnSpc>
                <a:spcPts val="2000"/>
              </a:lnSpc>
              <a:buFont typeface="Arial" panose="020B0604020202020204" pitchFamily="34" charset="0"/>
              <a:buChar char="•"/>
            </a:pPr>
            <a:r>
              <a:rPr lang="en-US" altLang="zh-CN" sz="1200" dirty="0">
                <a:solidFill>
                  <a:prstClr val="black"/>
                </a:solidFill>
                <a:latin typeface="+mn-ea"/>
              </a:rPr>
              <a:t>Although recent studies focused on patients with systolic BP below 180–185 mmHg, it remains uncertain whether the same trends apply to those with severely elevated BP.</a:t>
            </a:r>
          </a:p>
          <a:p>
            <a:pPr marL="171450" indent="-171450" defTabSz="685800">
              <a:lnSpc>
                <a:spcPts val="2000"/>
              </a:lnSpc>
              <a:buFont typeface="Arial" panose="020B0604020202020204" pitchFamily="34" charset="0"/>
              <a:buChar char="•"/>
            </a:pPr>
            <a:r>
              <a:rPr lang="en-US" altLang="zh-CN" sz="1200" dirty="0">
                <a:solidFill>
                  <a:prstClr val="black"/>
                </a:solidFill>
                <a:latin typeface="+mn-ea"/>
              </a:rPr>
              <a:t>Nevertheless, these findings consistently suggest that </a:t>
            </a:r>
            <a:r>
              <a:rPr lang="en-US" altLang="zh-CN" sz="1200" b="1" dirty="0">
                <a:solidFill>
                  <a:prstClr val="black"/>
                </a:solidFill>
                <a:latin typeface="+mn-ea"/>
              </a:rPr>
              <a:t>large and rapid blood pressure fluctuations should be avoided</a:t>
            </a:r>
            <a:r>
              <a:rPr lang="en-US" altLang="zh-CN" sz="1200" dirty="0">
                <a:solidFill>
                  <a:prstClr val="black"/>
                </a:solidFill>
                <a:latin typeface="+mn-ea"/>
              </a:rPr>
              <a:t>, as they may compromise cerebral perfusion and worsen outcomes.</a:t>
            </a:r>
          </a:p>
          <a:p>
            <a:pPr defTabSz="685800">
              <a:lnSpc>
                <a:spcPts val="2000"/>
              </a:lnSpc>
            </a:pPr>
            <a:r>
              <a:rPr lang="en-US" altLang="zh-CN" sz="1200" b="1" dirty="0">
                <a:solidFill>
                  <a:prstClr val="black"/>
                </a:solidFill>
                <a:latin typeface="+mn-ea"/>
                <a:sym typeface="+mn-ea"/>
              </a:rPr>
              <a:t>Potential Risks of the ‘Lower BP before IVT’ Approach</a:t>
            </a:r>
            <a:endParaRPr lang="en-US" altLang="zh-CN" sz="1200" b="1" dirty="0">
              <a:solidFill>
                <a:prstClr val="black"/>
              </a:solidFill>
              <a:latin typeface="+mn-ea"/>
            </a:endParaRPr>
          </a:p>
          <a:p>
            <a:pPr marL="171450" indent="-171450" defTabSz="685800">
              <a:lnSpc>
                <a:spcPts val="2000"/>
              </a:lnSpc>
              <a:buFont typeface="Arial" panose="020B0604020202020204" pitchFamily="34" charset="0"/>
              <a:buChar char="•"/>
            </a:pPr>
            <a:r>
              <a:rPr lang="en-US" altLang="zh-CN" sz="1200" dirty="0">
                <a:solidFill>
                  <a:prstClr val="black"/>
                </a:solidFill>
                <a:latin typeface="+mn-ea"/>
                <a:sym typeface="+mn-ea"/>
              </a:rPr>
              <a:t>Clinicians may feel pressured to lower BP quickly to meet guideline thresholds, leading to: </a:t>
            </a:r>
            <a:endParaRPr lang="en-US" altLang="zh-CN" sz="1200" dirty="0">
              <a:solidFill>
                <a:prstClr val="black"/>
              </a:solidFill>
              <a:latin typeface="+mn-ea"/>
            </a:endParaRPr>
          </a:p>
          <a:p>
            <a:pPr marL="514350" lvl="1" indent="-171450" defTabSz="685800">
              <a:lnSpc>
                <a:spcPts val="2000"/>
              </a:lnSpc>
              <a:buFont typeface="Arial" panose="020B0604020202020204" pitchFamily="34" charset="0"/>
              <a:buChar char="◦"/>
            </a:pPr>
            <a:r>
              <a:rPr lang="en-US" altLang="zh-CN" sz="1200" dirty="0">
                <a:solidFill>
                  <a:prstClr val="black"/>
                </a:solidFill>
                <a:latin typeface="+mn-ea"/>
                <a:sym typeface="+mn-ea"/>
              </a:rPr>
              <a:t>Excessive or abrupt BP reduction → significant hemodynamic swings</a:t>
            </a:r>
            <a:endParaRPr lang="en-US" altLang="zh-CN" sz="1200" dirty="0">
              <a:solidFill>
                <a:prstClr val="black"/>
              </a:solidFill>
              <a:latin typeface="+mn-ea"/>
            </a:endParaRPr>
          </a:p>
          <a:p>
            <a:pPr marL="514350" lvl="1" indent="-171450" defTabSz="685800">
              <a:lnSpc>
                <a:spcPts val="2000"/>
              </a:lnSpc>
              <a:buFont typeface="Arial" panose="020B0604020202020204" pitchFamily="34" charset="0"/>
              <a:buChar char="◦"/>
            </a:pPr>
            <a:r>
              <a:rPr lang="en-US" altLang="zh-CN" sz="1200" dirty="0">
                <a:solidFill>
                  <a:srgbClr val="000000"/>
                </a:solidFill>
                <a:latin typeface="+mn-ea"/>
                <a:cs typeface="Calibri" panose="020F0502020204030204" charset="0"/>
              </a:rPr>
              <a:t>Risk of missing the thrombolysis window due to waiting</a:t>
            </a:r>
          </a:p>
        </p:txBody>
      </p:sp>
      <p:sp>
        <p:nvSpPr>
          <p:cNvPr id="8" name="矩形: 圆角 7">
            <a:extLst>
              <a:ext uri="{FF2B5EF4-FFF2-40B4-BE49-F238E27FC236}">
                <a16:creationId xmlns:a16="http://schemas.microsoft.com/office/drawing/2014/main" id="{A31160E9-9CD2-47CF-79A6-789F43E5E3AA}"/>
              </a:ext>
            </a:extLst>
          </p:cNvPr>
          <p:cNvSpPr/>
          <p:nvPr/>
        </p:nvSpPr>
        <p:spPr>
          <a:xfrm>
            <a:off x="497541" y="3207319"/>
            <a:ext cx="8175812" cy="1265146"/>
          </a:xfrm>
          <a:prstGeom prst="roundRect">
            <a:avLst>
              <a:gd name="adj" fmla="val 9996"/>
            </a:avLst>
          </a:prstGeom>
          <a:solidFill>
            <a:schemeClr val="bg2">
              <a:lumMod val="90000"/>
              <a:lumOff val="1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ltLang="zh-CN" sz="1600" b="1" dirty="0">
                <a:solidFill>
                  <a:srgbClr val="FFFF00"/>
                </a:solidFill>
                <a:latin typeface="+mn-ea"/>
                <a:cs typeface="Times New Roman" panose="02020603050405020304" pitchFamily="18" charset="0"/>
              </a:rPr>
              <a:t>A novel concurrent strategy offers a potential solution</a:t>
            </a:r>
            <a:endParaRPr lang="en-US" altLang="zh-CN" sz="1600" b="1" dirty="0">
              <a:solidFill>
                <a:srgbClr val="FFFF00"/>
              </a:solidFill>
              <a:latin typeface="+mn-ea"/>
              <a:cs typeface="Times New Roman" panose="02020603050405020304" pitchFamily="18" charset="0"/>
            </a:endParaRPr>
          </a:p>
          <a:p>
            <a:pPr marL="263525" lvl="1"/>
            <a:r>
              <a:rPr lang="en-CA" altLang="zh-CN" sz="1400" dirty="0">
                <a:solidFill>
                  <a:schemeClr val="bg1"/>
                </a:solidFill>
                <a:latin typeface="+mn-ea"/>
                <a:cs typeface="Times New Roman" panose="02020603050405020304" pitchFamily="18" charset="0"/>
              </a:rPr>
              <a:t>Concurrent strategy, wherein thrombolysis is initiated immediately upon eligibility (in patients with SBP ≤220 mmHg) while antihypertensive therapy is started simultaneously, could dramatically shorten DNT times </a:t>
            </a:r>
            <a:r>
              <a:rPr lang="en-US" altLang="zh-CN" sz="1400" dirty="0">
                <a:solidFill>
                  <a:schemeClr val="bg1"/>
                </a:solidFill>
                <a:latin typeface="+mn-ea"/>
                <a:cs typeface="Times New Roman" panose="02020603050405020304" pitchFamily="18" charset="0"/>
              </a:rPr>
              <a:t>that is strongly correlated with improved functional outcomes and reduced disability.</a:t>
            </a:r>
            <a:endParaRPr lang="en-CA" altLang="zh-CN" sz="1400" dirty="0">
              <a:solidFill>
                <a:schemeClr val="bg1"/>
              </a:solidFill>
              <a:latin typeface="+mn-ea"/>
              <a:cs typeface="Times New Roman" panose="02020603050405020304" pitchFamily="18" charset="0"/>
            </a:endParaRPr>
          </a:p>
        </p:txBody>
      </p:sp>
    </p:spTree>
    <p:extLst>
      <p:ext uri="{BB962C8B-B14F-4D97-AF65-F5344CB8AC3E}">
        <p14:creationId xmlns:p14="http://schemas.microsoft.com/office/powerpoint/2010/main" val="138383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6191F528-3ED4-06FB-3FD1-76CDDF073140}"/>
              </a:ext>
            </a:extLst>
          </p:cNvPr>
          <p:cNvGrpSpPr/>
          <p:nvPr/>
        </p:nvGrpSpPr>
        <p:grpSpPr>
          <a:xfrm>
            <a:off x="664638" y="2407167"/>
            <a:ext cx="7885548" cy="1704606"/>
            <a:chOff x="885706" y="2968937"/>
            <a:chExt cx="9681303" cy="1922592"/>
          </a:xfrm>
        </p:grpSpPr>
        <p:grpSp>
          <p:nvGrpSpPr>
            <p:cNvPr id="25" name="组合 24">
              <a:extLst>
                <a:ext uri="{FF2B5EF4-FFF2-40B4-BE49-F238E27FC236}">
                  <a16:creationId xmlns:a16="http://schemas.microsoft.com/office/drawing/2014/main" id="{2B3D1210-326B-AE69-D249-057BEE1CC728}"/>
                </a:ext>
              </a:extLst>
            </p:cNvPr>
            <p:cNvGrpSpPr/>
            <p:nvPr/>
          </p:nvGrpSpPr>
          <p:grpSpPr>
            <a:xfrm>
              <a:off x="885706" y="2968937"/>
              <a:ext cx="9681303" cy="1922592"/>
              <a:chOff x="1276472" y="3329448"/>
              <a:chExt cx="9681303" cy="1922592"/>
            </a:xfrm>
          </p:grpSpPr>
          <p:cxnSp>
            <p:nvCxnSpPr>
              <p:cNvPr id="32" name="直接箭头连接符 31">
                <a:extLst>
                  <a:ext uri="{FF2B5EF4-FFF2-40B4-BE49-F238E27FC236}">
                    <a16:creationId xmlns:a16="http://schemas.microsoft.com/office/drawing/2014/main" id="{7C18D958-620E-9A61-829F-E7B28A65ABFB}"/>
                  </a:ext>
                </a:extLst>
              </p:cNvPr>
              <p:cNvCxnSpPr>
                <a:cxnSpLocks/>
              </p:cNvCxnSpPr>
              <p:nvPr/>
            </p:nvCxnSpPr>
            <p:spPr bwMode="gray">
              <a:xfrm>
                <a:off x="4101239" y="3969477"/>
                <a:ext cx="0" cy="298131"/>
              </a:xfrm>
              <a:prstGeom prst="straightConnector1">
                <a:avLst/>
              </a:prstGeom>
              <a:ln w="19050">
                <a:solidFill>
                  <a:srgbClr val="08312A"/>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91880BD-F8C7-3BAF-F769-18F393F19F68}"/>
                  </a:ext>
                </a:extLst>
              </p:cNvPr>
              <p:cNvCxnSpPr>
                <a:cxnSpLocks/>
              </p:cNvCxnSpPr>
              <p:nvPr/>
            </p:nvCxnSpPr>
            <p:spPr bwMode="gray">
              <a:xfrm flipV="1">
                <a:off x="1409943" y="4266416"/>
                <a:ext cx="8760322" cy="22454"/>
              </a:xfrm>
              <a:prstGeom prst="line">
                <a:avLst/>
              </a:prstGeom>
              <a:ln w="19050">
                <a:solidFill>
                  <a:srgbClr val="08312A"/>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8E0B063-DCDF-B901-C4AE-D657A79EE1CF}"/>
                  </a:ext>
                </a:extLst>
              </p:cNvPr>
              <p:cNvCxnSpPr/>
              <p:nvPr/>
            </p:nvCxnSpPr>
            <p:spPr bwMode="gray">
              <a:xfrm>
                <a:off x="2083736" y="4259794"/>
                <a:ext cx="0" cy="89895"/>
              </a:xfrm>
              <a:prstGeom prst="line">
                <a:avLst/>
              </a:prstGeom>
              <a:ln w="19050">
                <a:solidFill>
                  <a:srgbClr val="08312A"/>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73F69F-A07E-CC6A-5D58-7E9CEE73735F}"/>
                  </a:ext>
                </a:extLst>
              </p:cNvPr>
              <p:cNvCxnSpPr/>
              <p:nvPr/>
            </p:nvCxnSpPr>
            <p:spPr bwMode="gray">
              <a:xfrm>
                <a:off x="4101566" y="4265386"/>
                <a:ext cx="0" cy="89895"/>
              </a:xfrm>
              <a:prstGeom prst="line">
                <a:avLst/>
              </a:prstGeom>
              <a:ln w="19050">
                <a:solidFill>
                  <a:srgbClr val="08312A"/>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CB27191-C386-4E6A-8084-D98DB99D9CFB}"/>
                  </a:ext>
                </a:extLst>
              </p:cNvPr>
              <p:cNvCxnSpPr/>
              <p:nvPr/>
            </p:nvCxnSpPr>
            <p:spPr bwMode="gray">
              <a:xfrm>
                <a:off x="5849761" y="4265385"/>
                <a:ext cx="0" cy="89895"/>
              </a:xfrm>
              <a:prstGeom prst="line">
                <a:avLst/>
              </a:prstGeom>
              <a:ln w="19050">
                <a:solidFill>
                  <a:srgbClr val="08312A"/>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981E56DE-DBB9-5185-43A2-1DCAAB3B5237}"/>
                  </a:ext>
                </a:extLst>
              </p:cNvPr>
              <p:cNvCxnSpPr/>
              <p:nvPr/>
            </p:nvCxnSpPr>
            <p:spPr bwMode="gray">
              <a:xfrm>
                <a:off x="7647071" y="4269733"/>
                <a:ext cx="0" cy="89895"/>
              </a:xfrm>
              <a:prstGeom prst="line">
                <a:avLst/>
              </a:prstGeom>
              <a:ln w="19050">
                <a:solidFill>
                  <a:srgbClr val="08312A"/>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1B93BFF-964E-6BDF-0A9C-82880302476C}"/>
                  </a:ext>
                </a:extLst>
              </p:cNvPr>
              <p:cNvCxnSpPr/>
              <p:nvPr/>
            </p:nvCxnSpPr>
            <p:spPr bwMode="gray">
              <a:xfrm>
                <a:off x="8839220" y="4271963"/>
                <a:ext cx="0" cy="89895"/>
              </a:xfrm>
              <a:prstGeom prst="line">
                <a:avLst/>
              </a:prstGeom>
              <a:ln w="19050">
                <a:solidFill>
                  <a:srgbClr val="08312A"/>
                </a:solidFill>
              </a:ln>
            </p:spPr>
            <p:style>
              <a:lnRef idx="1">
                <a:schemeClr val="accent1"/>
              </a:lnRef>
              <a:fillRef idx="0">
                <a:schemeClr val="accent1"/>
              </a:fillRef>
              <a:effectRef idx="0">
                <a:schemeClr val="accent1"/>
              </a:effectRef>
              <a:fontRef idx="minor">
                <a:schemeClr val="tx1"/>
              </a:fontRef>
            </p:style>
          </p:cxnSp>
          <p:sp>
            <p:nvSpPr>
              <p:cNvPr id="39" name="矩形: 圆角 38">
                <a:extLst>
                  <a:ext uri="{FF2B5EF4-FFF2-40B4-BE49-F238E27FC236}">
                    <a16:creationId xmlns:a16="http://schemas.microsoft.com/office/drawing/2014/main" id="{49901F63-851C-4500-B391-2789A0418531}"/>
                  </a:ext>
                </a:extLst>
              </p:cNvPr>
              <p:cNvSpPr/>
              <p:nvPr/>
            </p:nvSpPr>
            <p:spPr bwMode="gray">
              <a:xfrm>
                <a:off x="1276472" y="4982685"/>
                <a:ext cx="2040104" cy="262384"/>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lnSpc>
                    <a:spcPct val="140000"/>
                  </a:lnSpc>
                </a:pPr>
                <a:r>
                  <a:rPr lang="en-US" altLang="zh-CN" sz="1000" kern="100" dirty="0">
                    <a:solidFill>
                      <a:prstClr val="black"/>
                    </a:solidFill>
                    <a:latin typeface="+mn-ea"/>
                    <a:cs typeface="Times New Roman" panose="02020603050405020304" pitchFamily="18" charset="0"/>
                  </a:rPr>
                  <a:t>Screening and enrollment</a:t>
                </a:r>
                <a:endParaRPr lang="zh-CN" altLang="en-US" sz="1000" kern="100" dirty="0">
                  <a:solidFill>
                    <a:prstClr val="black"/>
                  </a:solidFill>
                  <a:latin typeface="+mn-ea"/>
                  <a:cs typeface="Times New Roman" panose="02020603050405020304" pitchFamily="18" charset="0"/>
                </a:endParaRPr>
              </a:p>
            </p:txBody>
          </p:sp>
          <p:sp>
            <p:nvSpPr>
              <p:cNvPr id="40" name="矩形: 圆角 39">
                <a:extLst>
                  <a:ext uri="{FF2B5EF4-FFF2-40B4-BE49-F238E27FC236}">
                    <a16:creationId xmlns:a16="http://schemas.microsoft.com/office/drawing/2014/main" id="{69F87D11-97EF-A20A-D3E0-19AF0EE42BE9}"/>
                  </a:ext>
                </a:extLst>
              </p:cNvPr>
              <p:cNvSpPr/>
              <p:nvPr/>
            </p:nvSpPr>
            <p:spPr bwMode="gray">
              <a:xfrm>
                <a:off x="3420768" y="4989656"/>
                <a:ext cx="1427044" cy="262384"/>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lnSpc>
                    <a:spcPts val="900"/>
                  </a:lnSpc>
                </a:pPr>
                <a:r>
                  <a:rPr lang="en-US" altLang="zh-CN" sz="1000" kern="100" dirty="0">
                    <a:solidFill>
                      <a:prstClr val="black"/>
                    </a:solidFill>
                    <a:latin typeface="+mn-ea"/>
                    <a:cs typeface="Times New Roman" panose="02020603050405020304" pitchFamily="18" charset="0"/>
                  </a:rPr>
                  <a:t>Treatment</a:t>
                </a:r>
              </a:p>
            </p:txBody>
          </p:sp>
          <p:sp>
            <p:nvSpPr>
              <p:cNvPr id="41" name="矩形: 圆角 40">
                <a:extLst>
                  <a:ext uri="{FF2B5EF4-FFF2-40B4-BE49-F238E27FC236}">
                    <a16:creationId xmlns:a16="http://schemas.microsoft.com/office/drawing/2014/main" id="{F4A50C67-7049-AB3E-F3F0-F961B32ABE3C}"/>
                  </a:ext>
                </a:extLst>
              </p:cNvPr>
              <p:cNvSpPr/>
              <p:nvPr/>
            </p:nvSpPr>
            <p:spPr bwMode="gray">
              <a:xfrm>
                <a:off x="4952004" y="4986289"/>
                <a:ext cx="6005771" cy="255119"/>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lnSpc>
                    <a:spcPts val="900"/>
                  </a:lnSpc>
                </a:pPr>
                <a:r>
                  <a:rPr lang="en-US" altLang="zh-CN" sz="1000" kern="100">
                    <a:solidFill>
                      <a:prstClr val="black"/>
                    </a:solidFill>
                    <a:latin typeface="+mn-ea"/>
                    <a:cs typeface="Times New Roman" panose="02020603050405020304" pitchFamily="18" charset="0"/>
                  </a:rPr>
                  <a:t>Follow up</a:t>
                </a:r>
                <a:endParaRPr lang="zh-CN" altLang="en-US" sz="1000" kern="100">
                  <a:solidFill>
                    <a:prstClr val="black"/>
                  </a:solidFill>
                  <a:latin typeface="+mn-ea"/>
                  <a:cs typeface="Times New Roman" panose="02020603050405020304" pitchFamily="18" charset="0"/>
                </a:endParaRPr>
              </a:p>
            </p:txBody>
          </p:sp>
          <p:cxnSp>
            <p:nvCxnSpPr>
              <p:cNvPr id="42" name="直接箭头连接符 41">
                <a:extLst>
                  <a:ext uri="{FF2B5EF4-FFF2-40B4-BE49-F238E27FC236}">
                    <a16:creationId xmlns:a16="http://schemas.microsoft.com/office/drawing/2014/main" id="{FFFD3243-7F69-D843-225C-812C3ED0C225}"/>
                  </a:ext>
                </a:extLst>
              </p:cNvPr>
              <p:cNvCxnSpPr>
                <a:cxnSpLocks/>
              </p:cNvCxnSpPr>
              <p:nvPr/>
            </p:nvCxnSpPr>
            <p:spPr bwMode="gray">
              <a:xfrm>
                <a:off x="5849761" y="3329448"/>
                <a:ext cx="0" cy="930347"/>
              </a:xfrm>
              <a:prstGeom prst="straightConnector1">
                <a:avLst/>
              </a:prstGeom>
              <a:ln w="19050">
                <a:solidFill>
                  <a:srgbClr val="08312A"/>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C63E5219-DDB5-A36A-BCD1-CA1086E090FA}"/>
                  </a:ext>
                </a:extLst>
              </p:cNvPr>
              <p:cNvSpPr txBox="1"/>
              <p:nvPr/>
            </p:nvSpPr>
            <p:spPr bwMode="gray">
              <a:xfrm>
                <a:off x="3415282" y="4344227"/>
                <a:ext cx="1405084" cy="624844"/>
              </a:xfrm>
              <a:prstGeom prst="rect">
                <a:avLst/>
              </a:prstGeom>
              <a:noFill/>
            </p:spPr>
            <p:txBody>
              <a:bodyPr wrap="square">
                <a:spAutoFit/>
              </a:bodyPr>
              <a:lstStyle/>
              <a:p>
                <a:pPr algn="ctr"/>
                <a:r>
                  <a:rPr lang="en-US" altLang="zh-CN" sz="1000" dirty="0">
                    <a:solidFill>
                      <a:srgbClr val="08312A"/>
                    </a:solidFill>
                    <a:latin typeface="+mn-ea"/>
                    <a:cs typeface="Times New Roman" panose="02020603050405020304" pitchFamily="18" charset="0"/>
                  </a:rPr>
                  <a:t>V2</a:t>
                </a:r>
              </a:p>
              <a:p>
                <a:pPr algn="ctr"/>
                <a:r>
                  <a:rPr lang="en-US" altLang="zh-CN" sz="1000" dirty="0">
                    <a:solidFill>
                      <a:srgbClr val="08312A"/>
                    </a:solidFill>
                    <a:latin typeface="+mn-ea"/>
                    <a:cs typeface="Times New Roman" panose="02020603050405020304" pitchFamily="18" charset="0"/>
                  </a:rPr>
                  <a:t>0h</a:t>
                </a:r>
              </a:p>
              <a:p>
                <a:pPr algn="ctr"/>
                <a:r>
                  <a:rPr lang="en-CA" altLang="zh-CN" sz="1000" dirty="0">
                    <a:solidFill>
                      <a:srgbClr val="08312A"/>
                    </a:solidFill>
                    <a:latin typeface="+mn-ea"/>
                    <a:cs typeface="Times New Roman" panose="02020603050405020304" pitchFamily="18" charset="0"/>
                  </a:rPr>
                  <a:t>Open-Label</a:t>
                </a:r>
                <a:endParaRPr lang="en-US" altLang="zh-CN" sz="1000" dirty="0">
                  <a:solidFill>
                    <a:srgbClr val="08312A"/>
                  </a:solidFill>
                  <a:latin typeface="+mn-ea"/>
                  <a:cs typeface="Times New Roman" panose="02020603050405020304" pitchFamily="18" charset="0"/>
                </a:endParaRPr>
              </a:p>
            </p:txBody>
          </p:sp>
          <p:sp>
            <p:nvSpPr>
              <p:cNvPr id="45" name="文本框 44">
                <a:extLst>
                  <a:ext uri="{FF2B5EF4-FFF2-40B4-BE49-F238E27FC236}">
                    <a16:creationId xmlns:a16="http://schemas.microsoft.com/office/drawing/2014/main" id="{19AEE636-6BC4-6D7C-EE13-968E8739580C}"/>
                  </a:ext>
                </a:extLst>
              </p:cNvPr>
              <p:cNvSpPr txBox="1"/>
              <p:nvPr/>
            </p:nvSpPr>
            <p:spPr bwMode="gray">
              <a:xfrm>
                <a:off x="5265506" y="4344227"/>
                <a:ext cx="1185858" cy="641663"/>
              </a:xfrm>
              <a:prstGeom prst="rect">
                <a:avLst/>
              </a:prstGeom>
              <a:noFill/>
            </p:spPr>
            <p:txBody>
              <a:bodyPr wrap="square">
                <a:spAutoFit/>
              </a:bodyPr>
              <a:lstStyle/>
              <a:p>
                <a:pPr algn="ctr"/>
                <a:r>
                  <a:rPr lang="en-US" altLang="zh-CN" sz="1000" dirty="0">
                    <a:solidFill>
                      <a:srgbClr val="08312A"/>
                    </a:solidFill>
                    <a:latin typeface="+mn-ea"/>
                    <a:cs typeface="Times New Roman" panose="02020603050405020304" pitchFamily="18" charset="0"/>
                  </a:rPr>
                  <a:t>V3</a:t>
                </a:r>
              </a:p>
              <a:p>
                <a:pPr algn="ctr"/>
                <a:r>
                  <a:rPr lang="en-US" altLang="zh-CN" sz="1000" dirty="0">
                    <a:solidFill>
                      <a:srgbClr val="08312A"/>
                    </a:solidFill>
                    <a:latin typeface="+mn-ea"/>
                    <a:cs typeface="Times New Roman" panose="02020603050405020304" pitchFamily="18" charset="0"/>
                  </a:rPr>
                  <a:t>24h</a:t>
                </a:r>
              </a:p>
              <a:p>
                <a:pPr algn="ctr"/>
                <a:r>
                  <a:rPr lang="en-US" altLang="zh-CN" sz="1000" dirty="0">
                    <a:solidFill>
                      <a:srgbClr val="08312A"/>
                    </a:solidFill>
                    <a:latin typeface="+mn-ea"/>
                    <a:cs typeface="Times New Roman" panose="02020603050405020304" pitchFamily="18" charset="0"/>
                  </a:rPr>
                  <a:t>after Tx</a:t>
                </a:r>
                <a:endParaRPr lang="zh-CN" altLang="en-US" sz="1000" dirty="0">
                  <a:solidFill>
                    <a:srgbClr val="08312A"/>
                  </a:solidFill>
                  <a:latin typeface="+mn-ea"/>
                  <a:cs typeface="Times New Roman" panose="02020603050405020304" pitchFamily="18" charset="0"/>
                </a:endParaRPr>
              </a:p>
            </p:txBody>
          </p:sp>
          <p:sp>
            <p:nvSpPr>
              <p:cNvPr id="46" name="文本框 45">
                <a:extLst>
                  <a:ext uri="{FF2B5EF4-FFF2-40B4-BE49-F238E27FC236}">
                    <a16:creationId xmlns:a16="http://schemas.microsoft.com/office/drawing/2014/main" id="{939D4D99-EA96-C89F-539C-1EAF9A8B71E9}"/>
                  </a:ext>
                </a:extLst>
              </p:cNvPr>
              <p:cNvSpPr txBox="1"/>
              <p:nvPr/>
            </p:nvSpPr>
            <p:spPr bwMode="gray">
              <a:xfrm>
                <a:off x="7140740" y="4344227"/>
                <a:ext cx="1018335" cy="641662"/>
              </a:xfrm>
              <a:prstGeom prst="rect">
                <a:avLst/>
              </a:prstGeom>
              <a:noFill/>
            </p:spPr>
            <p:txBody>
              <a:bodyPr wrap="square">
                <a:spAutoFit/>
              </a:bodyPr>
              <a:lstStyle/>
              <a:p>
                <a:pPr algn="ctr"/>
                <a:r>
                  <a:rPr lang="en-US" altLang="zh-CN" sz="1000" dirty="0">
                    <a:solidFill>
                      <a:srgbClr val="08312A"/>
                    </a:solidFill>
                    <a:latin typeface="+mn-ea"/>
                    <a:cs typeface="Times New Roman" panose="02020603050405020304" pitchFamily="18" charset="0"/>
                  </a:rPr>
                  <a:t>V4</a:t>
                </a:r>
              </a:p>
              <a:p>
                <a:pPr algn="ctr"/>
                <a:r>
                  <a:rPr lang="en-US" altLang="zh-CN" sz="1000" dirty="0">
                    <a:solidFill>
                      <a:srgbClr val="08312A"/>
                    </a:solidFill>
                    <a:latin typeface="+mn-ea"/>
                    <a:cs typeface="Times New Roman" panose="02020603050405020304" pitchFamily="18" charset="0"/>
                  </a:rPr>
                  <a:t>72±12h</a:t>
                </a:r>
              </a:p>
              <a:p>
                <a:pPr algn="ctr"/>
                <a:r>
                  <a:rPr lang="en-US" altLang="zh-CN" sz="1000" dirty="0">
                    <a:solidFill>
                      <a:srgbClr val="08312A"/>
                    </a:solidFill>
                    <a:latin typeface="+mn-ea"/>
                    <a:cs typeface="Times New Roman" panose="02020603050405020304" pitchFamily="18" charset="0"/>
                  </a:rPr>
                  <a:t>After Tx</a:t>
                </a:r>
              </a:p>
            </p:txBody>
          </p:sp>
          <p:sp>
            <p:nvSpPr>
              <p:cNvPr id="47" name="文本框 46">
                <a:extLst>
                  <a:ext uri="{FF2B5EF4-FFF2-40B4-BE49-F238E27FC236}">
                    <a16:creationId xmlns:a16="http://schemas.microsoft.com/office/drawing/2014/main" id="{3ECCE738-6624-282F-4AFB-7B592227538E}"/>
                  </a:ext>
                </a:extLst>
              </p:cNvPr>
              <p:cNvSpPr txBox="1"/>
              <p:nvPr/>
            </p:nvSpPr>
            <p:spPr bwMode="gray">
              <a:xfrm>
                <a:off x="8261583" y="4344227"/>
                <a:ext cx="1185857" cy="641663"/>
              </a:xfrm>
              <a:prstGeom prst="rect">
                <a:avLst/>
              </a:prstGeom>
              <a:noFill/>
            </p:spPr>
            <p:txBody>
              <a:bodyPr wrap="square">
                <a:spAutoFit/>
              </a:bodyPr>
              <a:lstStyle/>
              <a:p>
                <a:pPr algn="ctr"/>
                <a:r>
                  <a:rPr lang="en-US" altLang="zh-CN" sz="1000" dirty="0">
                    <a:solidFill>
                      <a:srgbClr val="08312A"/>
                    </a:solidFill>
                    <a:latin typeface="+mn-ea"/>
                    <a:cs typeface="Times New Roman" panose="02020603050405020304" pitchFamily="18" charset="0"/>
                  </a:rPr>
                  <a:t>V5</a:t>
                </a:r>
              </a:p>
              <a:p>
                <a:pPr algn="ctr"/>
                <a:r>
                  <a:rPr lang="en-US" altLang="zh-CN" sz="1000" dirty="0">
                    <a:solidFill>
                      <a:srgbClr val="08312A"/>
                    </a:solidFill>
                    <a:latin typeface="+mn-ea"/>
                    <a:cs typeface="Times New Roman" panose="02020603050405020304" pitchFamily="18" charset="0"/>
                  </a:rPr>
                  <a:t>D7±1</a:t>
                </a:r>
              </a:p>
              <a:p>
                <a:pPr algn="ctr"/>
                <a:r>
                  <a:rPr lang="en-US" altLang="zh-CN" sz="1000" dirty="0">
                    <a:solidFill>
                      <a:srgbClr val="08312A"/>
                    </a:solidFill>
                    <a:latin typeface="+mn-ea"/>
                    <a:cs typeface="Times New Roman" panose="02020603050405020304" pitchFamily="18" charset="0"/>
                  </a:rPr>
                  <a:t>/discharge</a:t>
                </a:r>
              </a:p>
            </p:txBody>
          </p:sp>
        </p:grpSp>
        <p:cxnSp>
          <p:nvCxnSpPr>
            <p:cNvPr id="26" name="直接连接符 25">
              <a:extLst>
                <a:ext uri="{FF2B5EF4-FFF2-40B4-BE49-F238E27FC236}">
                  <a16:creationId xmlns:a16="http://schemas.microsoft.com/office/drawing/2014/main" id="{A7675D18-989E-9930-D66D-645B1A633E6C}"/>
                </a:ext>
              </a:extLst>
            </p:cNvPr>
            <p:cNvCxnSpPr/>
            <p:nvPr/>
          </p:nvCxnSpPr>
          <p:spPr bwMode="gray">
            <a:xfrm>
              <a:off x="9789683" y="3909671"/>
              <a:ext cx="0" cy="89895"/>
            </a:xfrm>
            <a:prstGeom prst="line">
              <a:avLst/>
            </a:prstGeom>
            <a:ln w="19050">
              <a:solidFill>
                <a:srgbClr val="08312A"/>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534F03B5-F13A-7612-35CC-5B68F0F74846}"/>
                </a:ext>
              </a:extLst>
            </p:cNvPr>
            <p:cNvSpPr txBox="1"/>
            <p:nvPr/>
          </p:nvSpPr>
          <p:spPr bwMode="gray">
            <a:xfrm>
              <a:off x="9362481" y="3998924"/>
              <a:ext cx="869260" cy="463424"/>
            </a:xfrm>
            <a:prstGeom prst="rect">
              <a:avLst/>
            </a:prstGeom>
            <a:noFill/>
          </p:spPr>
          <p:txBody>
            <a:bodyPr wrap="square">
              <a:spAutoFit/>
            </a:bodyPr>
            <a:lstStyle/>
            <a:p>
              <a:pPr algn="ctr"/>
              <a:r>
                <a:rPr lang="en-US" altLang="zh-CN" sz="1000" dirty="0">
                  <a:solidFill>
                    <a:srgbClr val="08312A"/>
                  </a:solidFill>
                  <a:latin typeface="+mn-ea"/>
                  <a:cs typeface="Times New Roman" panose="02020603050405020304" pitchFamily="18" charset="0"/>
                </a:rPr>
                <a:t>V6</a:t>
              </a:r>
            </a:p>
            <a:p>
              <a:pPr algn="ctr"/>
              <a:r>
                <a:rPr lang="zh-CN" altLang="en-US" sz="1000" dirty="0">
                  <a:solidFill>
                    <a:srgbClr val="08312A"/>
                  </a:solidFill>
                  <a:latin typeface="+mn-ea"/>
                  <a:cs typeface="Times New Roman" panose="02020603050405020304" pitchFamily="18" charset="0"/>
                </a:rPr>
                <a:t>D</a:t>
              </a:r>
              <a:r>
                <a:rPr lang="en-US" altLang="zh-CN" sz="1000" dirty="0">
                  <a:solidFill>
                    <a:srgbClr val="08312A"/>
                  </a:solidFill>
                  <a:latin typeface="+mn-ea"/>
                  <a:cs typeface="Times New Roman" panose="02020603050405020304" pitchFamily="18" charset="0"/>
                </a:rPr>
                <a:t>90±14</a:t>
              </a:r>
            </a:p>
          </p:txBody>
        </p:sp>
        <p:cxnSp>
          <p:nvCxnSpPr>
            <p:cNvPr id="28" name="直接箭头连接符 27">
              <a:extLst>
                <a:ext uri="{FF2B5EF4-FFF2-40B4-BE49-F238E27FC236}">
                  <a16:creationId xmlns:a16="http://schemas.microsoft.com/office/drawing/2014/main" id="{1FE37DA7-6493-095D-C027-D4745EF679A0}"/>
                </a:ext>
              </a:extLst>
            </p:cNvPr>
            <p:cNvCxnSpPr>
              <a:cxnSpLocks/>
            </p:cNvCxnSpPr>
            <p:nvPr/>
          </p:nvCxnSpPr>
          <p:spPr bwMode="gray">
            <a:xfrm>
              <a:off x="7261792" y="2968938"/>
              <a:ext cx="0" cy="938160"/>
            </a:xfrm>
            <a:prstGeom prst="straightConnector1">
              <a:avLst/>
            </a:prstGeom>
            <a:ln w="19050">
              <a:solidFill>
                <a:srgbClr val="08312A"/>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0599C02E-4531-3C1C-F3BC-C89548BFDD4A}"/>
                </a:ext>
              </a:extLst>
            </p:cNvPr>
            <p:cNvCxnSpPr>
              <a:cxnSpLocks/>
            </p:cNvCxnSpPr>
            <p:nvPr/>
          </p:nvCxnSpPr>
          <p:spPr bwMode="gray">
            <a:xfrm>
              <a:off x="9779500" y="2968938"/>
              <a:ext cx="0" cy="922222"/>
            </a:xfrm>
            <a:prstGeom prst="straightConnector1">
              <a:avLst/>
            </a:prstGeom>
            <a:ln w="19050">
              <a:solidFill>
                <a:srgbClr val="08312A"/>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396B715E-E9A5-8ED9-A665-B73D829B7E42}"/>
                </a:ext>
              </a:extLst>
            </p:cNvPr>
            <p:cNvCxnSpPr>
              <a:cxnSpLocks/>
            </p:cNvCxnSpPr>
            <p:nvPr/>
          </p:nvCxnSpPr>
          <p:spPr bwMode="gray">
            <a:xfrm>
              <a:off x="8449771" y="2968938"/>
              <a:ext cx="0" cy="930345"/>
            </a:xfrm>
            <a:prstGeom prst="straightConnector1">
              <a:avLst/>
            </a:prstGeom>
            <a:ln w="19050">
              <a:solidFill>
                <a:srgbClr val="08312A"/>
              </a:solidFill>
              <a:tailEnd type="triangle"/>
            </a:ln>
          </p:spPr>
          <p:style>
            <a:lnRef idx="1">
              <a:schemeClr val="accent1"/>
            </a:lnRef>
            <a:fillRef idx="0">
              <a:schemeClr val="accent1"/>
            </a:fillRef>
            <a:effectRef idx="0">
              <a:schemeClr val="accent1"/>
            </a:effectRef>
            <a:fontRef idx="minor">
              <a:schemeClr val="tx1"/>
            </a:fontRef>
          </p:style>
        </p:cxnSp>
      </p:grpSp>
      <p:sp>
        <p:nvSpPr>
          <p:cNvPr id="9" name="矩形: 圆角 8">
            <a:extLst>
              <a:ext uri="{FF2B5EF4-FFF2-40B4-BE49-F238E27FC236}">
                <a16:creationId xmlns:a16="http://schemas.microsoft.com/office/drawing/2014/main" id="{A5849F02-ADE0-7927-0894-E1298190002F}"/>
              </a:ext>
            </a:extLst>
          </p:cNvPr>
          <p:cNvSpPr/>
          <p:nvPr/>
        </p:nvSpPr>
        <p:spPr bwMode="gray">
          <a:xfrm>
            <a:off x="264326" y="1744205"/>
            <a:ext cx="1881482" cy="967537"/>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altLang="zh-CN" sz="1000" kern="100" dirty="0">
                <a:solidFill>
                  <a:prstClr val="black"/>
                </a:solidFill>
                <a:latin typeface="+mn-ea"/>
                <a:cs typeface="Times New Roman" panose="02020603050405020304" pitchFamily="18" charset="0"/>
              </a:rPr>
              <a:t>AIS &lt; 4.5h with elevated BP (China: 180/100 mmHg; U.S./Canada/Europe: 185/110 mmHg), but below 220 mmHg.</a:t>
            </a:r>
          </a:p>
        </p:txBody>
      </p:sp>
      <p:cxnSp>
        <p:nvCxnSpPr>
          <p:cNvPr id="10" name="直接连接符 9">
            <a:extLst>
              <a:ext uri="{FF2B5EF4-FFF2-40B4-BE49-F238E27FC236}">
                <a16:creationId xmlns:a16="http://schemas.microsoft.com/office/drawing/2014/main" id="{56B55D4D-1BE0-69A7-583E-10134E1B2721}"/>
              </a:ext>
            </a:extLst>
          </p:cNvPr>
          <p:cNvCxnSpPr>
            <a:cxnSpLocks/>
          </p:cNvCxnSpPr>
          <p:nvPr/>
        </p:nvCxnSpPr>
        <p:spPr>
          <a:xfrm>
            <a:off x="1958537" y="2103190"/>
            <a:ext cx="3797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直接连接符 10">
            <a:extLst>
              <a:ext uri="{FF2B5EF4-FFF2-40B4-BE49-F238E27FC236}">
                <a16:creationId xmlns:a16="http://schemas.microsoft.com/office/drawing/2014/main" id="{31337E06-9B33-7057-08F5-615AFFCD87AD}"/>
              </a:ext>
            </a:extLst>
          </p:cNvPr>
          <p:cNvCxnSpPr/>
          <p:nvPr/>
        </p:nvCxnSpPr>
        <p:spPr>
          <a:xfrm>
            <a:off x="2370863" y="1607172"/>
            <a:ext cx="0" cy="983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直接连接符 11">
            <a:extLst>
              <a:ext uri="{FF2B5EF4-FFF2-40B4-BE49-F238E27FC236}">
                <a16:creationId xmlns:a16="http://schemas.microsoft.com/office/drawing/2014/main" id="{937D8634-0A54-258C-C8A7-E27EED283892}"/>
              </a:ext>
            </a:extLst>
          </p:cNvPr>
          <p:cNvCxnSpPr>
            <a:cxnSpLocks/>
          </p:cNvCxnSpPr>
          <p:nvPr/>
        </p:nvCxnSpPr>
        <p:spPr>
          <a:xfrm>
            <a:off x="2370863" y="1607172"/>
            <a:ext cx="21133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直接连接符 12">
            <a:extLst>
              <a:ext uri="{FF2B5EF4-FFF2-40B4-BE49-F238E27FC236}">
                <a16:creationId xmlns:a16="http://schemas.microsoft.com/office/drawing/2014/main" id="{9B11E9A0-6FDC-9238-129C-DCF61B92389C}"/>
              </a:ext>
            </a:extLst>
          </p:cNvPr>
          <p:cNvCxnSpPr/>
          <p:nvPr/>
        </p:nvCxnSpPr>
        <p:spPr>
          <a:xfrm>
            <a:off x="2376291" y="2582072"/>
            <a:ext cx="243884"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矩形: 圆角 13">
            <a:extLst>
              <a:ext uri="{FF2B5EF4-FFF2-40B4-BE49-F238E27FC236}">
                <a16:creationId xmlns:a16="http://schemas.microsoft.com/office/drawing/2014/main" id="{B419FD6F-6DE8-A569-0B30-588DE02CF35D}"/>
              </a:ext>
            </a:extLst>
          </p:cNvPr>
          <p:cNvSpPr/>
          <p:nvPr/>
        </p:nvSpPr>
        <p:spPr bwMode="gray">
          <a:xfrm>
            <a:off x="2544265" y="1472899"/>
            <a:ext cx="1055509" cy="355865"/>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altLang="zh-CN" sz="1000" dirty="0">
                <a:solidFill>
                  <a:schemeClr val="tx1"/>
                </a:solidFill>
                <a:latin typeface="+mn-ea"/>
                <a:cs typeface="Times New Roman" panose="02020603050405020304" pitchFamily="18" charset="0"/>
              </a:rPr>
              <a:t>Concurrent treatment* </a:t>
            </a:r>
            <a:endParaRPr lang="zh-CN" altLang="en-US" sz="1000" dirty="0">
              <a:solidFill>
                <a:schemeClr val="tx1"/>
              </a:solidFill>
              <a:latin typeface="+mn-ea"/>
              <a:cs typeface="Times New Roman" panose="02020603050405020304" pitchFamily="18" charset="0"/>
            </a:endParaRPr>
          </a:p>
        </p:txBody>
      </p:sp>
      <p:sp>
        <p:nvSpPr>
          <p:cNvPr id="15" name="矩形: 圆角 14">
            <a:extLst>
              <a:ext uri="{FF2B5EF4-FFF2-40B4-BE49-F238E27FC236}">
                <a16:creationId xmlns:a16="http://schemas.microsoft.com/office/drawing/2014/main" id="{9F1DF5A6-B613-A141-A6C3-49171580D110}"/>
              </a:ext>
            </a:extLst>
          </p:cNvPr>
          <p:cNvSpPr/>
          <p:nvPr/>
        </p:nvSpPr>
        <p:spPr bwMode="gray">
          <a:xfrm>
            <a:off x="2530707" y="2342693"/>
            <a:ext cx="1071480" cy="346786"/>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altLang="zh-CN" sz="1000" dirty="0">
                <a:solidFill>
                  <a:schemeClr val="tx1"/>
                </a:solidFill>
                <a:latin typeface="+mn-ea"/>
                <a:cs typeface="Times New Roman" panose="02020603050405020304" pitchFamily="18" charset="0"/>
              </a:rPr>
              <a:t>Sequential treatment</a:t>
            </a:r>
            <a:r>
              <a:rPr lang="en-US" altLang="zh-CN" sz="1000" baseline="30000" dirty="0">
                <a:solidFill>
                  <a:schemeClr val="tx1"/>
                </a:solidFill>
                <a:latin typeface="+mn-ea"/>
                <a:cs typeface="Times New Roman" panose="02020603050405020304" pitchFamily="18" charset="0"/>
              </a:rPr>
              <a:t>#</a:t>
            </a:r>
            <a:endParaRPr lang="zh-CN" altLang="en-US" sz="1000" kern="100" baseline="30000" dirty="0">
              <a:solidFill>
                <a:schemeClr val="tx1"/>
              </a:solidFill>
              <a:latin typeface="+mn-ea"/>
              <a:cs typeface="Times New Roman" panose="02020603050405020304" pitchFamily="18" charset="0"/>
            </a:endParaRPr>
          </a:p>
        </p:txBody>
      </p:sp>
      <p:cxnSp>
        <p:nvCxnSpPr>
          <p:cNvPr id="16" name="直接箭头连接符 15">
            <a:extLst>
              <a:ext uri="{FF2B5EF4-FFF2-40B4-BE49-F238E27FC236}">
                <a16:creationId xmlns:a16="http://schemas.microsoft.com/office/drawing/2014/main" id="{FBE469DB-89D7-5543-6AE7-82D4E085F316}"/>
              </a:ext>
            </a:extLst>
          </p:cNvPr>
          <p:cNvCxnSpPr>
            <a:cxnSpLocks/>
            <a:stCxn id="14" idx="3"/>
          </p:cNvCxnSpPr>
          <p:nvPr/>
        </p:nvCxnSpPr>
        <p:spPr>
          <a:xfrm>
            <a:off x="3599774" y="1650832"/>
            <a:ext cx="398457" cy="3983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直接箭头连接符 16">
            <a:extLst>
              <a:ext uri="{FF2B5EF4-FFF2-40B4-BE49-F238E27FC236}">
                <a16:creationId xmlns:a16="http://schemas.microsoft.com/office/drawing/2014/main" id="{76CFBFAD-FBED-2303-828C-5D77E1544ECD}"/>
              </a:ext>
            </a:extLst>
          </p:cNvPr>
          <p:cNvCxnSpPr>
            <a:cxnSpLocks/>
            <a:stCxn id="15" idx="3"/>
          </p:cNvCxnSpPr>
          <p:nvPr/>
        </p:nvCxnSpPr>
        <p:spPr>
          <a:xfrm flipV="1">
            <a:off x="3602187" y="2128597"/>
            <a:ext cx="396046" cy="3874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矩形: 圆角 17">
            <a:extLst>
              <a:ext uri="{FF2B5EF4-FFF2-40B4-BE49-F238E27FC236}">
                <a16:creationId xmlns:a16="http://schemas.microsoft.com/office/drawing/2014/main" id="{3F6B028D-7BD6-DAB2-63D7-23E2C4070F87}"/>
              </a:ext>
            </a:extLst>
          </p:cNvPr>
          <p:cNvSpPr/>
          <p:nvPr/>
        </p:nvSpPr>
        <p:spPr bwMode="gray">
          <a:xfrm>
            <a:off x="4000992" y="1862273"/>
            <a:ext cx="987394" cy="522808"/>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lnSpc>
                <a:spcPts val="1500"/>
              </a:lnSpc>
            </a:pPr>
            <a:r>
              <a:rPr lang="en-US" altLang="zh-CN" sz="1000" kern="100" dirty="0">
                <a:solidFill>
                  <a:prstClr val="black"/>
                </a:solidFill>
                <a:latin typeface="+mn-ea"/>
                <a:cs typeface="Times New Roman" panose="02020603050405020304" pitchFamily="18" charset="0"/>
              </a:rPr>
              <a:t>NIHSS assessed </a:t>
            </a:r>
            <a:endParaRPr lang="zh-CN" altLang="en-US" sz="1000" kern="100" dirty="0">
              <a:solidFill>
                <a:prstClr val="black"/>
              </a:solidFill>
              <a:latin typeface="+mn-ea"/>
              <a:cs typeface="Times New Roman" panose="02020603050405020304" pitchFamily="18" charset="0"/>
            </a:endParaRPr>
          </a:p>
        </p:txBody>
      </p:sp>
      <p:sp>
        <p:nvSpPr>
          <p:cNvPr id="19" name="矩形: 圆角 18">
            <a:extLst>
              <a:ext uri="{FF2B5EF4-FFF2-40B4-BE49-F238E27FC236}">
                <a16:creationId xmlns:a16="http://schemas.microsoft.com/office/drawing/2014/main" id="{34B55EA4-D1C6-DF10-F89E-4628747AE82C}"/>
              </a:ext>
            </a:extLst>
          </p:cNvPr>
          <p:cNvSpPr/>
          <p:nvPr/>
        </p:nvSpPr>
        <p:spPr bwMode="gray">
          <a:xfrm>
            <a:off x="5227146" y="1882761"/>
            <a:ext cx="987394" cy="522808"/>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altLang="zh-CN" sz="1000" kern="100" dirty="0">
                <a:solidFill>
                  <a:prstClr val="black"/>
                </a:solidFill>
                <a:latin typeface="+mn-ea"/>
                <a:cs typeface="Times New Roman" panose="02020603050405020304" pitchFamily="18" charset="0"/>
              </a:rPr>
              <a:t>NIHSS &amp; </a:t>
            </a:r>
            <a:r>
              <a:rPr lang="en-US" altLang="zh-CN" sz="1000" kern="100" dirty="0" err="1">
                <a:solidFill>
                  <a:prstClr val="black"/>
                </a:solidFill>
                <a:latin typeface="+mn-ea"/>
                <a:cs typeface="Times New Roman" panose="02020603050405020304" pitchFamily="18" charset="0"/>
              </a:rPr>
              <a:t>sICH</a:t>
            </a:r>
            <a:r>
              <a:rPr lang="en-US" altLang="zh-CN" sz="1000" kern="100" dirty="0">
                <a:solidFill>
                  <a:prstClr val="black"/>
                </a:solidFill>
                <a:latin typeface="+mn-ea"/>
                <a:cs typeface="Times New Roman" panose="02020603050405020304" pitchFamily="18" charset="0"/>
              </a:rPr>
              <a:t>  assessed </a:t>
            </a:r>
            <a:endParaRPr lang="zh-CN" altLang="en-US" sz="1000" kern="100" dirty="0">
              <a:solidFill>
                <a:prstClr val="black"/>
              </a:solidFill>
              <a:latin typeface="+mn-ea"/>
              <a:cs typeface="Times New Roman" panose="02020603050405020304" pitchFamily="18" charset="0"/>
            </a:endParaRPr>
          </a:p>
        </p:txBody>
      </p:sp>
      <p:sp>
        <p:nvSpPr>
          <p:cNvPr id="20" name="矩形: 圆角 19">
            <a:extLst>
              <a:ext uri="{FF2B5EF4-FFF2-40B4-BE49-F238E27FC236}">
                <a16:creationId xmlns:a16="http://schemas.microsoft.com/office/drawing/2014/main" id="{093CB78F-A25D-4ED2-A6DF-5C791497BEBC}"/>
              </a:ext>
            </a:extLst>
          </p:cNvPr>
          <p:cNvSpPr/>
          <p:nvPr/>
        </p:nvSpPr>
        <p:spPr bwMode="gray">
          <a:xfrm>
            <a:off x="6363774" y="1872517"/>
            <a:ext cx="987394" cy="522808"/>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altLang="zh-CN" sz="1000" kern="100" dirty="0">
                <a:solidFill>
                  <a:prstClr val="black"/>
                </a:solidFill>
                <a:latin typeface="+mn-ea"/>
                <a:cs typeface="Times New Roman" panose="02020603050405020304" pitchFamily="18" charset="0"/>
              </a:rPr>
              <a:t>NIHSS &amp; </a:t>
            </a:r>
            <a:r>
              <a:rPr lang="en-US" altLang="zh-CN" sz="1000" kern="100" dirty="0" err="1">
                <a:solidFill>
                  <a:prstClr val="black"/>
                </a:solidFill>
                <a:latin typeface="+mn-ea"/>
                <a:cs typeface="Times New Roman" panose="02020603050405020304" pitchFamily="18" charset="0"/>
              </a:rPr>
              <a:t>sICH</a:t>
            </a:r>
            <a:r>
              <a:rPr lang="en-US" altLang="zh-CN" sz="1000" kern="100" dirty="0">
                <a:solidFill>
                  <a:prstClr val="black"/>
                </a:solidFill>
                <a:latin typeface="+mn-ea"/>
                <a:cs typeface="Times New Roman" panose="02020603050405020304" pitchFamily="18" charset="0"/>
              </a:rPr>
              <a:t>  assessed </a:t>
            </a:r>
            <a:endParaRPr lang="zh-CN" altLang="en-US" sz="1000" kern="100" dirty="0">
              <a:solidFill>
                <a:prstClr val="black"/>
              </a:solidFill>
              <a:latin typeface="+mn-ea"/>
              <a:cs typeface="Times New Roman" panose="02020603050405020304" pitchFamily="18" charset="0"/>
            </a:endParaRPr>
          </a:p>
        </p:txBody>
      </p:sp>
      <p:sp>
        <p:nvSpPr>
          <p:cNvPr id="21" name="矩形: 圆角 20">
            <a:extLst>
              <a:ext uri="{FF2B5EF4-FFF2-40B4-BE49-F238E27FC236}">
                <a16:creationId xmlns:a16="http://schemas.microsoft.com/office/drawing/2014/main" id="{1A3C62B3-A473-A4FA-A068-100DE685107E}"/>
              </a:ext>
            </a:extLst>
          </p:cNvPr>
          <p:cNvSpPr/>
          <p:nvPr/>
        </p:nvSpPr>
        <p:spPr bwMode="gray">
          <a:xfrm>
            <a:off x="7562796" y="1882761"/>
            <a:ext cx="987394" cy="522808"/>
          </a:xfrm>
          <a:prstGeom prst="roundRect">
            <a:avLst/>
          </a:prstGeom>
          <a:solidFill>
            <a:schemeClr val="bg1"/>
          </a:solidFill>
          <a:ln w="190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altLang="zh-CN" sz="1000" kern="100" dirty="0" err="1">
                <a:solidFill>
                  <a:prstClr val="black"/>
                </a:solidFill>
                <a:latin typeface="+mn-ea"/>
                <a:cs typeface="Times New Roman" panose="02020603050405020304" pitchFamily="18" charset="0"/>
              </a:rPr>
              <a:t>mRS</a:t>
            </a:r>
            <a:r>
              <a:rPr lang="en-US" altLang="zh-CN" sz="1000" kern="100" dirty="0">
                <a:solidFill>
                  <a:prstClr val="black"/>
                </a:solidFill>
                <a:latin typeface="+mn-ea"/>
                <a:cs typeface="Times New Roman" panose="02020603050405020304" pitchFamily="18" charset="0"/>
              </a:rPr>
              <a:t> and </a:t>
            </a:r>
          </a:p>
          <a:p>
            <a:pPr algn="ctr"/>
            <a:r>
              <a:rPr lang="en-CA" altLang="zh-CN" sz="1000" dirty="0">
                <a:solidFill>
                  <a:schemeClr val="tx1"/>
                </a:solidFill>
                <a:latin typeface="+mn-ea"/>
                <a:cs typeface="Times New Roman" panose="02020603050405020304" pitchFamily="18" charset="0"/>
              </a:rPr>
              <a:t>EQ-5D-5L </a:t>
            </a:r>
            <a:r>
              <a:rPr lang="en-US" altLang="zh-CN" sz="1000" kern="100" dirty="0">
                <a:solidFill>
                  <a:prstClr val="black"/>
                </a:solidFill>
                <a:latin typeface="+mn-ea"/>
                <a:cs typeface="Times New Roman" panose="02020603050405020304" pitchFamily="18" charset="0"/>
              </a:rPr>
              <a:t>assessed </a:t>
            </a:r>
            <a:endParaRPr lang="zh-CN" altLang="en-US" sz="1000" kern="100" dirty="0">
              <a:solidFill>
                <a:prstClr val="black"/>
              </a:solidFill>
              <a:latin typeface="+mn-ea"/>
              <a:cs typeface="Times New Roman" panose="02020603050405020304" pitchFamily="18" charset="0"/>
            </a:endParaRPr>
          </a:p>
        </p:txBody>
      </p:sp>
      <p:cxnSp>
        <p:nvCxnSpPr>
          <p:cNvPr id="22" name="直接箭头连接符 21">
            <a:extLst>
              <a:ext uri="{FF2B5EF4-FFF2-40B4-BE49-F238E27FC236}">
                <a16:creationId xmlns:a16="http://schemas.microsoft.com/office/drawing/2014/main" id="{0B024792-ED7D-E5F5-9639-1DBB03BBD3C2}"/>
              </a:ext>
            </a:extLst>
          </p:cNvPr>
          <p:cNvCxnSpPr>
            <a:cxnSpLocks/>
            <a:endCxn id="19" idx="1"/>
          </p:cNvCxnSpPr>
          <p:nvPr/>
        </p:nvCxnSpPr>
        <p:spPr>
          <a:xfrm flipV="1">
            <a:off x="4988386" y="2144165"/>
            <a:ext cx="238761" cy="25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直接箭头连接符 22">
            <a:extLst>
              <a:ext uri="{FF2B5EF4-FFF2-40B4-BE49-F238E27FC236}">
                <a16:creationId xmlns:a16="http://schemas.microsoft.com/office/drawing/2014/main" id="{982CC74B-8699-6500-7BB8-D2A6F19C3A95}"/>
              </a:ext>
            </a:extLst>
          </p:cNvPr>
          <p:cNvCxnSpPr>
            <a:cxnSpLocks/>
          </p:cNvCxnSpPr>
          <p:nvPr/>
        </p:nvCxnSpPr>
        <p:spPr>
          <a:xfrm flipV="1">
            <a:off x="6125012" y="2156970"/>
            <a:ext cx="238761" cy="25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直接箭头连接符 23">
            <a:extLst>
              <a:ext uri="{FF2B5EF4-FFF2-40B4-BE49-F238E27FC236}">
                <a16:creationId xmlns:a16="http://schemas.microsoft.com/office/drawing/2014/main" id="{311F2C93-C890-CB1A-3FA3-92025A24D784}"/>
              </a:ext>
            </a:extLst>
          </p:cNvPr>
          <p:cNvCxnSpPr>
            <a:cxnSpLocks/>
          </p:cNvCxnSpPr>
          <p:nvPr/>
        </p:nvCxnSpPr>
        <p:spPr>
          <a:xfrm flipV="1">
            <a:off x="7313185" y="2156970"/>
            <a:ext cx="238761" cy="25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文本框 49">
            <a:extLst>
              <a:ext uri="{FF2B5EF4-FFF2-40B4-BE49-F238E27FC236}">
                <a16:creationId xmlns:a16="http://schemas.microsoft.com/office/drawing/2014/main" id="{20F0D70C-13F5-E482-F097-60B3CE0C083F}"/>
              </a:ext>
            </a:extLst>
          </p:cNvPr>
          <p:cNvSpPr txBox="1"/>
          <p:nvPr/>
        </p:nvSpPr>
        <p:spPr>
          <a:xfrm>
            <a:off x="664638" y="4137128"/>
            <a:ext cx="8025652" cy="846698"/>
          </a:xfrm>
          <a:prstGeom prst="rect">
            <a:avLst/>
          </a:prstGeom>
          <a:solidFill>
            <a:schemeClr val="bg1"/>
          </a:solidFill>
        </p:spPr>
        <p:txBody>
          <a:bodyPr wrap="square">
            <a:spAutoFit/>
          </a:bodyPr>
          <a:lstStyle/>
          <a:p>
            <a:pPr defTabSz="685800"/>
            <a:r>
              <a:rPr lang="en-US" altLang="zh-CN" sz="800" b="1" dirty="0">
                <a:solidFill>
                  <a:prstClr val="black"/>
                </a:solidFill>
                <a:latin typeface="+mn-ea"/>
                <a:cs typeface="Times New Roman" panose="02020603050405020304" pitchFamily="18" charset="0"/>
              </a:rPr>
              <a:t>*Concurrent arm: 1.</a:t>
            </a:r>
            <a:r>
              <a:rPr lang="en-CA" altLang="zh-CN" sz="800" b="1" dirty="0">
                <a:latin typeface="+mn-ea"/>
                <a:cs typeface="Times New Roman" panose="02020603050405020304" pitchFamily="18" charset="0"/>
              </a:rPr>
              <a:t>Thrombolysis: </a:t>
            </a:r>
            <a:r>
              <a:rPr lang="en-CA" altLang="zh-CN" sz="800" dirty="0">
                <a:latin typeface="+mn-ea"/>
                <a:cs typeface="Times New Roman" panose="02020603050405020304" pitchFamily="18" charset="0"/>
              </a:rPr>
              <a:t>Immediately after randomization, IVT (alteplase or </a:t>
            </a:r>
            <a:r>
              <a:rPr lang="en-CA" altLang="zh-CN" sz="800" dirty="0" err="1">
                <a:latin typeface="+mn-ea"/>
                <a:cs typeface="Times New Roman" panose="02020603050405020304" pitchFamily="18" charset="0"/>
              </a:rPr>
              <a:t>tenecteplase</a:t>
            </a:r>
            <a:r>
              <a:rPr lang="en-CA" altLang="zh-CN" sz="800" dirty="0">
                <a:latin typeface="+mn-ea"/>
                <a:cs typeface="Times New Roman" panose="02020603050405020304" pitchFamily="18" charset="0"/>
              </a:rPr>
              <a:t>) is administered as per local practice. </a:t>
            </a:r>
            <a:r>
              <a:rPr lang="en-CA" altLang="zh-CN" sz="800" b="1" dirty="0">
                <a:latin typeface="+mn-ea"/>
                <a:cs typeface="Times New Roman" panose="02020603050405020304" pitchFamily="18" charset="0"/>
              </a:rPr>
              <a:t>2.Antihypertensive Therapy: </a:t>
            </a:r>
            <a:r>
              <a:rPr lang="en-CA" altLang="zh-CN" sz="800" dirty="0">
                <a:latin typeface="+mn-ea"/>
                <a:cs typeface="Times New Roman" panose="02020603050405020304" pitchFamily="18" charset="0"/>
              </a:rPr>
              <a:t>As soon as feasible after the start of thrombolysis, intravenous antihypertensive therapy is initiated with the goal of lowering blood pressure to below guideline recommended range (e.g. China: 180/100 mmHg; U.S./Canada/Europe: 185/110 mmHg).</a:t>
            </a:r>
            <a:endParaRPr lang="zh-CN" altLang="en-US" sz="800" dirty="0">
              <a:latin typeface="+mn-ea"/>
              <a:cs typeface="Times New Roman" panose="02020603050405020304" pitchFamily="18" charset="0"/>
            </a:endParaRPr>
          </a:p>
          <a:p>
            <a:pPr defTabSz="685800"/>
            <a:r>
              <a:rPr lang="en-US" altLang="zh-CN" sz="800" b="1" kern="100" baseline="30000" dirty="0">
                <a:solidFill>
                  <a:prstClr val="black"/>
                </a:solidFill>
                <a:latin typeface="+mn-ea"/>
                <a:cs typeface="Times New Roman" panose="02020603050405020304" pitchFamily="18" charset="0"/>
              </a:rPr>
              <a:t>#</a:t>
            </a:r>
            <a:r>
              <a:rPr lang="en-CA" altLang="zh-CN" sz="800" b="1" dirty="0">
                <a:latin typeface="+mn-ea"/>
                <a:cs typeface="Times New Roman" panose="02020603050405020304" pitchFamily="18" charset="0"/>
              </a:rPr>
              <a:t>Sequential arm:1. Antihypertensive Therapy: </a:t>
            </a:r>
            <a:r>
              <a:rPr lang="en-CA" altLang="zh-CN" sz="800" dirty="0">
                <a:latin typeface="+mn-ea"/>
                <a:cs typeface="Times New Roman" panose="02020603050405020304" pitchFamily="18" charset="0"/>
              </a:rPr>
              <a:t>Immediately after randomization, intravenous antihypertensive therapy is initiated to actively lower the patient's blood pressure to below the guideline recommended range.</a:t>
            </a:r>
            <a:r>
              <a:rPr lang="en-US" altLang="zh-CN" sz="800" dirty="0">
                <a:latin typeface="+mn-ea"/>
                <a:cs typeface="Times New Roman" panose="02020603050405020304" pitchFamily="18" charset="0"/>
              </a:rPr>
              <a:t> </a:t>
            </a:r>
            <a:r>
              <a:rPr lang="en-US" altLang="zh-CN" sz="800" b="1" dirty="0">
                <a:latin typeface="+mn-ea"/>
                <a:cs typeface="Times New Roman" panose="02020603050405020304" pitchFamily="18" charset="0"/>
              </a:rPr>
              <a:t>2. </a:t>
            </a:r>
            <a:r>
              <a:rPr lang="en-CA" altLang="zh-CN" sz="800" b="1" dirty="0">
                <a:latin typeface="+mn-ea"/>
                <a:cs typeface="Times New Roman" panose="02020603050405020304" pitchFamily="18" charset="0"/>
              </a:rPr>
              <a:t>Thrombolysis: </a:t>
            </a:r>
            <a:r>
              <a:rPr lang="en-CA" altLang="zh-CN" sz="800" dirty="0">
                <a:latin typeface="+mn-ea"/>
                <a:cs typeface="Times New Roman" panose="02020603050405020304" pitchFamily="18" charset="0"/>
              </a:rPr>
              <a:t>Once the blood pressure is confirmed to be at or below the guideline recommended range, intravenous thrombolysis (alteplase or </a:t>
            </a:r>
            <a:r>
              <a:rPr lang="en-CA" altLang="zh-CN" sz="800" dirty="0" err="1">
                <a:latin typeface="+mn-ea"/>
                <a:cs typeface="Times New Roman" panose="02020603050405020304" pitchFamily="18" charset="0"/>
              </a:rPr>
              <a:t>tenecteplase</a:t>
            </a:r>
            <a:r>
              <a:rPr lang="en-CA" altLang="zh-CN" sz="800" dirty="0">
                <a:latin typeface="+mn-ea"/>
                <a:cs typeface="Times New Roman" panose="02020603050405020304" pitchFamily="18" charset="0"/>
              </a:rPr>
              <a:t>,) is administered</a:t>
            </a:r>
            <a:endParaRPr lang="zh-CN" altLang="en-US" sz="800" dirty="0">
              <a:latin typeface="+mn-ea"/>
              <a:cs typeface="Times New Roman" panose="02020603050405020304" pitchFamily="18" charset="0"/>
            </a:endParaRPr>
          </a:p>
        </p:txBody>
      </p:sp>
      <p:sp>
        <p:nvSpPr>
          <p:cNvPr id="52" name="标题 1">
            <a:extLst>
              <a:ext uri="{FF2B5EF4-FFF2-40B4-BE49-F238E27FC236}">
                <a16:creationId xmlns:a16="http://schemas.microsoft.com/office/drawing/2014/main" id="{D85931F4-7AEE-BDCB-9BCE-7A941A84A8A9}"/>
              </a:ext>
            </a:extLst>
          </p:cNvPr>
          <p:cNvSpPr txBox="1">
            <a:spLocks/>
          </p:cNvSpPr>
          <p:nvPr/>
        </p:nvSpPr>
        <p:spPr bwMode="gray">
          <a:xfrm>
            <a:off x="479425" y="284645"/>
            <a:ext cx="8293100" cy="328541"/>
          </a:xfrm>
          <a:prstGeom prst="rect">
            <a:avLst/>
          </a:prstGeom>
        </p:spPr>
        <p:txBody>
          <a:bodyPr vert="horz" lIns="0" tIns="0" rIns="0" bIns="0" rtlCol="0" anchor="t">
            <a:noAutofit/>
          </a:bodyPr>
          <a:lstStyle>
            <a:lvl1pPr algn="l" defTabSz="685800" rtl="0" eaLnBrk="1" latinLnBrk="0" hangingPunct="1">
              <a:lnSpc>
                <a:spcPct val="100000"/>
              </a:lnSpc>
              <a:spcBef>
                <a:spcPct val="0"/>
              </a:spcBef>
              <a:buNone/>
              <a:defRPr sz="1875" b="1" kern="1200">
                <a:solidFill>
                  <a:schemeClr val="bg2"/>
                </a:solidFill>
                <a:latin typeface="Times New Roman" panose="02020603050405020304" pitchFamily="18" charset="0"/>
                <a:ea typeface="+mj-ea"/>
                <a:cs typeface="+mj-cs"/>
              </a:defRPr>
            </a:lvl1pPr>
          </a:lstStyle>
          <a:p>
            <a:r>
              <a:rPr lang="en-US" altLang="zh-CN" sz="2000" dirty="0">
                <a:solidFill>
                  <a:schemeClr val="tx1"/>
                </a:solidFill>
                <a:latin typeface="+mn-ea"/>
                <a:ea typeface="+mn-ea"/>
              </a:rPr>
              <a:t>Study Objective &amp; Design</a:t>
            </a:r>
            <a:endParaRPr lang="zh-CN" altLang="en-US" sz="2000" dirty="0">
              <a:solidFill>
                <a:schemeClr val="tx1"/>
              </a:solidFill>
              <a:latin typeface="+mn-ea"/>
              <a:ea typeface="+mn-ea"/>
            </a:endParaRPr>
          </a:p>
        </p:txBody>
      </p:sp>
      <p:sp>
        <p:nvSpPr>
          <p:cNvPr id="55" name="文本框 54">
            <a:extLst>
              <a:ext uri="{FF2B5EF4-FFF2-40B4-BE49-F238E27FC236}">
                <a16:creationId xmlns:a16="http://schemas.microsoft.com/office/drawing/2014/main" id="{671AD192-3696-9F76-D155-55664DB273BE}"/>
              </a:ext>
            </a:extLst>
          </p:cNvPr>
          <p:cNvSpPr txBox="1"/>
          <p:nvPr/>
        </p:nvSpPr>
        <p:spPr bwMode="gray">
          <a:xfrm>
            <a:off x="725635" y="3308781"/>
            <a:ext cx="1254298" cy="568910"/>
          </a:xfrm>
          <a:prstGeom prst="rect">
            <a:avLst/>
          </a:prstGeom>
          <a:noFill/>
        </p:spPr>
        <p:txBody>
          <a:bodyPr wrap="square">
            <a:spAutoFit/>
          </a:bodyPr>
          <a:lstStyle/>
          <a:p>
            <a:pPr algn="ctr"/>
            <a:r>
              <a:rPr lang="en-US" altLang="zh-CN" sz="1000" dirty="0">
                <a:solidFill>
                  <a:srgbClr val="08312A"/>
                </a:solidFill>
                <a:latin typeface="+mn-ea"/>
                <a:cs typeface="Times New Roman" panose="02020603050405020304" pitchFamily="18" charset="0"/>
              </a:rPr>
              <a:t>V</a:t>
            </a:r>
            <a:r>
              <a:rPr lang="zh-CN" altLang="en-US" sz="1000" dirty="0">
                <a:solidFill>
                  <a:srgbClr val="08312A"/>
                </a:solidFill>
                <a:latin typeface="+mn-ea"/>
                <a:cs typeface="Times New Roman" panose="02020603050405020304" pitchFamily="18" charset="0"/>
              </a:rPr>
              <a:t>1</a:t>
            </a:r>
            <a:endParaRPr lang="en-US" altLang="zh-CN" sz="1000" dirty="0">
              <a:solidFill>
                <a:srgbClr val="08312A"/>
              </a:solidFill>
              <a:latin typeface="+mn-ea"/>
              <a:cs typeface="Times New Roman" panose="02020603050405020304" pitchFamily="18" charset="0"/>
            </a:endParaRPr>
          </a:p>
          <a:p>
            <a:pPr algn="ctr"/>
            <a:r>
              <a:rPr lang="en-US" altLang="zh-CN" sz="1000" dirty="0">
                <a:solidFill>
                  <a:srgbClr val="08312A"/>
                </a:solidFill>
                <a:latin typeface="+mn-ea"/>
                <a:cs typeface="Times New Roman" panose="02020603050405020304" pitchFamily="18" charset="0"/>
              </a:rPr>
              <a:t>0-24h </a:t>
            </a:r>
          </a:p>
          <a:p>
            <a:pPr algn="ctr"/>
            <a:r>
              <a:rPr lang="en-US" altLang="zh-CN" sz="1000" dirty="0">
                <a:solidFill>
                  <a:srgbClr val="08312A"/>
                </a:solidFill>
                <a:latin typeface="+mn-ea"/>
                <a:cs typeface="Times New Roman" panose="02020603050405020304" pitchFamily="18" charset="0"/>
              </a:rPr>
              <a:t>before Treatment</a:t>
            </a:r>
            <a:endParaRPr lang="zh-CN" altLang="en-US" sz="1000" dirty="0">
              <a:solidFill>
                <a:srgbClr val="08312A"/>
              </a:solidFill>
              <a:latin typeface="+mn-ea"/>
              <a:cs typeface="Times New Roman" panose="02020603050405020304" pitchFamily="18" charset="0"/>
            </a:endParaRPr>
          </a:p>
        </p:txBody>
      </p:sp>
      <p:sp>
        <p:nvSpPr>
          <p:cNvPr id="2" name="文本框 1">
            <a:extLst>
              <a:ext uri="{FF2B5EF4-FFF2-40B4-BE49-F238E27FC236}">
                <a16:creationId xmlns:a16="http://schemas.microsoft.com/office/drawing/2014/main" id="{42FBE150-D70C-202E-93D5-86606715602C}"/>
              </a:ext>
            </a:extLst>
          </p:cNvPr>
          <p:cNvSpPr txBox="1"/>
          <p:nvPr/>
        </p:nvSpPr>
        <p:spPr>
          <a:xfrm>
            <a:off x="359555" y="759797"/>
            <a:ext cx="8424863" cy="849720"/>
          </a:xfrm>
          <a:prstGeom prst="rect">
            <a:avLst/>
          </a:prstGeom>
          <a:noFill/>
        </p:spPr>
        <p:txBody>
          <a:bodyPr wrap="square" rtlCol="0">
            <a:spAutoFit/>
          </a:bodyPr>
          <a:lstStyle/>
          <a:p>
            <a:pPr marL="285750" indent="-285750">
              <a:lnSpc>
                <a:spcPts val="1500"/>
              </a:lnSpc>
              <a:buFont typeface="Arial" panose="020B0604020202020204" pitchFamily="34" charset="0"/>
              <a:buChar char="•"/>
              <a:defRPr/>
            </a:pPr>
            <a:r>
              <a:rPr lang="en-CA" altLang="zh-CN" sz="1200" b="1" kern="100" dirty="0">
                <a:solidFill>
                  <a:prstClr val="black"/>
                </a:solidFill>
                <a:latin typeface="+mn-ea"/>
                <a:cs typeface="Times New Roman" panose="02020603050405020304" pitchFamily="18" charset="0"/>
              </a:rPr>
              <a:t>Objective: </a:t>
            </a:r>
            <a:r>
              <a:rPr lang="en-CA" altLang="zh-CN" sz="1200" kern="100" dirty="0">
                <a:solidFill>
                  <a:prstClr val="black"/>
                </a:solidFill>
                <a:latin typeface="+mn-ea"/>
                <a:cs typeface="Times New Roman" panose="02020603050405020304" pitchFamily="18" charset="0"/>
              </a:rPr>
              <a:t>To establish whether a concurrent strategy of initiating thrombolysis and antihypertensive therapy is superior to a sequential strategy in the overall management of acute ischemic stroke</a:t>
            </a:r>
            <a:endParaRPr lang="en-US" altLang="zh-CN" sz="1200" kern="100" dirty="0">
              <a:solidFill>
                <a:prstClr val="black"/>
              </a:solidFill>
              <a:latin typeface="+mn-ea"/>
              <a:cs typeface="Times New Roman" panose="02020603050405020304" pitchFamily="18" charset="0"/>
            </a:endParaRPr>
          </a:p>
          <a:p>
            <a:pPr marL="285750" marR="0" lvl="0" indent="-285750"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altLang="zh-CN" sz="1200" b="1" i="0" u="none" strike="noStrike" kern="100" cap="none" spc="0" normalizeH="0" baseline="0" noProof="0" dirty="0">
                <a:ln>
                  <a:noFill/>
                </a:ln>
                <a:solidFill>
                  <a:prstClr val="black"/>
                </a:solidFill>
                <a:effectLst/>
                <a:uLnTx/>
                <a:uFillTx/>
                <a:latin typeface="+mn-ea"/>
                <a:cs typeface="Times New Roman" panose="02020603050405020304" pitchFamily="18" charset="0"/>
              </a:rPr>
              <a:t>Study design:  </a:t>
            </a:r>
            <a:r>
              <a:rPr lang="en-US" altLang="zh-CN" sz="1200" kern="100" dirty="0">
                <a:latin typeface="+mn-ea"/>
                <a:cs typeface="Times New Roman" panose="02020603050405020304" pitchFamily="18" charset="0"/>
              </a:rPr>
              <a:t>a Phase III, prospective, multicenter, randomized, controlled, open-label, blinded-endpoint (PROBE), superiority trial.</a:t>
            </a:r>
            <a:endParaRPr kumimoji="0" lang="en-US" altLang="zh-CN" sz="1200" i="0" u="none" strike="noStrike" kern="100" cap="none" spc="0" normalizeH="0" baseline="0" noProof="0" dirty="0">
              <a:ln>
                <a:noFill/>
              </a:ln>
              <a:effectLst/>
              <a:uLnTx/>
              <a:uFillTx/>
              <a:latin typeface="+mn-ea"/>
              <a:cs typeface="Times New Roman" panose="02020603050405020304" pitchFamily="18" charset="0"/>
            </a:endParaRPr>
          </a:p>
        </p:txBody>
      </p:sp>
    </p:spTree>
    <p:extLst>
      <p:ext uri="{BB962C8B-B14F-4D97-AF65-F5344CB8AC3E}">
        <p14:creationId xmlns:p14="http://schemas.microsoft.com/office/powerpoint/2010/main" val="2817754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7737AA-4D35-BEBE-F4BC-6B1BDA783724}"/>
              </a:ext>
            </a:extLst>
          </p:cNvPr>
          <p:cNvSpPr>
            <a:spLocks noGrp="1"/>
          </p:cNvSpPr>
          <p:nvPr>
            <p:ph type="title"/>
          </p:nvPr>
        </p:nvSpPr>
        <p:spPr>
          <a:xfrm>
            <a:off x="477010" y="293811"/>
            <a:ext cx="8307421" cy="461666"/>
          </a:xfrm>
        </p:spPr>
        <p:txBody>
          <a:bodyPr/>
          <a:lstStyle/>
          <a:p>
            <a:r>
              <a:rPr lang="en-US" altLang="zh-CN" sz="2000" dirty="0">
                <a:solidFill>
                  <a:schemeClr val="tx1"/>
                </a:solidFill>
                <a:latin typeface="+mn-ea"/>
                <a:ea typeface="+mn-ea"/>
              </a:rPr>
              <a:t>Study Endpoints</a:t>
            </a:r>
            <a:endParaRPr lang="zh-CN" altLang="en-US" sz="2000" dirty="0">
              <a:solidFill>
                <a:schemeClr val="tx1"/>
              </a:solidFill>
              <a:latin typeface="+mn-ea"/>
              <a:ea typeface="+mn-ea"/>
            </a:endParaRPr>
          </a:p>
        </p:txBody>
      </p:sp>
      <p:sp>
        <p:nvSpPr>
          <p:cNvPr id="6" name="灯片编号占位符 5">
            <a:extLst>
              <a:ext uri="{FF2B5EF4-FFF2-40B4-BE49-F238E27FC236}">
                <a16:creationId xmlns:a16="http://schemas.microsoft.com/office/drawing/2014/main" id="{3D57326C-AE84-5934-10E9-FCB123961DF1}"/>
              </a:ext>
            </a:extLst>
          </p:cNvPr>
          <p:cNvSpPr>
            <a:spLocks noGrp="1"/>
          </p:cNvSpPr>
          <p:nvPr>
            <p:ph type="sldNum" sz="quarter" idx="20"/>
          </p:nvPr>
        </p:nvSpPr>
        <p:spPr/>
        <p:txBody>
          <a:bodyPr/>
          <a:lstStyle/>
          <a:p>
            <a:fld id="{143B55C4-4F5A-416B-997D-6CE47EB0A945}" type="slidenum">
              <a:rPr lang="en-GB" noProof="0" smtClean="0">
                <a:latin typeface="+mn-ea"/>
              </a:rPr>
              <a:pPr/>
              <a:t>9</a:t>
            </a:fld>
            <a:endParaRPr lang="en-GB" noProof="0">
              <a:latin typeface="+mn-ea"/>
            </a:endParaRPr>
          </a:p>
        </p:txBody>
      </p:sp>
      <p:sp>
        <p:nvSpPr>
          <p:cNvPr id="8" name="文本框 7">
            <a:extLst>
              <a:ext uri="{FF2B5EF4-FFF2-40B4-BE49-F238E27FC236}">
                <a16:creationId xmlns:a16="http://schemas.microsoft.com/office/drawing/2014/main" id="{0D63F048-49CE-3290-4BA4-921CBA90840E}"/>
              </a:ext>
            </a:extLst>
          </p:cNvPr>
          <p:cNvSpPr txBox="1"/>
          <p:nvPr/>
        </p:nvSpPr>
        <p:spPr>
          <a:xfrm>
            <a:off x="415047" y="735383"/>
            <a:ext cx="8307421" cy="3339825"/>
          </a:xfrm>
          <a:prstGeom prst="rect">
            <a:avLst/>
          </a:prstGeom>
          <a:noFill/>
        </p:spPr>
        <p:txBody>
          <a:bodyPr wrap="square" rtlCol="0">
            <a:spAutoFit/>
          </a:bodyPr>
          <a:lstStyle/>
          <a:p>
            <a:pPr marL="285750" indent="-285750" algn="just">
              <a:lnSpc>
                <a:spcPts val="1800"/>
              </a:lnSpc>
              <a:buFont typeface="Wingdings" panose="05000000000000000000" pitchFamily="2" charset="2"/>
              <a:buChar char="n"/>
            </a:pPr>
            <a:r>
              <a:rPr lang="en-US" altLang="zh-CN" sz="1200" b="1" kern="100" dirty="0">
                <a:latin typeface="+mn-ea"/>
                <a:cs typeface="Times New Roman" panose="02020603050405020304" pitchFamily="18" charset="0"/>
              </a:rPr>
              <a:t>Primary endpoint: a </a:t>
            </a:r>
            <a:r>
              <a:rPr lang="en-US" altLang="zh-CN" sz="1200" b="1" i="0" dirty="0">
                <a:effectLst/>
                <a:latin typeface="+mn-ea"/>
                <a:cs typeface="Times New Roman" panose="02020603050405020304" pitchFamily="18" charset="0"/>
              </a:rPr>
              <a:t>hierarchical composite endpoint analyzed using the win ratio</a:t>
            </a:r>
          </a:p>
          <a:p>
            <a:pPr lvl="1" fontAlgn="base">
              <a:lnSpc>
                <a:spcPts val="1500"/>
              </a:lnSpc>
            </a:pPr>
            <a:r>
              <a:rPr lang="en-CA" altLang="zh-CN" sz="1050" dirty="0">
                <a:latin typeface="+mn-ea"/>
              </a:rPr>
              <a:t>Rationale: The outcome of a stroke patient is multifaceted, involving a complex interplay between treatment efficacy, treatment-related harm, and the efficiency of the care process. A single endpoint, such as the modified Rankin Scale (</a:t>
            </a:r>
            <a:r>
              <a:rPr lang="en-CA" altLang="zh-CN" sz="1050" dirty="0" err="1">
                <a:latin typeface="+mn-ea"/>
              </a:rPr>
              <a:t>mRS</a:t>
            </a:r>
            <a:r>
              <a:rPr lang="en-CA" altLang="zh-CN" sz="1050" dirty="0">
                <a:latin typeface="+mn-ea"/>
              </a:rPr>
              <a:t>) alone, cannot capture this complexity. The win ratio is a patient-centered statistical method that allows for the comparison of treatment arms across several prioritized outcomes. It provides a more holistic assessment of the net clinical benefit. The hierarchy is ordered based on clinical importance:</a:t>
            </a:r>
            <a:endParaRPr lang="en-US" altLang="zh-CN" sz="1050" b="1" i="0" dirty="0">
              <a:effectLst/>
              <a:latin typeface="+mn-ea"/>
              <a:cs typeface="Times New Roman" panose="02020603050405020304" pitchFamily="18" charset="0"/>
            </a:endParaRPr>
          </a:p>
          <a:p>
            <a:pPr marL="685800" lvl="1" indent="-228600">
              <a:lnSpc>
                <a:spcPts val="1800"/>
              </a:lnSpc>
              <a:buFont typeface="+mj-lt"/>
              <a:buAutoNum type="arabicPeriod"/>
            </a:pPr>
            <a:r>
              <a:rPr lang="en-US" altLang="zh-CN" sz="1200" b="1" kern="100" dirty="0">
                <a:effectLst/>
                <a:latin typeface="+mn-ea"/>
                <a:cs typeface="Times New Roman" panose="02020603050405020304" pitchFamily="18" charset="0"/>
              </a:rPr>
              <a:t>Functional Outcome (</a:t>
            </a:r>
            <a:r>
              <a:rPr lang="en-US" altLang="zh-CN" sz="1200" b="1" kern="100" dirty="0" err="1">
                <a:effectLst/>
                <a:latin typeface="+mn-ea"/>
                <a:cs typeface="Times New Roman" panose="02020603050405020304" pitchFamily="18" charset="0"/>
              </a:rPr>
              <a:t>mRS</a:t>
            </a:r>
            <a:r>
              <a:rPr lang="en-US" altLang="zh-CN" sz="1200" b="1" kern="100" dirty="0">
                <a:effectLst/>
                <a:latin typeface="+mn-ea"/>
                <a:cs typeface="Times New Roman" panose="02020603050405020304" pitchFamily="18" charset="0"/>
              </a:rPr>
              <a:t>): </a:t>
            </a:r>
            <a:r>
              <a:rPr lang="en-US" altLang="zh-CN" sz="1200" kern="100" dirty="0">
                <a:effectLst/>
                <a:latin typeface="+mn-ea"/>
                <a:cs typeface="Times New Roman" panose="02020603050405020304" pitchFamily="18" charset="0"/>
              </a:rPr>
              <a:t>Defined as the distribution in scores on </a:t>
            </a:r>
            <a:r>
              <a:rPr lang="en-US" altLang="zh-CN" sz="1200" kern="100" dirty="0" err="1">
                <a:effectLst/>
                <a:latin typeface="+mn-ea"/>
                <a:cs typeface="Times New Roman" panose="02020603050405020304" pitchFamily="18" charset="0"/>
              </a:rPr>
              <a:t>mRS</a:t>
            </a:r>
            <a:r>
              <a:rPr lang="en-US" altLang="zh-CN" sz="1200" kern="100" dirty="0">
                <a:effectLst/>
                <a:latin typeface="+mn-ea"/>
                <a:cs typeface="Times New Roman" panose="02020603050405020304" pitchFamily="18" charset="0"/>
              </a:rPr>
              <a:t> at 90 days after randomization. This is the most important, patient-centered outcome. The comparison prioritizes who has a better functional status at 90 days.</a:t>
            </a:r>
          </a:p>
          <a:p>
            <a:pPr marL="685800" lvl="1" indent="-228600">
              <a:lnSpc>
                <a:spcPts val="1800"/>
              </a:lnSpc>
              <a:buFont typeface="+mj-lt"/>
              <a:buAutoNum type="arabicPeriod"/>
            </a:pPr>
            <a:r>
              <a:rPr lang="en-US" altLang="zh-CN" sz="1200" b="1" kern="100" dirty="0">
                <a:effectLst/>
                <a:latin typeface="+mn-ea"/>
                <a:cs typeface="Times New Roman" panose="02020603050405020304" pitchFamily="18" charset="0"/>
              </a:rPr>
              <a:t>Major Safety (</a:t>
            </a:r>
            <a:r>
              <a:rPr lang="en-US" altLang="zh-CN" sz="1200" b="1" kern="100" dirty="0" err="1">
                <a:effectLst/>
                <a:latin typeface="+mn-ea"/>
                <a:cs typeface="Times New Roman" panose="02020603050405020304" pitchFamily="18" charset="0"/>
              </a:rPr>
              <a:t>sICH</a:t>
            </a:r>
            <a:r>
              <a:rPr lang="en-US" altLang="zh-CN" sz="1200" b="1" kern="100" dirty="0">
                <a:effectLst/>
                <a:latin typeface="+mn-ea"/>
                <a:cs typeface="Times New Roman" panose="02020603050405020304" pitchFamily="18" charset="0"/>
              </a:rPr>
              <a:t>): </a:t>
            </a:r>
            <a:r>
              <a:rPr lang="en-US" altLang="zh-CN" sz="1200" kern="100" dirty="0">
                <a:effectLst/>
                <a:latin typeface="+mn-ea"/>
                <a:cs typeface="Times New Roman" panose="02020603050405020304" pitchFamily="18" charset="0"/>
              </a:rPr>
              <a:t>Defined as the </a:t>
            </a:r>
            <a:r>
              <a:rPr lang="en-US" altLang="zh-CN" sz="1200" kern="100" dirty="0" err="1">
                <a:effectLst/>
                <a:latin typeface="+mn-ea"/>
                <a:cs typeface="Times New Roman" panose="02020603050405020304" pitchFamily="18" charset="0"/>
              </a:rPr>
              <a:t>sICH</a:t>
            </a:r>
            <a:r>
              <a:rPr lang="en-US" altLang="zh-CN" sz="1200" kern="100" dirty="0">
                <a:effectLst/>
                <a:latin typeface="+mn-ea"/>
                <a:cs typeface="Times New Roman" panose="02020603050405020304" pitchFamily="18" charset="0"/>
              </a:rPr>
              <a:t> occurrence within 7 days after randomization</a:t>
            </a:r>
            <a:r>
              <a:rPr lang="en-US" altLang="zh-CN" sz="1200" kern="100" dirty="0">
                <a:latin typeface="+mn-ea"/>
                <a:cs typeface="Times New Roman" panose="02020603050405020304" pitchFamily="18" charset="0"/>
              </a:rPr>
              <a:t> </a:t>
            </a:r>
            <a:r>
              <a:rPr lang="en-US" altLang="zh-CN" sz="1200" kern="100" dirty="0">
                <a:effectLst/>
                <a:latin typeface="+mn-ea"/>
                <a:cs typeface="Times New Roman" panose="02020603050405020304" pitchFamily="18" charset="0"/>
              </a:rPr>
              <a:t>(or until discharge, whichever comes first), based on SITS-MOST criteria. If functional outcomes are tied, the comparison defaults to the most critical safety event. The patient who avoids </a:t>
            </a:r>
            <a:r>
              <a:rPr lang="en-US" altLang="zh-CN" sz="1200" kern="100" dirty="0" err="1">
                <a:effectLst/>
                <a:latin typeface="+mn-ea"/>
                <a:cs typeface="Times New Roman" panose="02020603050405020304" pitchFamily="18" charset="0"/>
              </a:rPr>
              <a:t>sICH</a:t>
            </a:r>
            <a:r>
              <a:rPr lang="en-US" altLang="zh-CN" sz="1200" kern="100" dirty="0">
                <a:effectLst/>
                <a:latin typeface="+mn-ea"/>
                <a:cs typeface="Times New Roman" panose="02020603050405020304" pitchFamily="18" charset="0"/>
              </a:rPr>
              <a:t> wins.</a:t>
            </a:r>
          </a:p>
          <a:p>
            <a:pPr marL="685800" lvl="1" indent="-228600">
              <a:lnSpc>
                <a:spcPts val="1800"/>
              </a:lnSpc>
              <a:buFont typeface="+mj-lt"/>
              <a:buAutoNum type="arabicPeriod"/>
            </a:pPr>
            <a:r>
              <a:rPr lang="en-US" altLang="zh-CN" sz="1200" b="1" kern="100" dirty="0">
                <a:effectLst/>
                <a:latin typeface="+mn-ea"/>
                <a:cs typeface="Times New Roman" panose="02020603050405020304" pitchFamily="18" charset="0"/>
              </a:rPr>
              <a:t>Process Efficiency (DNT): </a:t>
            </a:r>
            <a:r>
              <a:rPr lang="en-US" altLang="zh-CN" sz="1200" kern="100" dirty="0">
                <a:effectLst/>
                <a:latin typeface="+mn-ea"/>
                <a:cs typeface="Times New Roman" panose="02020603050405020304" pitchFamily="18" charset="0"/>
              </a:rPr>
              <a:t>Defined as the time between emergency department arrival to thrombolysis start (DNT). If both efficacy and safety are tied, the final comparison is the primary mechanistic target of the intervention: treatment timeliness. The patient treated faster wins.</a:t>
            </a:r>
          </a:p>
        </p:txBody>
      </p:sp>
      <p:sp>
        <p:nvSpPr>
          <p:cNvPr id="4" name="文本框 3">
            <a:extLst>
              <a:ext uri="{FF2B5EF4-FFF2-40B4-BE49-F238E27FC236}">
                <a16:creationId xmlns:a16="http://schemas.microsoft.com/office/drawing/2014/main" id="{F8D29EE2-9919-54DF-3773-D708080A030B}"/>
              </a:ext>
            </a:extLst>
          </p:cNvPr>
          <p:cNvSpPr txBox="1"/>
          <p:nvPr/>
        </p:nvSpPr>
        <p:spPr bwMode="gray">
          <a:xfrm>
            <a:off x="576263" y="4087486"/>
            <a:ext cx="8208168" cy="461665"/>
          </a:xfrm>
          <a:prstGeom prst="rect">
            <a:avLst/>
          </a:prstGeom>
          <a:noFill/>
        </p:spPr>
        <p:txBody>
          <a:bodyPr wrap="square">
            <a:spAutoFit/>
          </a:bodyPr>
          <a:lstStyle/>
          <a:p>
            <a:r>
              <a:rPr lang="en-US" altLang="zh-CN" sz="800" dirty="0">
                <a:latin typeface="+mn-ea"/>
              </a:rPr>
              <a:t>The primary analysis will be a win ratio of the hierarchical composite endpoint (90-day </a:t>
            </a:r>
            <a:r>
              <a:rPr lang="en-US" altLang="zh-CN" sz="800" dirty="0" err="1">
                <a:latin typeface="+mn-ea"/>
              </a:rPr>
              <a:t>mRS</a:t>
            </a:r>
            <a:r>
              <a:rPr lang="en-US" altLang="zh-CN" sz="800" dirty="0">
                <a:latin typeface="+mn-ea"/>
              </a:rPr>
              <a:t>, </a:t>
            </a:r>
            <a:r>
              <a:rPr lang="en-US" altLang="zh-CN" sz="800" dirty="0" err="1">
                <a:latin typeface="+mn-ea"/>
              </a:rPr>
              <a:t>sICH</a:t>
            </a:r>
            <a:r>
              <a:rPr lang="en-US" altLang="zh-CN" sz="800" dirty="0">
                <a:latin typeface="+mn-ea"/>
              </a:rPr>
              <a:t>, DNT). Patient pairs will be formed. Pairs that are tied on all three components of the endpoint will be treated as neutral ("ties"). The proportion of wins, losses, and ties will be reported. Win ratio with 95% confidence interval will be estimated as a measurement of treatment effect. Primary analysis will be based on the unadjusted win ratio approach.</a:t>
            </a:r>
          </a:p>
        </p:txBody>
      </p:sp>
      <p:sp>
        <p:nvSpPr>
          <p:cNvPr id="3" name="文本框 2">
            <a:extLst>
              <a:ext uri="{FF2B5EF4-FFF2-40B4-BE49-F238E27FC236}">
                <a16:creationId xmlns:a16="http://schemas.microsoft.com/office/drawing/2014/main" id="{7FCF69B3-E6D9-D76B-E495-84D5EE66DB61}"/>
              </a:ext>
            </a:extLst>
          </p:cNvPr>
          <p:cNvSpPr txBox="1"/>
          <p:nvPr/>
        </p:nvSpPr>
        <p:spPr bwMode="gray">
          <a:xfrm>
            <a:off x="6310004" y="4682246"/>
            <a:ext cx="2048638" cy="369332"/>
          </a:xfrm>
          <a:prstGeom prst="rect">
            <a:avLst/>
          </a:prstGeom>
          <a:noFill/>
        </p:spPr>
        <p:txBody>
          <a:bodyPr wrap="none" lIns="0" tIns="0" rIns="0" bIns="0" rtlCol="0">
            <a:spAutoFit/>
          </a:bodyPr>
          <a:lstStyle/>
          <a:p>
            <a:pPr algn="l"/>
            <a:r>
              <a:rPr lang="en-US" altLang="zh-CN" sz="800" dirty="0" err="1">
                <a:latin typeface="+mn-ea"/>
              </a:rPr>
              <a:t>mRS</a:t>
            </a:r>
            <a:r>
              <a:rPr lang="en-US" altLang="zh-CN" sz="800" dirty="0">
                <a:latin typeface="+mn-ea"/>
              </a:rPr>
              <a:t>: modified Rankin Scale</a:t>
            </a:r>
          </a:p>
          <a:p>
            <a:r>
              <a:rPr lang="en-US" altLang="zh-CN" sz="800" dirty="0" err="1">
                <a:latin typeface="+mn-ea"/>
              </a:rPr>
              <a:t>sICH</a:t>
            </a:r>
            <a:r>
              <a:rPr lang="en-US" altLang="zh-CN" sz="800" dirty="0">
                <a:latin typeface="+mn-ea"/>
              </a:rPr>
              <a:t>: symptomatic intracerebral hemorrhage</a:t>
            </a:r>
          </a:p>
          <a:p>
            <a:pPr algn="l"/>
            <a:r>
              <a:rPr lang="en-US" altLang="zh-CN" sz="800" dirty="0">
                <a:latin typeface="+mn-ea"/>
              </a:rPr>
              <a:t>DNT: door-to-needle time  </a:t>
            </a:r>
            <a:endParaRPr lang="zh-CN" altLang="en-US" sz="800" dirty="0">
              <a:latin typeface="+mn-ea"/>
            </a:endParaRPr>
          </a:p>
        </p:txBody>
      </p:sp>
    </p:spTree>
    <p:extLst>
      <p:ext uri="{BB962C8B-B14F-4D97-AF65-F5344CB8AC3E}">
        <p14:creationId xmlns:p14="http://schemas.microsoft.com/office/powerpoint/2010/main" val="4269112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AA0734C-5930-B596-5DD4-56AD72808452}"/>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600" b="0" i="0" u="none" strike="noStrike" kern="1200" cap="none" spc="0" normalizeH="0" baseline="0" noProof="0" dirty="0">
              <a:ln>
                <a:noFill/>
              </a:ln>
              <a:solidFill>
                <a:srgbClr val="08312A"/>
              </a:solidFill>
              <a:effectLst/>
              <a:uLnTx/>
              <a:uFillTx/>
              <a:latin typeface="Times New Roman" panose="02020603050405020304" pitchFamily="18" charset="0"/>
              <a:ea typeface="+mn-ea"/>
              <a:cs typeface="+mn-cs"/>
            </a:endParaRPr>
          </a:p>
        </p:txBody>
      </p:sp>
      <p:sp>
        <p:nvSpPr>
          <p:cNvPr id="36" name="Title 35">
            <a:extLst>
              <a:ext uri="{FF2B5EF4-FFF2-40B4-BE49-F238E27FC236}">
                <a16:creationId xmlns:a16="http://schemas.microsoft.com/office/drawing/2014/main" id="{79179209-D8A9-32CB-5C3E-308C6D51C4C8}"/>
              </a:ext>
            </a:extLst>
          </p:cNvPr>
          <p:cNvSpPr>
            <a:spLocks noGrp="1"/>
          </p:cNvSpPr>
          <p:nvPr>
            <p:ph type="title"/>
          </p:nvPr>
        </p:nvSpPr>
        <p:spPr>
          <a:xfrm>
            <a:off x="479425" y="297791"/>
            <a:ext cx="8305438" cy="324286"/>
          </a:xfrm>
        </p:spPr>
        <p:txBody>
          <a:bodyPr/>
          <a:lstStyle/>
          <a:p>
            <a:r>
              <a:rPr lang="en-US" altLang="zh-CN" sz="2000" dirty="0">
                <a:latin typeface="+mn-ea"/>
                <a:ea typeface="+mn-ea"/>
              </a:rPr>
              <a:t>Flowchart of win ratio method</a:t>
            </a:r>
            <a:endParaRPr lang="zh-CN" altLang="en-US" sz="2000" dirty="0">
              <a:latin typeface="+mn-ea"/>
              <a:ea typeface="+mn-ea"/>
            </a:endParaRPr>
          </a:p>
        </p:txBody>
      </p:sp>
      <p:cxnSp>
        <p:nvCxnSpPr>
          <p:cNvPr id="84" name="Straight Arrow Connector 83">
            <a:extLst>
              <a:ext uri="{FF2B5EF4-FFF2-40B4-BE49-F238E27FC236}">
                <a16:creationId xmlns:a16="http://schemas.microsoft.com/office/drawing/2014/main" id="{9717D7EE-7ADB-375B-90E8-2C9F408C6E52}"/>
              </a:ext>
            </a:extLst>
          </p:cNvPr>
          <p:cNvCxnSpPr>
            <a:cxnSpLocks/>
          </p:cNvCxnSpPr>
          <p:nvPr/>
        </p:nvCxnSpPr>
        <p:spPr bwMode="gray">
          <a:xfrm flipV="1">
            <a:off x="1388319" y="1849043"/>
            <a:ext cx="967062" cy="2010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518E4251-EC26-8BF8-60D9-B70180668D95}"/>
              </a:ext>
            </a:extLst>
          </p:cNvPr>
          <p:cNvCxnSpPr>
            <a:cxnSpLocks/>
          </p:cNvCxnSpPr>
          <p:nvPr/>
        </p:nvCxnSpPr>
        <p:spPr bwMode="gray">
          <a:xfrm flipV="1">
            <a:off x="1377912" y="2293015"/>
            <a:ext cx="977469" cy="1067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CFA035EA-33FA-3666-2232-E24659DE3822}"/>
              </a:ext>
            </a:extLst>
          </p:cNvPr>
          <p:cNvCxnSpPr>
            <a:cxnSpLocks/>
          </p:cNvCxnSpPr>
          <p:nvPr/>
        </p:nvCxnSpPr>
        <p:spPr bwMode="gray">
          <a:xfrm>
            <a:off x="1383531" y="3231411"/>
            <a:ext cx="1034919" cy="1666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3C2E996B-381B-5A24-8B9F-5456D62D6C50}"/>
              </a:ext>
            </a:extLst>
          </p:cNvPr>
          <p:cNvCxnSpPr>
            <a:cxnSpLocks/>
          </p:cNvCxnSpPr>
          <p:nvPr/>
        </p:nvCxnSpPr>
        <p:spPr bwMode="gray">
          <a:xfrm>
            <a:off x="1391530" y="2306550"/>
            <a:ext cx="1061872" cy="92067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A5F4D9ED-A816-C261-E404-8344102CB021}"/>
              </a:ext>
            </a:extLst>
          </p:cNvPr>
          <p:cNvCxnSpPr>
            <a:cxnSpLocks/>
          </p:cNvCxnSpPr>
          <p:nvPr/>
        </p:nvCxnSpPr>
        <p:spPr bwMode="gray">
          <a:xfrm>
            <a:off x="1388318" y="1873931"/>
            <a:ext cx="1072386" cy="131363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7743C300-CAAD-DE7C-F0FC-D33BBFA628E4}"/>
              </a:ext>
            </a:extLst>
          </p:cNvPr>
          <p:cNvCxnSpPr>
            <a:cxnSpLocks/>
          </p:cNvCxnSpPr>
          <p:nvPr/>
        </p:nvCxnSpPr>
        <p:spPr bwMode="gray">
          <a:xfrm flipV="1">
            <a:off x="1377910" y="1909747"/>
            <a:ext cx="984997" cy="131863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027AD3FD-3DB1-D3AC-52CD-C4BF1081141A}"/>
              </a:ext>
            </a:extLst>
          </p:cNvPr>
          <p:cNvCxnSpPr>
            <a:cxnSpLocks/>
          </p:cNvCxnSpPr>
          <p:nvPr/>
        </p:nvCxnSpPr>
        <p:spPr bwMode="gray">
          <a:xfrm flipV="1">
            <a:off x="1383531" y="2308805"/>
            <a:ext cx="984996" cy="92034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3F289244-9D7A-B49B-E899-75F46E929CCE}"/>
              </a:ext>
            </a:extLst>
          </p:cNvPr>
          <p:cNvCxnSpPr>
            <a:cxnSpLocks/>
          </p:cNvCxnSpPr>
          <p:nvPr/>
        </p:nvCxnSpPr>
        <p:spPr bwMode="gray">
          <a:xfrm flipV="1">
            <a:off x="1388318" y="1869507"/>
            <a:ext cx="974589" cy="4309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46E143B7-E9EB-D08E-0CE9-B1FA19B7E8CA}"/>
              </a:ext>
            </a:extLst>
          </p:cNvPr>
          <p:cNvSpPr txBox="1"/>
          <p:nvPr/>
        </p:nvSpPr>
        <p:spPr bwMode="gray">
          <a:xfrm>
            <a:off x="1250531" y="748104"/>
            <a:ext cx="2093055" cy="23692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Boehringer Forward Text"/>
                <a:ea typeface="+mn-ea"/>
                <a:cs typeface="+mn-cs"/>
              </a:rPr>
              <a:t>Step1: Pairs setup</a:t>
            </a:r>
            <a:endParaRPr kumimoji="0" lang="zh-CN" altLang="en-US" sz="1200" b="1"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37" name="TextBox 136">
            <a:extLst>
              <a:ext uri="{FF2B5EF4-FFF2-40B4-BE49-F238E27FC236}">
                <a16:creationId xmlns:a16="http://schemas.microsoft.com/office/drawing/2014/main" id="{945BC888-3936-A64A-79B2-494C8FC4D5E0}"/>
              </a:ext>
            </a:extLst>
          </p:cNvPr>
          <p:cNvSpPr txBox="1"/>
          <p:nvPr/>
        </p:nvSpPr>
        <p:spPr bwMode="gray">
          <a:xfrm>
            <a:off x="5173107" y="737392"/>
            <a:ext cx="2296573" cy="23692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Boehringer Forward Text"/>
                <a:ea typeface="+mn-ea"/>
                <a:cs typeface="+mn-cs"/>
              </a:rPr>
              <a:t>Step2: Comparison of all pairs</a:t>
            </a:r>
            <a:endParaRPr kumimoji="0" lang="zh-CN" altLang="en-US" sz="1200" b="1" i="0" u="none" strike="noStrike" kern="1200" cap="none" spc="0" normalizeH="0" baseline="0" noProof="0" dirty="0">
              <a:ln>
                <a:noFill/>
              </a:ln>
              <a:solidFill>
                <a:prstClr val="black"/>
              </a:solidFill>
              <a:effectLst/>
              <a:uLnTx/>
              <a:uFillTx/>
              <a:latin typeface="Boehringer Forward Text"/>
              <a:ea typeface="+mn-ea"/>
              <a:cs typeface="+mn-cs"/>
            </a:endParaRPr>
          </a:p>
        </p:txBody>
      </p:sp>
      <p:grpSp>
        <p:nvGrpSpPr>
          <p:cNvPr id="146" name="Group 145">
            <a:extLst>
              <a:ext uri="{FF2B5EF4-FFF2-40B4-BE49-F238E27FC236}">
                <a16:creationId xmlns:a16="http://schemas.microsoft.com/office/drawing/2014/main" id="{6C574D18-1406-D05D-5B35-E61711493FFE}"/>
              </a:ext>
            </a:extLst>
          </p:cNvPr>
          <p:cNvGrpSpPr/>
          <p:nvPr/>
        </p:nvGrpSpPr>
        <p:grpSpPr>
          <a:xfrm>
            <a:off x="4043141" y="1103289"/>
            <a:ext cx="4296945" cy="3529424"/>
            <a:chOff x="54524" y="1097280"/>
            <a:chExt cx="8906594" cy="5635814"/>
          </a:xfrm>
        </p:grpSpPr>
        <p:sp>
          <p:nvSpPr>
            <p:cNvPr id="147" name="Oval 146">
              <a:extLst>
                <a:ext uri="{FF2B5EF4-FFF2-40B4-BE49-F238E27FC236}">
                  <a16:creationId xmlns:a16="http://schemas.microsoft.com/office/drawing/2014/main" id="{B3AEBC9E-FFC1-52FE-EB56-4CC32EFB221A}"/>
                </a:ext>
              </a:extLst>
            </p:cNvPr>
            <p:cNvSpPr/>
            <p:nvPr/>
          </p:nvSpPr>
          <p:spPr>
            <a:xfrm>
              <a:off x="3840480" y="1097280"/>
              <a:ext cx="1463040" cy="457200"/>
            </a:xfrm>
            <a:prstGeom prst="ellipse">
              <a:avLst/>
            </a:prstGeom>
            <a:solidFill>
              <a:srgbClr val="FCD34D"/>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100" b="1">
                  <a:solidFill>
                    <a:srgbClr val="FFFFFF"/>
                  </a:solidFill>
                </a:defRPr>
              </a:pPr>
              <a:r>
                <a:rPr kumimoji="0" lang="en-US" altLang="zh-CN" sz="600" b="1" i="0" u="none" strike="noStrike" kern="1200" cap="none" spc="0" normalizeH="0" baseline="0" noProof="0" dirty="0">
                  <a:ln>
                    <a:noFill/>
                  </a:ln>
                  <a:solidFill>
                    <a:prstClr val="black"/>
                  </a:solidFill>
                  <a:effectLst/>
                  <a:uLnTx/>
                  <a:uFillTx/>
                  <a:latin typeface="Boehringer Forward Text"/>
                  <a:ea typeface="+mn-ea"/>
                  <a:cs typeface="+mn-cs"/>
                </a:rPr>
                <a:t>For </a:t>
              </a:r>
              <a:r>
                <a:rPr kumimoji="0" lang="de-DE" altLang="zh-CN" sz="600" b="1" i="0" u="none" strike="noStrike" kern="1200" cap="none" spc="0" normalizeH="0" baseline="0" noProof="0" dirty="0">
                  <a:ln>
                    <a:noFill/>
                  </a:ln>
                  <a:solidFill>
                    <a:prstClr val="black"/>
                  </a:solidFill>
                  <a:effectLst/>
                  <a:uLnTx/>
                  <a:uFillTx/>
                  <a:latin typeface="Boehringer Forward Text"/>
                  <a:ea typeface="+mn-ea"/>
                  <a:cs typeface="+mn-cs"/>
                </a:rPr>
                <a:t>all pairs</a:t>
              </a:r>
              <a:endParaRPr kumimoji="0" sz="600" b="1"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49" name="Diamond 148">
              <a:extLst>
                <a:ext uri="{FF2B5EF4-FFF2-40B4-BE49-F238E27FC236}">
                  <a16:creationId xmlns:a16="http://schemas.microsoft.com/office/drawing/2014/main" id="{D2E8F332-88E5-5AF0-C2FC-A13DCCB5A3BE}"/>
                </a:ext>
              </a:extLst>
            </p:cNvPr>
            <p:cNvSpPr/>
            <p:nvPr/>
          </p:nvSpPr>
          <p:spPr>
            <a:xfrm>
              <a:off x="3474720" y="1920240"/>
              <a:ext cx="2194560" cy="822960"/>
            </a:xfrm>
            <a:prstGeom prst="diamond">
              <a:avLst/>
            </a:prstGeom>
            <a:solidFill>
              <a:srgbClr val="7C3AED"/>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FFFFFF"/>
                  </a:solidFill>
                </a:defRPr>
              </a:pPr>
              <a:r>
                <a:rPr kumimoji="0" sz="600" b="1" i="0" u="none" strike="noStrike" kern="1200" cap="none" spc="0" normalizeH="0" baseline="0" noProof="0" dirty="0">
                  <a:ln>
                    <a:noFill/>
                  </a:ln>
                  <a:solidFill>
                    <a:srgbClr val="FFFFFF"/>
                  </a:solidFill>
                  <a:effectLst/>
                  <a:uLnTx/>
                  <a:uFillTx/>
                  <a:latin typeface="Boehringer Forward Text"/>
                  <a:ea typeface="+mn-ea"/>
                  <a:cs typeface="+mn-cs"/>
                </a:rPr>
                <a:t>Compare</a:t>
              </a:r>
              <a:br>
                <a:rPr kumimoji="0" sz="600" b="1" i="0" u="none" strike="noStrike" kern="1200" cap="none" spc="0" normalizeH="0" baseline="0" noProof="0" dirty="0">
                  <a:ln>
                    <a:noFill/>
                  </a:ln>
                  <a:solidFill>
                    <a:srgbClr val="FFFFFF"/>
                  </a:solidFill>
                  <a:effectLst/>
                  <a:uLnTx/>
                  <a:uFillTx/>
                  <a:latin typeface="Boehringer Forward Text"/>
                  <a:ea typeface="+mn-ea"/>
                  <a:cs typeface="+mn-cs"/>
                </a:rPr>
              </a:br>
              <a:r>
                <a:rPr kumimoji="0" sz="600" b="1" i="0" u="none" strike="noStrike" kern="1200" cap="none" spc="0" normalizeH="0" baseline="0" noProof="0" dirty="0" err="1">
                  <a:ln>
                    <a:noFill/>
                  </a:ln>
                  <a:solidFill>
                    <a:srgbClr val="FFFFFF"/>
                  </a:solidFill>
                  <a:effectLst/>
                  <a:uLnTx/>
                  <a:uFillTx/>
                  <a:latin typeface="Boehringer Forward Text"/>
                  <a:ea typeface="+mn-ea"/>
                  <a:cs typeface="+mn-cs"/>
                </a:rPr>
                <a:t>mRS</a:t>
              </a:r>
              <a:endParaRPr kumimoji="0" sz="6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51" name="TextBox 150">
              <a:extLst>
                <a:ext uri="{FF2B5EF4-FFF2-40B4-BE49-F238E27FC236}">
                  <a16:creationId xmlns:a16="http://schemas.microsoft.com/office/drawing/2014/main" id="{B675BE41-0E4A-9B7A-88D2-3B7187A90707}"/>
                </a:ext>
              </a:extLst>
            </p:cNvPr>
            <p:cNvSpPr txBox="1"/>
            <p:nvPr/>
          </p:nvSpPr>
          <p:spPr>
            <a:xfrm>
              <a:off x="2231092" y="2031977"/>
              <a:ext cx="899582" cy="3440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59669"/>
                  </a:solidFill>
                </a:defRPr>
              </a:pPr>
              <a:r>
                <a:rPr kumimoji="0" sz="800" b="1" i="0" u="none" strike="noStrike" kern="1200" cap="none" spc="0" normalizeH="0" baseline="0" noProof="0" dirty="0">
                  <a:ln>
                    <a:noFill/>
                  </a:ln>
                  <a:solidFill>
                    <a:srgbClr val="059669"/>
                  </a:solidFill>
                  <a:effectLst/>
                  <a:uLnTx/>
                  <a:uFillTx/>
                  <a:latin typeface="Boehringer Forward Text"/>
                  <a:ea typeface="+mn-ea"/>
                  <a:cs typeface="+mn-cs"/>
                </a:rPr>
                <a:t>Win</a:t>
              </a:r>
            </a:p>
          </p:txBody>
        </p:sp>
        <p:sp>
          <p:nvSpPr>
            <p:cNvPr id="152" name="Rounded Rectangle 7">
              <a:extLst>
                <a:ext uri="{FF2B5EF4-FFF2-40B4-BE49-F238E27FC236}">
                  <a16:creationId xmlns:a16="http://schemas.microsoft.com/office/drawing/2014/main" id="{C1338D46-B241-E710-11AF-6B4A1A900D14}"/>
                </a:ext>
              </a:extLst>
            </p:cNvPr>
            <p:cNvSpPr/>
            <p:nvPr/>
          </p:nvSpPr>
          <p:spPr>
            <a:xfrm>
              <a:off x="1127928" y="2154837"/>
              <a:ext cx="914400" cy="365760"/>
            </a:xfrm>
            <a:prstGeom prst="roundRect">
              <a:avLst/>
            </a:prstGeom>
            <a:solidFill>
              <a:srgbClr val="059669"/>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lang="en-US" sz="800" b="1" i="0" u="none" strike="noStrike" kern="1200" cap="none" spc="0" normalizeH="0" baseline="0" noProof="0" dirty="0">
                  <a:ln>
                    <a:noFill/>
                  </a:ln>
                  <a:solidFill>
                    <a:srgbClr val="FFFFFF"/>
                  </a:solidFill>
                  <a:effectLst/>
                  <a:uLnTx/>
                  <a:uFillTx/>
                  <a:latin typeface="Boehringer Forward Text"/>
                  <a:ea typeface="+mn-ea"/>
                  <a:cs typeface="+mn-cs"/>
                </a:rPr>
                <a:t>T&lt;C</a:t>
              </a:r>
              <a:endParaRPr kumimoji="0" sz="8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54" name="TextBox 153">
              <a:extLst>
                <a:ext uri="{FF2B5EF4-FFF2-40B4-BE49-F238E27FC236}">
                  <a16:creationId xmlns:a16="http://schemas.microsoft.com/office/drawing/2014/main" id="{8C7E25B6-A10E-12D2-7498-CFD8AB8E576C}"/>
                </a:ext>
              </a:extLst>
            </p:cNvPr>
            <p:cNvSpPr txBox="1"/>
            <p:nvPr/>
          </p:nvSpPr>
          <p:spPr>
            <a:xfrm>
              <a:off x="5821521" y="1987437"/>
              <a:ext cx="914400" cy="3440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DC2626"/>
                  </a:solidFill>
                </a:defRPr>
              </a:pPr>
              <a:r>
                <a:rPr kumimoji="0" sz="800" b="1" i="0" u="none" strike="noStrike" kern="1200" cap="none" spc="0" normalizeH="0" baseline="0" noProof="0" dirty="0">
                  <a:ln>
                    <a:noFill/>
                  </a:ln>
                  <a:solidFill>
                    <a:srgbClr val="DC2626"/>
                  </a:solidFill>
                  <a:effectLst/>
                  <a:uLnTx/>
                  <a:uFillTx/>
                  <a:latin typeface="Boehringer Forward Text"/>
                  <a:ea typeface="+mn-ea"/>
                  <a:cs typeface="+mn-cs"/>
                </a:rPr>
                <a:t>Loss</a:t>
              </a:r>
              <a:endParaRPr kumimoji="0" sz="600" b="1" i="0" u="none" strike="noStrike" kern="1200" cap="none" spc="0" normalizeH="0" baseline="0" noProof="0" dirty="0">
                <a:ln>
                  <a:noFill/>
                </a:ln>
                <a:solidFill>
                  <a:srgbClr val="DC2626"/>
                </a:solidFill>
                <a:effectLst/>
                <a:uLnTx/>
                <a:uFillTx/>
                <a:latin typeface="Boehringer Forward Text"/>
                <a:ea typeface="+mn-ea"/>
                <a:cs typeface="+mn-cs"/>
              </a:endParaRPr>
            </a:p>
          </p:txBody>
        </p:sp>
        <p:sp>
          <p:nvSpPr>
            <p:cNvPr id="155" name="Rounded Rectangle 10">
              <a:extLst>
                <a:ext uri="{FF2B5EF4-FFF2-40B4-BE49-F238E27FC236}">
                  <a16:creationId xmlns:a16="http://schemas.microsoft.com/office/drawing/2014/main" id="{B10B8168-2846-1981-7813-ED10862FBBFA}"/>
                </a:ext>
              </a:extLst>
            </p:cNvPr>
            <p:cNvSpPr/>
            <p:nvPr/>
          </p:nvSpPr>
          <p:spPr>
            <a:xfrm>
              <a:off x="7132320" y="2148840"/>
              <a:ext cx="914400" cy="365760"/>
            </a:xfrm>
            <a:prstGeom prst="roundRect">
              <a:avLst/>
            </a:prstGeom>
            <a:solidFill>
              <a:srgbClr val="DC2626"/>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lang="en-US" sz="800" b="1" i="0" u="none" strike="noStrike" kern="1200" cap="none" spc="0" normalizeH="0" baseline="0" noProof="0" dirty="0">
                  <a:ln>
                    <a:noFill/>
                  </a:ln>
                  <a:solidFill>
                    <a:srgbClr val="FFFFFF"/>
                  </a:solidFill>
                  <a:effectLst/>
                  <a:uLnTx/>
                  <a:uFillTx/>
                  <a:latin typeface="Boehringer Forward Text"/>
                  <a:ea typeface="+mn-ea"/>
                  <a:cs typeface="+mn-cs"/>
                </a:rPr>
                <a:t>T&gt;C</a:t>
              </a:r>
              <a:endParaRPr kumimoji="0" sz="8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57" name="TextBox 156">
              <a:extLst>
                <a:ext uri="{FF2B5EF4-FFF2-40B4-BE49-F238E27FC236}">
                  <a16:creationId xmlns:a16="http://schemas.microsoft.com/office/drawing/2014/main" id="{EB8D7BD8-DD9B-652B-79D4-468B5E20D579}"/>
                </a:ext>
              </a:extLst>
            </p:cNvPr>
            <p:cNvSpPr txBox="1"/>
            <p:nvPr/>
          </p:nvSpPr>
          <p:spPr>
            <a:xfrm>
              <a:off x="4537883" y="2733188"/>
              <a:ext cx="821030" cy="3440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6B7280"/>
                  </a:solidFill>
                </a:defRPr>
              </a:pPr>
              <a:r>
                <a:rPr kumimoji="0" sz="800" b="1" i="0" u="none" strike="noStrike" kern="1200" cap="none" spc="0" normalizeH="0" baseline="0" noProof="0" dirty="0">
                  <a:ln>
                    <a:noFill/>
                  </a:ln>
                  <a:solidFill>
                    <a:srgbClr val="6B7280"/>
                  </a:solidFill>
                  <a:effectLst/>
                  <a:uLnTx/>
                  <a:uFillTx/>
                  <a:latin typeface="Boehringer Forward Text"/>
                  <a:ea typeface="+mn-ea"/>
                  <a:cs typeface="+mn-cs"/>
                </a:rPr>
                <a:t>Tie</a:t>
              </a:r>
            </a:p>
          </p:txBody>
        </p:sp>
        <p:sp>
          <p:nvSpPr>
            <p:cNvPr id="158" name="Diamond 157">
              <a:extLst>
                <a:ext uri="{FF2B5EF4-FFF2-40B4-BE49-F238E27FC236}">
                  <a16:creationId xmlns:a16="http://schemas.microsoft.com/office/drawing/2014/main" id="{3FF3E463-B403-D067-EDE0-A5AFCFFE637D}"/>
                </a:ext>
              </a:extLst>
            </p:cNvPr>
            <p:cNvSpPr/>
            <p:nvPr/>
          </p:nvSpPr>
          <p:spPr>
            <a:xfrm>
              <a:off x="3474720" y="3108960"/>
              <a:ext cx="2194560" cy="822960"/>
            </a:xfrm>
            <a:prstGeom prst="diamond">
              <a:avLst/>
            </a:prstGeom>
            <a:solidFill>
              <a:srgbClr val="7C3AED"/>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FFFFFF"/>
                  </a:solidFill>
                </a:defRPr>
              </a:pPr>
              <a:r>
                <a:rPr kumimoji="0" sz="600" b="1" i="0" u="none" strike="noStrike" kern="1200" cap="none" spc="0" normalizeH="0" baseline="0" noProof="0" dirty="0">
                  <a:ln>
                    <a:noFill/>
                  </a:ln>
                  <a:solidFill>
                    <a:srgbClr val="FFFFFF"/>
                  </a:solidFill>
                  <a:effectLst/>
                  <a:uLnTx/>
                  <a:uFillTx/>
                  <a:latin typeface="Boehringer Forward Text"/>
                  <a:ea typeface="+mn-ea"/>
                  <a:cs typeface="+mn-cs"/>
                </a:rPr>
                <a:t>Compare</a:t>
              </a:r>
              <a:br>
                <a:rPr kumimoji="0" sz="600" b="1" i="0" u="none" strike="noStrike" kern="1200" cap="none" spc="0" normalizeH="0" baseline="0" noProof="0" dirty="0">
                  <a:ln>
                    <a:noFill/>
                  </a:ln>
                  <a:solidFill>
                    <a:srgbClr val="FFFFFF"/>
                  </a:solidFill>
                  <a:effectLst/>
                  <a:uLnTx/>
                  <a:uFillTx/>
                  <a:latin typeface="Boehringer Forward Text"/>
                  <a:ea typeface="+mn-ea"/>
                  <a:cs typeface="+mn-cs"/>
                </a:rPr>
              </a:br>
              <a:r>
                <a:rPr kumimoji="0" sz="600" b="1" i="0" u="none" strike="noStrike" kern="1200" cap="none" spc="0" normalizeH="0" baseline="0" noProof="0" dirty="0" err="1">
                  <a:ln>
                    <a:noFill/>
                  </a:ln>
                  <a:solidFill>
                    <a:srgbClr val="FFFFFF"/>
                  </a:solidFill>
                  <a:effectLst/>
                  <a:uLnTx/>
                  <a:uFillTx/>
                  <a:latin typeface="Boehringer Forward Text"/>
                  <a:ea typeface="+mn-ea"/>
                  <a:cs typeface="+mn-cs"/>
                </a:rPr>
                <a:t>sICH</a:t>
              </a:r>
              <a:endParaRPr kumimoji="0" sz="6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61" name="Rounded Rectangle 16">
              <a:extLst>
                <a:ext uri="{FF2B5EF4-FFF2-40B4-BE49-F238E27FC236}">
                  <a16:creationId xmlns:a16="http://schemas.microsoft.com/office/drawing/2014/main" id="{0D97EDA0-1C3D-4A4F-9AB1-3A47A269E2C9}"/>
                </a:ext>
              </a:extLst>
            </p:cNvPr>
            <p:cNvSpPr/>
            <p:nvPr/>
          </p:nvSpPr>
          <p:spPr>
            <a:xfrm>
              <a:off x="1097280" y="3337560"/>
              <a:ext cx="914400" cy="365760"/>
            </a:xfrm>
            <a:prstGeom prst="roundRect">
              <a:avLst/>
            </a:prstGeom>
            <a:solidFill>
              <a:srgbClr val="059669"/>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900" b="1">
                  <a:solidFill>
                    <a:srgbClr val="FFFFFF"/>
                  </a:solidFill>
                </a:defRPr>
              </a:pPr>
              <a:r>
                <a:rPr kumimoji="0" lang="en-US" sz="600" b="1" i="0" u="none" strike="noStrike" kern="1200" cap="none" spc="0" normalizeH="0" baseline="0" noProof="0" dirty="0">
                  <a:ln>
                    <a:noFill/>
                  </a:ln>
                  <a:solidFill>
                    <a:srgbClr val="FFFFFF"/>
                  </a:solidFill>
                  <a:effectLst/>
                  <a:uLnTx/>
                  <a:uFillTx/>
                  <a:latin typeface="Boehringer Forward Text"/>
                  <a:ea typeface="+mn-ea"/>
                  <a:cs typeface="+mn-cs"/>
                </a:rPr>
                <a:t>T: No</a:t>
              </a:r>
            </a:p>
            <a:p>
              <a:pPr marL="0" marR="0" lvl="0" indent="0" algn="ctr" defTabSz="914400" rtl="0" eaLnBrk="1" fontAlgn="auto" latinLnBrk="0" hangingPunct="1">
                <a:lnSpc>
                  <a:spcPct val="100000"/>
                </a:lnSpc>
                <a:spcBef>
                  <a:spcPts val="0"/>
                </a:spcBef>
                <a:spcAft>
                  <a:spcPts val="0"/>
                </a:spcAft>
                <a:buClrTx/>
                <a:buSzTx/>
                <a:buFontTx/>
                <a:buNone/>
                <a:tabLst/>
                <a:defRPr sz="900" b="1">
                  <a:solidFill>
                    <a:srgbClr val="FFFFFF"/>
                  </a:solidFill>
                </a:defRPr>
              </a:pPr>
              <a:r>
                <a:rPr kumimoji="0" lang="en-US" sz="600" b="1" i="0" u="none" strike="noStrike" kern="1200" cap="none" spc="0" normalizeH="0" baseline="0" noProof="0" dirty="0">
                  <a:ln>
                    <a:noFill/>
                  </a:ln>
                  <a:solidFill>
                    <a:srgbClr val="FFFFFF"/>
                  </a:solidFill>
                  <a:effectLst/>
                  <a:uLnTx/>
                  <a:uFillTx/>
                  <a:latin typeface="Boehringer Forward Text"/>
                  <a:ea typeface="+mn-ea"/>
                  <a:cs typeface="+mn-cs"/>
                </a:rPr>
                <a:t>C: Yes</a:t>
              </a:r>
            </a:p>
          </p:txBody>
        </p:sp>
        <p:sp>
          <p:nvSpPr>
            <p:cNvPr id="163" name="TextBox 162">
              <a:extLst>
                <a:ext uri="{FF2B5EF4-FFF2-40B4-BE49-F238E27FC236}">
                  <a16:creationId xmlns:a16="http://schemas.microsoft.com/office/drawing/2014/main" id="{3EF47939-FAF9-4366-B257-238B2372EF26}"/>
                </a:ext>
              </a:extLst>
            </p:cNvPr>
            <p:cNvSpPr txBox="1"/>
            <p:nvPr/>
          </p:nvSpPr>
          <p:spPr>
            <a:xfrm>
              <a:off x="5821521" y="3197241"/>
              <a:ext cx="914400" cy="3440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DC2626"/>
                  </a:solidFill>
                </a:defRPr>
              </a:pPr>
              <a:r>
                <a:rPr kumimoji="0" sz="800" b="1" i="0" u="none" strike="noStrike" kern="1200" cap="none" spc="0" normalizeH="0" baseline="0" noProof="0">
                  <a:ln>
                    <a:noFill/>
                  </a:ln>
                  <a:solidFill>
                    <a:srgbClr val="DC2626"/>
                  </a:solidFill>
                  <a:effectLst/>
                  <a:uLnTx/>
                  <a:uFillTx/>
                  <a:latin typeface="Boehringer Forward Text"/>
                  <a:ea typeface="+mn-ea"/>
                  <a:cs typeface="+mn-cs"/>
                </a:rPr>
                <a:t>Loss</a:t>
              </a:r>
            </a:p>
          </p:txBody>
        </p:sp>
        <p:sp>
          <p:nvSpPr>
            <p:cNvPr id="164" name="Rounded Rectangle 19">
              <a:extLst>
                <a:ext uri="{FF2B5EF4-FFF2-40B4-BE49-F238E27FC236}">
                  <a16:creationId xmlns:a16="http://schemas.microsoft.com/office/drawing/2014/main" id="{FF587898-7826-12A2-5883-047F03AF16B0}"/>
                </a:ext>
              </a:extLst>
            </p:cNvPr>
            <p:cNvSpPr/>
            <p:nvPr/>
          </p:nvSpPr>
          <p:spPr>
            <a:xfrm>
              <a:off x="7132320" y="3337560"/>
              <a:ext cx="914400" cy="365760"/>
            </a:xfrm>
            <a:prstGeom prst="roundRect">
              <a:avLst/>
            </a:prstGeom>
            <a:solidFill>
              <a:srgbClr val="DC2626"/>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900" b="1">
                  <a:solidFill>
                    <a:srgbClr val="FFFFFF"/>
                  </a:solidFill>
                </a:defRPr>
              </a:pPr>
              <a:r>
                <a:rPr kumimoji="0" lang="en-US" altLang="zh-CN" sz="400" b="1" i="0" u="none" strike="noStrike" kern="1200" cap="none" spc="0" normalizeH="0" baseline="0" noProof="0" dirty="0">
                  <a:ln>
                    <a:noFill/>
                  </a:ln>
                  <a:solidFill>
                    <a:srgbClr val="FFFFFF"/>
                  </a:solidFill>
                  <a:effectLst/>
                  <a:uLnTx/>
                  <a:uFillTx/>
                  <a:latin typeface="Boehringer Forward Text"/>
                  <a:ea typeface="+mn-ea"/>
                  <a:cs typeface="+mn-cs"/>
                </a:rPr>
                <a:t> </a:t>
              </a:r>
              <a:r>
                <a:rPr kumimoji="0" lang="en-US" altLang="zh-CN" sz="600" b="1" i="0" u="none" strike="noStrike" kern="1200" cap="none" spc="0" normalizeH="0" baseline="0" noProof="0" dirty="0">
                  <a:ln>
                    <a:noFill/>
                  </a:ln>
                  <a:solidFill>
                    <a:srgbClr val="FFFFFF"/>
                  </a:solidFill>
                  <a:effectLst/>
                  <a:uLnTx/>
                  <a:uFillTx/>
                  <a:latin typeface="Boehringer Forward Text"/>
                  <a:ea typeface="+mn-ea"/>
                  <a:cs typeface="+mn-cs"/>
                </a:rPr>
                <a:t>T: Yes</a:t>
              </a:r>
            </a:p>
            <a:p>
              <a:pPr marL="0" marR="0" lvl="0" indent="0" algn="ctr" defTabSz="914400" rtl="0" eaLnBrk="1" fontAlgn="auto" latinLnBrk="0" hangingPunct="1">
                <a:lnSpc>
                  <a:spcPct val="100000"/>
                </a:lnSpc>
                <a:spcBef>
                  <a:spcPts val="0"/>
                </a:spcBef>
                <a:spcAft>
                  <a:spcPts val="0"/>
                </a:spcAft>
                <a:buClrTx/>
                <a:buSzTx/>
                <a:buFontTx/>
                <a:buNone/>
                <a:tabLst/>
                <a:defRPr sz="900" b="1">
                  <a:solidFill>
                    <a:srgbClr val="FFFFFF"/>
                  </a:solidFill>
                </a:defRPr>
              </a:pPr>
              <a:r>
                <a:rPr kumimoji="0" lang="en-US" altLang="zh-CN" sz="600" b="1" i="0" u="none" strike="noStrike" kern="1200" cap="none" spc="0" normalizeH="0" baseline="0" noProof="0" dirty="0">
                  <a:ln>
                    <a:noFill/>
                  </a:ln>
                  <a:solidFill>
                    <a:srgbClr val="FFFFFF"/>
                  </a:solidFill>
                  <a:effectLst/>
                  <a:uLnTx/>
                  <a:uFillTx/>
                  <a:latin typeface="Boehringer Forward Text"/>
                  <a:ea typeface="+mn-ea"/>
                  <a:cs typeface="+mn-cs"/>
                </a:rPr>
                <a:t>C: No</a:t>
              </a:r>
              <a:endParaRPr kumimoji="0" lang="en-US" sz="6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67" name="Diamond 166">
              <a:extLst>
                <a:ext uri="{FF2B5EF4-FFF2-40B4-BE49-F238E27FC236}">
                  <a16:creationId xmlns:a16="http://schemas.microsoft.com/office/drawing/2014/main" id="{626EF0F9-9817-CF8A-4F45-46BE2FABBBBA}"/>
                </a:ext>
              </a:extLst>
            </p:cNvPr>
            <p:cNvSpPr/>
            <p:nvPr/>
          </p:nvSpPr>
          <p:spPr>
            <a:xfrm>
              <a:off x="3474720" y="4297680"/>
              <a:ext cx="2194560" cy="822960"/>
            </a:xfrm>
            <a:prstGeom prst="diamond">
              <a:avLst/>
            </a:prstGeom>
            <a:solidFill>
              <a:srgbClr val="7C3AED"/>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FFFFFF"/>
                  </a:solidFill>
                </a:defRPr>
              </a:pPr>
              <a:r>
                <a:rPr kumimoji="0" sz="600" b="1" i="0" u="none" strike="noStrike" kern="1200" cap="none" spc="0" normalizeH="0" baseline="0" noProof="0" dirty="0">
                  <a:ln>
                    <a:noFill/>
                  </a:ln>
                  <a:solidFill>
                    <a:srgbClr val="FFFFFF"/>
                  </a:solidFill>
                  <a:effectLst/>
                  <a:uLnTx/>
                  <a:uFillTx/>
                  <a:latin typeface="Boehringer Forward Text"/>
                  <a:ea typeface="+mn-ea"/>
                  <a:cs typeface="+mn-cs"/>
                </a:rPr>
                <a:t>Compare</a:t>
              </a:r>
              <a:br>
                <a:rPr kumimoji="0" sz="600" b="1" i="0" u="none" strike="noStrike" kern="1200" cap="none" spc="0" normalizeH="0" baseline="0" noProof="0" dirty="0">
                  <a:ln>
                    <a:noFill/>
                  </a:ln>
                  <a:solidFill>
                    <a:srgbClr val="FFFFFF"/>
                  </a:solidFill>
                  <a:effectLst/>
                  <a:uLnTx/>
                  <a:uFillTx/>
                  <a:latin typeface="Boehringer Forward Text"/>
                  <a:ea typeface="+mn-ea"/>
                  <a:cs typeface="+mn-cs"/>
                </a:rPr>
              </a:br>
              <a:r>
                <a:rPr kumimoji="0" lang="en-US" sz="600" b="1" i="0" u="none" strike="noStrike" kern="1200" cap="none" spc="0" normalizeH="0" baseline="0" noProof="0" dirty="0">
                  <a:ln>
                    <a:noFill/>
                  </a:ln>
                  <a:solidFill>
                    <a:srgbClr val="FFFFFF"/>
                  </a:solidFill>
                  <a:effectLst/>
                  <a:uLnTx/>
                  <a:uFillTx/>
                  <a:latin typeface="Boehringer Forward Text"/>
                  <a:ea typeface="+mn-ea"/>
                  <a:cs typeface="+mn-cs"/>
                </a:rPr>
                <a:t>DNT*</a:t>
              </a:r>
              <a:endParaRPr kumimoji="0" sz="6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70" name="Rounded Rectangle 25">
              <a:extLst>
                <a:ext uri="{FF2B5EF4-FFF2-40B4-BE49-F238E27FC236}">
                  <a16:creationId xmlns:a16="http://schemas.microsoft.com/office/drawing/2014/main" id="{05D1678B-374C-0A6A-D76F-9F59C5DB4DF1}"/>
                </a:ext>
              </a:extLst>
            </p:cNvPr>
            <p:cNvSpPr/>
            <p:nvPr/>
          </p:nvSpPr>
          <p:spPr>
            <a:xfrm>
              <a:off x="1097280" y="4526280"/>
              <a:ext cx="914400" cy="365760"/>
            </a:xfrm>
            <a:prstGeom prst="roundRect">
              <a:avLst/>
            </a:prstGeom>
            <a:solidFill>
              <a:srgbClr val="059669"/>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900" b="1">
                  <a:solidFill>
                    <a:srgbClr val="FFFFFF"/>
                  </a:solidFill>
                </a:defRPr>
              </a:pPr>
              <a:r>
                <a:rPr kumimoji="0" lang="en-US" sz="800" b="1" i="0" u="none" strike="noStrike" kern="1200" cap="none" spc="0" normalizeH="0" baseline="0" noProof="0" dirty="0">
                  <a:ln>
                    <a:noFill/>
                  </a:ln>
                  <a:solidFill>
                    <a:srgbClr val="FFFFFF"/>
                  </a:solidFill>
                  <a:effectLst/>
                  <a:uLnTx/>
                  <a:uFillTx/>
                  <a:latin typeface="Boehringer Forward Text"/>
                  <a:ea typeface="+mn-ea"/>
                  <a:cs typeface="+mn-cs"/>
                </a:rPr>
                <a:t>T&lt;C</a:t>
              </a:r>
              <a:endParaRPr kumimoji="0" sz="8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72" name="TextBox 171">
              <a:extLst>
                <a:ext uri="{FF2B5EF4-FFF2-40B4-BE49-F238E27FC236}">
                  <a16:creationId xmlns:a16="http://schemas.microsoft.com/office/drawing/2014/main" id="{87D69D88-9B05-9DFA-4EFC-BE7EE4B059A4}"/>
                </a:ext>
              </a:extLst>
            </p:cNvPr>
            <p:cNvSpPr txBox="1"/>
            <p:nvPr/>
          </p:nvSpPr>
          <p:spPr>
            <a:xfrm>
              <a:off x="5858317" y="4350082"/>
              <a:ext cx="914400" cy="3440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DC2626"/>
                  </a:solidFill>
                </a:defRPr>
              </a:pPr>
              <a:r>
                <a:rPr kumimoji="0" sz="800" b="1" i="0" u="none" strike="noStrike" kern="1200" cap="none" spc="0" normalizeH="0" baseline="0" noProof="0" dirty="0">
                  <a:ln>
                    <a:noFill/>
                  </a:ln>
                  <a:solidFill>
                    <a:srgbClr val="DC2626"/>
                  </a:solidFill>
                  <a:effectLst/>
                  <a:uLnTx/>
                  <a:uFillTx/>
                  <a:latin typeface="Boehringer Forward Text"/>
                  <a:ea typeface="+mn-ea"/>
                  <a:cs typeface="+mn-cs"/>
                </a:rPr>
                <a:t>Loss</a:t>
              </a:r>
              <a:endParaRPr kumimoji="0" sz="600" b="1" i="0" u="none" strike="noStrike" kern="1200" cap="none" spc="0" normalizeH="0" baseline="0" noProof="0" dirty="0">
                <a:ln>
                  <a:noFill/>
                </a:ln>
                <a:solidFill>
                  <a:srgbClr val="DC2626"/>
                </a:solidFill>
                <a:effectLst/>
                <a:uLnTx/>
                <a:uFillTx/>
                <a:latin typeface="Boehringer Forward Text"/>
                <a:ea typeface="+mn-ea"/>
                <a:cs typeface="+mn-cs"/>
              </a:endParaRPr>
            </a:p>
          </p:txBody>
        </p:sp>
        <p:sp>
          <p:nvSpPr>
            <p:cNvPr id="173" name="Rounded Rectangle 28">
              <a:extLst>
                <a:ext uri="{FF2B5EF4-FFF2-40B4-BE49-F238E27FC236}">
                  <a16:creationId xmlns:a16="http://schemas.microsoft.com/office/drawing/2014/main" id="{CDAAA1DB-F240-C0CE-C2C5-4BB6CB4EC662}"/>
                </a:ext>
              </a:extLst>
            </p:cNvPr>
            <p:cNvSpPr/>
            <p:nvPr/>
          </p:nvSpPr>
          <p:spPr>
            <a:xfrm>
              <a:off x="7132320" y="4526280"/>
              <a:ext cx="914400" cy="365760"/>
            </a:xfrm>
            <a:prstGeom prst="roundRect">
              <a:avLst/>
            </a:prstGeom>
            <a:solidFill>
              <a:srgbClr val="DC2626"/>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900" b="1">
                  <a:solidFill>
                    <a:srgbClr val="FFFFFF"/>
                  </a:solidFill>
                </a:defRPr>
              </a:pPr>
              <a:r>
                <a:rPr kumimoji="0" lang="en-US" sz="800" b="1" i="0" u="none" strike="noStrike" kern="1200" cap="none" spc="0" normalizeH="0" baseline="0" noProof="0" dirty="0">
                  <a:ln>
                    <a:noFill/>
                  </a:ln>
                  <a:solidFill>
                    <a:srgbClr val="FFFFFF"/>
                  </a:solidFill>
                  <a:effectLst/>
                  <a:uLnTx/>
                  <a:uFillTx/>
                  <a:latin typeface="Boehringer Forward Text"/>
                  <a:ea typeface="+mn-ea"/>
                  <a:cs typeface="+mn-cs"/>
                </a:rPr>
                <a:t>T&gt;C</a:t>
              </a:r>
              <a:endParaRPr kumimoji="0" sz="8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75" name="Rounded Rectangle 31">
              <a:extLst>
                <a:ext uri="{FF2B5EF4-FFF2-40B4-BE49-F238E27FC236}">
                  <a16:creationId xmlns:a16="http://schemas.microsoft.com/office/drawing/2014/main" id="{BEA7B515-F12E-0BFC-845B-1E46879C1D21}"/>
                </a:ext>
              </a:extLst>
            </p:cNvPr>
            <p:cNvSpPr/>
            <p:nvPr/>
          </p:nvSpPr>
          <p:spPr>
            <a:xfrm>
              <a:off x="3498798" y="5666785"/>
              <a:ext cx="2078173" cy="457200"/>
            </a:xfrm>
            <a:prstGeom prst="roundRect">
              <a:avLst/>
            </a:prstGeom>
            <a:solidFill>
              <a:srgbClr val="6B728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800" b="1" i="0" u="none" strike="noStrike" kern="1200" cap="none" spc="0" normalizeH="0" baseline="0" noProof="0" dirty="0">
                  <a:ln>
                    <a:noFill/>
                  </a:ln>
                  <a:solidFill>
                    <a:srgbClr val="FFFFFF"/>
                  </a:solidFill>
                  <a:effectLst/>
                  <a:uLnTx/>
                  <a:uFillTx/>
                  <a:latin typeface="Boehringer Forward Text"/>
                  <a:ea typeface="+mn-ea"/>
                  <a:cs typeface="+mn-cs"/>
                </a:rPr>
                <a:t>Tie</a:t>
              </a:r>
              <a:r>
                <a:rPr kumimoji="0" lang="en-US" sz="800" b="1" i="0" u="none" strike="noStrike" kern="1200" cap="none" spc="0" normalizeH="0" baseline="0" noProof="0" dirty="0">
                  <a:ln>
                    <a:noFill/>
                  </a:ln>
                  <a:solidFill>
                    <a:srgbClr val="FFFFFF"/>
                  </a:solidFill>
                  <a:effectLst/>
                  <a:uLnTx/>
                  <a:uFillTx/>
                  <a:latin typeface="Boehringer Forward Text"/>
                  <a:ea typeface="+mn-ea"/>
                  <a:cs typeface="+mn-cs"/>
                </a:rPr>
                <a:t> </a:t>
              </a:r>
              <a:r>
                <a:rPr kumimoji="0" lang="en-US" altLang="zh-CN" sz="800" b="1" i="0" u="none" strike="noStrike" kern="1200" cap="none" spc="0" normalizeH="0" baseline="0" noProof="0" dirty="0">
                  <a:ln>
                    <a:noFill/>
                  </a:ln>
                  <a:solidFill>
                    <a:srgbClr val="FFFFFF"/>
                  </a:solidFill>
                  <a:effectLst/>
                  <a:uLnTx/>
                  <a:uFillTx/>
                  <a:latin typeface="Boehringer Forward Text"/>
                  <a:ea typeface="+mn-ea"/>
                  <a:cs typeface="+mn-cs"/>
                </a:rPr>
                <a:t>Counter +1</a:t>
              </a:r>
              <a:endParaRPr kumimoji="0" sz="800" b="1" i="0" u="none" strike="noStrike" kern="1200" cap="none" spc="0" normalizeH="0" baseline="0" noProof="0" dirty="0">
                <a:ln>
                  <a:noFill/>
                </a:ln>
                <a:solidFill>
                  <a:srgbClr val="FFFFFF"/>
                </a:solidFill>
                <a:effectLst/>
                <a:uLnTx/>
                <a:uFillTx/>
                <a:latin typeface="Boehringer Forward Text"/>
                <a:ea typeface="+mn-ea"/>
                <a:cs typeface="+mn-cs"/>
              </a:endParaRPr>
            </a:p>
          </p:txBody>
        </p:sp>
        <p:sp>
          <p:nvSpPr>
            <p:cNvPr id="176" name="Rounded Rectangle 32">
              <a:extLst>
                <a:ext uri="{FF2B5EF4-FFF2-40B4-BE49-F238E27FC236}">
                  <a16:creationId xmlns:a16="http://schemas.microsoft.com/office/drawing/2014/main" id="{96992B8F-42A8-A347-DFA2-40DF338CC833}"/>
                </a:ext>
              </a:extLst>
            </p:cNvPr>
            <p:cNvSpPr/>
            <p:nvPr/>
          </p:nvSpPr>
          <p:spPr>
            <a:xfrm>
              <a:off x="54524" y="5660846"/>
              <a:ext cx="2078175" cy="457200"/>
            </a:xfrm>
            <a:prstGeom prst="roundRect">
              <a:avLst/>
            </a:prstGeom>
            <a:solidFill>
              <a:srgbClr val="059669"/>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800" b="1" i="0" u="none" strike="noStrike" kern="1200" cap="none" spc="0" normalizeH="0" baseline="0" noProof="0" dirty="0">
                  <a:ln>
                    <a:noFill/>
                  </a:ln>
                  <a:solidFill>
                    <a:srgbClr val="FFFFFF"/>
                  </a:solidFill>
                  <a:effectLst/>
                  <a:uLnTx/>
                  <a:uFillTx/>
                  <a:latin typeface="Boehringer Forward Text"/>
                  <a:ea typeface="+mn-ea"/>
                  <a:cs typeface="+mn-cs"/>
                </a:rPr>
                <a:t>Win Counter +1</a:t>
              </a:r>
            </a:p>
          </p:txBody>
        </p:sp>
        <p:sp>
          <p:nvSpPr>
            <p:cNvPr id="177" name="Rounded Rectangle 33">
              <a:extLst>
                <a:ext uri="{FF2B5EF4-FFF2-40B4-BE49-F238E27FC236}">
                  <a16:creationId xmlns:a16="http://schemas.microsoft.com/office/drawing/2014/main" id="{1D9474AB-3403-3482-CC75-DF1F9928E321}"/>
                </a:ext>
              </a:extLst>
            </p:cNvPr>
            <p:cNvSpPr/>
            <p:nvPr/>
          </p:nvSpPr>
          <p:spPr>
            <a:xfrm>
              <a:off x="6735117" y="5653846"/>
              <a:ext cx="2226001" cy="457200"/>
            </a:xfrm>
            <a:prstGeom prst="roundRect">
              <a:avLst/>
            </a:prstGeom>
            <a:solidFill>
              <a:srgbClr val="DC2626"/>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800" b="1" i="0" u="none" strike="noStrike" kern="1200" cap="none" spc="0" normalizeH="0" baseline="0" noProof="0" dirty="0">
                  <a:ln>
                    <a:noFill/>
                  </a:ln>
                  <a:solidFill>
                    <a:srgbClr val="FFFFFF"/>
                  </a:solidFill>
                  <a:effectLst/>
                  <a:uLnTx/>
                  <a:uFillTx/>
                  <a:latin typeface="Boehringer Forward Text"/>
                  <a:ea typeface="+mn-ea"/>
                  <a:cs typeface="+mn-cs"/>
                </a:rPr>
                <a:t>Loss Counter +1</a:t>
              </a:r>
            </a:p>
          </p:txBody>
        </p:sp>
        <p:sp>
          <p:nvSpPr>
            <p:cNvPr id="178" name="Rounded Rectangle 34">
              <a:extLst>
                <a:ext uri="{FF2B5EF4-FFF2-40B4-BE49-F238E27FC236}">
                  <a16:creationId xmlns:a16="http://schemas.microsoft.com/office/drawing/2014/main" id="{B01B3958-1870-8109-F06B-1C6392DA095F}"/>
                </a:ext>
              </a:extLst>
            </p:cNvPr>
            <p:cNvSpPr/>
            <p:nvPr/>
          </p:nvSpPr>
          <p:spPr>
            <a:xfrm>
              <a:off x="2211402" y="6271811"/>
              <a:ext cx="4945561" cy="461283"/>
            </a:xfrm>
            <a:prstGeom prst="roundRect">
              <a:avLst/>
            </a:prstGeom>
            <a:solidFill>
              <a:srgbClr val="FCD34D"/>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600" b="1">
                  <a:solidFill>
                    <a:srgbClr val="000000"/>
                  </a:solidFill>
                </a:defRPr>
              </a:pPr>
              <a:r>
                <a:rPr kumimoji="0" lang="en-US" sz="800" b="1" i="0" u="none" strike="noStrike" kern="1200" cap="none" spc="0" normalizeH="0" baseline="0" noProof="0" dirty="0">
                  <a:ln>
                    <a:noFill/>
                  </a:ln>
                  <a:solidFill>
                    <a:srgbClr val="000000"/>
                  </a:solidFill>
                  <a:effectLst/>
                  <a:uLnTx/>
                  <a:uFillTx/>
                  <a:latin typeface="Boehringer Forward Text"/>
                  <a:ea typeface="+mn-ea"/>
                  <a:cs typeface="+mn-cs"/>
                </a:rPr>
                <a:t>**</a:t>
              </a:r>
              <a:r>
                <a:rPr kumimoji="0" sz="800" b="1" i="0" u="none" strike="noStrike" kern="1200" cap="none" spc="0" normalizeH="0" baseline="0" noProof="0" dirty="0">
                  <a:ln>
                    <a:noFill/>
                  </a:ln>
                  <a:solidFill>
                    <a:srgbClr val="000000"/>
                  </a:solidFill>
                  <a:effectLst/>
                  <a:uLnTx/>
                  <a:uFillTx/>
                  <a:latin typeface="Boehringer Forward Text"/>
                  <a:ea typeface="+mn-ea"/>
                  <a:cs typeface="+mn-cs"/>
                </a:rPr>
                <a:t>Win Ratio = </a:t>
              </a:r>
              <a:r>
                <a:rPr kumimoji="0" lang="en-US" altLang="zh-CN" sz="800" b="1" i="0" u="none" strike="noStrike" kern="1200" cap="none" spc="0" normalizeH="0" baseline="0" noProof="0" dirty="0">
                  <a:ln>
                    <a:noFill/>
                  </a:ln>
                  <a:solidFill>
                    <a:srgbClr val="000000"/>
                  </a:solidFill>
                  <a:effectLst/>
                  <a:uLnTx/>
                  <a:uFillTx/>
                  <a:latin typeface="Boehringer Forward Text"/>
                  <a:ea typeface="+mn-ea"/>
                  <a:cs typeface="+mn-cs"/>
                </a:rPr>
                <a:t>Win</a:t>
              </a:r>
              <a:r>
                <a:rPr kumimoji="0" lang="zh-CN" altLang="en-US" sz="800" b="1" i="0" u="none" strike="noStrike" kern="1200" cap="none" spc="0" normalizeH="0" baseline="0" noProof="0" dirty="0">
                  <a:ln>
                    <a:noFill/>
                  </a:ln>
                  <a:solidFill>
                    <a:srgbClr val="000000"/>
                  </a:solidFill>
                  <a:effectLst/>
                  <a:uLnTx/>
                  <a:uFillTx/>
                  <a:latin typeface="Boehringer Forward Text"/>
                  <a:ea typeface="+mn-ea"/>
                  <a:cs typeface="+mn-cs"/>
                </a:rPr>
                <a:t> </a:t>
              </a:r>
              <a:r>
                <a:rPr kumimoji="0" lang="en-US" altLang="zh-CN" sz="800" b="1" i="0" u="none" strike="noStrike" kern="1200" cap="none" spc="0" normalizeH="0" baseline="0" noProof="0" dirty="0">
                  <a:ln>
                    <a:noFill/>
                  </a:ln>
                  <a:solidFill>
                    <a:srgbClr val="000000"/>
                  </a:solidFill>
                  <a:effectLst/>
                  <a:uLnTx/>
                  <a:uFillTx/>
                  <a:latin typeface="Boehringer Forward Text"/>
                  <a:ea typeface="+mn-ea"/>
                  <a:cs typeface="+mn-cs"/>
                </a:rPr>
                <a:t>counter</a:t>
              </a:r>
              <a:r>
                <a:rPr kumimoji="0" sz="800" b="1" i="0" u="none" strike="noStrike" kern="1200" cap="none" spc="0" normalizeH="0" baseline="0" noProof="0" dirty="0">
                  <a:ln>
                    <a:noFill/>
                  </a:ln>
                  <a:solidFill>
                    <a:srgbClr val="000000"/>
                  </a:solidFill>
                  <a:effectLst/>
                  <a:uLnTx/>
                  <a:uFillTx/>
                  <a:latin typeface="Boehringer Forward Text"/>
                  <a:ea typeface="+mn-ea"/>
                  <a:cs typeface="+mn-cs"/>
                </a:rPr>
                <a:t>/</a:t>
              </a:r>
              <a:r>
                <a:rPr kumimoji="0" lang="en-US" sz="800" b="1" i="0" u="none" strike="noStrike" kern="1200" cap="none" spc="0" normalizeH="0" baseline="0" noProof="0" dirty="0">
                  <a:ln>
                    <a:noFill/>
                  </a:ln>
                  <a:solidFill>
                    <a:srgbClr val="000000"/>
                  </a:solidFill>
                  <a:effectLst/>
                  <a:uLnTx/>
                  <a:uFillTx/>
                  <a:latin typeface="Boehringer Forward Text"/>
                  <a:ea typeface="+mn-ea"/>
                  <a:cs typeface="+mn-cs"/>
                </a:rPr>
                <a:t> </a:t>
              </a:r>
              <a:r>
                <a:rPr kumimoji="0" lang="en-US" altLang="zh-CN" sz="800" b="1" i="0" u="none" strike="noStrike" kern="1200" cap="none" spc="0" normalizeH="0" baseline="0" noProof="0" dirty="0">
                  <a:ln>
                    <a:noFill/>
                  </a:ln>
                  <a:solidFill>
                    <a:srgbClr val="000000"/>
                  </a:solidFill>
                  <a:effectLst/>
                  <a:uLnTx/>
                  <a:uFillTx/>
                  <a:latin typeface="Boehringer Forward Text"/>
                  <a:ea typeface="+mn-ea"/>
                  <a:cs typeface="+mn-cs"/>
                </a:rPr>
                <a:t>Loss Counter</a:t>
              </a:r>
              <a:r>
                <a:rPr kumimoji="0" lang="en-US" sz="800" b="1" i="0" u="none" strike="noStrike" kern="1200" cap="none" spc="0" normalizeH="0" baseline="0" noProof="0" dirty="0">
                  <a:ln>
                    <a:noFill/>
                  </a:ln>
                  <a:solidFill>
                    <a:srgbClr val="000000"/>
                  </a:solidFill>
                  <a:effectLst/>
                  <a:uLnTx/>
                  <a:uFillTx/>
                  <a:latin typeface="Boehringer Forward Text"/>
                  <a:ea typeface="+mn-ea"/>
                  <a:cs typeface="+mn-cs"/>
                </a:rPr>
                <a:t> </a:t>
              </a:r>
              <a:endParaRPr kumimoji="0" sz="800" b="1" i="0" u="none" strike="noStrike" kern="1200" cap="none" spc="0" normalizeH="0" baseline="0" noProof="0" dirty="0">
                <a:ln>
                  <a:noFill/>
                </a:ln>
                <a:solidFill>
                  <a:srgbClr val="000000"/>
                </a:solidFill>
                <a:effectLst/>
                <a:uLnTx/>
                <a:uFillTx/>
                <a:latin typeface="Boehringer Forward Text"/>
                <a:ea typeface="+mn-ea"/>
                <a:cs typeface="+mn-cs"/>
              </a:endParaRPr>
            </a:p>
          </p:txBody>
        </p:sp>
        <p:cxnSp>
          <p:nvCxnSpPr>
            <p:cNvPr id="196" name="Straight Connector 195">
              <a:extLst>
                <a:ext uri="{FF2B5EF4-FFF2-40B4-BE49-F238E27FC236}">
                  <a16:creationId xmlns:a16="http://schemas.microsoft.com/office/drawing/2014/main" id="{254CA776-963A-5548-77E3-23213F0275CB}"/>
                </a:ext>
              </a:extLst>
            </p:cNvPr>
            <p:cNvCxnSpPr>
              <a:cxnSpLocks/>
            </p:cNvCxnSpPr>
            <p:nvPr/>
          </p:nvCxnSpPr>
          <p:spPr>
            <a:xfrm rot="21240000">
              <a:off x="546480" y="2264352"/>
              <a:ext cx="581448" cy="49164"/>
            </a:xfrm>
            <a:prstGeom prst="line">
              <a:avLst/>
            </a:prstGeom>
            <a:ln>
              <a:solidFill>
                <a:srgbClr val="059669"/>
              </a:solidFill>
            </a:ln>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B6ACBB7D-DC3D-AE46-C60E-44626AAD9954}"/>
                </a:ext>
              </a:extLst>
            </p:cNvPr>
            <p:cNvCxnSpPr>
              <a:cxnSpLocks/>
            </p:cNvCxnSpPr>
            <p:nvPr/>
          </p:nvCxnSpPr>
          <p:spPr>
            <a:xfrm>
              <a:off x="547228" y="3501618"/>
              <a:ext cx="550180" cy="0"/>
            </a:xfrm>
            <a:prstGeom prst="line">
              <a:avLst/>
            </a:prstGeom>
            <a:ln>
              <a:solidFill>
                <a:srgbClr val="059669"/>
              </a:solidFill>
            </a:ln>
          </p:spPr>
          <p:style>
            <a:lnRef idx="2">
              <a:schemeClr val="accent1"/>
            </a:lnRef>
            <a:fillRef idx="0">
              <a:schemeClr val="accent1"/>
            </a:fillRef>
            <a:effectRef idx="1">
              <a:schemeClr val="accent1"/>
            </a:effectRef>
            <a:fontRef idx="minor">
              <a:schemeClr val="tx1"/>
            </a:fontRef>
          </p:style>
        </p:cxnSp>
        <p:cxnSp>
          <p:nvCxnSpPr>
            <p:cNvPr id="192" name="Straight Connector 191">
              <a:extLst>
                <a:ext uri="{FF2B5EF4-FFF2-40B4-BE49-F238E27FC236}">
                  <a16:creationId xmlns:a16="http://schemas.microsoft.com/office/drawing/2014/main" id="{FFCF2BA4-13C7-9852-498F-E499F255F1B8}"/>
                </a:ext>
              </a:extLst>
            </p:cNvPr>
            <p:cNvCxnSpPr>
              <a:cxnSpLocks/>
            </p:cNvCxnSpPr>
            <p:nvPr/>
          </p:nvCxnSpPr>
          <p:spPr>
            <a:xfrm>
              <a:off x="547228" y="4692939"/>
              <a:ext cx="550050" cy="0"/>
            </a:xfrm>
            <a:prstGeom prst="line">
              <a:avLst/>
            </a:prstGeom>
            <a:ln>
              <a:solidFill>
                <a:srgbClr val="059669"/>
              </a:solidFill>
            </a:ln>
          </p:spPr>
          <p:style>
            <a:lnRef idx="2">
              <a:schemeClr val="accent1"/>
            </a:lnRef>
            <a:fillRef idx="0">
              <a:schemeClr val="accent1"/>
            </a:fillRef>
            <a:effectRef idx="1">
              <a:schemeClr val="accent1"/>
            </a:effectRef>
            <a:fontRef idx="minor">
              <a:schemeClr val="tx1"/>
            </a:fontRef>
          </p:style>
        </p:cxnSp>
        <p:cxnSp>
          <p:nvCxnSpPr>
            <p:cNvPr id="190" name="Straight Connector 189">
              <a:extLst>
                <a:ext uri="{FF2B5EF4-FFF2-40B4-BE49-F238E27FC236}">
                  <a16:creationId xmlns:a16="http://schemas.microsoft.com/office/drawing/2014/main" id="{4E561FD6-57F4-68F2-DF3B-26B20BF722D3}"/>
                </a:ext>
              </a:extLst>
            </p:cNvPr>
            <p:cNvCxnSpPr>
              <a:cxnSpLocks/>
            </p:cNvCxnSpPr>
            <p:nvPr/>
          </p:nvCxnSpPr>
          <p:spPr>
            <a:xfrm>
              <a:off x="8055863" y="2285979"/>
              <a:ext cx="548640" cy="0"/>
            </a:xfrm>
            <a:prstGeom prst="line">
              <a:avLst/>
            </a:prstGeom>
            <a:ln>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188" name="Straight Connector 187">
              <a:extLst>
                <a:ext uri="{FF2B5EF4-FFF2-40B4-BE49-F238E27FC236}">
                  <a16:creationId xmlns:a16="http://schemas.microsoft.com/office/drawing/2014/main" id="{12C1B1D1-BD82-B954-5EF6-A4B6DF4C02DE}"/>
                </a:ext>
              </a:extLst>
            </p:cNvPr>
            <p:cNvCxnSpPr>
              <a:cxnSpLocks/>
            </p:cNvCxnSpPr>
            <p:nvPr/>
          </p:nvCxnSpPr>
          <p:spPr>
            <a:xfrm>
              <a:off x="8041470" y="3487953"/>
              <a:ext cx="559102" cy="0"/>
            </a:xfrm>
            <a:prstGeom prst="line">
              <a:avLst/>
            </a:prstGeom>
            <a:ln>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186" name="Straight Connector 185">
              <a:extLst>
                <a:ext uri="{FF2B5EF4-FFF2-40B4-BE49-F238E27FC236}">
                  <a16:creationId xmlns:a16="http://schemas.microsoft.com/office/drawing/2014/main" id="{5EE0B13A-21C1-414C-2D2A-A9C1C35F1B26}"/>
                </a:ext>
              </a:extLst>
            </p:cNvPr>
            <p:cNvCxnSpPr>
              <a:cxnSpLocks/>
            </p:cNvCxnSpPr>
            <p:nvPr/>
          </p:nvCxnSpPr>
          <p:spPr>
            <a:xfrm>
              <a:off x="8057219" y="4684872"/>
              <a:ext cx="536998" cy="0"/>
            </a:xfrm>
            <a:prstGeom prst="line">
              <a:avLst/>
            </a:prstGeom>
            <a:ln>
              <a:solidFill>
                <a:srgbClr val="DC2626"/>
              </a:solidFill>
            </a:ln>
          </p:spPr>
          <p:style>
            <a:lnRef idx="2">
              <a:schemeClr val="accent1"/>
            </a:lnRef>
            <a:fillRef idx="0">
              <a:schemeClr val="accent1"/>
            </a:fillRef>
            <a:effectRef idx="1">
              <a:schemeClr val="accent1"/>
            </a:effectRef>
            <a:fontRef idx="minor">
              <a:schemeClr val="tx1"/>
            </a:fontRef>
          </p:style>
        </p:cxnSp>
      </p:grpSp>
      <p:sp>
        <p:nvSpPr>
          <p:cNvPr id="199" name="TextBox 198">
            <a:extLst>
              <a:ext uri="{FF2B5EF4-FFF2-40B4-BE49-F238E27FC236}">
                <a16:creationId xmlns:a16="http://schemas.microsoft.com/office/drawing/2014/main" id="{AEDC2F0D-8E18-7A9B-DE33-DF12B8703AD6}"/>
              </a:ext>
            </a:extLst>
          </p:cNvPr>
          <p:cNvSpPr txBox="1"/>
          <p:nvPr/>
        </p:nvSpPr>
        <p:spPr bwMode="gray">
          <a:xfrm>
            <a:off x="4145837" y="4687588"/>
            <a:ext cx="467732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solidFill>
                <a:effectLst/>
                <a:uLnTx/>
                <a:uFillTx/>
                <a:latin typeface="Boehringer Forward Text"/>
                <a:ea typeface="+mn-ea"/>
                <a:cs typeface="+mn-cs"/>
              </a:rPr>
              <a:t>*    DNT: Door to needle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solidFill>
                <a:effectLst/>
                <a:uLnTx/>
                <a:uFillTx/>
                <a:latin typeface="Boehringer Forward Text"/>
                <a:ea typeface="+mn-ea"/>
                <a:cs typeface="+mn-cs"/>
              </a:rPr>
              <a:t>**   Win </a:t>
            </a:r>
            <a:r>
              <a:rPr kumimoji="0" lang="de-DE" altLang="zh-CN" sz="800" b="0" i="0" u="none" strike="noStrike" kern="1200" cap="none" spc="0" normalizeH="0" baseline="0" noProof="0" dirty="0">
                <a:ln>
                  <a:noFill/>
                </a:ln>
                <a:solidFill>
                  <a:prstClr val="black"/>
                </a:solidFill>
                <a:effectLst/>
                <a:uLnTx/>
                <a:uFillTx/>
                <a:latin typeface="Boehringer Forward Text"/>
                <a:ea typeface="+mn-ea"/>
                <a:cs typeface="+mn-cs"/>
              </a:rPr>
              <a:t>Ratio </a:t>
            </a:r>
            <a:r>
              <a:rPr kumimoji="0" lang="en-US" altLang="zh-CN" sz="800" b="0" i="0" u="none" strike="noStrike" kern="1200" cap="none" spc="0" normalizeH="0" baseline="0" noProof="0" dirty="0">
                <a:ln>
                  <a:noFill/>
                </a:ln>
                <a:solidFill>
                  <a:prstClr val="black"/>
                </a:solidFill>
                <a:effectLst/>
                <a:uLnTx/>
                <a:uFillTx/>
                <a:latin typeface="Boehringer Forward Text"/>
                <a:ea typeface="+mn-ea"/>
                <a:cs typeface="+mn-cs"/>
              </a:rPr>
              <a:t>&gt;1 favors treatment group based on pre-specified hierarchical outcomes</a:t>
            </a:r>
            <a:endParaRPr kumimoji="0" lang="zh-CN" altLang="en-US" sz="8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2" name="TextBox 1">
            <a:extLst>
              <a:ext uri="{FF2B5EF4-FFF2-40B4-BE49-F238E27FC236}">
                <a16:creationId xmlns:a16="http://schemas.microsoft.com/office/drawing/2014/main" id="{B686E881-EB83-F74F-F520-9BB7ED353AB0}"/>
              </a:ext>
            </a:extLst>
          </p:cNvPr>
          <p:cNvSpPr txBox="1"/>
          <p:nvPr/>
        </p:nvSpPr>
        <p:spPr>
          <a:xfrm>
            <a:off x="6246974" y="2918018"/>
            <a:ext cx="39610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6B7280"/>
                </a:solidFill>
              </a:defRPr>
            </a:pPr>
            <a:r>
              <a:rPr kumimoji="0" sz="800" b="1" i="0" u="none" strike="noStrike" kern="1200" cap="none" spc="0" normalizeH="0" baseline="0" noProof="0" dirty="0">
                <a:ln>
                  <a:noFill/>
                </a:ln>
                <a:solidFill>
                  <a:srgbClr val="6B7280"/>
                </a:solidFill>
                <a:effectLst/>
                <a:uLnTx/>
                <a:uFillTx/>
                <a:latin typeface="Boehringer Forward Text"/>
                <a:ea typeface="+mn-ea"/>
                <a:cs typeface="+mn-cs"/>
              </a:rPr>
              <a:t>Tie</a:t>
            </a:r>
          </a:p>
        </p:txBody>
      </p:sp>
      <p:sp>
        <p:nvSpPr>
          <p:cNvPr id="3" name="TextBox 2">
            <a:extLst>
              <a:ext uri="{FF2B5EF4-FFF2-40B4-BE49-F238E27FC236}">
                <a16:creationId xmlns:a16="http://schemas.microsoft.com/office/drawing/2014/main" id="{3D092449-AF02-CE08-192B-E4BF1C595365}"/>
              </a:ext>
            </a:extLst>
          </p:cNvPr>
          <p:cNvSpPr txBox="1"/>
          <p:nvPr/>
        </p:nvSpPr>
        <p:spPr>
          <a:xfrm>
            <a:off x="6277013" y="3656918"/>
            <a:ext cx="39610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6B7280"/>
                </a:solidFill>
              </a:defRPr>
            </a:pPr>
            <a:r>
              <a:rPr kumimoji="0" sz="800" b="1" i="0" u="none" strike="noStrike" kern="1200" cap="none" spc="0" normalizeH="0" baseline="0" noProof="0" dirty="0">
                <a:ln>
                  <a:noFill/>
                </a:ln>
                <a:solidFill>
                  <a:srgbClr val="6B7280"/>
                </a:solidFill>
                <a:effectLst/>
                <a:uLnTx/>
                <a:uFillTx/>
                <a:latin typeface="Boehringer Forward Text"/>
                <a:ea typeface="+mn-ea"/>
                <a:cs typeface="+mn-cs"/>
              </a:rPr>
              <a:t>Tie</a:t>
            </a:r>
          </a:p>
        </p:txBody>
      </p:sp>
      <p:grpSp>
        <p:nvGrpSpPr>
          <p:cNvPr id="10" name="Group 9">
            <a:extLst>
              <a:ext uri="{FF2B5EF4-FFF2-40B4-BE49-F238E27FC236}">
                <a16:creationId xmlns:a16="http://schemas.microsoft.com/office/drawing/2014/main" id="{C2AEA3DE-F662-0FA9-4945-A245510B5D4D}"/>
              </a:ext>
            </a:extLst>
          </p:cNvPr>
          <p:cNvGrpSpPr/>
          <p:nvPr/>
        </p:nvGrpSpPr>
        <p:grpSpPr>
          <a:xfrm>
            <a:off x="17590" y="1279537"/>
            <a:ext cx="3687765" cy="2691987"/>
            <a:chOff x="-186409" y="1276231"/>
            <a:chExt cx="3687765" cy="2691987"/>
          </a:xfrm>
        </p:grpSpPr>
        <p:cxnSp>
          <p:nvCxnSpPr>
            <p:cNvPr id="108" name="Straight Arrow Connector 107">
              <a:extLst>
                <a:ext uri="{FF2B5EF4-FFF2-40B4-BE49-F238E27FC236}">
                  <a16:creationId xmlns:a16="http://schemas.microsoft.com/office/drawing/2014/main" id="{894742D4-21BD-033D-1B18-0A8661AE3623}"/>
                </a:ext>
              </a:extLst>
            </p:cNvPr>
            <p:cNvCxnSpPr>
              <a:cxnSpLocks/>
            </p:cNvCxnSpPr>
            <p:nvPr/>
          </p:nvCxnSpPr>
          <p:spPr bwMode="gray">
            <a:xfrm>
              <a:off x="1193025" y="1870085"/>
              <a:ext cx="969680" cy="39247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8F3406D2-834D-06DE-7E31-AB7E57D0EEDD}"/>
                </a:ext>
              </a:extLst>
            </p:cNvPr>
            <p:cNvGrpSpPr/>
            <p:nvPr/>
          </p:nvGrpSpPr>
          <p:grpSpPr>
            <a:xfrm>
              <a:off x="-186409" y="1276231"/>
              <a:ext cx="3687765" cy="2691987"/>
              <a:chOff x="-210955" y="1271221"/>
              <a:chExt cx="3687765" cy="2691987"/>
            </a:xfrm>
          </p:grpSpPr>
          <p:sp>
            <p:nvSpPr>
              <p:cNvPr id="38" name="Rounded Rectangle 2">
                <a:extLst>
                  <a:ext uri="{FF2B5EF4-FFF2-40B4-BE49-F238E27FC236}">
                    <a16:creationId xmlns:a16="http://schemas.microsoft.com/office/drawing/2014/main" id="{A67CEAD1-0FED-CA13-0627-C6703B0772F0}"/>
                  </a:ext>
                </a:extLst>
              </p:cNvPr>
              <p:cNvSpPr/>
              <p:nvPr/>
            </p:nvSpPr>
            <p:spPr>
              <a:xfrm>
                <a:off x="369963" y="1271272"/>
                <a:ext cx="750868" cy="198142"/>
              </a:xfrm>
              <a:prstGeom prst="roundRect">
                <a:avLst/>
              </a:prstGeom>
              <a:solidFill>
                <a:srgbClr val="2563EB"/>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800" b="1" i="0" u="none" strike="noStrike" kern="1200" cap="none" spc="0" normalizeH="0" baseline="0" noProof="0" dirty="0">
                    <a:ln>
                      <a:noFill/>
                    </a:ln>
                    <a:solidFill>
                      <a:srgbClr val="FFFFFF"/>
                    </a:solidFill>
                    <a:effectLst/>
                    <a:uLnTx/>
                    <a:uFillTx/>
                    <a:latin typeface="Boehringer Forward Text"/>
                    <a:ea typeface="+mn-ea"/>
                    <a:cs typeface="+mn-cs"/>
                  </a:rPr>
                  <a:t>Treatment</a:t>
                </a:r>
              </a:p>
            </p:txBody>
          </p:sp>
          <p:sp>
            <p:nvSpPr>
              <p:cNvPr id="43" name="Rounded Rectangle 7">
                <a:extLst>
                  <a:ext uri="{FF2B5EF4-FFF2-40B4-BE49-F238E27FC236}">
                    <a16:creationId xmlns:a16="http://schemas.microsoft.com/office/drawing/2014/main" id="{A9DAE3A9-320F-DF2A-3D78-F772D680B3FE}"/>
                  </a:ext>
                </a:extLst>
              </p:cNvPr>
              <p:cNvSpPr/>
              <p:nvPr/>
            </p:nvSpPr>
            <p:spPr>
              <a:xfrm>
                <a:off x="2069219" y="1271221"/>
                <a:ext cx="750868" cy="204676"/>
              </a:xfrm>
              <a:prstGeom prst="roundRect">
                <a:avLst/>
              </a:prstGeom>
              <a:solidFill>
                <a:srgbClr val="2563EB"/>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dirty="0">
                    <a:ln>
                      <a:noFill/>
                    </a:ln>
                    <a:solidFill>
                      <a:srgbClr val="FFFFFF"/>
                    </a:solidFill>
                    <a:effectLst/>
                    <a:uLnTx/>
                    <a:uFillTx/>
                    <a:latin typeface="Boehringer Forward Text"/>
                    <a:ea typeface="+mn-ea"/>
                    <a:cs typeface="+mn-cs"/>
                  </a:rPr>
                  <a:t>Control</a:t>
                </a:r>
              </a:p>
            </p:txBody>
          </p:sp>
          <p:sp>
            <p:nvSpPr>
              <p:cNvPr id="56" name="Hexagon 55">
                <a:extLst>
                  <a:ext uri="{FF2B5EF4-FFF2-40B4-BE49-F238E27FC236}">
                    <a16:creationId xmlns:a16="http://schemas.microsoft.com/office/drawing/2014/main" id="{7F984854-34DC-EE7B-41FC-DB77583F1DC4}"/>
                  </a:ext>
                </a:extLst>
              </p:cNvPr>
              <p:cNvSpPr/>
              <p:nvPr/>
            </p:nvSpPr>
            <p:spPr>
              <a:xfrm>
                <a:off x="1105436" y="3728215"/>
                <a:ext cx="963783" cy="234993"/>
              </a:xfrm>
              <a:prstGeom prst="hexagon">
                <a:avLst/>
              </a:prstGeom>
              <a:solidFill>
                <a:srgbClr val="059669"/>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FFFFFF"/>
                    </a:solidFill>
                  </a:defRPr>
                </a:pPr>
                <a:r>
                  <a:rPr kumimoji="0" sz="800" b="1" i="0" u="none" strike="noStrike" kern="1200" cap="none" spc="0" normalizeH="0" baseline="0" noProof="0" dirty="0">
                    <a:ln>
                      <a:noFill/>
                    </a:ln>
                    <a:solidFill>
                      <a:srgbClr val="FFFFFF"/>
                    </a:solidFill>
                    <a:effectLst/>
                    <a:uLnTx/>
                    <a:uFillTx/>
                    <a:latin typeface="Boehringer Forward Text"/>
                    <a:ea typeface="+mn-ea"/>
                    <a:cs typeface="+mn-cs"/>
                  </a:rPr>
                  <a:t>m × n Pairs</a:t>
                </a:r>
              </a:p>
            </p:txBody>
          </p:sp>
          <p:grpSp>
            <p:nvGrpSpPr>
              <p:cNvPr id="77" name="Group 76">
                <a:extLst>
                  <a:ext uri="{FF2B5EF4-FFF2-40B4-BE49-F238E27FC236}">
                    <a16:creationId xmlns:a16="http://schemas.microsoft.com/office/drawing/2014/main" id="{F76747C0-EE5A-159B-6A32-8A4D95B45180}"/>
                  </a:ext>
                </a:extLst>
              </p:cNvPr>
              <p:cNvGrpSpPr/>
              <p:nvPr/>
            </p:nvGrpSpPr>
            <p:grpSpPr>
              <a:xfrm>
                <a:off x="1648010" y="1760155"/>
                <a:ext cx="1828800" cy="1617821"/>
                <a:chOff x="3819618" y="1720313"/>
                <a:chExt cx="1828800" cy="1617821"/>
              </a:xfrm>
            </p:grpSpPr>
            <p:sp>
              <p:nvSpPr>
                <p:cNvPr id="73" name="TextBox 72">
                  <a:extLst>
                    <a:ext uri="{FF2B5EF4-FFF2-40B4-BE49-F238E27FC236}">
                      <a16:creationId xmlns:a16="http://schemas.microsoft.com/office/drawing/2014/main" id="{B06CCD81-B5A3-E5D7-943A-25AF24ABF662}"/>
                    </a:ext>
                  </a:extLst>
                </p:cNvPr>
                <p:cNvSpPr txBox="1"/>
                <p:nvPr/>
              </p:nvSpPr>
              <p:spPr>
                <a:xfrm>
                  <a:off x="3819618" y="1720313"/>
                  <a:ext cx="18288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F2937"/>
                      </a:solidFill>
                    </a:defRPr>
                  </a:pPr>
                  <a:r>
                    <a:rPr kumimoji="0" sz="1000" b="0" i="0" u="none" strike="noStrike" kern="1200" cap="none" spc="0" normalizeH="0" baseline="0" noProof="0" dirty="0">
                      <a:ln>
                        <a:noFill/>
                      </a:ln>
                      <a:solidFill>
                        <a:srgbClr val="1F2937"/>
                      </a:solidFill>
                      <a:effectLst/>
                      <a:uLnTx/>
                      <a:uFillTx/>
                      <a:latin typeface="Boehringer Forward Text"/>
                      <a:ea typeface="+mn-ea"/>
                      <a:cs typeface="+mn-cs"/>
                    </a:rPr>
                    <a:t>Patient </a:t>
                  </a:r>
                  <a:r>
                    <a:rPr kumimoji="0" lang="en-US" sz="1000" b="0" i="0" u="none" strike="noStrike" kern="1200" cap="none" spc="0" normalizeH="0" baseline="0" noProof="0" dirty="0">
                      <a:ln>
                        <a:noFill/>
                      </a:ln>
                      <a:solidFill>
                        <a:srgbClr val="1F2937"/>
                      </a:solidFill>
                      <a:effectLst/>
                      <a:uLnTx/>
                      <a:uFillTx/>
                      <a:latin typeface="Boehringer Forward Text"/>
                      <a:ea typeface="+mn-ea"/>
                      <a:cs typeface="+mn-cs"/>
                    </a:rPr>
                    <a:t>C</a:t>
                  </a:r>
                  <a:r>
                    <a:rPr kumimoji="0" sz="1000" b="0" i="0" u="none" strike="noStrike" kern="1200" cap="none" spc="0" normalizeH="0" baseline="0" noProof="0" dirty="0">
                      <a:ln>
                        <a:noFill/>
                      </a:ln>
                      <a:solidFill>
                        <a:srgbClr val="1F2937"/>
                      </a:solidFill>
                      <a:effectLst/>
                      <a:uLnTx/>
                      <a:uFillTx/>
                      <a:latin typeface="Boehringer Forward Text"/>
                      <a:ea typeface="+mn-ea"/>
                      <a:cs typeface="+mn-cs"/>
                    </a:rPr>
                    <a:t>₁</a:t>
                  </a:r>
                </a:p>
              </p:txBody>
            </p:sp>
            <p:sp>
              <p:nvSpPr>
                <p:cNvPr id="74" name="TextBox 73">
                  <a:extLst>
                    <a:ext uri="{FF2B5EF4-FFF2-40B4-BE49-F238E27FC236}">
                      <a16:creationId xmlns:a16="http://schemas.microsoft.com/office/drawing/2014/main" id="{004154AA-BF6E-CBEA-BFA1-25FC91EE78BF}"/>
                    </a:ext>
                  </a:extLst>
                </p:cNvPr>
                <p:cNvSpPr txBox="1"/>
                <p:nvPr/>
              </p:nvSpPr>
              <p:spPr>
                <a:xfrm>
                  <a:off x="3819618" y="2159649"/>
                  <a:ext cx="18288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F2937"/>
                      </a:solidFill>
                    </a:defRPr>
                  </a:pPr>
                  <a:r>
                    <a:rPr kumimoji="0" sz="1000" b="0" i="0" u="none" strike="noStrike" kern="1200" cap="none" spc="0" normalizeH="0" baseline="0" noProof="0" dirty="0">
                      <a:ln>
                        <a:noFill/>
                      </a:ln>
                      <a:solidFill>
                        <a:srgbClr val="1F2937"/>
                      </a:solidFill>
                      <a:effectLst/>
                      <a:uLnTx/>
                      <a:uFillTx/>
                      <a:latin typeface="Boehringer Forward Text"/>
                      <a:ea typeface="+mn-ea"/>
                      <a:cs typeface="+mn-cs"/>
                    </a:rPr>
                    <a:t>Patient </a:t>
                  </a:r>
                  <a:r>
                    <a:rPr kumimoji="0" lang="en-US" sz="1000" b="0" i="0" u="none" strike="noStrike" kern="1200" cap="none" spc="0" normalizeH="0" baseline="0" noProof="0" dirty="0">
                      <a:ln>
                        <a:noFill/>
                      </a:ln>
                      <a:solidFill>
                        <a:srgbClr val="1F2937"/>
                      </a:solidFill>
                      <a:effectLst/>
                      <a:uLnTx/>
                      <a:uFillTx/>
                      <a:latin typeface="Boehringer Forward Text"/>
                      <a:ea typeface="+mn-ea"/>
                      <a:cs typeface="+mn-cs"/>
                    </a:rPr>
                    <a:t>C</a:t>
                  </a:r>
                  <a:r>
                    <a:rPr kumimoji="0" sz="1000" b="0" i="0" u="none" strike="noStrike" kern="1200" cap="none" spc="0" normalizeH="0" baseline="0" noProof="0" dirty="0">
                      <a:ln>
                        <a:noFill/>
                      </a:ln>
                      <a:solidFill>
                        <a:srgbClr val="1F2937"/>
                      </a:solidFill>
                      <a:effectLst/>
                      <a:uLnTx/>
                      <a:uFillTx/>
                      <a:latin typeface="Boehringer Forward Text"/>
                      <a:ea typeface="+mn-ea"/>
                      <a:cs typeface="+mn-cs"/>
                    </a:rPr>
                    <a:t>₂</a:t>
                  </a:r>
                </a:p>
              </p:txBody>
            </p:sp>
            <p:sp>
              <p:nvSpPr>
                <p:cNvPr id="75" name="TextBox 74">
                  <a:extLst>
                    <a:ext uri="{FF2B5EF4-FFF2-40B4-BE49-F238E27FC236}">
                      <a16:creationId xmlns:a16="http://schemas.microsoft.com/office/drawing/2014/main" id="{10DD4BD9-68ED-0A9A-08D9-5E327BBC9957}"/>
                    </a:ext>
                  </a:extLst>
                </p:cNvPr>
                <p:cNvSpPr txBox="1"/>
                <p:nvPr/>
              </p:nvSpPr>
              <p:spPr>
                <a:xfrm>
                  <a:off x="3819618" y="2634713"/>
                  <a:ext cx="1828800" cy="3657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F2937"/>
                      </a:solidFill>
                    </a:defRPr>
                  </a:pPr>
                  <a:r>
                    <a:rPr kumimoji="0" sz="1400" b="1" i="0" u="none" strike="noStrike" kern="1200" cap="none" spc="0" normalizeH="0" baseline="0" noProof="0">
                      <a:ln>
                        <a:noFill/>
                      </a:ln>
                      <a:solidFill>
                        <a:srgbClr val="1F2937"/>
                      </a:solidFill>
                      <a:effectLst/>
                      <a:uLnTx/>
                      <a:uFillTx/>
                      <a:latin typeface="Boehringer Forward Text"/>
                      <a:ea typeface="+mn-ea"/>
                      <a:cs typeface="+mn-cs"/>
                    </a:rPr>
                    <a:t>⋮</a:t>
                  </a:r>
                </a:p>
              </p:txBody>
            </p:sp>
            <p:sp>
              <p:nvSpPr>
                <p:cNvPr id="76" name="TextBox 75">
                  <a:extLst>
                    <a:ext uri="{FF2B5EF4-FFF2-40B4-BE49-F238E27FC236}">
                      <a16:creationId xmlns:a16="http://schemas.microsoft.com/office/drawing/2014/main" id="{ECA164DE-D3FB-5E2B-123E-724BCEB87ABB}"/>
                    </a:ext>
                  </a:extLst>
                </p:cNvPr>
                <p:cNvSpPr txBox="1"/>
                <p:nvPr/>
              </p:nvSpPr>
              <p:spPr>
                <a:xfrm>
                  <a:off x="3819618" y="3091913"/>
                  <a:ext cx="18288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F2937"/>
                      </a:solidFill>
                    </a:defRPr>
                  </a:pPr>
                  <a:r>
                    <a:rPr kumimoji="0" sz="1000" b="0" i="0" u="none" strike="noStrike" kern="1200" cap="none" spc="0" normalizeH="0" baseline="0" noProof="0" dirty="0">
                      <a:ln>
                        <a:noFill/>
                      </a:ln>
                      <a:solidFill>
                        <a:srgbClr val="1F2937"/>
                      </a:solidFill>
                      <a:effectLst/>
                      <a:uLnTx/>
                      <a:uFillTx/>
                      <a:latin typeface="Boehringer Forward Text"/>
                      <a:ea typeface="+mn-ea"/>
                      <a:cs typeface="+mn-cs"/>
                    </a:rPr>
                    <a:t>Patient </a:t>
                  </a:r>
                  <a:r>
                    <a:rPr kumimoji="0" lang="en-US" sz="1000" b="0" i="0" u="none" strike="noStrike" kern="1200" cap="none" spc="0" normalizeH="0" baseline="0" noProof="0" dirty="0">
                      <a:ln>
                        <a:noFill/>
                      </a:ln>
                      <a:solidFill>
                        <a:srgbClr val="1F2937"/>
                      </a:solidFill>
                      <a:effectLst/>
                      <a:uLnTx/>
                      <a:uFillTx/>
                      <a:latin typeface="Boehringer Forward Text"/>
                      <a:ea typeface="+mn-ea"/>
                      <a:cs typeface="+mn-cs"/>
                    </a:rPr>
                    <a:t>C</a:t>
                  </a:r>
                  <a:r>
                    <a:rPr kumimoji="0" lang="en-US" sz="700" b="0" i="0" u="none" strike="noStrike" kern="1200" cap="none" spc="0" normalizeH="0" baseline="0" noProof="0" dirty="0">
                      <a:ln>
                        <a:noFill/>
                      </a:ln>
                      <a:solidFill>
                        <a:srgbClr val="1F2937"/>
                      </a:solidFill>
                      <a:effectLst/>
                      <a:uLnTx/>
                      <a:uFillTx/>
                      <a:latin typeface="Boehringer Forward Text"/>
                      <a:ea typeface="+mn-ea"/>
                      <a:cs typeface="+mn-cs"/>
                    </a:rPr>
                    <a:t>n</a:t>
                  </a:r>
                  <a:endParaRPr kumimoji="0" sz="1000" b="0" i="0" u="none" strike="noStrike" kern="1200" cap="none" spc="0" normalizeH="0" baseline="0" noProof="0" dirty="0">
                    <a:ln>
                      <a:noFill/>
                    </a:ln>
                    <a:solidFill>
                      <a:srgbClr val="1F2937"/>
                    </a:solidFill>
                    <a:effectLst/>
                    <a:uLnTx/>
                    <a:uFillTx/>
                    <a:latin typeface="Boehringer Forward Text"/>
                    <a:ea typeface="+mn-ea"/>
                    <a:cs typeface="+mn-cs"/>
                  </a:endParaRPr>
                </a:p>
              </p:txBody>
            </p:sp>
          </p:grpSp>
          <p:grpSp>
            <p:nvGrpSpPr>
              <p:cNvPr id="78" name="Group 77">
                <a:extLst>
                  <a:ext uri="{FF2B5EF4-FFF2-40B4-BE49-F238E27FC236}">
                    <a16:creationId xmlns:a16="http://schemas.microsoft.com/office/drawing/2014/main" id="{3320F45D-E77E-EC63-5E8E-C17DD4F4D1AA}"/>
                  </a:ext>
                </a:extLst>
              </p:cNvPr>
              <p:cNvGrpSpPr/>
              <p:nvPr/>
            </p:nvGrpSpPr>
            <p:grpSpPr>
              <a:xfrm>
                <a:off x="-210955" y="1762839"/>
                <a:ext cx="1828800" cy="1617821"/>
                <a:chOff x="3819618" y="1720313"/>
                <a:chExt cx="1828800" cy="1617821"/>
              </a:xfrm>
            </p:grpSpPr>
            <p:sp>
              <p:nvSpPr>
                <p:cNvPr id="79" name="TextBox 78">
                  <a:extLst>
                    <a:ext uri="{FF2B5EF4-FFF2-40B4-BE49-F238E27FC236}">
                      <a16:creationId xmlns:a16="http://schemas.microsoft.com/office/drawing/2014/main" id="{E952F6AF-24C2-88C7-45DF-F55296F47414}"/>
                    </a:ext>
                  </a:extLst>
                </p:cNvPr>
                <p:cNvSpPr txBox="1"/>
                <p:nvPr/>
              </p:nvSpPr>
              <p:spPr>
                <a:xfrm>
                  <a:off x="3819618" y="1720313"/>
                  <a:ext cx="18288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F2937"/>
                      </a:solidFill>
                    </a:defRPr>
                  </a:pPr>
                  <a:r>
                    <a:rPr kumimoji="0" sz="1000" b="0" i="0" u="none" strike="noStrike" kern="1200" cap="none" spc="0" normalizeH="0" baseline="0" noProof="0" dirty="0">
                      <a:ln>
                        <a:noFill/>
                      </a:ln>
                      <a:solidFill>
                        <a:srgbClr val="1F2937"/>
                      </a:solidFill>
                      <a:effectLst/>
                      <a:uLnTx/>
                      <a:uFillTx/>
                      <a:latin typeface="Boehringer Forward Text"/>
                      <a:ea typeface="+mn-ea"/>
                      <a:cs typeface="+mn-cs"/>
                    </a:rPr>
                    <a:t>Patient T₁</a:t>
                  </a:r>
                </a:p>
              </p:txBody>
            </p:sp>
            <p:sp>
              <p:nvSpPr>
                <p:cNvPr id="80" name="TextBox 79">
                  <a:extLst>
                    <a:ext uri="{FF2B5EF4-FFF2-40B4-BE49-F238E27FC236}">
                      <a16:creationId xmlns:a16="http://schemas.microsoft.com/office/drawing/2014/main" id="{35395244-9591-8D2B-C89C-754B917D1D94}"/>
                    </a:ext>
                  </a:extLst>
                </p:cNvPr>
                <p:cNvSpPr txBox="1"/>
                <p:nvPr/>
              </p:nvSpPr>
              <p:spPr>
                <a:xfrm>
                  <a:off x="3819618" y="2159649"/>
                  <a:ext cx="18288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F2937"/>
                      </a:solidFill>
                    </a:defRPr>
                  </a:pPr>
                  <a:r>
                    <a:rPr kumimoji="0" sz="1000" b="0" i="0" u="none" strike="noStrike" kern="1200" cap="none" spc="0" normalizeH="0" baseline="0" noProof="0" dirty="0">
                      <a:ln>
                        <a:noFill/>
                      </a:ln>
                      <a:solidFill>
                        <a:srgbClr val="1F2937"/>
                      </a:solidFill>
                      <a:effectLst/>
                      <a:uLnTx/>
                      <a:uFillTx/>
                      <a:latin typeface="Boehringer Forward Text"/>
                      <a:ea typeface="+mn-ea"/>
                      <a:cs typeface="+mn-cs"/>
                    </a:rPr>
                    <a:t>Patient T₂</a:t>
                  </a:r>
                </a:p>
              </p:txBody>
            </p:sp>
            <p:sp>
              <p:nvSpPr>
                <p:cNvPr id="81" name="TextBox 80">
                  <a:extLst>
                    <a:ext uri="{FF2B5EF4-FFF2-40B4-BE49-F238E27FC236}">
                      <a16:creationId xmlns:a16="http://schemas.microsoft.com/office/drawing/2014/main" id="{B11F2406-C477-91B6-B1E2-4C64870494F4}"/>
                    </a:ext>
                  </a:extLst>
                </p:cNvPr>
                <p:cNvSpPr txBox="1"/>
                <p:nvPr/>
              </p:nvSpPr>
              <p:spPr>
                <a:xfrm>
                  <a:off x="3819618" y="2634713"/>
                  <a:ext cx="1828800" cy="3657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F2937"/>
                      </a:solidFill>
                    </a:defRPr>
                  </a:pPr>
                  <a:r>
                    <a:rPr kumimoji="0" sz="1400" b="1" i="0" u="none" strike="noStrike" kern="1200" cap="none" spc="0" normalizeH="0" baseline="0" noProof="0">
                      <a:ln>
                        <a:noFill/>
                      </a:ln>
                      <a:solidFill>
                        <a:srgbClr val="1F2937"/>
                      </a:solidFill>
                      <a:effectLst/>
                      <a:uLnTx/>
                      <a:uFillTx/>
                      <a:latin typeface="Boehringer Forward Text"/>
                      <a:ea typeface="+mn-ea"/>
                      <a:cs typeface="+mn-cs"/>
                    </a:rPr>
                    <a:t>⋮</a:t>
                  </a:r>
                </a:p>
              </p:txBody>
            </p:sp>
            <p:sp>
              <p:nvSpPr>
                <p:cNvPr id="82" name="TextBox 81">
                  <a:extLst>
                    <a:ext uri="{FF2B5EF4-FFF2-40B4-BE49-F238E27FC236}">
                      <a16:creationId xmlns:a16="http://schemas.microsoft.com/office/drawing/2014/main" id="{B059EAA7-DF04-410E-895C-2CFED307C5F7}"/>
                    </a:ext>
                  </a:extLst>
                </p:cNvPr>
                <p:cNvSpPr txBox="1"/>
                <p:nvPr/>
              </p:nvSpPr>
              <p:spPr>
                <a:xfrm>
                  <a:off x="3819618" y="3091913"/>
                  <a:ext cx="18288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F2937"/>
                      </a:solidFill>
                    </a:defRPr>
                  </a:pPr>
                  <a:r>
                    <a:rPr kumimoji="0" sz="1000" b="0" i="0" u="none" strike="noStrike" kern="1200" cap="none" spc="0" normalizeH="0" baseline="0" noProof="0" dirty="0">
                      <a:ln>
                        <a:noFill/>
                      </a:ln>
                      <a:solidFill>
                        <a:srgbClr val="1F2937"/>
                      </a:solidFill>
                      <a:effectLst/>
                      <a:uLnTx/>
                      <a:uFillTx/>
                      <a:latin typeface="Boehringer Forward Text"/>
                      <a:ea typeface="+mn-ea"/>
                      <a:cs typeface="+mn-cs"/>
                    </a:rPr>
                    <a:t>Patient Tₘ</a:t>
                  </a:r>
                </a:p>
              </p:txBody>
            </p:sp>
          </p:grpSp>
          <p:sp>
            <p:nvSpPr>
              <p:cNvPr id="4" name="TextBox 3">
                <a:extLst>
                  <a:ext uri="{FF2B5EF4-FFF2-40B4-BE49-F238E27FC236}">
                    <a16:creationId xmlns:a16="http://schemas.microsoft.com/office/drawing/2014/main" id="{CD4D5D4B-5FD0-D535-ED5E-6CCCCE720280}"/>
                  </a:ext>
                </a:extLst>
              </p:cNvPr>
              <p:cNvSpPr txBox="1"/>
              <p:nvPr/>
            </p:nvSpPr>
            <p:spPr bwMode="gray">
              <a:xfrm>
                <a:off x="904785" y="3231687"/>
                <a:ext cx="139366" cy="136447"/>
              </a:xfrm>
              <a:prstGeom prst="rect">
                <a:avLst/>
              </a:prstGeom>
              <a:noFill/>
              <a:ln>
                <a:solidFill>
                  <a:srgbClr val="F62B2B"/>
                </a:solidFill>
                <a:prstDash val="sysDash"/>
              </a:ln>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endPar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8" name="TextBox 7">
                <a:extLst>
                  <a:ext uri="{FF2B5EF4-FFF2-40B4-BE49-F238E27FC236}">
                    <a16:creationId xmlns:a16="http://schemas.microsoft.com/office/drawing/2014/main" id="{D57D393C-67E0-12EE-FFA7-D6B4A727470F}"/>
                  </a:ext>
                </a:extLst>
              </p:cNvPr>
              <p:cNvSpPr txBox="1"/>
              <p:nvPr/>
            </p:nvSpPr>
            <p:spPr bwMode="gray">
              <a:xfrm>
                <a:off x="2794474" y="3228853"/>
                <a:ext cx="101268" cy="128057"/>
              </a:xfrm>
              <a:prstGeom prst="rect">
                <a:avLst/>
              </a:prstGeom>
              <a:noFill/>
              <a:ln>
                <a:solidFill>
                  <a:srgbClr val="F62B2B"/>
                </a:solidFill>
                <a:prstDash val="sysDash"/>
              </a:ln>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endPar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endParaRPr>
              </a:p>
            </p:txBody>
          </p:sp>
        </p:grpSp>
      </p:grpSp>
      <p:cxnSp>
        <p:nvCxnSpPr>
          <p:cNvPr id="17" name="Straight Arrow Connector 16">
            <a:extLst>
              <a:ext uri="{FF2B5EF4-FFF2-40B4-BE49-F238E27FC236}">
                <a16:creationId xmlns:a16="http://schemas.microsoft.com/office/drawing/2014/main" id="{28A6C1B2-92AB-A528-5BEF-75B7406228B5}"/>
              </a:ext>
            </a:extLst>
          </p:cNvPr>
          <p:cNvCxnSpPr>
            <a:cxnSpLocks/>
          </p:cNvCxnSpPr>
          <p:nvPr/>
        </p:nvCxnSpPr>
        <p:spPr bwMode="gray">
          <a:xfrm rot="21240000" flipH="1">
            <a:off x="6217525" y="1399474"/>
            <a:ext cx="18042" cy="219193"/>
          </a:xfrm>
          <a:prstGeom prst="straightConnector1">
            <a:avLst/>
          </a:prstGeom>
          <a:ln w="6350">
            <a:solidFill>
              <a:srgbClr val="6B728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CADF1FA-24AA-A229-3ECA-C291F55DECF7}"/>
              </a:ext>
            </a:extLst>
          </p:cNvPr>
          <p:cNvCxnSpPr>
            <a:cxnSpLocks/>
            <a:endCxn id="158" idx="0"/>
          </p:cNvCxnSpPr>
          <p:nvPr/>
        </p:nvCxnSpPr>
        <p:spPr bwMode="gray">
          <a:xfrm flipH="1">
            <a:off x="6222577" y="2142915"/>
            <a:ext cx="1486" cy="220187"/>
          </a:xfrm>
          <a:prstGeom prst="straightConnector1">
            <a:avLst/>
          </a:prstGeom>
          <a:ln w="6350">
            <a:solidFill>
              <a:srgbClr val="6B728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2CA7F67-2771-4B62-6680-23394279DA45}"/>
              </a:ext>
            </a:extLst>
          </p:cNvPr>
          <p:cNvCxnSpPr>
            <a:cxnSpLocks/>
          </p:cNvCxnSpPr>
          <p:nvPr/>
        </p:nvCxnSpPr>
        <p:spPr bwMode="gray">
          <a:xfrm flipH="1">
            <a:off x="6225060" y="2878480"/>
            <a:ext cx="1486" cy="220187"/>
          </a:xfrm>
          <a:prstGeom prst="straightConnector1">
            <a:avLst/>
          </a:prstGeom>
          <a:ln w="6350">
            <a:solidFill>
              <a:srgbClr val="6B728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876F1F3-B02A-C5EF-7326-FB0155AD976E}"/>
              </a:ext>
            </a:extLst>
          </p:cNvPr>
          <p:cNvCxnSpPr>
            <a:cxnSpLocks/>
          </p:cNvCxnSpPr>
          <p:nvPr/>
        </p:nvCxnSpPr>
        <p:spPr bwMode="gray">
          <a:xfrm rot="240000">
            <a:off x="6222703" y="3632244"/>
            <a:ext cx="29066" cy="331581"/>
          </a:xfrm>
          <a:prstGeom prst="straightConnector1">
            <a:avLst/>
          </a:prstGeom>
          <a:ln w="6350">
            <a:solidFill>
              <a:srgbClr val="6B728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1AE60D8-CDC0-27E2-056E-0C1D42CF1662}"/>
              </a:ext>
            </a:extLst>
          </p:cNvPr>
          <p:cNvCxnSpPr>
            <a:cxnSpLocks/>
            <a:endCxn id="152" idx="3"/>
          </p:cNvCxnSpPr>
          <p:nvPr/>
        </p:nvCxnSpPr>
        <p:spPr bwMode="gray">
          <a:xfrm flipH="1">
            <a:off x="5002148" y="1875926"/>
            <a:ext cx="686089" cy="4186"/>
          </a:xfrm>
          <a:prstGeom prst="straightConnector1">
            <a:avLst/>
          </a:prstGeom>
          <a:ln w="12700">
            <a:solidFill>
              <a:srgbClr val="059669"/>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E305ED7-2EDD-616D-D0CD-E1D7AD54623C}"/>
              </a:ext>
            </a:extLst>
          </p:cNvPr>
          <p:cNvCxnSpPr>
            <a:cxnSpLocks/>
          </p:cNvCxnSpPr>
          <p:nvPr/>
        </p:nvCxnSpPr>
        <p:spPr bwMode="gray">
          <a:xfrm rot="21540000" flipH="1" flipV="1">
            <a:off x="4969554" y="2621608"/>
            <a:ext cx="713245" cy="7212"/>
          </a:xfrm>
          <a:prstGeom prst="straightConnector1">
            <a:avLst/>
          </a:prstGeom>
          <a:ln w="12700">
            <a:solidFill>
              <a:srgbClr val="059669"/>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D5743AB-E0B1-D42A-89AC-BAA787EB9571}"/>
              </a:ext>
            </a:extLst>
          </p:cNvPr>
          <p:cNvCxnSpPr>
            <a:cxnSpLocks/>
          </p:cNvCxnSpPr>
          <p:nvPr/>
        </p:nvCxnSpPr>
        <p:spPr bwMode="gray">
          <a:xfrm rot="21540000" flipH="1" flipV="1">
            <a:off x="4979658" y="3364829"/>
            <a:ext cx="713245" cy="7212"/>
          </a:xfrm>
          <a:prstGeom prst="straightConnector1">
            <a:avLst/>
          </a:prstGeom>
          <a:ln w="12700">
            <a:solidFill>
              <a:srgbClr val="059669"/>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E07E3E2-0F44-FA69-B22C-61EE19AF7555}"/>
              </a:ext>
            </a:extLst>
          </p:cNvPr>
          <p:cNvSpPr txBox="1"/>
          <p:nvPr/>
        </p:nvSpPr>
        <p:spPr>
          <a:xfrm>
            <a:off x="5092176" y="2412203"/>
            <a:ext cx="433999"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59669"/>
                </a:solidFill>
              </a:defRPr>
            </a:pPr>
            <a:r>
              <a:rPr kumimoji="0" sz="800" b="1" i="0" u="none" strike="noStrike" kern="1200" cap="none" spc="0" normalizeH="0" baseline="0" noProof="0" dirty="0">
                <a:ln>
                  <a:noFill/>
                </a:ln>
                <a:solidFill>
                  <a:srgbClr val="059669"/>
                </a:solidFill>
                <a:effectLst/>
                <a:uLnTx/>
                <a:uFillTx/>
                <a:latin typeface="Boehringer Forward Text"/>
                <a:ea typeface="+mn-ea"/>
                <a:cs typeface="+mn-cs"/>
              </a:rPr>
              <a:t>Win</a:t>
            </a:r>
          </a:p>
        </p:txBody>
      </p:sp>
      <p:sp>
        <p:nvSpPr>
          <p:cNvPr id="31" name="TextBox 30">
            <a:extLst>
              <a:ext uri="{FF2B5EF4-FFF2-40B4-BE49-F238E27FC236}">
                <a16:creationId xmlns:a16="http://schemas.microsoft.com/office/drawing/2014/main" id="{5646CF30-1969-2AB4-E5ED-023854078127}"/>
              </a:ext>
            </a:extLst>
          </p:cNvPr>
          <p:cNvSpPr txBox="1"/>
          <p:nvPr/>
        </p:nvSpPr>
        <p:spPr>
          <a:xfrm>
            <a:off x="5114524" y="3158044"/>
            <a:ext cx="433999"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59669"/>
                </a:solidFill>
              </a:defRPr>
            </a:pPr>
            <a:r>
              <a:rPr kumimoji="0" sz="800" b="1" i="0" u="none" strike="noStrike" kern="1200" cap="none" spc="0" normalizeH="0" baseline="0" noProof="0" dirty="0">
                <a:ln>
                  <a:noFill/>
                </a:ln>
                <a:solidFill>
                  <a:srgbClr val="059669"/>
                </a:solidFill>
                <a:effectLst/>
                <a:uLnTx/>
                <a:uFillTx/>
                <a:latin typeface="Boehringer Forward Text"/>
                <a:ea typeface="+mn-ea"/>
                <a:cs typeface="+mn-cs"/>
              </a:rPr>
              <a:t>Win</a:t>
            </a:r>
          </a:p>
        </p:txBody>
      </p:sp>
      <p:cxnSp>
        <p:nvCxnSpPr>
          <p:cNvPr id="32" name="Straight Arrow Connector 31">
            <a:extLst>
              <a:ext uri="{FF2B5EF4-FFF2-40B4-BE49-F238E27FC236}">
                <a16:creationId xmlns:a16="http://schemas.microsoft.com/office/drawing/2014/main" id="{A19C19E7-965F-CBC1-2404-5B9779707F3E}"/>
              </a:ext>
            </a:extLst>
          </p:cNvPr>
          <p:cNvCxnSpPr>
            <a:cxnSpLocks/>
          </p:cNvCxnSpPr>
          <p:nvPr/>
        </p:nvCxnSpPr>
        <p:spPr bwMode="gray">
          <a:xfrm flipV="1">
            <a:off x="6762339" y="1871305"/>
            <a:ext cx="695452" cy="2463"/>
          </a:xfrm>
          <a:prstGeom prst="straightConnector1">
            <a:avLst/>
          </a:prstGeom>
          <a:ln w="1270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A5EE53C-0206-5223-84C8-62112EB4BCDE}"/>
              </a:ext>
            </a:extLst>
          </p:cNvPr>
          <p:cNvCxnSpPr>
            <a:cxnSpLocks/>
          </p:cNvCxnSpPr>
          <p:nvPr/>
        </p:nvCxnSpPr>
        <p:spPr bwMode="gray">
          <a:xfrm flipV="1">
            <a:off x="6762201" y="2613367"/>
            <a:ext cx="695452" cy="2463"/>
          </a:xfrm>
          <a:prstGeom prst="straightConnector1">
            <a:avLst/>
          </a:prstGeom>
          <a:ln w="1270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889FBD9-2AD8-1810-FD36-1593A8410F0C}"/>
              </a:ext>
            </a:extLst>
          </p:cNvPr>
          <p:cNvCxnSpPr>
            <a:cxnSpLocks/>
          </p:cNvCxnSpPr>
          <p:nvPr/>
        </p:nvCxnSpPr>
        <p:spPr bwMode="gray">
          <a:xfrm flipV="1">
            <a:off x="6763755" y="3355487"/>
            <a:ext cx="695452" cy="2463"/>
          </a:xfrm>
          <a:prstGeom prst="straightConnector1">
            <a:avLst/>
          </a:prstGeom>
          <a:ln w="1270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87F8066-7F64-CFAF-0D8A-7B78CB09F06D}"/>
              </a:ext>
            </a:extLst>
          </p:cNvPr>
          <p:cNvCxnSpPr>
            <a:cxnSpLocks/>
          </p:cNvCxnSpPr>
          <p:nvPr/>
        </p:nvCxnSpPr>
        <p:spPr bwMode="gray">
          <a:xfrm>
            <a:off x="4285896" y="1842041"/>
            <a:ext cx="0" cy="2114794"/>
          </a:xfrm>
          <a:prstGeom prst="straightConnector1">
            <a:avLst/>
          </a:prstGeom>
          <a:ln w="12700">
            <a:solidFill>
              <a:srgbClr val="059669"/>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5F441D5D-576A-6998-0ACC-95DEE15905C2}"/>
              </a:ext>
            </a:extLst>
          </p:cNvPr>
          <p:cNvCxnSpPr>
            <a:cxnSpLocks/>
          </p:cNvCxnSpPr>
          <p:nvPr/>
        </p:nvCxnSpPr>
        <p:spPr bwMode="gray">
          <a:xfrm>
            <a:off x="8163076" y="1843991"/>
            <a:ext cx="0" cy="2114794"/>
          </a:xfrm>
          <a:prstGeom prst="straightConnector1">
            <a:avLst/>
          </a:prstGeom>
          <a:ln w="12700">
            <a:solidFill>
              <a:srgbClr val="DC262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344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8BBE0-3AF4-1EED-03B8-05AC070EA9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466B2C-12E6-AC99-A22F-04CE1C8B06F0}"/>
              </a:ext>
            </a:extLst>
          </p:cNvPr>
          <p:cNvSpPr>
            <a:spLocks noGrp="1"/>
          </p:cNvSpPr>
          <p:nvPr>
            <p:ph type="title"/>
          </p:nvPr>
        </p:nvSpPr>
        <p:spPr>
          <a:xfrm>
            <a:off x="479425" y="330739"/>
            <a:ext cx="8305006" cy="424737"/>
          </a:xfrm>
        </p:spPr>
        <p:txBody>
          <a:bodyPr/>
          <a:lstStyle/>
          <a:p>
            <a:r>
              <a:rPr lang="en-US" altLang="zh-CN" sz="2000" dirty="0">
                <a:solidFill>
                  <a:schemeClr val="tx1"/>
                </a:solidFill>
                <a:latin typeface="+mn-ea"/>
                <a:ea typeface="+mn-ea"/>
              </a:rPr>
              <a:t>Study Endpoints</a:t>
            </a:r>
            <a:br>
              <a:rPr lang="en-US" altLang="zh-CN" sz="2000" dirty="0">
                <a:solidFill>
                  <a:schemeClr val="tx1"/>
                </a:solidFill>
                <a:latin typeface="+mn-ea"/>
                <a:ea typeface="+mn-ea"/>
              </a:rPr>
            </a:br>
            <a:endParaRPr lang="zh-CN" altLang="en-US" sz="2000" dirty="0">
              <a:solidFill>
                <a:schemeClr val="tx1"/>
              </a:solidFill>
              <a:latin typeface="+mn-ea"/>
              <a:ea typeface="+mn-ea"/>
            </a:endParaRPr>
          </a:p>
        </p:txBody>
      </p:sp>
      <p:sp>
        <p:nvSpPr>
          <p:cNvPr id="6" name="灯片编号占位符 5">
            <a:extLst>
              <a:ext uri="{FF2B5EF4-FFF2-40B4-BE49-F238E27FC236}">
                <a16:creationId xmlns:a16="http://schemas.microsoft.com/office/drawing/2014/main" id="{8CAB7784-99AA-BD3E-A486-68DE492EBE8D}"/>
              </a:ext>
            </a:extLst>
          </p:cNvPr>
          <p:cNvSpPr>
            <a:spLocks noGrp="1"/>
          </p:cNvSpPr>
          <p:nvPr>
            <p:ph type="sldNum" sz="quarter" idx="20"/>
          </p:nvPr>
        </p:nvSpPr>
        <p:spPr/>
        <p:txBody>
          <a:bodyPr/>
          <a:lstStyle/>
          <a:p>
            <a:fld id="{143B55C4-4F5A-416B-997D-6CE47EB0A945}" type="slidenum">
              <a:rPr lang="en-GB" noProof="0" smtClean="0">
                <a:latin typeface="+mn-ea"/>
              </a:rPr>
              <a:pPr/>
              <a:t>11</a:t>
            </a:fld>
            <a:endParaRPr lang="en-GB" noProof="0">
              <a:latin typeface="+mn-ea"/>
            </a:endParaRPr>
          </a:p>
        </p:txBody>
      </p:sp>
      <p:sp>
        <p:nvSpPr>
          <p:cNvPr id="8" name="文本框 7">
            <a:extLst>
              <a:ext uri="{FF2B5EF4-FFF2-40B4-BE49-F238E27FC236}">
                <a16:creationId xmlns:a16="http://schemas.microsoft.com/office/drawing/2014/main" id="{3F869D29-702D-8FF1-A091-12A86391F376}"/>
              </a:ext>
            </a:extLst>
          </p:cNvPr>
          <p:cNvSpPr txBox="1"/>
          <p:nvPr/>
        </p:nvSpPr>
        <p:spPr>
          <a:xfrm>
            <a:off x="745392" y="748992"/>
            <a:ext cx="7842508" cy="4306820"/>
          </a:xfrm>
          <a:prstGeom prst="rect">
            <a:avLst/>
          </a:prstGeom>
          <a:noFill/>
        </p:spPr>
        <p:txBody>
          <a:bodyPr wrap="square" rtlCol="0">
            <a:spAutoFit/>
          </a:bodyPr>
          <a:lstStyle/>
          <a:p>
            <a:pPr marL="171450" lvl="0" indent="-171450" algn="just">
              <a:lnSpc>
                <a:spcPts val="1500"/>
              </a:lnSpc>
              <a:buFont typeface="Wingdings" panose="05000000000000000000" pitchFamily="2" charset="2"/>
              <a:buChar char="n"/>
            </a:pPr>
            <a:r>
              <a:rPr lang="en-US" altLang="zh-CN" sz="1050" b="1" kern="100" dirty="0">
                <a:latin typeface="+mn-ea"/>
                <a:cs typeface="Times New Roman" panose="02020603050405020304" pitchFamily="18" charset="0"/>
              </a:rPr>
              <a:t>Secondary endpoints</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Excellent Functional Outcome: </a:t>
            </a:r>
            <a:r>
              <a:rPr lang="en-US" altLang="zh-CN" sz="1050" kern="100" dirty="0" err="1">
                <a:latin typeface="+mn-ea"/>
                <a:cs typeface="Times New Roman" panose="02020603050405020304" pitchFamily="18" charset="0"/>
              </a:rPr>
              <a:t>mRS</a:t>
            </a:r>
            <a:r>
              <a:rPr lang="en-US" altLang="zh-CN" sz="1050" kern="100" dirty="0">
                <a:latin typeface="+mn-ea"/>
                <a:cs typeface="Times New Roman" panose="02020603050405020304" pitchFamily="18" charset="0"/>
              </a:rPr>
              <a:t> score of 0–1 at 90 days.</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Good Functional Outcome: </a:t>
            </a:r>
            <a:r>
              <a:rPr lang="en-US" altLang="zh-CN" sz="1050" kern="100" dirty="0" err="1">
                <a:latin typeface="+mn-ea"/>
                <a:cs typeface="Times New Roman" panose="02020603050405020304" pitchFamily="18" charset="0"/>
              </a:rPr>
              <a:t>mRS</a:t>
            </a:r>
            <a:r>
              <a:rPr lang="en-US" altLang="zh-CN" sz="1050" kern="100" dirty="0">
                <a:latin typeface="+mn-ea"/>
                <a:cs typeface="Times New Roman" panose="02020603050405020304" pitchFamily="18" charset="0"/>
              </a:rPr>
              <a:t> score of 0–2 at 90 days.</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Distribution of Functional Outcome: The </a:t>
            </a:r>
            <a:r>
              <a:rPr lang="en-US" altLang="zh-CN" sz="1050" kern="100" dirty="0" err="1">
                <a:latin typeface="+mn-ea"/>
                <a:cs typeface="Times New Roman" panose="02020603050405020304" pitchFamily="18" charset="0"/>
              </a:rPr>
              <a:t>mRS</a:t>
            </a:r>
            <a:r>
              <a:rPr lang="en-US" altLang="zh-CN" sz="1050" kern="100" dirty="0">
                <a:latin typeface="+mn-ea"/>
                <a:cs typeface="Times New Roman" panose="02020603050405020304" pitchFamily="18" charset="0"/>
              </a:rPr>
              <a:t> score at 90 days </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EQ-5D-5L at 90 days.</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Neurological Status at 72 Hours: NIHSS score assessed between 72±12 hours post-randomization.</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Early Neurological Improvement: Defined as achieving an NIHSS score of 0–1 or a decrease of ≥4 points from the baseline NIHSS score at the 72±12 hour assessment.</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Mortality: All-cause mortality at 90 days.</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Malignant Cerebral Edema: The incidence of malignant edema within 7 days (or until discharge, whichever comes first) adjudicated by the central imaging core lab according to follow-up imaging and medical history.</a:t>
            </a:r>
          </a:p>
          <a:p>
            <a:pPr marL="685800" lvl="1" indent="-228600">
              <a:lnSpc>
                <a:spcPts val="1500"/>
              </a:lnSpc>
              <a:buFont typeface="+mj-lt"/>
              <a:buAutoNum type="arabicPeriod"/>
            </a:pPr>
            <a:r>
              <a:rPr lang="en-US" altLang="zh-CN" sz="1050" kern="100" dirty="0">
                <a:latin typeface="+mn-ea"/>
                <a:cs typeface="Times New Roman" panose="02020603050405020304" pitchFamily="18" charset="0"/>
              </a:rPr>
              <a:t>Process Metrics: DNT(Door-to-Thrombolysis  Start Time), Door-to-Antihypertensive Start Time, Door-to-Target BP Time, Time-in-Range for SBP 140–180 mmHg, mean BP over 24 hrs.</a:t>
            </a:r>
            <a:endParaRPr lang="en-US" altLang="zh-CN" sz="1050" b="1" kern="100" dirty="0">
              <a:latin typeface="+mn-ea"/>
              <a:cs typeface="Times New Roman" panose="02020603050405020304" pitchFamily="18" charset="0"/>
            </a:endParaRPr>
          </a:p>
          <a:p>
            <a:pPr marL="269875" indent="-269875" algn="just">
              <a:lnSpc>
                <a:spcPts val="1500"/>
              </a:lnSpc>
              <a:buFont typeface="Wingdings" panose="05000000000000000000" pitchFamily="2" charset="2"/>
              <a:buChar char="n"/>
            </a:pPr>
            <a:r>
              <a:rPr lang="en-US" altLang="zh-CN" sz="1050" b="1" kern="100" dirty="0">
                <a:latin typeface="+mn-ea"/>
                <a:cs typeface="Times New Roman" panose="02020603050405020304" pitchFamily="18" charset="0"/>
              </a:rPr>
              <a:t>Safety endpoints</a:t>
            </a:r>
          </a:p>
          <a:p>
            <a:pPr marL="685800" lvl="1" indent="-228600" algn="just">
              <a:lnSpc>
                <a:spcPts val="1500"/>
              </a:lnSpc>
              <a:buFont typeface="+mj-lt"/>
              <a:buAutoNum type="arabicPeriod"/>
            </a:pPr>
            <a:r>
              <a:rPr lang="en-US" altLang="zh-CN" sz="1050" kern="100" dirty="0" err="1">
                <a:latin typeface="+mn-ea"/>
                <a:cs typeface="Times New Roman" panose="02020603050405020304" pitchFamily="18" charset="0"/>
              </a:rPr>
              <a:t>sICH</a:t>
            </a:r>
            <a:r>
              <a:rPr lang="en-US" altLang="zh-CN" sz="1050" kern="100" dirty="0">
                <a:latin typeface="+mn-ea"/>
                <a:cs typeface="Times New Roman" panose="02020603050405020304" pitchFamily="18" charset="0"/>
              </a:rPr>
              <a:t> occurrence within 7 days: The primary definition of </a:t>
            </a:r>
            <a:r>
              <a:rPr lang="en-US" altLang="zh-CN" sz="1050" kern="100" dirty="0" err="1">
                <a:latin typeface="+mn-ea"/>
                <a:cs typeface="Times New Roman" panose="02020603050405020304" pitchFamily="18" charset="0"/>
              </a:rPr>
              <a:t>sICH</a:t>
            </a:r>
            <a:r>
              <a:rPr lang="en-US" altLang="zh-CN" sz="1050" kern="100" dirty="0">
                <a:latin typeface="+mn-ea"/>
                <a:cs typeface="Times New Roman" panose="02020603050405020304" pitchFamily="18" charset="0"/>
              </a:rPr>
              <a:t> is based on SITS-MOST criteria (as used in the primary endpoint); The sensitivity analysis for </a:t>
            </a:r>
            <a:r>
              <a:rPr lang="en-US" altLang="zh-CN" sz="1050" kern="100" dirty="0" err="1">
                <a:latin typeface="+mn-ea"/>
                <a:cs typeface="Times New Roman" panose="02020603050405020304" pitchFamily="18" charset="0"/>
              </a:rPr>
              <a:t>sICH</a:t>
            </a:r>
            <a:r>
              <a:rPr lang="en-US" altLang="zh-CN" sz="1050" kern="100" dirty="0">
                <a:latin typeface="+mn-ea"/>
                <a:cs typeface="Times New Roman" panose="02020603050405020304" pitchFamily="18" charset="0"/>
              </a:rPr>
              <a:t> will use the NINDS definition.</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Hemorrhagic Event Classification: All follow-up imaging will be systematically assessed by the central core lab using the Heidelberg Bleeding Classification to categorize any hemorrhagic event.</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Any Intracerebral Hemorrhage: Any evidence of ICH on follow-up imaging up to 7 days.</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Early Mortality: All-cause mortality at 7 days and in-hospital mortality.</a:t>
            </a:r>
          </a:p>
          <a:p>
            <a:pPr marL="685800" lvl="1" indent="-228600" algn="just">
              <a:lnSpc>
                <a:spcPts val="1500"/>
              </a:lnSpc>
              <a:buFont typeface="+mj-lt"/>
              <a:buAutoNum type="arabicPeriod"/>
            </a:pPr>
            <a:r>
              <a:rPr lang="en-US" altLang="zh-CN" sz="1050" kern="100" dirty="0">
                <a:latin typeface="+mn-ea"/>
                <a:cs typeface="Times New Roman" panose="02020603050405020304" pitchFamily="18" charset="0"/>
              </a:rPr>
              <a:t>Serious Adverse Events (SAEs)  within 90 days. </a:t>
            </a:r>
          </a:p>
          <a:p>
            <a:pPr marL="269875" indent="-269875" algn="just">
              <a:lnSpc>
                <a:spcPts val="1500"/>
              </a:lnSpc>
              <a:buFont typeface="Wingdings" panose="05000000000000000000" pitchFamily="2" charset="2"/>
              <a:buChar char="n"/>
            </a:pPr>
            <a:endParaRPr lang="en-US" altLang="zh-CN" sz="1050" b="1" kern="100" dirty="0">
              <a:latin typeface="+mn-ea"/>
              <a:cs typeface="Times New Roman" panose="02020603050405020304" pitchFamily="18" charset="0"/>
            </a:endParaRPr>
          </a:p>
        </p:txBody>
      </p:sp>
    </p:spTree>
    <p:extLst>
      <p:ext uri="{BB962C8B-B14F-4D97-AF65-F5344CB8AC3E}">
        <p14:creationId xmlns:p14="http://schemas.microsoft.com/office/powerpoint/2010/main" val="4112012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79217-D304-11F8-D00E-66CE3FB2E85D}"/>
              </a:ext>
            </a:extLst>
          </p:cNvPr>
          <p:cNvSpPr>
            <a:spLocks noGrp="1"/>
          </p:cNvSpPr>
          <p:nvPr>
            <p:ph type="title"/>
          </p:nvPr>
        </p:nvSpPr>
        <p:spPr>
          <a:xfrm>
            <a:off x="479425" y="298315"/>
            <a:ext cx="8305007" cy="463850"/>
          </a:xfrm>
        </p:spPr>
        <p:txBody>
          <a:bodyPr/>
          <a:lstStyle/>
          <a:p>
            <a:r>
              <a:rPr lang="en-GB" altLang="zh-CN" sz="2000" dirty="0">
                <a:solidFill>
                  <a:schemeClr val="tx1"/>
                </a:solidFill>
                <a:latin typeface="+mn-ea"/>
                <a:ea typeface="+mn-ea"/>
              </a:rPr>
              <a:t>Key Inclusion/Exclusion Criteria</a:t>
            </a:r>
            <a:br>
              <a:rPr lang="en-US" altLang="zh-CN" sz="2000" dirty="0">
                <a:solidFill>
                  <a:schemeClr val="tx1"/>
                </a:solidFill>
                <a:latin typeface="+mn-ea"/>
                <a:ea typeface="+mn-ea"/>
              </a:rPr>
            </a:br>
            <a:endParaRPr lang="zh-CN" altLang="en-US" sz="2000" dirty="0">
              <a:solidFill>
                <a:schemeClr val="tx1"/>
              </a:solidFill>
              <a:latin typeface="+mn-ea"/>
              <a:ea typeface="+mn-ea"/>
            </a:endParaRPr>
          </a:p>
        </p:txBody>
      </p:sp>
      <p:sp>
        <p:nvSpPr>
          <p:cNvPr id="6" name="灯片编号占位符 5">
            <a:extLst>
              <a:ext uri="{FF2B5EF4-FFF2-40B4-BE49-F238E27FC236}">
                <a16:creationId xmlns:a16="http://schemas.microsoft.com/office/drawing/2014/main" id="{97279EDF-83ED-3FA4-7FDA-76ED1BDDBF18}"/>
              </a:ext>
            </a:extLst>
          </p:cNvPr>
          <p:cNvSpPr>
            <a:spLocks noGrp="1"/>
          </p:cNvSpPr>
          <p:nvPr>
            <p:ph type="sldNum" sz="quarter" idx="20"/>
          </p:nvPr>
        </p:nvSpPr>
        <p:spPr/>
        <p:txBody>
          <a:bodyPr/>
          <a:lstStyle/>
          <a:p>
            <a:fld id="{143B55C4-4F5A-416B-997D-6CE47EB0A945}" type="slidenum">
              <a:rPr lang="en-GB" noProof="0" smtClean="0">
                <a:latin typeface="+mn-ea"/>
                <a:cs typeface="Times New Roman" panose="02020603050405020304" pitchFamily="18" charset="0"/>
              </a:rPr>
              <a:pPr/>
              <a:t>12</a:t>
            </a:fld>
            <a:endParaRPr lang="en-GB" noProof="0">
              <a:latin typeface="+mn-ea"/>
              <a:cs typeface="Times New Roman" panose="02020603050405020304" pitchFamily="18" charset="0"/>
            </a:endParaRPr>
          </a:p>
        </p:txBody>
      </p:sp>
      <p:sp>
        <p:nvSpPr>
          <p:cNvPr id="7" name="文本框 6">
            <a:extLst>
              <a:ext uri="{FF2B5EF4-FFF2-40B4-BE49-F238E27FC236}">
                <a16:creationId xmlns:a16="http://schemas.microsoft.com/office/drawing/2014/main" id="{996F94D4-63C1-75EA-B8CF-76AE38AB937C}"/>
              </a:ext>
            </a:extLst>
          </p:cNvPr>
          <p:cNvSpPr txBox="1"/>
          <p:nvPr/>
        </p:nvSpPr>
        <p:spPr>
          <a:xfrm>
            <a:off x="411448" y="728829"/>
            <a:ext cx="4141096" cy="3930435"/>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en-US" altLang="zh-CN" sz="1200" b="1" kern="100" dirty="0">
                <a:latin typeface="+mn-ea"/>
                <a:cs typeface="Times New Roman" panose="02020603050405020304" pitchFamily="18" charset="0"/>
              </a:rPr>
              <a:t>Inclusion Criteria:</a:t>
            </a:r>
          </a:p>
          <a:p>
            <a:pPr marL="342900" lvl="0" indent="-342900" fontAlgn="base">
              <a:lnSpc>
                <a:spcPct val="114000"/>
              </a:lnSpc>
              <a:buClr>
                <a:srgbClr val="000000"/>
              </a:buClr>
              <a:buSzPts val="1100"/>
              <a:buFont typeface="+mj-lt"/>
              <a:buAutoNum type="arabicPeriod"/>
            </a:pPr>
            <a:r>
              <a:rPr lang="en-CA" altLang="zh-CN" sz="1200" u="none" strike="noStrike" dirty="0">
                <a:effectLst/>
                <a:latin typeface="+mn-ea"/>
                <a:cs typeface="Times New Roman" panose="02020603050405020304" pitchFamily="18" charset="0"/>
              </a:rPr>
              <a:t>Age ≥18 years.</a:t>
            </a:r>
            <a:endParaRPr lang="zh-CN" altLang="zh-CN" sz="1200" u="none" strike="noStrike" dirty="0">
              <a:effectLst/>
              <a:latin typeface="+mn-ea"/>
              <a:cs typeface="Times New Roman" panose="02020603050405020304" pitchFamily="18" charset="0"/>
            </a:endParaRPr>
          </a:p>
          <a:p>
            <a:pPr marL="342900" lvl="0" indent="-342900" fontAlgn="base">
              <a:lnSpc>
                <a:spcPct val="114000"/>
              </a:lnSpc>
              <a:buClr>
                <a:srgbClr val="000000"/>
              </a:buClr>
              <a:buSzPts val="1100"/>
              <a:buFont typeface="+mj-lt"/>
              <a:buAutoNum type="arabicPeriod"/>
            </a:pPr>
            <a:r>
              <a:rPr lang="en-CA" altLang="zh-CN" sz="1200" u="none" strike="noStrike" dirty="0">
                <a:effectLst/>
                <a:latin typeface="+mn-ea"/>
                <a:cs typeface="Times New Roman" panose="02020603050405020304" pitchFamily="18" charset="0"/>
              </a:rPr>
              <a:t>Clinical diagnosis of acute ischemic stroke.</a:t>
            </a:r>
          </a:p>
          <a:p>
            <a:pPr marL="342900" lvl="0" indent="-342900" fontAlgn="base">
              <a:lnSpc>
                <a:spcPct val="114000"/>
              </a:lnSpc>
              <a:buClr>
                <a:srgbClr val="000000"/>
              </a:buClr>
              <a:buSzPts val="1100"/>
              <a:buFont typeface="+mj-lt"/>
              <a:buAutoNum type="arabicPeriod"/>
            </a:pPr>
            <a:r>
              <a:rPr lang="en-CA" altLang="zh-CN" sz="1200" dirty="0">
                <a:latin typeface="+mn-ea"/>
                <a:cs typeface="Times New Roman" panose="02020603050405020304" pitchFamily="18" charset="0"/>
              </a:rPr>
              <a:t>W</a:t>
            </a:r>
            <a:r>
              <a:rPr lang="en-CA" altLang="zh-CN" sz="1200" u="none" strike="noStrike" dirty="0">
                <a:effectLst/>
                <a:latin typeface="+mn-ea"/>
                <a:cs typeface="Times New Roman" panose="02020603050405020304" pitchFamily="18" charset="0"/>
              </a:rPr>
              <a:t>ith a clearly defined time of symptom onset or last known well, allowing for randomization </a:t>
            </a:r>
            <a:r>
              <a:rPr lang="en-CA" altLang="zh-CN" sz="1200" u="none" strike="noStrike" dirty="0">
                <a:solidFill>
                  <a:srgbClr val="C00000"/>
                </a:solidFill>
                <a:effectLst/>
                <a:latin typeface="+mn-ea"/>
                <a:cs typeface="Times New Roman" panose="02020603050405020304" pitchFamily="18" charset="0"/>
              </a:rPr>
              <a:t>within 4.5 hours.</a:t>
            </a:r>
            <a:endParaRPr lang="zh-CN" altLang="zh-CN" sz="1200" u="none" strike="noStrike" dirty="0">
              <a:solidFill>
                <a:srgbClr val="C00000"/>
              </a:solidFill>
              <a:effectLst/>
              <a:latin typeface="+mn-ea"/>
              <a:cs typeface="Times New Roman" panose="02020603050405020304" pitchFamily="18" charset="0"/>
            </a:endParaRPr>
          </a:p>
          <a:p>
            <a:pPr marL="342900" lvl="0" indent="-342900" fontAlgn="base">
              <a:lnSpc>
                <a:spcPct val="114000"/>
              </a:lnSpc>
              <a:buClr>
                <a:srgbClr val="000000"/>
              </a:buClr>
              <a:buSzPts val="1100"/>
              <a:buFont typeface="+mj-lt"/>
              <a:buAutoNum type="arabicPeriod"/>
            </a:pPr>
            <a:r>
              <a:rPr lang="en-CA" altLang="zh-CN" sz="1200" u="none" strike="noStrike" dirty="0">
                <a:effectLst/>
                <a:latin typeface="+mn-ea"/>
                <a:cs typeface="Times New Roman" panose="02020603050405020304" pitchFamily="18" charset="0"/>
              </a:rPr>
              <a:t>The treating physician has made the decision to treat the patient with intravenous thrombolysis.</a:t>
            </a:r>
            <a:endParaRPr lang="zh-CN" altLang="zh-CN" sz="1200" u="none" strike="noStrike" dirty="0">
              <a:effectLst/>
              <a:latin typeface="+mn-ea"/>
              <a:cs typeface="Times New Roman" panose="02020603050405020304" pitchFamily="18" charset="0"/>
            </a:endParaRPr>
          </a:p>
          <a:p>
            <a:pPr marL="342900" lvl="0" indent="-342900" fontAlgn="base">
              <a:lnSpc>
                <a:spcPct val="114000"/>
              </a:lnSpc>
              <a:buClr>
                <a:srgbClr val="000000"/>
              </a:buClr>
              <a:buSzPts val="1100"/>
              <a:buFont typeface="+mj-lt"/>
              <a:buAutoNum type="arabicPeriod"/>
            </a:pPr>
            <a:r>
              <a:rPr lang="en-US" altLang="zh-CN" sz="1200" u="none" strike="noStrike" dirty="0">
                <a:effectLst/>
                <a:latin typeface="+mn-ea"/>
                <a:cs typeface="Times New Roman" panose="02020603050405020304" pitchFamily="18" charset="0"/>
              </a:rPr>
              <a:t>Elevated blood pressure, defined as: Pre-thrombolysis BP exceeds guideline-recommended range </a:t>
            </a:r>
            <a:r>
              <a:rPr lang="en-US" altLang="zh-CN" sz="1200" u="none" strike="noStrike" dirty="0">
                <a:solidFill>
                  <a:srgbClr val="C00000"/>
                </a:solidFill>
                <a:effectLst/>
                <a:latin typeface="+mn-ea"/>
                <a:cs typeface="Times New Roman" panose="02020603050405020304" pitchFamily="18" charset="0"/>
              </a:rPr>
              <a:t>(e.g. China: 180/100 mmHg; U.S./Canada/Europe: 185/110 mmHg), but below 220 mmHg.</a:t>
            </a:r>
          </a:p>
          <a:p>
            <a:pPr marL="342900" lvl="0" indent="-342900" fontAlgn="base">
              <a:lnSpc>
                <a:spcPct val="114000"/>
              </a:lnSpc>
              <a:buClr>
                <a:srgbClr val="000000"/>
              </a:buClr>
              <a:buSzPts val="1100"/>
              <a:buFont typeface="+mj-lt"/>
              <a:buAutoNum type="arabicPeriod"/>
            </a:pPr>
            <a:r>
              <a:rPr lang="en-CA" altLang="zh-CN" sz="1200" u="none" strike="noStrike" dirty="0">
                <a:effectLst/>
                <a:latin typeface="+mn-ea"/>
                <a:cs typeface="Times New Roman" panose="02020603050405020304" pitchFamily="18" charset="0"/>
              </a:rPr>
              <a:t>Informed consent is obtained from the patient or a legally authorized representative in accordance with local regulations. A deferred or waiver of consent model will be used where permitted by local ethics committees for emergency research.</a:t>
            </a:r>
            <a:endParaRPr lang="zh-CN" altLang="zh-CN" sz="1200" u="none" strike="noStrike" dirty="0">
              <a:effectLst/>
              <a:latin typeface="+mn-ea"/>
              <a:cs typeface="Times New Roman" panose="02020603050405020304" pitchFamily="18" charset="0"/>
            </a:endParaRPr>
          </a:p>
        </p:txBody>
      </p:sp>
      <p:sp>
        <p:nvSpPr>
          <p:cNvPr id="8" name="文本框 7">
            <a:extLst>
              <a:ext uri="{FF2B5EF4-FFF2-40B4-BE49-F238E27FC236}">
                <a16:creationId xmlns:a16="http://schemas.microsoft.com/office/drawing/2014/main" id="{A17765B2-ACA4-8BAE-01A8-2B2941CD46E3}"/>
              </a:ext>
            </a:extLst>
          </p:cNvPr>
          <p:cNvSpPr txBox="1"/>
          <p:nvPr/>
        </p:nvSpPr>
        <p:spPr>
          <a:xfrm>
            <a:off x="4571999" y="739916"/>
            <a:ext cx="4212431" cy="2220095"/>
          </a:xfrm>
          <a:prstGeom prst="rect">
            <a:avLst/>
          </a:prstGeom>
          <a:noFill/>
        </p:spPr>
        <p:txBody>
          <a:bodyPr wrap="square" rtlCol="0">
            <a:spAutoFit/>
          </a:bodyPr>
          <a:lstStyle/>
          <a:p>
            <a:pPr marL="285750" lvl="0" indent="-285750">
              <a:lnSpc>
                <a:spcPct val="150000"/>
              </a:lnSpc>
              <a:buFont typeface="Wingdings" panose="05000000000000000000" pitchFamily="2" charset="2"/>
              <a:buChar char="n"/>
            </a:pPr>
            <a:r>
              <a:rPr lang="en-US" altLang="zh-CN" sz="1200" b="1" kern="100" dirty="0">
                <a:latin typeface="+mn-ea"/>
                <a:cs typeface="Times New Roman" panose="02020603050405020304" pitchFamily="18" charset="0"/>
              </a:rPr>
              <a:t>Exclusion Criteria:</a:t>
            </a:r>
          </a:p>
          <a:p>
            <a:pPr marL="342900" indent="-342900" fontAlgn="base">
              <a:lnSpc>
                <a:spcPct val="114000"/>
              </a:lnSpc>
              <a:buClr>
                <a:srgbClr val="000000"/>
              </a:buClr>
              <a:buSzPts val="1100"/>
              <a:buFont typeface="+mj-lt"/>
              <a:buAutoNum type="arabicPeriod"/>
            </a:pPr>
            <a:r>
              <a:rPr lang="en-US" altLang="zh-CN" sz="1200" dirty="0">
                <a:latin typeface="+mn-ea"/>
                <a:cs typeface="Times New Roman" panose="02020603050405020304" pitchFamily="18" charset="0"/>
              </a:rPr>
              <a:t>Any condition that, in the judgment of the investigator, would preclude follow-up or interfere with outcome assessment (e.g., end-stage malignancy, severe multi-organ failure).</a:t>
            </a:r>
          </a:p>
          <a:p>
            <a:pPr marL="342900" indent="-342900" fontAlgn="base">
              <a:lnSpc>
                <a:spcPct val="114000"/>
              </a:lnSpc>
              <a:buClr>
                <a:srgbClr val="000000"/>
              </a:buClr>
              <a:buSzPts val="1100"/>
              <a:buFont typeface="+mj-lt"/>
              <a:buAutoNum type="arabicPeriod"/>
            </a:pPr>
            <a:r>
              <a:rPr lang="en-US" altLang="zh-CN" sz="1200" dirty="0">
                <a:latin typeface="+mn-ea"/>
                <a:cs typeface="Times New Roman" panose="02020603050405020304" pitchFamily="18" charset="0"/>
              </a:rPr>
              <a:t>The patient is pregnant or breastfeeding.</a:t>
            </a:r>
          </a:p>
          <a:p>
            <a:pPr marL="342900" indent="-342900" fontAlgn="base">
              <a:lnSpc>
                <a:spcPct val="114000"/>
              </a:lnSpc>
              <a:buClr>
                <a:srgbClr val="000000"/>
              </a:buClr>
              <a:buSzPts val="1100"/>
              <a:buFont typeface="+mj-lt"/>
              <a:buAutoNum type="arabicPeriod"/>
            </a:pPr>
            <a:r>
              <a:rPr lang="en-US" altLang="zh-CN" sz="1200" dirty="0">
                <a:latin typeface="+mn-ea"/>
                <a:cs typeface="Times New Roman" panose="02020603050405020304" pitchFamily="18" charset="0"/>
              </a:rPr>
              <a:t>Concurrent enrollment in another interventional trial where the intervention is likely to confound the study endpoints.</a:t>
            </a:r>
          </a:p>
          <a:p>
            <a:pPr>
              <a:lnSpc>
                <a:spcPts val="1300"/>
              </a:lnSpc>
            </a:pPr>
            <a:endParaRPr lang="en-US" altLang="zh-CN" sz="1200" kern="100" dirty="0">
              <a:solidFill>
                <a:srgbClr val="C00000"/>
              </a:solidFill>
              <a:effectLst/>
              <a:latin typeface="+mn-ea"/>
              <a:cs typeface="Times New Roman" panose="02020603050405020304" pitchFamily="18" charset="0"/>
            </a:endParaRPr>
          </a:p>
        </p:txBody>
      </p:sp>
    </p:spTree>
    <p:extLst>
      <p:ext uri="{BB962C8B-B14F-4D97-AF65-F5344CB8AC3E}">
        <p14:creationId xmlns:p14="http://schemas.microsoft.com/office/powerpoint/2010/main" val="3787279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D57326C-AE84-5934-10E9-FCB123961DF1}"/>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600" b="0" i="0" u="none" strike="noStrike" kern="1200" cap="none" spc="0" normalizeH="0" baseline="0" noProof="0">
              <a:ln>
                <a:noFill/>
              </a:ln>
              <a:solidFill>
                <a:srgbClr val="08312A"/>
              </a:solidFill>
              <a:effectLst/>
              <a:uLnTx/>
              <a:uFillTx/>
              <a:latin typeface="+mn-ea"/>
              <a:cs typeface="+mn-cs"/>
            </a:endParaRPr>
          </a:p>
        </p:txBody>
      </p:sp>
      <p:sp>
        <p:nvSpPr>
          <p:cNvPr id="4" name="文本框 3">
            <a:extLst>
              <a:ext uri="{FF2B5EF4-FFF2-40B4-BE49-F238E27FC236}">
                <a16:creationId xmlns:a16="http://schemas.microsoft.com/office/drawing/2014/main" id="{7B9A18EB-AEE2-4678-4501-0514EA14F5E5}"/>
              </a:ext>
            </a:extLst>
          </p:cNvPr>
          <p:cNvSpPr txBox="1"/>
          <p:nvPr/>
        </p:nvSpPr>
        <p:spPr>
          <a:xfrm>
            <a:off x="359568" y="750292"/>
            <a:ext cx="8424863" cy="52322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dirty="0">
                <a:ln>
                  <a:noFill/>
                </a:ln>
                <a:effectLst/>
                <a:uLnTx/>
                <a:uFillTx/>
                <a:latin typeface="+mn-ea"/>
                <a:cs typeface="Times New Roman" panose="02020603050405020304" pitchFamily="18" charset="0"/>
              </a:rPr>
              <a:t>The study will enroll 1,600 participants across China </a:t>
            </a:r>
            <a:r>
              <a:rPr lang="en-US" altLang="zh-CN" sz="1400" b="1" dirty="0">
                <a:latin typeface="+mn-ea"/>
                <a:cs typeface="Times New Roman" panose="02020603050405020304" pitchFamily="18" charset="0"/>
              </a:rPr>
              <a:t>and potentially across multiple international sites (e.g. Canada and Netherlands).  </a:t>
            </a:r>
            <a:endParaRPr kumimoji="1" lang="en-US" altLang="zh-CN" sz="1400" b="1" i="0" u="none" strike="noStrike" kern="1200" cap="none" spc="0" normalizeH="0" baseline="0" noProof="0" dirty="0">
              <a:ln>
                <a:noFill/>
              </a:ln>
              <a:effectLst/>
              <a:uLnTx/>
              <a:uFillTx/>
              <a:latin typeface="+mn-ea"/>
              <a:cs typeface="Times New Roman" panose="02020603050405020304" pitchFamily="18" charset="0"/>
            </a:endParaRPr>
          </a:p>
        </p:txBody>
      </p:sp>
      <p:sp>
        <p:nvSpPr>
          <p:cNvPr id="7" name="标题 1">
            <a:extLst>
              <a:ext uri="{FF2B5EF4-FFF2-40B4-BE49-F238E27FC236}">
                <a16:creationId xmlns:a16="http://schemas.microsoft.com/office/drawing/2014/main" id="{5CC86B7B-006A-9943-50E6-2342DC702E7D}"/>
              </a:ext>
            </a:extLst>
          </p:cNvPr>
          <p:cNvSpPr>
            <a:spLocks noGrp="1"/>
          </p:cNvSpPr>
          <p:nvPr>
            <p:ph type="title"/>
          </p:nvPr>
        </p:nvSpPr>
        <p:spPr>
          <a:xfrm>
            <a:off x="479425" y="330739"/>
            <a:ext cx="8305007" cy="436555"/>
          </a:xfrm>
        </p:spPr>
        <p:txBody>
          <a:bodyPr/>
          <a:lstStyle/>
          <a:p>
            <a:r>
              <a:rPr lang="en-US" altLang="zh-CN" sz="2000" dirty="0">
                <a:solidFill>
                  <a:schemeClr val="tx1"/>
                </a:solidFill>
                <a:latin typeface="+mn-ea"/>
                <a:ea typeface="+mn-ea"/>
              </a:rPr>
              <a:t>Sample Size</a:t>
            </a:r>
            <a:endParaRPr lang="zh-CN" altLang="en-US" sz="2000" dirty="0">
              <a:solidFill>
                <a:schemeClr val="tx1"/>
              </a:solidFill>
              <a:latin typeface="+mn-ea"/>
              <a:ea typeface="+mn-ea"/>
            </a:endParaRPr>
          </a:p>
        </p:txBody>
      </p:sp>
      <p:graphicFrame>
        <p:nvGraphicFramePr>
          <p:cNvPr id="2" name="表格 1">
            <a:extLst>
              <a:ext uri="{FF2B5EF4-FFF2-40B4-BE49-F238E27FC236}">
                <a16:creationId xmlns:a16="http://schemas.microsoft.com/office/drawing/2014/main" id="{00DE0F2C-98A0-036D-CCE9-0206C935ED58}"/>
              </a:ext>
            </a:extLst>
          </p:cNvPr>
          <p:cNvGraphicFramePr/>
          <p:nvPr>
            <p:extLst>
              <p:ext uri="{D42A27DB-BD31-4B8C-83A1-F6EECF244321}">
                <p14:modId xmlns:p14="http://schemas.microsoft.com/office/powerpoint/2010/main" val="3653813046"/>
              </p:ext>
            </p:extLst>
          </p:nvPr>
        </p:nvGraphicFramePr>
        <p:xfrm>
          <a:off x="564207" y="1305884"/>
          <a:ext cx="7983167" cy="2536120"/>
        </p:xfrm>
        <a:graphic>
          <a:graphicData uri="http://schemas.openxmlformats.org/drawingml/2006/table">
            <a:tbl>
              <a:tblPr/>
              <a:tblGrid>
                <a:gridCol w="619888">
                  <a:extLst>
                    <a:ext uri="{9D8B030D-6E8A-4147-A177-3AD203B41FA5}">
                      <a16:colId xmlns:a16="http://schemas.microsoft.com/office/drawing/2014/main" val="20000"/>
                    </a:ext>
                  </a:extLst>
                </a:gridCol>
                <a:gridCol w="576067">
                  <a:extLst>
                    <a:ext uri="{9D8B030D-6E8A-4147-A177-3AD203B41FA5}">
                      <a16:colId xmlns:a16="http://schemas.microsoft.com/office/drawing/2014/main" val="20001"/>
                    </a:ext>
                  </a:extLst>
                </a:gridCol>
                <a:gridCol w="827295">
                  <a:extLst>
                    <a:ext uri="{9D8B030D-6E8A-4147-A177-3AD203B41FA5}">
                      <a16:colId xmlns:a16="http://schemas.microsoft.com/office/drawing/2014/main" val="20002"/>
                    </a:ext>
                  </a:extLst>
                </a:gridCol>
                <a:gridCol w="1347276">
                  <a:extLst>
                    <a:ext uri="{9D8B030D-6E8A-4147-A177-3AD203B41FA5}">
                      <a16:colId xmlns:a16="http://schemas.microsoft.com/office/drawing/2014/main" val="20003"/>
                    </a:ext>
                  </a:extLst>
                </a:gridCol>
                <a:gridCol w="1091376">
                  <a:extLst>
                    <a:ext uri="{9D8B030D-6E8A-4147-A177-3AD203B41FA5}">
                      <a16:colId xmlns:a16="http://schemas.microsoft.com/office/drawing/2014/main" val="20004"/>
                    </a:ext>
                  </a:extLst>
                </a:gridCol>
                <a:gridCol w="1063917">
                  <a:extLst>
                    <a:ext uri="{9D8B030D-6E8A-4147-A177-3AD203B41FA5}">
                      <a16:colId xmlns:a16="http://schemas.microsoft.com/office/drawing/2014/main" val="20005"/>
                    </a:ext>
                  </a:extLst>
                </a:gridCol>
                <a:gridCol w="1059242">
                  <a:extLst>
                    <a:ext uri="{9D8B030D-6E8A-4147-A177-3AD203B41FA5}">
                      <a16:colId xmlns:a16="http://schemas.microsoft.com/office/drawing/2014/main" val="20006"/>
                    </a:ext>
                  </a:extLst>
                </a:gridCol>
                <a:gridCol w="1398106">
                  <a:extLst>
                    <a:ext uri="{9D8B030D-6E8A-4147-A177-3AD203B41FA5}">
                      <a16:colId xmlns:a16="http://schemas.microsoft.com/office/drawing/2014/main" val="20007"/>
                    </a:ext>
                  </a:extLst>
                </a:gridCol>
              </a:tblGrid>
              <a:tr h="315155">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Rank</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Data type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Distribution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Parameters</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What to simulate?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Intervention</a:t>
                      </a:r>
                    </a:p>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A</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Control</a:t>
                      </a:r>
                    </a:p>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B</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Direction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171056">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a:latin typeface="Times New Roman" panose="02020603050405020304"/>
                          <a:ea typeface="等线" panose="02010600030101010101" charset="-122"/>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a:latin typeface="Times New Roman" panose="02020603050405020304"/>
                          <a:ea typeface="等线" panose="02010600030101010101" charset="-122"/>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a:latin typeface="Times New Roman" panose="02020603050405020304"/>
                          <a:ea typeface="等线" panose="02010600030101010101" charset="-122"/>
                        </a:rPr>
                        <a:t>Dropout rate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D</a:t>
                      </a:r>
                      <a:r>
                        <a:rPr lang="en-US" altLang="zh-CN" sz="1000" baseline="-25000">
                          <a:latin typeface="Times New Roman" panose="02020603050405020304"/>
                          <a:ea typeface="等线" panose="02010600030101010101" charset="-122"/>
                        </a:rPr>
                        <a:t>A</a:t>
                      </a:r>
                      <a:r>
                        <a:rPr lang="en-US" altLang="zh-CN" sz="1000">
                          <a:latin typeface="Times New Roman" panose="02020603050405020304"/>
                          <a:ea typeface="等线" panose="02010600030101010101" charset="-122"/>
                        </a:rPr>
                        <a:t>=.10</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D</a:t>
                      </a:r>
                      <a:r>
                        <a:rPr lang="en-US" altLang="zh-CN" sz="1000" baseline="-25000">
                          <a:latin typeface="Times New Roman" panose="02020603050405020304"/>
                          <a:ea typeface="等线" panose="02010600030101010101" charset="-122"/>
                        </a:rPr>
                        <a:t>B</a:t>
                      </a:r>
                      <a:r>
                        <a:rPr lang="en-US" altLang="zh-CN" sz="1000">
                          <a:latin typeface="Times New Roman" panose="02020603050405020304"/>
                          <a:ea typeface="等线" panose="02010600030101010101" charset="-122"/>
                        </a:rPr>
                        <a:t>=.10</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1135899">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dirty="0">
                          <a:latin typeface="Times New Roman" panose="02020603050405020304"/>
                          <a:ea typeface="等线" panose="02010600030101010101" charset="-122"/>
                        </a:rPr>
                        <a:t>Ordinal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dirty="0">
                          <a:latin typeface="Times New Roman" panose="02020603050405020304"/>
                          <a:ea typeface="等线" panose="02010600030101010101" charset="-122"/>
                        </a:rPr>
                        <a:t>Multinomial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a:latin typeface="Times New Roman" panose="02020603050405020304"/>
                          <a:ea typeface="等线" panose="02010600030101010101" charset="-122"/>
                        </a:rPr>
                        <a:t>Percentage distribution of mRS</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Multinomial (0,1,2,3,4,5,6)</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π11</a:t>
                      </a:r>
                      <a:r>
                        <a:rPr lang="en-US" altLang="zh-CN" sz="1000" dirty="0">
                          <a:latin typeface="Times New Roman" panose="02020603050405020304"/>
                          <a:ea typeface="Times New Roman" panose="02020603050405020304"/>
                        </a:rPr>
                        <a:t>A=0.23</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12A=0.22</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13A=0.17</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14A=0.14</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15A=0.08</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16A=0.10</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17A=0.06</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11B=0.22</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12B=0.19</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13B=0.13</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14B=0.16</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15B=0.13</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16B=0.08</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dirty="0">
                          <a:latin typeface="Times New Roman" panose="02020603050405020304"/>
                          <a:ea typeface="Times New Roman" panose="02020603050405020304"/>
                        </a:rPr>
                        <a:t>17B=0.09</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Smaller value /Smaller π</a:t>
                      </a:r>
                      <a:r>
                        <a:rPr lang="en-US" altLang="zh-CN" sz="1000" baseline="-25000">
                          <a:latin typeface="Times New Roman" panose="02020603050405020304"/>
                          <a:ea typeface="等线" panose="02010600030101010101" charset="-122"/>
                        </a:rPr>
                        <a:t>1</a:t>
                      </a:r>
                      <a:r>
                        <a:rPr lang="en-US" altLang="zh-CN" sz="1000">
                          <a:latin typeface="Times New Roman" panose="02020603050405020304"/>
                          <a:ea typeface="等线" panose="02010600030101010101" charset="-122"/>
                        </a:rPr>
                        <a:t>, better (win)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315155">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2</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a:latin typeface="Times New Roman" panose="02020603050405020304"/>
                          <a:ea typeface="等线" panose="02010600030101010101" charset="-122"/>
                        </a:rPr>
                        <a:t>Binary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dirty="0">
                          <a:latin typeface="Times New Roman" panose="02020603050405020304"/>
                          <a:ea typeface="等线" panose="02010600030101010101" charset="-122"/>
                        </a:rPr>
                        <a:t>Binomial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a:latin typeface="Times New Roman" panose="02020603050405020304"/>
                          <a:ea typeface="等线" panose="02010600030101010101" charset="-122"/>
                        </a:rPr>
                        <a:t>Probability of sICH</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Binary outcome </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(0 and 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π</a:t>
                      </a:r>
                      <a:r>
                        <a:rPr lang="en-US" altLang="zh-CN" sz="1000" baseline="-25000" dirty="0">
                          <a:latin typeface="Times New Roman" panose="02020603050405020304"/>
                          <a:ea typeface="等线" panose="02010600030101010101" charset="-122"/>
                        </a:rPr>
                        <a:t>2A</a:t>
                      </a:r>
                      <a:r>
                        <a:rPr lang="en-US" altLang="zh-CN" sz="1000" dirty="0">
                          <a:latin typeface="Times New Roman" panose="02020603050405020304"/>
                          <a:ea typeface="等线" panose="02010600030101010101" charset="-122"/>
                        </a:rPr>
                        <a:t>=</a:t>
                      </a:r>
                      <a:r>
                        <a:rPr lang="en-US" altLang="zh-CN" sz="1000" dirty="0">
                          <a:latin typeface="Times New Roman" panose="02020603050405020304"/>
                          <a:ea typeface="Times New Roman" panose="02020603050405020304"/>
                        </a:rPr>
                        <a:t>0.10</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π</a:t>
                      </a:r>
                      <a:r>
                        <a:rPr lang="en-US" altLang="zh-CN" sz="1000" baseline="-25000">
                          <a:latin typeface="Times New Roman" panose="02020603050405020304"/>
                          <a:ea typeface="等线" panose="02010600030101010101" charset="-122"/>
                        </a:rPr>
                        <a:t>2B</a:t>
                      </a:r>
                      <a:r>
                        <a:rPr lang="en-US" altLang="zh-CN" sz="1000">
                          <a:latin typeface="Times New Roman" panose="02020603050405020304"/>
                          <a:ea typeface="等线" panose="02010600030101010101" charset="-122"/>
                        </a:rPr>
                        <a:t>=</a:t>
                      </a:r>
                      <a:r>
                        <a:rPr lang="en-US" altLang="zh-CN" sz="1000">
                          <a:latin typeface="Times New Roman" panose="02020603050405020304"/>
                          <a:ea typeface="Times New Roman" panose="02020603050405020304"/>
                        </a:rPr>
                        <a:t>0.13</a:t>
                      </a:r>
                    </a:p>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Smaller value /Smaller π</a:t>
                      </a:r>
                      <a:r>
                        <a:rPr lang="en-US" altLang="zh-CN" sz="1000" baseline="-25000" dirty="0">
                          <a:latin typeface="Times New Roman" panose="02020603050405020304"/>
                          <a:ea typeface="等线" panose="02010600030101010101" charset="-122"/>
                        </a:rPr>
                        <a:t>2</a:t>
                      </a:r>
                      <a:r>
                        <a:rPr lang="en-US" altLang="zh-CN" sz="1000" dirty="0">
                          <a:latin typeface="Times New Roman" panose="02020603050405020304"/>
                          <a:ea typeface="等线" panose="02010600030101010101" charset="-122"/>
                        </a:rPr>
                        <a:t>, better (win)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479303">
                <a:tc>
                  <a:txBody>
                    <a:bodyPr/>
                    <a:lstStyle/>
                    <a:p>
                      <a:pPr marL="0" indent="0" algn="ctr">
                        <a:lnSpc>
                          <a:spcPct val="115000"/>
                        </a:lnSpc>
                        <a:spcBef>
                          <a:spcPct val="0"/>
                        </a:spcBef>
                        <a:spcAft>
                          <a:spcPct val="0"/>
                        </a:spcAft>
                      </a:pPr>
                      <a:r>
                        <a:rPr lang="en-US" altLang="zh-CN" sz="1000">
                          <a:latin typeface="Times New Roman" panose="02020603050405020304"/>
                          <a:ea typeface="等线" panose="02010600030101010101" charset="-122"/>
                        </a:rPr>
                        <a:t>3</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dirty="0">
                          <a:latin typeface="Times New Roman" panose="02020603050405020304"/>
                          <a:ea typeface="等线" panose="02010600030101010101" charset="-122"/>
                        </a:rPr>
                        <a:t>Continuous</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dirty="0">
                          <a:latin typeface="Times New Roman" panose="02020603050405020304"/>
                          <a:ea typeface="等线" panose="02010600030101010101" charset="-122"/>
                        </a:rPr>
                        <a:t>Normal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nSpc>
                          <a:spcPct val="115000"/>
                        </a:lnSpc>
                        <a:spcBef>
                          <a:spcPct val="0"/>
                        </a:spcBef>
                        <a:spcAft>
                          <a:spcPct val="0"/>
                        </a:spcAft>
                      </a:pPr>
                      <a:r>
                        <a:rPr lang="en-US" altLang="zh-CN" sz="1000" dirty="0">
                          <a:latin typeface="Times New Roman" panose="02020603050405020304"/>
                          <a:ea typeface="等线" panose="02010600030101010101" charset="-122"/>
                        </a:rPr>
                        <a:t>Mean and SD</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Normal outcome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µ</a:t>
                      </a:r>
                      <a:r>
                        <a:rPr lang="en-US" altLang="zh-CN" sz="1000" baseline="-25000" dirty="0">
                          <a:latin typeface="Times New Roman" panose="02020603050405020304"/>
                          <a:ea typeface="等线" panose="02010600030101010101" charset="-122"/>
                        </a:rPr>
                        <a:t>3A</a:t>
                      </a:r>
                      <a:r>
                        <a:rPr lang="en-US" altLang="zh-CN" sz="1000" dirty="0">
                          <a:latin typeface="Times New Roman" panose="02020603050405020304"/>
                          <a:ea typeface="等线" panose="02010600030101010101" charset="-122"/>
                        </a:rPr>
                        <a:t>=</a:t>
                      </a:r>
                      <a:r>
                        <a:rPr lang="en-US" altLang="zh-CN" sz="1000" dirty="0">
                          <a:latin typeface="Times New Roman" panose="02020603050405020304"/>
                          <a:ea typeface="Times New Roman" panose="02020603050405020304"/>
                        </a:rPr>
                        <a:t>64</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σ</a:t>
                      </a:r>
                      <a:r>
                        <a:rPr lang="en-US" altLang="zh-CN" sz="1000" baseline="-25000" dirty="0">
                          <a:latin typeface="Times New Roman" panose="02020603050405020304"/>
                          <a:ea typeface="等线" panose="02010600030101010101" charset="-122"/>
                        </a:rPr>
                        <a:t>3A</a:t>
                      </a:r>
                      <a:r>
                        <a:rPr lang="en-US" altLang="zh-CN" sz="1000" dirty="0">
                          <a:latin typeface="Times New Roman" panose="02020603050405020304"/>
                          <a:ea typeface="等线" panose="02010600030101010101" charset="-122"/>
                        </a:rPr>
                        <a:t>=</a:t>
                      </a:r>
                      <a:r>
                        <a:rPr lang="en-US" altLang="zh-CN" sz="1000" dirty="0">
                          <a:latin typeface="Times New Roman" panose="02020603050405020304"/>
                          <a:ea typeface="Times New Roman" panose="02020603050405020304"/>
                        </a:rPr>
                        <a:t>33.87</a:t>
                      </a:r>
                      <a:endParaRPr lang="en-US" altLang="zh-CN" sz="1000" dirty="0">
                        <a:solidFill>
                          <a:srgbClr val="FF0000"/>
                        </a:solidFill>
                        <a:latin typeface="Times New Roman" panose="02020603050405020304"/>
                        <a:ea typeface="Times New Roman" panose="02020603050405020304"/>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µ</a:t>
                      </a:r>
                      <a:r>
                        <a:rPr lang="en-US" altLang="zh-CN" sz="1000" baseline="-25000" dirty="0">
                          <a:latin typeface="Times New Roman" panose="02020603050405020304"/>
                          <a:ea typeface="等线" panose="02010600030101010101" charset="-122"/>
                        </a:rPr>
                        <a:t>3B</a:t>
                      </a:r>
                      <a:r>
                        <a:rPr lang="en-US" altLang="zh-CN" sz="1000" dirty="0">
                          <a:latin typeface="Times New Roman" panose="02020603050405020304"/>
                          <a:ea typeface="等线" panose="02010600030101010101" charset="-122"/>
                        </a:rPr>
                        <a:t>= </a:t>
                      </a:r>
                      <a:r>
                        <a:rPr lang="en-US" altLang="zh-CN" sz="1000" dirty="0">
                          <a:latin typeface="Times New Roman" panose="02020603050405020304"/>
                          <a:ea typeface="Times New Roman" panose="02020603050405020304"/>
                        </a:rPr>
                        <a:t>75.7</a:t>
                      </a:r>
                    </a:p>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σ</a:t>
                      </a:r>
                      <a:r>
                        <a:rPr lang="en-US" altLang="zh-CN" sz="1000" baseline="-25000" dirty="0">
                          <a:latin typeface="Times New Roman" panose="02020603050405020304"/>
                          <a:ea typeface="等线" panose="02010600030101010101" charset="-122"/>
                        </a:rPr>
                        <a:t>3B</a:t>
                      </a:r>
                      <a:r>
                        <a:rPr lang="en-US" altLang="zh-CN" sz="1000" dirty="0">
                          <a:latin typeface="Times New Roman" panose="02020603050405020304"/>
                          <a:ea typeface="等线" panose="02010600030101010101" charset="-122"/>
                        </a:rPr>
                        <a:t>= </a:t>
                      </a:r>
                      <a:r>
                        <a:rPr lang="en-US" altLang="zh-CN" sz="1000" dirty="0">
                          <a:latin typeface="Times New Roman" panose="02020603050405020304"/>
                          <a:ea typeface="Times New Roman" panose="02020603050405020304"/>
                        </a:rPr>
                        <a:t>33.87</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15000"/>
                        </a:lnSpc>
                        <a:spcBef>
                          <a:spcPct val="0"/>
                        </a:spcBef>
                        <a:spcAft>
                          <a:spcPct val="0"/>
                        </a:spcAft>
                      </a:pPr>
                      <a:r>
                        <a:rPr lang="en-US" altLang="zh-CN" sz="1000" dirty="0">
                          <a:latin typeface="Times New Roman" panose="02020603050405020304"/>
                          <a:ea typeface="等线" panose="02010600030101010101" charset="-122"/>
                        </a:rPr>
                        <a:t>Smaller value /Smaller µ</a:t>
                      </a:r>
                      <a:r>
                        <a:rPr lang="en-US" altLang="zh-CN" sz="1000" baseline="-25000" dirty="0">
                          <a:latin typeface="Times New Roman" panose="02020603050405020304"/>
                          <a:ea typeface="等线" panose="02010600030101010101" charset="-122"/>
                        </a:rPr>
                        <a:t>3</a:t>
                      </a:r>
                      <a:r>
                        <a:rPr lang="en-US" altLang="zh-CN" sz="1000" dirty="0">
                          <a:latin typeface="Times New Roman" panose="02020603050405020304"/>
                          <a:ea typeface="等线" panose="02010600030101010101" charset="-122"/>
                        </a:rPr>
                        <a:t>, better (win)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graphicFrame>
        <p:nvGraphicFramePr>
          <p:cNvPr id="5" name="表格 4">
            <a:extLst>
              <a:ext uri="{FF2B5EF4-FFF2-40B4-BE49-F238E27FC236}">
                <a16:creationId xmlns:a16="http://schemas.microsoft.com/office/drawing/2014/main" id="{5567CC87-CC3E-D682-8880-9BA5C58F4AEC}"/>
              </a:ext>
            </a:extLst>
          </p:cNvPr>
          <p:cNvGraphicFramePr/>
          <p:nvPr>
            <p:extLst>
              <p:ext uri="{D42A27DB-BD31-4B8C-83A1-F6EECF244321}">
                <p14:modId xmlns:p14="http://schemas.microsoft.com/office/powerpoint/2010/main" val="3031510008"/>
              </p:ext>
            </p:extLst>
          </p:nvPr>
        </p:nvGraphicFramePr>
        <p:xfrm>
          <a:off x="564205" y="3933677"/>
          <a:ext cx="7983167" cy="513972"/>
        </p:xfrm>
        <a:graphic>
          <a:graphicData uri="http://schemas.openxmlformats.org/drawingml/2006/table">
            <a:tbl>
              <a:tblPr/>
              <a:tblGrid>
                <a:gridCol w="1807428">
                  <a:extLst>
                    <a:ext uri="{9D8B030D-6E8A-4147-A177-3AD203B41FA5}">
                      <a16:colId xmlns:a16="http://schemas.microsoft.com/office/drawing/2014/main" val="20000"/>
                    </a:ext>
                  </a:extLst>
                </a:gridCol>
                <a:gridCol w="1677300">
                  <a:extLst>
                    <a:ext uri="{9D8B030D-6E8A-4147-A177-3AD203B41FA5}">
                      <a16:colId xmlns:a16="http://schemas.microsoft.com/office/drawing/2014/main" val="20001"/>
                    </a:ext>
                  </a:extLst>
                </a:gridCol>
                <a:gridCol w="1240900">
                  <a:extLst>
                    <a:ext uri="{9D8B030D-6E8A-4147-A177-3AD203B41FA5}">
                      <a16:colId xmlns:a16="http://schemas.microsoft.com/office/drawing/2014/main" val="20002"/>
                    </a:ext>
                  </a:extLst>
                </a:gridCol>
                <a:gridCol w="1461615">
                  <a:extLst>
                    <a:ext uri="{9D8B030D-6E8A-4147-A177-3AD203B41FA5}">
                      <a16:colId xmlns:a16="http://schemas.microsoft.com/office/drawing/2014/main" val="20003"/>
                    </a:ext>
                  </a:extLst>
                </a:gridCol>
                <a:gridCol w="902276">
                  <a:extLst>
                    <a:ext uri="{9D8B030D-6E8A-4147-A177-3AD203B41FA5}">
                      <a16:colId xmlns:a16="http://schemas.microsoft.com/office/drawing/2014/main" val="20004"/>
                    </a:ext>
                  </a:extLst>
                </a:gridCol>
                <a:gridCol w="893648">
                  <a:extLst>
                    <a:ext uri="{9D8B030D-6E8A-4147-A177-3AD203B41FA5}">
                      <a16:colId xmlns:a16="http://schemas.microsoft.com/office/drawing/2014/main" val="20005"/>
                    </a:ext>
                  </a:extLst>
                </a:gridCol>
              </a:tblGrid>
              <a:tr h="288124">
                <a:tc>
                  <a:txBody>
                    <a:bodyPr/>
                    <a:lstStyle/>
                    <a:p>
                      <a:pPr algn="l">
                        <a:lnSpc>
                          <a:spcPct val="115000"/>
                        </a:lnSpc>
                        <a:buClrTx/>
                        <a:buSzTx/>
                        <a:buFontTx/>
                      </a:pPr>
                      <a:r>
                        <a:rPr lang="en-US" altLang="zh-CN" sz="1200" i="0">
                          <a:latin typeface="Times New Roman" panose="02020603050405020304"/>
                          <a:ea typeface="等线" panose="02010600030101010101" charset="-122"/>
                        </a:rPr>
                        <a:t>Analysis method</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i="0" dirty="0">
                          <a:latin typeface="Times New Roman" panose="02020603050405020304"/>
                          <a:ea typeface="等线" panose="02010600030101010101" charset="-122"/>
                        </a:rPr>
                        <a:t>No of Simulations</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b="1" i="0">
                          <a:latin typeface="Times New Roman" panose="02020603050405020304"/>
                          <a:ea typeface="等线" panose="02010600030101010101" charset="-122"/>
                        </a:rPr>
                        <a:t>Sample Size</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i="0">
                          <a:latin typeface="Times New Roman" panose="02020603050405020304"/>
                          <a:ea typeface="等线" panose="02010600030101010101" charset="-122"/>
                        </a:rPr>
                        <a:t>Dropout Rate</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i="0">
                          <a:latin typeface="Times New Roman" panose="02020603050405020304"/>
                          <a:ea typeface="等线" panose="02010600030101010101" charset="-122"/>
                        </a:rPr>
                        <a:t>Win Ratio</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i="0" dirty="0">
                          <a:latin typeface="Times New Roman" panose="02020603050405020304"/>
                          <a:ea typeface="等线" panose="02010600030101010101" charset="-122"/>
                        </a:rPr>
                        <a:t>Power</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225848">
                <a:tc>
                  <a:txBody>
                    <a:bodyPr/>
                    <a:lstStyle/>
                    <a:p>
                      <a:pPr algn="l">
                        <a:lnSpc>
                          <a:spcPct val="115000"/>
                        </a:lnSpc>
                        <a:buClrTx/>
                        <a:buSzTx/>
                        <a:buFontTx/>
                      </a:pPr>
                      <a:r>
                        <a:rPr lang="en-US" altLang="zh-CN" sz="1200" b="0" i="0">
                          <a:latin typeface="Times New Roman" panose="02020603050405020304"/>
                          <a:ea typeface="等线" panose="02010600030101010101" charset="-122"/>
                        </a:rPr>
                        <a:t>Win ratio</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b="0" i="0" dirty="0">
                          <a:latin typeface="Times New Roman" panose="02020603050405020304"/>
                          <a:ea typeface="等线" panose="02010600030101010101" charset="-122"/>
                        </a:rPr>
                        <a:t>1000</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b="1" i="0">
                          <a:latin typeface="Times New Roman" panose="02020603050405020304"/>
                          <a:ea typeface="等线" panose="02010600030101010101" charset="-122"/>
                        </a:rPr>
                        <a:t>1600</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b="0" i="0">
                          <a:latin typeface="Times New Roman" panose="02020603050405020304"/>
                          <a:ea typeface="等线" panose="02010600030101010101" charset="-122"/>
                        </a:rPr>
                        <a:t>0.1</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b="0" i="0">
                          <a:latin typeface="Times New Roman" panose="02020603050405020304"/>
                          <a:ea typeface="等线" panose="02010600030101010101" charset="-122"/>
                        </a:rPr>
                        <a:t>1.217</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a:lnSpc>
                          <a:spcPct val="115000"/>
                        </a:lnSpc>
                        <a:buClrTx/>
                        <a:buSzTx/>
                        <a:buFontTx/>
                      </a:pPr>
                      <a:r>
                        <a:rPr lang="en-US" altLang="zh-CN" sz="1200" b="0" i="0" dirty="0">
                          <a:latin typeface="Times New Roman" panose="02020603050405020304"/>
                          <a:ea typeface="等线" panose="02010600030101010101" charset="-122"/>
                        </a:rPr>
                        <a:t>0.896</a:t>
                      </a:r>
                    </a:p>
                  </a:txBody>
                  <a:tcPr marL="5080" marR="5080" marT="5080"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69325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8DFF74-C631-536C-D3F2-A0509FC84D88}"/>
              </a:ext>
            </a:extLst>
          </p:cNvPr>
          <p:cNvSpPr>
            <a:spLocks noGrp="1"/>
          </p:cNvSpPr>
          <p:nvPr>
            <p:ph type="title"/>
          </p:nvPr>
        </p:nvSpPr>
        <p:spPr>
          <a:xfrm>
            <a:off x="439750" y="357750"/>
            <a:ext cx="8344682" cy="540000"/>
          </a:xfrm>
        </p:spPr>
        <p:txBody>
          <a:bodyPr/>
          <a:lstStyle/>
          <a:p>
            <a:r>
              <a:rPr lang="en-CA" altLang="zh-CN" dirty="0">
                <a:solidFill>
                  <a:schemeClr val="tx1"/>
                </a:solidFill>
                <a:latin typeface="+mn-ea"/>
                <a:ea typeface="+mn-ea"/>
              </a:rPr>
              <a:t>Interim Safety Monitoring</a:t>
            </a:r>
            <a:br>
              <a:rPr lang="zh-CN" altLang="zh-CN" dirty="0">
                <a:solidFill>
                  <a:schemeClr val="tx1"/>
                </a:solidFill>
                <a:latin typeface="+mn-ea"/>
                <a:ea typeface="+mn-ea"/>
              </a:rPr>
            </a:br>
            <a:endParaRPr lang="zh-CN" altLang="en-US" dirty="0">
              <a:solidFill>
                <a:schemeClr val="tx1"/>
              </a:solidFill>
              <a:latin typeface="+mn-ea"/>
              <a:ea typeface="+mn-ea"/>
            </a:endParaRPr>
          </a:p>
        </p:txBody>
      </p:sp>
      <p:sp>
        <p:nvSpPr>
          <p:cNvPr id="3" name="内容占位符 2">
            <a:extLst>
              <a:ext uri="{FF2B5EF4-FFF2-40B4-BE49-F238E27FC236}">
                <a16:creationId xmlns:a16="http://schemas.microsoft.com/office/drawing/2014/main" id="{4A0C4226-0BBC-5A50-B152-63C228C6BDDB}"/>
              </a:ext>
            </a:extLst>
          </p:cNvPr>
          <p:cNvSpPr>
            <a:spLocks noGrp="1"/>
          </p:cNvSpPr>
          <p:nvPr>
            <p:ph idx="1"/>
          </p:nvPr>
        </p:nvSpPr>
        <p:spPr>
          <a:xfrm>
            <a:off x="439750" y="1059657"/>
            <a:ext cx="8344682" cy="3294000"/>
          </a:xfrm>
        </p:spPr>
        <p:txBody>
          <a:bodyPr/>
          <a:lstStyle/>
          <a:p>
            <a:pPr marL="0" indent="0">
              <a:buNone/>
            </a:pPr>
            <a:r>
              <a:rPr lang="en-CA" altLang="zh-CN" sz="1400" dirty="0">
                <a:latin typeface="+mn-ea"/>
              </a:rPr>
              <a:t>The trial will be conducted under the oversight of an independent Data and Safety Monitoring Board (DSMB).</a:t>
            </a:r>
            <a:endParaRPr lang="zh-CN" altLang="zh-CN" sz="1400" dirty="0">
              <a:latin typeface="+mn-ea"/>
            </a:endParaRPr>
          </a:p>
          <a:p>
            <a:pPr lvl="0" fontAlgn="base"/>
            <a:r>
              <a:rPr lang="en-CA" altLang="zh-CN" sz="1400" b="1" dirty="0">
                <a:latin typeface="+mn-ea"/>
              </a:rPr>
              <a:t>Scheduled Reviews:</a:t>
            </a:r>
            <a:r>
              <a:rPr lang="en-CA" altLang="zh-CN" sz="1400" dirty="0">
                <a:latin typeface="+mn-ea"/>
              </a:rPr>
              <a:t> The DSMB will convene to review cumulative data after approximately </a:t>
            </a:r>
            <a:r>
              <a:rPr lang="en-CA" altLang="zh-CN" sz="1400" b="1" dirty="0">
                <a:latin typeface="+mn-ea"/>
              </a:rPr>
              <a:t>400 and 800 </a:t>
            </a:r>
            <a:r>
              <a:rPr lang="en-CA" altLang="zh-CN" sz="1400" dirty="0">
                <a:latin typeface="+mn-ea"/>
              </a:rPr>
              <a:t>participants have completed their 7-day follow-up.</a:t>
            </a:r>
            <a:endParaRPr lang="zh-CN" altLang="zh-CN" sz="1400" dirty="0">
              <a:latin typeface="+mn-ea"/>
            </a:endParaRPr>
          </a:p>
          <a:p>
            <a:pPr lvl="0" fontAlgn="base"/>
            <a:r>
              <a:rPr lang="en-CA" altLang="zh-CN" sz="1400" b="1" dirty="0">
                <a:latin typeface="+mn-ea"/>
              </a:rPr>
              <a:t>Monitoring Focus:</a:t>
            </a:r>
            <a:r>
              <a:rPr lang="en-CA" altLang="zh-CN" sz="1400" dirty="0">
                <a:latin typeface="+mn-ea"/>
              </a:rPr>
              <a:t> The primary focus will be on all-cause mortality at 7 days. The DSMB will also be requested to look at </a:t>
            </a:r>
            <a:r>
              <a:rPr lang="en-CA" altLang="zh-CN" sz="1400" dirty="0" err="1">
                <a:latin typeface="+mn-ea"/>
              </a:rPr>
              <a:t>sICH</a:t>
            </a:r>
            <a:r>
              <a:rPr lang="en-CA" altLang="zh-CN" sz="1400" dirty="0">
                <a:latin typeface="+mn-ea"/>
              </a:rPr>
              <a:t> rates closely during the interims.</a:t>
            </a:r>
            <a:endParaRPr lang="zh-CN" altLang="zh-CN" sz="1400" dirty="0">
              <a:latin typeface="+mn-ea"/>
            </a:endParaRPr>
          </a:p>
          <a:p>
            <a:pPr lvl="0" fontAlgn="base"/>
            <a:r>
              <a:rPr lang="en-CA" altLang="zh-CN" sz="1400" b="1" dirty="0">
                <a:latin typeface="+mn-ea"/>
              </a:rPr>
              <a:t>Stopping Guidelines for Harm:</a:t>
            </a:r>
            <a:r>
              <a:rPr lang="en-CA" altLang="zh-CN" sz="1400" dirty="0">
                <a:latin typeface="+mn-ea"/>
              </a:rPr>
              <a:t> The DSMB will use a conservative Haybittle–Peto boundary (p &lt; 0.01 for harm) </a:t>
            </a:r>
            <a:r>
              <a:rPr lang="en-US" altLang="zh-CN" sz="1400" dirty="0">
                <a:latin typeface="+mn-ea"/>
              </a:rPr>
              <a:t>for all-cause mortality at 7 days </a:t>
            </a:r>
            <a:r>
              <a:rPr lang="en-CA" altLang="zh-CN" sz="1400" dirty="0">
                <a:latin typeface="+mn-ea"/>
              </a:rPr>
              <a:t>to guide any recommendation for early trial termination.</a:t>
            </a:r>
            <a:endParaRPr lang="zh-CN" altLang="zh-CN" sz="1400" dirty="0">
              <a:latin typeface="+mn-ea"/>
            </a:endParaRPr>
          </a:p>
          <a:p>
            <a:pPr marL="0" indent="0">
              <a:buNone/>
            </a:pPr>
            <a:endParaRPr lang="zh-CN" altLang="en-US" sz="1400" dirty="0">
              <a:latin typeface="+mn-ea"/>
            </a:endParaRPr>
          </a:p>
        </p:txBody>
      </p:sp>
      <p:sp>
        <p:nvSpPr>
          <p:cNvPr id="6" name="灯片编号占位符 5">
            <a:extLst>
              <a:ext uri="{FF2B5EF4-FFF2-40B4-BE49-F238E27FC236}">
                <a16:creationId xmlns:a16="http://schemas.microsoft.com/office/drawing/2014/main" id="{5A14ABEE-949F-35D1-15E0-55B66B888A98}"/>
              </a:ext>
            </a:extLst>
          </p:cNvPr>
          <p:cNvSpPr>
            <a:spLocks noGrp="1"/>
          </p:cNvSpPr>
          <p:nvPr>
            <p:ph type="sldNum" sz="quarter" idx="20"/>
          </p:nvPr>
        </p:nvSpPr>
        <p:spPr/>
        <p:txBody>
          <a:bodyPr/>
          <a:lstStyle/>
          <a:p>
            <a:fld id="{143B55C4-4F5A-416B-997D-6CE47EB0A945}" type="slidenum">
              <a:rPr lang="en-GB" noProof="0" smtClean="0">
                <a:latin typeface="+mn-ea"/>
              </a:rPr>
              <a:pPr/>
              <a:t>14</a:t>
            </a:fld>
            <a:endParaRPr lang="en-GB" noProof="0">
              <a:latin typeface="+mn-ea"/>
            </a:endParaRPr>
          </a:p>
        </p:txBody>
      </p:sp>
    </p:spTree>
    <p:extLst>
      <p:ext uri="{BB962C8B-B14F-4D97-AF65-F5344CB8AC3E}">
        <p14:creationId xmlns:p14="http://schemas.microsoft.com/office/powerpoint/2010/main" val="85987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7D7C18-608A-F2E0-57EF-9F271193A191}"/>
              </a:ext>
            </a:extLst>
          </p:cNvPr>
          <p:cNvSpPr>
            <a:spLocks noGrp="1"/>
          </p:cNvSpPr>
          <p:nvPr>
            <p:ph type="title"/>
          </p:nvPr>
        </p:nvSpPr>
        <p:spPr>
          <a:xfrm>
            <a:off x="479425" y="357750"/>
            <a:ext cx="8305007" cy="540000"/>
          </a:xfrm>
        </p:spPr>
        <p:txBody>
          <a:bodyPr/>
          <a:lstStyle/>
          <a:p>
            <a:r>
              <a:rPr lang="en-US" altLang="zh-CN" dirty="0">
                <a:solidFill>
                  <a:schemeClr val="tx1"/>
                </a:solidFill>
                <a:latin typeface="+mn-ea"/>
                <a:ea typeface="+mn-ea"/>
              </a:rPr>
              <a:t>Timeline </a:t>
            </a:r>
            <a:endParaRPr lang="zh-CN" altLang="en-US" dirty="0">
              <a:solidFill>
                <a:schemeClr val="tx1"/>
              </a:solidFill>
              <a:latin typeface="+mn-ea"/>
              <a:ea typeface="+mn-ea"/>
            </a:endParaRPr>
          </a:p>
        </p:txBody>
      </p:sp>
      <p:sp>
        <p:nvSpPr>
          <p:cNvPr id="6" name="灯片编号占位符 5">
            <a:extLst>
              <a:ext uri="{FF2B5EF4-FFF2-40B4-BE49-F238E27FC236}">
                <a16:creationId xmlns:a16="http://schemas.microsoft.com/office/drawing/2014/main" id="{E97FB1A9-9E01-DB2F-695B-C43D88E775C6}"/>
              </a:ext>
            </a:extLst>
          </p:cNvPr>
          <p:cNvSpPr>
            <a:spLocks noGrp="1"/>
          </p:cNvSpPr>
          <p:nvPr>
            <p:ph type="sldNum" sz="quarter" idx="20"/>
          </p:nvPr>
        </p:nvSpPr>
        <p:spPr/>
        <p:txBody>
          <a:bodyPr/>
          <a:lstStyle/>
          <a:p>
            <a:fld id="{143B55C4-4F5A-416B-997D-6CE47EB0A945}" type="slidenum">
              <a:rPr lang="en-GB" noProof="0" smtClean="0">
                <a:latin typeface="+mn-ea"/>
              </a:rPr>
              <a:pPr/>
              <a:t>15</a:t>
            </a:fld>
            <a:endParaRPr lang="en-GB" noProof="0">
              <a:latin typeface="+mn-ea"/>
            </a:endParaRPr>
          </a:p>
        </p:txBody>
      </p:sp>
      <p:graphicFrame>
        <p:nvGraphicFramePr>
          <p:cNvPr id="3" name="表格 2">
            <a:extLst>
              <a:ext uri="{FF2B5EF4-FFF2-40B4-BE49-F238E27FC236}">
                <a16:creationId xmlns:a16="http://schemas.microsoft.com/office/drawing/2014/main" id="{69F3AEE2-46BB-EC45-1FDE-D78E2C5DCF3D}"/>
              </a:ext>
            </a:extLst>
          </p:cNvPr>
          <p:cNvGraphicFramePr>
            <a:graphicFrameLocks noGrp="1"/>
          </p:cNvGraphicFramePr>
          <p:nvPr>
            <p:extLst>
              <p:ext uri="{D42A27DB-BD31-4B8C-83A1-F6EECF244321}">
                <p14:modId xmlns:p14="http://schemas.microsoft.com/office/powerpoint/2010/main" val="2187031362"/>
              </p:ext>
            </p:extLst>
          </p:nvPr>
        </p:nvGraphicFramePr>
        <p:xfrm>
          <a:off x="1373606" y="887670"/>
          <a:ext cx="6778173" cy="3576262"/>
        </p:xfrm>
        <a:graphic>
          <a:graphicData uri="http://schemas.openxmlformats.org/drawingml/2006/table">
            <a:tbl>
              <a:tblPr firstRow="1" bandRow="1">
                <a:tableStyleId>{7E9639D4-E3E2-4D34-9284-5A2195B3D0D7}</a:tableStyleId>
              </a:tblPr>
              <a:tblGrid>
                <a:gridCol w="2259391">
                  <a:extLst>
                    <a:ext uri="{9D8B030D-6E8A-4147-A177-3AD203B41FA5}">
                      <a16:colId xmlns:a16="http://schemas.microsoft.com/office/drawing/2014/main" val="20000"/>
                    </a:ext>
                  </a:extLst>
                </a:gridCol>
                <a:gridCol w="2259391">
                  <a:extLst>
                    <a:ext uri="{9D8B030D-6E8A-4147-A177-3AD203B41FA5}">
                      <a16:colId xmlns:a16="http://schemas.microsoft.com/office/drawing/2014/main" val="1921299450"/>
                    </a:ext>
                  </a:extLst>
                </a:gridCol>
                <a:gridCol w="2259391">
                  <a:extLst>
                    <a:ext uri="{9D8B030D-6E8A-4147-A177-3AD203B41FA5}">
                      <a16:colId xmlns:a16="http://schemas.microsoft.com/office/drawing/2014/main" val="197987342"/>
                    </a:ext>
                  </a:extLst>
                </a:gridCol>
              </a:tblGrid>
              <a:tr h="350507">
                <a:tc>
                  <a:txBody>
                    <a:bodyPr/>
                    <a:lstStyle/>
                    <a:p>
                      <a:pPr algn="l"/>
                      <a:r>
                        <a:rPr lang="en-US" altLang="zh-CN" sz="1100">
                          <a:solidFill>
                            <a:schemeClr val="bg1"/>
                          </a:solidFill>
                          <a:latin typeface="+mn-ea"/>
                          <a:ea typeface="+mn-ea"/>
                          <a:cs typeface="Times New Roman" panose="02020603050405020304" pitchFamily="18" charset="0"/>
                        </a:rPr>
                        <a:t>Task</a:t>
                      </a:r>
                      <a:endParaRPr lang="zh-CN" altLang="en-US" sz="1100">
                        <a:solidFill>
                          <a:schemeClr val="bg1"/>
                        </a:solidFill>
                        <a:latin typeface="+mn-ea"/>
                        <a:ea typeface="+mn-ea"/>
                        <a:cs typeface="Times New Roman" panose="02020603050405020304" pitchFamily="18" charset="0"/>
                      </a:endParaRPr>
                    </a:p>
                  </a:txBody>
                  <a:tcPr marL="68580" marR="68580" marT="34290" marB="34290" anchor="ctr">
                    <a:solidFill>
                      <a:schemeClr val="bg2">
                        <a:lumMod val="90000"/>
                        <a:lumOff val="10000"/>
                      </a:schemeClr>
                    </a:solidFill>
                  </a:tcPr>
                </a:tc>
                <a:tc>
                  <a:txBody>
                    <a:bodyPr/>
                    <a:lstStyle/>
                    <a:p>
                      <a:pPr algn="l"/>
                      <a:r>
                        <a:rPr lang="en-US" altLang="zh-CN" sz="1100" dirty="0">
                          <a:solidFill>
                            <a:schemeClr val="bg1"/>
                          </a:solidFill>
                          <a:latin typeface="+mn-ea"/>
                          <a:ea typeface="+mn-ea"/>
                          <a:cs typeface="Times New Roman" panose="02020603050405020304" pitchFamily="18" charset="0"/>
                        </a:rPr>
                        <a:t>Timeline (best case)</a:t>
                      </a:r>
                      <a:endParaRPr lang="zh-CN" altLang="en-US" sz="1100" dirty="0">
                        <a:solidFill>
                          <a:schemeClr val="bg1"/>
                        </a:solidFill>
                        <a:latin typeface="+mn-ea"/>
                        <a:ea typeface="+mn-ea"/>
                        <a:cs typeface="Times New Roman" panose="02020603050405020304" pitchFamily="18" charset="0"/>
                      </a:endParaRPr>
                    </a:p>
                  </a:txBody>
                  <a:tcPr marL="68580" marR="68580" marT="34290" marB="34290" anchor="ctr">
                    <a:solidFill>
                      <a:schemeClr val="bg2">
                        <a:lumMod val="90000"/>
                        <a:lumOff val="1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100" dirty="0">
                          <a:solidFill>
                            <a:schemeClr val="bg1"/>
                          </a:solidFill>
                          <a:latin typeface="+mn-ea"/>
                          <a:ea typeface="+mn-ea"/>
                          <a:cs typeface="Times New Roman" panose="02020603050405020304" pitchFamily="18" charset="0"/>
                        </a:rPr>
                        <a:t>Timeline (base case)</a:t>
                      </a:r>
                      <a:endParaRPr lang="zh-CN" altLang="en-US" sz="1100" dirty="0">
                        <a:solidFill>
                          <a:schemeClr val="bg1"/>
                        </a:solidFill>
                        <a:latin typeface="+mn-ea"/>
                        <a:ea typeface="+mn-ea"/>
                        <a:cs typeface="Times New Roman" panose="02020603050405020304" pitchFamily="18" charset="0"/>
                      </a:endParaRPr>
                    </a:p>
                  </a:txBody>
                  <a:tcPr marL="68580" marR="68580" marT="34290" marB="34290" anchor="ctr">
                    <a:solidFill>
                      <a:schemeClr val="bg2">
                        <a:lumMod val="90000"/>
                        <a:lumOff val="10000"/>
                      </a:schemeClr>
                    </a:solidFill>
                  </a:tcPr>
                </a:tc>
                <a:extLst>
                  <a:ext uri="{0D108BD9-81ED-4DB2-BD59-A6C34878D82A}">
                    <a16:rowId xmlns:a16="http://schemas.microsoft.com/office/drawing/2014/main" val="10000"/>
                  </a:ext>
                </a:extLst>
              </a:tr>
              <a:tr h="413035">
                <a:tc>
                  <a:txBody>
                    <a:bodyPr/>
                    <a:lstStyle/>
                    <a:p>
                      <a:pPr algn="l"/>
                      <a:r>
                        <a:rPr lang="en-US" altLang="zh-CN" sz="1100">
                          <a:latin typeface="+mn-ea"/>
                          <a:ea typeface="+mn-ea"/>
                          <a:cs typeface="Times New Roman" panose="02020603050405020304" pitchFamily="18" charset="0"/>
                        </a:rPr>
                        <a:t>Proposal approval and release</a:t>
                      </a:r>
                      <a:endParaRPr lang="zh-CN" altLang="en-US" sz="110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Feb-Apr 2026 (local)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May-Jul 2026 (global)</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Feb-Apr 2026 (local)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May-Jul 2026 (global)</a:t>
                      </a:r>
                    </a:p>
                  </a:txBody>
                  <a:tcPr marL="68580" marR="68580" marT="34290" marB="34290" anchor="ctr"/>
                </a:tc>
                <a:extLst>
                  <a:ext uri="{0D108BD9-81ED-4DB2-BD59-A6C34878D82A}">
                    <a16:rowId xmlns:a16="http://schemas.microsoft.com/office/drawing/2014/main" val="10001"/>
                  </a:ext>
                </a:extLst>
              </a:tr>
              <a:tr h="359171">
                <a:tc>
                  <a:txBody>
                    <a:bodyPr/>
                    <a:lstStyle/>
                    <a:p>
                      <a:pPr algn="l"/>
                      <a:r>
                        <a:rPr lang="en-US" altLang="zh-CN" sz="1100" dirty="0">
                          <a:latin typeface="+mn-ea"/>
                          <a:ea typeface="+mn-ea"/>
                          <a:cs typeface="Times New Roman" panose="02020603050405020304" pitchFamily="18" charset="0"/>
                        </a:rPr>
                        <a:t>CTP approval and release</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algn="l"/>
                      <a:r>
                        <a:rPr lang="en-US" altLang="zh-CN" sz="1100" dirty="0">
                          <a:latin typeface="+mn-ea"/>
                          <a:ea typeface="+mn-ea"/>
                          <a:cs typeface="Times New Roman" panose="02020603050405020304" pitchFamily="18" charset="0"/>
                        </a:rPr>
                        <a:t>Aug-Sep 2026</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Aug-Sep 2026</a:t>
                      </a:r>
                      <a:endParaRPr lang="zh-CN" altLang="en-US" sz="11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10002"/>
                  </a:ext>
                </a:extLst>
              </a:tr>
              <a:tr h="350507">
                <a:tc>
                  <a:txBody>
                    <a:bodyPr/>
                    <a:lstStyle/>
                    <a:p>
                      <a:pPr algn="l"/>
                      <a:r>
                        <a:rPr lang="en-US" altLang="zh-CN" sz="1100" dirty="0">
                          <a:latin typeface="+mn-ea"/>
                          <a:ea typeface="+mn-ea"/>
                          <a:cs typeface="Times New Roman" panose="02020603050405020304" pitchFamily="18" charset="0"/>
                        </a:rPr>
                        <a:t>EC</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Sep-Oct 2026</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Oct-Nov 2026</a:t>
                      </a:r>
                      <a:endParaRPr lang="zh-CN" altLang="en-US" sz="11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10003"/>
                  </a:ext>
                </a:extLst>
              </a:tr>
              <a:tr h="350507">
                <a:tc>
                  <a:txBody>
                    <a:bodyPr/>
                    <a:lstStyle/>
                    <a:p>
                      <a:pPr algn="l"/>
                      <a:r>
                        <a:rPr lang="en-US" altLang="zh-CN" sz="1100">
                          <a:latin typeface="+mn-ea"/>
                          <a:ea typeface="+mn-ea"/>
                          <a:cs typeface="Times New Roman" panose="02020603050405020304" pitchFamily="18" charset="0"/>
                        </a:rPr>
                        <a:t>Contract sign</a:t>
                      </a:r>
                      <a:endParaRPr lang="zh-CN" altLang="en-US" sz="110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Sep-Oct 2026</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Oct-Dec 2026</a:t>
                      </a:r>
                      <a:endParaRPr lang="zh-CN" altLang="en-US" sz="11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8452871"/>
                  </a:ext>
                </a:extLst>
              </a:tr>
              <a:tr h="350507">
                <a:tc>
                  <a:txBody>
                    <a:bodyPr/>
                    <a:lstStyle/>
                    <a:p>
                      <a:pPr algn="l"/>
                      <a:r>
                        <a:rPr lang="en-US" altLang="zh-CN" sz="1100">
                          <a:latin typeface="+mn-ea"/>
                          <a:ea typeface="+mn-ea"/>
                          <a:cs typeface="Times New Roman" panose="02020603050405020304" pitchFamily="18" charset="0"/>
                        </a:rPr>
                        <a:t>SIV</a:t>
                      </a:r>
                      <a:endParaRPr lang="zh-CN" altLang="en-US" sz="1100">
                        <a:latin typeface="+mn-ea"/>
                        <a:ea typeface="+mn-ea"/>
                        <a:cs typeface="Times New Roman" panose="02020603050405020304" pitchFamily="18" charset="0"/>
                      </a:endParaRPr>
                    </a:p>
                  </a:txBody>
                  <a:tcPr marL="68580" marR="68580" marT="34290" marB="34290" anchor="ctr"/>
                </a:tc>
                <a:tc>
                  <a:txBody>
                    <a:bodyPr/>
                    <a:lstStyle/>
                    <a:p>
                      <a:pPr algn="l"/>
                      <a:r>
                        <a:rPr lang="en-US" altLang="zh-CN" sz="1100" dirty="0">
                          <a:latin typeface="+mn-ea"/>
                          <a:ea typeface="+mn-ea"/>
                          <a:cs typeface="Times New Roman" panose="02020603050405020304" pitchFamily="18" charset="0"/>
                        </a:rPr>
                        <a:t>Nov 2026</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algn="l"/>
                      <a:r>
                        <a:rPr lang="en-US" altLang="zh-CN" sz="1100" dirty="0">
                          <a:latin typeface="+mn-ea"/>
                          <a:ea typeface="+mn-ea"/>
                          <a:cs typeface="Times New Roman" panose="02020603050405020304" pitchFamily="18" charset="0"/>
                        </a:rPr>
                        <a:t>Jan 2027</a:t>
                      </a:r>
                      <a:endParaRPr lang="zh-CN" altLang="en-US" sz="11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10005"/>
                  </a:ext>
                </a:extLst>
              </a:tr>
              <a:tr h="350507">
                <a:tc>
                  <a:txBody>
                    <a:bodyPr/>
                    <a:lstStyle/>
                    <a:p>
                      <a:pPr algn="l"/>
                      <a:r>
                        <a:rPr lang="en-US" altLang="zh-CN" sz="1100" dirty="0">
                          <a:latin typeface="+mn-ea"/>
                          <a:ea typeface="+mn-ea"/>
                          <a:cs typeface="Times New Roman" panose="02020603050405020304" pitchFamily="18" charset="0"/>
                        </a:rPr>
                        <a:t>FPI</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Nov 2026</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Jan 2027</a:t>
                      </a:r>
                      <a:endParaRPr lang="zh-CN" altLang="en-US" sz="11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10006"/>
                  </a:ext>
                </a:extLst>
              </a:tr>
              <a:tr h="350507">
                <a:tc>
                  <a:txBody>
                    <a:bodyPr/>
                    <a:lstStyle/>
                    <a:p>
                      <a:pPr algn="l"/>
                      <a:r>
                        <a:rPr lang="en-US" altLang="zh-CN" sz="1100">
                          <a:latin typeface="+mn-ea"/>
                          <a:ea typeface="+mn-ea"/>
                          <a:cs typeface="Times New Roman" panose="02020603050405020304" pitchFamily="18" charset="0"/>
                        </a:rPr>
                        <a:t>LPI</a:t>
                      </a:r>
                      <a:endParaRPr lang="zh-CN" altLang="en-US" sz="110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Oct</a:t>
                      </a:r>
                      <a:r>
                        <a:rPr lang="zh-CN" altLang="en-US" sz="1100" dirty="0">
                          <a:latin typeface="+mn-ea"/>
                          <a:ea typeface="+mn-ea"/>
                          <a:cs typeface="Times New Roman" panose="02020603050405020304" pitchFamily="18" charset="0"/>
                        </a:rPr>
                        <a:t> </a:t>
                      </a:r>
                      <a:r>
                        <a:rPr lang="en-US" altLang="zh-CN" sz="1100" dirty="0">
                          <a:latin typeface="+mn-ea"/>
                          <a:ea typeface="+mn-ea"/>
                          <a:cs typeface="Times New Roman" panose="02020603050405020304" pitchFamily="18" charset="0"/>
                        </a:rPr>
                        <a:t>2028</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mn-ea"/>
                          <a:ea typeface="+mn-ea"/>
                          <a:cs typeface="Times New Roman" panose="02020603050405020304" pitchFamily="18" charset="0"/>
                        </a:rPr>
                        <a:t>Dec 2028</a:t>
                      </a:r>
                      <a:endParaRPr lang="zh-CN" altLang="en-US" sz="11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2788821124"/>
                  </a:ext>
                </a:extLst>
              </a:tr>
              <a:tr h="350507">
                <a:tc>
                  <a:txBody>
                    <a:bodyPr/>
                    <a:lstStyle/>
                    <a:p>
                      <a:pPr algn="l"/>
                      <a:r>
                        <a:rPr lang="en-US" altLang="zh-CN" sz="1100">
                          <a:latin typeface="+mn-ea"/>
                          <a:ea typeface="+mn-ea"/>
                          <a:cs typeface="Times New Roman" panose="02020603050405020304" pitchFamily="18" charset="0"/>
                        </a:rPr>
                        <a:t>LPO (3m follow-up)</a:t>
                      </a:r>
                      <a:endParaRPr lang="zh-CN" altLang="en-US" sz="110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dirty="0">
                          <a:latin typeface="+mn-ea"/>
                          <a:ea typeface="+mn-ea"/>
                          <a:cs typeface="Times New Roman" panose="02020603050405020304" pitchFamily="18" charset="0"/>
                        </a:rPr>
                        <a:t>Jan 2029</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dirty="0">
                          <a:latin typeface="+mn-ea"/>
                          <a:ea typeface="+mn-ea"/>
                          <a:cs typeface="Times New Roman" panose="02020603050405020304" pitchFamily="18" charset="0"/>
                        </a:rPr>
                        <a:t>Mar 2029</a:t>
                      </a:r>
                      <a:endParaRPr lang="zh-CN" altLang="en-US" sz="11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10008"/>
                  </a:ext>
                </a:extLst>
              </a:tr>
              <a:tr h="350507">
                <a:tc>
                  <a:txBody>
                    <a:bodyPr/>
                    <a:lstStyle/>
                    <a:p>
                      <a:pPr algn="l"/>
                      <a:r>
                        <a:rPr lang="en-US" altLang="zh-CN" sz="1100">
                          <a:latin typeface="+mn-ea"/>
                          <a:ea typeface="+mn-ea"/>
                          <a:cs typeface="Times New Roman" panose="02020603050405020304" pitchFamily="18" charset="0"/>
                        </a:rPr>
                        <a:t>Data analysis and CTR</a:t>
                      </a:r>
                      <a:endParaRPr lang="zh-CN" altLang="en-US" sz="110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dirty="0">
                          <a:latin typeface="+mn-ea"/>
                          <a:ea typeface="+mn-ea"/>
                          <a:cs typeface="Times New Roman" panose="02020603050405020304" pitchFamily="18" charset="0"/>
                        </a:rPr>
                        <a:t>Apr 2029</a:t>
                      </a:r>
                      <a:endParaRPr lang="zh-CN" altLang="en-US" sz="1100" dirty="0">
                        <a:latin typeface="+mn-ea"/>
                        <a:ea typeface="+mn-ea"/>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dirty="0">
                          <a:latin typeface="+mn-ea"/>
                          <a:ea typeface="+mn-ea"/>
                          <a:cs typeface="Times New Roman" panose="02020603050405020304" pitchFamily="18" charset="0"/>
                        </a:rPr>
                        <a:t>Jun 2029</a:t>
                      </a:r>
                      <a:endParaRPr lang="zh-CN" altLang="en-US" sz="1100" dirty="0">
                        <a:latin typeface="+mn-ea"/>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15994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EAD16-602D-3370-5076-8F94892BCEDA}"/>
              </a:ext>
            </a:extLst>
          </p:cNvPr>
          <p:cNvSpPr>
            <a:spLocks noGrp="1"/>
          </p:cNvSpPr>
          <p:nvPr>
            <p:ph type="title"/>
          </p:nvPr>
        </p:nvSpPr>
        <p:spPr>
          <a:xfrm>
            <a:off x="407987" y="295217"/>
            <a:ext cx="8364537" cy="328541"/>
          </a:xfrm>
        </p:spPr>
        <p:txBody>
          <a:bodyPr/>
          <a:lstStyle/>
          <a:p>
            <a:r>
              <a:rPr lang="en-US" altLang="zh-CN" sz="2000" dirty="0">
                <a:solidFill>
                  <a:schemeClr val="tx1"/>
                </a:solidFill>
                <a:latin typeface="+mn-ea"/>
                <a:ea typeface="+mn-ea"/>
                <a:cs typeface="Times New Roman" panose="02020603050405020304" pitchFamily="18" charset="0"/>
                <a:sym typeface="+mn-ea"/>
              </a:rPr>
              <a:t>Study</a:t>
            </a:r>
            <a:r>
              <a:rPr kumimoji="0" lang="en-US" altLang="zh-CN" sz="2000" b="1" i="0" u="none" strike="noStrike" kern="1200" cap="none" spc="0" normalizeH="0" baseline="0" noProof="0" dirty="0">
                <a:ln>
                  <a:noFill/>
                </a:ln>
                <a:solidFill>
                  <a:schemeClr val="tx1"/>
                </a:solidFill>
                <a:effectLst/>
                <a:uLnTx/>
                <a:uFillTx/>
                <a:latin typeface="+mn-ea"/>
                <a:ea typeface="+mn-ea"/>
                <a:cs typeface="Times New Roman" panose="02020603050405020304" pitchFamily="18" charset="0"/>
                <a:sym typeface="+mn-ea"/>
              </a:rPr>
              <a:t> visit</a:t>
            </a:r>
            <a:endParaRPr lang="zh-CN" altLang="en-US" sz="2000" dirty="0">
              <a:solidFill>
                <a:schemeClr val="tx1"/>
              </a:solidFill>
              <a:latin typeface="+mn-ea"/>
              <a:ea typeface="+mn-ea"/>
            </a:endParaRPr>
          </a:p>
        </p:txBody>
      </p:sp>
      <p:graphicFrame>
        <p:nvGraphicFramePr>
          <p:cNvPr id="8" name="表格 7">
            <a:extLst>
              <a:ext uri="{FF2B5EF4-FFF2-40B4-BE49-F238E27FC236}">
                <a16:creationId xmlns:a16="http://schemas.microsoft.com/office/drawing/2014/main" id="{6433B048-EE77-4265-2B97-39DA86FB4FC3}"/>
              </a:ext>
            </a:extLst>
          </p:cNvPr>
          <p:cNvGraphicFramePr>
            <a:graphicFrameLocks noGrp="1"/>
          </p:cNvGraphicFramePr>
          <p:nvPr>
            <p:extLst>
              <p:ext uri="{D42A27DB-BD31-4B8C-83A1-F6EECF244321}">
                <p14:modId xmlns:p14="http://schemas.microsoft.com/office/powerpoint/2010/main" val="2201675435"/>
              </p:ext>
            </p:extLst>
          </p:nvPr>
        </p:nvGraphicFramePr>
        <p:xfrm>
          <a:off x="518811" y="818611"/>
          <a:ext cx="8022077" cy="3597747"/>
        </p:xfrm>
        <a:graphic>
          <a:graphicData uri="http://schemas.openxmlformats.org/drawingml/2006/table">
            <a:tbl>
              <a:tblPr firstRow="1" bandRow="1">
                <a:tableStyleId>{5C22544A-7EE6-4342-B048-85BDC9FD1C3A}</a:tableStyleId>
              </a:tblPr>
              <a:tblGrid>
                <a:gridCol w="1949857">
                  <a:extLst>
                    <a:ext uri="{9D8B030D-6E8A-4147-A177-3AD203B41FA5}">
                      <a16:colId xmlns:a16="http://schemas.microsoft.com/office/drawing/2014/main" val="2375069537"/>
                    </a:ext>
                  </a:extLst>
                </a:gridCol>
                <a:gridCol w="1214444">
                  <a:extLst>
                    <a:ext uri="{9D8B030D-6E8A-4147-A177-3AD203B41FA5}">
                      <a16:colId xmlns:a16="http://schemas.microsoft.com/office/drawing/2014/main" val="2607216833"/>
                    </a:ext>
                  </a:extLst>
                </a:gridCol>
                <a:gridCol w="1214444">
                  <a:extLst>
                    <a:ext uri="{9D8B030D-6E8A-4147-A177-3AD203B41FA5}">
                      <a16:colId xmlns:a16="http://schemas.microsoft.com/office/drawing/2014/main" val="349244071"/>
                    </a:ext>
                  </a:extLst>
                </a:gridCol>
                <a:gridCol w="1214444">
                  <a:extLst>
                    <a:ext uri="{9D8B030D-6E8A-4147-A177-3AD203B41FA5}">
                      <a16:colId xmlns:a16="http://schemas.microsoft.com/office/drawing/2014/main" val="2640607944"/>
                    </a:ext>
                  </a:extLst>
                </a:gridCol>
                <a:gridCol w="1214444">
                  <a:extLst>
                    <a:ext uri="{9D8B030D-6E8A-4147-A177-3AD203B41FA5}">
                      <a16:colId xmlns:a16="http://schemas.microsoft.com/office/drawing/2014/main" val="4046920924"/>
                    </a:ext>
                  </a:extLst>
                </a:gridCol>
                <a:gridCol w="1214444">
                  <a:extLst>
                    <a:ext uri="{9D8B030D-6E8A-4147-A177-3AD203B41FA5}">
                      <a16:colId xmlns:a16="http://schemas.microsoft.com/office/drawing/2014/main" val="3547892026"/>
                    </a:ext>
                  </a:extLst>
                </a:gridCol>
              </a:tblGrid>
              <a:tr h="380207">
                <a:tc>
                  <a:txBody>
                    <a:bodyPr/>
                    <a:lstStyle/>
                    <a:p>
                      <a:pPr algn="ctr">
                        <a:lnSpc>
                          <a:spcPct val="114000"/>
                        </a:lnSpc>
                        <a:buNone/>
                      </a:pPr>
                      <a:r>
                        <a:rPr lang="en-CA" sz="1000" b="1" dirty="0">
                          <a:effectLst/>
                          <a:latin typeface="+mn-ea"/>
                          <a:ea typeface="+mn-ea"/>
                          <a:cs typeface="Google Sans Text"/>
                        </a:rPr>
                        <a:t>Assessment / Activity</a:t>
                      </a:r>
                      <a:endParaRPr lang="zh-CN" sz="1000" dirty="0">
                        <a:effectLst/>
                        <a:latin typeface="+mn-ea"/>
                        <a:ea typeface="+mn-ea"/>
                      </a:endParaRPr>
                    </a:p>
                  </a:txBody>
                  <a:tcPr marL="0" marR="0" marT="0" marB="0" anchor="ctr">
                    <a:solidFill>
                      <a:schemeClr val="accent1">
                        <a:lumMod val="90000"/>
                        <a:lumOff val="10000"/>
                      </a:schemeClr>
                    </a:solidFill>
                  </a:tcPr>
                </a:tc>
                <a:tc>
                  <a:txBody>
                    <a:bodyPr/>
                    <a:lstStyle/>
                    <a:p>
                      <a:pPr algn="ctr">
                        <a:lnSpc>
                          <a:spcPct val="114000"/>
                        </a:lnSpc>
                        <a:buNone/>
                      </a:pPr>
                      <a:r>
                        <a:rPr lang="en-CA" sz="1000" b="1" dirty="0">
                          <a:effectLst/>
                          <a:latin typeface="+mn-ea"/>
                          <a:ea typeface="+mn-ea"/>
                          <a:cs typeface="Google Sans Text"/>
                        </a:rPr>
                        <a:t>T0 (Arrival → Intervention)</a:t>
                      </a:r>
                      <a:endParaRPr lang="zh-CN" sz="1000" dirty="0">
                        <a:effectLst/>
                        <a:latin typeface="+mn-ea"/>
                        <a:ea typeface="+mn-ea"/>
                      </a:endParaRPr>
                    </a:p>
                  </a:txBody>
                  <a:tcPr marL="0" marR="0" marT="0" marB="0" anchor="ctr">
                    <a:solidFill>
                      <a:schemeClr val="accent1">
                        <a:lumMod val="90000"/>
                        <a:lumOff val="10000"/>
                      </a:schemeClr>
                    </a:solidFill>
                  </a:tcPr>
                </a:tc>
                <a:tc>
                  <a:txBody>
                    <a:bodyPr/>
                    <a:lstStyle/>
                    <a:p>
                      <a:pPr algn="ctr">
                        <a:lnSpc>
                          <a:spcPct val="114000"/>
                        </a:lnSpc>
                        <a:buNone/>
                      </a:pPr>
                      <a:r>
                        <a:rPr lang="en-CA" sz="1000" b="1" dirty="0">
                          <a:effectLst/>
                          <a:latin typeface="+mn-ea"/>
                          <a:ea typeface="+mn-ea"/>
                          <a:cs typeface="Google Sans Text"/>
                        </a:rPr>
                        <a:t>T24 (18–</a:t>
                      </a:r>
                      <a:r>
                        <a:rPr lang="en-US" sz="1000" b="1" dirty="0">
                          <a:effectLst/>
                          <a:latin typeface="+mn-ea"/>
                          <a:ea typeface="+mn-ea"/>
                          <a:cs typeface="Google Sans Text"/>
                        </a:rPr>
                        <a:t>36</a:t>
                      </a:r>
                      <a:r>
                        <a:rPr lang="en-CA" sz="1000" b="1" dirty="0">
                          <a:effectLst/>
                          <a:latin typeface="+mn-ea"/>
                          <a:ea typeface="+mn-ea"/>
                          <a:cs typeface="Google Sans Text"/>
                        </a:rPr>
                        <a:t> h)</a:t>
                      </a:r>
                      <a:endParaRPr lang="zh-CN" sz="1000" dirty="0">
                        <a:effectLst/>
                        <a:latin typeface="+mn-ea"/>
                        <a:ea typeface="+mn-ea"/>
                      </a:endParaRPr>
                    </a:p>
                  </a:txBody>
                  <a:tcPr marL="0" marR="0" marT="0" marB="0" anchor="ctr">
                    <a:solidFill>
                      <a:schemeClr val="accent1">
                        <a:lumMod val="90000"/>
                        <a:lumOff val="10000"/>
                      </a:schemeClr>
                    </a:solidFill>
                  </a:tcPr>
                </a:tc>
                <a:tc>
                  <a:txBody>
                    <a:bodyPr/>
                    <a:lstStyle/>
                    <a:p>
                      <a:pPr algn="ctr">
                        <a:lnSpc>
                          <a:spcPct val="114000"/>
                        </a:lnSpc>
                        <a:buNone/>
                      </a:pPr>
                      <a:r>
                        <a:rPr lang="en-CA" sz="1000" b="1" dirty="0">
                          <a:effectLst/>
                          <a:latin typeface="+mn-ea"/>
                          <a:ea typeface="+mn-ea"/>
                          <a:cs typeface="Google Sans Text"/>
                        </a:rPr>
                        <a:t>T</a:t>
                      </a:r>
                      <a:r>
                        <a:rPr lang="en-US" sz="1000" b="1" dirty="0">
                          <a:effectLst/>
                          <a:latin typeface="+mn-ea"/>
                          <a:ea typeface="+mn-ea"/>
                          <a:cs typeface="Google Sans Text"/>
                        </a:rPr>
                        <a:t>72</a:t>
                      </a:r>
                      <a:r>
                        <a:rPr lang="en-CA" sz="1000" b="1" dirty="0">
                          <a:effectLst/>
                          <a:latin typeface="+mn-ea"/>
                          <a:ea typeface="+mn-ea"/>
                          <a:cs typeface="Google Sans Text"/>
                        </a:rPr>
                        <a:t> (</a:t>
                      </a:r>
                      <a:r>
                        <a:rPr lang="en-US" sz="1000" b="1" dirty="0">
                          <a:effectLst/>
                          <a:latin typeface="+mn-ea"/>
                          <a:ea typeface="+mn-ea"/>
                          <a:cs typeface="Google Sans Text"/>
                        </a:rPr>
                        <a:t>48</a:t>
                      </a:r>
                      <a:r>
                        <a:rPr lang="en-CA" sz="1000" b="1" dirty="0">
                          <a:effectLst/>
                          <a:latin typeface="+mn-ea"/>
                          <a:ea typeface="+mn-ea"/>
                          <a:cs typeface="Google Sans Text"/>
                        </a:rPr>
                        <a:t>–</a:t>
                      </a:r>
                      <a:r>
                        <a:rPr lang="en-US" sz="1000" b="1" dirty="0">
                          <a:effectLst/>
                          <a:latin typeface="+mn-ea"/>
                          <a:ea typeface="+mn-ea"/>
                          <a:cs typeface="Google Sans Text"/>
                        </a:rPr>
                        <a:t>96</a:t>
                      </a:r>
                      <a:r>
                        <a:rPr lang="en-CA" sz="1000" b="1" dirty="0">
                          <a:effectLst/>
                          <a:latin typeface="+mn-ea"/>
                          <a:ea typeface="+mn-ea"/>
                          <a:cs typeface="Google Sans Text"/>
                        </a:rPr>
                        <a:t> h)</a:t>
                      </a:r>
                      <a:endParaRPr lang="zh-CN" sz="1000" dirty="0">
                        <a:effectLst/>
                        <a:latin typeface="+mn-ea"/>
                        <a:ea typeface="+mn-ea"/>
                      </a:endParaRPr>
                    </a:p>
                  </a:txBody>
                  <a:tcPr marL="0" marR="0" marT="0" marB="0" anchor="ctr">
                    <a:solidFill>
                      <a:schemeClr val="accent1">
                        <a:lumMod val="90000"/>
                        <a:lumOff val="10000"/>
                      </a:schemeClr>
                    </a:solidFill>
                  </a:tcPr>
                </a:tc>
                <a:tc>
                  <a:txBody>
                    <a:bodyPr/>
                    <a:lstStyle/>
                    <a:p>
                      <a:pPr algn="ctr">
                        <a:lnSpc>
                          <a:spcPct val="114000"/>
                        </a:lnSpc>
                        <a:buNone/>
                      </a:pPr>
                      <a:r>
                        <a:rPr lang="en-CA" sz="1000" b="1" dirty="0">
                          <a:effectLst/>
                          <a:latin typeface="+mn-ea"/>
                          <a:ea typeface="+mn-ea"/>
                          <a:cs typeface="Google Sans Text"/>
                        </a:rPr>
                        <a:t>Discharge</a:t>
                      </a:r>
                      <a:r>
                        <a:rPr lang="en-US" sz="1000" b="1" dirty="0">
                          <a:effectLst/>
                          <a:latin typeface="+mn-ea"/>
                          <a:ea typeface="+mn-ea"/>
                          <a:cs typeface="Google Sans Text"/>
                        </a:rPr>
                        <a:t>(or Day 7)</a:t>
                      </a:r>
                      <a:endParaRPr lang="zh-CN" sz="1000" dirty="0">
                        <a:effectLst/>
                        <a:latin typeface="+mn-ea"/>
                        <a:ea typeface="+mn-ea"/>
                      </a:endParaRPr>
                    </a:p>
                  </a:txBody>
                  <a:tcPr marL="0" marR="0" marT="0" marB="0" anchor="ctr">
                    <a:solidFill>
                      <a:schemeClr val="accent1">
                        <a:lumMod val="90000"/>
                        <a:lumOff val="10000"/>
                      </a:schemeClr>
                    </a:solidFill>
                  </a:tcPr>
                </a:tc>
                <a:tc>
                  <a:txBody>
                    <a:bodyPr/>
                    <a:lstStyle/>
                    <a:p>
                      <a:pPr algn="ctr">
                        <a:lnSpc>
                          <a:spcPct val="114000"/>
                        </a:lnSpc>
                        <a:buNone/>
                      </a:pPr>
                      <a:r>
                        <a:rPr lang="en-CA" sz="1000" b="1" dirty="0">
                          <a:effectLst/>
                          <a:latin typeface="+mn-ea"/>
                          <a:ea typeface="+mn-ea"/>
                          <a:cs typeface="Google Sans Text"/>
                        </a:rPr>
                        <a:t>Day 90 (+/- 14 days)</a:t>
                      </a:r>
                      <a:endParaRPr lang="zh-CN" sz="1000" dirty="0">
                        <a:effectLst/>
                        <a:latin typeface="+mn-ea"/>
                        <a:ea typeface="+mn-ea"/>
                      </a:endParaRPr>
                    </a:p>
                  </a:txBody>
                  <a:tcPr marL="0" marR="0" marT="0" marB="0" anchor="ctr">
                    <a:solidFill>
                      <a:schemeClr val="accent1">
                        <a:lumMod val="90000"/>
                        <a:lumOff val="10000"/>
                      </a:schemeClr>
                    </a:solidFill>
                  </a:tcPr>
                </a:tc>
                <a:extLst>
                  <a:ext uri="{0D108BD9-81ED-4DB2-BD59-A6C34878D82A}">
                    <a16:rowId xmlns:a16="http://schemas.microsoft.com/office/drawing/2014/main" val="2110301510"/>
                  </a:ext>
                </a:extLst>
              </a:tr>
              <a:tr h="374576">
                <a:tc>
                  <a:txBody>
                    <a:bodyPr/>
                    <a:lstStyle/>
                    <a:p>
                      <a:pPr algn="l">
                        <a:lnSpc>
                          <a:spcPct val="114000"/>
                        </a:lnSpc>
                        <a:buNone/>
                      </a:pPr>
                      <a:r>
                        <a:rPr lang="en-CA" sz="1000" b="0" dirty="0">
                          <a:effectLst/>
                          <a:latin typeface="+mn-ea"/>
                          <a:ea typeface="+mn-ea"/>
                          <a:cs typeface="Google Sans Text"/>
                        </a:rPr>
                        <a:t>Eligibility &amp; Baseline Data</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extLst>
                  <a:ext uri="{0D108BD9-81ED-4DB2-BD59-A6C34878D82A}">
                    <a16:rowId xmlns:a16="http://schemas.microsoft.com/office/drawing/2014/main" val="1203119591"/>
                  </a:ext>
                </a:extLst>
              </a:tr>
              <a:tr h="374576">
                <a:tc>
                  <a:txBody>
                    <a:bodyPr/>
                    <a:lstStyle/>
                    <a:p>
                      <a:pPr algn="l">
                        <a:lnSpc>
                          <a:spcPct val="114000"/>
                        </a:lnSpc>
                        <a:buNone/>
                      </a:pPr>
                      <a:r>
                        <a:rPr lang="en-CA" sz="1000" b="0" dirty="0">
                          <a:effectLst/>
                          <a:latin typeface="+mn-ea"/>
                          <a:ea typeface="+mn-ea"/>
                          <a:cs typeface="Google Sans Text"/>
                        </a:rPr>
                        <a:t>Randomization &amp; Intervention</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 </a:t>
                      </a:r>
                      <a:endParaRPr lang="zh-CN" sz="1000" b="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 </a:t>
                      </a:r>
                      <a:endParaRPr lang="zh-CN" sz="1000" b="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 </a:t>
                      </a:r>
                      <a:endParaRPr lang="zh-CN" sz="1000" b="0">
                        <a:effectLst/>
                        <a:latin typeface="+mn-ea"/>
                        <a:ea typeface="+mn-ea"/>
                      </a:endParaRPr>
                    </a:p>
                  </a:txBody>
                  <a:tcPr marL="0" marR="0" marT="0" marB="0" anchor="ctr">
                    <a:solidFill>
                      <a:schemeClr val="bg1">
                        <a:lumMod val="95000"/>
                      </a:schemeClr>
                    </a:solidFill>
                  </a:tcPr>
                </a:tc>
                <a:extLst>
                  <a:ext uri="{0D108BD9-81ED-4DB2-BD59-A6C34878D82A}">
                    <a16:rowId xmlns:a16="http://schemas.microsoft.com/office/drawing/2014/main" val="3502190471"/>
                  </a:ext>
                </a:extLst>
              </a:tr>
              <a:tr h="374576">
                <a:tc>
                  <a:txBody>
                    <a:bodyPr/>
                    <a:lstStyle/>
                    <a:p>
                      <a:pPr algn="l">
                        <a:lnSpc>
                          <a:spcPct val="114000"/>
                        </a:lnSpc>
                        <a:buNone/>
                      </a:pPr>
                      <a:r>
                        <a:rPr lang="en-CA" sz="1000" b="0" dirty="0">
                          <a:effectLst/>
                          <a:latin typeface="+mn-ea"/>
                          <a:ea typeface="+mn-ea"/>
                          <a:cs typeface="Google Sans Text"/>
                        </a:rPr>
                        <a:t>NIHSS Assessment</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 </a:t>
                      </a:r>
                      <a:endParaRPr lang="zh-CN" sz="1000" b="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extLst>
                  <a:ext uri="{0D108BD9-81ED-4DB2-BD59-A6C34878D82A}">
                    <a16:rowId xmlns:a16="http://schemas.microsoft.com/office/drawing/2014/main" val="3612792273"/>
                  </a:ext>
                </a:extLst>
              </a:tr>
              <a:tr h="380207">
                <a:tc>
                  <a:txBody>
                    <a:bodyPr/>
                    <a:lstStyle/>
                    <a:p>
                      <a:pPr algn="l">
                        <a:lnSpc>
                          <a:spcPct val="114000"/>
                        </a:lnSpc>
                        <a:buNone/>
                      </a:pPr>
                      <a:r>
                        <a:rPr lang="en-CA" sz="1000" b="0" dirty="0">
                          <a:effectLst/>
                          <a:latin typeface="+mn-ea"/>
                          <a:ea typeface="+mn-ea"/>
                          <a:cs typeface="Google Sans Text"/>
                        </a:rPr>
                        <a:t>Follow-Up Imaging (for Core Lab)</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r>
                        <a:rPr lang="en-CA" sz="1000" b="0" dirty="0">
                          <a:effectLst/>
                          <a:latin typeface="+mn-ea"/>
                          <a:ea typeface="+mn-ea"/>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 </a:t>
                      </a:r>
                      <a:endParaRPr lang="zh-CN" sz="1000" b="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 </a:t>
                      </a:r>
                      <a:endParaRPr lang="zh-CN" sz="1000" b="0">
                        <a:effectLst/>
                        <a:latin typeface="+mn-ea"/>
                        <a:ea typeface="+mn-ea"/>
                      </a:endParaRPr>
                    </a:p>
                  </a:txBody>
                  <a:tcPr marL="0" marR="0" marT="0" marB="0" anchor="ctr">
                    <a:solidFill>
                      <a:schemeClr val="bg1">
                        <a:lumMod val="95000"/>
                      </a:schemeClr>
                    </a:solidFill>
                  </a:tcPr>
                </a:tc>
                <a:extLst>
                  <a:ext uri="{0D108BD9-81ED-4DB2-BD59-A6C34878D82A}">
                    <a16:rowId xmlns:a16="http://schemas.microsoft.com/office/drawing/2014/main" val="1226027492"/>
                  </a:ext>
                </a:extLst>
              </a:tr>
              <a:tr h="380207">
                <a:tc>
                  <a:txBody>
                    <a:bodyPr/>
                    <a:lstStyle/>
                    <a:p>
                      <a:pPr algn="l">
                        <a:lnSpc>
                          <a:spcPct val="114000"/>
                        </a:lnSpc>
                        <a:buNone/>
                      </a:pPr>
                      <a:r>
                        <a:rPr lang="en-CA" sz="1000" b="0" dirty="0">
                          <a:effectLst/>
                          <a:latin typeface="+mn-ea"/>
                          <a:ea typeface="+mn-ea"/>
                          <a:cs typeface="Google Sans Text"/>
                        </a:rPr>
                        <a:t>Blinded Modified Rankin Scale (</a:t>
                      </a:r>
                      <a:r>
                        <a:rPr lang="en-CA" sz="1000" b="0" dirty="0" err="1">
                          <a:effectLst/>
                          <a:latin typeface="+mn-ea"/>
                          <a:ea typeface="+mn-ea"/>
                          <a:cs typeface="Google Sans Text"/>
                        </a:rPr>
                        <a:t>mRS</a:t>
                      </a:r>
                      <a:r>
                        <a:rPr lang="en-CA" sz="1000" b="0" dirty="0">
                          <a:effectLst/>
                          <a:latin typeface="+mn-ea"/>
                          <a:ea typeface="+mn-ea"/>
                          <a:cs typeface="Google Sans Text"/>
                        </a:rPr>
                        <a:t>) Assessment</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X</a:t>
                      </a:r>
                      <a:endParaRPr lang="zh-CN" sz="1000" b="0">
                        <a:effectLst/>
                        <a:latin typeface="+mn-ea"/>
                        <a:ea typeface="+mn-ea"/>
                      </a:endParaRPr>
                    </a:p>
                  </a:txBody>
                  <a:tcPr marL="0" marR="0" marT="0" marB="0" anchor="ctr">
                    <a:solidFill>
                      <a:schemeClr val="bg1">
                        <a:lumMod val="95000"/>
                      </a:schemeClr>
                    </a:solidFill>
                  </a:tcPr>
                </a:tc>
                <a:extLst>
                  <a:ext uri="{0D108BD9-81ED-4DB2-BD59-A6C34878D82A}">
                    <a16:rowId xmlns:a16="http://schemas.microsoft.com/office/drawing/2014/main" val="4044431603"/>
                  </a:ext>
                </a:extLst>
              </a:tr>
              <a:tr h="578615">
                <a:tc>
                  <a:txBody>
                    <a:bodyPr/>
                    <a:lstStyle/>
                    <a:p>
                      <a:pPr algn="l">
                        <a:lnSpc>
                          <a:spcPct val="114000"/>
                        </a:lnSpc>
                        <a:buNone/>
                      </a:pPr>
                      <a:r>
                        <a:rPr lang="en-CA" sz="1000" b="0" dirty="0" err="1">
                          <a:effectLst/>
                          <a:latin typeface="+mn-ea"/>
                          <a:ea typeface="+mn-ea"/>
                        </a:rPr>
                        <a:t>sICH</a:t>
                      </a:r>
                      <a:r>
                        <a:rPr lang="en-CA" sz="1000" b="0" dirty="0">
                          <a:effectLst/>
                          <a:latin typeface="+mn-ea"/>
                          <a:ea typeface="+mn-ea"/>
                        </a:rPr>
                        <a:t>, malignant cerebral edema, and any intracerebral hemorrhage</a:t>
                      </a:r>
                      <a:r>
                        <a:rPr lang="en-CA" sz="1000" b="0" dirty="0">
                          <a:effectLst/>
                          <a:latin typeface="+mn-ea"/>
                          <a:ea typeface="+mn-ea"/>
                          <a:cs typeface="Google Sans Text"/>
                        </a:rPr>
                        <a:t> Assessment </a:t>
                      </a:r>
                      <a:r>
                        <a:rPr lang="en-CA" sz="1000" b="0" dirty="0">
                          <a:effectLst/>
                          <a:latin typeface="+mn-ea"/>
                          <a:ea typeface="+mn-ea"/>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 </a:t>
                      </a:r>
                      <a:endParaRPr lang="zh-CN" sz="1000" b="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extLst>
                  <a:ext uri="{0D108BD9-81ED-4DB2-BD59-A6C34878D82A}">
                    <a16:rowId xmlns:a16="http://schemas.microsoft.com/office/drawing/2014/main" val="1914971437"/>
                  </a:ext>
                </a:extLst>
              </a:tr>
              <a:tr h="380207">
                <a:tc>
                  <a:txBody>
                    <a:bodyPr/>
                    <a:lstStyle/>
                    <a:p>
                      <a:pPr algn="l">
                        <a:lnSpc>
                          <a:spcPct val="114000"/>
                        </a:lnSpc>
                        <a:buNone/>
                      </a:pPr>
                      <a:r>
                        <a:rPr lang="en-CA" sz="1000" b="0" dirty="0">
                          <a:effectLst/>
                          <a:latin typeface="+mn-ea"/>
                          <a:ea typeface="+mn-ea"/>
                          <a:cs typeface="Google Sans Text"/>
                        </a:rPr>
                        <a:t>Collect Serious Adverse Events (SAEs) Only</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X</a:t>
                      </a:r>
                      <a:endParaRPr lang="zh-CN" sz="1000" b="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X</a:t>
                      </a:r>
                      <a:endParaRPr lang="zh-CN" sz="1000" b="0" dirty="0">
                        <a:effectLst/>
                        <a:latin typeface="+mn-ea"/>
                        <a:ea typeface="+mn-ea"/>
                      </a:endParaRPr>
                    </a:p>
                  </a:txBody>
                  <a:tcPr marL="0" marR="0" marT="0" marB="0" anchor="ctr">
                    <a:solidFill>
                      <a:schemeClr val="bg1">
                        <a:lumMod val="95000"/>
                      </a:schemeClr>
                    </a:solidFill>
                  </a:tcPr>
                </a:tc>
                <a:extLst>
                  <a:ext uri="{0D108BD9-81ED-4DB2-BD59-A6C34878D82A}">
                    <a16:rowId xmlns:a16="http://schemas.microsoft.com/office/drawing/2014/main" val="1201379133"/>
                  </a:ext>
                </a:extLst>
              </a:tr>
              <a:tr h="374576">
                <a:tc>
                  <a:txBody>
                    <a:bodyPr/>
                    <a:lstStyle/>
                    <a:p>
                      <a:pPr algn="l">
                        <a:lnSpc>
                          <a:spcPct val="114000"/>
                        </a:lnSpc>
                        <a:buNone/>
                      </a:pPr>
                      <a:r>
                        <a:rPr lang="en-CA" sz="1000" b="0" dirty="0">
                          <a:effectLst/>
                          <a:latin typeface="+mn-ea"/>
                          <a:ea typeface="+mn-ea"/>
                          <a:cs typeface="Google Sans Text"/>
                        </a:rPr>
                        <a:t>Process Metrics Data Collection</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X</a:t>
                      </a:r>
                      <a:endParaRPr lang="zh-CN" sz="1000" b="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a:effectLst/>
                          <a:latin typeface="+mn-ea"/>
                          <a:ea typeface="+mn-ea"/>
                          <a:cs typeface="Google Sans Text"/>
                        </a:rPr>
                        <a:t> </a:t>
                      </a:r>
                      <a:endParaRPr lang="zh-CN" sz="1000" b="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tc>
                  <a:txBody>
                    <a:bodyPr/>
                    <a:lstStyle/>
                    <a:p>
                      <a:pPr algn="ctr">
                        <a:lnSpc>
                          <a:spcPct val="114000"/>
                        </a:lnSpc>
                        <a:buNone/>
                      </a:pPr>
                      <a:r>
                        <a:rPr lang="en-CA" sz="1000" b="0" dirty="0">
                          <a:effectLst/>
                          <a:latin typeface="+mn-ea"/>
                          <a:ea typeface="+mn-ea"/>
                          <a:cs typeface="Google Sans Text"/>
                        </a:rPr>
                        <a:t> </a:t>
                      </a:r>
                      <a:endParaRPr lang="zh-CN" sz="1000" b="0" dirty="0">
                        <a:effectLst/>
                        <a:latin typeface="+mn-ea"/>
                        <a:ea typeface="+mn-ea"/>
                      </a:endParaRPr>
                    </a:p>
                  </a:txBody>
                  <a:tcPr marL="0" marR="0" marT="0" marB="0" anchor="ctr">
                    <a:solidFill>
                      <a:schemeClr val="bg1">
                        <a:lumMod val="95000"/>
                      </a:schemeClr>
                    </a:solidFill>
                  </a:tcPr>
                </a:tc>
                <a:extLst>
                  <a:ext uri="{0D108BD9-81ED-4DB2-BD59-A6C34878D82A}">
                    <a16:rowId xmlns:a16="http://schemas.microsoft.com/office/drawing/2014/main" val="1108187118"/>
                  </a:ext>
                </a:extLst>
              </a:tr>
            </a:tbl>
          </a:graphicData>
        </a:graphic>
      </p:graphicFrame>
    </p:spTree>
    <p:extLst>
      <p:ext uri="{BB962C8B-B14F-4D97-AF65-F5344CB8AC3E}">
        <p14:creationId xmlns:p14="http://schemas.microsoft.com/office/powerpoint/2010/main" val="178767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1BB48E-E919-5290-40BB-1084AF30B156}"/>
              </a:ext>
            </a:extLst>
          </p:cNvPr>
          <p:cNvSpPr>
            <a:spLocks noGrp="1"/>
          </p:cNvSpPr>
          <p:nvPr>
            <p:ph type="title"/>
          </p:nvPr>
        </p:nvSpPr>
        <p:spPr>
          <a:xfrm>
            <a:off x="371475" y="301702"/>
            <a:ext cx="8401050" cy="328541"/>
          </a:xfrm>
        </p:spPr>
        <p:txBody>
          <a:bodyPr/>
          <a:lstStyle/>
          <a:p>
            <a:r>
              <a:rPr lang="en-US" altLang="zh-CN" sz="2000" dirty="0">
                <a:solidFill>
                  <a:schemeClr val="tx1"/>
                </a:solidFill>
                <a:latin typeface="+mn-ea"/>
                <a:ea typeface="+mn-ea"/>
              </a:rPr>
              <a:t>Considerations for Supporting the Current Study</a:t>
            </a:r>
            <a:endParaRPr lang="zh-CN" altLang="en-US" sz="2000" dirty="0">
              <a:solidFill>
                <a:schemeClr val="tx1"/>
              </a:solidFill>
              <a:latin typeface="+mn-ea"/>
              <a:ea typeface="+mn-ea"/>
            </a:endParaRPr>
          </a:p>
        </p:txBody>
      </p:sp>
      <p:sp>
        <p:nvSpPr>
          <p:cNvPr id="3" name="内容占位符 2">
            <a:extLst>
              <a:ext uri="{FF2B5EF4-FFF2-40B4-BE49-F238E27FC236}">
                <a16:creationId xmlns:a16="http://schemas.microsoft.com/office/drawing/2014/main" id="{D55542D0-DCC9-4E85-EA8A-C44F0F536039}"/>
              </a:ext>
            </a:extLst>
          </p:cNvPr>
          <p:cNvSpPr>
            <a:spLocks noGrp="1"/>
          </p:cNvSpPr>
          <p:nvPr>
            <p:ph idx="4294967295"/>
          </p:nvPr>
        </p:nvSpPr>
        <p:spPr>
          <a:xfrm>
            <a:off x="479898" y="778707"/>
            <a:ext cx="8223116" cy="3644136"/>
          </a:xfrm>
        </p:spPr>
        <p:txBody>
          <a:bodyPr vert="horz" lIns="0" tIns="0" rIns="0" bIns="0" rtlCol="0" anchor="t">
            <a:noAutofit/>
          </a:bodyPr>
          <a:lstStyle/>
          <a:p>
            <a:pPr marL="161925" indent="-161925">
              <a:lnSpc>
                <a:spcPts val="2100"/>
              </a:lnSpc>
              <a:spcAft>
                <a:spcPts val="0"/>
              </a:spcAft>
            </a:pPr>
            <a:r>
              <a:rPr kumimoji="1" lang="en-US" altLang="zh-CN" b="1" i="0" u="none" strike="noStrike" kern="1200" cap="none" spc="0" normalizeH="0" baseline="0" noProof="0" dirty="0">
                <a:ln>
                  <a:noFill/>
                </a:ln>
                <a:solidFill>
                  <a:prstClr val="black"/>
                </a:solidFill>
                <a:effectLst/>
                <a:uLnTx/>
                <a:uFillTx/>
                <a:latin typeface="+mn-ea"/>
                <a:cs typeface="Times New Roman" panose="02020603050405020304" pitchFamily="18" charset="0"/>
              </a:rPr>
              <a:t>Fulfill unmet nee</a:t>
            </a:r>
            <a:r>
              <a:rPr kumimoji="1" lang="en-US" altLang="zh-CN" b="1" dirty="0">
                <a:solidFill>
                  <a:prstClr val="black"/>
                </a:solidFill>
                <a:latin typeface="+mn-ea"/>
                <a:cs typeface="Times New Roman" panose="02020603050405020304" pitchFamily="18" charset="0"/>
              </a:rPr>
              <a:t>ds </a:t>
            </a:r>
            <a:endParaRPr lang="zh-CN" altLang="en-US" dirty="0">
              <a:latin typeface="+mn-ea"/>
            </a:endParaRPr>
          </a:p>
          <a:p>
            <a:pPr marL="333375" lvl="1" indent="-171450">
              <a:lnSpc>
                <a:spcPts val="2100"/>
              </a:lnSpc>
              <a:spcAft>
                <a:spcPts val="0"/>
              </a:spcAft>
              <a:buFontTx/>
              <a:buChar char="-"/>
            </a:pPr>
            <a:r>
              <a:rPr lang="en-US" altLang="zh-CN" dirty="0">
                <a:latin typeface="+mn-ea"/>
              </a:rPr>
              <a:t>Nearly 30% </a:t>
            </a:r>
            <a:r>
              <a:rPr lang="en-US" altLang="zh-CN" dirty="0">
                <a:latin typeface="+mn-ea"/>
                <a:cs typeface="Times New Roman" panose="02020603050405020304" pitchFamily="18" charset="0"/>
              </a:rPr>
              <a:t>of AIS patients present with a SBP ≥180 mmHg</a:t>
            </a:r>
            <a:r>
              <a:rPr lang="en-US" altLang="zh-CN" dirty="0">
                <a:latin typeface="+mn-ea"/>
              </a:rPr>
              <a:t>.</a:t>
            </a:r>
            <a:r>
              <a:rPr lang="zh-CN" altLang="en-US" dirty="0">
                <a:latin typeface="+mn-ea"/>
              </a:rPr>
              <a:t> </a:t>
            </a:r>
            <a:r>
              <a:rPr lang="en-US" altLang="zh-CN" dirty="0">
                <a:latin typeface="+mn-ea"/>
                <a:cs typeface="Times New Roman" panose="02020603050405020304" pitchFamily="18" charset="0"/>
              </a:rPr>
              <a:t>Current guidelines recommend BP</a:t>
            </a:r>
            <a:r>
              <a:rPr lang="zh-CN" altLang="en-US" dirty="0">
                <a:latin typeface="+mn-ea"/>
                <a:cs typeface="Times New Roman" panose="02020603050405020304" pitchFamily="18" charset="0"/>
              </a:rPr>
              <a:t>＜</a:t>
            </a:r>
            <a:r>
              <a:rPr lang="en-US" altLang="zh-CN" dirty="0">
                <a:latin typeface="+mn-ea"/>
                <a:cs typeface="Times New Roman" panose="02020603050405020304" pitchFamily="18" charset="0"/>
              </a:rPr>
              <a:t>180/100 mmHg or BP</a:t>
            </a:r>
            <a:r>
              <a:rPr lang="zh-CN" altLang="en-US" dirty="0">
                <a:latin typeface="+mn-ea"/>
                <a:cs typeface="Times New Roman" panose="02020603050405020304" pitchFamily="18" charset="0"/>
              </a:rPr>
              <a:t>＜</a:t>
            </a:r>
            <a:r>
              <a:rPr lang="en-US" altLang="zh-CN" dirty="0">
                <a:latin typeface="+mn-ea"/>
                <a:cs typeface="Times New Roman" panose="02020603050405020304" pitchFamily="18" charset="0"/>
              </a:rPr>
              <a:t>185/110 mmHg </a:t>
            </a:r>
            <a:r>
              <a:rPr lang="en-CA" altLang="zh-CN" dirty="0">
                <a:latin typeface="+mn-ea"/>
                <a:cs typeface="Times New Roman" panose="02020603050405020304" pitchFamily="18" charset="0"/>
              </a:rPr>
              <a:t>prior to</a:t>
            </a:r>
            <a:r>
              <a:rPr lang="en-US" altLang="zh-CN" dirty="0">
                <a:latin typeface="+mn-ea"/>
                <a:cs typeface="Times New Roman" panose="02020603050405020304" pitchFamily="18" charset="0"/>
              </a:rPr>
              <a:t> IVT</a:t>
            </a:r>
          </a:p>
          <a:p>
            <a:pPr marL="333375" lvl="1" indent="-171450">
              <a:lnSpc>
                <a:spcPts val="2100"/>
              </a:lnSpc>
              <a:spcAft>
                <a:spcPts val="0"/>
              </a:spcAft>
              <a:buFontTx/>
              <a:buChar char="-"/>
            </a:pPr>
            <a:r>
              <a:rPr lang="en-CA" altLang="zh-CN" dirty="0">
                <a:latin typeface="+mn-ea"/>
                <a:cs typeface="Times New Roman" panose="02020603050405020304" pitchFamily="18" charset="0"/>
              </a:rPr>
              <a:t>Adhering to </a:t>
            </a:r>
            <a:r>
              <a:rPr lang="en-US" altLang="zh-CN" dirty="0">
                <a:latin typeface="+mn-ea"/>
                <a:cs typeface="Times New Roman" panose="02020603050405020304" pitchFamily="18" charset="0"/>
              </a:rPr>
              <a:t>current</a:t>
            </a:r>
            <a:r>
              <a:rPr lang="en-CA" altLang="zh-CN" dirty="0">
                <a:latin typeface="+mn-ea"/>
                <a:cs typeface="Times New Roman" panose="02020603050405020304" pitchFamily="18" charset="0"/>
              </a:rPr>
              <a:t> guideline necessitates a sequential management pathway, but time is brain, the therapeutic benefit of IVT is unequivocally time-dependent</a:t>
            </a:r>
          </a:p>
          <a:p>
            <a:pPr marL="333375" lvl="1" indent="-171450">
              <a:lnSpc>
                <a:spcPts val="2100"/>
              </a:lnSpc>
              <a:spcAft>
                <a:spcPts val="0"/>
              </a:spcAft>
              <a:buFontTx/>
              <a:buChar char="-"/>
            </a:pPr>
            <a:r>
              <a:rPr lang="en-US" altLang="zh-CN" dirty="0">
                <a:latin typeface="+mn-ea"/>
              </a:rPr>
              <a:t>A novel concurrent strategy, wherein thrombolysis is initiated immediately upon eligibility (in patients with SBP ≤220 mmHg) while antihypertensive therapy is started simultaneously, offers a potential solution</a:t>
            </a:r>
            <a:endParaRPr lang="en-CA" altLang="zh-CN" dirty="0">
              <a:latin typeface="+mn-ea"/>
              <a:cs typeface="Times New Roman" panose="02020603050405020304" pitchFamily="18" charset="0"/>
            </a:endParaRPr>
          </a:p>
          <a:p>
            <a:pPr marL="161925" lvl="1" indent="-161925">
              <a:lnSpc>
                <a:spcPts val="2100"/>
              </a:lnSpc>
              <a:spcAft>
                <a:spcPts val="0"/>
              </a:spcAft>
            </a:pPr>
            <a:r>
              <a:rPr kumimoji="1" lang="en-US" altLang="zh-CN" b="1" dirty="0">
                <a:solidFill>
                  <a:prstClr val="black"/>
                </a:solidFill>
                <a:latin typeface="+mn-ea"/>
                <a:cs typeface="Times New Roman" panose="02020603050405020304" pitchFamily="18" charset="0"/>
              </a:rPr>
              <a:t>Data gap filling</a:t>
            </a:r>
          </a:p>
          <a:p>
            <a:pPr marL="333375" lvl="1" indent="-171450">
              <a:lnSpc>
                <a:spcPts val="2100"/>
              </a:lnSpc>
              <a:spcAft>
                <a:spcPts val="0"/>
              </a:spcAft>
              <a:buFontTx/>
              <a:buChar char="-"/>
            </a:pPr>
            <a:r>
              <a:rPr lang="en-US" altLang="zh-CN" dirty="0">
                <a:latin typeface="+mn-ea"/>
                <a:cs typeface="Times New Roman" panose="02020603050405020304" pitchFamily="18" charset="0"/>
              </a:rPr>
              <a:t>The current study might provide confirmatory evidence to </a:t>
            </a:r>
            <a:r>
              <a:rPr lang="en-US" altLang="zh-CN" dirty="0">
                <a:latin typeface="+mn-ea"/>
              </a:rPr>
              <a:t>compare the efficacy, safety, and efficiency of the concurrent versus the sequential approach to thrombolysis administration and BP managemen</a:t>
            </a:r>
            <a:r>
              <a:rPr lang="en-US" altLang="zh-CN" dirty="0">
                <a:latin typeface="+mn-ea"/>
                <a:cs typeface="Times New Roman" panose="02020603050405020304" pitchFamily="18" charset="0"/>
              </a:rPr>
              <a:t>t</a:t>
            </a:r>
            <a:endParaRPr lang="en-US" altLang="zh-CN" b="1" dirty="0">
              <a:latin typeface="+mn-ea"/>
              <a:cs typeface="Times New Roman" panose="02020603050405020304" pitchFamily="18" charset="0"/>
            </a:endParaRPr>
          </a:p>
          <a:p>
            <a:pPr marL="161925" lvl="1" indent="-161925">
              <a:lnSpc>
                <a:spcPts val="2100"/>
              </a:lnSpc>
              <a:spcAft>
                <a:spcPts val="0"/>
              </a:spcAft>
            </a:pPr>
            <a:r>
              <a:rPr kumimoji="1" lang="en-US" altLang="zh-CN" b="1" dirty="0">
                <a:solidFill>
                  <a:prstClr val="black"/>
                </a:solidFill>
                <a:latin typeface="+mn-ea"/>
                <a:cs typeface="Times New Roman" panose="02020603050405020304" pitchFamily="18" charset="0"/>
              </a:rPr>
              <a:t>The potential use of  TNK/</a:t>
            </a:r>
            <a:r>
              <a:rPr kumimoji="1" lang="en-US" altLang="zh-CN" b="1" dirty="0" err="1">
                <a:solidFill>
                  <a:prstClr val="black"/>
                </a:solidFill>
                <a:latin typeface="+mn-ea"/>
                <a:cs typeface="Times New Roman" panose="02020603050405020304" pitchFamily="18" charset="0"/>
              </a:rPr>
              <a:t>rtPA</a:t>
            </a:r>
            <a:r>
              <a:rPr kumimoji="1" lang="en-US" altLang="zh-CN" b="1" dirty="0">
                <a:solidFill>
                  <a:prstClr val="black"/>
                </a:solidFill>
                <a:latin typeface="+mn-ea"/>
                <a:cs typeface="Times New Roman" panose="02020603050405020304" pitchFamily="18" charset="0"/>
              </a:rPr>
              <a:t> in concurrent strategy</a:t>
            </a:r>
          </a:p>
          <a:p>
            <a:pPr marL="333375" lvl="1" indent="-171450">
              <a:lnSpc>
                <a:spcPts val="2100"/>
              </a:lnSpc>
              <a:spcAft>
                <a:spcPts val="0"/>
              </a:spcAft>
              <a:buFontTx/>
              <a:buChar char="-"/>
            </a:pPr>
            <a:r>
              <a:rPr lang="en-US" altLang="zh-CN" dirty="0">
                <a:latin typeface="+mn-ea"/>
                <a:cs typeface="Times New Roman" panose="02020603050405020304" pitchFamily="18" charset="0"/>
              </a:rPr>
              <a:t>Potential to reshape treatment protocols and inform guideline</a:t>
            </a:r>
          </a:p>
          <a:p>
            <a:pPr marL="333375" lvl="1" indent="-171450">
              <a:lnSpc>
                <a:spcPts val="2100"/>
              </a:lnSpc>
              <a:spcAft>
                <a:spcPts val="0"/>
              </a:spcAft>
              <a:buFontTx/>
              <a:buChar char="-"/>
            </a:pPr>
            <a:r>
              <a:rPr lang="en-US" altLang="zh-CN" dirty="0">
                <a:latin typeface="+mn-ea"/>
                <a:cs typeface="Times New Roman" panose="02020603050405020304" pitchFamily="18" charset="0"/>
              </a:rPr>
              <a:t>Potential to remove </a:t>
            </a:r>
            <a:r>
              <a:rPr lang="fr-FR" altLang="zh-CN" dirty="0" err="1">
                <a:latin typeface="+mn-ea"/>
                <a:cs typeface="Times New Roman" panose="02020603050405020304" pitchFamily="18" charset="0"/>
              </a:rPr>
              <a:t>Metalyse</a:t>
            </a:r>
            <a:r>
              <a:rPr lang="fr-FR" altLang="zh-CN" dirty="0">
                <a:latin typeface="+mn-ea"/>
                <a:cs typeface="Times New Roman" panose="02020603050405020304" pitchFamily="18" charset="0"/>
              </a:rPr>
              <a:t>/</a:t>
            </a:r>
            <a:r>
              <a:rPr lang="fr-FR" altLang="zh-CN" dirty="0" err="1">
                <a:latin typeface="+mn-ea"/>
                <a:cs typeface="Times New Roman" panose="02020603050405020304" pitchFamily="18" charset="0"/>
              </a:rPr>
              <a:t>Actilyse</a:t>
            </a:r>
            <a:r>
              <a:rPr lang="fr-FR" altLang="zh-CN" dirty="0">
                <a:latin typeface="+mn-ea"/>
                <a:cs typeface="Times New Roman" panose="02020603050405020304" pitchFamily="18" charset="0"/>
              </a:rPr>
              <a:t> </a:t>
            </a:r>
            <a:r>
              <a:rPr lang="fr-FR" altLang="zh-CN" dirty="0" err="1">
                <a:latin typeface="+mn-ea"/>
                <a:cs typeface="Times New Roman" panose="02020603050405020304" pitchFamily="18" charset="0"/>
              </a:rPr>
              <a:t>contraindication</a:t>
            </a:r>
            <a:r>
              <a:rPr lang="en-US" altLang="zh-CN" dirty="0">
                <a:latin typeface="+mn-ea"/>
                <a:cs typeface="Times New Roman" panose="02020603050405020304" pitchFamily="18" charset="0"/>
              </a:rPr>
              <a:t>s</a:t>
            </a:r>
            <a:r>
              <a:rPr lang="fr-FR" altLang="zh-CN" dirty="0">
                <a:latin typeface="+mn-ea"/>
                <a:cs typeface="Times New Roman" panose="02020603050405020304" pitchFamily="18" charset="0"/>
              </a:rPr>
              <a:t> for hypertension pts (SBP</a:t>
            </a:r>
            <a:r>
              <a:rPr lang="zh-CN" altLang="fr-FR" dirty="0">
                <a:latin typeface="+mn-ea"/>
                <a:cs typeface="Times New Roman" panose="02020603050405020304" pitchFamily="18" charset="0"/>
              </a:rPr>
              <a:t>＞</a:t>
            </a:r>
            <a:r>
              <a:rPr lang="fr-FR" altLang="zh-CN" dirty="0">
                <a:latin typeface="+mn-ea"/>
                <a:cs typeface="Times New Roman" panose="02020603050405020304" pitchFamily="18" charset="0"/>
              </a:rPr>
              <a:t>185 or DBP </a:t>
            </a:r>
            <a:r>
              <a:rPr lang="zh-CN" altLang="fr-FR" dirty="0">
                <a:latin typeface="+mn-ea"/>
                <a:cs typeface="Times New Roman" panose="02020603050405020304" pitchFamily="18" charset="0"/>
              </a:rPr>
              <a:t>＞</a:t>
            </a:r>
            <a:r>
              <a:rPr lang="fr-FR" altLang="zh-CN" dirty="0">
                <a:latin typeface="+mn-ea"/>
                <a:cs typeface="Times New Roman" panose="02020603050405020304" pitchFamily="18" charset="0"/>
              </a:rPr>
              <a:t>110 </a:t>
            </a:r>
            <a:r>
              <a:rPr lang="fr-FR" altLang="zh-CN" dirty="0" err="1">
                <a:latin typeface="+mn-ea"/>
                <a:cs typeface="Times New Roman" panose="02020603050405020304" pitchFamily="18" charset="0"/>
              </a:rPr>
              <a:t>mmHg</a:t>
            </a:r>
            <a:r>
              <a:rPr lang="fr-FR" altLang="zh-CN" dirty="0">
                <a:latin typeface="+mn-ea"/>
                <a:cs typeface="Times New Roman" panose="02020603050405020304" pitchFamily="18" charset="0"/>
              </a:rPr>
              <a:t>). </a:t>
            </a:r>
            <a:endParaRPr lang="en-US" altLang="zh-CN" dirty="0">
              <a:latin typeface="+mn-ea"/>
              <a:cs typeface="Times New Roman" panose="02020603050405020304" pitchFamily="18" charset="0"/>
            </a:endParaRPr>
          </a:p>
        </p:txBody>
      </p:sp>
      <p:sp>
        <p:nvSpPr>
          <p:cNvPr id="4" name="矩形: 圆角 3">
            <a:extLst>
              <a:ext uri="{FF2B5EF4-FFF2-40B4-BE49-F238E27FC236}">
                <a16:creationId xmlns:a16="http://schemas.microsoft.com/office/drawing/2014/main" id="{0C3FAE83-93BF-55A1-30C7-E0AB55B2C357}"/>
              </a:ext>
            </a:extLst>
          </p:cNvPr>
          <p:cNvSpPr/>
          <p:nvPr/>
        </p:nvSpPr>
        <p:spPr bwMode="gray">
          <a:xfrm>
            <a:off x="1889451" y="4429643"/>
            <a:ext cx="5183516" cy="327287"/>
          </a:xfrm>
          <a:prstGeom prst="roundRect">
            <a:avLst/>
          </a:prstGeom>
          <a:solidFill>
            <a:schemeClr val="accent1">
              <a:lumMod val="90000"/>
              <a:lumOff val="1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FFFF"/>
                </a:solidFill>
                <a:latin typeface="+mn-ea"/>
                <a:cs typeface="Times New Roman" panose="02020603050405020304" pitchFamily="18" charset="0"/>
              </a:rPr>
              <a:t>For  PEC Endorsement: Concept, timeline and budget (3M)</a:t>
            </a:r>
            <a:endParaRPr lang="zh-CN" altLang="en-US" sz="1400" b="1" dirty="0">
              <a:solidFill>
                <a:srgbClr val="FFFFFF"/>
              </a:solidFill>
              <a:latin typeface="+mn-ea"/>
              <a:cs typeface="Times New Roman" panose="02020603050405020304" pitchFamily="18" charset="0"/>
            </a:endParaRPr>
          </a:p>
        </p:txBody>
      </p:sp>
    </p:spTree>
    <p:extLst>
      <p:ext uri="{BB962C8B-B14F-4D97-AF65-F5344CB8AC3E}">
        <p14:creationId xmlns:p14="http://schemas.microsoft.com/office/powerpoint/2010/main" val="686013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7F7A6-70BF-FA4A-3878-D8993A08B9DE}"/>
              </a:ext>
            </a:extLst>
          </p:cNvPr>
          <p:cNvSpPr>
            <a:spLocks noGrp="1"/>
          </p:cNvSpPr>
          <p:nvPr>
            <p:ph type="title"/>
          </p:nvPr>
        </p:nvSpPr>
        <p:spPr>
          <a:xfrm>
            <a:off x="371475" y="2047461"/>
            <a:ext cx="8401050" cy="524289"/>
          </a:xfrm>
        </p:spPr>
        <p:txBody>
          <a:bodyPr/>
          <a:lstStyle/>
          <a:p>
            <a:pPr algn="ctr"/>
            <a:r>
              <a:rPr lang="en-US" altLang="zh-CN" sz="2800" dirty="0">
                <a:cs typeface="Times New Roman" panose="02020603050405020304" pitchFamily="18" charset="0"/>
              </a:rPr>
              <a:t>Thank you </a:t>
            </a:r>
            <a:r>
              <a:rPr lang="zh-CN" altLang="en-US" sz="2800" dirty="0">
                <a:cs typeface="Times New Roman" panose="02020603050405020304" pitchFamily="18" charset="0"/>
              </a:rPr>
              <a:t>！</a:t>
            </a:r>
          </a:p>
        </p:txBody>
      </p:sp>
    </p:spTree>
    <p:extLst>
      <p:ext uri="{BB962C8B-B14F-4D97-AF65-F5344CB8AC3E}">
        <p14:creationId xmlns:p14="http://schemas.microsoft.com/office/powerpoint/2010/main" val="161323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181C30-B1FC-654E-01AC-EABF8131B9B7}"/>
              </a:ext>
            </a:extLst>
          </p:cNvPr>
          <p:cNvSpPr>
            <a:spLocks noGrp="1"/>
          </p:cNvSpPr>
          <p:nvPr>
            <p:ph type="title"/>
          </p:nvPr>
        </p:nvSpPr>
        <p:spPr>
          <a:xfrm>
            <a:off x="377960" y="308187"/>
            <a:ext cx="8401050" cy="328541"/>
          </a:xfrm>
        </p:spPr>
        <p:txBody>
          <a:bodyPr/>
          <a:lstStyle/>
          <a:p>
            <a:r>
              <a:rPr lang="en-US" altLang="zh-CN" sz="2000" dirty="0">
                <a:latin typeface="+mn-ea"/>
                <a:ea typeface="+mn-ea"/>
                <a:sym typeface="+mn-ea"/>
              </a:rPr>
              <a:t>Committee</a:t>
            </a:r>
            <a:endParaRPr lang="zh-CN" altLang="en-US" dirty="0">
              <a:latin typeface="+mn-ea"/>
              <a:ea typeface="+mn-ea"/>
            </a:endParaRPr>
          </a:p>
        </p:txBody>
      </p:sp>
      <p:sp>
        <p:nvSpPr>
          <p:cNvPr id="3" name="文本框 2">
            <a:extLst>
              <a:ext uri="{FF2B5EF4-FFF2-40B4-BE49-F238E27FC236}">
                <a16:creationId xmlns:a16="http://schemas.microsoft.com/office/drawing/2014/main" id="{02DF84B6-57A9-0DB9-C017-1E30B682170D}"/>
              </a:ext>
            </a:extLst>
          </p:cNvPr>
          <p:cNvSpPr txBox="1"/>
          <p:nvPr/>
        </p:nvSpPr>
        <p:spPr>
          <a:xfrm>
            <a:off x="2756589" y="980004"/>
            <a:ext cx="5310883" cy="1154675"/>
          </a:xfrm>
          <a:prstGeom prst="rect">
            <a:avLst/>
          </a:prstGeom>
          <a:noFill/>
        </p:spPr>
        <p:txBody>
          <a:bodyPr wrap="square">
            <a:spAutoFit/>
          </a:bodyPr>
          <a:lstStyle/>
          <a:p>
            <a:pPr>
              <a:lnSpc>
                <a:spcPct val="150000"/>
              </a:lnSpc>
            </a:pPr>
            <a:r>
              <a:rPr lang="en-US" altLang="zh-CN" sz="1600" b="1" dirty="0">
                <a:latin typeface="+mn-ea"/>
                <a:cs typeface="Times New Roman" panose="02020603050405020304" pitchFamily="18" charset="0"/>
              </a:rPr>
              <a:t>Prof. Wu Bo</a:t>
            </a:r>
            <a:r>
              <a:rPr lang="zh-CN" altLang="en-US" sz="1600" b="1" dirty="0">
                <a:latin typeface="+mn-ea"/>
                <a:cs typeface="Times New Roman" panose="02020603050405020304" pitchFamily="18" charset="0"/>
              </a:rPr>
              <a:t>   </a:t>
            </a:r>
            <a:endParaRPr lang="en-US" altLang="zh-CN" sz="1600" b="1" dirty="0">
              <a:latin typeface="+mn-ea"/>
              <a:cs typeface="Times New Roman" panose="02020603050405020304" pitchFamily="18" charset="0"/>
            </a:endParaRPr>
          </a:p>
          <a:p>
            <a:pPr>
              <a:lnSpc>
                <a:spcPct val="150000"/>
              </a:lnSpc>
            </a:pPr>
            <a:r>
              <a:rPr lang="en-US" altLang="zh-CN" sz="1600" dirty="0">
                <a:latin typeface="+mn-ea"/>
                <a:cs typeface="Times New Roman" panose="02020603050405020304" pitchFamily="18" charset="0"/>
              </a:rPr>
              <a:t>West China Hospital Sichuan University, China</a:t>
            </a:r>
            <a:r>
              <a:rPr lang="zh-CN" altLang="en-US" sz="1600" dirty="0">
                <a:latin typeface="+mn-ea"/>
                <a:cs typeface="Times New Roman" panose="02020603050405020304" pitchFamily="18" charset="0"/>
              </a:rPr>
              <a:t> </a:t>
            </a:r>
            <a:endParaRPr lang="en-US" altLang="zh-CN" sz="1600" b="1" dirty="0">
              <a:latin typeface="+mn-ea"/>
              <a:cs typeface="Times New Roman" panose="02020603050405020304" pitchFamily="18" charset="0"/>
            </a:endParaRPr>
          </a:p>
          <a:p>
            <a:pPr>
              <a:lnSpc>
                <a:spcPct val="150000"/>
              </a:lnSpc>
            </a:pPr>
            <a:endParaRPr lang="en-US" altLang="zh-CN" sz="1600" dirty="0">
              <a:latin typeface="+mn-ea"/>
              <a:cs typeface="Times New Roman" panose="02020603050405020304" pitchFamily="18" charset="0"/>
            </a:endParaRPr>
          </a:p>
        </p:txBody>
      </p:sp>
      <p:pic>
        <p:nvPicPr>
          <p:cNvPr id="5" name="图片 4">
            <a:extLst>
              <a:ext uri="{FF2B5EF4-FFF2-40B4-BE49-F238E27FC236}">
                <a16:creationId xmlns:a16="http://schemas.microsoft.com/office/drawing/2014/main" id="{B953D300-9586-9E0F-3D2F-1F1EC49A0E76}"/>
              </a:ext>
            </a:extLst>
          </p:cNvPr>
          <p:cNvPicPr/>
          <p:nvPr/>
        </p:nvPicPr>
        <p:blipFill>
          <a:blip r:embed="rId2"/>
          <a:srcRect b="20317"/>
          <a:stretch>
            <a:fillRect/>
          </a:stretch>
        </p:blipFill>
        <p:spPr>
          <a:xfrm>
            <a:off x="1580658" y="927259"/>
            <a:ext cx="891540" cy="1031081"/>
          </a:xfrm>
          <a:prstGeom prst="rect">
            <a:avLst/>
          </a:prstGeom>
          <a:noFill/>
          <a:ln w="9525">
            <a:noFill/>
          </a:ln>
        </p:spPr>
      </p:pic>
      <p:sp>
        <p:nvSpPr>
          <p:cNvPr id="7" name="文本框 6">
            <a:extLst>
              <a:ext uri="{FF2B5EF4-FFF2-40B4-BE49-F238E27FC236}">
                <a16:creationId xmlns:a16="http://schemas.microsoft.com/office/drawing/2014/main" id="{17DC5A5A-CAA4-BD59-AF7A-2B81751514DD}"/>
              </a:ext>
            </a:extLst>
          </p:cNvPr>
          <p:cNvSpPr txBox="1"/>
          <p:nvPr/>
        </p:nvSpPr>
        <p:spPr>
          <a:xfrm>
            <a:off x="2756281" y="3420803"/>
            <a:ext cx="5605942" cy="1154675"/>
          </a:xfrm>
          <a:prstGeom prst="rect">
            <a:avLst/>
          </a:prstGeom>
          <a:noFill/>
        </p:spPr>
        <p:txBody>
          <a:bodyPr wrap="square" rtlCol="0" anchor="t">
            <a:spAutoFit/>
          </a:bodyPr>
          <a:lstStyle/>
          <a:p>
            <a:pPr>
              <a:lnSpc>
                <a:spcPct val="150000"/>
              </a:lnSpc>
            </a:pPr>
            <a:r>
              <a:rPr lang="en-US" altLang="zh-CN" sz="1600" b="1" dirty="0">
                <a:latin typeface="+mn-ea"/>
                <a:cs typeface="Times New Roman" panose="02020603050405020304" pitchFamily="18" charset="0"/>
                <a:sym typeface="+mn-ea"/>
              </a:rPr>
              <a:t>Statistical guidance – Prof. </a:t>
            </a:r>
            <a:r>
              <a:rPr lang="en-US" altLang="zh-CN" sz="1600" b="1" dirty="0" err="1">
                <a:latin typeface="+mn-ea"/>
                <a:cs typeface="Times New Roman" panose="02020603050405020304" pitchFamily="18" charset="0"/>
                <a:sym typeface="+mn-ea"/>
              </a:rPr>
              <a:t>Duolao</a:t>
            </a:r>
            <a:r>
              <a:rPr lang="en-US" altLang="zh-CN" sz="1600" b="1" dirty="0">
                <a:latin typeface="+mn-ea"/>
                <a:cs typeface="Times New Roman" panose="02020603050405020304" pitchFamily="18" charset="0"/>
                <a:sym typeface="+mn-ea"/>
              </a:rPr>
              <a:t> Wang</a:t>
            </a:r>
            <a:endParaRPr lang="en-US" altLang="zh-CN" sz="1600" b="1" dirty="0">
              <a:latin typeface="+mn-ea"/>
              <a:cs typeface="Times New Roman" panose="02020603050405020304" pitchFamily="18" charset="0"/>
            </a:endParaRPr>
          </a:p>
          <a:p>
            <a:pPr>
              <a:lnSpc>
                <a:spcPct val="150000"/>
              </a:lnSpc>
            </a:pPr>
            <a:r>
              <a:rPr lang="en-US" altLang="zh-CN" sz="1600" dirty="0">
                <a:latin typeface="+mn-ea"/>
              </a:rPr>
              <a:t>Biostatistics Unit, Liverpool School of Tropical Medicine, </a:t>
            </a:r>
          </a:p>
          <a:p>
            <a:pPr>
              <a:lnSpc>
                <a:spcPct val="150000"/>
              </a:lnSpc>
            </a:pPr>
            <a:r>
              <a:rPr lang="en-US" altLang="zh-CN" sz="1600" dirty="0">
                <a:latin typeface="+mn-ea"/>
              </a:rPr>
              <a:t>Liverpool, UK</a:t>
            </a:r>
            <a:endParaRPr lang="zh-CN" altLang="en-US" sz="1600" dirty="0">
              <a:latin typeface="+mn-ea"/>
              <a:sym typeface="+mn-ea"/>
            </a:endParaRPr>
          </a:p>
        </p:txBody>
      </p:sp>
      <p:pic>
        <p:nvPicPr>
          <p:cNvPr id="8" name="图片 7">
            <a:extLst>
              <a:ext uri="{FF2B5EF4-FFF2-40B4-BE49-F238E27FC236}">
                <a16:creationId xmlns:a16="http://schemas.microsoft.com/office/drawing/2014/main" id="{AC2D3565-22A8-D1EC-E799-10B0EBF668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0657" y="2134679"/>
            <a:ext cx="891540" cy="968040"/>
          </a:xfrm>
          <a:prstGeom prst="rect">
            <a:avLst/>
          </a:prstGeom>
        </p:spPr>
      </p:pic>
      <p:pic>
        <p:nvPicPr>
          <p:cNvPr id="9" name="图片 8">
            <a:extLst>
              <a:ext uri="{FF2B5EF4-FFF2-40B4-BE49-F238E27FC236}">
                <a16:creationId xmlns:a16="http://schemas.microsoft.com/office/drawing/2014/main" id="{378B9FC6-6B67-1F13-BFE9-3D9313CB4D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0657" y="3420803"/>
            <a:ext cx="891540" cy="1052253"/>
          </a:xfrm>
          <a:prstGeom prst="rect">
            <a:avLst/>
          </a:prstGeom>
        </p:spPr>
      </p:pic>
      <p:sp>
        <p:nvSpPr>
          <p:cNvPr id="10" name="矩形 9">
            <a:extLst>
              <a:ext uri="{FF2B5EF4-FFF2-40B4-BE49-F238E27FC236}">
                <a16:creationId xmlns:a16="http://schemas.microsoft.com/office/drawing/2014/main" id="{75594965-5FA9-B716-9097-B69EDE23BF99}"/>
              </a:ext>
            </a:extLst>
          </p:cNvPr>
          <p:cNvSpPr/>
          <p:nvPr/>
        </p:nvSpPr>
        <p:spPr>
          <a:xfrm>
            <a:off x="2756282" y="1958495"/>
            <a:ext cx="5375595" cy="1154675"/>
          </a:xfrm>
          <a:prstGeom prst="rect">
            <a:avLst/>
          </a:prstGeom>
        </p:spPr>
        <p:txBody>
          <a:bodyPr wrap="square">
            <a:spAutoFit/>
          </a:bodyPr>
          <a:lstStyle/>
          <a:p>
            <a:pPr>
              <a:lnSpc>
                <a:spcPct val="150000"/>
              </a:lnSpc>
            </a:pPr>
            <a:r>
              <a:rPr lang="en-US" altLang="zh-CN" sz="1600" b="1" dirty="0">
                <a:latin typeface="+mn-ea"/>
              </a:rPr>
              <a:t>Prof. Bijoy Menon</a:t>
            </a:r>
            <a:r>
              <a:rPr lang="zh-CN" altLang="en-US" sz="1600" b="1" dirty="0">
                <a:latin typeface="+mn-ea"/>
                <a:cs typeface="Times New Roman" panose="02020603050405020304" pitchFamily="18" charset="0"/>
              </a:rPr>
              <a:t> </a:t>
            </a:r>
            <a:endParaRPr lang="en-US" altLang="zh-CN" sz="1600" b="1" dirty="0">
              <a:latin typeface="+mn-ea"/>
              <a:cs typeface="Times New Roman" panose="02020603050405020304" pitchFamily="18" charset="0"/>
            </a:endParaRPr>
          </a:p>
          <a:p>
            <a:pPr>
              <a:lnSpc>
                <a:spcPct val="150000"/>
              </a:lnSpc>
            </a:pPr>
            <a:r>
              <a:rPr lang="en-US" altLang="zh-CN" sz="1600" dirty="0">
                <a:latin typeface="+mn-ea"/>
              </a:rPr>
              <a:t>Cumming School of Medicine, University of Calgary, Calgary, AB, Canada</a:t>
            </a:r>
          </a:p>
        </p:txBody>
      </p:sp>
    </p:spTree>
    <p:extLst>
      <p:ext uri="{BB962C8B-B14F-4D97-AF65-F5344CB8AC3E}">
        <p14:creationId xmlns:p14="http://schemas.microsoft.com/office/powerpoint/2010/main" val="3602280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38F222-B989-AD3F-83F7-F62AFF8E5A84}"/>
              </a:ext>
            </a:extLst>
          </p:cNvPr>
          <p:cNvSpPr>
            <a:spLocks noGrp="1"/>
          </p:cNvSpPr>
          <p:nvPr>
            <p:ph type="title"/>
          </p:nvPr>
        </p:nvSpPr>
        <p:spPr>
          <a:xfrm>
            <a:off x="385809" y="55418"/>
            <a:ext cx="8386716" cy="670187"/>
          </a:xfrm>
        </p:spPr>
        <p:txBody>
          <a:bodyPr/>
          <a:lstStyle/>
          <a:p>
            <a:r>
              <a:rPr lang="en-US" altLang="zh-CN" sz="2000" dirty="0">
                <a:latin typeface="+mn-ea"/>
                <a:ea typeface="+mn-ea"/>
              </a:rPr>
              <a:t>Hierarchical composite outcome has been most widely used in RCTs in cardiovascular disease</a:t>
            </a:r>
            <a:endParaRPr lang="zh-CN" altLang="en-US" sz="2000" dirty="0">
              <a:latin typeface="+mn-ea"/>
              <a:ea typeface="+mn-ea"/>
            </a:endParaRPr>
          </a:p>
        </p:txBody>
      </p:sp>
      <p:sp>
        <p:nvSpPr>
          <p:cNvPr id="4" name="文本框 3">
            <a:extLst>
              <a:ext uri="{FF2B5EF4-FFF2-40B4-BE49-F238E27FC236}">
                <a16:creationId xmlns:a16="http://schemas.microsoft.com/office/drawing/2014/main" id="{AA350613-577E-397A-01F5-B38DD67491B0}"/>
              </a:ext>
            </a:extLst>
          </p:cNvPr>
          <p:cNvSpPr txBox="1"/>
          <p:nvPr/>
        </p:nvSpPr>
        <p:spPr bwMode="gray">
          <a:xfrm>
            <a:off x="1455408" y="4828135"/>
            <a:ext cx="2996045" cy="215444"/>
          </a:xfrm>
          <a:prstGeom prst="rect">
            <a:avLst/>
          </a:prstGeom>
          <a:noFill/>
        </p:spPr>
        <p:txBody>
          <a:bodyPr wrap="square">
            <a:spAutoFit/>
          </a:bodyPr>
          <a:lstStyle/>
          <a:p>
            <a:r>
              <a:rPr lang="en-US" altLang="zh-CN" sz="800" dirty="0">
                <a:latin typeface="+mn-ea"/>
              </a:rPr>
              <a:t>Circulation. 2025;151:1606–1619.</a:t>
            </a:r>
            <a:endParaRPr lang="zh-CN" altLang="en-US" sz="800" dirty="0">
              <a:latin typeface="+mn-ea"/>
            </a:endParaRPr>
          </a:p>
        </p:txBody>
      </p:sp>
      <p:pic>
        <p:nvPicPr>
          <p:cNvPr id="8" name="图片 7">
            <a:extLst>
              <a:ext uri="{FF2B5EF4-FFF2-40B4-BE49-F238E27FC236}">
                <a16:creationId xmlns:a16="http://schemas.microsoft.com/office/drawing/2014/main" id="{12555382-18C5-CD86-1710-E0525EAAE7C7}"/>
              </a:ext>
            </a:extLst>
          </p:cNvPr>
          <p:cNvPicPr>
            <a:picLocks noChangeAspect="1"/>
          </p:cNvPicPr>
          <p:nvPr/>
        </p:nvPicPr>
        <p:blipFill>
          <a:blip r:embed="rId2"/>
          <a:stretch>
            <a:fillRect/>
          </a:stretch>
        </p:blipFill>
        <p:spPr>
          <a:xfrm>
            <a:off x="670325" y="793196"/>
            <a:ext cx="2645442" cy="533521"/>
          </a:xfrm>
          <a:prstGeom prst="rect">
            <a:avLst/>
          </a:prstGeom>
          <a:effectLst>
            <a:outerShdw blurRad="50800" dist="38100" dir="2700000" algn="tl" rotWithShape="0">
              <a:prstClr val="black">
                <a:alpha val="40000"/>
              </a:prstClr>
            </a:outerShdw>
          </a:effectLst>
        </p:spPr>
      </p:pic>
      <p:pic>
        <p:nvPicPr>
          <p:cNvPr id="12" name="图片 11">
            <a:extLst>
              <a:ext uri="{FF2B5EF4-FFF2-40B4-BE49-F238E27FC236}">
                <a16:creationId xmlns:a16="http://schemas.microsoft.com/office/drawing/2014/main" id="{C7E3920C-1DFE-5412-D7CD-83824EFD7C8D}"/>
              </a:ext>
            </a:extLst>
          </p:cNvPr>
          <p:cNvPicPr>
            <a:picLocks noChangeAspect="1"/>
          </p:cNvPicPr>
          <p:nvPr/>
        </p:nvPicPr>
        <p:blipFill>
          <a:blip r:embed="rId3"/>
          <a:stretch>
            <a:fillRect/>
          </a:stretch>
        </p:blipFill>
        <p:spPr>
          <a:xfrm>
            <a:off x="715720" y="1395792"/>
            <a:ext cx="3982272" cy="3211850"/>
          </a:xfrm>
          <a:prstGeom prst="rect">
            <a:avLst/>
          </a:prstGeom>
        </p:spPr>
      </p:pic>
      <p:pic>
        <p:nvPicPr>
          <p:cNvPr id="7" name="图片 6">
            <a:extLst>
              <a:ext uri="{FF2B5EF4-FFF2-40B4-BE49-F238E27FC236}">
                <a16:creationId xmlns:a16="http://schemas.microsoft.com/office/drawing/2014/main" id="{3B47370C-6DE2-EEEB-6527-36D0B2D1A6FB}"/>
              </a:ext>
            </a:extLst>
          </p:cNvPr>
          <p:cNvPicPr>
            <a:picLocks noChangeAspect="1"/>
          </p:cNvPicPr>
          <p:nvPr/>
        </p:nvPicPr>
        <p:blipFill>
          <a:blip r:embed="rId4"/>
          <a:stretch>
            <a:fillRect/>
          </a:stretch>
        </p:blipFill>
        <p:spPr>
          <a:xfrm>
            <a:off x="4704477" y="793195"/>
            <a:ext cx="3752862" cy="4193852"/>
          </a:xfrm>
          <a:prstGeom prst="rect">
            <a:avLst/>
          </a:prstGeom>
        </p:spPr>
      </p:pic>
      <p:sp>
        <p:nvSpPr>
          <p:cNvPr id="10" name="文本框 9">
            <a:extLst>
              <a:ext uri="{FF2B5EF4-FFF2-40B4-BE49-F238E27FC236}">
                <a16:creationId xmlns:a16="http://schemas.microsoft.com/office/drawing/2014/main" id="{A12942B9-3EB0-86BE-E3D2-B6E9BE3FA5ED}"/>
              </a:ext>
            </a:extLst>
          </p:cNvPr>
          <p:cNvSpPr txBox="1"/>
          <p:nvPr/>
        </p:nvSpPr>
        <p:spPr bwMode="gray">
          <a:xfrm>
            <a:off x="61613" y="1781256"/>
            <a:ext cx="787935" cy="200055"/>
          </a:xfrm>
          <a:prstGeom prst="rect">
            <a:avLst/>
          </a:prstGeom>
          <a:noFill/>
        </p:spPr>
        <p:txBody>
          <a:bodyPr wrap="square">
            <a:spAutoFit/>
          </a:bodyPr>
          <a:lstStyle/>
          <a:p>
            <a:r>
              <a:rPr lang="en-US" altLang="zh-CN" sz="700" b="1" i="1" dirty="0">
                <a:latin typeface="+mn-ea"/>
              </a:rPr>
              <a:t>N Engl J Med</a:t>
            </a:r>
            <a:endParaRPr lang="zh-CN" altLang="en-US" sz="700" b="1" i="1" dirty="0">
              <a:latin typeface="+mn-ea"/>
            </a:endParaRPr>
          </a:p>
        </p:txBody>
      </p:sp>
      <p:sp>
        <p:nvSpPr>
          <p:cNvPr id="11" name="文本框 10">
            <a:extLst>
              <a:ext uri="{FF2B5EF4-FFF2-40B4-BE49-F238E27FC236}">
                <a16:creationId xmlns:a16="http://schemas.microsoft.com/office/drawing/2014/main" id="{A06A86C6-9B51-DB11-73F0-3651CD9D30BA}"/>
              </a:ext>
            </a:extLst>
          </p:cNvPr>
          <p:cNvSpPr txBox="1"/>
          <p:nvPr/>
        </p:nvSpPr>
        <p:spPr bwMode="gray">
          <a:xfrm>
            <a:off x="58373" y="2050386"/>
            <a:ext cx="787935" cy="200055"/>
          </a:xfrm>
          <a:prstGeom prst="rect">
            <a:avLst/>
          </a:prstGeom>
          <a:noFill/>
        </p:spPr>
        <p:txBody>
          <a:bodyPr wrap="square">
            <a:spAutoFit/>
          </a:bodyPr>
          <a:lstStyle/>
          <a:p>
            <a:r>
              <a:rPr lang="en-US" altLang="zh-CN" sz="700" b="1" i="1" dirty="0">
                <a:latin typeface="+mn-ea"/>
              </a:rPr>
              <a:t>N Engl J Med</a:t>
            </a:r>
            <a:endParaRPr lang="zh-CN" altLang="en-US" sz="700" b="1" i="1" dirty="0">
              <a:latin typeface="+mn-ea"/>
            </a:endParaRPr>
          </a:p>
        </p:txBody>
      </p:sp>
      <p:sp>
        <p:nvSpPr>
          <p:cNvPr id="14" name="文本框 13">
            <a:extLst>
              <a:ext uri="{FF2B5EF4-FFF2-40B4-BE49-F238E27FC236}">
                <a16:creationId xmlns:a16="http://schemas.microsoft.com/office/drawing/2014/main" id="{EE5EF11C-5A3C-1C36-3BCD-4CD06B6CCBB3}"/>
              </a:ext>
            </a:extLst>
          </p:cNvPr>
          <p:cNvSpPr txBox="1"/>
          <p:nvPr/>
        </p:nvSpPr>
        <p:spPr bwMode="gray">
          <a:xfrm>
            <a:off x="81067" y="2756335"/>
            <a:ext cx="4636850" cy="200055"/>
          </a:xfrm>
          <a:prstGeom prst="rect">
            <a:avLst/>
          </a:prstGeom>
          <a:noFill/>
        </p:spPr>
        <p:txBody>
          <a:bodyPr wrap="square">
            <a:spAutoFit/>
          </a:bodyPr>
          <a:lstStyle/>
          <a:p>
            <a:r>
              <a:rPr lang="en-US" altLang="zh-CN" sz="700" b="1" i="1" dirty="0">
                <a:latin typeface="+mn-ea"/>
              </a:rPr>
              <a:t>Circulation</a:t>
            </a:r>
            <a:endParaRPr lang="zh-CN" altLang="en-US" sz="700" b="1" i="1" dirty="0">
              <a:latin typeface="+mn-ea"/>
            </a:endParaRPr>
          </a:p>
        </p:txBody>
      </p:sp>
      <p:sp>
        <p:nvSpPr>
          <p:cNvPr id="16" name="文本框 15">
            <a:extLst>
              <a:ext uri="{FF2B5EF4-FFF2-40B4-BE49-F238E27FC236}">
                <a16:creationId xmlns:a16="http://schemas.microsoft.com/office/drawing/2014/main" id="{D2D2E33A-6395-63A8-8291-B56095226DE7}"/>
              </a:ext>
            </a:extLst>
          </p:cNvPr>
          <p:cNvSpPr txBox="1"/>
          <p:nvPr/>
        </p:nvSpPr>
        <p:spPr bwMode="gray">
          <a:xfrm>
            <a:off x="295073" y="3800430"/>
            <a:ext cx="4636850" cy="200055"/>
          </a:xfrm>
          <a:prstGeom prst="rect">
            <a:avLst/>
          </a:prstGeom>
          <a:noFill/>
        </p:spPr>
        <p:txBody>
          <a:bodyPr wrap="square">
            <a:spAutoFit/>
          </a:bodyPr>
          <a:lstStyle/>
          <a:p>
            <a:r>
              <a:rPr lang="en-US" altLang="zh-CN" sz="700" b="1" i="1" dirty="0">
                <a:latin typeface="+mn-ea"/>
              </a:rPr>
              <a:t>JAMA</a:t>
            </a:r>
            <a:endParaRPr lang="zh-CN" altLang="en-US" sz="800" b="1" i="1" dirty="0">
              <a:latin typeface="+mn-ea"/>
            </a:endParaRPr>
          </a:p>
        </p:txBody>
      </p:sp>
      <p:sp>
        <p:nvSpPr>
          <p:cNvPr id="17" name="文本框 16">
            <a:extLst>
              <a:ext uri="{FF2B5EF4-FFF2-40B4-BE49-F238E27FC236}">
                <a16:creationId xmlns:a16="http://schemas.microsoft.com/office/drawing/2014/main" id="{A378255E-4634-AF9A-DB71-0D84EDA9F8AA}"/>
              </a:ext>
            </a:extLst>
          </p:cNvPr>
          <p:cNvSpPr txBox="1"/>
          <p:nvPr/>
        </p:nvSpPr>
        <p:spPr bwMode="gray">
          <a:xfrm>
            <a:off x="61618" y="4083465"/>
            <a:ext cx="787935" cy="200055"/>
          </a:xfrm>
          <a:prstGeom prst="rect">
            <a:avLst/>
          </a:prstGeom>
          <a:noFill/>
        </p:spPr>
        <p:txBody>
          <a:bodyPr wrap="square">
            <a:spAutoFit/>
          </a:bodyPr>
          <a:lstStyle/>
          <a:p>
            <a:r>
              <a:rPr lang="en-US" altLang="zh-CN" sz="700" b="1" i="1" dirty="0">
                <a:latin typeface="+mn-ea"/>
              </a:rPr>
              <a:t>N Engl J Med</a:t>
            </a:r>
            <a:endParaRPr lang="zh-CN" altLang="en-US" sz="700" b="1" i="1" dirty="0">
              <a:latin typeface="+mn-ea"/>
            </a:endParaRPr>
          </a:p>
        </p:txBody>
      </p:sp>
      <p:sp>
        <p:nvSpPr>
          <p:cNvPr id="18" name="文本框 17">
            <a:extLst>
              <a:ext uri="{FF2B5EF4-FFF2-40B4-BE49-F238E27FC236}">
                <a16:creationId xmlns:a16="http://schemas.microsoft.com/office/drawing/2014/main" id="{7BDA1564-6742-8822-33DA-2912DC8903F6}"/>
              </a:ext>
            </a:extLst>
          </p:cNvPr>
          <p:cNvSpPr txBox="1"/>
          <p:nvPr/>
        </p:nvSpPr>
        <p:spPr bwMode="gray">
          <a:xfrm>
            <a:off x="8369030" y="1774772"/>
            <a:ext cx="787935" cy="200055"/>
          </a:xfrm>
          <a:prstGeom prst="rect">
            <a:avLst/>
          </a:prstGeom>
          <a:noFill/>
        </p:spPr>
        <p:txBody>
          <a:bodyPr wrap="square">
            <a:spAutoFit/>
          </a:bodyPr>
          <a:lstStyle/>
          <a:p>
            <a:r>
              <a:rPr lang="en-US" altLang="zh-CN" sz="700" b="1" i="1" dirty="0">
                <a:latin typeface="+mn-ea"/>
              </a:rPr>
              <a:t>N Engl J Med</a:t>
            </a:r>
            <a:endParaRPr lang="zh-CN" altLang="en-US" sz="700" b="1" i="1" dirty="0">
              <a:latin typeface="+mn-ea"/>
            </a:endParaRPr>
          </a:p>
        </p:txBody>
      </p:sp>
      <p:sp>
        <p:nvSpPr>
          <p:cNvPr id="20" name="文本框 19">
            <a:extLst>
              <a:ext uri="{FF2B5EF4-FFF2-40B4-BE49-F238E27FC236}">
                <a16:creationId xmlns:a16="http://schemas.microsoft.com/office/drawing/2014/main" id="{EEA8428A-B676-F27F-CB9C-3BD2A6D7652D}"/>
              </a:ext>
            </a:extLst>
          </p:cNvPr>
          <p:cNvSpPr txBox="1"/>
          <p:nvPr/>
        </p:nvSpPr>
        <p:spPr bwMode="gray">
          <a:xfrm>
            <a:off x="8372265" y="2314466"/>
            <a:ext cx="667966" cy="200055"/>
          </a:xfrm>
          <a:prstGeom prst="rect">
            <a:avLst/>
          </a:prstGeom>
          <a:noFill/>
        </p:spPr>
        <p:txBody>
          <a:bodyPr wrap="square">
            <a:spAutoFit/>
          </a:bodyPr>
          <a:lstStyle/>
          <a:p>
            <a:r>
              <a:rPr lang="en-US" altLang="zh-CN" sz="700" b="1" i="1" u="none" strike="noStrike" baseline="0" dirty="0">
                <a:latin typeface="+mn-ea"/>
              </a:rPr>
              <a:t>Lancet</a:t>
            </a:r>
            <a:endParaRPr lang="zh-CN" altLang="en-US" sz="1600" b="1" i="1" dirty="0">
              <a:latin typeface="+mn-ea"/>
            </a:endParaRPr>
          </a:p>
        </p:txBody>
      </p:sp>
      <p:sp>
        <p:nvSpPr>
          <p:cNvPr id="21" name="文本框 20">
            <a:extLst>
              <a:ext uri="{FF2B5EF4-FFF2-40B4-BE49-F238E27FC236}">
                <a16:creationId xmlns:a16="http://schemas.microsoft.com/office/drawing/2014/main" id="{9F07BA8D-F271-F593-EE5E-0CC26DACFC0C}"/>
              </a:ext>
            </a:extLst>
          </p:cNvPr>
          <p:cNvSpPr txBox="1"/>
          <p:nvPr/>
        </p:nvSpPr>
        <p:spPr bwMode="gray">
          <a:xfrm>
            <a:off x="8365790" y="2601623"/>
            <a:ext cx="787935" cy="200055"/>
          </a:xfrm>
          <a:prstGeom prst="rect">
            <a:avLst/>
          </a:prstGeom>
          <a:noFill/>
        </p:spPr>
        <p:txBody>
          <a:bodyPr wrap="square">
            <a:spAutoFit/>
          </a:bodyPr>
          <a:lstStyle/>
          <a:p>
            <a:r>
              <a:rPr lang="en-US" altLang="zh-CN" sz="700" b="1" i="1" dirty="0">
                <a:latin typeface="+mn-ea"/>
              </a:rPr>
              <a:t>N Engl J Med</a:t>
            </a:r>
            <a:endParaRPr lang="zh-CN" altLang="en-US" sz="700" b="1" i="1" dirty="0">
              <a:latin typeface="+mn-ea"/>
            </a:endParaRPr>
          </a:p>
        </p:txBody>
      </p:sp>
      <p:sp>
        <p:nvSpPr>
          <p:cNvPr id="22" name="文本框 21">
            <a:extLst>
              <a:ext uri="{FF2B5EF4-FFF2-40B4-BE49-F238E27FC236}">
                <a16:creationId xmlns:a16="http://schemas.microsoft.com/office/drawing/2014/main" id="{44C3ACB1-D0B8-62B1-CB97-3C971A708361}"/>
              </a:ext>
            </a:extLst>
          </p:cNvPr>
          <p:cNvSpPr txBox="1"/>
          <p:nvPr/>
        </p:nvSpPr>
        <p:spPr bwMode="gray">
          <a:xfrm>
            <a:off x="8394975" y="4096442"/>
            <a:ext cx="787935" cy="200055"/>
          </a:xfrm>
          <a:prstGeom prst="rect">
            <a:avLst/>
          </a:prstGeom>
          <a:noFill/>
        </p:spPr>
        <p:txBody>
          <a:bodyPr wrap="square">
            <a:spAutoFit/>
          </a:bodyPr>
          <a:lstStyle/>
          <a:p>
            <a:r>
              <a:rPr lang="en-US" altLang="zh-CN" sz="700" b="1" i="1" dirty="0">
                <a:latin typeface="+mn-ea"/>
              </a:rPr>
              <a:t>N Engl J Med</a:t>
            </a:r>
            <a:endParaRPr lang="zh-CN" altLang="en-US" sz="700" b="1" i="1" dirty="0">
              <a:latin typeface="+mn-ea"/>
            </a:endParaRPr>
          </a:p>
        </p:txBody>
      </p:sp>
      <p:sp>
        <p:nvSpPr>
          <p:cNvPr id="23" name="文本框 22">
            <a:extLst>
              <a:ext uri="{FF2B5EF4-FFF2-40B4-BE49-F238E27FC236}">
                <a16:creationId xmlns:a16="http://schemas.microsoft.com/office/drawing/2014/main" id="{2DBB6504-6A48-B3A8-7305-CE921E4B21E1}"/>
              </a:ext>
            </a:extLst>
          </p:cNvPr>
          <p:cNvSpPr txBox="1"/>
          <p:nvPr/>
        </p:nvSpPr>
        <p:spPr bwMode="gray">
          <a:xfrm>
            <a:off x="8391735" y="4462847"/>
            <a:ext cx="787935" cy="200055"/>
          </a:xfrm>
          <a:prstGeom prst="rect">
            <a:avLst/>
          </a:prstGeom>
          <a:noFill/>
        </p:spPr>
        <p:txBody>
          <a:bodyPr wrap="square">
            <a:spAutoFit/>
          </a:bodyPr>
          <a:lstStyle/>
          <a:p>
            <a:r>
              <a:rPr lang="en-US" altLang="zh-CN" sz="700" b="1" i="1" dirty="0">
                <a:latin typeface="+mn-ea"/>
              </a:rPr>
              <a:t>N Engl J Med</a:t>
            </a:r>
            <a:endParaRPr lang="zh-CN" altLang="en-US" sz="700" b="1" i="1" dirty="0">
              <a:latin typeface="+mn-ea"/>
            </a:endParaRPr>
          </a:p>
        </p:txBody>
      </p:sp>
      <p:sp>
        <p:nvSpPr>
          <p:cNvPr id="3" name="文本框 2">
            <a:extLst>
              <a:ext uri="{FF2B5EF4-FFF2-40B4-BE49-F238E27FC236}">
                <a16:creationId xmlns:a16="http://schemas.microsoft.com/office/drawing/2014/main" id="{2ED28300-D297-BC0B-694F-2F79265436B9}"/>
              </a:ext>
            </a:extLst>
          </p:cNvPr>
          <p:cNvSpPr txBox="1"/>
          <p:nvPr/>
        </p:nvSpPr>
        <p:spPr bwMode="gray">
          <a:xfrm>
            <a:off x="1095990" y="727427"/>
            <a:ext cx="787935" cy="200055"/>
          </a:xfrm>
          <a:prstGeom prst="rect">
            <a:avLst/>
          </a:prstGeom>
          <a:noFill/>
        </p:spPr>
        <p:txBody>
          <a:bodyPr wrap="square">
            <a:spAutoFit/>
          </a:bodyPr>
          <a:lstStyle/>
          <a:p>
            <a:r>
              <a:rPr lang="en-US" altLang="zh-CN" sz="700" dirty="0">
                <a:latin typeface="+mn-ea"/>
              </a:rPr>
              <a:t>IF 38.5</a:t>
            </a:r>
            <a:endParaRPr lang="zh-CN" altLang="en-US" sz="700" dirty="0">
              <a:latin typeface="+mn-ea"/>
            </a:endParaRPr>
          </a:p>
        </p:txBody>
      </p:sp>
      <p:sp>
        <p:nvSpPr>
          <p:cNvPr id="5" name="矩形: 圆角 4">
            <a:extLst>
              <a:ext uri="{FF2B5EF4-FFF2-40B4-BE49-F238E27FC236}">
                <a16:creationId xmlns:a16="http://schemas.microsoft.com/office/drawing/2014/main" id="{8FFCCD88-F0CE-E120-19B0-B932D7A4BAD3}"/>
              </a:ext>
            </a:extLst>
          </p:cNvPr>
          <p:cNvSpPr/>
          <p:nvPr/>
        </p:nvSpPr>
        <p:spPr bwMode="gray">
          <a:xfrm>
            <a:off x="4697992" y="2576190"/>
            <a:ext cx="3709953" cy="283277"/>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sp>
        <p:nvSpPr>
          <p:cNvPr id="9" name="文本框 8">
            <a:extLst>
              <a:ext uri="{FF2B5EF4-FFF2-40B4-BE49-F238E27FC236}">
                <a16:creationId xmlns:a16="http://schemas.microsoft.com/office/drawing/2014/main" id="{B4AE33F0-787F-BD16-5D6B-D8EC23F1567E}"/>
              </a:ext>
            </a:extLst>
          </p:cNvPr>
          <p:cNvSpPr txBox="1"/>
          <p:nvPr/>
        </p:nvSpPr>
        <p:spPr bwMode="gray">
          <a:xfrm>
            <a:off x="6806881" y="2684394"/>
            <a:ext cx="1621399" cy="184666"/>
          </a:xfrm>
          <a:prstGeom prst="rect">
            <a:avLst/>
          </a:prstGeom>
          <a:noFill/>
        </p:spPr>
        <p:txBody>
          <a:bodyPr wrap="square">
            <a:spAutoFit/>
          </a:bodyPr>
          <a:lstStyle/>
          <a:p>
            <a:r>
              <a:rPr lang="en-US" altLang="zh-CN" sz="600" dirty="0" err="1"/>
              <a:t>mRS</a:t>
            </a:r>
            <a:r>
              <a:rPr lang="en-US" altLang="zh-CN" sz="600" dirty="0"/>
              <a:t> and EQ-5D-5L score</a:t>
            </a:r>
            <a:endParaRPr lang="zh-CN" altLang="en-US" sz="600" dirty="0"/>
          </a:p>
        </p:txBody>
      </p:sp>
    </p:spTree>
    <p:extLst>
      <p:ext uri="{BB962C8B-B14F-4D97-AF65-F5344CB8AC3E}">
        <p14:creationId xmlns:p14="http://schemas.microsoft.com/office/powerpoint/2010/main" val="292101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0LGB0wTuSY6smGsrTrKqV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rkYLlWr.RE2YA67gkyQcL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0LGB0wTuSY6smGsrTrKqVg"/>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主题1">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主题1" id="{65DFDE76-1AFE-4B1C-A4B6-DB2C06AA204D}" vid="{F64A42F0-80B6-4E68-B7D0-EF244F3FABBD}"/>
    </a:ext>
  </a:extLst>
</a:theme>
</file>

<file path=ppt/theme/theme2.xml><?xml version="1.0" encoding="utf-8"?>
<a:theme xmlns:a="http://schemas.openxmlformats.org/drawingml/2006/main" name="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3.xml><?xml version="1.0" encoding="utf-8"?>
<a:theme xmlns:a="http://schemas.openxmlformats.org/drawingml/2006/main" name="1_主题1">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主题1" id="{65DFDE76-1AFE-4B1C-A4B6-DB2C06AA204D}" vid="{F64A42F0-80B6-4E68-B7D0-EF244F3FABBD}"/>
    </a:ext>
  </a:extLst>
</a:theme>
</file>

<file path=ppt/theme/theme4.xml><?xml version="1.0" encoding="utf-8"?>
<a:theme xmlns:a="http://schemas.openxmlformats.org/drawingml/2006/main" name="OfficePLUS 主题">
  <a:themeElements>
    <a:clrScheme name="商务-蓝渐变">
      <a:dk1>
        <a:sysClr val="windowText" lastClr="000000"/>
      </a:dk1>
      <a:lt1>
        <a:sysClr val="window" lastClr="FFFFFF"/>
      </a:lt1>
      <a:dk2>
        <a:srgbClr val="44546A"/>
      </a:dk2>
      <a:lt2>
        <a:srgbClr val="E7E6E6"/>
      </a:lt2>
      <a:accent1>
        <a:srgbClr val="133D9D"/>
      </a:accent1>
      <a:accent2>
        <a:srgbClr val="1F5CE5"/>
      </a:accent2>
      <a:accent3>
        <a:srgbClr val="2271C8"/>
      </a:accent3>
      <a:accent4>
        <a:srgbClr val="66B2F4"/>
      </a:accent4>
      <a:accent5>
        <a:srgbClr val="4472C4"/>
      </a:accent5>
      <a:accent6>
        <a:srgbClr val="F4C738"/>
      </a:accent6>
      <a:hlink>
        <a:srgbClr val="0563C1"/>
      </a:hlink>
      <a:folHlink>
        <a:srgbClr val="954F72"/>
      </a:folHlink>
    </a:clrScheme>
    <a:fontScheme name="font">
      <a:majorFont>
        <a:latin typeface="Arial Black"/>
        <a:ea typeface="微软雅黑"/>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19050">
          <a:noFill/>
        </a:ln>
      </a:spPr>
      <a:bodyPr wrap="square" lIns="720000" tIns="0" rIns="90000" bIns="0" rtlCol="0" anchor="t" anchorCtr="0">
        <a:noAutofit/>
      </a:bodyPr>
      <a:lstStyle>
        <a:defPPr algn="l">
          <a:lnSpc>
            <a:spcPct val="130000"/>
          </a:lnSpc>
          <a:defRPr sz="1600" b="1" kern="0" dirty="0" smtClean="0">
            <a:effectLst/>
            <a:latin typeface="+mj-ea"/>
            <a:ea typeface="+mj-ea"/>
            <a:cs typeface="Times New Roman" panose="0202050305040509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088808-CB13-4F86-BCB2-027041E51FB8}">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473db851-fd10-4f0d-881f-07fff67037c9"/>
    <ds:schemaRef ds:uri="632a95d0-8dcb-4f01-8859-def474f83dc4"/>
    <ds:schemaRef ds:uri="http://www.w3.org/XML/1998/namespace"/>
    <ds:schemaRef ds:uri="http://purl.org/dc/terms/"/>
  </ds:schemaRefs>
</ds:datastoreItem>
</file>

<file path=customXml/itemProps2.xml><?xml version="1.0" encoding="utf-8"?>
<ds:datastoreItem xmlns:ds="http://schemas.openxmlformats.org/officeDocument/2006/customXml" ds:itemID="{663CBC1E-ACE7-4846-8F59-C0EAD4A63C7B}"/>
</file>

<file path=customXml/itemProps3.xml><?xml version="1.0" encoding="utf-8"?>
<ds:datastoreItem xmlns:ds="http://schemas.openxmlformats.org/officeDocument/2006/customXml" ds:itemID="{62B7BFEE-9028-4E04-AAA5-9261116577E8}">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BI_Corporate_16_9</Template>
  <TotalTime>12224</TotalTime>
  <Words>3516</Words>
  <Application>Microsoft Office PowerPoint</Application>
  <PresentationFormat>全屏显示(16:9)</PresentationFormat>
  <Paragraphs>437</Paragraphs>
  <Slides>20</Slides>
  <Notes>13</Notes>
  <HiddenSlides>1</HiddenSlides>
  <MMClips>0</MMClips>
  <ScaleCrop>false</ScaleCrop>
  <HeadingPairs>
    <vt:vector size="8" baseType="variant">
      <vt:variant>
        <vt:lpstr>已用的字体</vt:lpstr>
      </vt:variant>
      <vt:variant>
        <vt:i4>12</vt:i4>
      </vt:variant>
      <vt:variant>
        <vt:lpstr>主题</vt:lpstr>
      </vt:variant>
      <vt:variant>
        <vt:i4>5</vt:i4>
      </vt:variant>
      <vt:variant>
        <vt:lpstr>嵌入 OLE 服务器</vt:lpstr>
      </vt:variant>
      <vt:variant>
        <vt:i4>1</vt:i4>
      </vt:variant>
      <vt:variant>
        <vt:lpstr>幻灯片标题</vt:lpstr>
      </vt:variant>
      <vt:variant>
        <vt:i4>20</vt:i4>
      </vt:variant>
    </vt:vector>
  </HeadingPairs>
  <TitlesOfParts>
    <vt:vector size="38" baseType="lpstr">
      <vt:lpstr>OPPOSans B</vt:lpstr>
      <vt:lpstr>汉仪旗黑-45S</vt:lpstr>
      <vt:lpstr>平成明朝</vt:lpstr>
      <vt:lpstr>Arial</vt:lpstr>
      <vt:lpstr>BISans</vt:lpstr>
      <vt:lpstr>BISansOpti</vt:lpstr>
      <vt:lpstr>BISansOptiCond</vt:lpstr>
      <vt:lpstr>Boehringer Forward Text</vt:lpstr>
      <vt:lpstr>Calibri</vt:lpstr>
      <vt:lpstr>Symbol</vt:lpstr>
      <vt:lpstr>Times New Roman</vt:lpstr>
      <vt:lpstr>Wingdings</vt:lpstr>
      <vt:lpstr>主题1</vt:lpstr>
      <vt:lpstr>BI_Corporate_16_9</vt:lpstr>
      <vt:lpstr>1_主题1</vt:lpstr>
      <vt:lpstr>OfficePLUS 主题</vt:lpstr>
      <vt:lpstr>自定义设计方案</vt:lpstr>
      <vt:lpstr>think-cell Slide</vt:lpstr>
      <vt:lpstr>Blood Pressure Lowering and Thrombolysis: Concurrent vs Sequential Management in Acute Ischemic Stroke (BALANCE) </vt:lpstr>
      <vt:lpstr>Nearly 30% of AIS patients present with a SBP ≥180 mmHg</vt:lpstr>
      <vt:lpstr>Current guidelines recommend BP＜180/100 mmHg prior to IVT however, there is no robust evidence for this strategy</vt:lpstr>
      <vt:lpstr>Metalyse / Actilyse contraindication for hypertension pts. with SBP＞185 or DBP ＞110 mmHg</vt:lpstr>
      <vt:lpstr>Emerging evidence suggests that intensive BP lowering does not improve outcomes</vt:lpstr>
      <vt:lpstr>Emerging evidence suggests that intensive BP lowering does not improve outcomes</vt:lpstr>
      <vt:lpstr>Study Hypothesis</vt:lpstr>
      <vt:lpstr>PowerPoint 演示文稿</vt:lpstr>
      <vt:lpstr>Study Endpoints</vt:lpstr>
      <vt:lpstr>Flowchart of win ratio method</vt:lpstr>
      <vt:lpstr>Study Endpoints </vt:lpstr>
      <vt:lpstr>Key Inclusion/Exclusion Criteria </vt:lpstr>
      <vt:lpstr>Sample Size</vt:lpstr>
      <vt:lpstr>Interim Safety Monitoring </vt:lpstr>
      <vt:lpstr>Timeline </vt:lpstr>
      <vt:lpstr>Study visit</vt:lpstr>
      <vt:lpstr>Considerations for Supporting the Current Study</vt:lpstr>
      <vt:lpstr>Thank you ！</vt:lpstr>
      <vt:lpstr>Committee</vt:lpstr>
      <vt:lpstr>Hierarchical composite outcome has been most widely used in RCTs in cardiovascular disease</vt:lpstr>
    </vt:vector>
  </TitlesOfParts>
  <Company>Boehringer Ingelheim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main title</dc:title>
  <dc:creator>Tian,Liqun (HP Medicine) BII-CN-S</dc:creator>
  <cp:lastModifiedBy>Liu,Luoki (HP CRM) BII-CN-S</cp:lastModifiedBy>
  <cp:revision>305</cp:revision>
  <dcterms:created xsi:type="dcterms:W3CDTF">2021-10-26T08:59:11Z</dcterms:created>
  <dcterms:modified xsi:type="dcterms:W3CDTF">2026-04-21T05:21:38Z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ies>
</file>